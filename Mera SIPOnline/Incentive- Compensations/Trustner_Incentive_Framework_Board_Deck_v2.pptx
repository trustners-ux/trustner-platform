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Board members. This is Version 2.2 of our comprehensive Incentive, Compensation, and Performance Management Framework for the Trustner Group — covering both TIB (IRDAI-regulated insurance broking) and TAS (SEBI MFD mutual fund distribution). This framework has been designed ground-up to be meritocratic, system-driven, margin-aligned, and IPO-ready. Every element you'll see today ties back to actual profitability and long-term wealth creation for both the company and our team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philosophy draws inspiration from the Tata Group's co-workers' institution model. We are NOT building an individual's company — we're building a platform where every performer has a stake. Four pillars drive everything: Meritocracy means top performers earn 3-5x more in variable pay. Profitability means every incentive rupee is tied to actual revenue with a 30%+ ROI target. Transparency means the system calculates automatically — no manager discretion, only Super Admin override. And IPO-readiness means SEBI-compliant audit trails from Day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have 77 employees across TIB and TAS, with an annual payroll of Rs 3.91 crore across 10 departments. Our sales-to-support ratio is 45:32, which we plan to optimize. We are present in 5+ locations and expanding nationally. The target is to double the sales force in 2026, establish national presence by 2028, and be IPO-ready by 2030. This framework is designed to scale from 77 to 460+ people without breaking.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simple and verifiable. Direct sales and FP team members have a monthly target of 6 times their gross monthly salary. CDMs and RMs handling POSP channels need 20 times — because channel business has lower margins and higher volumes are needed to break even. Area Managers carry 23 times, which includes a 15% variable cost proxy for rent, support staff, and operating expenses. Support teams don't have sales targets — they work on KPI-based bonuses. We've verified these formulas against our March target file and they match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critical slide. We now have TWO incentive slab tables. The DST table applies to Direct Sales Team members where our margin is 30% or higher — rates range from 4% at base to 8% for champions who exceed 151% of target. The POSP RM table applies when managing sub-brokers and POSPs with 70%+ payout — here our margin is compressed, so rates are 1.2% to 2.4%. The multiplier system means a champion performer earns double the base rate. This dual structure ensures we never pay more incentive than our margin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credit determines how much of each sale counts toward an RM's target. We have a 3-tier system: Tier 1 products with over 30% commission get 100% credit, Tier 2 products at 15-30% get 75%, and Tier 3 below 15% get only 50%. This steers the sales force toward higher-margin products. For POSP channel business, the RM credit equals 100% minus whatever the channel partner is being paid. So if a POSP gets 70% payout, the RM gets 30% credit. SIP clawback is important — if a client stops their SIP, that amount gets debited from the RM's business that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Trail income is calculated ONLY on incremental AUM — the starting book when an RM joins or is assigned a client base is explicitly excluded. For self-sourced clients, the RM earns 25% trail on new PANs and 15% on existing clients. For sub-broker managed business, it's 30% of the eligible trail rate. For franchise business, it's 10%. If there's no new business for 2 consecutive quarters, the trail entitlement freezes. This ensures only active, growing relationships are rewarded.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mathematical engine behind our entire incentive system. The formula is: Target equals 30% divided by the actual margin percentage, multiplied by the base target. In practice: a direct sales RM with 30% margin has a standard 6x salary target and gets 100% credit. A POSP RM where we pay out 70% to the channel has the same 30% margin, gets 30% credit, and needs to do 20x volume. But when we work with a digital platform paying 80% — our margin drops to 20% — so the target adjusts to 30x salary, and the RM gets only 20% credit. The system automatically scales to protect company profitability.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classifies every product into three tiers based on the company's commission rate. Tier 1 — over 30% — includes life regular policies with 10+ year terms, annual health policies, and FP route products. These get full 100% credit. Tier 2 at 15-30% covers ULIPs, MF lumpsum equity, and multi-year health policies at 75% credit. Tier 3 under 15% covers motor TP, GMC/GPA, and renewals at just 50% credit. Importantly, this tier calculation applies AFTER the margin-based credit for channel business — so both filters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reward referrals outside an RM's direct portfolio. If someone refers a life insurance deal where the premium credit is at least one lakh, they earn 15% referral credit. Fresh health policies earn 10%, health port-ins 7.5%, and GI non-motor ranges from 5-10% depending on margin. This encourages cross-selling across verticals. Referrals from support staff earn 50% of the applicable RM rate. Importantly, these are counted once only — no double-dipping.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POSP channel managers — the CDMs and RMs — there are three incentive layers. First, recruitment bonus: paid monthly, ranging from Rs 200 per POSP for 7+ recruits to Rs 500 for 20+ recruits. Second, activation bonus: based on Grade A active POSPs with minimum Rs 20K business. Third, performance credit: self-sourced business gets 300% credit counted toward their own target. POSP Normal Grade business gets 100% credit against target. Higher-payout POSPs get proportionately less. Franchise is 25% credit. Renewal retention must be above 80% to qualify for incentives.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senior management at L2 and above, we operate a profit center model. The bonus is a percentage of actual vertical profit — which means revenue minus ALL costs including manager salary, team salary, team incentives, other costs, and attrition cost. L2 earns 8-12%, L3 gets 5-8%, L4 gets 3-5%, and L5 gets 2-4%. Attrition cost is attributed to the hiring manager — 100% if someone leaves within 3 months, 50% for 3-6 months. If a vertical is loss-making, the bonus is zero. This creates real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setting aside 5% of equity for employee stock ownership at a pre-IPO valuation of Rs 50 crore, which means Rs 500 per unit. Vesting is over 4 years with a 1-year cliff. L2 level gets 5,000 units annually — that's Rs 25 lakh over the full vesting period. Even an L7 support staff member with 3+ years tenure gets 250 units worth Rs 1.25 lakh. Pre-IPO, these are cash-settled phantom stocks at Board-approved valuation. Post-IPO, they convert to actual ESOPs. An IPO trigger means 100% accelerated vesting — everyone benefits from the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beyond pure revenue, we have a balanced scorecard with four dimensions. Financial at 40% weight covers revenue vs target, profit contribution, cost-to-income, and new business growth. Customer at 25% covers NPS, retention, complaint resolution, and cross-sell ratio. Process at 20% covers policy issuance TAT, documentation accuracy, KYC compliance, and zero mis-selling. Learning at 15% covers certifications, training hours, team retention, and digital adoption. There's also a compliance multiplier — 0.8x for any violation, 1.1x for a completely clean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L2 to L4 management, the bonus is split 60/40. Sixty percent is paid immediately. Forty percent is deferred and released in two equal tranches — 20% after Year 1 and 20% after Year 2. If the gross bonus is below Rs 50,000, it's paid in full immediately. The deferred portion is subject to six clawback triggers: vertical underperformance forfeits 50%, compliance breach or mis-selling forfeits 100%, resignation forfeits all unvested amounts, team attrition above 30% forfeits 25%, and fraud forfeits everything including already-paid amounts. This is aligned with listed company governance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Lifetime Value bonus rewards relationship depth, not just new business. CLV is calculated as cumulative premiums across Life, Health, and GI plus current MF AUM plus running SIPs, minus any lapsed or stopped products. Five tiers: Bronze at Rs 1-5 lakh CLV gets Rs 5,000 annually, up to Diamond at Rs 50 lakh+ getting Rs 1 lakh annually. There's also a team building bonus of Rs 50,000 for managers with over 90% team retention AND over 100% collective target achievement.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Motor insurance follows Sitara-style progressive slabs. Business above target up to Rs 3 lakh earns 1.5% of premium, Rs 3-5 lakh earns 2%, and Rs 5 lakh+ earns 3%. This is paid quarterly. The proportionate incentive principle is key: RM Credit equals 100% minus the channel payout percentage. So a digital platform paying 80% means the RM gets only 20% credit. A normal POSP at 70% payout gives the RM 30% credit. Higher-margin products always earn more for the 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functions have their own structured bonus system. Back office can earn up to Rs 5,000 per month based on TAT, accuracy, volume, complaints, and attendance. Training team has variable pay tied to POSP activation, productive POSPs, and sessions conducted. HR is measured on time-to-hire, retention, and payroll accuracy. Operations focuses on claims TAT, renewal follow-up, and NPS. Accounts is judged on books closure, reconciliation, and compliance. Digital team targets lead generation, conversion, and social growth. All these are measured through the balanced scorecard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hire must have a business case. The Kolkata example shows this clearly: a leader at Rs 1 lakh plus a team of 5 at Rs 30K each costs Rs 2.5 lakh per month. Over 6 months, that's Rs 15 lakh plus setup costs. The required monthly business to break even is Rs 35-50 lakh. Break-even should happen in month 4-6 if execution is right. Attrition cost is directly charged to the hiring manager's P&amp;L — 100% if someone exits within 3 months, 50% for 3-6 months. This ensures every manager thinks twice before hiring and takes ownership of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employee receives this career roadmap on Day 1. Executive to RM takes 6 months with 3 consecutive months at 100%+. RM to Senior RM takes 12 months with 4 out of 6 months at 100%+. The path goes all the way to Sales Head, requiring 24 months as Area Manager with 4 consecutive profitable quarters. A performance allowance is also part of this — Rs 3,000 per month for excellent performers at 130%+, Rs 2,000 for standard performers at 100%, and nothing for underperformers. Clear, merit-based, no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5-year projection to IPO shows revenue growing from Rs 22 crore in FY27 to Rs 130 crore by FY31. Costs scale from Rs 6.5 crore to Rs 32 crore. The staff count grows from 120 to 460. Most importantly, ROI improves from 18% in FY27 to 38% by FY31, crossing the 30% threshold by FY29. This is achievable because the incentive framework ensures profitability at every level — margin-based credit means we never overpay relative to our earnings.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non-negotiable. There are four access levels: Super Admin — that's myself and Sangita — with full control over targets, incentives, and slabs. Presidents and VPs have limited access with deviation approval up to Rs 50K. Managers can view their own team data only, no editing capability. Employees see their own dashboard — completely transparent, they can see their business logged, their credits, and expected incentives. All deviations require written Director approval. Maker-Checker verification is required for FP Route 125% credits. This is SEBI-compliant audit trail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is in four phases. Phase 1, months 1-2: Board approval of all slabs, ESOP pool size, deferred bonus rules, and balanced scorecard KPIs. Phase 2, months 2-3: Communication — individual career roadmaps, ESOP grant letters, team briefings, and T&amp;C documentation. Phase 3, months 3-4: Pilot run with parallel old and new calculations to validate everything. Phase 4, month 4 onwards: Go live with automated dashboards, first actual payouts, CLV tracking, and compliance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key takeaways for the Board. One: Meritocratic — performers are rewarded disproportionately through 6 accelerator slabs. Two: Cost-controlled — 30%+ ROI target with every rupee accountable. Three: System-driven — automatic calculation with balanced scorecard and compliance multiplier. Four: IPO-ready — ESOP, deferred bonus, clawback, and SEBI-compliant audit trail. Five: Wealth creation — ESOP vesting, CLV bonus, and trail income for long-term alignment. Six: Margin-aligned — the tier system and target scaling ensure profitability is reflected in every incentive. Seven: Growth-oriented — doubling force in 2026, national by 2028, IPO by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Board members. The immediate next steps are: Board approval of the incentive slabs, ESOP pool, and deferred bonus rules. HR will then prepare individual career roadmaps and ESOP grant letters. IT will integrate the incentive calculation engine with our CRM and MIS systems. We are targeting the first automated payout including CLV bonus for Q2 FY27. We're also planning a team-facing MIS portal where every team member can log in and see their business, credits, and expected incentives in real-time — full transparency with zero data leakage between individuals.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65D"/>
          </a:solidFill>
          <a:ln/>
        </p:spPr>
      </p:sp>
      <p:sp>
        <p:nvSpPr>
          <p:cNvPr id="3" name="Shape 1"/>
          <p:cNvSpPr/>
          <p:nvPr/>
        </p:nvSpPr>
        <p:spPr>
          <a:xfrm>
            <a:off x="0" y="4754880"/>
            <a:ext cx="9144000" cy="54864"/>
          </a:xfrm>
          <a:prstGeom prst="rect">
            <a:avLst/>
          </a:prstGeom>
          <a:solidFill>
            <a:srgbClr val="D69E2E"/>
          </a:solidFill>
          <a:ln/>
        </p:spPr>
      </p:sp>
      <p:sp>
        <p:nvSpPr>
          <p:cNvPr id="4" name="Shape 2"/>
          <p:cNvSpPr/>
          <p:nvPr/>
        </p:nvSpPr>
        <p:spPr>
          <a:xfrm>
            <a:off x="0" y="4809744"/>
            <a:ext cx="9144000" cy="333756"/>
          </a:xfrm>
          <a:prstGeom prst="rect">
            <a:avLst/>
          </a:prstGeom>
          <a:solidFill>
            <a:srgbClr val="0F1F3A"/>
          </a:solidFill>
          <a:ln/>
        </p:spPr>
      </p:sp>
      <p:sp>
        <p:nvSpPr>
          <p:cNvPr id="5" name="Text 3"/>
          <p:cNvSpPr/>
          <p:nvPr/>
        </p:nvSpPr>
        <p:spPr>
          <a:xfrm>
            <a:off x="640080" y="914400"/>
            <a:ext cx="7863840" cy="822960"/>
          </a:xfrm>
          <a:prstGeom prst="rect">
            <a:avLst/>
          </a:prstGeom>
          <a:noFill/>
          <a:ln/>
        </p:spPr>
        <p:txBody>
          <a:bodyPr wrap="square" lIns="0" tIns="0" rIns="0" bIns="0" rtlCol="0" anchor="ctr"/>
          <a:lstStyle/>
          <a:p>
            <a:pPr indent="0" marL="0">
              <a:buNone/>
            </a:pPr>
            <a:r>
              <a:rPr lang="en-US" sz="4400" b="1" spc="400" kern="0" dirty="0">
                <a:solidFill>
                  <a:srgbClr val="FFFFFF"/>
                </a:solidFill>
                <a:latin typeface="Georgia" pitchFamily="34" charset="0"/>
                <a:ea typeface="Georgia" pitchFamily="34" charset="-122"/>
                <a:cs typeface="Georgia" pitchFamily="34" charset="-120"/>
              </a:rPr>
              <a:t>TRUSTNER GROUP</a:t>
            </a:r>
            <a:endParaRPr lang="en-US" sz="4400" dirty="0"/>
          </a:p>
        </p:txBody>
      </p:sp>
      <p:sp>
        <p:nvSpPr>
          <p:cNvPr id="6" name="Text 4"/>
          <p:cNvSpPr/>
          <p:nvPr/>
        </p:nvSpPr>
        <p:spPr>
          <a:xfrm>
            <a:off x="640080" y="1828800"/>
            <a:ext cx="7863840" cy="914400"/>
          </a:xfrm>
          <a:prstGeom prst="rect">
            <a:avLst/>
          </a:prstGeom>
          <a:noFill/>
          <a:ln/>
        </p:spPr>
        <p:txBody>
          <a:bodyPr wrap="square" lIns="0" tIns="0" rIns="0" bIns="0" rtlCol="0" anchor="ctr"/>
          <a:lstStyle/>
          <a:p>
            <a:pPr indent="0" marL="0">
              <a:buNone/>
            </a:pPr>
            <a:r>
              <a:rPr lang="en-US" sz="2200" dirty="0">
                <a:solidFill>
                  <a:srgbClr val="4299E1"/>
                </a:solidFill>
                <a:latin typeface="Calibri" pitchFamily="34" charset="0"/>
                <a:ea typeface="Calibri" pitchFamily="34" charset="-122"/>
                <a:cs typeface="Calibri" pitchFamily="34" charset="-120"/>
              </a:rPr>
              <a:t>Incentive, Compensation &amp;</a:t>
            </a:r>
            <a:endParaRPr lang="en-US" sz="2200" dirty="0"/>
          </a:p>
          <a:p>
            <a:pPr indent="0" marL="0">
              <a:buNone/>
            </a:pPr>
            <a:r>
              <a:rPr lang="en-US" sz="2200" dirty="0">
                <a:solidFill>
                  <a:srgbClr val="4299E1"/>
                </a:solidFill>
                <a:latin typeface="Calibri" pitchFamily="34" charset="0"/>
                <a:ea typeface="Calibri" pitchFamily="34" charset="-122"/>
                <a:cs typeface="Calibri" pitchFamily="34" charset="-120"/>
              </a:rPr>
              <a:t>Performance Management Framework</a:t>
            </a:r>
            <a:endParaRPr lang="en-US" sz="2200" dirty="0"/>
          </a:p>
        </p:txBody>
      </p:sp>
      <p:sp>
        <p:nvSpPr>
          <p:cNvPr id="7" name="Text 5"/>
          <p:cNvSpPr/>
          <p:nvPr/>
        </p:nvSpPr>
        <p:spPr>
          <a:xfrm>
            <a:off x="640080" y="3017520"/>
            <a:ext cx="7863840" cy="365760"/>
          </a:xfrm>
          <a:prstGeom prst="rect">
            <a:avLst/>
          </a:prstGeom>
          <a:noFill/>
          <a:ln/>
        </p:spPr>
        <p:txBody>
          <a:bodyPr wrap="square" lIns="0" tIns="0" rIns="0" bIns="0" rtlCol="0" anchor="ctr"/>
          <a:lstStyle/>
          <a:p>
            <a:pPr indent="0" marL="0">
              <a:buNone/>
            </a:pPr>
            <a:r>
              <a:rPr lang="en-US" sz="1200" dirty="0">
                <a:solidFill>
                  <a:srgbClr val="A0AEC0"/>
                </a:solidFill>
                <a:latin typeface="Calibri" pitchFamily="34" charset="0"/>
                <a:ea typeface="Calibri" pitchFamily="34" charset="-122"/>
                <a:cs typeface="Calibri" pitchFamily="34" charset="-120"/>
              </a:rPr>
              <a:t>Board Presentation  |  FY 2026-27  |  Version 2.2  |  CONFIDENTIAL</a:t>
            </a:r>
            <a:endParaRPr lang="en-US" sz="1200" dirty="0"/>
          </a:p>
        </p:txBody>
      </p:sp>
      <p:sp>
        <p:nvSpPr>
          <p:cNvPr id="8" name="Text 6"/>
          <p:cNvSpPr/>
          <p:nvPr/>
        </p:nvSpPr>
        <p:spPr>
          <a:xfrm>
            <a:off x="640080" y="3383280"/>
            <a:ext cx="7863840" cy="274320"/>
          </a:xfrm>
          <a:prstGeom prst="rect">
            <a:avLst/>
          </a:prstGeom>
          <a:noFill/>
          <a:ln/>
        </p:spPr>
        <p:txBody>
          <a:bodyPr wrap="square" lIns="0" tIns="0" rIns="0" bIns="0" rtlCol="0" anchor="ctr"/>
          <a:lstStyle/>
          <a:p>
            <a:pPr indent="0" marL="0">
              <a:buNone/>
            </a:pPr>
            <a:r>
              <a:rPr lang="en-US" sz="1100" dirty="0">
                <a:solidFill>
                  <a:srgbClr val="A0AEC0"/>
                </a:solidFill>
                <a:latin typeface="Calibri" pitchFamily="34" charset="0"/>
                <a:ea typeface="Calibri" pitchFamily="34" charset="-122"/>
                <a:cs typeface="Calibri" pitchFamily="34" charset="-120"/>
              </a:rPr>
              <a:t>TIB (Trustner Insurance Brokers, IRDAI)  |  TAS (Trustner Asset Services, SEBI MFD)</a:t>
            </a:r>
            <a:endParaRPr lang="en-US" sz="1100" dirty="0"/>
          </a:p>
        </p:txBody>
      </p:sp>
      <p:sp>
        <p:nvSpPr>
          <p:cNvPr id="9" name="Text 7"/>
          <p:cNvSpPr/>
          <p:nvPr/>
        </p:nvSpPr>
        <p:spPr>
          <a:xfrm>
            <a:off x="640080" y="4846320"/>
            <a:ext cx="7863840" cy="228600"/>
          </a:xfrm>
          <a:prstGeom prst="rect">
            <a:avLst/>
          </a:prstGeom>
          <a:noFill/>
          <a:ln/>
        </p:spPr>
        <p:txBody>
          <a:bodyPr wrap="square" lIns="0" tIns="0" rIns="0" bIns="0" rtlCol="0" anchor="ctr"/>
          <a:lstStyle/>
          <a:p>
            <a:pPr indent="0" marL="0">
              <a:buNone/>
            </a:pPr>
            <a:r>
              <a:rPr lang="en-US" sz="1000" dirty="0">
                <a:solidFill>
                  <a:srgbClr val="D69E2E"/>
                </a:solidFill>
                <a:latin typeface="Calibri" pitchFamily="34" charset="0"/>
                <a:ea typeface="Calibri" pitchFamily="34" charset="-122"/>
                <a:cs typeface="Calibri" pitchFamily="34" charset="-120"/>
              </a:rPr>
              <a:t>Prepared by: Ram Shah, Director  |  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69E2E"/>
          </a:solidFill>
          <a:ln/>
        </p:spPr>
      </p:sp>
      <p:sp>
        <p:nvSpPr>
          <p:cNvPr id="3" name="Text 1"/>
          <p:cNvSpPr/>
          <p:nvPr/>
        </p:nvSpPr>
        <p:spPr>
          <a:xfrm>
            <a:off x="640080" y="3657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Our Philosophy: Building a Co-Workers' Institution</a:t>
            </a:r>
            <a:endParaRPr lang="en-US" sz="3200" dirty="0"/>
          </a:p>
        </p:txBody>
      </p:sp>
      <p:sp>
        <p:nvSpPr>
          <p:cNvPr id="4" name="Text 2"/>
          <p:cNvSpPr/>
          <p:nvPr/>
        </p:nvSpPr>
        <p:spPr>
          <a:xfrm>
            <a:off x="640080" y="1005840"/>
            <a:ext cx="7863840" cy="365760"/>
          </a:xfrm>
          <a:prstGeom prst="rect">
            <a:avLst/>
          </a:prstGeom>
          <a:noFill/>
          <a:ln/>
        </p:spPr>
        <p:txBody>
          <a:bodyPr wrap="square" lIns="0" tIns="0" rIns="0" bIns="0" rtlCol="0" anchor="ctr"/>
          <a:lstStyle/>
          <a:p>
            <a:pPr indent="0" marL="0">
              <a:buNone/>
            </a:pPr>
            <a:r>
              <a:rPr lang="en-US" sz="1400" dirty="0">
                <a:solidFill>
                  <a:srgbClr val="A0AEC0"/>
                </a:solidFill>
                <a:latin typeface="Calibri" pitchFamily="34" charset="0"/>
                <a:ea typeface="Calibri" pitchFamily="34" charset="-122"/>
                <a:cs typeface="Calibri" pitchFamily="34" charset="-120"/>
              </a:rPr>
              <a:t>Tata Group-inspired societal ownership model</a:t>
            </a:r>
            <a:endParaRPr lang="en-US" sz="1400" dirty="0"/>
          </a:p>
        </p:txBody>
      </p:sp>
      <p:sp>
        <p:nvSpPr>
          <p:cNvPr id="5" name="Shape 3"/>
          <p:cNvSpPr/>
          <p:nvPr/>
        </p:nvSpPr>
        <p:spPr>
          <a:xfrm>
            <a:off x="640080" y="1554480"/>
            <a:ext cx="7863840" cy="73152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6" name="Shape 4"/>
          <p:cNvSpPr/>
          <p:nvPr/>
        </p:nvSpPr>
        <p:spPr>
          <a:xfrm>
            <a:off x="640080" y="1554480"/>
            <a:ext cx="54864" cy="731520"/>
          </a:xfrm>
          <a:prstGeom prst="rect">
            <a:avLst/>
          </a:prstGeom>
          <a:solidFill>
            <a:srgbClr val="38A169"/>
          </a:solidFill>
          <a:ln/>
        </p:spPr>
      </p:sp>
      <p:sp>
        <p:nvSpPr>
          <p:cNvPr id="7" name="Text 5"/>
          <p:cNvSpPr/>
          <p:nvPr/>
        </p:nvSpPr>
        <p:spPr>
          <a:xfrm>
            <a:off x="914400" y="1554480"/>
            <a:ext cx="2286000" cy="731520"/>
          </a:xfrm>
          <a:prstGeom prst="rect">
            <a:avLst/>
          </a:prstGeom>
          <a:noFill/>
          <a:ln/>
        </p:spPr>
        <p:txBody>
          <a:bodyPr wrap="square" lIns="0" tIns="0" rIns="0" bIns="0" rtlCol="0" anchor="ctr"/>
          <a:lstStyle/>
          <a:p>
            <a:pPr indent="0" marL="0">
              <a:buNone/>
            </a:pPr>
            <a:r>
              <a:rPr lang="en-US" sz="1800" b="1" dirty="0">
                <a:solidFill>
                  <a:srgbClr val="38A169"/>
                </a:solidFill>
                <a:latin typeface="Georgia" pitchFamily="34" charset="0"/>
                <a:ea typeface="Georgia" pitchFamily="34" charset="-122"/>
                <a:cs typeface="Georgia" pitchFamily="34" charset="-120"/>
              </a:rPr>
              <a:t>Meritocratic</a:t>
            </a:r>
            <a:endParaRPr lang="en-US" sz="1800" dirty="0"/>
          </a:p>
        </p:txBody>
      </p:sp>
      <p:sp>
        <p:nvSpPr>
          <p:cNvPr id="8" name="Text 6"/>
          <p:cNvSpPr/>
          <p:nvPr/>
        </p:nvSpPr>
        <p:spPr>
          <a:xfrm>
            <a:off x="3200400" y="1554480"/>
            <a:ext cx="5029200" cy="731520"/>
          </a:xfrm>
          <a:prstGeom prst="rect">
            <a:avLst/>
          </a:prstGeom>
          <a:noFill/>
          <a:ln/>
        </p:spPr>
        <p:txBody>
          <a:bodyPr wrap="square" lIns="0" tIns="0" rIns="0" bIns="0" rtlCol="0" anchor="ctr"/>
          <a:lstStyle/>
          <a:p>
            <a:pPr indent="0" marL="0">
              <a:buNone/>
            </a:pPr>
            <a:r>
              <a:rPr lang="en-US" sz="1300" dirty="0">
                <a:solidFill>
                  <a:srgbClr val="A0AEC0"/>
                </a:solidFill>
                <a:latin typeface="Calibri" pitchFamily="34" charset="0"/>
                <a:ea typeface="Calibri" pitchFamily="34" charset="-122"/>
                <a:cs typeface="Calibri" pitchFamily="34" charset="-120"/>
              </a:rPr>
              <a:t>Top performers earn 3-5x more in variable pay</a:t>
            </a:r>
            <a:endParaRPr lang="en-US" sz="1300" dirty="0"/>
          </a:p>
        </p:txBody>
      </p:sp>
      <p:sp>
        <p:nvSpPr>
          <p:cNvPr id="9" name="Shape 7"/>
          <p:cNvSpPr/>
          <p:nvPr/>
        </p:nvSpPr>
        <p:spPr>
          <a:xfrm>
            <a:off x="640080" y="2423160"/>
            <a:ext cx="7863840" cy="73152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0" name="Shape 8"/>
          <p:cNvSpPr/>
          <p:nvPr/>
        </p:nvSpPr>
        <p:spPr>
          <a:xfrm>
            <a:off x="640080" y="2423160"/>
            <a:ext cx="54864" cy="731520"/>
          </a:xfrm>
          <a:prstGeom prst="rect">
            <a:avLst/>
          </a:prstGeom>
          <a:solidFill>
            <a:srgbClr val="D69E2E"/>
          </a:solidFill>
          <a:ln/>
        </p:spPr>
      </p:sp>
      <p:sp>
        <p:nvSpPr>
          <p:cNvPr id="11" name="Text 9"/>
          <p:cNvSpPr/>
          <p:nvPr/>
        </p:nvSpPr>
        <p:spPr>
          <a:xfrm>
            <a:off x="914400" y="2423160"/>
            <a:ext cx="2286000" cy="731520"/>
          </a:xfrm>
          <a:prstGeom prst="rect">
            <a:avLst/>
          </a:prstGeom>
          <a:noFill/>
          <a:ln/>
        </p:spPr>
        <p:txBody>
          <a:bodyPr wrap="square" lIns="0" tIns="0" rIns="0" bIns="0" rtlCol="0" anchor="ctr"/>
          <a:lstStyle/>
          <a:p>
            <a:pPr indent="0" marL="0">
              <a:buNone/>
            </a:pPr>
            <a:r>
              <a:rPr lang="en-US" sz="1800" b="1" dirty="0">
                <a:solidFill>
                  <a:srgbClr val="D69E2E"/>
                </a:solidFill>
                <a:latin typeface="Georgia" pitchFamily="34" charset="0"/>
                <a:ea typeface="Georgia" pitchFamily="34" charset="-122"/>
                <a:cs typeface="Georgia" pitchFamily="34" charset="-120"/>
              </a:rPr>
              <a:t>Profitable</a:t>
            </a:r>
            <a:endParaRPr lang="en-US" sz="1800" dirty="0"/>
          </a:p>
        </p:txBody>
      </p:sp>
      <p:sp>
        <p:nvSpPr>
          <p:cNvPr id="12" name="Text 10"/>
          <p:cNvSpPr/>
          <p:nvPr/>
        </p:nvSpPr>
        <p:spPr>
          <a:xfrm>
            <a:off x="3200400" y="2423160"/>
            <a:ext cx="5029200" cy="731520"/>
          </a:xfrm>
          <a:prstGeom prst="rect">
            <a:avLst/>
          </a:prstGeom>
          <a:noFill/>
          <a:ln/>
        </p:spPr>
        <p:txBody>
          <a:bodyPr wrap="square" lIns="0" tIns="0" rIns="0" bIns="0" rtlCol="0" anchor="ctr"/>
          <a:lstStyle/>
          <a:p>
            <a:pPr indent="0" marL="0">
              <a:buNone/>
            </a:pPr>
            <a:r>
              <a:rPr lang="en-US" sz="1300" dirty="0">
                <a:solidFill>
                  <a:srgbClr val="A0AEC0"/>
                </a:solidFill>
                <a:latin typeface="Calibri" pitchFamily="34" charset="0"/>
                <a:ea typeface="Calibri" pitchFamily="34" charset="-122"/>
                <a:cs typeface="Calibri" pitchFamily="34" charset="-120"/>
              </a:rPr>
              <a:t>30%+ ROI target — every incentive tied to actual revenue</a:t>
            </a:r>
            <a:endParaRPr lang="en-US" sz="1300" dirty="0"/>
          </a:p>
        </p:txBody>
      </p:sp>
      <p:sp>
        <p:nvSpPr>
          <p:cNvPr id="13" name="Shape 11"/>
          <p:cNvSpPr/>
          <p:nvPr/>
        </p:nvSpPr>
        <p:spPr>
          <a:xfrm>
            <a:off x="640080" y="3291840"/>
            <a:ext cx="7863840" cy="73152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4" name="Shape 12"/>
          <p:cNvSpPr/>
          <p:nvPr/>
        </p:nvSpPr>
        <p:spPr>
          <a:xfrm>
            <a:off x="640080" y="3291840"/>
            <a:ext cx="54864" cy="731520"/>
          </a:xfrm>
          <a:prstGeom prst="rect">
            <a:avLst/>
          </a:prstGeom>
          <a:solidFill>
            <a:srgbClr val="4299E1"/>
          </a:solidFill>
          <a:ln/>
        </p:spPr>
      </p:sp>
      <p:sp>
        <p:nvSpPr>
          <p:cNvPr id="15" name="Text 13"/>
          <p:cNvSpPr/>
          <p:nvPr/>
        </p:nvSpPr>
        <p:spPr>
          <a:xfrm>
            <a:off x="914400" y="3291840"/>
            <a:ext cx="2286000" cy="731520"/>
          </a:xfrm>
          <a:prstGeom prst="rect">
            <a:avLst/>
          </a:prstGeom>
          <a:noFill/>
          <a:ln/>
        </p:spPr>
        <p:txBody>
          <a:bodyPr wrap="square" lIns="0" tIns="0" rIns="0" bIns="0" rtlCol="0" anchor="ctr"/>
          <a:lstStyle/>
          <a:p>
            <a:pPr indent="0" marL="0">
              <a:buNone/>
            </a:pPr>
            <a:r>
              <a:rPr lang="en-US" sz="1800" b="1" dirty="0">
                <a:solidFill>
                  <a:srgbClr val="4299E1"/>
                </a:solidFill>
                <a:latin typeface="Georgia" pitchFamily="34" charset="0"/>
                <a:ea typeface="Georgia" pitchFamily="34" charset="-122"/>
                <a:cs typeface="Georgia" pitchFamily="34" charset="-120"/>
              </a:rPr>
              <a:t>Transparent</a:t>
            </a:r>
            <a:endParaRPr lang="en-US" sz="1800" dirty="0"/>
          </a:p>
        </p:txBody>
      </p:sp>
      <p:sp>
        <p:nvSpPr>
          <p:cNvPr id="16" name="Text 14"/>
          <p:cNvSpPr/>
          <p:nvPr/>
        </p:nvSpPr>
        <p:spPr>
          <a:xfrm>
            <a:off x="3200400" y="3291840"/>
            <a:ext cx="5029200" cy="731520"/>
          </a:xfrm>
          <a:prstGeom prst="rect">
            <a:avLst/>
          </a:prstGeom>
          <a:noFill/>
          <a:ln/>
        </p:spPr>
        <p:txBody>
          <a:bodyPr wrap="square" lIns="0" tIns="0" rIns="0" bIns="0" rtlCol="0" anchor="ctr"/>
          <a:lstStyle/>
          <a:p>
            <a:pPr indent="0" marL="0">
              <a:buNone/>
            </a:pPr>
            <a:r>
              <a:rPr lang="en-US" sz="1300" dirty="0">
                <a:solidFill>
                  <a:srgbClr val="A0AEC0"/>
                </a:solidFill>
                <a:latin typeface="Calibri" pitchFamily="34" charset="0"/>
                <a:ea typeface="Calibri" pitchFamily="34" charset="-122"/>
                <a:cs typeface="Calibri" pitchFamily="34" charset="-120"/>
              </a:rPr>
              <a:t>System-driven, automatic — Super Admin override only</a:t>
            </a:r>
            <a:endParaRPr lang="en-US" sz="1300" dirty="0"/>
          </a:p>
        </p:txBody>
      </p:sp>
      <p:sp>
        <p:nvSpPr>
          <p:cNvPr id="17" name="Shape 15"/>
          <p:cNvSpPr/>
          <p:nvPr/>
        </p:nvSpPr>
        <p:spPr>
          <a:xfrm>
            <a:off x="640080" y="4160520"/>
            <a:ext cx="7863840" cy="73152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8" name="Shape 16"/>
          <p:cNvSpPr/>
          <p:nvPr/>
        </p:nvSpPr>
        <p:spPr>
          <a:xfrm>
            <a:off x="640080" y="4160520"/>
            <a:ext cx="54864" cy="731520"/>
          </a:xfrm>
          <a:prstGeom prst="rect">
            <a:avLst/>
          </a:prstGeom>
          <a:solidFill>
            <a:srgbClr val="38A169"/>
          </a:solidFill>
          <a:ln/>
        </p:spPr>
      </p:sp>
      <p:sp>
        <p:nvSpPr>
          <p:cNvPr id="19" name="Text 17"/>
          <p:cNvSpPr/>
          <p:nvPr/>
        </p:nvSpPr>
        <p:spPr>
          <a:xfrm>
            <a:off x="914400" y="4160520"/>
            <a:ext cx="2286000" cy="731520"/>
          </a:xfrm>
          <a:prstGeom prst="rect">
            <a:avLst/>
          </a:prstGeom>
          <a:noFill/>
          <a:ln/>
        </p:spPr>
        <p:txBody>
          <a:bodyPr wrap="square" lIns="0" tIns="0" rIns="0" bIns="0" rtlCol="0" anchor="ctr"/>
          <a:lstStyle/>
          <a:p>
            <a:pPr indent="0" marL="0">
              <a:buNone/>
            </a:pPr>
            <a:r>
              <a:rPr lang="en-US" sz="1800" b="1" dirty="0">
                <a:solidFill>
                  <a:srgbClr val="38A169"/>
                </a:solidFill>
                <a:latin typeface="Georgia" pitchFamily="34" charset="0"/>
                <a:ea typeface="Georgia" pitchFamily="34" charset="-122"/>
                <a:cs typeface="Georgia" pitchFamily="34" charset="-120"/>
              </a:rPr>
              <a:t>IPO-Ready</a:t>
            </a:r>
            <a:endParaRPr lang="en-US" sz="1800" dirty="0"/>
          </a:p>
        </p:txBody>
      </p:sp>
      <p:sp>
        <p:nvSpPr>
          <p:cNvPr id="20" name="Text 18"/>
          <p:cNvSpPr/>
          <p:nvPr/>
        </p:nvSpPr>
        <p:spPr>
          <a:xfrm>
            <a:off x="3200400" y="4160520"/>
            <a:ext cx="5029200" cy="731520"/>
          </a:xfrm>
          <a:prstGeom prst="rect">
            <a:avLst/>
          </a:prstGeom>
          <a:noFill/>
          <a:ln/>
        </p:spPr>
        <p:txBody>
          <a:bodyPr wrap="square" lIns="0" tIns="0" rIns="0" bIns="0" rtlCol="0" anchor="ctr"/>
          <a:lstStyle/>
          <a:p>
            <a:pPr indent="0" marL="0">
              <a:buNone/>
            </a:pPr>
            <a:r>
              <a:rPr lang="en-US" sz="1300" dirty="0">
                <a:solidFill>
                  <a:srgbClr val="A0AEC0"/>
                </a:solidFill>
                <a:latin typeface="Calibri" pitchFamily="34" charset="0"/>
                <a:ea typeface="Calibri" pitchFamily="34" charset="-122"/>
                <a:cs typeface="Calibri" pitchFamily="34" charset="-120"/>
              </a:rPr>
              <a:t>SEBI-compliant audit trail, governance, balanced scorecard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Current Organization Snapshot</a:t>
            </a:r>
            <a:endParaRPr lang="en-US" sz="2800" dirty="0"/>
          </a:p>
        </p:txBody>
      </p:sp>
      <p:sp>
        <p:nvSpPr>
          <p:cNvPr id="5" name="Shape 3"/>
          <p:cNvSpPr/>
          <p:nvPr/>
        </p:nvSpPr>
        <p:spPr>
          <a:xfrm>
            <a:off x="640080" y="1188720"/>
            <a:ext cx="25603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640080" y="1188720"/>
            <a:ext cx="54864" cy="1371600"/>
          </a:xfrm>
          <a:prstGeom prst="rect">
            <a:avLst/>
          </a:prstGeom>
          <a:solidFill>
            <a:srgbClr val="2B6CB0"/>
          </a:solidFill>
          <a:ln/>
        </p:spPr>
      </p:sp>
      <p:sp>
        <p:nvSpPr>
          <p:cNvPr id="7" name="Text 5"/>
          <p:cNvSpPr/>
          <p:nvPr/>
        </p:nvSpPr>
        <p:spPr>
          <a:xfrm>
            <a:off x="777240" y="1280160"/>
            <a:ext cx="2286000" cy="754380"/>
          </a:xfrm>
          <a:prstGeom prst="rect">
            <a:avLst/>
          </a:prstGeom>
          <a:noFill/>
          <a:ln/>
        </p:spPr>
        <p:txBody>
          <a:bodyPr wrap="square" lIns="0" tIns="0" rIns="0" bIns="0" rtlCol="0" anchor="ctr"/>
          <a:lstStyle/>
          <a:p>
            <a:pPr algn="ctr" indent="0" marL="0">
              <a:buNone/>
            </a:pPr>
            <a:r>
              <a:rPr lang="en-US" sz="2800" b="1" dirty="0">
                <a:solidFill>
                  <a:srgbClr val="2B6CB0"/>
                </a:solidFill>
                <a:latin typeface="Georgia" pitchFamily="34" charset="0"/>
                <a:ea typeface="Georgia" pitchFamily="34" charset="-122"/>
                <a:cs typeface="Georgia" pitchFamily="34" charset="-120"/>
              </a:rPr>
              <a:t>77</a:t>
            </a:r>
            <a:endParaRPr lang="en-US" sz="2800" dirty="0"/>
          </a:p>
        </p:txBody>
      </p:sp>
      <p:sp>
        <p:nvSpPr>
          <p:cNvPr id="8" name="Text 6"/>
          <p:cNvSpPr/>
          <p:nvPr/>
        </p:nvSpPr>
        <p:spPr>
          <a:xfrm>
            <a:off x="777240" y="1943100"/>
            <a:ext cx="2286000" cy="548640"/>
          </a:xfrm>
          <a:prstGeom prst="rect">
            <a:avLst/>
          </a:prstGeom>
          <a:noFill/>
          <a:ln/>
        </p:spPr>
        <p:txBody>
          <a:bodyPr wrap="square" lIns="0" tIns="0" rIns="0" bIns="0" rtlCol="0" anchor="t"/>
          <a:lstStyle/>
          <a:p>
            <a:pPr algn="ctr" indent="0" marL="0">
              <a:buNone/>
            </a:pPr>
            <a:r>
              <a:rPr lang="en-US" sz="1000" dirty="0">
                <a:solidFill>
                  <a:srgbClr val="718096"/>
                </a:solidFill>
                <a:latin typeface="Calibri" pitchFamily="34" charset="0"/>
                <a:ea typeface="Calibri" pitchFamily="34" charset="-122"/>
                <a:cs typeface="Calibri" pitchFamily="34" charset="-120"/>
              </a:rPr>
              <a:t>Employees</a:t>
            </a:r>
            <a:endParaRPr lang="en-US" sz="1000" dirty="0"/>
          </a:p>
          <a:p>
            <a:pPr algn="ctr" indent="0" marL="0">
              <a:buNone/>
            </a:pPr>
            <a:r>
              <a:rPr lang="en-US" sz="1000" dirty="0">
                <a:solidFill>
                  <a:srgbClr val="718096"/>
                </a:solidFill>
                <a:latin typeface="Calibri" pitchFamily="34" charset="0"/>
                <a:ea typeface="Calibri" pitchFamily="34" charset="-122"/>
                <a:cs typeface="Calibri" pitchFamily="34" charset="-120"/>
              </a:rPr>
              <a:t>Across TIB + TAS</a:t>
            </a:r>
            <a:endParaRPr lang="en-US" sz="1000" dirty="0"/>
          </a:p>
        </p:txBody>
      </p:sp>
      <p:sp>
        <p:nvSpPr>
          <p:cNvPr id="9" name="Shape 7"/>
          <p:cNvSpPr/>
          <p:nvPr/>
        </p:nvSpPr>
        <p:spPr>
          <a:xfrm>
            <a:off x="3474720" y="1188720"/>
            <a:ext cx="25603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3474720" y="1188720"/>
            <a:ext cx="54864" cy="1371600"/>
          </a:xfrm>
          <a:prstGeom prst="rect">
            <a:avLst/>
          </a:prstGeom>
          <a:solidFill>
            <a:srgbClr val="38A169"/>
          </a:solidFill>
          <a:ln/>
        </p:spPr>
      </p:sp>
      <p:sp>
        <p:nvSpPr>
          <p:cNvPr id="11" name="Text 9"/>
          <p:cNvSpPr/>
          <p:nvPr/>
        </p:nvSpPr>
        <p:spPr>
          <a:xfrm>
            <a:off x="3611880" y="1280160"/>
            <a:ext cx="2286000" cy="754380"/>
          </a:xfrm>
          <a:prstGeom prst="rect">
            <a:avLst/>
          </a:prstGeom>
          <a:noFill/>
          <a:ln/>
        </p:spPr>
        <p:txBody>
          <a:bodyPr wrap="square" lIns="0" tIns="0" rIns="0" bIns="0" rtlCol="0" anchor="ctr"/>
          <a:lstStyle/>
          <a:p>
            <a:pPr algn="ctr" indent="0" marL="0">
              <a:buNone/>
            </a:pPr>
            <a:r>
              <a:rPr lang="en-US" sz="2800" b="1" dirty="0">
                <a:solidFill>
                  <a:srgbClr val="38A169"/>
                </a:solidFill>
                <a:latin typeface="Georgia" pitchFamily="34" charset="0"/>
                <a:ea typeface="Georgia" pitchFamily="34" charset="-122"/>
                <a:cs typeface="Georgia" pitchFamily="34" charset="-120"/>
              </a:rPr>
              <a:t>₹3.91 Cr</a:t>
            </a:r>
            <a:endParaRPr lang="en-US" sz="2800" dirty="0"/>
          </a:p>
        </p:txBody>
      </p:sp>
      <p:sp>
        <p:nvSpPr>
          <p:cNvPr id="12" name="Text 10"/>
          <p:cNvSpPr/>
          <p:nvPr/>
        </p:nvSpPr>
        <p:spPr>
          <a:xfrm>
            <a:off x="3611880" y="1943100"/>
            <a:ext cx="2286000" cy="548640"/>
          </a:xfrm>
          <a:prstGeom prst="rect">
            <a:avLst/>
          </a:prstGeom>
          <a:noFill/>
          <a:ln/>
        </p:spPr>
        <p:txBody>
          <a:bodyPr wrap="square" lIns="0" tIns="0" rIns="0" bIns="0" rtlCol="0" anchor="t"/>
          <a:lstStyle/>
          <a:p>
            <a:pPr algn="ctr" indent="0" marL="0">
              <a:buNone/>
            </a:pPr>
            <a:r>
              <a:rPr lang="en-US" sz="1000" dirty="0">
                <a:solidFill>
                  <a:srgbClr val="718096"/>
                </a:solidFill>
                <a:latin typeface="Calibri" pitchFamily="34" charset="0"/>
                <a:ea typeface="Calibri" pitchFamily="34" charset="-122"/>
                <a:cs typeface="Calibri" pitchFamily="34" charset="-120"/>
              </a:rPr>
              <a:t>Annual</a:t>
            </a:r>
            <a:endParaRPr lang="en-US" sz="1000" dirty="0"/>
          </a:p>
          <a:p>
            <a:pPr algn="ctr" indent="0" marL="0">
              <a:buNone/>
            </a:pPr>
            <a:r>
              <a:rPr lang="en-US" sz="1000" dirty="0">
                <a:solidFill>
                  <a:srgbClr val="718096"/>
                </a:solidFill>
                <a:latin typeface="Calibri" pitchFamily="34" charset="0"/>
                <a:ea typeface="Calibri" pitchFamily="34" charset="-122"/>
                <a:cs typeface="Calibri" pitchFamily="34" charset="-120"/>
              </a:rPr>
              <a:t>Fixed Cost</a:t>
            </a:r>
            <a:endParaRPr lang="en-US" sz="1000" dirty="0"/>
          </a:p>
        </p:txBody>
      </p:sp>
      <p:sp>
        <p:nvSpPr>
          <p:cNvPr id="13" name="Shape 11"/>
          <p:cNvSpPr/>
          <p:nvPr/>
        </p:nvSpPr>
        <p:spPr>
          <a:xfrm>
            <a:off x="6309360" y="1188720"/>
            <a:ext cx="25603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6309360" y="1188720"/>
            <a:ext cx="54864" cy="1371600"/>
          </a:xfrm>
          <a:prstGeom prst="rect">
            <a:avLst/>
          </a:prstGeom>
          <a:solidFill>
            <a:srgbClr val="D69E2E"/>
          </a:solidFill>
          <a:ln/>
        </p:spPr>
      </p:sp>
      <p:sp>
        <p:nvSpPr>
          <p:cNvPr id="15" name="Text 13"/>
          <p:cNvSpPr/>
          <p:nvPr/>
        </p:nvSpPr>
        <p:spPr>
          <a:xfrm>
            <a:off x="6446520" y="1280160"/>
            <a:ext cx="2286000" cy="754380"/>
          </a:xfrm>
          <a:prstGeom prst="rect">
            <a:avLst/>
          </a:prstGeom>
          <a:noFill/>
          <a:ln/>
        </p:spPr>
        <p:txBody>
          <a:bodyPr wrap="square" lIns="0" tIns="0" rIns="0" bIns="0" rtlCol="0" anchor="ctr"/>
          <a:lstStyle/>
          <a:p>
            <a:pPr algn="ctr" indent="0" marL="0">
              <a:buNone/>
            </a:pPr>
            <a:r>
              <a:rPr lang="en-US" sz="2800" b="1" dirty="0">
                <a:solidFill>
                  <a:srgbClr val="D69E2E"/>
                </a:solidFill>
                <a:latin typeface="Georgia" pitchFamily="34" charset="0"/>
                <a:ea typeface="Georgia" pitchFamily="34" charset="-122"/>
                <a:cs typeface="Georgia" pitchFamily="34" charset="-120"/>
              </a:rPr>
              <a:t>10</a:t>
            </a:r>
            <a:endParaRPr lang="en-US" sz="2800" dirty="0"/>
          </a:p>
        </p:txBody>
      </p:sp>
      <p:sp>
        <p:nvSpPr>
          <p:cNvPr id="16" name="Text 14"/>
          <p:cNvSpPr/>
          <p:nvPr/>
        </p:nvSpPr>
        <p:spPr>
          <a:xfrm>
            <a:off x="6446520" y="1943100"/>
            <a:ext cx="2286000" cy="548640"/>
          </a:xfrm>
          <a:prstGeom prst="rect">
            <a:avLst/>
          </a:prstGeom>
          <a:noFill/>
          <a:ln/>
        </p:spPr>
        <p:txBody>
          <a:bodyPr wrap="square" lIns="0" tIns="0" rIns="0" bIns="0" rtlCol="0" anchor="t"/>
          <a:lstStyle/>
          <a:p>
            <a:pPr algn="ctr" indent="0" marL="0">
              <a:buNone/>
            </a:pPr>
            <a:r>
              <a:rPr lang="en-US" sz="1000" dirty="0">
                <a:solidFill>
                  <a:srgbClr val="718096"/>
                </a:solidFill>
                <a:latin typeface="Calibri" pitchFamily="34" charset="0"/>
                <a:ea typeface="Calibri" pitchFamily="34" charset="-122"/>
                <a:cs typeface="Calibri" pitchFamily="34" charset="-120"/>
              </a:rPr>
              <a:t>Departments</a:t>
            </a:r>
            <a:endParaRPr lang="en-US" sz="1000" dirty="0"/>
          </a:p>
          <a:p>
            <a:pPr algn="ctr" indent="0" marL="0">
              <a:buNone/>
            </a:pPr>
            <a:r>
              <a:rPr lang="en-US" sz="1000" dirty="0">
                <a:solidFill>
                  <a:srgbClr val="718096"/>
                </a:solidFill>
                <a:latin typeface="Calibri" pitchFamily="34" charset="0"/>
                <a:ea typeface="Calibri" pitchFamily="34" charset="-122"/>
                <a:cs typeface="Calibri" pitchFamily="34" charset="-120"/>
              </a:rPr>
              <a:t>Functional Units</a:t>
            </a:r>
            <a:endParaRPr lang="en-US" sz="1000" dirty="0"/>
          </a:p>
        </p:txBody>
      </p:sp>
      <p:sp>
        <p:nvSpPr>
          <p:cNvPr id="17" name="Shape 15"/>
          <p:cNvSpPr/>
          <p:nvPr/>
        </p:nvSpPr>
        <p:spPr>
          <a:xfrm>
            <a:off x="640080" y="2834640"/>
            <a:ext cx="25603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640080" y="2834640"/>
            <a:ext cx="54864" cy="1371600"/>
          </a:xfrm>
          <a:prstGeom prst="rect">
            <a:avLst/>
          </a:prstGeom>
          <a:solidFill>
            <a:srgbClr val="2B6CB0"/>
          </a:solidFill>
          <a:ln/>
        </p:spPr>
      </p:sp>
      <p:sp>
        <p:nvSpPr>
          <p:cNvPr id="19" name="Text 17"/>
          <p:cNvSpPr/>
          <p:nvPr/>
        </p:nvSpPr>
        <p:spPr>
          <a:xfrm>
            <a:off x="777240" y="2926080"/>
            <a:ext cx="2286000" cy="754380"/>
          </a:xfrm>
          <a:prstGeom prst="rect">
            <a:avLst/>
          </a:prstGeom>
          <a:noFill/>
          <a:ln/>
        </p:spPr>
        <p:txBody>
          <a:bodyPr wrap="square" lIns="0" tIns="0" rIns="0" bIns="0" rtlCol="0" anchor="ctr"/>
          <a:lstStyle/>
          <a:p>
            <a:pPr algn="ctr" indent="0" marL="0">
              <a:buNone/>
            </a:pPr>
            <a:r>
              <a:rPr lang="en-US" sz="2800" b="1" dirty="0">
                <a:solidFill>
                  <a:srgbClr val="2B6CB0"/>
                </a:solidFill>
                <a:latin typeface="Georgia" pitchFamily="34" charset="0"/>
                <a:ea typeface="Georgia" pitchFamily="34" charset="-122"/>
                <a:cs typeface="Georgia" pitchFamily="34" charset="-120"/>
              </a:rPr>
              <a:t>2</a:t>
            </a:r>
            <a:endParaRPr lang="en-US" sz="2800" dirty="0"/>
          </a:p>
        </p:txBody>
      </p:sp>
      <p:sp>
        <p:nvSpPr>
          <p:cNvPr id="20" name="Text 18"/>
          <p:cNvSpPr/>
          <p:nvPr/>
        </p:nvSpPr>
        <p:spPr>
          <a:xfrm>
            <a:off x="777240" y="3589020"/>
            <a:ext cx="2286000" cy="548640"/>
          </a:xfrm>
          <a:prstGeom prst="rect">
            <a:avLst/>
          </a:prstGeom>
          <a:noFill/>
          <a:ln/>
        </p:spPr>
        <p:txBody>
          <a:bodyPr wrap="square" lIns="0" tIns="0" rIns="0" bIns="0" rtlCol="0" anchor="t"/>
          <a:lstStyle/>
          <a:p>
            <a:pPr algn="ctr" indent="0" marL="0">
              <a:buNone/>
            </a:pPr>
            <a:r>
              <a:rPr lang="en-US" sz="1000" dirty="0">
                <a:solidFill>
                  <a:srgbClr val="718096"/>
                </a:solidFill>
                <a:latin typeface="Calibri" pitchFamily="34" charset="0"/>
                <a:ea typeface="Calibri" pitchFamily="34" charset="-122"/>
                <a:cs typeface="Calibri" pitchFamily="34" charset="-120"/>
              </a:rPr>
              <a:t>Regulated Entities</a:t>
            </a:r>
            <a:endParaRPr lang="en-US" sz="1000" dirty="0"/>
          </a:p>
          <a:p>
            <a:pPr algn="ctr" indent="0" marL="0">
              <a:buNone/>
            </a:pPr>
            <a:r>
              <a:rPr lang="en-US" sz="1000" dirty="0">
                <a:solidFill>
                  <a:srgbClr val="718096"/>
                </a:solidFill>
                <a:latin typeface="Calibri" pitchFamily="34" charset="0"/>
                <a:ea typeface="Calibri" pitchFamily="34" charset="-122"/>
                <a:cs typeface="Calibri" pitchFamily="34" charset="-120"/>
              </a:rPr>
              <a:t>IRDAI + SEBI</a:t>
            </a:r>
            <a:endParaRPr lang="en-US" sz="1000" dirty="0"/>
          </a:p>
        </p:txBody>
      </p:sp>
      <p:sp>
        <p:nvSpPr>
          <p:cNvPr id="21" name="Shape 19"/>
          <p:cNvSpPr/>
          <p:nvPr/>
        </p:nvSpPr>
        <p:spPr>
          <a:xfrm>
            <a:off x="3474720" y="2834640"/>
            <a:ext cx="25603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20"/>
          <p:cNvSpPr/>
          <p:nvPr/>
        </p:nvSpPr>
        <p:spPr>
          <a:xfrm>
            <a:off x="3474720" y="2834640"/>
            <a:ext cx="54864" cy="1371600"/>
          </a:xfrm>
          <a:prstGeom prst="rect">
            <a:avLst/>
          </a:prstGeom>
          <a:solidFill>
            <a:srgbClr val="38A169"/>
          </a:solidFill>
          <a:ln/>
        </p:spPr>
      </p:sp>
      <p:sp>
        <p:nvSpPr>
          <p:cNvPr id="23" name="Text 21"/>
          <p:cNvSpPr/>
          <p:nvPr/>
        </p:nvSpPr>
        <p:spPr>
          <a:xfrm>
            <a:off x="3611880" y="2926080"/>
            <a:ext cx="2286000" cy="754380"/>
          </a:xfrm>
          <a:prstGeom prst="rect">
            <a:avLst/>
          </a:prstGeom>
          <a:noFill/>
          <a:ln/>
        </p:spPr>
        <p:txBody>
          <a:bodyPr wrap="square" lIns="0" tIns="0" rIns="0" bIns="0" rtlCol="0" anchor="ctr"/>
          <a:lstStyle/>
          <a:p>
            <a:pPr algn="ctr" indent="0" marL="0">
              <a:buNone/>
            </a:pPr>
            <a:r>
              <a:rPr lang="en-US" sz="2800" b="1" dirty="0">
                <a:solidFill>
                  <a:srgbClr val="38A169"/>
                </a:solidFill>
                <a:latin typeface="Georgia" pitchFamily="34" charset="0"/>
                <a:ea typeface="Georgia" pitchFamily="34" charset="-122"/>
                <a:cs typeface="Georgia" pitchFamily="34" charset="-120"/>
              </a:rPr>
              <a:t>5+</a:t>
            </a:r>
            <a:endParaRPr lang="en-US" sz="2800" dirty="0"/>
          </a:p>
        </p:txBody>
      </p:sp>
      <p:sp>
        <p:nvSpPr>
          <p:cNvPr id="24" name="Text 22"/>
          <p:cNvSpPr/>
          <p:nvPr/>
        </p:nvSpPr>
        <p:spPr>
          <a:xfrm>
            <a:off x="3611880" y="3589020"/>
            <a:ext cx="2286000" cy="548640"/>
          </a:xfrm>
          <a:prstGeom prst="rect">
            <a:avLst/>
          </a:prstGeom>
          <a:noFill/>
          <a:ln/>
        </p:spPr>
        <p:txBody>
          <a:bodyPr wrap="square" lIns="0" tIns="0" rIns="0" bIns="0" rtlCol="0" anchor="t"/>
          <a:lstStyle/>
          <a:p>
            <a:pPr algn="ctr" indent="0" marL="0">
              <a:buNone/>
            </a:pPr>
            <a:r>
              <a:rPr lang="en-US" sz="1000" dirty="0">
                <a:solidFill>
                  <a:srgbClr val="718096"/>
                </a:solidFill>
                <a:latin typeface="Calibri" pitchFamily="34" charset="0"/>
                <a:ea typeface="Calibri" pitchFamily="34" charset="-122"/>
                <a:cs typeface="Calibri" pitchFamily="34" charset="-120"/>
              </a:rPr>
              <a:t>Locations</a:t>
            </a:r>
            <a:endParaRPr lang="en-US" sz="1000" dirty="0"/>
          </a:p>
          <a:p>
            <a:pPr algn="ctr" indent="0" marL="0">
              <a:buNone/>
            </a:pPr>
            <a:r>
              <a:rPr lang="en-US" sz="1000" dirty="0">
                <a:solidFill>
                  <a:srgbClr val="718096"/>
                </a:solidFill>
                <a:latin typeface="Calibri" pitchFamily="34" charset="0"/>
                <a:ea typeface="Calibri" pitchFamily="34" charset="-122"/>
                <a:cs typeface="Calibri" pitchFamily="34" charset="-120"/>
              </a:rPr>
              <a:t>Expanding Nationally</a:t>
            </a:r>
            <a:endParaRPr lang="en-US" sz="1000" dirty="0"/>
          </a:p>
        </p:txBody>
      </p:sp>
      <p:sp>
        <p:nvSpPr>
          <p:cNvPr id="25" name="Shape 23"/>
          <p:cNvSpPr/>
          <p:nvPr/>
        </p:nvSpPr>
        <p:spPr>
          <a:xfrm>
            <a:off x="6309360" y="2834640"/>
            <a:ext cx="25603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6" name="Shape 24"/>
          <p:cNvSpPr/>
          <p:nvPr/>
        </p:nvSpPr>
        <p:spPr>
          <a:xfrm>
            <a:off x="6309360" y="2834640"/>
            <a:ext cx="54864" cy="1371600"/>
          </a:xfrm>
          <a:prstGeom prst="rect">
            <a:avLst/>
          </a:prstGeom>
          <a:solidFill>
            <a:srgbClr val="D69E2E"/>
          </a:solidFill>
          <a:ln/>
        </p:spPr>
      </p:sp>
      <p:sp>
        <p:nvSpPr>
          <p:cNvPr id="27" name="Text 25"/>
          <p:cNvSpPr/>
          <p:nvPr/>
        </p:nvSpPr>
        <p:spPr>
          <a:xfrm>
            <a:off x="6446520" y="2926080"/>
            <a:ext cx="2286000" cy="754380"/>
          </a:xfrm>
          <a:prstGeom prst="rect">
            <a:avLst/>
          </a:prstGeom>
          <a:noFill/>
          <a:ln/>
        </p:spPr>
        <p:txBody>
          <a:bodyPr wrap="square" lIns="0" tIns="0" rIns="0" bIns="0" rtlCol="0" anchor="ctr"/>
          <a:lstStyle/>
          <a:p>
            <a:pPr algn="ctr" indent="0" marL="0">
              <a:buNone/>
            </a:pPr>
            <a:r>
              <a:rPr lang="en-US" sz="2800" b="1" dirty="0">
                <a:solidFill>
                  <a:srgbClr val="D69E2E"/>
                </a:solidFill>
                <a:latin typeface="Georgia" pitchFamily="34" charset="0"/>
                <a:ea typeface="Georgia" pitchFamily="34" charset="-122"/>
                <a:cs typeface="Georgia" pitchFamily="34" charset="-120"/>
              </a:rPr>
              <a:t>45:32</a:t>
            </a:r>
            <a:endParaRPr lang="en-US" sz="2800" dirty="0"/>
          </a:p>
        </p:txBody>
      </p:sp>
      <p:sp>
        <p:nvSpPr>
          <p:cNvPr id="28" name="Text 26"/>
          <p:cNvSpPr/>
          <p:nvPr/>
        </p:nvSpPr>
        <p:spPr>
          <a:xfrm>
            <a:off x="6446520" y="3589020"/>
            <a:ext cx="2286000" cy="548640"/>
          </a:xfrm>
          <a:prstGeom prst="rect">
            <a:avLst/>
          </a:prstGeom>
          <a:noFill/>
          <a:ln/>
        </p:spPr>
        <p:txBody>
          <a:bodyPr wrap="square" lIns="0" tIns="0" rIns="0" bIns="0" rtlCol="0" anchor="t"/>
          <a:lstStyle/>
          <a:p>
            <a:pPr algn="ctr" indent="0" marL="0">
              <a:buNone/>
            </a:pPr>
            <a:r>
              <a:rPr lang="en-US" sz="1000" dirty="0">
                <a:solidFill>
                  <a:srgbClr val="718096"/>
                </a:solidFill>
                <a:latin typeface="Calibri" pitchFamily="34" charset="0"/>
                <a:ea typeface="Calibri" pitchFamily="34" charset="-122"/>
                <a:cs typeface="Calibri" pitchFamily="34" charset="-120"/>
              </a:rPr>
              <a:t>Sales : Support</a:t>
            </a:r>
            <a:endParaRPr lang="en-US" sz="1000" dirty="0"/>
          </a:p>
          <a:p>
            <a:pPr algn="ctr" indent="0" marL="0">
              <a:buNone/>
            </a:pPr>
            <a:r>
              <a:rPr lang="en-US" sz="1000" dirty="0">
                <a:solidFill>
                  <a:srgbClr val="718096"/>
                </a:solidFill>
                <a:latin typeface="Calibri" pitchFamily="34" charset="0"/>
                <a:ea typeface="Calibri" pitchFamily="34" charset="-122"/>
                <a:cs typeface="Calibri" pitchFamily="34" charset="-120"/>
              </a:rPr>
              <a:t>Ratio</a:t>
            </a:r>
            <a:endParaRPr lang="en-US" sz="1000" dirty="0"/>
          </a:p>
        </p:txBody>
      </p:sp>
      <p:sp>
        <p:nvSpPr>
          <p:cNvPr id="29" name="Text 27"/>
          <p:cNvSpPr/>
          <p:nvPr/>
        </p:nvSpPr>
        <p:spPr>
          <a:xfrm>
            <a:off x="640080" y="4480560"/>
            <a:ext cx="7863840" cy="365760"/>
          </a:xfrm>
          <a:prstGeom prst="rect">
            <a:avLst/>
          </a:prstGeom>
          <a:noFill/>
          <a:ln/>
        </p:spPr>
        <p:txBody>
          <a:bodyPr wrap="square" lIns="0" tIns="0" rIns="0" bIns="0" rtlCol="0" anchor="ctr"/>
          <a:lstStyle/>
          <a:p>
            <a:pPr indent="0" marL="0">
              <a:buNone/>
            </a:pPr>
            <a:r>
              <a:rPr lang="en-US" sz="1100" i="1" dirty="0">
                <a:solidFill>
                  <a:srgbClr val="718096"/>
                </a:solidFill>
                <a:latin typeface="Calibri" pitchFamily="34" charset="0"/>
                <a:ea typeface="Calibri" pitchFamily="34" charset="-122"/>
                <a:cs typeface="Calibri" pitchFamily="34" charset="-120"/>
              </a:rPr>
              <a:t>Target: Double sales force in 2026  |  National presence by 2028  |  IPO by 2030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How Targets Are Set</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Monthly target = Multiplier × Gross Monthly Salary</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7863840" cy="914400"/>
        </p:xfrm>
        <a:graphic>
          <a:graphicData uri="http://schemas.openxmlformats.org/drawingml/2006/table">
            <a:tbl>
              <a:tblPr/>
              <a:tblGrid>
                <a:gridCol w="2103120"/>
                <a:gridCol w="1828800"/>
                <a:gridCol w="2103120"/>
                <a:gridCol w="18288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Monthly Target</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 (₹40K salary)</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Rationale</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320040">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Direct Sales / FP Team</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6× Monthly Salary</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₹2,40,000/month</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Direct revenue contribution</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320040">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CDM / RM handling POSP</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20× Monthly Salary</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₹8,00,000/month</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Channel volume for profitability</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320040">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Area Managers</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23× Monthly Salary</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₹9,20,000/month</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20× base + 15% variable (rent/staff)</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320040">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Support / Back Office</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No sales target</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200" dirty="0">
                          <a:solidFill>
                            <a:srgbClr val="2D3748"/>
                          </a:solidFill>
                          <a:latin typeface="Calibri" pitchFamily="34" charset="0"/>
                          <a:ea typeface="Calibri" pitchFamily="34" charset="-122"/>
                          <a:cs typeface="Calibri" pitchFamily="34" charset="-120"/>
                        </a:rPr>
                        <a:t>KPI-based bonus instead</a:t>
                      </a:r>
                      <a:endParaRPr lang="en-US" sz="12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7" name="Shape 4"/>
          <p:cNvSpPr/>
          <p:nvPr/>
        </p:nvSpPr>
        <p:spPr>
          <a:xfrm>
            <a:off x="640080" y="3291840"/>
            <a:ext cx="7863840" cy="1463040"/>
          </a:xfrm>
          <a:prstGeom prst="rect">
            <a:avLst/>
          </a:prstGeom>
          <a:solidFill>
            <a:srgbClr val="EBF8FF"/>
          </a:solidFill>
          <a:ln/>
          <a:effectLst>
            <a:outerShdw sx="100000" sy="100000" kx="0" ky="0" algn="bl" rotWithShape="0" blurRad="76200" dist="25400" dir="8100000">
              <a:srgbClr val="000000">
                <a:alpha val="12000"/>
              </a:srgbClr>
            </a:outerShdw>
          </a:effectLst>
        </p:spPr>
      </p:sp>
      <p:sp>
        <p:nvSpPr>
          <p:cNvPr id="8" name="Text 5"/>
          <p:cNvSpPr/>
          <p:nvPr/>
        </p:nvSpPr>
        <p:spPr>
          <a:xfrm>
            <a:off x="822960" y="3383280"/>
            <a:ext cx="7498080" cy="1280160"/>
          </a:xfrm>
          <a:prstGeom prst="rect">
            <a:avLst/>
          </a:prstGeom>
          <a:noFill/>
          <a:ln/>
        </p:spPr>
        <p:txBody>
          <a:bodyPr wrap="square" lIns="0" tIns="0" rIns="0" bIns="0" rtlCol="0" anchor="t"/>
          <a:lstStyle/>
          <a:p>
            <a:pPr indent="0" marL="0">
              <a:buNone/>
            </a:pPr>
            <a:r>
              <a:rPr lang="en-US" sz="1050" b="1" dirty="0">
                <a:solidFill>
                  <a:srgbClr val="2B6CB0"/>
                </a:solidFill>
                <a:latin typeface="Calibri" pitchFamily="34" charset="0"/>
                <a:ea typeface="Calibri" pitchFamily="34" charset="-122"/>
                <a:cs typeface="Calibri" pitchFamily="34" charset="-120"/>
              </a:rPr>
              <a:t>VERIFICATION: </a:t>
            </a:r>
            <a:pPr indent="0" marL="0">
              <a:buNone/>
            </a:pPr>
            <a:r>
              <a:rPr lang="en-US" sz="1050" dirty="0">
                <a:solidFill>
                  <a:srgbClr val="2D3748"/>
                </a:solidFill>
                <a:latin typeface="Calibri" pitchFamily="34" charset="0"/>
                <a:ea typeface="Calibri" pitchFamily="34" charset="-122"/>
                <a:cs typeface="Calibri" pitchFamily="34" charset="-120"/>
              </a:rPr>
              <a:t>Balbinder Kaur (Direct) — ₹36,017 × 6 = ₹2,16,102/month ✓ matches March Target file
</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Akash Kumar (POSP) — ₹22,449 × 20 = ₹4,48,980/month ✓
</a:t>
            </a:r>
            <a:endParaRPr lang="en-US" sz="1050" dirty="0"/>
          </a:p>
          <a:p>
            <a:pPr indent="0" marL="0">
              <a:buNone/>
            </a:pPr>
            <a:r>
              <a:rPr lang="en-US" sz="1050" dirty="0">
                <a:solidFill>
                  <a:srgbClr val="2D3748"/>
                </a:solidFill>
                <a:latin typeface="Calibri" pitchFamily="34" charset="0"/>
                <a:ea typeface="Calibri" pitchFamily="34" charset="-122"/>
                <a:cs typeface="Calibri" pitchFamily="34" charset="-120"/>
              </a:rPr>
              <a:t>Bhola Singh (Area Mgr) — ₹1,03,500 × 23 = ₹23,80,500/month ✓
</a:t>
            </a:r>
            <a:endParaRPr lang="en-US" sz="1050" dirty="0"/>
          </a:p>
          <a:p>
            <a:pPr indent="0" marL="0">
              <a:buNone/>
            </a:pPr>
            <a:r>
              <a:rPr lang="en-US" sz="1050" b="1" dirty="0">
                <a:solidFill>
                  <a:srgbClr val="E53E3E"/>
                </a:solidFill>
                <a:latin typeface="Calibri" pitchFamily="34" charset="0"/>
                <a:ea typeface="Calibri" pitchFamily="34" charset="-122"/>
                <a:cs typeface="Calibri" pitchFamily="34" charset="-120"/>
              </a:rPr>
              <a:t>Minimum Incentive Threshold: 80% (below = zero incentive)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Incentive Slabs: DST vs. POSP RM</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Margin-based rates — ensuring profitability alignment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114800" cy="914400"/>
        </p:xfrm>
        <a:graphic>
          <a:graphicData uri="http://schemas.openxmlformats.org/drawingml/2006/table">
            <a:tbl>
              <a:tblPr/>
              <a:tblGrid>
                <a:gridCol w="1828800"/>
                <a:gridCol w="1097280"/>
                <a:gridCol w="118872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Achievement</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Rate</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Multiplier</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Below 80%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80-100%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101-110%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111-130%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131-150%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1.75×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151%+</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7" name="Text 4"/>
          <p:cNvSpPr/>
          <p:nvPr/>
        </p:nvSpPr>
        <p:spPr>
          <a:xfrm>
            <a:off x="457200" y="960120"/>
            <a:ext cx="4114800" cy="182880"/>
          </a:xfrm>
          <a:prstGeom prst="rect">
            <a:avLst/>
          </a:prstGeom>
          <a:noFill/>
          <a:ln/>
        </p:spPr>
        <p:txBody>
          <a:bodyPr wrap="square" lIns="0" tIns="0" rIns="0" bIns="0" rtlCol="0" anchor="ctr"/>
          <a:lstStyle/>
          <a:p>
            <a:pPr indent="0" marL="0">
              <a:buNone/>
            </a:pPr>
            <a:r>
              <a:rPr lang="en-US" sz="1200" b="1" dirty="0">
                <a:solidFill>
                  <a:srgbClr val="1A365D"/>
                </a:solidFill>
                <a:latin typeface="Georgia" pitchFamily="34" charset="0"/>
                <a:ea typeface="Georgia" pitchFamily="34" charset="-122"/>
                <a:cs typeface="Georgia" pitchFamily="34" charset="-120"/>
              </a:rPr>
              <a:t>DST (Direct Sales Team)</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572000" y="1188720"/>
          <a:ext cx="4114800" cy="914400"/>
        </p:xfrm>
        <a:graphic>
          <a:graphicData uri="http://schemas.openxmlformats.org/drawingml/2006/table">
            <a:tbl>
              <a:tblPr/>
              <a:tblGrid>
                <a:gridCol w="1828800"/>
                <a:gridCol w="1097280"/>
                <a:gridCol w="118872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Achievement</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Rate</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Multiplier</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Below 80%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80-100%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101-110%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111-130%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131-150%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1.75×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151%+</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9" name="Text 5"/>
          <p:cNvSpPr/>
          <p:nvPr/>
        </p:nvSpPr>
        <p:spPr>
          <a:xfrm>
            <a:off x="4572000" y="960120"/>
            <a:ext cx="4114800" cy="182880"/>
          </a:xfrm>
          <a:prstGeom prst="rect">
            <a:avLst/>
          </a:prstGeom>
          <a:noFill/>
          <a:ln/>
        </p:spPr>
        <p:txBody>
          <a:bodyPr wrap="square" lIns="0" tIns="0" rIns="0" bIns="0" rtlCol="0" anchor="ctr"/>
          <a:lstStyle/>
          <a:p>
            <a:pPr indent="0" marL="0">
              <a:buNone/>
            </a:pPr>
            <a:r>
              <a:rPr lang="en-US" sz="1200" b="1" dirty="0">
                <a:solidFill>
                  <a:srgbClr val="1A365D"/>
                </a:solidFill>
                <a:latin typeface="Georgia" pitchFamily="34" charset="0"/>
                <a:ea typeface="Georgia" pitchFamily="34" charset="-122"/>
                <a:cs typeface="Georgia" pitchFamily="34" charset="-120"/>
              </a:rPr>
              <a:t>POSP RM (70/30 margin)</a:t>
            </a:r>
            <a:endParaRPr lang="en-US" sz="1200" dirty="0"/>
          </a:p>
        </p:txBody>
      </p:sp>
      <p:sp>
        <p:nvSpPr>
          <p:cNvPr id="10" name="Shape 6"/>
          <p:cNvSpPr/>
          <p:nvPr/>
        </p:nvSpPr>
        <p:spPr>
          <a:xfrm>
            <a:off x="457200" y="3840480"/>
            <a:ext cx="8229600" cy="1051560"/>
          </a:xfrm>
          <a:prstGeom prst="rect">
            <a:avLst/>
          </a:prstGeom>
          <a:solidFill>
            <a:srgbClr val="EBF8FF"/>
          </a:solidFill>
          <a:ln/>
        </p:spPr>
      </p:sp>
      <p:sp>
        <p:nvSpPr>
          <p:cNvPr id="11" name="Text 7"/>
          <p:cNvSpPr/>
          <p:nvPr/>
        </p:nvSpPr>
        <p:spPr>
          <a:xfrm>
            <a:off x="594360" y="3886200"/>
            <a:ext cx="7955280" cy="9144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DST applies when company margin ≥30%. POSP RM applies when managing sub-brokers/POSPs with 70%+ payout.
</a:t>
            </a:r>
            <a:endParaRPr lang="en-US" sz="1000" dirty="0"/>
          </a:p>
          <a:p>
            <a:pPr indent="0" marL="0">
              <a:buNone/>
            </a:pPr>
            <a:r>
              <a:rPr lang="en-US" sz="1000" b="1" dirty="0">
                <a:solidFill>
                  <a:srgbClr val="E53E3E"/>
                </a:solidFill>
                <a:latin typeface="Calibri" pitchFamily="34" charset="0"/>
                <a:ea typeface="Calibri" pitchFamily="34" charset="-122"/>
                <a:cs typeface="Calibri" pitchFamily="34" charset="-120"/>
              </a:rPr>
              <a:t>Motor/Franchise: Separate TATA AIG Sitara-style slabs — Target+₹3L=1.5%, ₹3-5L=2%, ₹5L+=3%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Product Credit Rules &amp; Tier System</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Weighted business calculation + margin-based credit tiers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097280"/>
                <a:gridCol w="2011680"/>
                <a:gridCol w="1463040"/>
                <a:gridCol w="3657600"/>
              </a:tblGrid>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Tier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Commission Range</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Credit %</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Examples</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Tier 1</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38A169"/>
                    </a:solidFill>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&gt;30% commission</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Life Regular 10yr+, Health Annual, FP Route</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Tier 2</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D69E2E"/>
                    </a:solidFill>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15-30% commission</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Life ULIP, MF LS Equity, Health Multi-year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Tier 3</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2B6CB0"/>
                    </a:solidFill>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&lt;15% commission</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Motor TP, GI GMC/GPA, Renewal</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57200" y="2148840"/>
          <a:ext cx="8229600" cy="914400"/>
        </p:xfrm>
        <a:graphic>
          <a:graphicData uri="http://schemas.openxmlformats.org/drawingml/2006/table">
            <a:tbl>
              <a:tblPr/>
              <a:tblGrid>
                <a:gridCol w="2194560"/>
                <a:gridCol w="1645920"/>
                <a:gridCol w="2194560"/>
                <a:gridCol w="219456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Product</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Credit %</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Product</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Credit %</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MF SIP (Monthly)</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Health - Annual</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MF LS Equity</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Health - 2yr Pay</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Prem/2 × 125%</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MF LS LT Debt</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Health - 3yr Pay</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Prem/3 × 150%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MF LS ST Debt</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Health - Qtrly/HY</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MF STP Debt→Equity</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GI Non-Motor</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FP Route (any product)</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GI GMC/GPA</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POSP Normal Grade</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GI Renewal</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33%</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POSP Higher Pay</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100%-Payout %*</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Motor</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Grid-based slabs</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Franchise</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Directors' Biz</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Life 10yr+ Regular</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Life ULIP</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01168">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Life &lt;10yr Regular</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Life Single</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8" name="Shape 4"/>
          <p:cNvSpPr/>
          <p:nvPr/>
        </p:nvSpPr>
        <p:spPr>
          <a:xfrm>
            <a:off x="457200" y="4434840"/>
            <a:ext cx="8229600" cy="640080"/>
          </a:xfrm>
          <a:prstGeom prst="rect">
            <a:avLst/>
          </a:prstGeom>
          <a:solidFill>
            <a:srgbClr val="FED7D7"/>
          </a:solidFill>
          <a:ln/>
        </p:spPr>
      </p:sp>
      <p:sp>
        <p:nvSpPr>
          <p:cNvPr id="9" name="Text 5"/>
          <p:cNvSpPr/>
          <p:nvPr/>
        </p:nvSpPr>
        <p:spPr>
          <a:xfrm>
            <a:off x="548640" y="4462272"/>
            <a:ext cx="8046720" cy="594360"/>
          </a:xfrm>
          <a:prstGeom prst="rect">
            <a:avLst/>
          </a:prstGeom>
          <a:noFill/>
          <a:ln/>
        </p:spPr>
        <p:txBody>
          <a:bodyPr wrap="square" lIns="0" tIns="0" rIns="0" bIns="0" rtlCol="0" anchor="t"/>
          <a:lstStyle/>
          <a:p>
            <a:pPr indent="0" marL="0">
              <a:buNone/>
            </a:pPr>
            <a:r>
              <a:rPr lang="en-US" sz="950" b="1" dirty="0">
                <a:solidFill>
                  <a:srgbClr val="E53E3E"/>
                </a:solidFill>
                <a:latin typeface="Calibri" pitchFamily="34" charset="0"/>
                <a:ea typeface="Calibri" pitchFamily="34" charset="-122"/>
                <a:cs typeface="Calibri" pitchFamily="34" charset="-120"/>
              </a:rPr>
              <a:t>SIP CLAWBACK: </a:t>
            </a:r>
            <a:pPr indent="0" marL="0">
              <a:buNone/>
            </a:pPr>
            <a:r>
              <a:rPr lang="en-US" sz="950" dirty="0">
                <a:solidFill>
                  <a:srgbClr val="2D3748"/>
                </a:solidFill>
                <a:latin typeface="Calibri" pitchFamily="34" charset="0"/>
                <a:ea typeface="Calibri" pitchFamily="34" charset="-122"/>
                <a:cs typeface="Calibri" pitchFamily="34" charset="-120"/>
              </a:rPr>
              <a:t>SIP is 100% of MONTHLY collection only. If stopped/redeemed, DEBITED from that month's business.
</a:t>
            </a:r>
            <a:endParaRPr lang="en-US" sz="950" dirty="0"/>
          </a:p>
          <a:p>
            <a:pPr indent="0" marL="0">
              <a:buNone/>
            </a:pPr>
            <a:r>
              <a:rPr lang="en-US" sz="900" dirty="0">
                <a:solidFill>
                  <a:srgbClr val="2D3748"/>
                </a:solidFill>
                <a:latin typeface="Calibri" pitchFamily="34" charset="0"/>
                <a:ea typeface="Calibri" pitchFamily="34" charset="-122"/>
                <a:cs typeface="Calibri" pitchFamily="34" charset="-120"/>
              </a:rPr>
              <a:t>* RM Credit for POSP = 100% − Channel Payout %.  FP Route 125%: Requires Maker-Checker verification.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69E2E"/>
          </a:solidFill>
          <a:ln/>
        </p:spPr>
      </p:sp>
      <p:sp>
        <p:nvSpPr>
          <p:cNvPr id="3" name="Text 1"/>
          <p:cNvSpPr/>
          <p:nvPr/>
        </p:nvSpPr>
        <p:spPr>
          <a:xfrm>
            <a:off x="640080" y="3657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Trail Income Model: 4 Scenarios</a:t>
            </a:r>
            <a:endParaRPr lang="en-US" sz="3200" dirty="0"/>
          </a:p>
        </p:txBody>
      </p:sp>
      <p:sp>
        <p:nvSpPr>
          <p:cNvPr id="4" name="Text 2"/>
          <p:cNvSpPr/>
          <p:nvPr/>
        </p:nvSpPr>
        <p:spPr>
          <a:xfrm>
            <a:off x="640080" y="1005840"/>
            <a:ext cx="7863840" cy="365760"/>
          </a:xfrm>
          <a:prstGeom prst="rect">
            <a:avLst/>
          </a:prstGeom>
          <a:noFill/>
          <a:ln/>
        </p:spPr>
        <p:txBody>
          <a:bodyPr wrap="square" lIns="0" tIns="0" rIns="0" bIns="0" rtlCol="0" anchor="ctr"/>
          <a:lstStyle/>
          <a:p>
            <a:pPr indent="0" marL="0">
              <a:buNone/>
            </a:pPr>
            <a:r>
              <a:rPr lang="en-US" sz="1400" dirty="0">
                <a:solidFill>
                  <a:srgbClr val="A0AEC0"/>
                </a:solidFill>
                <a:latin typeface="Calibri" pitchFamily="34" charset="0"/>
                <a:ea typeface="Calibri" pitchFamily="34" charset="-122"/>
                <a:cs typeface="Calibri" pitchFamily="34" charset="-120"/>
              </a:rPr>
              <a:t>Incremental AUM emphasis — self-sourced &amp; ongoing management rewarded</a:t>
            </a:r>
            <a:endParaRPr lang="en-US" sz="1400" dirty="0"/>
          </a:p>
        </p:txBody>
      </p:sp>
      <p:sp>
        <p:nvSpPr>
          <p:cNvPr id="5" name="Shape 3"/>
          <p:cNvSpPr/>
          <p:nvPr/>
        </p:nvSpPr>
        <p:spPr>
          <a:xfrm>
            <a:off x="457200" y="1554480"/>
            <a:ext cx="1965960" cy="274320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554480"/>
            <a:ext cx="1965960" cy="54864"/>
          </a:xfrm>
          <a:prstGeom prst="rect">
            <a:avLst/>
          </a:prstGeom>
          <a:solidFill>
            <a:srgbClr val="38A169"/>
          </a:solidFill>
          <a:ln/>
        </p:spPr>
      </p:sp>
      <p:sp>
        <p:nvSpPr>
          <p:cNvPr id="7" name="Text 5"/>
          <p:cNvSpPr/>
          <p:nvPr/>
        </p:nvSpPr>
        <p:spPr>
          <a:xfrm>
            <a:off x="457200" y="1645920"/>
            <a:ext cx="1965960" cy="411480"/>
          </a:xfrm>
          <a:prstGeom prst="rect">
            <a:avLst/>
          </a:prstGeom>
          <a:noFill/>
          <a:ln/>
        </p:spPr>
        <p:txBody>
          <a:bodyPr wrap="square" lIns="0" tIns="0" rIns="0" bIns="0" rtlCol="0" anchor="ctr"/>
          <a:lstStyle/>
          <a:p>
            <a:pPr algn="ctr" indent="0" marL="0">
              <a:buNone/>
            </a:pPr>
            <a:r>
              <a:rPr lang="en-US" sz="1200" b="1" dirty="0">
                <a:solidFill>
                  <a:srgbClr val="38A169"/>
                </a:solidFill>
                <a:latin typeface="Georgia" pitchFamily="34" charset="0"/>
                <a:ea typeface="Georgia" pitchFamily="34" charset="-122"/>
                <a:cs typeface="Georgia" pitchFamily="34" charset="-120"/>
              </a:rPr>
              <a:t>Self-Sourced</a:t>
            </a:r>
            <a:endParaRPr lang="en-US" sz="1200" dirty="0"/>
          </a:p>
        </p:txBody>
      </p:sp>
      <p:sp>
        <p:nvSpPr>
          <p:cNvPr id="8" name="Text 6"/>
          <p:cNvSpPr/>
          <p:nvPr/>
        </p:nvSpPr>
        <p:spPr>
          <a:xfrm>
            <a:off x="457200" y="2148840"/>
            <a:ext cx="1965960" cy="1188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RM: 25% (NEW PAN)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15% (Existing)</a:t>
            </a:r>
            <a:endParaRPr lang="en-US" sz="1100" dirty="0"/>
          </a:p>
        </p:txBody>
      </p:sp>
      <p:sp>
        <p:nvSpPr>
          <p:cNvPr id="9" name="Shape 7"/>
          <p:cNvSpPr/>
          <p:nvPr/>
        </p:nvSpPr>
        <p:spPr>
          <a:xfrm>
            <a:off x="2606040" y="1554480"/>
            <a:ext cx="1965960" cy="274320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0" name="Shape 8"/>
          <p:cNvSpPr/>
          <p:nvPr/>
        </p:nvSpPr>
        <p:spPr>
          <a:xfrm>
            <a:off x="2606040" y="1554480"/>
            <a:ext cx="1965960" cy="54864"/>
          </a:xfrm>
          <a:prstGeom prst="rect">
            <a:avLst/>
          </a:prstGeom>
          <a:solidFill>
            <a:srgbClr val="4299E1"/>
          </a:solidFill>
          <a:ln/>
        </p:spPr>
      </p:sp>
      <p:sp>
        <p:nvSpPr>
          <p:cNvPr id="11" name="Text 9"/>
          <p:cNvSpPr/>
          <p:nvPr/>
        </p:nvSpPr>
        <p:spPr>
          <a:xfrm>
            <a:off x="2606040" y="1645920"/>
            <a:ext cx="1965960" cy="411480"/>
          </a:xfrm>
          <a:prstGeom prst="rect">
            <a:avLst/>
          </a:prstGeom>
          <a:noFill/>
          <a:ln/>
        </p:spPr>
        <p:txBody>
          <a:bodyPr wrap="square" lIns="0" tIns="0" rIns="0" bIns="0" rtlCol="0" anchor="ctr"/>
          <a:lstStyle/>
          <a:p>
            <a:pPr algn="ctr" indent="0" marL="0">
              <a:buNone/>
            </a:pPr>
            <a:r>
              <a:rPr lang="en-US" sz="1200" b="1" dirty="0">
                <a:solidFill>
                  <a:srgbClr val="4299E1"/>
                </a:solidFill>
                <a:latin typeface="Georgia" pitchFamily="34" charset="0"/>
                <a:ea typeface="Georgia" pitchFamily="34" charset="-122"/>
                <a:cs typeface="Georgia" pitchFamily="34" charset="-120"/>
              </a:rPr>
              <a:t>Sub-broker Managed</a:t>
            </a:r>
            <a:endParaRPr lang="en-US" sz="1200" dirty="0"/>
          </a:p>
        </p:txBody>
      </p:sp>
      <p:sp>
        <p:nvSpPr>
          <p:cNvPr id="12" name="Text 10"/>
          <p:cNvSpPr/>
          <p:nvPr/>
        </p:nvSpPr>
        <p:spPr>
          <a:xfrm>
            <a:off x="2606040" y="2148840"/>
            <a:ext cx="1965960" cy="1188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30% of eligible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trail rate</a:t>
            </a:r>
            <a:endParaRPr lang="en-US" sz="1100" dirty="0"/>
          </a:p>
        </p:txBody>
      </p:sp>
      <p:sp>
        <p:nvSpPr>
          <p:cNvPr id="13" name="Shape 11"/>
          <p:cNvSpPr/>
          <p:nvPr/>
        </p:nvSpPr>
        <p:spPr>
          <a:xfrm>
            <a:off x="4754880" y="1554480"/>
            <a:ext cx="1965960" cy="274320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4" name="Shape 12"/>
          <p:cNvSpPr/>
          <p:nvPr/>
        </p:nvSpPr>
        <p:spPr>
          <a:xfrm>
            <a:off x="4754880" y="1554480"/>
            <a:ext cx="1965960" cy="54864"/>
          </a:xfrm>
          <a:prstGeom prst="rect">
            <a:avLst/>
          </a:prstGeom>
          <a:solidFill>
            <a:srgbClr val="D69E2E"/>
          </a:solidFill>
          <a:ln/>
        </p:spPr>
      </p:sp>
      <p:sp>
        <p:nvSpPr>
          <p:cNvPr id="15" name="Text 13"/>
          <p:cNvSpPr/>
          <p:nvPr/>
        </p:nvSpPr>
        <p:spPr>
          <a:xfrm>
            <a:off x="4754880" y="1645920"/>
            <a:ext cx="1965960" cy="411480"/>
          </a:xfrm>
          <a:prstGeom prst="rect">
            <a:avLst/>
          </a:prstGeom>
          <a:noFill/>
          <a:ln/>
        </p:spPr>
        <p:txBody>
          <a:bodyPr wrap="square" lIns="0" tIns="0" rIns="0" bIns="0" rtlCol="0" anchor="ctr"/>
          <a:lstStyle/>
          <a:p>
            <a:pPr algn="ctr" indent="0" marL="0">
              <a:buNone/>
            </a:pPr>
            <a:r>
              <a:rPr lang="en-US" sz="1200" b="1" dirty="0">
                <a:solidFill>
                  <a:srgbClr val="D69E2E"/>
                </a:solidFill>
                <a:latin typeface="Georgia" pitchFamily="34" charset="0"/>
                <a:ea typeface="Georgia" pitchFamily="34" charset="-122"/>
                <a:cs typeface="Georgia" pitchFamily="34" charset="-120"/>
              </a:rPr>
              <a:t>Franchise</a:t>
            </a:r>
            <a:endParaRPr lang="en-US" sz="1200" dirty="0"/>
          </a:p>
        </p:txBody>
      </p:sp>
      <p:sp>
        <p:nvSpPr>
          <p:cNvPr id="16" name="Text 14"/>
          <p:cNvSpPr/>
          <p:nvPr/>
        </p:nvSpPr>
        <p:spPr>
          <a:xfrm>
            <a:off x="4754880" y="2148840"/>
            <a:ext cx="1965960" cy="1188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 of eligible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trail rate</a:t>
            </a:r>
            <a:endParaRPr lang="en-US" sz="1100" dirty="0"/>
          </a:p>
        </p:txBody>
      </p:sp>
      <p:sp>
        <p:nvSpPr>
          <p:cNvPr id="17" name="Shape 15"/>
          <p:cNvSpPr/>
          <p:nvPr/>
        </p:nvSpPr>
        <p:spPr>
          <a:xfrm>
            <a:off x="6903720" y="1554480"/>
            <a:ext cx="1965960" cy="274320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8" name="Shape 16"/>
          <p:cNvSpPr/>
          <p:nvPr/>
        </p:nvSpPr>
        <p:spPr>
          <a:xfrm>
            <a:off x="6903720" y="1554480"/>
            <a:ext cx="1965960" cy="54864"/>
          </a:xfrm>
          <a:prstGeom prst="rect">
            <a:avLst/>
          </a:prstGeom>
          <a:solidFill>
            <a:srgbClr val="E53E3E"/>
          </a:solidFill>
          <a:ln/>
        </p:spPr>
      </p:sp>
      <p:sp>
        <p:nvSpPr>
          <p:cNvPr id="19" name="Text 17"/>
          <p:cNvSpPr/>
          <p:nvPr/>
        </p:nvSpPr>
        <p:spPr>
          <a:xfrm>
            <a:off x="6903720" y="1645920"/>
            <a:ext cx="1965960" cy="411480"/>
          </a:xfrm>
          <a:prstGeom prst="rect">
            <a:avLst/>
          </a:prstGeom>
          <a:noFill/>
          <a:ln/>
        </p:spPr>
        <p:txBody>
          <a:bodyPr wrap="square" lIns="0" tIns="0" rIns="0" bIns="0" rtlCol="0" anchor="ctr"/>
          <a:lstStyle/>
          <a:p>
            <a:pPr algn="ctr" indent="0" marL="0">
              <a:buNone/>
            </a:pPr>
            <a:r>
              <a:rPr lang="en-US" sz="1200" b="1" dirty="0">
                <a:solidFill>
                  <a:srgbClr val="E53E3E"/>
                </a:solidFill>
                <a:latin typeface="Georgia" pitchFamily="34" charset="0"/>
                <a:ea typeface="Georgia" pitchFamily="34" charset="-122"/>
                <a:cs typeface="Georgia" pitchFamily="34" charset="-120"/>
              </a:rPr>
              <a:t>Starting AUM</a:t>
            </a:r>
            <a:endParaRPr lang="en-US" sz="1200" dirty="0"/>
          </a:p>
        </p:txBody>
      </p:sp>
      <p:sp>
        <p:nvSpPr>
          <p:cNvPr id="20" name="Text 18"/>
          <p:cNvSpPr/>
          <p:nvPr/>
        </p:nvSpPr>
        <p:spPr>
          <a:xfrm>
            <a:off x="6903720" y="2148840"/>
            <a:ext cx="1965960" cy="1188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 included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in trail calc</a:t>
            </a:r>
            <a:endParaRPr lang="en-US" sz="1100" dirty="0"/>
          </a:p>
        </p:txBody>
      </p:sp>
      <p:sp>
        <p:nvSpPr>
          <p:cNvPr id="21" name="Text 19"/>
          <p:cNvSpPr/>
          <p:nvPr/>
        </p:nvSpPr>
        <p:spPr>
          <a:xfrm>
            <a:off x="640080" y="4434840"/>
            <a:ext cx="7863840" cy="502920"/>
          </a:xfrm>
          <a:prstGeom prst="rect">
            <a:avLst/>
          </a:prstGeom>
          <a:noFill/>
          <a:ln/>
        </p:spPr>
        <p:txBody>
          <a:bodyPr wrap="square" lIns="0" tIns="0" rIns="0" bIns="0" rtlCol="0" anchor="ctr"/>
          <a:lstStyle/>
          <a:p>
            <a:pPr indent="0" marL="0">
              <a:buNone/>
            </a:pPr>
            <a:r>
              <a:rPr lang="en-US" sz="1000" i="1" dirty="0">
                <a:solidFill>
                  <a:srgbClr val="A0AEC0"/>
                </a:solidFill>
                <a:latin typeface="Calibri" pitchFamily="34" charset="0"/>
                <a:ea typeface="Calibri" pitchFamily="34" charset="-122"/>
                <a:cs typeface="Calibri" pitchFamily="34" charset="-120"/>
              </a:rPr>
              <a:t>Trail ONLY on incremental business post-assignment. Starting book excluded. Freeze after 2 quarters of no new business. Starting AUM = 0% trail.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Margin-Based Credit Engine</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Target scales inversely with margin</a:t>
            </a:r>
            <a:endParaRPr lang="en-US" sz="1200" dirty="0"/>
          </a:p>
        </p:txBody>
      </p:sp>
      <p:sp>
        <p:nvSpPr>
          <p:cNvPr id="6" name="Shape 4"/>
          <p:cNvSpPr/>
          <p:nvPr/>
        </p:nvSpPr>
        <p:spPr>
          <a:xfrm>
            <a:off x="640080" y="1188720"/>
            <a:ext cx="7863840" cy="640080"/>
          </a:xfrm>
          <a:prstGeom prst="rect">
            <a:avLst/>
          </a:prstGeom>
          <a:solidFill>
            <a:srgbClr val="EBF8FF"/>
          </a:solidFill>
          <a:ln/>
        </p:spPr>
      </p:sp>
      <p:sp>
        <p:nvSpPr>
          <p:cNvPr id="7" name="Text 5"/>
          <p:cNvSpPr/>
          <p:nvPr/>
        </p:nvSpPr>
        <p:spPr>
          <a:xfrm>
            <a:off x="777240" y="1188720"/>
            <a:ext cx="7589520" cy="640080"/>
          </a:xfrm>
          <a:prstGeom prst="rect">
            <a:avLst/>
          </a:prstGeom>
          <a:noFill/>
          <a:ln/>
        </p:spPr>
        <p:txBody>
          <a:bodyPr wrap="square" lIns="0" tIns="0" rIns="0" bIns="0" rtlCol="0" anchor="ctr"/>
          <a:lstStyle/>
          <a:p>
            <a:pPr algn="ctr" indent="0" marL="0">
              <a:buNone/>
            </a:pPr>
            <a:r>
              <a:rPr lang="en-US" sz="1600" b="1" dirty="0">
                <a:solidFill>
                  <a:srgbClr val="1A365D"/>
                </a:solidFill>
                <a:latin typeface="Georgia" pitchFamily="34" charset="0"/>
                <a:ea typeface="Georgia" pitchFamily="34" charset="-122"/>
                <a:cs typeface="Georgia" pitchFamily="34" charset="-120"/>
              </a:rPr>
              <a:t>Target = (30% / Actual Margin%) × Base Target</a:t>
            </a:r>
            <a:endParaRPr lang="en-US" sz="1600" dirty="0"/>
          </a:p>
        </p:txBody>
      </p:sp>
      <p:sp>
        <p:nvSpPr>
          <p:cNvPr id="8" name="Shape 6"/>
          <p:cNvSpPr/>
          <p:nvPr/>
        </p:nvSpPr>
        <p:spPr>
          <a:xfrm>
            <a:off x="640080" y="2103120"/>
            <a:ext cx="2560320"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640080" y="2103120"/>
            <a:ext cx="2560320" cy="54864"/>
          </a:xfrm>
          <a:prstGeom prst="rect">
            <a:avLst/>
          </a:prstGeom>
          <a:solidFill>
            <a:srgbClr val="2B6CB0"/>
          </a:solidFill>
          <a:ln/>
        </p:spPr>
      </p:sp>
      <p:sp>
        <p:nvSpPr>
          <p:cNvPr id="10" name="Text 8"/>
          <p:cNvSpPr/>
          <p:nvPr/>
        </p:nvSpPr>
        <p:spPr>
          <a:xfrm>
            <a:off x="731520" y="2240280"/>
            <a:ext cx="2377440" cy="457200"/>
          </a:xfrm>
          <a:prstGeom prst="rect">
            <a:avLst/>
          </a:prstGeom>
          <a:noFill/>
          <a:ln/>
        </p:spPr>
        <p:txBody>
          <a:bodyPr wrap="square" lIns="0" tIns="0" rIns="0" bIns="0" rtlCol="0" anchor="ctr"/>
          <a:lstStyle/>
          <a:p>
            <a:pPr algn="ctr" indent="0" marL="0">
              <a:buNone/>
            </a:pPr>
            <a:r>
              <a:rPr lang="en-US" sz="1100" b="1" dirty="0">
                <a:solidFill>
                  <a:srgbClr val="1A365D"/>
                </a:solidFill>
                <a:latin typeface="Georgia" pitchFamily="34" charset="0"/>
                <a:ea typeface="Georgia" pitchFamily="34" charset="-122"/>
                <a:cs typeface="Georgia" pitchFamily="34" charset="-120"/>
              </a:rPr>
              <a:t>Direct (30% margin)</a:t>
            </a:r>
            <a:endParaRPr lang="en-US" sz="1100" dirty="0"/>
          </a:p>
        </p:txBody>
      </p:sp>
      <p:sp>
        <p:nvSpPr>
          <p:cNvPr id="11" name="Text 9"/>
          <p:cNvSpPr/>
          <p:nvPr/>
        </p:nvSpPr>
        <p:spPr>
          <a:xfrm>
            <a:off x="731520" y="2788920"/>
            <a:ext cx="2377440" cy="1463040"/>
          </a:xfrm>
          <a:prstGeom prst="rect">
            <a:avLst/>
          </a:prstGeom>
          <a:noFill/>
          <a:ln/>
        </p:spPr>
        <p:txBody>
          <a:bodyPr wrap="square" lIns="0" tIns="0" rIns="0" bIns="0" rtlCol="0" anchor="ctr"/>
          <a:lstStyle/>
          <a:p>
            <a:pPr algn="ctr" indent="0" marL="0">
              <a:buNone/>
            </a:pPr>
            <a:r>
              <a:rPr lang="en-US" sz="1000" b="1" dirty="0">
                <a:solidFill>
                  <a:srgbClr val="2D3748"/>
                </a:solidFill>
                <a:latin typeface="Calibri" pitchFamily="34" charset="0"/>
                <a:ea typeface="Calibri" pitchFamily="34" charset="-122"/>
                <a:cs typeface="Calibri" pitchFamily="34" charset="-120"/>
              </a:rPr>
              <a:t>Margin: 30%
</a:t>
            </a:r>
            <a:endParaRPr lang="en-US" sz="1000" dirty="0"/>
          </a:p>
          <a:p>
            <a:pPr algn="ctr" indent="0" marL="0">
              <a:buNone/>
            </a:pPr>
            <a:r>
              <a:rPr lang="en-US" sz="1000" b="1" dirty="0">
                <a:solidFill>
                  <a:srgbClr val="2D3748"/>
                </a:solidFill>
                <a:latin typeface="Calibri" pitchFamily="34" charset="0"/>
                <a:ea typeface="Calibri" pitchFamily="34" charset="-122"/>
                <a:cs typeface="Calibri" pitchFamily="34" charset="-120"/>
              </a:rPr>
              <a:t>RM Credit: 100%
</a:t>
            </a:r>
            <a:endParaRPr lang="en-US" sz="1000" dirty="0"/>
          </a:p>
          <a:p>
            <a:pPr algn="ctr" indent="0" marL="0">
              <a:buNone/>
            </a:pPr>
            <a:r>
              <a:rPr lang="en-US" sz="1300" b="1" dirty="0">
                <a:solidFill>
                  <a:srgbClr val="2B6CB0"/>
                </a:solidFill>
                <a:latin typeface="Calibri" pitchFamily="34" charset="0"/>
                <a:ea typeface="Calibri" pitchFamily="34" charset="-122"/>
                <a:cs typeface="Calibri" pitchFamily="34" charset="-120"/>
              </a:rPr>
              <a:t>Target:</a:t>
            </a:r>
            <a:endParaRPr lang="en-US" sz="1000" dirty="0"/>
          </a:p>
          <a:p>
            <a:pPr algn="ctr" indent="0" marL="0">
              <a:buNone/>
            </a:pPr>
            <a:r>
              <a:rPr lang="en-US" sz="1300" b="1" dirty="0">
                <a:solidFill>
                  <a:srgbClr val="2B6CB0"/>
                </a:solidFill>
                <a:latin typeface="Calibri" pitchFamily="34" charset="0"/>
                <a:ea typeface="Calibri" pitchFamily="34" charset="-122"/>
                <a:cs typeface="Calibri" pitchFamily="34" charset="-120"/>
              </a:rPr>
              <a:t>6× salary</a:t>
            </a:r>
            <a:endParaRPr lang="en-US" sz="1000" dirty="0"/>
          </a:p>
        </p:txBody>
      </p:sp>
      <p:sp>
        <p:nvSpPr>
          <p:cNvPr id="12" name="Shape 10"/>
          <p:cNvSpPr/>
          <p:nvPr/>
        </p:nvSpPr>
        <p:spPr>
          <a:xfrm>
            <a:off x="3337560" y="2103120"/>
            <a:ext cx="2560320"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3337560" y="2103120"/>
            <a:ext cx="2560320" cy="54864"/>
          </a:xfrm>
          <a:prstGeom prst="rect">
            <a:avLst/>
          </a:prstGeom>
          <a:solidFill>
            <a:srgbClr val="38A169"/>
          </a:solidFill>
          <a:ln/>
        </p:spPr>
      </p:sp>
      <p:sp>
        <p:nvSpPr>
          <p:cNvPr id="14" name="Text 12"/>
          <p:cNvSpPr/>
          <p:nvPr/>
        </p:nvSpPr>
        <p:spPr>
          <a:xfrm>
            <a:off x="3429000" y="2240280"/>
            <a:ext cx="2377440" cy="457200"/>
          </a:xfrm>
          <a:prstGeom prst="rect">
            <a:avLst/>
          </a:prstGeom>
          <a:noFill/>
          <a:ln/>
        </p:spPr>
        <p:txBody>
          <a:bodyPr wrap="square" lIns="0" tIns="0" rIns="0" bIns="0" rtlCol="0" anchor="ctr"/>
          <a:lstStyle/>
          <a:p>
            <a:pPr algn="ctr" indent="0" marL="0">
              <a:buNone/>
            </a:pPr>
            <a:r>
              <a:rPr lang="en-US" sz="1100" b="1" dirty="0">
                <a:solidFill>
                  <a:srgbClr val="1A365D"/>
                </a:solidFill>
                <a:latin typeface="Georgia" pitchFamily="34" charset="0"/>
                <a:ea typeface="Georgia" pitchFamily="34" charset="-122"/>
                <a:cs typeface="Georgia" pitchFamily="34" charset="-120"/>
              </a:rPr>
              <a:t>POSP 70% payout (30% margin)</a:t>
            </a:r>
            <a:endParaRPr lang="en-US" sz="1100" dirty="0"/>
          </a:p>
        </p:txBody>
      </p:sp>
      <p:sp>
        <p:nvSpPr>
          <p:cNvPr id="15" name="Text 13"/>
          <p:cNvSpPr/>
          <p:nvPr/>
        </p:nvSpPr>
        <p:spPr>
          <a:xfrm>
            <a:off x="3429000" y="2788920"/>
            <a:ext cx="2377440" cy="1463040"/>
          </a:xfrm>
          <a:prstGeom prst="rect">
            <a:avLst/>
          </a:prstGeom>
          <a:noFill/>
          <a:ln/>
        </p:spPr>
        <p:txBody>
          <a:bodyPr wrap="square" lIns="0" tIns="0" rIns="0" bIns="0" rtlCol="0" anchor="ctr"/>
          <a:lstStyle/>
          <a:p>
            <a:pPr algn="ctr" indent="0" marL="0">
              <a:buNone/>
            </a:pPr>
            <a:r>
              <a:rPr lang="en-US" sz="1000" b="1" dirty="0">
                <a:solidFill>
                  <a:srgbClr val="2D3748"/>
                </a:solidFill>
                <a:latin typeface="Calibri" pitchFamily="34" charset="0"/>
                <a:ea typeface="Calibri" pitchFamily="34" charset="-122"/>
                <a:cs typeface="Calibri" pitchFamily="34" charset="-120"/>
              </a:rPr>
              <a:t>Margin: 30%
</a:t>
            </a:r>
            <a:endParaRPr lang="en-US" sz="1000" dirty="0"/>
          </a:p>
          <a:p>
            <a:pPr algn="ctr" indent="0" marL="0">
              <a:buNone/>
            </a:pPr>
            <a:r>
              <a:rPr lang="en-US" sz="1000" b="1" dirty="0">
                <a:solidFill>
                  <a:srgbClr val="2D3748"/>
                </a:solidFill>
                <a:latin typeface="Calibri" pitchFamily="34" charset="0"/>
                <a:ea typeface="Calibri" pitchFamily="34" charset="-122"/>
                <a:cs typeface="Calibri" pitchFamily="34" charset="-120"/>
              </a:rPr>
              <a:t>RM Credit: 30%
</a:t>
            </a:r>
            <a:endParaRPr lang="en-US" sz="1000" dirty="0"/>
          </a:p>
          <a:p>
            <a:pPr algn="ctr" indent="0" marL="0">
              <a:buNone/>
            </a:pPr>
            <a:r>
              <a:rPr lang="en-US" sz="1300" b="1" dirty="0">
                <a:solidFill>
                  <a:srgbClr val="38A169"/>
                </a:solidFill>
                <a:latin typeface="Calibri" pitchFamily="34" charset="0"/>
                <a:ea typeface="Calibri" pitchFamily="34" charset="-122"/>
                <a:cs typeface="Calibri" pitchFamily="34" charset="-120"/>
              </a:rPr>
              <a:t>Target:</a:t>
            </a:r>
            <a:endParaRPr lang="en-US" sz="1000" dirty="0"/>
          </a:p>
          <a:p>
            <a:pPr algn="ctr" indent="0" marL="0">
              <a:buNone/>
            </a:pPr>
            <a:r>
              <a:rPr lang="en-US" sz="1300" b="1" dirty="0">
                <a:solidFill>
                  <a:srgbClr val="38A169"/>
                </a:solidFill>
                <a:latin typeface="Calibri" pitchFamily="34" charset="0"/>
                <a:ea typeface="Calibri" pitchFamily="34" charset="-122"/>
                <a:cs typeface="Calibri" pitchFamily="34" charset="-120"/>
              </a:rPr>
              <a:t>20× target</a:t>
            </a:r>
            <a:endParaRPr lang="en-US" sz="1000" dirty="0"/>
          </a:p>
        </p:txBody>
      </p:sp>
      <p:sp>
        <p:nvSpPr>
          <p:cNvPr id="16" name="Shape 14"/>
          <p:cNvSpPr/>
          <p:nvPr/>
        </p:nvSpPr>
        <p:spPr>
          <a:xfrm>
            <a:off x="6035040" y="2103120"/>
            <a:ext cx="2560320"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6035040" y="2103120"/>
            <a:ext cx="2560320" cy="54864"/>
          </a:xfrm>
          <a:prstGeom prst="rect">
            <a:avLst/>
          </a:prstGeom>
          <a:solidFill>
            <a:srgbClr val="D69E2E"/>
          </a:solidFill>
          <a:ln/>
        </p:spPr>
      </p:sp>
      <p:sp>
        <p:nvSpPr>
          <p:cNvPr id="18" name="Text 16"/>
          <p:cNvSpPr/>
          <p:nvPr/>
        </p:nvSpPr>
        <p:spPr>
          <a:xfrm>
            <a:off x="6126480" y="2240280"/>
            <a:ext cx="2377440" cy="457200"/>
          </a:xfrm>
          <a:prstGeom prst="rect">
            <a:avLst/>
          </a:prstGeom>
          <a:noFill/>
          <a:ln/>
        </p:spPr>
        <p:txBody>
          <a:bodyPr wrap="square" lIns="0" tIns="0" rIns="0" bIns="0" rtlCol="0" anchor="ctr"/>
          <a:lstStyle/>
          <a:p>
            <a:pPr algn="ctr" indent="0" marL="0">
              <a:buNone/>
            </a:pPr>
            <a:r>
              <a:rPr lang="en-US" sz="1100" b="1" dirty="0">
                <a:solidFill>
                  <a:srgbClr val="1A365D"/>
                </a:solidFill>
                <a:latin typeface="Georgia" pitchFamily="34" charset="0"/>
                <a:ea typeface="Georgia" pitchFamily="34" charset="-122"/>
                <a:cs typeface="Georgia" pitchFamily="34" charset="-120"/>
              </a:rPr>
              <a:t>Digital Platform 80% payout (20% margin)</a:t>
            </a:r>
            <a:endParaRPr lang="en-US" sz="1100" dirty="0"/>
          </a:p>
        </p:txBody>
      </p:sp>
      <p:sp>
        <p:nvSpPr>
          <p:cNvPr id="19" name="Text 17"/>
          <p:cNvSpPr/>
          <p:nvPr/>
        </p:nvSpPr>
        <p:spPr>
          <a:xfrm>
            <a:off x="6126480" y="2788920"/>
            <a:ext cx="2377440" cy="1463040"/>
          </a:xfrm>
          <a:prstGeom prst="rect">
            <a:avLst/>
          </a:prstGeom>
          <a:noFill/>
          <a:ln/>
        </p:spPr>
        <p:txBody>
          <a:bodyPr wrap="square" lIns="0" tIns="0" rIns="0" bIns="0" rtlCol="0" anchor="ctr"/>
          <a:lstStyle/>
          <a:p>
            <a:pPr algn="ctr" indent="0" marL="0">
              <a:buNone/>
            </a:pPr>
            <a:r>
              <a:rPr lang="en-US" sz="1000" b="1" dirty="0">
                <a:solidFill>
                  <a:srgbClr val="2D3748"/>
                </a:solidFill>
                <a:latin typeface="Calibri" pitchFamily="34" charset="0"/>
                <a:ea typeface="Calibri" pitchFamily="34" charset="-122"/>
                <a:cs typeface="Calibri" pitchFamily="34" charset="-120"/>
              </a:rPr>
              <a:t>Margin: 20%
</a:t>
            </a:r>
            <a:endParaRPr lang="en-US" sz="1000" dirty="0"/>
          </a:p>
          <a:p>
            <a:pPr algn="ctr" indent="0" marL="0">
              <a:buNone/>
            </a:pPr>
            <a:r>
              <a:rPr lang="en-US" sz="1000" b="1" dirty="0">
                <a:solidFill>
                  <a:srgbClr val="2D3748"/>
                </a:solidFill>
                <a:latin typeface="Calibri" pitchFamily="34" charset="0"/>
                <a:ea typeface="Calibri" pitchFamily="34" charset="-122"/>
                <a:cs typeface="Calibri" pitchFamily="34" charset="-120"/>
              </a:rPr>
              <a:t>RM Credit: 20%
</a:t>
            </a:r>
            <a:endParaRPr lang="en-US" sz="1000" dirty="0"/>
          </a:p>
          <a:p>
            <a:pPr algn="ctr" indent="0" marL="0">
              <a:buNone/>
            </a:pPr>
            <a:r>
              <a:rPr lang="en-US" sz="1300" b="1" dirty="0">
                <a:solidFill>
                  <a:srgbClr val="D69E2E"/>
                </a:solidFill>
                <a:latin typeface="Calibri" pitchFamily="34" charset="0"/>
                <a:ea typeface="Calibri" pitchFamily="34" charset="-122"/>
                <a:cs typeface="Calibri" pitchFamily="34" charset="-120"/>
              </a:rPr>
              <a:t>Target:</a:t>
            </a:r>
            <a:endParaRPr lang="en-US" sz="1000" dirty="0"/>
          </a:p>
          <a:p>
            <a:pPr algn="ctr" indent="0" marL="0">
              <a:buNone/>
            </a:pPr>
            <a:r>
              <a:rPr lang="en-US" sz="1300" b="1" dirty="0">
                <a:solidFill>
                  <a:srgbClr val="D69E2E"/>
                </a:solidFill>
                <a:latin typeface="Calibri" pitchFamily="34" charset="0"/>
                <a:ea typeface="Calibri" pitchFamily="34" charset="-122"/>
                <a:cs typeface="Calibri" pitchFamily="34" charset="-120"/>
              </a:rPr>
              <a:t>30× salary</a:t>
            </a:r>
            <a:endParaRPr lang="en-US" sz="1000" dirty="0"/>
          </a:p>
        </p:txBody>
      </p:sp>
      <p:sp>
        <p:nvSpPr>
          <p:cNvPr id="20" name="Shape 18"/>
          <p:cNvSpPr/>
          <p:nvPr/>
        </p:nvSpPr>
        <p:spPr>
          <a:xfrm>
            <a:off x="640080" y="4572000"/>
            <a:ext cx="7863840" cy="411480"/>
          </a:xfrm>
          <a:prstGeom prst="rect">
            <a:avLst/>
          </a:prstGeom>
          <a:solidFill>
            <a:srgbClr val="EBF4FF"/>
          </a:solidFill>
          <a:ln/>
        </p:spPr>
      </p:sp>
      <p:sp>
        <p:nvSpPr>
          <p:cNvPr id="21" name="Text 19"/>
          <p:cNvSpPr/>
          <p:nvPr/>
        </p:nvSpPr>
        <p:spPr>
          <a:xfrm>
            <a:off x="777240" y="4572000"/>
            <a:ext cx="7589520" cy="411480"/>
          </a:xfrm>
          <a:prstGeom prst="rect">
            <a:avLst/>
          </a:prstGeom>
          <a:noFill/>
          <a:ln/>
        </p:spPr>
        <p:txBody>
          <a:bodyPr wrap="square" lIns="0" tIns="0" rIns="0" bIns="0" rtlCol="0" anchor="ctr"/>
          <a:lstStyle/>
          <a:p>
            <a:pPr algn="ctr" indent="0" marL="0">
              <a:buNone/>
            </a:pPr>
            <a:r>
              <a:rPr lang="en-US" sz="1000" dirty="0">
                <a:solidFill>
                  <a:srgbClr val="1A365D"/>
                </a:solidFill>
                <a:latin typeface="Calibri" pitchFamily="34" charset="0"/>
                <a:ea typeface="Calibri" pitchFamily="34" charset="-122"/>
                <a:cs typeface="Calibri" pitchFamily="34" charset="-120"/>
              </a:rPr>
              <a:t>Ensures profitability alignment — lower margin = higher volume required. Company margin preserved through credit % scaling.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69E2E"/>
          </a:solidFill>
          <a:ln/>
        </p:spPr>
      </p:sp>
      <p:sp>
        <p:nvSpPr>
          <p:cNvPr id="3" name="Text 1"/>
          <p:cNvSpPr/>
          <p:nvPr/>
        </p:nvSpPr>
        <p:spPr>
          <a:xfrm>
            <a:off x="640080" y="3657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Product Tier Matrix</a:t>
            </a:r>
            <a:endParaRPr lang="en-US" sz="3200" dirty="0"/>
          </a:p>
        </p:txBody>
      </p:sp>
      <p:sp>
        <p:nvSpPr>
          <p:cNvPr id="4" name="Text 2"/>
          <p:cNvSpPr/>
          <p:nvPr/>
        </p:nvSpPr>
        <p:spPr>
          <a:xfrm>
            <a:off x="640080" y="1005840"/>
            <a:ext cx="7863840" cy="365760"/>
          </a:xfrm>
          <a:prstGeom prst="rect">
            <a:avLst/>
          </a:prstGeom>
          <a:noFill/>
          <a:ln/>
        </p:spPr>
        <p:txBody>
          <a:bodyPr wrap="square" lIns="0" tIns="0" rIns="0" bIns="0" rtlCol="0" anchor="ctr"/>
          <a:lstStyle/>
          <a:p>
            <a:pPr indent="0" marL="0">
              <a:buNone/>
            </a:pPr>
            <a:r>
              <a:rPr lang="en-US" sz="1400" dirty="0">
                <a:solidFill>
                  <a:srgbClr val="A0AEC0"/>
                </a:solidFill>
                <a:latin typeface="Calibri" pitchFamily="34" charset="0"/>
                <a:ea typeface="Calibri" pitchFamily="34" charset="-122"/>
                <a:cs typeface="Calibri" pitchFamily="34" charset="-120"/>
              </a:rPr>
              <a:t>Credit multiplier based on company commission rate</a:t>
            </a:r>
            <a:endParaRPr lang="en-US" sz="1400" dirty="0"/>
          </a:p>
        </p:txBody>
      </p:sp>
      <p:sp>
        <p:nvSpPr>
          <p:cNvPr id="5" name="Shape 3"/>
          <p:cNvSpPr/>
          <p:nvPr/>
        </p:nvSpPr>
        <p:spPr>
          <a:xfrm>
            <a:off x="640080" y="1463040"/>
            <a:ext cx="2560320" cy="292608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6" name="Shape 4"/>
          <p:cNvSpPr/>
          <p:nvPr/>
        </p:nvSpPr>
        <p:spPr>
          <a:xfrm>
            <a:off x="640080" y="1463040"/>
            <a:ext cx="2560320" cy="54864"/>
          </a:xfrm>
          <a:prstGeom prst="rect">
            <a:avLst/>
          </a:prstGeom>
          <a:solidFill>
            <a:srgbClr val="38A169"/>
          </a:solidFill>
          <a:ln/>
        </p:spPr>
      </p:sp>
      <p:sp>
        <p:nvSpPr>
          <p:cNvPr id="7" name="Text 5"/>
          <p:cNvSpPr/>
          <p:nvPr/>
        </p:nvSpPr>
        <p:spPr>
          <a:xfrm>
            <a:off x="640080" y="1600200"/>
            <a:ext cx="2560320" cy="640080"/>
          </a:xfrm>
          <a:prstGeom prst="rect">
            <a:avLst/>
          </a:prstGeom>
          <a:noFill/>
          <a:ln/>
        </p:spPr>
        <p:txBody>
          <a:bodyPr wrap="square" lIns="0" tIns="0" rIns="0" bIns="0" rtlCol="0" anchor="ctr"/>
          <a:lstStyle/>
          <a:p>
            <a:pPr algn="ctr" indent="0" marL="0">
              <a:buNone/>
            </a:pPr>
            <a:r>
              <a:rPr lang="en-US" sz="1400" b="1" dirty="0">
                <a:solidFill>
                  <a:srgbClr val="38A169"/>
                </a:solidFill>
                <a:latin typeface="Georgia" pitchFamily="34" charset="0"/>
                <a:ea typeface="Georgia" pitchFamily="34" charset="-122"/>
                <a:cs typeface="Georgia" pitchFamily="34" charset="-120"/>
              </a:rPr>
              <a:t>Tier 1 (&gt;30%)</a:t>
            </a:r>
            <a:endParaRPr lang="en-US" sz="1400" dirty="0"/>
          </a:p>
          <a:p>
            <a:pPr algn="ctr" indent="0" marL="0">
              <a:buNone/>
            </a:pPr>
            <a:r>
              <a:rPr lang="en-US" sz="1400" b="1" dirty="0">
                <a:solidFill>
                  <a:srgbClr val="38A169"/>
                </a:solidFill>
                <a:latin typeface="Georgia" pitchFamily="34" charset="0"/>
                <a:ea typeface="Georgia" pitchFamily="34" charset="-122"/>
                <a:cs typeface="Georgia" pitchFamily="34" charset="-120"/>
              </a:rPr>
              <a:t>100% Credit</a:t>
            </a:r>
            <a:endParaRPr lang="en-US" sz="1400" dirty="0"/>
          </a:p>
        </p:txBody>
      </p:sp>
      <p:sp>
        <p:nvSpPr>
          <p:cNvPr id="8" name="Text 6"/>
          <p:cNvSpPr/>
          <p:nvPr/>
        </p:nvSpPr>
        <p:spPr>
          <a:xfrm>
            <a:off x="777240" y="2377440"/>
            <a:ext cx="2286000" cy="17373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Life Regular 10yr+</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Health Annual</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FP Route</a:t>
            </a:r>
            <a:endParaRPr lang="en-US" sz="1200" dirty="0"/>
          </a:p>
        </p:txBody>
      </p:sp>
      <p:sp>
        <p:nvSpPr>
          <p:cNvPr id="9" name="Shape 7"/>
          <p:cNvSpPr/>
          <p:nvPr/>
        </p:nvSpPr>
        <p:spPr>
          <a:xfrm>
            <a:off x="3383280" y="1463040"/>
            <a:ext cx="2560320" cy="292608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0" name="Shape 8"/>
          <p:cNvSpPr/>
          <p:nvPr/>
        </p:nvSpPr>
        <p:spPr>
          <a:xfrm>
            <a:off x="3383280" y="1463040"/>
            <a:ext cx="2560320" cy="54864"/>
          </a:xfrm>
          <a:prstGeom prst="rect">
            <a:avLst/>
          </a:prstGeom>
          <a:solidFill>
            <a:srgbClr val="D69E2E"/>
          </a:solidFill>
          <a:ln/>
        </p:spPr>
      </p:sp>
      <p:sp>
        <p:nvSpPr>
          <p:cNvPr id="11" name="Text 9"/>
          <p:cNvSpPr/>
          <p:nvPr/>
        </p:nvSpPr>
        <p:spPr>
          <a:xfrm>
            <a:off x="3383280" y="1600200"/>
            <a:ext cx="2560320" cy="640080"/>
          </a:xfrm>
          <a:prstGeom prst="rect">
            <a:avLst/>
          </a:prstGeom>
          <a:noFill/>
          <a:ln/>
        </p:spPr>
        <p:txBody>
          <a:bodyPr wrap="square" lIns="0" tIns="0" rIns="0" bIns="0" rtlCol="0" anchor="ctr"/>
          <a:lstStyle/>
          <a:p>
            <a:pPr algn="ctr" indent="0" marL="0">
              <a:buNone/>
            </a:pPr>
            <a:r>
              <a:rPr lang="en-US" sz="1400" b="1" dirty="0">
                <a:solidFill>
                  <a:srgbClr val="D69E2E"/>
                </a:solidFill>
                <a:latin typeface="Georgia" pitchFamily="34" charset="0"/>
                <a:ea typeface="Georgia" pitchFamily="34" charset="-122"/>
                <a:cs typeface="Georgia" pitchFamily="34" charset="-120"/>
              </a:rPr>
              <a:t>Tier 2 (15-30%)</a:t>
            </a:r>
            <a:endParaRPr lang="en-US" sz="1400" dirty="0"/>
          </a:p>
          <a:p>
            <a:pPr algn="ctr" indent="0" marL="0">
              <a:buNone/>
            </a:pPr>
            <a:r>
              <a:rPr lang="en-US" sz="1400" b="1" dirty="0">
                <a:solidFill>
                  <a:srgbClr val="D69E2E"/>
                </a:solidFill>
                <a:latin typeface="Georgia" pitchFamily="34" charset="0"/>
                <a:ea typeface="Georgia" pitchFamily="34" charset="-122"/>
                <a:cs typeface="Georgia" pitchFamily="34" charset="-120"/>
              </a:rPr>
              <a:t>75% Credit</a:t>
            </a:r>
            <a:endParaRPr lang="en-US" sz="1400" dirty="0"/>
          </a:p>
        </p:txBody>
      </p:sp>
      <p:sp>
        <p:nvSpPr>
          <p:cNvPr id="12" name="Text 10"/>
          <p:cNvSpPr/>
          <p:nvPr/>
        </p:nvSpPr>
        <p:spPr>
          <a:xfrm>
            <a:off x="3520440" y="2377440"/>
            <a:ext cx="2286000" cy="17373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Life ULIP</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MF LS Equity</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Health Multi-year</a:t>
            </a:r>
            <a:endParaRPr lang="en-US" sz="1200" dirty="0"/>
          </a:p>
        </p:txBody>
      </p:sp>
      <p:sp>
        <p:nvSpPr>
          <p:cNvPr id="13" name="Shape 11"/>
          <p:cNvSpPr/>
          <p:nvPr/>
        </p:nvSpPr>
        <p:spPr>
          <a:xfrm>
            <a:off x="6126480" y="1463040"/>
            <a:ext cx="2560320" cy="292608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4" name="Shape 12"/>
          <p:cNvSpPr/>
          <p:nvPr/>
        </p:nvSpPr>
        <p:spPr>
          <a:xfrm>
            <a:off x="6126480" y="1463040"/>
            <a:ext cx="2560320" cy="54864"/>
          </a:xfrm>
          <a:prstGeom prst="rect">
            <a:avLst/>
          </a:prstGeom>
          <a:solidFill>
            <a:srgbClr val="2B6CB0"/>
          </a:solidFill>
          <a:ln/>
        </p:spPr>
      </p:sp>
      <p:sp>
        <p:nvSpPr>
          <p:cNvPr id="15" name="Text 13"/>
          <p:cNvSpPr/>
          <p:nvPr/>
        </p:nvSpPr>
        <p:spPr>
          <a:xfrm>
            <a:off x="6126480" y="1600200"/>
            <a:ext cx="2560320" cy="640080"/>
          </a:xfrm>
          <a:prstGeom prst="rect">
            <a:avLst/>
          </a:prstGeom>
          <a:noFill/>
          <a:ln/>
        </p:spPr>
        <p:txBody>
          <a:bodyPr wrap="square" lIns="0" tIns="0" rIns="0" bIns="0" rtlCol="0" anchor="ctr"/>
          <a:lstStyle/>
          <a:p>
            <a:pPr algn="ctr" indent="0" marL="0">
              <a:buNone/>
            </a:pPr>
            <a:r>
              <a:rPr lang="en-US" sz="1400" b="1" dirty="0">
                <a:solidFill>
                  <a:srgbClr val="2B6CB0"/>
                </a:solidFill>
                <a:latin typeface="Georgia" pitchFamily="34" charset="0"/>
                <a:ea typeface="Georgia" pitchFamily="34" charset="-122"/>
                <a:cs typeface="Georgia" pitchFamily="34" charset="-120"/>
              </a:rPr>
              <a:t>Tier 3 (&lt;15%)</a:t>
            </a:r>
            <a:endParaRPr lang="en-US" sz="1400" dirty="0"/>
          </a:p>
          <a:p>
            <a:pPr algn="ctr" indent="0" marL="0">
              <a:buNone/>
            </a:pPr>
            <a:r>
              <a:rPr lang="en-US" sz="1400" b="1" dirty="0">
                <a:solidFill>
                  <a:srgbClr val="2B6CB0"/>
                </a:solidFill>
                <a:latin typeface="Georgia" pitchFamily="34" charset="0"/>
                <a:ea typeface="Georgia" pitchFamily="34" charset="-122"/>
                <a:cs typeface="Georgia" pitchFamily="34" charset="-120"/>
              </a:rPr>
              <a:t>50% Credit</a:t>
            </a:r>
            <a:endParaRPr lang="en-US" sz="1400" dirty="0"/>
          </a:p>
        </p:txBody>
      </p:sp>
      <p:sp>
        <p:nvSpPr>
          <p:cNvPr id="16" name="Text 14"/>
          <p:cNvSpPr/>
          <p:nvPr/>
        </p:nvSpPr>
        <p:spPr>
          <a:xfrm>
            <a:off x="6263640" y="2377440"/>
            <a:ext cx="2286000" cy="17373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Motor TP</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GI GMC/GPA</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Renewal</a:t>
            </a:r>
            <a:endParaRPr lang="en-US" sz="1200" dirty="0"/>
          </a:p>
        </p:txBody>
      </p:sp>
      <p:sp>
        <p:nvSpPr>
          <p:cNvPr id="17" name="Shape 15"/>
          <p:cNvSpPr/>
          <p:nvPr/>
        </p:nvSpPr>
        <p:spPr>
          <a:xfrm>
            <a:off x="640080" y="4572000"/>
            <a:ext cx="7863840" cy="365760"/>
          </a:xfrm>
          <a:prstGeom prst="rect">
            <a:avLst/>
          </a:prstGeom>
          <a:solidFill>
            <a:srgbClr val="D69E2E"/>
          </a:solidFill>
          <a:ln/>
        </p:spPr>
      </p:sp>
      <p:sp>
        <p:nvSpPr>
          <p:cNvPr id="18" name="Text 16"/>
          <p:cNvSpPr/>
          <p:nvPr/>
        </p:nvSpPr>
        <p:spPr>
          <a:xfrm>
            <a:off x="777240" y="4572000"/>
            <a:ext cx="7589520" cy="365760"/>
          </a:xfrm>
          <a:prstGeom prst="rect">
            <a:avLst/>
          </a:prstGeom>
          <a:noFill/>
          <a:ln/>
        </p:spPr>
        <p:txBody>
          <a:bodyPr wrap="square" lIns="0" tIns="0" rIns="0" bIns="0" rtlCol="0" anchor="ctr"/>
          <a:lstStyle/>
          <a:p>
            <a:pPr algn="ctr" indent="0" marL="0">
              <a:buNone/>
            </a:pPr>
            <a:r>
              <a:rPr lang="en-US" sz="1000" b="1" dirty="0">
                <a:solidFill>
                  <a:srgbClr val="1A365D"/>
                </a:solidFill>
                <a:latin typeface="Calibri" pitchFamily="34" charset="0"/>
                <a:ea typeface="Calibri" pitchFamily="34" charset="-122"/>
                <a:cs typeface="Calibri" pitchFamily="34" charset="-120"/>
              </a:rPr>
              <a:t>Tier applies AFTER margin-based credit calculation for channel business. Ensures consistent ROI across product mix.</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Non-Direct Referral Credits</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Incentive for referrals and sourcing outside direct portfolio</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188720"/>
          <a:ext cx="7863840" cy="914400"/>
        </p:xfrm>
        <a:graphic>
          <a:graphicData uri="http://schemas.openxmlformats.org/drawingml/2006/table">
            <a:tbl>
              <a:tblPr/>
              <a:tblGrid>
                <a:gridCol w="2743200"/>
                <a:gridCol w="2194560"/>
                <a:gridCol w="292608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Product Category</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Referral Credit %</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Condition</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Life Insurance</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Premium credit ≥ ₹1,00,000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Fresh Health</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New policy only</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Health Port</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Port-in from competitor</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GI Non-Motor</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5-10%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Based on margin</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7" name="Shape 4"/>
          <p:cNvSpPr/>
          <p:nvPr/>
        </p:nvSpPr>
        <p:spPr>
          <a:xfrm>
            <a:off x="640080" y="4023360"/>
            <a:ext cx="7863840" cy="822960"/>
          </a:xfrm>
          <a:prstGeom prst="rect">
            <a:avLst/>
          </a:prstGeom>
          <a:solidFill>
            <a:srgbClr val="EBF8FF"/>
          </a:solidFill>
          <a:ln/>
        </p:spPr>
      </p:sp>
      <p:sp>
        <p:nvSpPr>
          <p:cNvPr id="8" name="Text 5"/>
          <p:cNvSpPr/>
          <p:nvPr/>
        </p:nvSpPr>
        <p:spPr>
          <a:xfrm>
            <a:off x="777240" y="4069080"/>
            <a:ext cx="7589520" cy="73152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Referral credits apply to deals sourced by RMs outside their regular portfolio. Counted ONCE (not double-dipped). Helps team build relationships and cross-sell.
</a:t>
            </a:r>
            <a:endParaRPr lang="en-US" sz="1000" dirty="0"/>
          </a:p>
          <a:p>
            <a:pPr indent="0" marL="0">
              <a:buNone/>
            </a:pPr>
            <a:r>
              <a:rPr lang="en-US" sz="1000" i="1" dirty="0">
                <a:solidFill>
                  <a:srgbClr val="718096"/>
                </a:solidFill>
                <a:latin typeface="Calibri" pitchFamily="34" charset="0"/>
                <a:ea typeface="Calibri" pitchFamily="34" charset="-122"/>
                <a:cs typeface="Calibri" pitchFamily="34" charset="-120"/>
              </a:rPr>
              <a:t>Referrals from support staff: 50% of RM's applicable referral credit.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POSP Channel: RM/CDM Incentive Structure</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Recruitment, Activation &amp; Performance-based rewards</a:t>
            </a:r>
            <a:endParaRPr lang="en-US" sz="1200" dirty="0"/>
          </a:p>
        </p:txBody>
      </p:sp>
      <p:sp>
        <p:nvSpPr>
          <p:cNvPr id="6" name="Shape 4"/>
          <p:cNvSpPr/>
          <p:nvPr/>
        </p:nvSpPr>
        <p:spPr>
          <a:xfrm>
            <a:off x="640080" y="1188720"/>
            <a:ext cx="36576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640080" y="1188720"/>
            <a:ext cx="3657600" cy="54864"/>
          </a:xfrm>
          <a:prstGeom prst="rect">
            <a:avLst/>
          </a:prstGeom>
          <a:solidFill>
            <a:srgbClr val="2B6CB0"/>
          </a:solidFill>
          <a:ln/>
        </p:spPr>
      </p:sp>
      <p:sp>
        <p:nvSpPr>
          <p:cNvPr id="8" name="Text 6"/>
          <p:cNvSpPr/>
          <p:nvPr/>
        </p:nvSpPr>
        <p:spPr>
          <a:xfrm>
            <a:off x="777240" y="1280160"/>
            <a:ext cx="3383280" cy="320040"/>
          </a:xfrm>
          <a:prstGeom prst="rect">
            <a:avLst/>
          </a:prstGeom>
          <a:noFill/>
          <a:ln/>
        </p:spPr>
        <p:txBody>
          <a:bodyPr wrap="square" lIns="0" tIns="0" rIns="0" bIns="0" rtlCol="0" anchor="ctr"/>
          <a:lstStyle/>
          <a:p>
            <a:pPr indent="0" marL="0">
              <a:buNone/>
            </a:pPr>
            <a:r>
              <a:rPr lang="en-US" sz="1400" b="1" dirty="0">
                <a:solidFill>
                  <a:srgbClr val="1A365D"/>
                </a:solidFill>
                <a:latin typeface="Georgia" pitchFamily="34" charset="0"/>
                <a:ea typeface="Georgia" pitchFamily="34" charset="-122"/>
                <a:cs typeface="Georgia" pitchFamily="34" charset="-120"/>
              </a:rPr>
              <a:t>Recruitment Bonus (Monthly)</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3383280" cy="914400"/>
        </p:xfrm>
        <a:graphic>
          <a:graphicData uri="http://schemas.openxmlformats.org/drawingml/2006/table">
            <a:tbl>
              <a:tblPr/>
              <a:tblGrid>
                <a:gridCol w="1828800"/>
                <a:gridCol w="15544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POSPs Recruited</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2B6CB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 POSP Bonus</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2B6CB0"/>
                    </a:solidFill>
                  </a:tcPr>
                </a:tc>
              </a:tr>
              <a:tr h="0">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0">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₹300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0">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10" name="Shape 7"/>
          <p:cNvSpPr/>
          <p:nvPr/>
        </p:nvSpPr>
        <p:spPr>
          <a:xfrm>
            <a:off x="4846320" y="1188720"/>
            <a:ext cx="36576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4846320" y="1188720"/>
            <a:ext cx="3657600" cy="54864"/>
          </a:xfrm>
          <a:prstGeom prst="rect">
            <a:avLst/>
          </a:prstGeom>
          <a:solidFill>
            <a:srgbClr val="38A169"/>
          </a:solidFill>
          <a:ln/>
        </p:spPr>
      </p:sp>
      <p:sp>
        <p:nvSpPr>
          <p:cNvPr id="12" name="Text 9"/>
          <p:cNvSpPr/>
          <p:nvPr/>
        </p:nvSpPr>
        <p:spPr>
          <a:xfrm>
            <a:off x="4983480" y="1280160"/>
            <a:ext cx="3383280" cy="320040"/>
          </a:xfrm>
          <a:prstGeom prst="rect">
            <a:avLst/>
          </a:prstGeom>
          <a:noFill/>
          <a:ln/>
        </p:spPr>
        <p:txBody>
          <a:bodyPr wrap="square" lIns="0" tIns="0" rIns="0" bIns="0" rtlCol="0" anchor="ctr"/>
          <a:lstStyle/>
          <a:p>
            <a:pPr indent="0" marL="0">
              <a:buNone/>
            </a:pPr>
            <a:r>
              <a:rPr lang="en-US" sz="1300" b="1" dirty="0">
                <a:solidFill>
                  <a:srgbClr val="1A365D"/>
                </a:solidFill>
                <a:latin typeface="Georgia" pitchFamily="34" charset="0"/>
                <a:ea typeface="Georgia" pitchFamily="34" charset="-122"/>
                <a:cs typeface="Georgia" pitchFamily="34" charset="-120"/>
              </a:rPr>
              <a:t>Activation Bonus (Grade A = ₹20K min)</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983480" y="1691640"/>
          <a:ext cx="3383280" cy="914400"/>
        </p:xfrm>
        <a:graphic>
          <a:graphicData uri="http://schemas.openxmlformats.org/drawingml/2006/table">
            <a:tbl>
              <a:tblPr/>
              <a:tblGrid>
                <a:gridCol w="1828800"/>
                <a:gridCol w="15544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Active POSPs</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38A16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 POSP Bonus</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38A169"/>
                    </a:solidFill>
                  </a:tcPr>
                </a:tc>
              </a:tr>
              <a:tr h="0">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₹300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0">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0">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₹750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0">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14" name="Shape 10"/>
          <p:cNvSpPr/>
          <p:nvPr/>
        </p:nvSpPr>
        <p:spPr>
          <a:xfrm>
            <a:off x="640080" y="3291840"/>
            <a:ext cx="7863840" cy="1645920"/>
          </a:xfrm>
          <a:prstGeom prst="rect">
            <a:avLst/>
          </a:prstGeom>
          <a:solidFill>
            <a:srgbClr val="EBF4FF"/>
          </a:solidFill>
          <a:ln/>
          <a:effectLst>
            <a:outerShdw sx="100000" sy="100000" kx="0" ky="0" algn="bl" rotWithShape="0" blurRad="76200" dist="25400" dir="8100000">
              <a:srgbClr val="000000">
                <a:alpha val="12000"/>
              </a:srgbClr>
            </a:outerShdw>
          </a:effectLst>
        </p:spPr>
      </p:sp>
      <p:sp>
        <p:nvSpPr>
          <p:cNvPr id="15" name="Text 11"/>
          <p:cNvSpPr/>
          <p:nvPr/>
        </p:nvSpPr>
        <p:spPr>
          <a:xfrm>
            <a:off x="777240" y="3383280"/>
            <a:ext cx="7589520" cy="320040"/>
          </a:xfrm>
          <a:prstGeom prst="rect">
            <a:avLst/>
          </a:prstGeom>
          <a:noFill/>
          <a:ln/>
        </p:spPr>
        <p:txBody>
          <a:bodyPr wrap="square" lIns="0" tIns="0" rIns="0" bIns="0" rtlCol="0" anchor="ctr"/>
          <a:lstStyle/>
          <a:p>
            <a:pPr indent="0" marL="0">
              <a:buNone/>
            </a:pPr>
            <a:r>
              <a:rPr lang="en-US" sz="1400" b="1" dirty="0">
                <a:solidFill>
                  <a:srgbClr val="1A365D"/>
                </a:solidFill>
                <a:latin typeface="Georgia" pitchFamily="34" charset="0"/>
                <a:ea typeface="Georgia" pitchFamily="34" charset="-122"/>
                <a:cs typeface="Georgia" pitchFamily="34" charset="-120"/>
              </a:rPr>
              <a:t>POSP Credit Rules for RM/CDM</a:t>
            </a:r>
            <a:endParaRPr lang="en-US" sz="1400" dirty="0"/>
          </a:p>
        </p:txBody>
      </p:sp>
      <p:sp>
        <p:nvSpPr>
          <p:cNvPr id="16" name="Text 12"/>
          <p:cNvSpPr/>
          <p:nvPr/>
        </p:nvSpPr>
        <p:spPr>
          <a:xfrm>
            <a:off x="777240" y="3749040"/>
            <a:ext cx="7589520" cy="1097280"/>
          </a:xfrm>
          <a:prstGeom prst="rect">
            <a:avLst/>
          </a:prstGeom>
          <a:noFill/>
          <a:ln/>
        </p:spPr>
        <p:txBody>
          <a:bodyPr wrap="square" lIns="0" tIns="0" rIns="0" bIns="0" rtlCol="0" anchor="t"/>
          <a:lstStyle/>
          <a:p>
            <a:pPr indent="0" marL="0">
              <a:buNone/>
            </a:pPr>
            <a:r>
              <a:rPr lang="en-US" sz="1100" b="1" dirty="0">
                <a:solidFill>
                  <a:srgbClr val="2D3748"/>
                </a:solidFill>
                <a:latin typeface="Calibri" pitchFamily="34" charset="0"/>
                <a:ea typeface="Calibri" pitchFamily="34" charset="-122"/>
                <a:cs typeface="Calibri" pitchFamily="34" charset="-120"/>
              </a:rPr>
              <a:t>Self-business (own sourced): </a:t>
            </a:r>
            <a:pPr indent="0" marL="0">
              <a:buNone/>
            </a:pPr>
            <a:r>
              <a:rPr lang="en-US" sz="1100" dirty="0">
                <a:solidFill>
                  <a:srgbClr val="2D3748"/>
                </a:solidFill>
                <a:latin typeface="Calibri" pitchFamily="34" charset="0"/>
                <a:ea typeface="Calibri" pitchFamily="34" charset="-122"/>
                <a:cs typeface="Calibri" pitchFamily="34" charset="-120"/>
              </a:rPr>
              <a:t>300% credit (3× multiplier)(In their Target)
</a:t>
            </a:r>
            <a:endParaRPr lang="en-US" sz="1100" dirty="0"/>
          </a:p>
          <a:p>
            <a:pPr indent="0" marL="0">
              <a:buNone/>
            </a:pPr>
            <a:r>
              <a:rPr lang="en-US" sz="1100" b="1" dirty="0">
                <a:solidFill>
                  <a:srgbClr val="2D3748"/>
                </a:solidFill>
                <a:latin typeface="Calibri" pitchFamily="34" charset="0"/>
                <a:ea typeface="Calibri" pitchFamily="34" charset="-122"/>
                <a:cs typeface="Calibri" pitchFamily="34" charset="-120"/>
              </a:rPr>
              <a:t>POSP Normal Grade: </a:t>
            </a:r>
            <a:pPr indent="0" marL="0">
              <a:buNone/>
            </a:pPr>
            <a:r>
              <a:rPr lang="en-US" sz="1100" dirty="0">
                <a:solidFill>
                  <a:srgbClr val="2D3748"/>
                </a:solidFill>
                <a:latin typeface="Calibri" pitchFamily="34" charset="0"/>
                <a:ea typeface="Calibri" pitchFamily="34" charset="-122"/>
                <a:cs typeface="Calibri" pitchFamily="34" charset="-120"/>
              </a:rPr>
              <a:t>100% credit (against their Target)  |  </a:t>
            </a:r>
            <a:pPr indent="0" marL="0">
              <a:buNone/>
            </a:pPr>
            <a:r>
              <a:rPr lang="en-US" sz="1100" b="1" dirty="0">
                <a:solidFill>
                  <a:srgbClr val="2D3748"/>
                </a:solidFill>
                <a:latin typeface="Calibri" pitchFamily="34" charset="0"/>
                <a:ea typeface="Calibri" pitchFamily="34" charset="-122"/>
                <a:cs typeface="Calibri" pitchFamily="34" charset="-120"/>
              </a:rPr>
              <a:t>Higher Pay Grade: </a:t>
            </a:r>
            <a:pPr indent="0" marL="0">
              <a:buNone/>
            </a:pPr>
            <a:r>
              <a:rPr lang="en-US" sz="1100" dirty="0">
                <a:solidFill>
                  <a:srgbClr val="2D3748"/>
                </a:solidFill>
                <a:latin typeface="Calibri" pitchFamily="34" charset="0"/>
                <a:ea typeface="Calibri" pitchFamily="34" charset="-122"/>
                <a:cs typeface="Calibri" pitchFamily="34" charset="-120"/>
              </a:rPr>
              <a:t>Proportionately less
</a:t>
            </a:r>
            <a:endParaRPr lang="en-US" sz="1100" dirty="0"/>
          </a:p>
          <a:p>
            <a:pPr indent="0" marL="0">
              <a:buNone/>
            </a:pPr>
            <a:r>
              <a:rPr lang="en-US" sz="1100" b="1" dirty="0">
                <a:solidFill>
                  <a:srgbClr val="2D3748"/>
                </a:solidFill>
                <a:latin typeface="Calibri" pitchFamily="34" charset="0"/>
                <a:ea typeface="Calibri" pitchFamily="34" charset="-122"/>
                <a:cs typeface="Calibri" pitchFamily="34" charset="-120"/>
              </a:rPr>
              <a:t>Franchise: </a:t>
            </a:r>
            <a:pPr indent="0" marL="0">
              <a:buNone/>
            </a:pPr>
            <a:r>
              <a:rPr lang="en-US" sz="1100" dirty="0">
                <a:solidFill>
                  <a:srgbClr val="2D3748"/>
                </a:solidFill>
                <a:latin typeface="Calibri" pitchFamily="34" charset="0"/>
                <a:ea typeface="Calibri" pitchFamily="34" charset="-122"/>
                <a:cs typeface="Calibri" pitchFamily="34" charset="-120"/>
              </a:rPr>
              <a:t>25% credit  |  </a:t>
            </a:r>
            <a:pPr indent="0" marL="0">
              <a:buNone/>
            </a:pPr>
            <a:r>
              <a:rPr lang="en-US" sz="1100" b="1" dirty="0">
                <a:solidFill>
                  <a:srgbClr val="E53E3E"/>
                </a:solidFill>
                <a:latin typeface="Calibri" pitchFamily="34" charset="0"/>
                <a:ea typeface="Calibri" pitchFamily="34" charset="-122"/>
                <a:cs typeface="Calibri" pitchFamily="34" charset="-120"/>
              </a:rPr>
              <a:t>Renewal Retention: </a:t>
            </a:r>
            <a:pPr indent="0" marL="0">
              <a:buNone/>
            </a:pPr>
            <a:r>
              <a:rPr lang="en-US" sz="1100" dirty="0">
                <a:solidFill>
                  <a:srgbClr val="E53E3E"/>
                </a:solidFill>
                <a:latin typeface="Calibri" pitchFamily="34" charset="0"/>
                <a:ea typeface="Calibri" pitchFamily="34" charset="-122"/>
                <a:cs typeface="Calibri" pitchFamily="34" charset="-120"/>
              </a:rPr>
              <a:t>&gt;80% required to earn incentives
</a:t>
            </a:r>
            <a:endParaRPr lang="en-US" sz="1100" dirty="0"/>
          </a:p>
          <a:p>
            <a:pPr indent="0" marL="0">
              <a:buNone/>
            </a:pPr>
            <a:r>
              <a:rPr lang="en-US" sz="1100" b="1" dirty="0">
                <a:solidFill>
                  <a:srgbClr val="2D3748"/>
                </a:solidFill>
                <a:latin typeface="Calibri" pitchFamily="34" charset="0"/>
                <a:ea typeface="Calibri" pitchFamily="34" charset="-122"/>
                <a:cs typeface="Calibri" pitchFamily="34" charset="-120"/>
              </a:rPr>
              <a:t>Motor TP-Only from PSU: </a:t>
            </a:r>
            <a:pPr indent="0" marL="0">
              <a:buNone/>
            </a:pPr>
            <a:r>
              <a:rPr lang="en-US" sz="1100" dirty="0">
                <a:solidFill>
                  <a:srgbClr val="2D3748"/>
                </a:solidFill>
                <a:latin typeface="Calibri" pitchFamily="34" charset="0"/>
                <a:ea typeface="Calibri" pitchFamily="34" charset="-122"/>
                <a:cs typeface="Calibri" pitchFamily="34" charset="-120"/>
              </a:rPr>
              <a:t>NOT counted for POSP activation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Profit Center Model</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Senior Management — Bonus = % of actual vertical profit AFTER all costs</a:t>
            </a:r>
            <a:endParaRPr lang="en-US" sz="1200" dirty="0"/>
          </a:p>
        </p:txBody>
      </p:sp>
      <p:sp>
        <p:nvSpPr>
          <p:cNvPr id="6" name="Shape 4"/>
          <p:cNvSpPr/>
          <p:nvPr/>
        </p:nvSpPr>
        <p:spPr>
          <a:xfrm>
            <a:off x="640080" y="1234440"/>
            <a:ext cx="7863840" cy="548640"/>
          </a:xfrm>
          <a:prstGeom prst="rect">
            <a:avLst/>
          </a:prstGeom>
          <a:solidFill>
            <a:srgbClr val="EBF8FF"/>
          </a:solidFill>
          <a:ln/>
        </p:spPr>
      </p:sp>
      <p:sp>
        <p:nvSpPr>
          <p:cNvPr id="7" name="Text 5"/>
          <p:cNvSpPr/>
          <p:nvPr/>
        </p:nvSpPr>
        <p:spPr>
          <a:xfrm>
            <a:off x="777240" y="1234440"/>
            <a:ext cx="7589520" cy="457200"/>
          </a:xfrm>
          <a:prstGeom prst="rect">
            <a:avLst/>
          </a:prstGeom>
          <a:noFill/>
          <a:ln/>
        </p:spPr>
        <p:txBody>
          <a:bodyPr wrap="square" lIns="0" tIns="0" rIns="0" bIns="0" rtlCol="0" anchor="ctr"/>
          <a:lstStyle/>
          <a:p>
            <a:pPr indent="0" marL="0">
              <a:buNone/>
            </a:pPr>
            <a:r>
              <a:rPr lang="en-US" sz="1200" b="1" dirty="0">
                <a:solidFill>
                  <a:srgbClr val="1A365D"/>
                </a:solidFill>
                <a:latin typeface="Calibri" pitchFamily="34" charset="0"/>
                <a:ea typeface="Calibri" pitchFamily="34" charset="-122"/>
                <a:cs typeface="Calibri" pitchFamily="34" charset="-120"/>
              </a:rPr>
              <a:t>Vertical Profit = Revenue - (Manager Salary + Team Salary + Team Incentives + Other Costs + Attrition Cost)</a:t>
            </a:r>
            <a:endParaRPr lang="en-US" sz="1200" dirty="0"/>
          </a:p>
        </p:txBody>
      </p:sp>
      <p:sp>
        <p:nvSpPr>
          <p:cNvPr id="8" name="Shape 6"/>
          <p:cNvSpPr/>
          <p:nvPr/>
        </p:nvSpPr>
        <p:spPr>
          <a:xfrm>
            <a:off x="640080" y="2011680"/>
            <a:ext cx="182880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640080" y="2011680"/>
            <a:ext cx="1828800" cy="54864"/>
          </a:xfrm>
          <a:prstGeom prst="rect">
            <a:avLst/>
          </a:prstGeom>
          <a:solidFill>
            <a:srgbClr val="1A365D"/>
          </a:solidFill>
          <a:ln/>
        </p:spPr>
      </p:sp>
      <p:sp>
        <p:nvSpPr>
          <p:cNvPr id="10" name="Text 8"/>
          <p:cNvSpPr/>
          <p:nvPr/>
        </p:nvSpPr>
        <p:spPr>
          <a:xfrm>
            <a:off x="640080" y="2148840"/>
            <a:ext cx="1828800" cy="548640"/>
          </a:xfrm>
          <a:prstGeom prst="rect">
            <a:avLst/>
          </a:prstGeom>
          <a:noFill/>
          <a:ln/>
        </p:spPr>
        <p:txBody>
          <a:bodyPr wrap="square" lIns="0" tIns="0" rIns="0" bIns="0" rtlCol="0" anchor="ctr"/>
          <a:lstStyle/>
          <a:p>
            <a:pPr algn="ctr" indent="0" marL="0">
              <a:buNone/>
            </a:pPr>
            <a:r>
              <a:rPr lang="en-US" sz="2400" b="1" dirty="0">
                <a:solidFill>
                  <a:srgbClr val="1A365D"/>
                </a:solidFill>
                <a:latin typeface="Georgia" pitchFamily="34" charset="0"/>
                <a:ea typeface="Georgia" pitchFamily="34" charset="-122"/>
                <a:cs typeface="Georgia" pitchFamily="34" charset="-120"/>
              </a:rPr>
              <a:t>8-12%</a:t>
            </a:r>
            <a:endParaRPr lang="en-US" sz="2400" dirty="0"/>
          </a:p>
        </p:txBody>
      </p:sp>
      <p:sp>
        <p:nvSpPr>
          <p:cNvPr id="11" name="Text 9"/>
          <p:cNvSpPr/>
          <p:nvPr/>
        </p:nvSpPr>
        <p:spPr>
          <a:xfrm>
            <a:off x="640080" y="2697480"/>
            <a:ext cx="1828800" cy="365760"/>
          </a:xfrm>
          <a:prstGeom prst="rect">
            <a:avLst/>
          </a:prstGeom>
          <a:noFill/>
          <a:ln/>
        </p:spPr>
        <p:txBody>
          <a:bodyPr wrap="square" lIns="0" tIns="0" rIns="0" bIns="0" rtlCol="0" anchor="t"/>
          <a:lstStyle/>
          <a:p>
            <a:pPr algn="ctr" indent="0" marL="0">
              <a:buNone/>
            </a:pPr>
            <a:r>
              <a:rPr lang="en-US" sz="1000" dirty="0">
                <a:solidFill>
                  <a:srgbClr val="2D3748"/>
                </a:solidFill>
                <a:latin typeface="Calibri" pitchFamily="34" charset="0"/>
                <a:ea typeface="Calibri" pitchFamily="34" charset="-122"/>
                <a:cs typeface="Calibri" pitchFamily="34" charset="-120"/>
              </a:rPr>
              <a:t>L2 (CDO/President)</a:t>
            </a:r>
            <a:endParaRPr lang="en-US" sz="1000" dirty="0"/>
          </a:p>
        </p:txBody>
      </p:sp>
      <p:sp>
        <p:nvSpPr>
          <p:cNvPr id="12" name="Shape 10"/>
          <p:cNvSpPr/>
          <p:nvPr/>
        </p:nvSpPr>
        <p:spPr>
          <a:xfrm>
            <a:off x="2651760" y="2011680"/>
            <a:ext cx="182880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2651760" y="2011680"/>
            <a:ext cx="1828800" cy="54864"/>
          </a:xfrm>
          <a:prstGeom prst="rect">
            <a:avLst/>
          </a:prstGeom>
          <a:solidFill>
            <a:srgbClr val="2B6CB0"/>
          </a:solidFill>
          <a:ln/>
        </p:spPr>
      </p:sp>
      <p:sp>
        <p:nvSpPr>
          <p:cNvPr id="14" name="Text 12"/>
          <p:cNvSpPr/>
          <p:nvPr/>
        </p:nvSpPr>
        <p:spPr>
          <a:xfrm>
            <a:off x="2651760" y="2148840"/>
            <a:ext cx="1828800" cy="548640"/>
          </a:xfrm>
          <a:prstGeom prst="rect">
            <a:avLst/>
          </a:prstGeom>
          <a:noFill/>
          <a:ln/>
        </p:spPr>
        <p:txBody>
          <a:bodyPr wrap="square" lIns="0" tIns="0" rIns="0" bIns="0" rtlCol="0" anchor="ctr"/>
          <a:lstStyle/>
          <a:p>
            <a:pPr algn="ctr" indent="0" marL="0">
              <a:buNone/>
            </a:pPr>
            <a:r>
              <a:rPr lang="en-US" sz="2400" b="1" dirty="0">
                <a:solidFill>
                  <a:srgbClr val="2B6CB0"/>
                </a:solidFill>
                <a:latin typeface="Georgia" pitchFamily="34" charset="0"/>
                <a:ea typeface="Georgia" pitchFamily="34" charset="-122"/>
                <a:cs typeface="Georgia" pitchFamily="34" charset="-120"/>
              </a:rPr>
              <a:t>5-8%</a:t>
            </a:r>
            <a:endParaRPr lang="en-US" sz="2400" dirty="0"/>
          </a:p>
        </p:txBody>
      </p:sp>
      <p:sp>
        <p:nvSpPr>
          <p:cNvPr id="15" name="Text 13"/>
          <p:cNvSpPr/>
          <p:nvPr/>
        </p:nvSpPr>
        <p:spPr>
          <a:xfrm>
            <a:off x="2651760" y="2697480"/>
            <a:ext cx="1828800" cy="365760"/>
          </a:xfrm>
          <a:prstGeom prst="rect">
            <a:avLst/>
          </a:prstGeom>
          <a:noFill/>
          <a:ln/>
        </p:spPr>
        <p:txBody>
          <a:bodyPr wrap="square" lIns="0" tIns="0" rIns="0" bIns="0" rtlCol="0" anchor="t"/>
          <a:lstStyle/>
          <a:p>
            <a:pPr algn="ctr" indent="0" marL="0">
              <a:buNone/>
            </a:pPr>
            <a:r>
              <a:rPr lang="en-US" sz="1000" dirty="0">
                <a:solidFill>
                  <a:srgbClr val="2D3748"/>
                </a:solidFill>
                <a:latin typeface="Calibri" pitchFamily="34" charset="0"/>
                <a:ea typeface="Calibri" pitchFamily="34" charset="-122"/>
                <a:cs typeface="Calibri" pitchFamily="34" charset="-120"/>
              </a:rPr>
              <a:t>L3 (VP/Regional Mgr)</a:t>
            </a:r>
            <a:endParaRPr lang="en-US" sz="1000" dirty="0"/>
          </a:p>
        </p:txBody>
      </p:sp>
      <p:sp>
        <p:nvSpPr>
          <p:cNvPr id="16" name="Shape 14"/>
          <p:cNvSpPr/>
          <p:nvPr/>
        </p:nvSpPr>
        <p:spPr>
          <a:xfrm>
            <a:off x="4663440" y="2011680"/>
            <a:ext cx="182880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4663440" y="2011680"/>
            <a:ext cx="1828800" cy="54864"/>
          </a:xfrm>
          <a:prstGeom prst="rect">
            <a:avLst/>
          </a:prstGeom>
          <a:solidFill>
            <a:srgbClr val="38A169"/>
          </a:solidFill>
          <a:ln/>
        </p:spPr>
      </p:sp>
      <p:sp>
        <p:nvSpPr>
          <p:cNvPr id="18" name="Text 16"/>
          <p:cNvSpPr/>
          <p:nvPr/>
        </p:nvSpPr>
        <p:spPr>
          <a:xfrm>
            <a:off x="4663440" y="2148840"/>
            <a:ext cx="1828800" cy="548640"/>
          </a:xfrm>
          <a:prstGeom prst="rect">
            <a:avLst/>
          </a:prstGeom>
          <a:noFill/>
          <a:ln/>
        </p:spPr>
        <p:txBody>
          <a:bodyPr wrap="square" lIns="0" tIns="0" rIns="0" bIns="0" rtlCol="0" anchor="ctr"/>
          <a:lstStyle/>
          <a:p>
            <a:pPr algn="ctr" indent="0" marL="0">
              <a:buNone/>
            </a:pPr>
            <a:r>
              <a:rPr lang="en-US" sz="2400" b="1" dirty="0">
                <a:solidFill>
                  <a:srgbClr val="38A169"/>
                </a:solidFill>
                <a:latin typeface="Georgia" pitchFamily="34" charset="0"/>
                <a:ea typeface="Georgia" pitchFamily="34" charset="-122"/>
                <a:cs typeface="Georgia" pitchFamily="34" charset="-120"/>
              </a:rPr>
              <a:t>3-5%</a:t>
            </a:r>
            <a:endParaRPr lang="en-US" sz="2400" dirty="0"/>
          </a:p>
        </p:txBody>
      </p:sp>
      <p:sp>
        <p:nvSpPr>
          <p:cNvPr id="19" name="Text 17"/>
          <p:cNvSpPr/>
          <p:nvPr/>
        </p:nvSpPr>
        <p:spPr>
          <a:xfrm>
            <a:off x="4663440" y="2697480"/>
            <a:ext cx="1828800" cy="365760"/>
          </a:xfrm>
          <a:prstGeom prst="rect">
            <a:avLst/>
          </a:prstGeom>
          <a:noFill/>
          <a:ln/>
        </p:spPr>
        <p:txBody>
          <a:bodyPr wrap="square" lIns="0" tIns="0" rIns="0" bIns="0" rtlCol="0" anchor="t"/>
          <a:lstStyle/>
          <a:p>
            <a:pPr algn="ctr" indent="0" marL="0">
              <a:buNone/>
            </a:pPr>
            <a:r>
              <a:rPr lang="en-US" sz="1000" dirty="0">
                <a:solidFill>
                  <a:srgbClr val="2D3748"/>
                </a:solidFill>
                <a:latin typeface="Calibri" pitchFamily="34" charset="0"/>
                <a:ea typeface="Calibri" pitchFamily="34" charset="-122"/>
                <a:cs typeface="Calibri" pitchFamily="34" charset="-120"/>
              </a:rPr>
              <a:t>L4 (Sales Head/Branch Head)</a:t>
            </a:r>
            <a:endParaRPr lang="en-US" sz="1000" dirty="0"/>
          </a:p>
        </p:txBody>
      </p:sp>
      <p:sp>
        <p:nvSpPr>
          <p:cNvPr id="20" name="Shape 18"/>
          <p:cNvSpPr/>
          <p:nvPr/>
        </p:nvSpPr>
        <p:spPr>
          <a:xfrm>
            <a:off x="6675120" y="2011680"/>
            <a:ext cx="182880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9"/>
          <p:cNvSpPr/>
          <p:nvPr/>
        </p:nvSpPr>
        <p:spPr>
          <a:xfrm>
            <a:off x="6675120" y="2011680"/>
            <a:ext cx="1828800" cy="54864"/>
          </a:xfrm>
          <a:prstGeom prst="rect">
            <a:avLst/>
          </a:prstGeom>
          <a:solidFill>
            <a:srgbClr val="D69E2E"/>
          </a:solidFill>
          <a:ln/>
        </p:spPr>
      </p:sp>
      <p:sp>
        <p:nvSpPr>
          <p:cNvPr id="22" name="Text 20"/>
          <p:cNvSpPr/>
          <p:nvPr/>
        </p:nvSpPr>
        <p:spPr>
          <a:xfrm>
            <a:off x="6675120" y="2148840"/>
            <a:ext cx="1828800" cy="548640"/>
          </a:xfrm>
          <a:prstGeom prst="rect">
            <a:avLst/>
          </a:prstGeom>
          <a:noFill/>
          <a:ln/>
        </p:spPr>
        <p:txBody>
          <a:bodyPr wrap="square" lIns="0" tIns="0" rIns="0" bIns="0" rtlCol="0" anchor="ctr"/>
          <a:lstStyle/>
          <a:p>
            <a:pPr algn="ctr" indent="0" marL="0">
              <a:buNone/>
            </a:pPr>
            <a:r>
              <a:rPr lang="en-US" sz="2400" b="1" dirty="0">
                <a:solidFill>
                  <a:srgbClr val="D69E2E"/>
                </a:solidFill>
                <a:latin typeface="Georgia" pitchFamily="34" charset="0"/>
                <a:ea typeface="Georgia" pitchFamily="34" charset="-122"/>
                <a:cs typeface="Georgia" pitchFamily="34" charset="-120"/>
              </a:rPr>
              <a:t>2-4%</a:t>
            </a:r>
            <a:endParaRPr lang="en-US" sz="2400" dirty="0"/>
          </a:p>
        </p:txBody>
      </p:sp>
      <p:sp>
        <p:nvSpPr>
          <p:cNvPr id="23" name="Text 21"/>
          <p:cNvSpPr/>
          <p:nvPr/>
        </p:nvSpPr>
        <p:spPr>
          <a:xfrm>
            <a:off x="6675120" y="2697480"/>
            <a:ext cx="1828800" cy="365760"/>
          </a:xfrm>
          <a:prstGeom prst="rect">
            <a:avLst/>
          </a:prstGeom>
          <a:noFill/>
          <a:ln/>
        </p:spPr>
        <p:txBody>
          <a:bodyPr wrap="square" lIns="0" tIns="0" rIns="0" bIns="0" rtlCol="0" anchor="t"/>
          <a:lstStyle/>
          <a:p>
            <a:pPr algn="ctr" indent="0" marL="0">
              <a:buNone/>
            </a:pPr>
            <a:r>
              <a:rPr lang="en-US" sz="1000" dirty="0">
                <a:solidFill>
                  <a:srgbClr val="2D3748"/>
                </a:solidFill>
                <a:latin typeface="Calibri" pitchFamily="34" charset="0"/>
                <a:ea typeface="Calibri" pitchFamily="34" charset="-122"/>
                <a:cs typeface="Calibri" pitchFamily="34" charset="-120"/>
              </a:rPr>
              <a:t>L5 (Area Manager)</a:t>
            </a:r>
            <a:endParaRPr lang="en-US" sz="1000" dirty="0"/>
          </a:p>
        </p:txBody>
      </p:sp>
      <p:sp>
        <p:nvSpPr>
          <p:cNvPr id="24" name="Shape 22"/>
          <p:cNvSpPr/>
          <p:nvPr/>
        </p:nvSpPr>
        <p:spPr>
          <a:xfrm>
            <a:off x="640080" y="3383280"/>
            <a:ext cx="7863840" cy="822960"/>
          </a:xfrm>
          <a:prstGeom prst="rect">
            <a:avLst/>
          </a:prstGeom>
          <a:solidFill>
            <a:srgbClr val="FED7D7"/>
          </a:solidFill>
          <a:ln/>
        </p:spPr>
      </p:sp>
      <p:sp>
        <p:nvSpPr>
          <p:cNvPr id="25" name="Text 23"/>
          <p:cNvSpPr/>
          <p:nvPr/>
        </p:nvSpPr>
        <p:spPr>
          <a:xfrm>
            <a:off x="777240" y="3429000"/>
            <a:ext cx="7589520" cy="731520"/>
          </a:xfrm>
          <a:prstGeom prst="rect">
            <a:avLst/>
          </a:prstGeom>
          <a:noFill/>
          <a:ln/>
        </p:spPr>
        <p:txBody>
          <a:bodyPr wrap="square" lIns="0" tIns="0" rIns="0" bIns="0" rtlCol="0" anchor="t"/>
          <a:lstStyle/>
          <a:p>
            <a:pPr indent="0" marL="0">
              <a:buNone/>
            </a:pPr>
            <a:r>
              <a:rPr lang="en-US" sz="1000" b="1" dirty="0">
                <a:solidFill>
                  <a:srgbClr val="E53E3E"/>
                </a:solidFill>
                <a:latin typeface="Calibri" pitchFamily="34" charset="0"/>
                <a:ea typeface="Calibri" pitchFamily="34" charset="-122"/>
                <a:cs typeface="Calibri" pitchFamily="34" charset="-120"/>
              </a:rPr>
              <a:t>Attrition Cost: </a:t>
            </a:r>
            <a:pPr indent="0" marL="0">
              <a:buNone/>
            </a:pPr>
            <a:r>
              <a:rPr lang="en-US" sz="1000" dirty="0">
                <a:solidFill>
                  <a:srgbClr val="2D3748"/>
                </a:solidFill>
                <a:latin typeface="Calibri" pitchFamily="34" charset="0"/>
                <a:ea typeface="Calibri" pitchFamily="34" charset="-122"/>
                <a:cs typeface="Calibri" pitchFamily="34" charset="-120"/>
              </a:rPr>
              <a:t>Charged to hiring manager — 100% if exit within 3mo, 50% for 3-6mo. Loss-making verticals: zero bonus.
</a:t>
            </a:r>
            <a:endParaRPr lang="en-US" sz="1000" dirty="0"/>
          </a:p>
          <a:p>
            <a:pPr indent="0" marL="0">
              <a:buNone/>
            </a:pPr>
            <a:r>
              <a:rPr lang="en-US" sz="1000" i="1" dirty="0">
                <a:solidFill>
                  <a:srgbClr val="E53E3E"/>
                </a:solidFill>
                <a:latin typeface="Calibri" pitchFamily="34" charset="0"/>
                <a:ea typeface="Calibri" pitchFamily="34" charset="-122"/>
                <a:cs typeface="Calibri" pitchFamily="34" charset="-120"/>
              </a:rPr>
              <a:t>This creates real accountability for retention and profitability.</a:t>
            </a:r>
            <a:endParaRPr lang="en-US" sz="1000" dirty="0"/>
          </a:p>
        </p:txBody>
      </p:sp>
      <p:sp>
        <p:nvSpPr>
          <p:cNvPr id="26" name="Shape 24"/>
          <p:cNvSpPr/>
          <p:nvPr/>
        </p:nvSpPr>
        <p:spPr>
          <a:xfrm>
            <a:off x="640080" y="4343400"/>
            <a:ext cx="7863840" cy="548640"/>
          </a:xfrm>
          <a:prstGeom prst="rect">
            <a:avLst/>
          </a:prstGeom>
          <a:solidFill>
            <a:srgbClr val="EBF4FF"/>
          </a:solidFill>
          <a:ln/>
        </p:spPr>
      </p:sp>
      <p:sp>
        <p:nvSpPr>
          <p:cNvPr id="27" name="Text 25"/>
          <p:cNvSpPr/>
          <p:nvPr/>
        </p:nvSpPr>
        <p:spPr>
          <a:xfrm>
            <a:off x="777240" y="4389120"/>
            <a:ext cx="7589520" cy="457200"/>
          </a:xfrm>
          <a:prstGeom prst="rect">
            <a:avLst/>
          </a:prstGeom>
          <a:noFill/>
          <a:ln/>
        </p:spPr>
        <p:txBody>
          <a:bodyPr wrap="square" lIns="0" tIns="0" rIns="0" bIns="0" rtlCol="0" anchor="ctr"/>
          <a:lstStyle/>
          <a:p>
            <a:pPr indent="0" marL="0">
              <a:buNone/>
            </a:pPr>
            <a:r>
              <a:rPr lang="en-US" sz="1100" b="1" dirty="0">
                <a:solidFill>
                  <a:srgbClr val="1A365D"/>
                </a:solidFill>
                <a:latin typeface="Calibri" pitchFamily="34" charset="0"/>
                <a:ea typeface="Calibri" pitchFamily="34" charset="-122"/>
                <a:cs typeface="Calibri" pitchFamily="34" charset="-120"/>
              </a:rPr>
              <a:t>Bonus = Vertical Profit % × Manager's tier bracket. Simple, transparent, directly tied to business health.</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Employee Stock Ownership Plan</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5% equity pool, pre-IPO valuation, 4-year vesting with 1-year cliff</a:t>
            </a:r>
            <a:endParaRPr lang="en-US" sz="1200" dirty="0"/>
          </a:p>
        </p:txBody>
      </p:sp>
      <p:sp>
        <p:nvSpPr>
          <p:cNvPr id="6" name="Shape 4"/>
          <p:cNvSpPr/>
          <p:nvPr/>
        </p:nvSpPr>
        <p:spPr>
          <a:xfrm>
            <a:off x="640080" y="1188720"/>
            <a:ext cx="7863840" cy="548640"/>
          </a:xfrm>
          <a:prstGeom prst="rect">
            <a:avLst/>
          </a:prstGeom>
          <a:solidFill>
            <a:srgbClr val="EBF8FF"/>
          </a:solidFill>
          <a:ln/>
        </p:spPr>
      </p:sp>
      <p:sp>
        <p:nvSpPr>
          <p:cNvPr id="7" name="Text 5"/>
          <p:cNvSpPr/>
          <p:nvPr/>
        </p:nvSpPr>
        <p:spPr>
          <a:xfrm>
            <a:off x="777240" y="1188720"/>
            <a:ext cx="7589520" cy="457200"/>
          </a:xfrm>
          <a:prstGeom prst="rect">
            <a:avLst/>
          </a:prstGeom>
          <a:noFill/>
          <a:ln/>
        </p:spPr>
        <p:txBody>
          <a:bodyPr wrap="square" lIns="0" tIns="0" rIns="0" bIns="0" rtlCol="0" anchor="ctr"/>
          <a:lstStyle/>
          <a:p>
            <a:pPr indent="0" marL="0">
              <a:buNone/>
            </a:pPr>
            <a:r>
              <a:rPr lang="en-US" sz="1200" b="1" dirty="0">
                <a:solidFill>
                  <a:srgbClr val="1A365D"/>
                </a:solidFill>
                <a:latin typeface="Calibri" pitchFamily="34" charset="0"/>
                <a:ea typeface="Calibri" pitchFamily="34" charset="-122"/>
                <a:cs typeface="Calibri" pitchFamily="34" charset="-120"/>
              </a:rPr>
              <a:t>5% Equity Pool @ ₹50 crore pre-IPO valuation = ₹500 per unit | Vesting: 4 years with 1-year cliff</a:t>
            </a:r>
            <a:endParaRPr lang="en-US" sz="1200" dirty="0"/>
          </a:p>
        </p:txBody>
      </p:sp>
      <p:sp>
        <p:nvSpPr>
          <p:cNvPr id="8" name="Text 6"/>
          <p:cNvSpPr/>
          <p:nvPr/>
        </p:nvSpPr>
        <p:spPr>
          <a:xfrm>
            <a:off x="640080" y="1874520"/>
            <a:ext cx="7863840" cy="228600"/>
          </a:xfrm>
          <a:prstGeom prst="rect">
            <a:avLst/>
          </a:prstGeom>
          <a:noFill/>
          <a:ln/>
        </p:spPr>
        <p:txBody>
          <a:bodyPr wrap="square" lIns="0" tIns="0" rIns="0" bIns="0" rtlCol="0" anchor="ctr"/>
          <a:lstStyle/>
          <a:p>
            <a:pPr indent="0" marL="0">
              <a:buNone/>
            </a:pPr>
            <a:r>
              <a:rPr lang="en-US" sz="1200" b="1" dirty="0">
                <a:solidFill>
                  <a:srgbClr val="1A365D"/>
                </a:solidFill>
                <a:latin typeface="Georgia" pitchFamily="34" charset="0"/>
                <a:ea typeface="Georgia" pitchFamily="34" charset="-122"/>
                <a:cs typeface="Georgia" pitchFamily="34" charset="-120"/>
              </a:rPr>
              <a:t>ESOP Granting Schedule (Annual)</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7863840" cy="914400"/>
        </p:xfrm>
        <a:graphic>
          <a:graphicData uri="http://schemas.openxmlformats.org/drawingml/2006/table">
            <a:tbl>
              <a:tblPr/>
              <a:tblGrid>
                <a:gridCol w="2926080"/>
                <a:gridCol w="2560320"/>
                <a:gridCol w="237744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Level</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Annual Grant</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4-Year Value</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256032">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L2 (CDO/President)</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5,000 units/yr</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₹25 lakh (4yr vesting)</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L3 (VP/Regional)</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3,500 units/yr</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₹17.5 lakh</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L4 (Head/Branch)</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2,000 units/yr</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₹10 lakh</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L5 (Manager)</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1,200 units/yr</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₹6 lakh</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L6/L7 (3+ yrs tenure)</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250 units/yr</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50" dirty="0">
                          <a:solidFill>
                            <a:srgbClr val="2D3748"/>
                          </a:solidFill>
                          <a:latin typeface="Calibri" pitchFamily="34" charset="0"/>
                          <a:ea typeface="Calibri" pitchFamily="34" charset="-122"/>
                          <a:cs typeface="Calibri" pitchFamily="34" charset="-120"/>
                        </a:rPr>
                        <a:t>₹1.25 lakh</a:t>
                      </a:r>
                      <a:endParaRPr lang="en-US" sz="10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10" name="Shape 7"/>
          <p:cNvSpPr/>
          <p:nvPr/>
        </p:nvSpPr>
        <p:spPr>
          <a:xfrm>
            <a:off x="640080" y="3977640"/>
            <a:ext cx="7863840" cy="868680"/>
          </a:xfrm>
          <a:prstGeom prst="rect">
            <a:avLst/>
          </a:prstGeom>
          <a:solidFill>
            <a:srgbClr val="F0FFF4"/>
          </a:solidFill>
          <a:ln/>
        </p:spPr>
      </p:sp>
      <p:sp>
        <p:nvSpPr>
          <p:cNvPr id="11" name="Text 8"/>
          <p:cNvSpPr/>
          <p:nvPr/>
        </p:nvSpPr>
        <p:spPr>
          <a:xfrm>
            <a:off x="777240" y="4023360"/>
            <a:ext cx="7589520" cy="777240"/>
          </a:xfrm>
          <a:prstGeom prst="rect">
            <a:avLst/>
          </a:prstGeom>
          <a:noFill/>
          <a:ln/>
        </p:spPr>
        <p:txBody>
          <a:bodyPr wrap="square" lIns="0" tIns="0" rIns="0" bIns="0" rtlCol="0" anchor="t"/>
          <a:lstStyle/>
          <a:p>
            <a:pPr indent="0" marL="0">
              <a:buNone/>
            </a:pPr>
            <a:r>
              <a:rPr lang="en-US" sz="1050" b="1" dirty="0">
                <a:solidFill>
                  <a:srgbClr val="38A169"/>
                </a:solidFill>
                <a:latin typeface="Calibri" pitchFamily="34" charset="0"/>
                <a:ea typeface="Calibri" pitchFamily="34" charset="-122"/>
                <a:cs typeface="Calibri" pitchFamily="34" charset="-120"/>
              </a:rPr>
              <a:t>PRE-IPO: </a:t>
            </a:r>
            <a:pPr indent="0" marL="0">
              <a:buNone/>
            </a:pPr>
            <a:r>
              <a:rPr lang="en-US" sz="1050" dirty="0">
                <a:solidFill>
                  <a:srgbClr val="2D3748"/>
                </a:solidFill>
                <a:latin typeface="Calibri" pitchFamily="34" charset="0"/>
                <a:ea typeface="Calibri" pitchFamily="34" charset="-122"/>
                <a:cs typeface="Calibri" pitchFamily="34" charset="-120"/>
              </a:rPr>
              <a:t>Phantom stock — cash-settled at Board-approved valuation.
</a:t>
            </a:r>
            <a:endParaRPr lang="en-US" sz="1050" dirty="0"/>
          </a:p>
          <a:p>
            <a:pPr indent="0" marL="0">
              <a:buNone/>
            </a:pPr>
            <a:r>
              <a:rPr lang="en-US" sz="1050" b="1" dirty="0">
                <a:solidFill>
                  <a:srgbClr val="38A169"/>
                </a:solidFill>
                <a:latin typeface="Calibri" pitchFamily="34" charset="0"/>
                <a:ea typeface="Calibri" pitchFamily="34" charset="-122"/>
                <a:cs typeface="Calibri" pitchFamily="34" charset="-120"/>
              </a:rPr>
              <a:t>POST-IPO: </a:t>
            </a:r>
            <a:pPr indent="0" marL="0">
              <a:buNone/>
            </a:pPr>
            <a:r>
              <a:rPr lang="en-US" sz="1050" dirty="0">
                <a:solidFill>
                  <a:srgbClr val="2D3748"/>
                </a:solidFill>
                <a:latin typeface="Calibri" pitchFamily="34" charset="0"/>
                <a:ea typeface="Calibri" pitchFamily="34" charset="-122"/>
                <a:cs typeface="Calibri" pitchFamily="34" charset="-120"/>
              </a:rPr>
              <a:t>Convert to actual ESOPs.
</a:t>
            </a:r>
            <a:endParaRPr lang="en-US" sz="1050" dirty="0"/>
          </a:p>
          <a:p>
            <a:pPr indent="0" marL="0">
              <a:buNone/>
            </a:pPr>
            <a:r>
              <a:rPr lang="en-US" sz="1050" b="1" dirty="0">
                <a:solidFill>
                  <a:srgbClr val="38A169"/>
                </a:solidFill>
                <a:latin typeface="Calibri" pitchFamily="34" charset="0"/>
                <a:ea typeface="Calibri" pitchFamily="34" charset="-122"/>
                <a:cs typeface="Calibri" pitchFamily="34" charset="-120"/>
              </a:rPr>
              <a:t>IPO TRIGGER: </a:t>
            </a:r>
            <a:pPr indent="0" marL="0">
              <a:buNone/>
            </a:pPr>
            <a:r>
              <a:rPr lang="en-US" sz="1050" dirty="0">
                <a:solidFill>
                  <a:srgbClr val="2D3748"/>
                </a:solidFill>
                <a:latin typeface="Calibri" pitchFamily="34" charset="0"/>
                <a:ea typeface="Calibri" pitchFamily="34" charset="-122"/>
                <a:cs typeface="Calibri" pitchFamily="34" charset="-120"/>
              </a:rPr>
              <a:t>100% accelerated vesting — everyone benefits on listing day.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69E2E"/>
          </a:solidFill>
          <a:ln/>
        </p:spPr>
      </p:sp>
      <p:sp>
        <p:nvSpPr>
          <p:cNvPr id="3" name="Text 1"/>
          <p:cNvSpPr/>
          <p:nvPr/>
        </p:nvSpPr>
        <p:spPr>
          <a:xfrm>
            <a:off x="640080" y="3657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Balanced Scorecard: 4 Dimensions</a:t>
            </a:r>
            <a:endParaRPr lang="en-US" sz="3200" dirty="0"/>
          </a:p>
        </p:txBody>
      </p:sp>
      <p:sp>
        <p:nvSpPr>
          <p:cNvPr id="4" name="Text 2"/>
          <p:cNvSpPr/>
          <p:nvPr/>
        </p:nvSpPr>
        <p:spPr>
          <a:xfrm>
            <a:off x="640080" y="1005840"/>
            <a:ext cx="7863840" cy="365760"/>
          </a:xfrm>
          <a:prstGeom prst="rect">
            <a:avLst/>
          </a:prstGeom>
          <a:noFill/>
          <a:ln/>
        </p:spPr>
        <p:txBody>
          <a:bodyPr wrap="square" lIns="0" tIns="0" rIns="0" bIns="0" rtlCol="0" anchor="ctr"/>
          <a:lstStyle/>
          <a:p>
            <a:pPr indent="0" marL="0">
              <a:buNone/>
            </a:pPr>
            <a:r>
              <a:rPr lang="en-US" sz="1400" dirty="0">
                <a:solidFill>
                  <a:srgbClr val="A0AEC0"/>
                </a:solidFill>
                <a:latin typeface="Calibri" pitchFamily="34" charset="0"/>
                <a:ea typeface="Calibri" pitchFamily="34" charset="-122"/>
                <a:cs typeface="Calibri" pitchFamily="34" charset="-120"/>
              </a:rPr>
              <a:t>Holistic performance assessment — not just revenue</a:t>
            </a:r>
            <a:endParaRPr lang="en-US" sz="1400" dirty="0"/>
          </a:p>
        </p:txBody>
      </p:sp>
      <p:sp>
        <p:nvSpPr>
          <p:cNvPr id="5" name="Shape 3"/>
          <p:cNvSpPr/>
          <p:nvPr/>
        </p:nvSpPr>
        <p:spPr>
          <a:xfrm>
            <a:off x="457200" y="1188720"/>
            <a:ext cx="2011680" cy="306324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188720"/>
            <a:ext cx="2011680" cy="54864"/>
          </a:xfrm>
          <a:prstGeom prst="rect">
            <a:avLst/>
          </a:prstGeom>
          <a:solidFill>
            <a:srgbClr val="D69E2E"/>
          </a:solidFill>
          <a:ln/>
        </p:spPr>
      </p:sp>
      <p:sp>
        <p:nvSpPr>
          <p:cNvPr id="7" name="Text 5"/>
          <p:cNvSpPr/>
          <p:nvPr/>
        </p:nvSpPr>
        <p:spPr>
          <a:xfrm>
            <a:off x="457200" y="1325880"/>
            <a:ext cx="2011680" cy="411480"/>
          </a:xfrm>
          <a:prstGeom prst="rect">
            <a:avLst/>
          </a:prstGeom>
          <a:noFill/>
          <a:ln/>
        </p:spPr>
        <p:txBody>
          <a:bodyPr wrap="square" lIns="0" tIns="0" rIns="0" bIns="0" rtlCol="0" anchor="ctr"/>
          <a:lstStyle/>
          <a:p>
            <a:pPr algn="ctr" indent="0" marL="0">
              <a:buNone/>
            </a:pPr>
            <a:r>
              <a:rPr lang="en-US" sz="1800" b="1" dirty="0">
                <a:solidFill>
                  <a:srgbClr val="D69E2E"/>
                </a:solidFill>
                <a:latin typeface="Georgia" pitchFamily="34" charset="0"/>
                <a:ea typeface="Georgia" pitchFamily="34" charset="-122"/>
                <a:cs typeface="Georgia" pitchFamily="34" charset="-120"/>
              </a:rPr>
              <a:t>40%</a:t>
            </a:r>
            <a:endParaRPr lang="en-US" sz="1800" dirty="0"/>
          </a:p>
        </p:txBody>
      </p:sp>
      <p:sp>
        <p:nvSpPr>
          <p:cNvPr id="8" name="Text 6"/>
          <p:cNvSpPr/>
          <p:nvPr/>
        </p:nvSpPr>
        <p:spPr>
          <a:xfrm>
            <a:off x="457200" y="1783080"/>
            <a:ext cx="2011680" cy="365760"/>
          </a:xfrm>
          <a:prstGeom prst="rect">
            <a:avLst/>
          </a:prstGeom>
          <a:noFill/>
          <a:ln/>
        </p:spPr>
        <p:txBody>
          <a:bodyPr wrap="square" lIns="0" tIns="0" rIns="0" bIns="0" rtlCol="0" anchor="ctr"/>
          <a:lstStyle/>
          <a:p>
            <a:pPr algn="ctr" indent="0" marL="0">
              <a:buNone/>
            </a:pPr>
            <a:r>
              <a:rPr lang="en-US" sz="1400" b="1" dirty="0">
                <a:solidFill>
                  <a:srgbClr val="D69E2E"/>
                </a:solidFill>
                <a:latin typeface="Georgia" pitchFamily="34" charset="0"/>
                <a:ea typeface="Georgia" pitchFamily="34" charset="-122"/>
                <a:cs typeface="Georgia" pitchFamily="34" charset="-120"/>
              </a:rPr>
              <a:t>Financial</a:t>
            </a:r>
            <a:endParaRPr lang="en-US" sz="1400" dirty="0"/>
          </a:p>
        </p:txBody>
      </p:sp>
      <p:sp>
        <p:nvSpPr>
          <p:cNvPr id="9" name="Text 7"/>
          <p:cNvSpPr/>
          <p:nvPr/>
        </p:nvSpPr>
        <p:spPr>
          <a:xfrm>
            <a:off x="548640" y="2240280"/>
            <a:ext cx="1828800" cy="1965960"/>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Revenue vs Target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Profit Contribution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Cost-to-Income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New Business Growth</a:t>
            </a:r>
            <a:endParaRPr lang="en-US" sz="850" dirty="0"/>
          </a:p>
        </p:txBody>
      </p:sp>
      <p:sp>
        <p:nvSpPr>
          <p:cNvPr id="10" name="Shape 8"/>
          <p:cNvSpPr/>
          <p:nvPr/>
        </p:nvSpPr>
        <p:spPr>
          <a:xfrm>
            <a:off x="2606040" y="1188720"/>
            <a:ext cx="2011680" cy="306324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1" name="Shape 9"/>
          <p:cNvSpPr/>
          <p:nvPr/>
        </p:nvSpPr>
        <p:spPr>
          <a:xfrm>
            <a:off x="2606040" y="1188720"/>
            <a:ext cx="2011680" cy="54864"/>
          </a:xfrm>
          <a:prstGeom prst="rect">
            <a:avLst/>
          </a:prstGeom>
          <a:solidFill>
            <a:srgbClr val="38A169"/>
          </a:solidFill>
          <a:ln/>
        </p:spPr>
      </p:sp>
      <p:sp>
        <p:nvSpPr>
          <p:cNvPr id="12" name="Text 10"/>
          <p:cNvSpPr/>
          <p:nvPr/>
        </p:nvSpPr>
        <p:spPr>
          <a:xfrm>
            <a:off x="2606040" y="1325880"/>
            <a:ext cx="2011680" cy="411480"/>
          </a:xfrm>
          <a:prstGeom prst="rect">
            <a:avLst/>
          </a:prstGeom>
          <a:noFill/>
          <a:ln/>
        </p:spPr>
        <p:txBody>
          <a:bodyPr wrap="square" lIns="0" tIns="0" rIns="0" bIns="0" rtlCol="0" anchor="ctr"/>
          <a:lstStyle/>
          <a:p>
            <a:pPr algn="ctr" indent="0" marL="0">
              <a:buNone/>
            </a:pPr>
            <a:r>
              <a:rPr lang="en-US" sz="1800" b="1" dirty="0">
                <a:solidFill>
                  <a:srgbClr val="38A169"/>
                </a:solidFill>
                <a:latin typeface="Georgia" pitchFamily="34" charset="0"/>
                <a:ea typeface="Georgia" pitchFamily="34" charset="-122"/>
                <a:cs typeface="Georgia" pitchFamily="34" charset="-120"/>
              </a:rPr>
              <a:t>25%</a:t>
            </a:r>
            <a:endParaRPr lang="en-US" sz="1800" dirty="0"/>
          </a:p>
        </p:txBody>
      </p:sp>
      <p:sp>
        <p:nvSpPr>
          <p:cNvPr id="13" name="Text 11"/>
          <p:cNvSpPr/>
          <p:nvPr/>
        </p:nvSpPr>
        <p:spPr>
          <a:xfrm>
            <a:off x="2606040" y="1783080"/>
            <a:ext cx="2011680" cy="365760"/>
          </a:xfrm>
          <a:prstGeom prst="rect">
            <a:avLst/>
          </a:prstGeom>
          <a:noFill/>
          <a:ln/>
        </p:spPr>
        <p:txBody>
          <a:bodyPr wrap="square" lIns="0" tIns="0" rIns="0" bIns="0" rtlCol="0" anchor="ctr"/>
          <a:lstStyle/>
          <a:p>
            <a:pPr algn="ctr" indent="0" marL="0">
              <a:buNone/>
            </a:pPr>
            <a:r>
              <a:rPr lang="en-US" sz="1400" b="1" dirty="0">
                <a:solidFill>
                  <a:srgbClr val="38A169"/>
                </a:solidFill>
                <a:latin typeface="Georgia" pitchFamily="34" charset="0"/>
                <a:ea typeface="Georgia" pitchFamily="34" charset="-122"/>
                <a:cs typeface="Georgia" pitchFamily="34" charset="-120"/>
              </a:rPr>
              <a:t>Customer</a:t>
            </a:r>
            <a:endParaRPr lang="en-US" sz="1400" dirty="0"/>
          </a:p>
        </p:txBody>
      </p:sp>
      <p:sp>
        <p:nvSpPr>
          <p:cNvPr id="14" name="Text 12"/>
          <p:cNvSpPr/>
          <p:nvPr/>
        </p:nvSpPr>
        <p:spPr>
          <a:xfrm>
            <a:off x="2697480" y="2240280"/>
            <a:ext cx="1828800" cy="1965960"/>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NPS Score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Client Retention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Complaint Resolution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Cross-Sell Ratio</a:t>
            </a:r>
            <a:endParaRPr lang="en-US" sz="850" dirty="0"/>
          </a:p>
        </p:txBody>
      </p:sp>
      <p:sp>
        <p:nvSpPr>
          <p:cNvPr id="15" name="Shape 13"/>
          <p:cNvSpPr/>
          <p:nvPr/>
        </p:nvSpPr>
        <p:spPr>
          <a:xfrm>
            <a:off x="4754880" y="1188720"/>
            <a:ext cx="2011680" cy="306324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6" name="Shape 14"/>
          <p:cNvSpPr/>
          <p:nvPr/>
        </p:nvSpPr>
        <p:spPr>
          <a:xfrm>
            <a:off x="4754880" y="1188720"/>
            <a:ext cx="2011680" cy="54864"/>
          </a:xfrm>
          <a:prstGeom prst="rect">
            <a:avLst/>
          </a:prstGeom>
          <a:solidFill>
            <a:srgbClr val="4299E1"/>
          </a:solidFill>
          <a:ln/>
        </p:spPr>
      </p:sp>
      <p:sp>
        <p:nvSpPr>
          <p:cNvPr id="17" name="Text 15"/>
          <p:cNvSpPr/>
          <p:nvPr/>
        </p:nvSpPr>
        <p:spPr>
          <a:xfrm>
            <a:off x="4754880" y="1325880"/>
            <a:ext cx="2011680" cy="411480"/>
          </a:xfrm>
          <a:prstGeom prst="rect">
            <a:avLst/>
          </a:prstGeom>
          <a:noFill/>
          <a:ln/>
        </p:spPr>
        <p:txBody>
          <a:bodyPr wrap="square" lIns="0" tIns="0" rIns="0" bIns="0" rtlCol="0" anchor="ctr"/>
          <a:lstStyle/>
          <a:p>
            <a:pPr algn="ctr" indent="0" marL="0">
              <a:buNone/>
            </a:pPr>
            <a:r>
              <a:rPr lang="en-US" sz="1800" b="1" dirty="0">
                <a:solidFill>
                  <a:srgbClr val="4299E1"/>
                </a:solidFill>
                <a:latin typeface="Georgia" pitchFamily="34" charset="0"/>
                <a:ea typeface="Georgia" pitchFamily="34" charset="-122"/>
                <a:cs typeface="Georgia" pitchFamily="34" charset="-120"/>
              </a:rPr>
              <a:t>20%</a:t>
            </a:r>
            <a:endParaRPr lang="en-US" sz="1800" dirty="0"/>
          </a:p>
        </p:txBody>
      </p:sp>
      <p:sp>
        <p:nvSpPr>
          <p:cNvPr id="18" name="Text 16"/>
          <p:cNvSpPr/>
          <p:nvPr/>
        </p:nvSpPr>
        <p:spPr>
          <a:xfrm>
            <a:off x="4754880" y="1783080"/>
            <a:ext cx="2011680" cy="365760"/>
          </a:xfrm>
          <a:prstGeom prst="rect">
            <a:avLst/>
          </a:prstGeom>
          <a:noFill/>
          <a:ln/>
        </p:spPr>
        <p:txBody>
          <a:bodyPr wrap="square" lIns="0" tIns="0" rIns="0" bIns="0" rtlCol="0" anchor="ctr"/>
          <a:lstStyle/>
          <a:p>
            <a:pPr algn="ctr" indent="0" marL="0">
              <a:buNone/>
            </a:pPr>
            <a:r>
              <a:rPr lang="en-US" sz="1400" b="1" dirty="0">
                <a:solidFill>
                  <a:srgbClr val="4299E1"/>
                </a:solidFill>
                <a:latin typeface="Georgia" pitchFamily="34" charset="0"/>
                <a:ea typeface="Georgia" pitchFamily="34" charset="-122"/>
                <a:cs typeface="Georgia" pitchFamily="34" charset="-120"/>
              </a:rPr>
              <a:t>Process</a:t>
            </a:r>
            <a:endParaRPr lang="en-US" sz="1400" dirty="0"/>
          </a:p>
        </p:txBody>
      </p:sp>
      <p:sp>
        <p:nvSpPr>
          <p:cNvPr id="19" name="Text 17"/>
          <p:cNvSpPr/>
          <p:nvPr/>
        </p:nvSpPr>
        <p:spPr>
          <a:xfrm>
            <a:off x="4846320" y="2240280"/>
            <a:ext cx="1828800" cy="1965960"/>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Policy TAT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Documentation Quality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KYC Compliance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Zero Mis-selling</a:t>
            </a:r>
            <a:endParaRPr lang="en-US" sz="850" dirty="0"/>
          </a:p>
        </p:txBody>
      </p:sp>
      <p:sp>
        <p:nvSpPr>
          <p:cNvPr id="20" name="Shape 18"/>
          <p:cNvSpPr/>
          <p:nvPr/>
        </p:nvSpPr>
        <p:spPr>
          <a:xfrm>
            <a:off x="6903720" y="1188720"/>
            <a:ext cx="2011680" cy="306324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21" name="Shape 19"/>
          <p:cNvSpPr/>
          <p:nvPr/>
        </p:nvSpPr>
        <p:spPr>
          <a:xfrm>
            <a:off x="6903720" y="1188720"/>
            <a:ext cx="2011680" cy="54864"/>
          </a:xfrm>
          <a:prstGeom prst="rect">
            <a:avLst/>
          </a:prstGeom>
          <a:solidFill>
            <a:srgbClr val="2B6CB0"/>
          </a:solidFill>
          <a:ln/>
        </p:spPr>
      </p:sp>
      <p:sp>
        <p:nvSpPr>
          <p:cNvPr id="22" name="Text 20"/>
          <p:cNvSpPr/>
          <p:nvPr/>
        </p:nvSpPr>
        <p:spPr>
          <a:xfrm>
            <a:off x="6903720" y="1325880"/>
            <a:ext cx="2011680" cy="411480"/>
          </a:xfrm>
          <a:prstGeom prst="rect">
            <a:avLst/>
          </a:prstGeom>
          <a:noFill/>
          <a:ln/>
        </p:spPr>
        <p:txBody>
          <a:bodyPr wrap="square" lIns="0" tIns="0" rIns="0" bIns="0" rtlCol="0" anchor="ctr"/>
          <a:lstStyle/>
          <a:p>
            <a:pPr algn="ctr" indent="0" marL="0">
              <a:buNone/>
            </a:pPr>
            <a:r>
              <a:rPr lang="en-US" sz="1800" b="1" dirty="0">
                <a:solidFill>
                  <a:srgbClr val="2B6CB0"/>
                </a:solidFill>
                <a:latin typeface="Georgia" pitchFamily="34" charset="0"/>
                <a:ea typeface="Georgia" pitchFamily="34" charset="-122"/>
                <a:cs typeface="Georgia" pitchFamily="34" charset="-120"/>
              </a:rPr>
              <a:t>15%</a:t>
            </a:r>
            <a:endParaRPr lang="en-US" sz="1800" dirty="0"/>
          </a:p>
        </p:txBody>
      </p:sp>
      <p:sp>
        <p:nvSpPr>
          <p:cNvPr id="23" name="Text 21"/>
          <p:cNvSpPr/>
          <p:nvPr/>
        </p:nvSpPr>
        <p:spPr>
          <a:xfrm>
            <a:off x="6903720" y="1783080"/>
            <a:ext cx="2011680" cy="365760"/>
          </a:xfrm>
          <a:prstGeom prst="rect">
            <a:avLst/>
          </a:prstGeom>
          <a:noFill/>
          <a:ln/>
        </p:spPr>
        <p:txBody>
          <a:bodyPr wrap="square" lIns="0" tIns="0" rIns="0" bIns="0" rtlCol="0" anchor="ctr"/>
          <a:lstStyle/>
          <a:p>
            <a:pPr algn="ctr" indent="0" marL="0">
              <a:buNone/>
            </a:pPr>
            <a:r>
              <a:rPr lang="en-US" sz="1400" b="1" dirty="0">
                <a:solidFill>
                  <a:srgbClr val="2B6CB0"/>
                </a:solidFill>
                <a:latin typeface="Georgia" pitchFamily="34" charset="0"/>
                <a:ea typeface="Georgia" pitchFamily="34" charset="-122"/>
                <a:cs typeface="Georgia" pitchFamily="34" charset="-120"/>
              </a:rPr>
              <a:t>Learning</a:t>
            </a:r>
            <a:endParaRPr lang="en-US" sz="1400" dirty="0"/>
          </a:p>
        </p:txBody>
      </p:sp>
      <p:sp>
        <p:nvSpPr>
          <p:cNvPr id="24" name="Text 22"/>
          <p:cNvSpPr/>
          <p:nvPr/>
        </p:nvSpPr>
        <p:spPr>
          <a:xfrm>
            <a:off x="6995160" y="2240280"/>
            <a:ext cx="1828800" cy="1965960"/>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Certifications Earned</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Training Hours</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Team Retention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Digital Adoption</a:t>
            </a:r>
            <a:endParaRPr lang="en-US" sz="850" dirty="0"/>
          </a:p>
        </p:txBody>
      </p:sp>
      <p:sp>
        <p:nvSpPr>
          <p:cNvPr id="25" name="Shape 23"/>
          <p:cNvSpPr/>
          <p:nvPr/>
        </p:nvSpPr>
        <p:spPr>
          <a:xfrm>
            <a:off x="457200" y="4389120"/>
            <a:ext cx="8229600" cy="320040"/>
          </a:xfrm>
          <a:prstGeom prst="rect">
            <a:avLst/>
          </a:prstGeom>
          <a:solidFill>
            <a:srgbClr val="D69E2E"/>
          </a:solidFill>
          <a:ln/>
        </p:spPr>
      </p:sp>
      <p:sp>
        <p:nvSpPr>
          <p:cNvPr id="26" name="Text 24"/>
          <p:cNvSpPr/>
          <p:nvPr/>
        </p:nvSpPr>
        <p:spPr>
          <a:xfrm>
            <a:off x="594360" y="4389120"/>
            <a:ext cx="7955280" cy="320040"/>
          </a:xfrm>
          <a:prstGeom prst="rect">
            <a:avLst/>
          </a:prstGeom>
          <a:noFill/>
          <a:ln/>
        </p:spPr>
        <p:txBody>
          <a:bodyPr wrap="square" lIns="0" tIns="0" rIns="0" bIns="0" rtlCol="0" anchor="ctr"/>
          <a:lstStyle/>
          <a:p>
            <a:pPr algn="ctr" indent="0" marL="0">
              <a:buNone/>
            </a:pPr>
            <a:r>
              <a:rPr lang="en-US" sz="1000" b="1" dirty="0">
                <a:solidFill>
                  <a:srgbClr val="1A365D"/>
                </a:solidFill>
                <a:latin typeface="Calibri" pitchFamily="34" charset="0"/>
                <a:ea typeface="Calibri" pitchFamily="34" charset="-122"/>
                <a:cs typeface="Calibri" pitchFamily="34" charset="-120"/>
              </a:rPr>
              <a:t>Compliance Multiplier: 0.8× for any violation  |  1.1× for clean record — incentivizes governance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Deferred Bonus Structure</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L2-L4: 60% Now, 40% Deferred over 2 years with clawback rules</a:t>
            </a:r>
            <a:endParaRPr lang="en-US" sz="1200" dirty="0"/>
          </a:p>
        </p:txBody>
      </p:sp>
      <p:sp>
        <p:nvSpPr>
          <p:cNvPr id="6" name="Shape 4"/>
          <p:cNvSpPr/>
          <p:nvPr/>
        </p:nvSpPr>
        <p:spPr>
          <a:xfrm>
            <a:off x="640080" y="1188720"/>
            <a:ext cx="7863840" cy="594360"/>
          </a:xfrm>
          <a:prstGeom prst="rect">
            <a:avLst/>
          </a:prstGeom>
          <a:solidFill>
            <a:srgbClr val="EBF8FF"/>
          </a:solidFill>
          <a:ln/>
        </p:spPr>
      </p:sp>
      <p:sp>
        <p:nvSpPr>
          <p:cNvPr id="7" name="Text 5"/>
          <p:cNvSpPr/>
          <p:nvPr/>
        </p:nvSpPr>
        <p:spPr>
          <a:xfrm>
            <a:off x="777240" y="1234440"/>
            <a:ext cx="7589520" cy="502920"/>
          </a:xfrm>
          <a:prstGeom prst="rect">
            <a:avLst/>
          </a:prstGeom>
          <a:noFill/>
          <a:ln/>
        </p:spPr>
        <p:txBody>
          <a:bodyPr wrap="square" lIns="0" tIns="0" rIns="0" bIns="0" rtlCol="0" anchor="ctr"/>
          <a:lstStyle/>
          <a:p>
            <a:pPr indent="0" marL="0">
              <a:buNone/>
            </a:pPr>
            <a:r>
              <a:rPr lang="en-US" sz="1200" b="1" dirty="0">
                <a:solidFill>
                  <a:srgbClr val="1A365D"/>
                </a:solidFill>
                <a:latin typeface="Calibri" pitchFamily="34" charset="0"/>
                <a:ea typeface="Calibri" pitchFamily="34" charset="-122"/>
                <a:cs typeface="Calibri" pitchFamily="34" charset="-120"/>
              </a:rPr>
              <a:t>Bonus &lt; ₹50K: 100% immediate | Bonus ≥ ₹50K: 60% immediate + 40% deferred (20% Year 1, 20% Year 2)</a:t>
            </a:r>
            <a:endParaRPr lang="en-US" sz="1200" dirty="0"/>
          </a:p>
        </p:txBody>
      </p:sp>
      <p:sp>
        <p:nvSpPr>
          <p:cNvPr id="8" name="Text 6"/>
          <p:cNvSpPr/>
          <p:nvPr/>
        </p:nvSpPr>
        <p:spPr>
          <a:xfrm>
            <a:off x="640080" y="1965960"/>
            <a:ext cx="7863840" cy="228600"/>
          </a:xfrm>
          <a:prstGeom prst="rect">
            <a:avLst/>
          </a:prstGeom>
          <a:noFill/>
          <a:ln/>
        </p:spPr>
        <p:txBody>
          <a:bodyPr wrap="square" lIns="0" tIns="0" rIns="0" bIns="0" rtlCol="0" anchor="ctr"/>
          <a:lstStyle/>
          <a:p>
            <a:pPr indent="0" marL="0">
              <a:buNone/>
            </a:pPr>
            <a:r>
              <a:rPr lang="en-US" sz="1200" b="1" dirty="0">
                <a:solidFill>
                  <a:srgbClr val="1A365D"/>
                </a:solidFill>
                <a:latin typeface="Georgia" pitchFamily="34" charset="0"/>
                <a:ea typeface="Georgia" pitchFamily="34" charset="-122"/>
                <a:cs typeface="Georgia" pitchFamily="34" charset="-120"/>
              </a:rPr>
              <a:t>Clawback Triggers (Deferred &amp; Unvested Amounts)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7863840" cy="914400"/>
        </p:xfrm>
        <a:graphic>
          <a:graphicData uri="http://schemas.openxmlformats.org/drawingml/2006/table">
            <a:tbl>
              <a:tblPr/>
              <a:tblGrid>
                <a:gridCol w="2560320"/>
                <a:gridCol w="1828800"/>
                <a:gridCol w="256032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Trigger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Example</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Vertical underperformance</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50% forfeit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Vertical misses target 2 quarters</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Compliance/Mis-selling</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100% forfeit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Customer complaint upheld</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Resignation</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100% forfeit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All unvested deferred</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Team attrition &gt;30%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25% forfeit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High turnover under manager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Fraud/Policy breach</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100% + clawback</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Including already-paid amounts</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10" name="Shape 7"/>
          <p:cNvSpPr/>
          <p:nvPr/>
        </p:nvSpPr>
        <p:spPr>
          <a:xfrm>
            <a:off x="640080" y="4114800"/>
            <a:ext cx="7863840" cy="868680"/>
          </a:xfrm>
          <a:prstGeom prst="rect">
            <a:avLst/>
          </a:prstGeom>
          <a:solidFill>
            <a:srgbClr val="FED7D7"/>
          </a:solidFill>
          <a:ln/>
        </p:spPr>
      </p:sp>
      <p:sp>
        <p:nvSpPr>
          <p:cNvPr id="11" name="Text 8"/>
          <p:cNvSpPr/>
          <p:nvPr/>
        </p:nvSpPr>
        <p:spPr>
          <a:xfrm>
            <a:off x="777240" y="4160520"/>
            <a:ext cx="7589520" cy="777240"/>
          </a:xfrm>
          <a:prstGeom prst="rect">
            <a:avLst/>
          </a:prstGeom>
          <a:noFill/>
          <a:ln/>
        </p:spPr>
        <p:txBody>
          <a:bodyPr wrap="square" lIns="0" tIns="0" rIns="0" bIns="0" rtlCol="0" anchor="t"/>
          <a:lstStyle/>
          <a:p>
            <a:pPr indent="0" marL="0">
              <a:buNone/>
            </a:pPr>
            <a:r>
              <a:rPr lang="en-US" sz="1000" b="1" dirty="0">
                <a:solidFill>
                  <a:srgbClr val="E53E3E"/>
                </a:solidFill>
                <a:latin typeface="Calibri" pitchFamily="34" charset="0"/>
                <a:ea typeface="Calibri" pitchFamily="34" charset="-122"/>
                <a:cs typeface="Calibri" pitchFamily="34" charset="-120"/>
              </a:rPr>
              <a:t>Governance Alignment: </a:t>
            </a:r>
            <a:pPr indent="0" marL="0">
              <a:buNone/>
            </a:pPr>
            <a:r>
              <a:rPr lang="en-US" sz="1000" dirty="0">
                <a:solidFill>
                  <a:srgbClr val="2D3748"/>
                </a:solidFill>
                <a:latin typeface="Calibri" pitchFamily="34" charset="0"/>
                <a:ea typeface="Calibri" pitchFamily="34" charset="-122"/>
                <a:cs typeface="Calibri" pitchFamily="34" charset="-120"/>
              </a:rPr>
              <a:t>This deferred + clawback structure matches listed company standards (per SEBI MF guidance &amp; IRDAI governance).
</a:t>
            </a:r>
            <a:endParaRPr lang="en-US" sz="1000" dirty="0"/>
          </a:p>
          <a:p>
            <a:pPr indent="0" marL="0">
              <a:buNone/>
            </a:pPr>
            <a:r>
              <a:rPr lang="en-US" sz="1000" i="1" dirty="0">
                <a:solidFill>
                  <a:srgbClr val="E53E3E"/>
                </a:solidFill>
                <a:latin typeface="Calibri" pitchFamily="34" charset="0"/>
                <a:ea typeface="Calibri" pitchFamily="34" charset="-122"/>
                <a:cs typeface="Calibri" pitchFamily="34" charset="-120"/>
              </a:rPr>
              <a:t>Objective: Ensure long-term focus and ethical compliance, especially for management roles.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69E2E"/>
          </a:solidFill>
          <a:ln/>
        </p:spPr>
      </p:sp>
      <p:sp>
        <p:nvSpPr>
          <p:cNvPr id="3" name="Text 1"/>
          <p:cNvSpPr/>
          <p:nvPr/>
        </p:nvSpPr>
        <p:spPr>
          <a:xfrm>
            <a:off x="640080" y="3657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Customer Lifetime Value (CLV) Bonus</a:t>
            </a:r>
            <a:endParaRPr lang="en-US" sz="3200" dirty="0"/>
          </a:p>
        </p:txBody>
      </p:sp>
      <p:sp>
        <p:nvSpPr>
          <p:cNvPr id="4" name="Text 2"/>
          <p:cNvSpPr/>
          <p:nvPr/>
        </p:nvSpPr>
        <p:spPr>
          <a:xfrm>
            <a:off x="640080" y="1005840"/>
            <a:ext cx="7863840" cy="365760"/>
          </a:xfrm>
          <a:prstGeom prst="rect">
            <a:avLst/>
          </a:prstGeom>
          <a:noFill/>
          <a:ln/>
        </p:spPr>
        <p:txBody>
          <a:bodyPr wrap="square" lIns="0" tIns="0" rIns="0" bIns="0" rtlCol="0" anchor="ctr"/>
          <a:lstStyle/>
          <a:p>
            <a:pPr indent="0" marL="0">
              <a:buNone/>
            </a:pPr>
            <a:r>
              <a:rPr lang="en-US" sz="1400" dirty="0">
                <a:solidFill>
                  <a:srgbClr val="A0AEC0"/>
                </a:solidFill>
                <a:latin typeface="Calibri" pitchFamily="34" charset="0"/>
                <a:ea typeface="Calibri" pitchFamily="34" charset="-122"/>
                <a:cs typeface="Calibri" pitchFamily="34" charset="-120"/>
              </a:rPr>
              <a:t>Relationship depth rewarded — cumulative premium + AUM + SIP</a:t>
            </a:r>
            <a:endParaRPr lang="en-US" sz="1400" dirty="0"/>
          </a:p>
        </p:txBody>
      </p:sp>
      <p:sp>
        <p:nvSpPr>
          <p:cNvPr id="5" name="Shape 3"/>
          <p:cNvSpPr/>
          <p:nvPr/>
        </p:nvSpPr>
        <p:spPr>
          <a:xfrm>
            <a:off x="640080" y="1143000"/>
            <a:ext cx="7863840" cy="548640"/>
          </a:xfrm>
          <a:prstGeom prst="rect">
            <a:avLst/>
          </a:prstGeom>
          <a:solidFill>
            <a:srgbClr val="D69E2E"/>
          </a:solidFill>
          <a:ln/>
        </p:spPr>
      </p:sp>
      <p:sp>
        <p:nvSpPr>
          <p:cNvPr id="6" name="Text 4"/>
          <p:cNvSpPr/>
          <p:nvPr/>
        </p:nvSpPr>
        <p:spPr>
          <a:xfrm>
            <a:off x="777240" y="1188720"/>
            <a:ext cx="7589520" cy="457200"/>
          </a:xfrm>
          <a:prstGeom prst="rect">
            <a:avLst/>
          </a:prstGeom>
          <a:noFill/>
          <a:ln/>
        </p:spPr>
        <p:txBody>
          <a:bodyPr wrap="square" lIns="0" tIns="0" rIns="0" bIns="0" rtlCol="0" anchor="ctr"/>
          <a:lstStyle/>
          <a:p>
            <a:pPr indent="0" marL="0">
              <a:buNone/>
            </a:pPr>
            <a:r>
              <a:rPr lang="en-US" sz="1100" b="1" dirty="0">
                <a:solidFill>
                  <a:srgbClr val="1A365D"/>
                </a:solidFill>
                <a:latin typeface="Calibri" pitchFamily="34" charset="0"/>
                <a:ea typeface="Calibri" pitchFamily="34" charset="-122"/>
                <a:cs typeface="Calibri" pitchFamily="34" charset="-120"/>
              </a:rPr>
              <a:t>CLV = Cumulative Premiums (Life+Health+GI) + Current MF AUM + Running SIPs − Lapsed/Stopped Products</a:t>
            </a:r>
            <a:endParaRPr lang="en-US" sz="1100" dirty="0"/>
          </a:p>
        </p:txBody>
      </p:sp>
      <p:sp>
        <p:nvSpPr>
          <p:cNvPr id="7" name="Shape 5"/>
          <p:cNvSpPr/>
          <p:nvPr/>
        </p:nvSpPr>
        <p:spPr>
          <a:xfrm>
            <a:off x="640080" y="1965960"/>
            <a:ext cx="7863840" cy="457200"/>
          </a:xfrm>
          <a:prstGeom prst="rect">
            <a:avLst/>
          </a:prstGeom>
          <a:solidFill>
            <a:srgbClr val="1E2D50"/>
          </a:solidFill>
          <a:ln/>
        </p:spPr>
      </p:sp>
      <p:sp>
        <p:nvSpPr>
          <p:cNvPr id="8" name="Text 6"/>
          <p:cNvSpPr/>
          <p:nvPr/>
        </p:nvSpPr>
        <p:spPr>
          <a:xfrm>
            <a:off x="777240" y="1965960"/>
            <a:ext cx="1371600" cy="45720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Bronze</a:t>
            </a:r>
            <a:endParaRPr lang="en-US" sz="1200" dirty="0"/>
          </a:p>
        </p:txBody>
      </p:sp>
      <p:sp>
        <p:nvSpPr>
          <p:cNvPr id="9" name="Text 7"/>
          <p:cNvSpPr/>
          <p:nvPr/>
        </p:nvSpPr>
        <p:spPr>
          <a:xfrm>
            <a:off x="2240280" y="1965960"/>
            <a:ext cx="201168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₹1-5L</a:t>
            </a:r>
            <a:endParaRPr lang="en-US" sz="1100" dirty="0"/>
          </a:p>
        </p:txBody>
      </p:sp>
      <p:sp>
        <p:nvSpPr>
          <p:cNvPr id="10" name="Text 8"/>
          <p:cNvSpPr/>
          <p:nvPr/>
        </p:nvSpPr>
        <p:spPr>
          <a:xfrm>
            <a:off x="4389120" y="1965960"/>
            <a:ext cx="3931920" cy="457200"/>
          </a:xfrm>
          <a:prstGeom prst="rect">
            <a:avLst/>
          </a:prstGeom>
          <a:noFill/>
          <a:ln/>
        </p:spPr>
        <p:txBody>
          <a:bodyPr wrap="square" lIns="0" tIns="0" rIns="0" bIns="0"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₹5,000/yr</a:t>
            </a:r>
            <a:endParaRPr lang="en-US" sz="1100" dirty="0"/>
          </a:p>
        </p:txBody>
      </p:sp>
      <p:sp>
        <p:nvSpPr>
          <p:cNvPr id="11" name="Shape 9"/>
          <p:cNvSpPr/>
          <p:nvPr/>
        </p:nvSpPr>
        <p:spPr>
          <a:xfrm>
            <a:off x="640080" y="2496312"/>
            <a:ext cx="7863840" cy="457200"/>
          </a:xfrm>
          <a:prstGeom prst="rect">
            <a:avLst/>
          </a:prstGeom>
          <a:solidFill>
            <a:srgbClr val="1E2D50"/>
          </a:solidFill>
          <a:ln/>
        </p:spPr>
      </p:sp>
      <p:sp>
        <p:nvSpPr>
          <p:cNvPr id="12" name="Text 10"/>
          <p:cNvSpPr/>
          <p:nvPr/>
        </p:nvSpPr>
        <p:spPr>
          <a:xfrm>
            <a:off x="777240" y="2496312"/>
            <a:ext cx="1371600" cy="45720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Silver</a:t>
            </a:r>
            <a:endParaRPr lang="en-US" sz="1200" dirty="0"/>
          </a:p>
        </p:txBody>
      </p:sp>
      <p:sp>
        <p:nvSpPr>
          <p:cNvPr id="13" name="Text 11"/>
          <p:cNvSpPr/>
          <p:nvPr/>
        </p:nvSpPr>
        <p:spPr>
          <a:xfrm>
            <a:off x="2240280" y="2496312"/>
            <a:ext cx="201168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₹5-15L</a:t>
            </a:r>
            <a:endParaRPr lang="en-US" sz="1100" dirty="0"/>
          </a:p>
        </p:txBody>
      </p:sp>
      <p:sp>
        <p:nvSpPr>
          <p:cNvPr id="14" name="Text 12"/>
          <p:cNvSpPr/>
          <p:nvPr/>
        </p:nvSpPr>
        <p:spPr>
          <a:xfrm>
            <a:off x="4389120" y="2496312"/>
            <a:ext cx="3931920" cy="457200"/>
          </a:xfrm>
          <a:prstGeom prst="rect">
            <a:avLst/>
          </a:prstGeom>
          <a:noFill/>
          <a:ln/>
        </p:spPr>
        <p:txBody>
          <a:bodyPr wrap="square" lIns="0" tIns="0" rIns="0" bIns="0"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₹7,500/yr</a:t>
            </a:r>
            <a:endParaRPr lang="en-US" sz="1100" dirty="0"/>
          </a:p>
        </p:txBody>
      </p:sp>
      <p:sp>
        <p:nvSpPr>
          <p:cNvPr id="15" name="Shape 13"/>
          <p:cNvSpPr/>
          <p:nvPr/>
        </p:nvSpPr>
        <p:spPr>
          <a:xfrm>
            <a:off x="640080" y="3026664"/>
            <a:ext cx="7863840" cy="457200"/>
          </a:xfrm>
          <a:prstGeom prst="rect">
            <a:avLst/>
          </a:prstGeom>
          <a:solidFill>
            <a:srgbClr val="1E2D50"/>
          </a:solidFill>
          <a:ln/>
        </p:spPr>
      </p:sp>
      <p:sp>
        <p:nvSpPr>
          <p:cNvPr id="16" name="Text 14"/>
          <p:cNvSpPr/>
          <p:nvPr/>
        </p:nvSpPr>
        <p:spPr>
          <a:xfrm>
            <a:off x="777240" y="3026664"/>
            <a:ext cx="1371600" cy="45720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Gold</a:t>
            </a:r>
            <a:endParaRPr lang="en-US" sz="1200" dirty="0"/>
          </a:p>
        </p:txBody>
      </p:sp>
      <p:sp>
        <p:nvSpPr>
          <p:cNvPr id="17" name="Text 15"/>
          <p:cNvSpPr/>
          <p:nvPr/>
        </p:nvSpPr>
        <p:spPr>
          <a:xfrm>
            <a:off x="2240280" y="3026664"/>
            <a:ext cx="201168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₹15-30L</a:t>
            </a:r>
            <a:endParaRPr lang="en-US" sz="1100" dirty="0"/>
          </a:p>
        </p:txBody>
      </p:sp>
      <p:sp>
        <p:nvSpPr>
          <p:cNvPr id="18" name="Text 16"/>
          <p:cNvSpPr/>
          <p:nvPr/>
        </p:nvSpPr>
        <p:spPr>
          <a:xfrm>
            <a:off x="4389120" y="3026664"/>
            <a:ext cx="3931920" cy="457200"/>
          </a:xfrm>
          <a:prstGeom prst="rect">
            <a:avLst/>
          </a:prstGeom>
          <a:noFill/>
          <a:ln/>
        </p:spPr>
        <p:txBody>
          <a:bodyPr wrap="square" lIns="0" tIns="0" rIns="0" bIns="0"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₹10,000/yr</a:t>
            </a:r>
            <a:endParaRPr lang="en-US" sz="1100" dirty="0"/>
          </a:p>
        </p:txBody>
      </p:sp>
      <p:sp>
        <p:nvSpPr>
          <p:cNvPr id="19" name="Shape 17"/>
          <p:cNvSpPr/>
          <p:nvPr/>
        </p:nvSpPr>
        <p:spPr>
          <a:xfrm>
            <a:off x="640080" y="3557016"/>
            <a:ext cx="7863840" cy="457200"/>
          </a:xfrm>
          <a:prstGeom prst="rect">
            <a:avLst/>
          </a:prstGeom>
          <a:solidFill>
            <a:srgbClr val="1E2D50"/>
          </a:solidFill>
          <a:ln/>
        </p:spPr>
      </p:sp>
      <p:sp>
        <p:nvSpPr>
          <p:cNvPr id="20" name="Text 18"/>
          <p:cNvSpPr/>
          <p:nvPr/>
        </p:nvSpPr>
        <p:spPr>
          <a:xfrm>
            <a:off x="777240" y="3557016"/>
            <a:ext cx="1371600" cy="45720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Platinum</a:t>
            </a:r>
            <a:endParaRPr lang="en-US" sz="1200" dirty="0"/>
          </a:p>
        </p:txBody>
      </p:sp>
      <p:sp>
        <p:nvSpPr>
          <p:cNvPr id="21" name="Text 19"/>
          <p:cNvSpPr/>
          <p:nvPr/>
        </p:nvSpPr>
        <p:spPr>
          <a:xfrm>
            <a:off x="2240280" y="3557016"/>
            <a:ext cx="201168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₹30-50L</a:t>
            </a:r>
            <a:endParaRPr lang="en-US" sz="1100" dirty="0"/>
          </a:p>
        </p:txBody>
      </p:sp>
      <p:sp>
        <p:nvSpPr>
          <p:cNvPr id="22" name="Text 20"/>
          <p:cNvSpPr/>
          <p:nvPr/>
        </p:nvSpPr>
        <p:spPr>
          <a:xfrm>
            <a:off x="4389120" y="3557016"/>
            <a:ext cx="3931920" cy="457200"/>
          </a:xfrm>
          <a:prstGeom prst="rect">
            <a:avLst/>
          </a:prstGeom>
          <a:noFill/>
          <a:ln/>
        </p:spPr>
        <p:txBody>
          <a:bodyPr wrap="square" lIns="0" tIns="0" rIns="0" bIns="0"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₹15,000/yr</a:t>
            </a:r>
            <a:endParaRPr lang="en-US" sz="1100" dirty="0"/>
          </a:p>
        </p:txBody>
      </p:sp>
      <p:sp>
        <p:nvSpPr>
          <p:cNvPr id="23" name="Shape 21"/>
          <p:cNvSpPr/>
          <p:nvPr/>
        </p:nvSpPr>
        <p:spPr>
          <a:xfrm>
            <a:off x="640080" y="4087368"/>
            <a:ext cx="7863840" cy="457200"/>
          </a:xfrm>
          <a:prstGeom prst="rect">
            <a:avLst/>
          </a:prstGeom>
          <a:solidFill>
            <a:srgbClr val="1E2D50"/>
          </a:solidFill>
          <a:ln/>
        </p:spPr>
      </p:sp>
      <p:sp>
        <p:nvSpPr>
          <p:cNvPr id="24" name="Text 22"/>
          <p:cNvSpPr/>
          <p:nvPr/>
        </p:nvSpPr>
        <p:spPr>
          <a:xfrm>
            <a:off x="777240" y="4087368"/>
            <a:ext cx="1371600" cy="45720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Diamond</a:t>
            </a:r>
            <a:endParaRPr lang="en-US" sz="1200" dirty="0"/>
          </a:p>
        </p:txBody>
      </p:sp>
      <p:sp>
        <p:nvSpPr>
          <p:cNvPr id="25" name="Text 23"/>
          <p:cNvSpPr/>
          <p:nvPr/>
        </p:nvSpPr>
        <p:spPr>
          <a:xfrm>
            <a:off x="2240280" y="4087368"/>
            <a:ext cx="201168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₹50L+</a:t>
            </a:r>
            <a:endParaRPr lang="en-US" sz="1100" dirty="0"/>
          </a:p>
        </p:txBody>
      </p:sp>
      <p:sp>
        <p:nvSpPr>
          <p:cNvPr id="26" name="Text 24"/>
          <p:cNvSpPr/>
          <p:nvPr/>
        </p:nvSpPr>
        <p:spPr>
          <a:xfrm>
            <a:off x="4389120" y="4087368"/>
            <a:ext cx="3931920" cy="457200"/>
          </a:xfrm>
          <a:prstGeom prst="rect">
            <a:avLst/>
          </a:prstGeom>
          <a:noFill/>
          <a:ln/>
        </p:spPr>
        <p:txBody>
          <a:bodyPr wrap="square" lIns="0" tIns="0" rIns="0" bIns="0"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₹1,00,000/yr</a:t>
            </a:r>
            <a:endParaRPr lang="en-US" sz="1100" dirty="0"/>
          </a:p>
        </p:txBody>
      </p:sp>
      <p:sp>
        <p:nvSpPr>
          <p:cNvPr id="27" name="Shape 25"/>
          <p:cNvSpPr/>
          <p:nvPr/>
        </p:nvSpPr>
        <p:spPr>
          <a:xfrm>
            <a:off x="640080" y="4617720"/>
            <a:ext cx="7863840" cy="365760"/>
          </a:xfrm>
          <a:prstGeom prst="rect">
            <a:avLst/>
          </a:prstGeom>
          <a:solidFill>
            <a:srgbClr val="4299E1"/>
          </a:solidFill>
          <a:ln/>
        </p:spPr>
      </p:sp>
      <p:sp>
        <p:nvSpPr>
          <p:cNvPr id="28" name="Text 26"/>
          <p:cNvSpPr/>
          <p:nvPr/>
        </p:nvSpPr>
        <p:spPr>
          <a:xfrm>
            <a:off x="777240" y="4617720"/>
            <a:ext cx="7589520" cy="365760"/>
          </a:xfrm>
          <a:prstGeom prst="rect">
            <a:avLst/>
          </a:prstGeom>
          <a:noFill/>
          <a:ln/>
        </p:spPr>
        <p:txBody>
          <a:bodyPr wrap="square" lIns="0" tIns="0" rIns="0" bIns="0" rtlCol="0" anchor="ctr"/>
          <a:lstStyle/>
          <a:p>
            <a:pPr algn="ctr" indent="0" marL="0">
              <a:buNone/>
            </a:pPr>
            <a:r>
              <a:rPr lang="en-US" sz="1000" b="1" dirty="0">
                <a:solidFill>
                  <a:srgbClr val="1A365D"/>
                </a:solidFill>
                <a:latin typeface="Calibri" pitchFamily="34" charset="0"/>
                <a:ea typeface="Calibri" pitchFamily="34" charset="-122"/>
                <a:cs typeface="Calibri" pitchFamily="34" charset="-120"/>
              </a:rPr>
              <a:t>TEAM BUILDING BONUS: ₹50,000 for manager with 90%+ team retention AND 100%+ collective target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Motor &amp; Franchise: Sitara-Style Grid</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Progressive slabs based on premium volume above target</a:t>
            </a:r>
            <a:endParaRPr lang="en-US" sz="1200" dirty="0"/>
          </a:p>
        </p:txBody>
      </p:sp>
      <p:sp>
        <p:nvSpPr>
          <p:cNvPr id="6" name="Shape 4"/>
          <p:cNvSpPr/>
          <p:nvPr/>
        </p:nvSpPr>
        <p:spPr>
          <a:xfrm>
            <a:off x="640080" y="1188720"/>
            <a:ext cx="7863840" cy="548640"/>
          </a:xfrm>
          <a:prstGeom prst="rect">
            <a:avLst/>
          </a:prstGeom>
          <a:solidFill>
            <a:srgbClr val="EBF8FF"/>
          </a:solidFill>
          <a:ln/>
        </p:spPr>
      </p:sp>
      <p:sp>
        <p:nvSpPr>
          <p:cNvPr id="7" name="Text 5"/>
          <p:cNvSpPr/>
          <p:nvPr/>
        </p:nvSpPr>
        <p:spPr>
          <a:xfrm>
            <a:off x="777240" y="1234440"/>
            <a:ext cx="7589520" cy="457200"/>
          </a:xfrm>
          <a:prstGeom prst="rect">
            <a:avLst/>
          </a:prstGeom>
          <a:noFill/>
          <a:ln/>
        </p:spPr>
        <p:txBody>
          <a:bodyPr wrap="square" lIns="0" tIns="0" rIns="0" bIns="0" rtlCol="0" anchor="ctr"/>
          <a:lstStyle/>
          <a:p>
            <a:pPr indent="0" marL="0">
              <a:buNone/>
            </a:pPr>
            <a:r>
              <a:rPr lang="en-US" sz="1200" b="1" dirty="0">
                <a:solidFill>
                  <a:srgbClr val="1A365D"/>
                </a:solidFill>
                <a:latin typeface="Calibri" pitchFamily="34" charset="0"/>
                <a:ea typeface="Calibri" pitchFamily="34" charset="-122"/>
                <a:cs typeface="Calibri" pitchFamily="34" charset="-120"/>
              </a:rPr>
              <a:t>Motor/Franchise follows TATA AIG-style Sitara progressive incentive grid — slabs reset quarterly</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7863840" cy="914400"/>
        </p:xfrm>
        <a:graphic>
          <a:graphicData uri="http://schemas.openxmlformats.org/drawingml/2006/table">
            <a:tbl>
              <a:tblPr/>
              <a:tblGrid>
                <a:gridCol w="2926080"/>
                <a:gridCol w="2194560"/>
                <a:gridCol w="274320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Premium Band</a:t>
                      </a:r>
                      <a:endParaRPr lang="en-US" sz="1100" dirty="0">
                        <a:latin typeface="Calibri" charset="0"/>
                        <a:ea typeface="Calibri" charset="0"/>
                        <a:cs typeface="Calibri" charset="0"/>
                      </a:endParaRPr>
                    </a:p>
                    <a:p>
                      <a:pPr indent="0" marL="0">
                        <a:buNone/>
                      </a:pPr>
                      <a:r>
                        <a:rPr lang="en-US" sz="1100" b="1" dirty="0">
                          <a:solidFill>
                            <a:srgbClr val="FFFFFF"/>
                          </a:solidFill>
                          <a:latin typeface="Calibri" pitchFamily="34" charset="0"/>
                          <a:ea typeface="Calibri" pitchFamily="34" charset="-122"/>
                          <a:cs typeface="Calibri" pitchFamily="34" charset="-120"/>
                        </a:rPr>
                        <a:t>(Above Monthly Target)</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Incentive Rate %</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Example (₹5L target)</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Target — ₹3L</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Prem ₹5-8L: 1.5%</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₹3-5L</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Prem ₹8-10L: 2.0%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92608">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₹5L+</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100" dirty="0">
                          <a:solidFill>
                            <a:srgbClr val="2D3748"/>
                          </a:solidFill>
                          <a:latin typeface="Calibri" pitchFamily="34" charset="0"/>
                          <a:ea typeface="Calibri" pitchFamily="34" charset="-122"/>
                          <a:cs typeface="Calibri" pitchFamily="34" charset="-120"/>
                        </a:rPr>
                        <a:t>Prem ₹10L+: 3.0%</a:t>
                      </a:r>
                      <a:endParaRPr lang="en-US" sz="11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9" name="Shape 6"/>
          <p:cNvSpPr/>
          <p:nvPr/>
        </p:nvSpPr>
        <p:spPr>
          <a:xfrm>
            <a:off x="640080" y="3108960"/>
            <a:ext cx="7863840" cy="914400"/>
          </a:xfrm>
          <a:prstGeom prst="rect">
            <a:avLst/>
          </a:prstGeom>
          <a:solidFill>
            <a:srgbClr val="FED7D7"/>
          </a:solidFill>
          <a:ln/>
        </p:spPr>
      </p:sp>
      <p:sp>
        <p:nvSpPr>
          <p:cNvPr id="10" name="Text 7"/>
          <p:cNvSpPr/>
          <p:nvPr/>
        </p:nvSpPr>
        <p:spPr>
          <a:xfrm>
            <a:off x="777240" y="3154680"/>
            <a:ext cx="7589520" cy="822960"/>
          </a:xfrm>
          <a:prstGeom prst="rect">
            <a:avLst/>
          </a:prstGeom>
          <a:noFill/>
          <a:ln/>
        </p:spPr>
        <p:txBody>
          <a:bodyPr wrap="square" lIns="0" tIns="0" rIns="0" bIns="0" rtlCol="0" anchor="t"/>
          <a:lstStyle/>
          <a:p>
            <a:pPr indent="0" marL="0">
              <a:buNone/>
            </a:pPr>
            <a:r>
              <a:rPr lang="en-US" sz="1000" b="1" dirty="0">
                <a:solidFill>
                  <a:srgbClr val="E53E3E"/>
                </a:solidFill>
                <a:latin typeface="Calibri" pitchFamily="34" charset="0"/>
                <a:ea typeface="Calibri" pitchFamily="34" charset="-122"/>
                <a:cs typeface="Calibri" pitchFamily="34" charset="-120"/>
              </a:rPr>
              <a:t>RM CREDIT PRINCIPLE: </a:t>
            </a:r>
            <a:pPr indent="0" marL="0">
              <a:buNone/>
            </a:pPr>
            <a:r>
              <a:rPr lang="en-US" sz="1000" dirty="0">
                <a:solidFill>
                  <a:srgbClr val="2D3748"/>
                </a:solidFill>
                <a:latin typeface="Calibri" pitchFamily="34" charset="0"/>
                <a:ea typeface="Calibri" pitchFamily="34" charset="-122"/>
                <a:cs typeface="Calibri" pitchFamily="34" charset="-120"/>
              </a:rPr>
              <a:t>RM Credit = 100% − Channel Payout %
</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Digital platform @ 80% payout → RM gets 20% credit  |  POSP @ 70% payout → RM gets 30% credit
</a:t>
            </a:r>
            <a:endParaRPr lang="en-US" sz="1000" dirty="0"/>
          </a:p>
          <a:p>
            <a:pPr indent="0" marL="0">
              <a:buNone/>
            </a:pPr>
            <a:r>
              <a:rPr lang="en-US" sz="1000" i="1" dirty="0">
                <a:solidFill>
                  <a:srgbClr val="E53E3E"/>
                </a:solidFill>
                <a:latin typeface="Calibri" pitchFamily="34" charset="0"/>
                <a:ea typeface="Calibri" pitchFamily="34" charset="-122"/>
                <a:cs typeface="Calibri" pitchFamily="34" charset="-120"/>
              </a:rPr>
              <a:t>Higher-payout channels = lower RM credit (automatically proportional)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69E2E"/>
          </a:solidFill>
          <a:ln/>
        </p:spPr>
      </p:sp>
      <p:sp>
        <p:nvSpPr>
          <p:cNvPr id="3" name="Text 1"/>
          <p:cNvSpPr/>
          <p:nvPr/>
        </p:nvSpPr>
        <p:spPr>
          <a:xfrm>
            <a:off x="640080" y="3657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Support Team Bonus Structure</a:t>
            </a:r>
            <a:endParaRPr lang="en-US" sz="3200" dirty="0"/>
          </a:p>
        </p:txBody>
      </p:sp>
      <p:sp>
        <p:nvSpPr>
          <p:cNvPr id="4" name="Text 2"/>
          <p:cNvSpPr/>
          <p:nvPr/>
        </p:nvSpPr>
        <p:spPr>
          <a:xfrm>
            <a:off x="640080" y="1005840"/>
            <a:ext cx="7863840" cy="365760"/>
          </a:xfrm>
          <a:prstGeom prst="rect">
            <a:avLst/>
          </a:prstGeom>
          <a:noFill/>
          <a:ln/>
        </p:spPr>
        <p:txBody>
          <a:bodyPr wrap="square" lIns="0" tIns="0" rIns="0" bIns="0" rtlCol="0" anchor="ctr"/>
          <a:lstStyle/>
          <a:p>
            <a:pPr indent="0" marL="0">
              <a:buNone/>
            </a:pPr>
            <a:r>
              <a:rPr lang="en-US" sz="1400" dirty="0">
                <a:solidFill>
                  <a:srgbClr val="A0AEC0"/>
                </a:solidFill>
                <a:latin typeface="Calibri" pitchFamily="34" charset="0"/>
                <a:ea typeface="Calibri" pitchFamily="34" charset="-122"/>
                <a:cs typeface="Calibri" pitchFamily="34" charset="-120"/>
              </a:rPr>
              <a:t>KPI-driven rewards — Back Office, Training, HR, Ops, Accounts, Digital</a:t>
            </a:r>
            <a:endParaRPr lang="en-US" sz="1400" dirty="0"/>
          </a:p>
        </p:txBody>
      </p:sp>
      <p:sp>
        <p:nvSpPr>
          <p:cNvPr id="5" name="Shape 3"/>
          <p:cNvSpPr/>
          <p:nvPr/>
        </p:nvSpPr>
        <p:spPr>
          <a:xfrm>
            <a:off x="640080" y="1188720"/>
            <a:ext cx="7863840" cy="502920"/>
          </a:xfrm>
          <a:prstGeom prst="rect">
            <a:avLst/>
          </a:prstGeom>
          <a:solidFill>
            <a:srgbClr val="1E2D50"/>
          </a:solidFill>
          <a:ln/>
        </p:spPr>
      </p:sp>
      <p:sp>
        <p:nvSpPr>
          <p:cNvPr id="6" name="Text 4"/>
          <p:cNvSpPr/>
          <p:nvPr/>
        </p:nvSpPr>
        <p:spPr>
          <a:xfrm>
            <a:off x="777240" y="1188720"/>
            <a:ext cx="1645920" cy="502920"/>
          </a:xfrm>
          <a:prstGeom prst="rect">
            <a:avLst/>
          </a:prstGeom>
          <a:noFill/>
          <a:ln/>
        </p:spPr>
        <p:txBody>
          <a:bodyPr wrap="square" lIns="0" tIns="0" rIns="0" bIns="0" rtlCol="0" anchor="ctr"/>
          <a:lstStyle/>
          <a:p>
            <a:pPr indent="0" marL="0">
              <a:buNone/>
            </a:pPr>
            <a:r>
              <a:rPr lang="en-US" sz="1100" b="1" dirty="0">
                <a:solidFill>
                  <a:srgbClr val="38A169"/>
                </a:solidFill>
                <a:latin typeface="Georgia" pitchFamily="34" charset="0"/>
                <a:ea typeface="Georgia" pitchFamily="34" charset="-122"/>
                <a:cs typeface="Georgia" pitchFamily="34" charset="-120"/>
              </a:rPr>
              <a:t>Back Office</a:t>
            </a:r>
            <a:endParaRPr lang="en-US" sz="1100" dirty="0"/>
          </a:p>
        </p:txBody>
      </p:sp>
      <p:sp>
        <p:nvSpPr>
          <p:cNvPr id="7" name="Text 5"/>
          <p:cNvSpPr/>
          <p:nvPr/>
        </p:nvSpPr>
        <p:spPr>
          <a:xfrm>
            <a:off x="2468880" y="1188720"/>
            <a:ext cx="4114800" cy="5029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TAT, Accuracy, Volume, Complaints, Attendance</a:t>
            </a:r>
            <a:endParaRPr lang="en-US" sz="950" dirty="0"/>
          </a:p>
        </p:txBody>
      </p:sp>
      <p:sp>
        <p:nvSpPr>
          <p:cNvPr id="8" name="Text 6"/>
          <p:cNvSpPr/>
          <p:nvPr/>
        </p:nvSpPr>
        <p:spPr>
          <a:xfrm>
            <a:off x="6675120" y="1188720"/>
            <a:ext cx="1645920" cy="502920"/>
          </a:xfrm>
          <a:prstGeom prst="rect">
            <a:avLst/>
          </a:prstGeom>
          <a:noFill/>
          <a:ln/>
        </p:spPr>
        <p:txBody>
          <a:bodyPr wrap="square" lIns="0" tIns="0" rIns="0" bIns="0" rtlCol="0" anchor="ctr"/>
          <a:lstStyle/>
          <a:p>
            <a:pPr algn="r" indent="0" marL="0">
              <a:buNone/>
            </a:pPr>
            <a:r>
              <a:rPr lang="en-US" sz="1000" b="1" dirty="0">
                <a:solidFill>
                  <a:srgbClr val="D69E2E"/>
                </a:solidFill>
                <a:latin typeface="Calibri" pitchFamily="34" charset="0"/>
                <a:ea typeface="Calibri" pitchFamily="34" charset="-122"/>
                <a:cs typeface="Calibri" pitchFamily="34" charset="-120"/>
              </a:rPr>
              <a:t>₹5K/mo</a:t>
            </a:r>
            <a:endParaRPr lang="en-US" sz="1000" dirty="0"/>
          </a:p>
        </p:txBody>
      </p:sp>
      <p:sp>
        <p:nvSpPr>
          <p:cNvPr id="9" name="Shape 7"/>
          <p:cNvSpPr/>
          <p:nvPr/>
        </p:nvSpPr>
        <p:spPr>
          <a:xfrm>
            <a:off x="640080" y="1783080"/>
            <a:ext cx="7863840" cy="502920"/>
          </a:xfrm>
          <a:prstGeom prst="rect">
            <a:avLst/>
          </a:prstGeom>
          <a:solidFill>
            <a:srgbClr val="1E2D50"/>
          </a:solidFill>
          <a:ln/>
        </p:spPr>
      </p:sp>
      <p:sp>
        <p:nvSpPr>
          <p:cNvPr id="10" name="Text 8"/>
          <p:cNvSpPr/>
          <p:nvPr/>
        </p:nvSpPr>
        <p:spPr>
          <a:xfrm>
            <a:off x="777240" y="1783080"/>
            <a:ext cx="1645920" cy="502920"/>
          </a:xfrm>
          <a:prstGeom prst="rect">
            <a:avLst/>
          </a:prstGeom>
          <a:noFill/>
          <a:ln/>
        </p:spPr>
        <p:txBody>
          <a:bodyPr wrap="square" lIns="0" tIns="0" rIns="0" bIns="0" rtlCol="0" anchor="ctr"/>
          <a:lstStyle/>
          <a:p>
            <a:pPr indent="0" marL="0">
              <a:buNone/>
            </a:pPr>
            <a:r>
              <a:rPr lang="en-US" sz="1100" b="1" dirty="0">
                <a:solidFill>
                  <a:srgbClr val="38A169"/>
                </a:solidFill>
                <a:latin typeface="Georgia" pitchFamily="34" charset="0"/>
                <a:ea typeface="Georgia" pitchFamily="34" charset="-122"/>
                <a:cs typeface="Georgia" pitchFamily="34" charset="-120"/>
              </a:rPr>
              <a:t>Training Team</a:t>
            </a:r>
            <a:endParaRPr lang="en-US" sz="1100" dirty="0"/>
          </a:p>
        </p:txBody>
      </p:sp>
      <p:sp>
        <p:nvSpPr>
          <p:cNvPr id="11" name="Text 9"/>
          <p:cNvSpPr/>
          <p:nvPr/>
        </p:nvSpPr>
        <p:spPr>
          <a:xfrm>
            <a:off x="2468880" y="1783080"/>
            <a:ext cx="4114800" cy="5029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POSP Activation, Productive POSPs, Sessions</a:t>
            </a:r>
            <a:endParaRPr lang="en-US" sz="950" dirty="0"/>
          </a:p>
        </p:txBody>
      </p:sp>
      <p:sp>
        <p:nvSpPr>
          <p:cNvPr id="12" name="Text 10"/>
          <p:cNvSpPr/>
          <p:nvPr/>
        </p:nvSpPr>
        <p:spPr>
          <a:xfrm>
            <a:off x="6675120" y="1783080"/>
            <a:ext cx="1645920" cy="502920"/>
          </a:xfrm>
          <a:prstGeom prst="rect">
            <a:avLst/>
          </a:prstGeom>
          <a:noFill/>
          <a:ln/>
        </p:spPr>
        <p:txBody>
          <a:bodyPr wrap="square" lIns="0" tIns="0" rIns="0" bIns="0" rtlCol="0" anchor="ctr"/>
          <a:lstStyle/>
          <a:p>
            <a:pPr algn="r" indent="0" marL="0">
              <a:buNone/>
            </a:pPr>
            <a:r>
              <a:rPr lang="en-US" sz="1000" b="1" dirty="0">
                <a:solidFill>
                  <a:srgbClr val="D69E2E"/>
                </a:solidFill>
                <a:latin typeface="Calibri" pitchFamily="34" charset="0"/>
                <a:ea typeface="Calibri" pitchFamily="34" charset="-122"/>
                <a:cs typeface="Calibri" pitchFamily="34" charset="-120"/>
              </a:rPr>
              <a:t>₹7.5K/mo</a:t>
            </a:r>
            <a:endParaRPr lang="en-US" sz="1000" dirty="0"/>
          </a:p>
        </p:txBody>
      </p:sp>
      <p:sp>
        <p:nvSpPr>
          <p:cNvPr id="13" name="Shape 11"/>
          <p:cNvSpPr/>
          <p:nvPr/>
        </p:nvSpPr>
        <p:spPr>
          <a:xfrm>
            <a:off x="640080" y="2377440"/>
            <a:ext cx="7863840" cy="502920"/>
          </a:xfrm>
          <a:prstGeom prst="rect">
            <a:avLst/>
          </a:prstGeom>
          <a:solidFill>
            <a:srgbClr val="1E2D50"/>
          </a:solidFill>
          <a:ln/>
        </p:spPr>
      </p:sp>
      <p:sp>
        <p:nvSpPr>
          <p:cNvPr id="14" name="Text 12"/>
          <p:cNvSpPr/>
          <p:nvPr/>
        </p:nvSpPr>
        <p:spPr>
          <a:xfrm>
            <a:off x="777240" y="2377440"/>
            <a:ext cx="1645920" cy="502920"/>
          </a:xfrm>
          <a:prstGeom prst="rect">
            <a:avLst/>
          </a:prstGeom>
          <a:noFill/>
          <a:ln/>
        </p:spPr>
        <p:txBody>
          <a:bodyPr wrap="square" lIns="0" tIns="0" rIns="0" bIns="0" rtlCol="0" anchor="ctr"/>
          <a:lstStyle/>
          <a:p>
            <a:pPr indent="0" marL="0">
              <a:buNone/>
            </a:pPr>
            <a:r>
              <a:rPr lang="en-US" sz="1100" b="1" dirty="0">
                <a:solidFill>
                  <a:srgbClr val="38A169"/>
                </a:solidFill>
                <a:latin typeface="Georgia" pitchFamily="34" charset="0"/>
                <a:ea typeface="Georgia" pitchFamily="34" charset="-122"/>
                <a:cs typeface="Georgia" pitchFamily="34" charset="-120"/>
              </a:rPr>
              <a:t>HR</a:t>
            </a:r>
            <a:endParaRPr lang="en-US" sz="1100" dirty="0"/>
          </a:p>
        </p:txBody>
      </p:sp>
      <p:sp>
        <p:nvSpPr>
          <p:cNvPr id="15" name="Text 13"/>
          <p:cNvSpPr/>
          <p:nvPr/>
        </p:nvSpPr>
        <p:spPr>
          <a:xfrm>
            <a:off x="2468880" y="2377440"/>
            <a:ext cx="4114800" cy="5029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Time-to-hire, Retention, Payroll Accuracy</a:t>
            </a:r>
            <a:endParaRPr lang="en-US" sz="950" dirty="0"/>
          </a:p>
        </p:txBody>
      </p:sp>
      <p:sp>
        <p:nvSpPr>
          <p:cNvPr id="16" name="Text 14"/>
          <p:cNvSpPr/>
          <p:nvPr/>
        </p:nvSpPr>
        <p:spPr>
          <a:xfrm>
            <a:off x="6675120" y="2377440"/>
            <a:ext cx="1645920" cy="502920"/>
          </a:xfrm>
          <a:prstGeom prst="rect">
            <a:avLst/>
          </a:prstGeom>
          <a:noFill/>
          <a:ln/>
        </p:spPr>
        <p:txBody>
          <a:bodyPr wrap="square" lIns="0" tIns="0" rIns="0" bIns="0" rtlCol="0" anchor="ctr"/>
          <a:lstStyle/>
          <a:p>
            <a:pPr algn="r" indent="0" marL="0">
              <a:buNone/>
            </a:pPr>
            <a:r>
              <a:rPr lang="en-US" sz="1000" b="1" dirty="0">
                <a:solidFill>
                  <a:srgbClr val="D69E2E"/>
                </a:solidFill>
                <a:latin typeface="Calibri" pitchFamily="34" charset="0"/>
                <a:ea typeface="Calibri" pitchFamily="34" charset="-122"/>
                <a:cs typeface="Calibri" pitchFamily="34" charset="-120"/>
              </a:rPr>
              <a:t>₹5K/mo</a:t>
            </a:r>
            <a:endParaRPr lang="en-US" sz="1000" dirty="0"/>
          </a:p>
        </p:txBody>
      </p:sp>
      <p:sp>
        <p:nvSpPr>
          <p:cNvPr id="17" name="Shape 15"/>
          <p:cNvSpPr/>
          <p:nvPr/>
        </p:nvSpPr>
        <p:spPr>
          <a:xfrm>
            <a:off x="640080" y="2971800"/>
            <a:ext cx="7863840" cy="502920"/>
          </a:xfrm>
          <a:prstGeom prst="rect">
            <a:avLst/>
          </a:prstGeom>
          <a:solidFill>
            <a:srgbClr val="1E2D50"/>
          </a:solidFill>
          <a:ln/>
        </p:spPr>
      </p:sp>
      <p:sp>
        <p:nvSpPr>
          <p:cNvPr id="18" name="Text 16"/>
          <p:cNvSpPr/>
          <p:nvPr/>
        </p:nvSpPr>
        <p:spPr>
          <a:xfrm>
            <a:off x="777240" y="2971800"/>
            <a:ext cx="1645920" cy="502920"/>
          </a:xfrm>
          <a:prstGeom prst="rect">
            <a:avLst/>
          </a:prstGeom>
          <a:noFill/>
          <a:ln/>
        </p:spPr>
        <p:txBody>
          <a:bodyPr wrap="square" lIns="0" tIns="0" rIns="0" bIns="0" rtlCol="0" anchor="ctr"/>
          <a:lstStyle/>
          <a:p>
            <a:pPr indent="0" marL="0">
              <a:buNone/>
            </a:pPr>
            <a:r>
              <a:rPr lang="en-US" sz="1100" b="1" dirty="0">
                <a:solidFill>
                  <a:srgbClr val="38A169"/>
                </a:solidFill>
                <a:latin typeface="Georgia" pitchFamily="34" charset="0"/>
                <a:ea typeface="Georgia" pitchFamily="34" charset="-122"/>
                <a:cs typeface="Georgia" pitchFamily="34" charset="-120"/>
              </a:rPr>
              <a:t>Operations</a:t>
            </a:r>
            <a:endParaRPr lang="en-US" sz="1100" dirty="0"/>
          </a:p>
        </p:txBody>
      </p:sp>
      <p:sp>
        <p:nvSpPr>
          <p:cNvPr id="19" name="Text 17"/>
          <p:cNvSpPr/>
          <p:nvPr/>
        </p:nvSpPr>
        <p:spPr>
          <a:xfrm>
            <a:off x="2468880" y="2971800"/>
            <a:ext cx="4114800" cy="5029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Claims TAT, Renewal Follow-up, NPS</a:t>
            </a:r>
            <a:endParaRPr lang="en-US" sz="950" dirty="0"/>
          </a:p>
        </p:txBody>
      </p:sp>
      <p:sp>
        <p:nvSpPr>
          <p:cNvPr id="20" name="Text 18"/>
          <p:cNvSpPr/>
          <p:nvPr/>
        </p:nvSpPr>
        <p:spPr>
          <a:xfrm>
            <a:off x="6675120" y="2971800"/>
            <a:ext cx="1645920" cy="502920"/>
          </a:xfrm>
          <a:prstGeom prst="rect">
            <a:avLst/>
          </a:prstGeom>
          <a:noFill/>
          <a:ln/>
        </p:spPr>
        <p:txBody>
          <a:bodyPr wrap="square" lIns="0" tIns="0" rIns="0" bIns="0" rtlCol="0" anchor="ctr"/>
          <a:lstStyle/>
          <a:p>
            <a:pPr algn="r" indent="0" marL="0">
              <a:buNone/>
            </a:pPr>
            <a:r>
              <a:rPr lang="en-US" sz="1000" b="1" dirty="0">
                <a:solidFill>
                  <a:srgbClr val="D69E2E"/>
                </a:solidFill>
                <a:latin typeface="Calibri" pitchFamily="34" charset="0"/>
                <a:ea typeface="Calibri" pitchFamily="34" charset="-122"/>
                <a:cs typeface="Calibri" pitchFamily="34" charset="-120"/>
              </a:rPr>
              <a:t>₹5K/mo</a:t>
            </a:r>
            <a:endParaRPr lang="en-US" sz="1000" dirty="0"/>
          </a:p>
        </p:txBody>
      </p:sp>
      <p:sp>
        <p:nvSpPr>
          <p:cNvPr id="21" name="Shape 19"/>
          <p:cNvSpPr/>
          <p:nvPr/>
        </p:nvSpPr>
        <p:spPr>
          <a:xfrm>
            <a:off x="640080" y="3566160"/>
            <a:ext cx="7863840" cy="502920"/>
          </a:xfrm>
          <a:prstGeom prst="rect">
            <a:avLst/>
          </a:prstGeom>
          <a:solidFill>
            <a:srgbClr val="1E2D50"/>
          </a:solidFill>
          <a:ln/>
        </p:spPr>
      </p:sp>
      <p:sp>
        <p:nvSpPr>
          <p:cNvPr id="22" name="Text 20"/>
          <p:cNvSpPr/>
          <p:nvPr/>
        </p:nvSpPr>
        <p:spPr>
          <a:xfrm>
            <a:off x="777240" y="3566160"/>
            <a:ext cx="1645920" cy="502920"/>
          </a:xfrm>
          <a:prstGeom prst="rect">
            <a:avLst/>
          </a:prstGeom>
          <a:noFill/>
          <a:ln/>
        </p:spPr>
        <p:txBody>
          <a:bodyPr wrap="square" lIns="0" tIns="0" rIns="0" bIns="0" rtlCol="0" anchor="ctr"/>
          <a:lstStyle/>
          <a:p>
            <a:pPr indent="0" marL="0">
              <a:buNone/>
            </a:pPr>
            <a:r>
              <a:rPr lang="en-US" sz="1100" b="1" dirty="0">
                <a:solidFill>
                  <a:srgbClr val="38A169"/>
                </a:solidFill>
                <a:latin typeface="Georgia" pitchFamily="34" charset="0"/>
                <a:ea typeface="Georgia" pitchFamily="34" charset="-122"/>
                <a:cs typeface="Georgia" pitchFamily="34" charset="-120"/>
              </a:rPr>
              <a:t>Accounts</a:t>
            </a:r>
            <a:endParaRPr lang="en-US" sz="1100" dirty="0"/>
          </a:p>
        </p:txBody>
      </p:sp>
      <p:sp>
        <p:nvSpPr>
          <p:cNvPr id="23" name="Text 21"/>
          <p:cNvSpPr/>
          <p:nvPr/>
        </p:nvSpPr>
        <p:spPr>
          <a:xfrm>
            <a:off x="2468880" y="3566160"/>
            <a:ext cx="4114800" cy="5029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Books Closure, Reconciliation, Compliance</a:t>
            </a:r>
            <a:endParaRPr lang="en-US" sz="950" dirty="0"/>
          </a:p>
        </p:txBody>
      </p:sp>
      <p:sp>
        <p:nvSpPr>
          <p:cNvPr id="24" name="Text 22"/>
          <p:cNvSpPr/>
          <p:nvPr/>
        </p:nvSpPr>
        <p:spPr>
          <a:xfrm>
            <a:off x="6675120" y="3566160"/>
            <a:ext cx="1645920" cy="502920"/>
          </a:xfrm>
          <a:prstGeom prst="rect">
            <a:avLst/>
          </a:prstGeom>
          <a:noFill/>
          <a:ln/>
        </p:spPr>
        <p:txBody>
          <a:bodyPr wrap="square" lIns="0" tIns="0" rIns="0" bIns="0" rtlCol="0" anchor="ctr"/>
          <a:lstStyle/>
          <a:p>
            <a:pPr algn="r" indent="0" marL="0">
              <a:buNone/>
            </a:pPr>
            <a:r>
              <a:rPr lang="en-US" sz="1000" b="1" dirty="0">
                <a:solidFill>
                  <a:srgbClr val="D69E2E"/>
                </a:solidFill>
                <a:latin typeface="Calibri" pitchFamily="34" charset="0"/>
                <a:ea typeface="Calibri" pitchFamily="34" charset="-122"/>
                <a:cs typeface="Calibri" pitchFamily="34" charset="-120"/>
              </a:rPr>
              <a:t>₹4K/mo</a:t>
            </a:r>
            <a:endParaRPr lang="en-US" sz="1000" dirty="0"/>
          </a:p>
        </p:txBody>
      </p:sp>
      <p:sp>
        <p:nvSpPr>
          <p:cNvPr id="25" name="Shape 23"/>
          <p:cNvSpPr/>
          <p:nvPr/>
        </p:nvSpPr>
        <p:spPr>
          <a:xfrm>
            <a:off x="640080" y="4160520"/>
            <a:ext cx="7863840" cy="502920"/>
          </a:xfrm>
          <a:prstGeom prst="rect">
            <a:avLst/>
          </a:prstGeom>
          <a:solidFill>
            <a:srgbClr val="1E2D50"/>
          </a:solidFill>
          <a:ln/>
        </p:spPr>
      </p:sp>
      <p:sp>
        <p:nvSpPr>
          <p:cNvPr id="26" name="Text 24"/>
          <p:cNvSpPr/>
          <p:nvPr/>
        </p:nvSpPr>
        <p:spPr>
          <a:xfrm>
            <a:off x="777240" y="4160520"/>
            <a:ext cx="1645920" cy="502920"/>
          </a:xfrm>
          <a:prstGeom prst="rect">
            <a:avLst/>
          </a:prstGeom>
          <a:noFill/>
          <a:ln/>
        </p:spPr>
        <p:txBody>
          <a:bodyPr wrap="square" lIns="0" tIns="0" rIns="0" bIns="0" rtlCol="0" anchor="ctr"/>
          <a:lstStyle/>
          <a:p>
            <a:pPr indent="0" marL="0">
              <a:buNone/>
            </a:pPr>
            <a:r>
              <a:rPr lang="en-US" sz="1100" b="1" dirty="0">
                <a:solidFill>
                  <a:srgbClr val="38A169"/>
                </a:solidFill>
                <a:latin typeface="Georgia" pitchFamily="34" charset="0"/>
                <a:ea typeface="Georgia" pitchFamily="34" charset="-122"/>
                <a:cs typeface="Georgia" pitchFamily="34" charset="-120"/>
              </a:rPr>
              <a:t>Digital</a:t>
            </a:r>
            <a:endParaRPr lang="en-US" sz="1100" dirty="0"/>
          </a:p>
        </p:txBody>
      </p:sp>
      <p:sp>
        <p:nvSpPr>
          <p:cNvPr id="27" name="Text 25"/>
          <p:cNvSpPr/>
          <p:nvPr/>
        </p:nvSpPr>
        <p:spPr>
          <a:xfrm>
            <a:off x="2468880" y="4160520"/>
            <a:ext cx="4114800" cy="5029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Lead Gen, Conversion, Social Growth, Analytics</a:t>
            </a:r>
            <a:endParaRPr lang="en-US" sz="950" dirty="0"/>
          </a:p>
        </p:txBody>
      </p:sp>
      <p:sp>
        <p:nvSpPr>
          <p:cNvPr id="28" name="Text 26"/>
          <p:cNvSpPr/>
          <p:nvPr/>
        </p:nvSpPr>
        <p:spPr>
          <a:xfrm>
            <a:off x="6675120" y="4160520"/>
            <a:ext cx="1645920" cy="502920"/>
          </a:xfrm>
          <a:prstGeom prst="rect">
            <a:avLst/>
          </a:prstGeom>
          <a:noFill/>
          <a:ln/>
        </p:spPr>
        <p:txBody>
          <a:bodyPr wrap="square" lIns="0" tIns="0" rIns="0" bIns="0" rtlCol="0" anchor="ctr"/>
          <a:lstStyle/>
          <a:p>
            <a:pPr algn="r" indent="0" marL="0">
              <a:buNone/>
            </a:pPr>
            <a:r>
              <a:rPr lang="en-US" sz="1000" b="1" dirty="0">
                <a:solidFill>
                  <a:srgbClr val="D69E2E"/>
                </a:solidFill>
                <a:latin typeface="Calibri" pitchFamily="34" charset="0"/>
                <a:ea typeface="Calibri" pitchFamily="34" charset="-122"/>
                <a:cs typeface="Calibri" pitchFamily="34" charset="-120"/>
              </a:rPr>
              <a:t>₹6K/mo</a:t>
            </a:r>
            <a:endParaRPr lang="en-US" sz="1000" dirty="0"/>
          </a:p>
        </p:txBody>
      </p:sp>
      <p:sp>
        <p:nvSpPr>
          <p:cNvPr id="29" name="Shape 27"/>
          <p:cNvSpPr/>
          <p:nvPr/>
        </p:nvSpPr>
        <p:spPr>
          <a:xfrm>
            <a:off x="640080" y="4572000"/>
            <a:ext cx="7863840" cy="365760"/>
          </a:xfrm>
          <a:prstGeom prst="rect">
            <a:avLst/>
          </a:prstGeom>
          <a:solidFill>
            <a:srgbClr val="D69E2E"/>
          </a:solidFill>
          <a:ln/>
        </p:spPr>
      </p:sp>
      <p:sp>
        <p:nvSpPr>
          <p:cNvPr id="30" name="Text 28"/>
          <p:cNvSpPr/>
          <p:nvPr/>
        </p:nvSpPr>
        <p:spPr>
          <a:xfrm>
            <a:off x="777240" y="4572000"/>
            <a:ext cx="7589520" cy="365760"/>
          </a:xfrm>
          <a:prstGeom prst="rect">
            <a:avLst/>
          </a:prstGeom>
          <a:noFill/>
          <a:ln/>
        </p:spPr>
        <p:txBody>
          <a:bodyPr wrap="square" lIns="0" tIns="0" rIns="0" bIns="0" rtlCol="0" anchor="ctr"/>
          <a:lstStyle/>
          <a:p>
            <a:pPr algn="ctr" indent="0" marL="0">
              <a:buNone/>
            </a:pPr>
            <a:r>
              <a:rPr lang="en-US" sz="950" b="1" dirty="0">
                <a:solidFill>
                  <a:srgbClr val="1A365D"/>
                </a:solidFill>
                <a:latin typeface="Calibri" pitchFamily="34" charset="0"/>
                <a:ea typeface="Calibri" pitchFamily="34" charset="-122"/>
                <a:cs typeface="Calibri" pitchFamily="34" charset="-120"/>
              </a:rPr>
              <a:t>All support bonuses evaluated through Balanced Scorecard framework (Financial, Customer, Process, Learning)</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Hiring ROI: Break-Even Analysis</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Every hire must justify business case — Kolkata example</a:t>
            </a:r>
            <a:endParaRPr lang="en-US" sz="1200" dirty="0"/>
          </a:p>
        </p:txBody>
      </p:sp>
      <p:sp>
        <p:nvSpPr>
          <p:cNvPr id="6" name="Text 4"/>
          <p:cNvSpPr/>
          <p:nvPr/>
        </p:nvSpPr>
        <p:spPr>
          <a:xfrm>
            <a:off x="640080" y="1143000"/>
            <a:ext cx="7863840" cy="228600"/>
          </a:xfrm>
          <a:prstGeom prst="rect">
            <a:avLst/>
          </a:prstGeom>
          <a:noFill/>
          <a:ln/>
        </p:spPr>
        <p:txBody>
          <a:bodyPr wrap="square" lIns="0" tIns="0" rIns="0" bIns="0" rtlCol="0" anchor="ctr"/>
          <a:lstStyle/>
          <a:p>
            <a:pPr indent="0" marL="0">
              <a:buNone/>
            </a:pPr>
            <a:r>
              <a:rPr lang="en-US" sz="1200" b="1" dirty="0">
                <a:solidFill>
                  <a:srgbClr val="1A365D"/>
                </a:solidFill>
                <a:latin typeface="Georgia" pitchFamily="34" charset="0"/>
                <a:ea typeface="Georgia" pitchFamily="34" charset="-122"/>
                <a:cs typeface="Georgia" pitchFamily="34" charset="-120"/>
              </a:rPr>
              <a:t>Kolkata Regional Launch (Month 0)</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7863840" cy="914400"/>
        </p:xfrm>
        <a:graphic>
          <a:graphicData uri="http://schemas.openxmlformats.org/drawingml/2006/table">
            <a:tbl>
              <a:tblPr/>
              <a:tblGrid>
                <a:gridCol w="2743200"/>
                <a:gridCol w="1371600"/>
                <a:gridCol w="374904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Component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Qty</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Monthly Cost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Regional Manager (Leader)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₹1,00,000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RMs/Executives</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₹30,000 each = ₹1,50,000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Admin/Support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₹20,000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TOTAL MONTHLY COST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₹2,70,000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6-MONTH SETUP COST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₹2,70,000 × 6 = ₹16,20,000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8" name="Shape 5"/>
          <p:cNvSpPr/>
          <p:nvPr/>
        </p:nvSpPr>
        <p:spPr>
          <a:xfrm>
            <a:off x="640080" y="3017520"/>
            <a:ext cx="7863840" cy="1280160"/>
          </a:xfrm>
          <a:prstGeom prst="rect">
            <a:avLst/>
          </a:prstGeom>
          <a:solidFill>
            <a:srgbClr val="EBF8FF"/>
          </a:solidFill>
          <a:ln/>
          <a:effectLst>
            <a:outerShdw sx="100000" sy="100000" kx="0" ky="0" algn="bl" rotWithShape="0" blurRad="76200" dist="25400" dir="8100000">
              <a:srgbClr val="000000">
                <a:alpha val="12000"/>
              </a:srgbClr>
            </a:outerShdw>
          </a:effectLst>
        </p:spPr>
      </p:sp>
      <p:sp>
        <p:nvSpPr>
          <p:cNvPr id="9" name="Text 6"/>
          <p:cNvSpPr/>
          <p:nvPr/>
        </p:nvSpPr>
        <p:spPr>
          <a:xfrm>
            <a:off x="777240" y="3108960"/>
            <a:ext cx="7589520" cy="1143000"/>
          </a:xfrm>
          <a:prstGeom prst="rect">
            <a:avLst/>
          </a:prstGeom>
          <a:noFill/>
          <a:ln/>
        </p:spPr>
        <p:txBody>
          <a:bodyPr wrap="square" lIns="0" tIns="0" rIns="0" bIns="0" rtlCol="0" anchor="t"/>
          <a:lstStyle/>
          <a:p>
            <a:pPr indent="0" marL="0">
              <a:buNone/>
            </a:pPr>
            <a:r>
              <a:rPr lang="en-US" sz="1000" b="1" dirty="0">
                <a:solidFill>
                  <a:srgbClr val="2B6CB0"/>
                </a:solidFill>
                <a:latin typeface="Calibri" pitchFamily="34" charset="0"/>
                <a:ea typeface="Calibri" pitchFamily="34" charset="-122"/>
                <a:cs typeface="Calibri" pitchFamily="34" charset="-120"/>
              </a:rPr>
              <a:t>BREAK-EVEN ANALYSIS
</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Required monthly business: ₹35-50 lakh (at 20-30% margin)
</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Break-even timeline: Month 4-6 (if targets hit)
</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ATTRITION COST: Charged to hiring manager — 100% if exit &lt;3mo, 50% if 3-6mo
</a:t>
            </a:r>
            <a:endParaRPr lang="en-US" sz="1000" dirty="0"/>
          </a:p>
          <a:p>
            <a:pPr indent="0" marL="0">
              <a:buNone/>
            </a:pPr>
            <a:r>
              <a:rPr lang="en-US" sz="1000" b="1" dirty="0">
                <a:solidFill>
                  <a:srgbClr val="E53E3E"/>
                </a:solidFill>
                <a:latin typeface="Calibri" pitchFamily="34" charset="0"/>
                <a:ea typeface="Calibri" pitchFamily="34" charset="-122"/>
                <a:cs typeface="Calibri" pitchFamily="34" charset="-120"/>
              </a:rPr>
              <a:t>This ensures every manager owns their hiring ROI and retention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69E2E"/>
          </a:solidFill>
          <a:ln/>
        </p:spPr>
      </p:sp>
      <p:sp>
        <p:nvSpPr>
          <p:cNvPr id="3" name="Text 1"/>
          <p:cNvSpPr/>
          <p:nvPr/>
        </p:nvSpPr>
        <p:spPr>
          <a:xfrm>
            <a:off x="640080" y="3657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Career Roadmap: Merit-Based Progression</a:t>
            </a:r>
            <a:endParaRPr lang="en-US" sz="3200" dirty="0"/>
          </a:p>
        </p:txBody>
      </p:sp>
      <p:sp>
        <p:nvSpPr>
          <p:cNvPr id="4" name="Text 2"/>
          <p:cNvSpPr/>
          <p:nvPr/>
        </p:nvSpPr>
        <p:spPr>
          <a:xfrm>
            <a:off x="640080" y="1005840"/>
            <a:ext cx="7863840" cy="365760"/>
          </a:xfrm>
          <a:prstGeom prst="rect">
            <a:avLst/>
          </a:prstGeom>
          <a:noFill/>
          <a:ln/>
        </p:spPr>
        <p:txBody>
          <a:bodyPr wrap="square" lIns="0" tIns="0" rIns="0" bIns="0" rtlCol="0" anchor="ctr"/>
          <a:lstStyle/>
          <a:p>
            <a:pPr indent="0" marL="0">
              <a:buNone/>
            </a:pPr>
            <a:r>
              <a:rPr lang="en-US" sz="1400" dirty="0">
                <a:solidFill>
                  <a:srgbClr val="A0AEC0"/>
                </a:solidFill>
                <a:latin typeface="Calibri" pitchFamily="34" charset="0"/>
                <a:ea typeface="Calibri" pitchFamily="34" charset="-122"/>
                <a:cs typeface="Calibri" pitchFamily="34" charset="-120"/>
              </a:rPr>
              <a:t>Each milestone requires 100%+ achievement consistency</a:t>
            </a:r>
            <a:endParaRPr lang="en-US" sz="1400" dirty="0"/>
          </a:p>
        </p:txBody>
      </p:sp>
      <p:sp>
        <p:nvSpPr>
          <p:cNvPr id="5" name="Shape 3"/>
          <p:cNvSpPr/>
          <p:nvPr/>
        </p:nvSpPr>
        <p:spPr>
          <a:xfrm>
            <a:off x="640080" y="1280160"/>
            <a:ext cx="7863840" cy="731520"/>
          </a:xfrm>
          <a:prstGeom prst="rect">
            <a:avLst/>
          </a:prstGeom>
          <a:solidFill>
            <a:srgbClr val="1E2D50"/>
          </a:solidFill>
          <a:ln/>
        </p:spPr>
      </p:sp>
      <p:sp>
        <p:nvSpPr>
          <p:cNvPr id="6" name="Text 4"/>
          <p:cNvSpPr/>
          <p:nvPr/>
        </p:nvSpPr>
        <p:spPr>
          <a:xfrm>
            <a:off x="777240" y="1325880"/>
            <a:ext cx="2011680" cy="64008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Executive → RM</a:t>
            </a:r>
            <a:endParaRPr lang="en-US" sz="1200" dirty="0"/>
          </a:p>
        </p:txBody>
      </p:sp>
      <p:sp>
        <p:nvSpPr>
          <p:cNvPr id="7" name="Text 5"/>
          <p:cNvSpPr/>
          <p:nvPr/>
        </p:nvSpPr>
        <p:spPr>
          <a:xfrm>
            <a:off x="2880360" y="1325880"/>
            <a:ext cx="1371600" cy="640080"/>
          </a:xfrm>
          <a:prstGeom prst="rect">
            <a:avLst/>
          </a:prstGeom>
          <a:noFill/>
          <a:ln/>
        </p:spPr>
        <p:txBody>
          <a:bodyPr wrap="square" lIns="0" tIns="0" rIns="0" bIns="0"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6 months</a:t>
            </a:r>
            <a:endParaRPr lang="en-US" sz="1100" dirty="0"/>
          </a:p>
        </p:txBody>
      </p:sp>
      <p:sp>
        <p:nvSpPr>
          <p:cNvPr id="8" name="Text 6"/>
          <p:cNvSpPr/>
          <p:nvPr/>
        </p:nvSpPr>
        <p:spPr>
          <a:xfrm>
            <a:off x="4343400" y="1325880"/>
            <a:ext cx="4160520" cy="640080"/>
          </a:xfrm>
          <a:prstGeom prst="rect">
            <a:avLst/>
          </a:prstGeom>
          <a:noFill/>
          <a:ln/>
        </p:spPr>
        <p:txBody>
          <a:bodyPr wrap="square" lIns="0" tIns="0" rIns="0" bIns="0" rtlCol="0" anchor="ctr"/>
          <a:lstStyle/>
          <a:p>
            <a:pPr indent="0" marL="0">
              <a:buNone/>
            </a:pPr>
            <a:r>
              <a:rPr lang="en-US" sz="1000" dirty="0">
                <a:solidFill>
                  <a:srgbClr val="A0AEC0"/>
                </a:solidFill>
                <a:latin typeface="Calibri" pitchFamily="34" charset="0"/>
                <a:ea typeface="Calibri" pitchFamily="34" charset="-122"/>
                <a:cs typeface="Calibri" pitchFamily="34" charset="-120"/>
              </a:rPr>
              <a:t>3 consecutive months @ 100%+</a:t>
            </a:r>
            <a:endParaRPr lang="en-US" sz="1000" dirty="0"/>
          </a:p>
        </p:txBody>
      </p:sp>
      <p:sp>
        <p:nvSpPr>
          <p:cNvPr id="9" name="Shape 7"/>
          <p:cNvSpPr/>
          <p:nvPr/>
        </p:nvSpPr>
        <p:spPr>
          <a:xfrm>
            <a:off x="640080" y="2148840"/>
            <a:ext cx="7863840" cy="731520"/>
          </a:xfrm>
          <a:prstGeom prst="rect">
            <a:avLst/>
          </a:prstGeom>
          <a:solidFill>
            <a:srgbClr val="1E2D50"/>
          </a:solidFill>
          <a:ln/>
        </p:spPr>
      </p:sp>
      <p:sp>
        <p:nvSpPr>
          <p:cNvPr id="10" name="Text 8"/>
          <p:cNvSpPr/>
          <p:nvPr/>
        </p:nvSpPr>
        <p:spPr>
          <a:xfrm>
            <a:off x="777240" y="2194560"/>
            <a:ext cx="2011680" cy="64008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RM → Senior RM</a:t>
            </a:r>
            <a:endParaRPr lang="en-US" sz="1200" dirty="0"/>
          </a:p>
        </p:txBody>
      </p:sp>
      <p:sp>
        <p:nvSpPr>
          <p:cNvPr id="11" name="Text 9"/>
          <p:cNvSpPr/>
          <p:nvPr/>
        </p:nvSpPr>
        <p:spPr>
          <a:xfrm>
            <a:off x="2880360" y="2194560"/>
            <a:ext cx="1371600" cy="640080"/>
          </a:xfrm>
          <a:prstGeom prst="rect">
            <a:avLst/>
          </a:prstGeom>
          <a:noFill/>
          <a:ln/>
        </p:spPr>
        <p:txBody>
          <a:bodyPr wrap="square" lIns="0" tIns="0" rIns="0" bIns="0"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12 months</a:t>
            </a:r>
            <a:endParaRPr lang="en-US" sz="1100" dirty="0"/>
          </a:p>
        </p:txBody>
      </p:sp>
      <p:sp>
        <p:nvSpPr>
          <p:cNvPr id="12" name="Text 10"/>
          <p:cNvSpPr/>
          <p:nvPr/>
        </p:nvSpPr>
        <p:spPr>
          <a:xfrm>
            <a:off x="4343400" y="2194560"/>
            <a:ext cx="4160520" cy="640080"/>
          </a:xfrm>
          <a:prstGeom prst="rect">
            <a:avLst/>
          </a:prstGeom>
          <a:noFill/>
          <a:ln/>
        </p:spPr>
        <p:txBody>
          <a:bodyPr wrap="square" lIns="0" tIns="0" rIns="0" bIns="0" rtlCol="0" anchor="ctr"/>
          <a:lstStyle/>
          <a:p>
            <a:pPr indent="0" marL="0">
              <a:buNone/>
            </a:pPr>
            <a:r>
              <a:rPr lang="en-US" sz="1000" dirty="0">
                <a:solidFill>
                  <a:srgbClr val="A0AEC0"/>
                </a:solidFill>
                <a:latin typeface="Calibri" pitchFamily="34" charset="0"/>
                <a:ea typeface="Calibri" pitchFamily="34" charset="-122"/>
                <a:cs typeface="Calibri" pitchFamily="34" charset="-120"/>
              </a:rPr>
              <a:t>4 out of last 6 months @ 100%+</a:t>
            </a:r>
            <a:endParaRPr lang="en-US" sz="1000" dirty="0"/>
          </a:p>
        </p:txBody>
      </p:sp>
      <p:sp>
        <p:nvSpPr>
          <p:cNvPr id="13" name="Shape 11"/>
          <p:cNvSpPr/>
          <p:nvPr/>
        </p:nvSpPr>
        <p:spPr>
          <a:xfrm>
            <a:off x="640080" y="3017520"/>
            <a:ext cx="7863840" cy="731520"/>
          </a:xfrm>
          <a:prstGeom prst="rect">
            <a:avLst/>
          </a:prstGeom>
          <a:solidFill>
            <a:srgbClr val="1E2D50"/>
          </a:solidFill>
          <a:ln/>
        </p:spPr>
      </p:sp>
      <p:sp>
        <p:nvSpPr>
          <p:cNvPr id="14" name="Text 12"/>
          <p:cNvSpPr/>
          <p:nvPr/>
        </p:nvSpPr>
        <p:spPr>
          <a:xfrm>
            <a:off x="777240" y="3063240"/>
            <a:ext cx="2011680" cy="64008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Senior RM → Area Manager</a:t>
            </a:r>
            <a:endParaRPr lang="en-US" sz="1200" dirty="0"/>
          </a:p>
        </p:txBody>
      </p:sp>
      <p:sp>
        <p:nvSpPr>
          <p:cNvPr id="15" name="Text 13"/>
          <p:cNvSpPr/>
          <p:nvPr/>
        </p:nvSpPr>
        <p:spPr>
          <a:xfrm>
            <a:off x="2880360" y="3063240"/>
            <a:ext cx="1371600" cy="640080"/>
          </a:xfrm>
          <a:prstGeom prst="rect">
            <a:avLst/>
          </a:prstGeom>
          <a:noFill/>
          <a:ln/>
        </p:spPr>
        <p:txBody>
          <a:bodyPr wrap="square" lIns="0" tIns="0" rIns="0" bIns="0"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18 months</a:t>
            </a:r>
            <a:endParaRPr lang="en-US" sz="1100" dirty="0"/>
          </a:p>
        </p:txBody>
      </p:sp>
      <p:sp>
        <p:nvSpPr>
          <p:cNvPr id="16" name="Text 14"/>
          <p:cNvSpPr/>
          <p:nvPr/>
        </p:nvSpPr>
        <p:spPr>
          <a:xfrm>
            <a:off x="4343400" y="3063240"/>
            <a:ext cx="4160520" cy="640080"/>
          </a:xfrm>
          <a:prstGeom prst="rect">
            <a:avLst/>
          </a:prstGeom>
          <a:noFill/>
          <a:ln/>
        </p:spPr>
        <p:txBody>
          <a:bodyPr wrap="square" lIns="0" tIns="0" rIns="0" bIns="0" rtlCol="0" anchor="ctr"/>
          <a:lstStyle/>
          <a:p>
            <a:pPr indent="0" marL="0">
              <a:buNone/>
            </a:pPr>
            <a:r>
              <a:rPr lang="en-US" sz="1000" dirty="0">
                <a:solidFill>
                  <a:srgbClr val="A0AEC0"/>
                </a:solidFill>
                <a:latin typeface="Calibri" pitchFamily="34" charset="0"/>
                <a:ea typeface="Calibri" pitchFamily="34" charset="-122"/>
                <a:cs typeface="Calibri" pitchFamily="34" charset="-120"/>
              </a:rPr>
              <a:t>12 consecutive months @ 100%+</a:t>
            </a:r>
            <a:endParaRPr lang="en-US" sz="1000" dirty="0"/>
          </a:p>
        </p:txBody>
      </p:sp>
      <p:sp>
        <p:nvSpPr>
          <p:cNvPr id="17" name="Shape 15"/>
          <p:cNvSpPr/>
          <p:nvPr/>
        </p:nvSpPr>
        <p:spPr>
          <a:xfrm>
            <a:off x="640080" y="3886200"/>
            <a:ext cx="7863840" cy="731520"/>
          </a:xfrm>
          <a:prstGeom prst="rect">
            <a:avLst/>
          </a:prstGeom>
          <a:solidFill>
            <a:srgbClr val="1E2D50"/>
          </a:solidFill>
          <a:ln/>
        </p:spPr>
      </p:sp>
      <p:sp>
        <p:nvSpPr>
          <p:cNvPr id="18" name="Text 16"/>
          <p:cNvSpPr/>
          <p:nvPr/>
        </p:nvSpPr>
        <p:spPr>
          <a:xfrm>
            <a:off x="777240" y="3931920"/>
            <a:ext cx="2011680" cy="64008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Area Manager → Sales Head</a:t>
            </a:r>
            <a:endParaRPr lang="en-US" sz="1200" dirty="0"/>
          </a:p>
        </p:txBody>
      </p:sp>
      <p:sp>
        <p:nvSpPr>
          <p:cNvPr id="19" name="Text 17"/>
          <p:cNvSpPr/>
          <p:nvPr/>
        </p:nvSpPr>
        <p:spPr>
          <a:xfrm>
            <a:off x="2880360" y="3931920"/>
            <a:ext cx="1371600" cy="640080"/>
          </a:xfrm>
          <a:prstGeom prst="rect">
            <a:avLst/>
          </a:prstGeom>
          <a:noFill/>
          <a:ln/>
        </p:spPr>
        <p:txBody>
          <a:bodyPr wrap="square" lIns="0" tIns="0" rIns="0" bIns="0"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24 months</a:t>
            </a:r>
            <a:endParaRPr lang="en-US" sz="1100" dirty="0"/>
          </a:p>
        </p:txBody>
      </p:sp>
      <p:sp>
        <p:nvSpPr>
          <p:cNvPr id="20" name="Text 18"/>
          <p:cNvSpPr/>
          <p:nvPr/>
        </p:nvSpPr>
        <p:spPr>
          <a:xfrm>
            <a:off x="4343400" y="3931920"/>
            <a:ext cx="4160520" cy="640080"/>
          </a:xfrm>
          <a:prstGeom prst="rect">
            <a:avLst/>
          </a:prstGeom>
          <a:noFill/>
          <a:ln/>
        </p:spPr>
        <p:txBody>
          <a:bodyPr wrap="square" lIns="0" tIns="0" rIns="0" bIns="0" rtlCol="0" anchor="ctr"/>
          <a:lstStyle/>
          <a:p>
            <a:pPr indent="0" marL="0">
              <a:buNone/>
            </a:pPr>
            <a:r>
              <a:rPr lang="en-US" sz="1000" dirty="0">
                <a:solidFill>
                  <a:srgbClr val="A0AEC0"/>
                </a:solidFill>
                <a:latin typeface="Calibri" pitchFamily="34" charset="0"/>
                <a:ea typeface="Calibri" pitchFamily="34" charset="-122"/>
                <a:cs typeface="Calibri" pitchFamily="34" charset="-120"/>
              </a:rPr>
              <a:t>4 consecutive profitable quarters</a:t>
            </a:r>
            <a:endParaRPr lang="en-US" sz="1000" dirty="0"/>
          </a:p>
        </p:txBody>
      </p:sp>
      <p:sp>
        <p:nvSpPr>
          <p:cNvPr id="21" name="Shape 19"/>
          <p:cNvSpPr/>
          <p:nvPr/>
        </p:nvSpPr>
        <p:spPr>
          <a:xfrm>
            <a:off x="640080" y="4389120"/>
            <a:ext cx="7863840" cy="548640"/>
          </a:xfrm>
          <a:prstGeom prst="rect">
            <a:avLst/>
          </a:prstGeom>
          <a:solidFill>
            <a:srgbClr val="4299E1"/>
          </a:solidFill>
          <a:ln/>
        </p:spPr>
      </p:sp>
      <p:sp>
        <p:nvSpPr>
          <p:cNvPr id="22" name="Text 20"/>
          <p:cNvSpPr/>
          <p:nvPr/>
        </p:nvSpPr>
        <p:spPr>
          <a:xfrm>
            <a:off x="777240" y="4389120"/>
            <a:ext cx="7589520" cy="548640"/>
          </a:xfrm>
          <a:prstGeom prst="rect">
            <a:avLst/>
          </a:prstGeom>
          <a:noFill/>
          <a:ln/>
        </p:spPr>
        <p:txBody>
          <a:bodyPr wrap="square" lIns="0" tIns="0" rIns="0" bIns="0" rtlCol="0" anchor="ctr"/>
          <a:lstStyle/>
          <a:p>
            <a:pPr algn="ctr" indent="0" marL="0">
              <a:buNone/>
            </a:pPr>
            <a:r>
              <a:rPr lang="en-US" sz="1100" b="1" dirty="0">
                <a:solidFill>
                  <a:srgbClr val="1A365D"/>
                </a:solidFill>
                <a:latin typeface="Calibri" pitchFamily="34" charset="0"/>
                <a:ea typeface="Calibri" pitchFamily="34" charset="-122"/>
                <a:cs typeface="Calibri" pitchFamily="34" charset="-120"/>
              </a:rPr>
              <a:t>Performance Allowance: ₹3,000/mo (130%+)  |  ₹2,000/mo (100%)  |  ₹0 (underperformer)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5-Year Projection to IPO</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Revenue ₹22Cr → ₹130Cr | ROI: 18% → 38% | Staff: 120 → 460</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280160"/>
                <a:gridCol w="1188720"/>
                <a:gridCol w="1188720"/>
                <a:gridCol w="1188720"/>
                <a:gridCol w="1188720"/>
                <a:gridCol w="128016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FY27</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FY28</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FY29</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FY30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FY31</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Revenue</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₹22Cr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₹38Cr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₹65Cr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₹98Cr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₹130Cr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Costs</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₹6.5Cr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₹11Cr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₹18Cr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₹25Cr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₹32Cr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Profit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₹15.5Cr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₹27Cr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₹47Cr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₹73Cr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₹98Cr</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ROI %</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Staff Count</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210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325</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395</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1000" dirty="0">
                          <a:solidFill>
                            <a:srgbClr val="2D3748"/>
                          </a:solidFill>
                          <a:latin typeface="Calibri" pitchFamily="34" charset="0"/>
                          <a:ea typeface="Calibri" pitchFamily="34" charset="-122"/>
                          <a:cs typeface="Calibri" pitchFamily="34" charset="-120"/>
                        </a:rPr>
                        <a:t>460</a:t>
                      </a:r>
                      <a:endParaRPr lang="en-US" sz="100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7" name="Shape 4"/>
          <p:cNvSpPr/>
          <p:nvPr/>
        </p:nvSpPr>
        <p:spPr>
          <a:xfrm>
            <a:off x="457200" y="2697480"/>
            <a:ext cx="8229600" cy="502920"/>
          </a:xfrm>
          <a:prstGeom prst="rect">
            <a:avLst/>
          </a:prstGeom>
          <a:solidFill>
            <a:srgbClr val="F0FFF4"/>
          </a:solidFill>
          <a:ln/>
        </p:spPr>
      </p:sp>
      <p:sp>
        <p:nvSpPr>
          <p:cNvPr id="8" name="Text 5"/>
          <p:cNvSpPr/>
          <p:nvPr/>
        </p:nvSpPr>
        <p:spPr>
          <a:xfrm>
            <a:off x="594360" y="2743200"/>
            <a:ext cx="7955280" cy="411480"/>
          </a:xfrm>
          <a:prstGeom prst="rect">
            <a:avLst/>
          </a:prstGeom>
          <a:noFill/>
          <a:ln/>
        </p:spPr>
        <p:txBody>
          <a:bodyPr wrap="square" lIns="0" tIns="0" rIns="0" bIns="0"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30%+ ROI achieved by FY29 — framework ensures margin-aligned incentives prevent profit leakage</a:t>
            </a:r>
            <a:endParaRPr lang="en-US" sz="1100" dirty="0"/>
          </a:p>
        </p:txBody>
      </p:sp>
      <p:sp>
        <p:nvSpPr>
          <p:cNvPr id="9" name="Shape 6"/>
          <p:cNvSpPr/>
          <p:nvPr/>
        </p:nvSpPr>
        <p:spPr>
          <a:xfrm>
            <a:off x="457200" y="3337560"/>
            <a:ext cx="8229600" cy="1600200"/>
          </a:xfrm>
          <a:prstGeom prst="rect">
            <a:avLst/>
          </a:prstGeom>
          <a:solidFill>
            <a:srgbClr val="EBF4FF"/>
          </a:solidFill>
          <a:ln/>
        </p:spPr>
      </p:sp>
      <p:sp>
        <p:nvSpPr>
          <p:cNvPr id="10" name="Text 7"/>
          <p:cNvSpPr/>
          <p:nvPr/>
        </p:nvSpPr>
        <p:spPr>
          <a:xfrm>
            <a:off x="594360" y="3429000"/>
            <a:ext cx="7955280" cy="1463040"/>
          </a:xfrm>
          <a:prstGeom prst="rect">
            <a:avLst/>
          </a:prstGeom>
          <a:noFill/>
          <a:ln/>
        </p:spPr>
        <p:txBody>
          <a:bodyPr wrap="square" lIns="0" tIns="0" rIns="0" bIns="0" rtlCol="0" anchor="t"/>
          <a:lstStyle/>
          <a:p>
            <a:pPr indent="0" marL="0">
              <a:buNone/>
            </a:pPr>
            <a:r>
              <a:rPr lang="en-US" sz="950" b="1" dirty="0">
                <a:solidFill>
                  <a:srgbClr val="1A365D"/>
                </a:solidFill>
                <a:latin typeface="Calibri" pitchFamily="34" charset="0"/>
                <a:ea typeface="Calibri" pitchFamily="34" charset="-122"/>
                <a:cs typeface="Calibri" pitchFamily="34" charset="-120"/>
              </a:rPr>
              <a:t>SCALABILITY PROOF
</a:t>
            </a:r>
            <a:endParaRPr lang="en-US" sz="950" dirty="0"/>
          </a:p>
          <a:p>
            <a:pPr indent="0" marL="0">
              <a:buNone/>
            </a:pPr>
            <a:r>
              <a:rPr lang="en-US" sz="950" dirty="0">
                <a:solidFill>
                  <a:srgbClr val="2D3748"/>
                </a:solidFill>
                <a:latin typeface="Calibri" pitchFamily="34" charset="0"/>
                <a:ea typeface="Calibri" pitchFamily="34" charset="-122"/>
                <a:cs typeface="Calibri" pitchFamily="34" charset="-120"/>
              </a:rPr>
              <a:t>Revenue grows 3-4x in 5 years (CAGR ~24%)
</a:t>
            </a:r>
            <a:endParaRPr lang="en-US" sz="950" dirty="0"/>
          </a:p>
          <a:p>
            <a:pPr indent="0" marL="0">
              <a:buNone/>
            </a:pPr>
            <a:r>
              <a:rPr lang="en-US" sz="950" dirty="0">
                <a:solidFill>
                  <a:srgbClr val="2D3748"/>
                </a:solidFill>
                <a:latin typeface="Calibri" pitchFamily="34" charset="0"/>
                <a:ea typeface="Calibri" pitchFamily="34" charset="-122"/>
                <a:cs typeface="Calibri" pitchFamily="34" charset="-120"/>
              </a:rPr>
              <a:t>Staff grows 3.8x (but efficiency improves: Revenue/Employee from ₹18L to ₹28L)
</a:t>
            </a:r>
            <a:endParaRPr lang="en-US" sz="950" dirty="0"/>
          </a:p>
          <a:p>
            <a:pPr indent="0" marL="0">
              <a:buNone/>
            </a:pPr>
            <a:r>
              <a:rPr lang="en-US" sz="950" dirty="0">
                <a:solidFill>
                  <a:srgbClr val="2D3748"/>
                </a:solidFill>
                <a:latin typeface="Calibri" pitchFamily="34" charset="0"/>
                <a:ea typeface="Calibri" pitchFamily="34" charset="-122"/>
                <a:cs typeface="Calibri" pitchFamily="34" charset="-120"/>
              </a:rPr>
              <a:t>Profit grows 6.3x — incentive framework ensures wealth creation, not cost explosion
</a:t>
            </a:r>
            <a:endParaRPr lang="en-US" sz="950" dirty="0"/>
          </a:p>
          <a:p>
            <a:pPr indent="0" marL="0">
              <a:buNone/>
            </a:pPr>
            <a:r>
              <a:rPr lang="en-US" sz="950" b="1" dirty="0">
                <a:solidFill>
                  <a:srgbClr val="38A169"/>
                </a:solidFill>
                <a:latin typeface="Calibri" pitchFamily="34" charset="0"/>
                <a:ea typeface="Calibri" pitchFamily="34" charset="-122"/>
                <a:cs typeface="Calibri" pitchFamily="34" charset="-120"/>
              </a:rPr>
              <a:t>Post-IPO valuation at 35× PE (₹350Cr) possible with clean financials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365D"/>
          </a:solidFill>
          <a:ln/>
        </p:spPr>
      </p:sp>
      <p:sp>
        <p:nvSpPr>
          <p:cNvPr id="3" name="Shape 1"/>
          <p:cNvSpPr/>
          <p:nvPr/>
        </p:nvSpPr>
        <p:spPr>
          <a:xfrm>
            <a:off x="0" y="54864"/>
            <a:ext cx="9144000" cy="27432"/>
          </a:xfrm>
          <a:prstGeom prst="rect">
            <a:avLst/>
          </a:prstGeom>
          <a:solidFill>
            <a:srgbClr val="D69E2E"/>
          </a:solidFill>
          <a:ln/>
        </p:spPr>
      </p:sp>
      <p:sp>
        <p:nvSpPr>
          <p:cNvPr id="4" name="Text 2"/>
          <p:cNvSpPr/>
          <p:nvPr/>
        </p:nvSpPr>
        <p:spPr>
          <a:xfrm>
            <a:off x="640080" y="274320"/>
            <a:ext cx="7863840" cy="548640"/>
          </a:xfrm>
          <a:prstGeom prst="rect">
            <a:avLst/>
          </a:prstGeom>
          <a:noFill/>
          <a:ln/>
        </p:spPr>
        <p:txBody>
          <a:bodyPr wrap="square" lIns="0" tIns="0" rIns="0" bIns="0" rtlCol="0" anchor="ctr"/>
          <a:lstStyle/>
          <a:p>
            <a:pPr indent="0" marL="0">
              <a:buNone/>
            </a:pPr>
            <a:r>
              <a:rPr lang="en-US" sz="2800" b="1" dirty="0">
                <a:solidFill>
                  <a:srgbClr val="1A365D"/>
                </a:solidFill>
                <a:latin typeface="Georgia" pitchFamily="34" charset="0"/>
                <a:ea typeface="Georgia" pitchFamily="34" charset="-122"/>
                <a:cs typeface="Georgia" pitchFamily="34" charset="-120"/>
              </a:rPr>
              <a:t>Governance &amp; System Access Control</a:t>
            </a:r>
            <a:endParaRPr lang="en-US" sz="2800" dirty="0"/>
          </a:p>
        </p:txBody>
      </p:sp>
      <p:sp>
        <p:nvSpPr>
          <p:cNvPr id="5" name="Text 3"/>
          <p:cNvSpPr/>
          <p:nvPr/>
        </p:nvSpPr>
        <p:spPr>
          <a:xfrm>
            <a:off x="640080" y="777240"/>
            <a:ext cx="786384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4 tiers of access | SEBI-compliant audit trail</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463040"/>
                <a:gridCol w="1828800"/>
                <a:gridCol w="2560320"/>
                <a:gridCol w="2377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Access Level</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Who</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Permissions</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Approval Required</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solidFill>
                      <a:srgbClr val="1A365D"/>
                    </a:solidFill>
                  </a:tcPr>
                </a:tc>
              </a:tr>
              <a:tr h="256032">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Super Admin</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Ram Shah, Sangita Shah</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Full control — targets, slabs, incentives</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L1 Admin</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Presidents, VPs</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Limited edits, deviation approval</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Up to ₹50K</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Manager</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Team Leads</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View own team data only (read-only)</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Director approval</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r h="256032">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Employee</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All staff</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View own dashboard — 100% transparent</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c>
                  <a:txBody>
                    <a:bodyPr/>
                    <a:lstStyle/>
                    <a:p>
                      <a:pPr indent="0" marL="0">
                        <a:buNone/>
                      </a:pPr>
                      <a:r>
                        <a:rPr lang="en-US" sz="950" dirty="0">
                          <a:solidFill>
                            <a:srgbClr val="2D374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6350" cap="flat" cmpd="sng" algn="ctr">
                      <a:solidFill>
                        <a:srgbClr val="EDF2F7"/>
                      </a:solidFill>
                      <a:prstDash val="solid"/>
                      <a:round/>
                      <a:headEnd type="none" w="med" len="med"/>
                      <a:tailEnd type="none" w="med" len="med"/>
                    </a:lnL>
                    <a:lnR w="6350" cap="flat" cmpd="sng" algn="ctr">
                      <a:solidFill>
                        <a:srgbClr val="EDF2F7"/>
                      </a:solidFill>
                      <a:prstDash val="solid"/>
                      <a:round/>
                      <a:headEnd type="none" w="med" len="med"/>
                      <a:tailEnd type="none" w="med" len="med"/>
                    </a:lnR>
                    <a:lnT w="6350" cap="flat" cmpd="sng" algn="ctr">
                      <a:solidFill>
                        <a:srgbClr val="EDF2F7"/>
                      </a:solidFill>
                      <a:prstDash val="solid"/>
                      <a:round/>
                      <a:headEnd type="none" w="med" len="med"/>
                      <a:tailEnd type="none" w="med" len="med"/>
                    </a:lnT>
                    <a:lnB w="6350" cap="flat" cmpd="sng" algn="ctr">
                      <a:solidFill>
                        <a:srgbClr val="EDF2F7"/>
                      </a:solidFill>
                      <a:prstDash val="solid"/>
                      <a:round/>
                      <a:headEnd type="none" w="med" len="med"/>
                      <a:tailEnd type="none" w="med" len="med"/>
                    </a:lnB>
                  </a:tcPr>
                </a:tc>
              </a:tr>
            </a:tbl>
          </a:graphicData>
        </a:graphic>
      </p:graphicFrame>
      <p:sp>
        <p:nvSpPr>
          <p:cNvPr id="7" name="Shape 4"/>
          <p:cNvSpPr/>
          <p:nvPr/>
        </p:nvSpPr>
        <p:spPr>
          <a:xfrm>
            <a:off x="457200" y="2560320"/>
            <a:ext cx="8229600" cy="914400"/>
          </a:xfrm>
          <a:prstGeom prst="rect">
            <a:avLst/>
          </a:prstGeom>
          <a:solidFill>
            <a:srgbClr val="EBF8FF"/>
          </a:solidFill>
          <a:ln/>
          <a:effectLst>
            <a:outerShdw sx="100000" sy="100000" kx="0" ky="0" algn="bl" rotWithShape="0" blurRad="76200" dist="25400" dir="8100000">
              <a:srgbClr val="000000">
                <a:alpha val="12000"/>
              </a:srgbClr>
            </a:outerShdw>
          </a:effectLst>
        </p:spPr>
      </p:sp>
      <p:sp>
        <p:nvSpPr>
          <p:cNvPr id="8" name="Text 5"/>
          <p:cNvSpPr/>
          <p:nvPr/>
        </p:nvSpPr>
        <p:spPr>
          <a:xfrm>
            <a:off x="594360" y="2606040"/>
            <a:ext cx="7955280" cy="822960"/>
          </a:xfrm>
          <a:prstGeom prst="rect">
            <a:avLst/>
          </a:prstGeom>
          <a:noFill/>
          <a:ln/>
        </p:spPr>
        <p:txBody>
          <a:bodyPr wrap="square" lIns="0" tIns="0" rIns="0" bIns="0" rtlCol="0" anchor="t"/>
          <a:lstStyle/>
          <a:p>
            <a:pPr indent="0" marL="0">
              <a:buNone/>
            </a:pPr>
            <a:r>
              <a:rPr lang="en-US" sz="1000" b="1" dirty="0">
                <a:solidFill>
                  <a:srgbClr val="2B6CB0"/>
                </a:solidFill>
                <a:latin typeface="Calibri" pitchFamily="34" charset="0"/>
                <a:ea typeface="Calibri" pitchFamily="34" charset="-122"/>
                <a:cs typeface="Calibri" pitchFamily="34" charset="-120"/>
              </a:rPr>
              <a:t>SPECIAL CONTROLS:
</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All deviations: Written Director approval + timestamp
</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FP Route 125% credits: Maker-Checker verification (2-person approval)
</a:t>
            </a:r>
            <a:endParaRPr lang="en-US" sz="1000" dirty="0"/>
          </a:p>
          <a:p>
            <a:pPr indent="0" marL="0">
              <a:buNone/>
            </a:pPr>
            <a:r>
              <a:rPr lang="en-US" sz="1000" i="1" dirty="0">
                <a:solidFill>
                  <a:srgbClr val="718096"/>
                </a:solidFill>
                <a:latin typeface="Calibri" pitchFamily="34" charset="0"/>
                <a:ea typeface="Calibri" pitchFamily="34" charset="-122"/>
                <a:cs typeface="Calibri" pitchFamily="34" charset="-120"/>
              </a:rPr>
              <a:t>Audit Trail: Complete log from Day 1 (SEBI-ready documentation)</a:t>
            </a:r>
            <a:endParaRPr lang="en-US" sz="1000" dirty="0"/>
          </a:p>
        </p:txBody>
      </p:sp>
      <p:sp>
        <p:nvSpPr>
          <p:cNvPr id="9" name="Shape 6"/>
          <p:cNvSpPr/>
          <p:nvPr/>
        </p:nvSpPr>
        <p:spPr>
          <a:xfrm>
            <a:off x="457200" y="3611880"/>
            <a:ext cx="8229600" cy="1234440"/>
          </a:xfrm>
          <a:prstGeom prst="rect">
            <a:avLst/>
          </a:prstGeom>
          <a:solidFill>
            <a:srgbClr val="F0FFF4"/>
          </a:solidFill>
          <a:ln/>
        </p:spPr>
      </p:sp>
      <p:sp>
        <p:nvSpPr>
          <p:cNvPr id="10" name="Text 7"/>
          <p:cNvSpPr/>
          <p:nvPr/>
        </p:nvSpPr>
        <p:spPr>
          <a:xfrm>
            <a:off x="594360" y="3657600"/>
            <a:ext cx="7955280" cy="1143000"/>
          </a:xfrm>
          <a:prstGeom prst="rect">
            <a:avLst/>
          </a:prstGeom>
          <a:noFill/>
          <a:ln/>
        </p:spPr>
        <p:txBody>
          <a:bodyPr wrap="square" lIns="0" tIns="0" rIns="0" bIns="0" rtlCol="0" anchor="t"/>
          <a:lstStyle/>
          <a:p>
            <a:pPr indent="0" marL="0">
              <a:buNone/>
            </a:pPr>
            <a:r>
              <a:rPr lang="en-US" sz="1000" b="1" dirty="0">
                <a:solidFill>
                  <a:srgbClr val="38A169"/>
                </a:solidFill>
                <a:latin typeface="Calibri" pitchFamily="34" charset="0"/>
                <a:ea typeface="Calibri" pitchFamily="34" charset="-122"/>
                <a:cs typeface="Calibri" pitchFamily="34" charset="-120"/>
              </a:rPr>
              <a:t>TRANSPARENCY PRINCIPLE
</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Every employee can log into the MIS portal and see their business logged, credits calculated, and expected incentive in real-time.
</a:t>
            </a:r>
            <a:endParaRPr lang="en-US" sz="1000" dirty="0"/>
          </a:p>
          <a:p>
            <a:pPr indent="0" marL="0">
              <a:buNone/>
            </a:pPr>
            <a:r>
              <a:rPr lang="en-US" sz="1000" b="1" dirty="0">
                <a:solidFill>
                  <a:srgbClr val="38A169"/>
                </a:solidFill>
                <a:latin typeface="Calibri" pitchFamily="34" charset="0"/>
                <a:ea typeface="Calibri" pitchFamily="34" charset="-122"/>
                <a:cs typeface="Calibri" pitchFamily="34" charset="-120"/>
              </a:rPr>
              <a:t>No surprise payouts. No manager discretion. System calculates; Director only approves.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69E2E"/>
          </a:solidFill>
          <a:ln/>
        </p:spPr>
      </p:sp>
      <p:sp>
        <p:nvSpPr>
          <p:cNvPr id="3" name="Text 1"/>
          <p:cNvSpPr/>
          <p:nvPr/>
        </p:nvSpPr>
        <p:spPr>
          <a:xfrm>
            <a:off x="640080" y="3657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Implementation Roadmap</a:t>
            </a:r>
            <a:endParaRPr lang="en-US" sz="3200" dirty="0"/>
          </a:p>
        </p:txBody>
      </p:sp>
      <p:sp>
        <p:nvSpPr>
          <p:cNvPr id="4" name="Text 2"/>
          <p:cNvSpPr/>
          <p:nvPr/>
        </p:nvSpPr>
        <p:spPr>
          <a:xfrm>
            <a:off x="640080" y="1005840"/>
            <a:ext cx="7863840" cy="365760"/>
          </a:xfrm>
          <a:prstGeom prst="rect">
            <a:avLst/>
          </a:prstGeom>
          <a:noFill/>
          <a:ln/>
        </p:spPr>
        <p:txBody>
          <a:bodyPr wrap="square" lIns="0" tIns="0" rIns="0" bIns="0" rtlCol="0" anchor="ctr"/>
          <a:lstStyle/>
          <a:p>
            <a:pPr indent="0" marL="0">
              <a:buNone/>
            </a:pPr>
            <a:r>
              <a:rPr lang="en-US" sz="1400" dirty="0">
                <a:solidFill>
                  <a:srgbClr val="A0AEC0"/>
                </a:solidFill>
                <a:latin typeface="Calibri" pitchFamily="34" charset="0"/>
                <a:ea typeface="Calibri" pitchFamily="34" charset="-122"/>
                <a:cs typeface="Calibri" pitchFamily="34" charset="-120"/>
              </a:rPr>
              <a:t>4 Phases — Month 1 to Go Live</a:t>
            </a:r>
            <a:endParaRPr lang="en-US" sz="1400" dirty="0"/>
          </a:p>
        </p:txBody>
      </p:sp>
      <p:sp>
        <p:nvSpPr>
          <p:cNvPr id="5" name="Shape 3"/>
          <p:cNvSpPr/>
          <p:nvPr/>
        </p:nvSpPr>
        <p:spPr>
          <a:xfrm>
            <a:off x="457200" y="1280160"/>
            <a:ext cx="2011680" cy="329184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280160"/>
            <a:ext cx="2011680" cy="54864"/>
          </a:xfrm>
          <a:prstGeom prst="rect">
            <a:avLst/>
          </a:prstGeom>
          <a:solidFill>
            <a:srgbClr val="38A169"/>
          </a:solidFill>
          <a:ln/>
        </p:spPr>
      </p:sp>
      <p:sp>
        <p:nvSpPr>
          <p:cNvPr id="7" name="Text 5"/>
          <p:cNvSpPr/>
          <p:nvPr/>
        </p:nvSpPr>
        <p:spPr>
          <a:xfrm>
            <a:off x="502920" y="1371600"/>
            <a:ext cx="1920240" cy="365760"/>
          </a:xfrm>
          <a:prstGeom prst="rect">
            <a:avLst/>
          </a:prstGeom>
          <a:noFill/>
          <a:ln/>
        </p:spPr>
        <p:txBody>
          <a:bodyPr wrap="square" lIns="0" tIns="0" rIns="0" bIns="0" rtlCol="0" anchor="ctr"/>
          <a:lstStyle/>
          <a:p>
            <a:pPr algn="ctr" indent="0" marL="0">
              <a:buNone/>
            </a:pPr>
            <a:r>
              <a:rPr lang="en-US" sz="1100" b="1" dirty="0">
                <a:solidFill>
                  <a:srgbClr val="38A169"/>
                </a:solidFill>
                <a:latin typeface="Georgia" pitchFamily="34" charset="0"/>
                <a:ea typeface="Georgia" pitchFamily="34" charset="-122"/>
                <a:cs typeface="Georgia" pitchFamily="34" charset="-120"/>
              </a:rPr>
              <a:t>Phase 1</a:t>
            </a:r>
            <a:endParaRPr lang="en-US" sz="1100" dirty="0"/>
          </a:p>
          <a:p>
            <a:pPr algn="ctr" indent="0" marL="0">
              <a:buNone/>
            </a:pPr>
            <a:r>
              <a:rPr lang="en-US" sz="1100" b="1" dirty="0">
                <a:solidFill>
                  <a:srgbClr val="38A169"/>
                </a:solidFill>
                <a:latin typeface="Georgia" pitchFamily="34" charset="0"/>
                <a:ea typeface="Georgia" pitchFamily="34" charset="-122"/>
                <a:cs typeface="Georgia" pitchFamily="34" charset="-120"/>
              </a:rPr>
              <a:t>MO 1-2</a:t>
            </a:r>
            <a:endParaRPr lang="en-US" sz="1100" dirty="0"/>
          </a:p>
        </p:txBody>
      </p:sp>
      <p:sp>
        <p:nvSpPr>
          <p:cNvPr id="8" name="Text 6"/>
          <p:cNvSpPr/>
          <p:nvPr/>
        </p:nvSpPr>
        <p:spPr>
          <a:xfrm>
            <a:off x="502920" y="1828800"/>
            <a:ext cx="1920240" cy="320040"/>
          </a:xfrm>
          <a:prstGeom prst="rect">
            <a:avLst/>
          </a:prstGeom>
          <a:noFill/>
          <a:ln/>
        </p:spPr>
        <p:txBody>
          <a:bodyPr wrap="square" lIns="0" tIns="0" rIns="0" bIns="0" rtlCol="0" anchor="ctr"/>
          <a:lstStyle/>
          <a:p>
            <a:pPr algn="ctr" indent="0" marL="0">
              <a:buNone/>
            </a:pPr>
            <a:r>
              <a:rPr lang="en-US" sz="1200" b="1" dirty="0">
                <a:solidFill>
                  <a:srgbClr val="38A169"/>
                </a:solidFill>
                <a:latin typeface="Georgia" pitchFamily="34" charset="0"/>
                <a:ea typeface="Georgia" pitchFamily="34" charset="-122"/>
                <a:cs typeface="Georgia" pitchFamily="34" charset="-120"/>
              </a:rPr>
              <a:t>Board Approval</a:t>
            </a:r>
            <a:endParaRPr lang="en-US" sz="1200" dirty="0"/>
          </a:p>
        </p:txBody>
      </p:sp>
      <p:sp>
        <p:nvSpPr>
          <p:cNvPr id="9" name="Text 7"/>
          <p:cNvSpPr/>
          <p:nvPr/>
        </p:nvSpPr>
        <p:spPr>
          <a:xfrm>
            <a:off x="548640" y="2240280"/>
            <a:ext cx="1828800" cy="219456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Approve all incentive slabs</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Finalize ESOP pool size</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Sign off deferred bonus rules</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Validate balanced scorecard KPIs</a:t>
            </a:r>
            <a:endParaRPr lang="en-US" sz="800" dirty="0"/>
          </a:p>
        </p:txBody>
      </p:sp>
      <p:sp>
        <p:nvSpPr>
          <p:cNvPr id="10" name="Shape 8"/>
          <p:cNvSpPr/>
          <p:nvPr/>
        </p:nvSpPr>
        <p:spPr>
          <a:xfrm>
            <a:off x="2606040" y="1280160"/>
            <a:ext cx="2011680" cy="329184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1" name="Shape 9"/>
          <p:cNvSpPr/>
          <p:nvPr/>
        </p:nvSpPr>
        <p:spPr>
          <a:xfrm>
            <a:off x="2606040" y="1280160"/>
            <a:ext cx="2011680" cy="54864"/>
          </a:xfrm>
          <a:prstGeom prst="rect">
            <a:avLst/>
          </a:prstGeom>
          <a:solidFill>
            <a:srgbClr val="2B6CB0"/>
          </a:solidFill>
          <a:ln/>
        </p:spPr>
      </p:sp>
      <p:sp>
        <p:nvSpPr>
          <p:cNvPr id="12" name="Text 10"/>
          <p:cNvSpPr/>
          <p:nvPr/>
        </p:nvSpPr>
        <p:spPr>
          <a:xfrm>
            <a:off x="2651760" y="1371600"/>
            <a:ext cx="1920240" cy="365760"/>
          </a:xfrm>
          <a:prstGeom prst="rect">
            <a:avLst/>
          </a:prstGeom>
          <a:noFill/>
          <a:ln/>
        </p:spPr>
        <p:txBody>
          <a:bodyPr wrap="square" lIns="0" tIns="0" rIns="0" bIns="0" rtlCol="0" anchor="ctr"/>
          <a:lstStyle/>
          <a:p>
            <a:pPr algn="ctr" indent="0" marL="0">
              <a:buNone/>
            </a:pPr>
            <a:r>
              <a:rPr lang="en-US" sz="1100" b="1" dirty="0">
                <a:solidFill>
                  <a:srgbClr val="2B6CB0"/>
                </a:solidFill>
                <a:latin typeface="Georgia" pitchFamily="34" charset="0"/>
                <a:ea typeface="Georgia" pitchFamily="34" charset="-122"/>
                <a:cs typeface="Georgia" pitchFamily="34" charset="-120"/>
              </a:rPr>
              <a:t>Phase 2</a:t>
            </a:r>
            <a:endParaRPr lang="en-US" sz="1100" dirty="0"/>
          </a:p>
          <a:p>
            <a:pPr algn="ctr" indent="0" marL="0">
              <a:buNone/>
            </a:pPr>
            <a:r>
              <a:rPr lang="en-US" sz="1100" b="1" dirty="0">
                <a:solidFill>
                  <a:srgbClr val="2B6CB0"/>
                </a:solidFill>
                <a:latin typeface="Georgia" pitchFamily="34" charset="0"/>
                <a:ea typeface="Georgia" pitchFamily="34" charset="-122"/>
                <a:cs typeface="Georgia" pitchFamily="34" charset="-120"/>
              </a:rPr>
              <a:t>MO 2-3</a:t>
            </a:r>
            <a:endParaRPr lang="en-US" sz="1100" dirty="0"/>
          </a:p>
        </p:txBody>
      </p:sp>
      <p:sp>
        <p:nvSpPr>
          <p:cNvPr id="13" name="Text 11"/>
          <p:cNvSpPr/>
          <p:nvPr/>
        </p:nvSpPr>
        <p:spPr>
          <a:xfrm>
            <a:off x="2651760" y="1828800"/>
            <a:ext cx="1920240" cy="320040"/>
          </a:xfrm>
          <a:prstGeom prst="rect">
            <a:avLst/>
          </a:prstGeom>
          <a:noFill/>
          <a:ln/>
        </p:spPr>
        <p:txBody>
          <a:bodyPr wrap="square" lIns="0" tIns="0" rIns="0" bIns="0" rtlCol="0" anchor="ctr"/>
          <a:lstStyle/>
          <a:p>
            <a:pPr algn="ctr" indent="0" marL="0">
              <a:buNone/>
            </a:pPr>
            <a:r>
              <a:rPr lang="en-US" sz="1200" b="1" dirty="0">
                <a:solidFill>
                  <a:srgbClr val="2B6CB0"/>
                </a:solidFill>
                <a:latin typeface="Georgia" pitchFamily="34" charset="0"/>
                <a:ea typeface="Georgia" pitchFamily="34" charset="-122"/>
                <a:cs typeface="Georgia" pitchFamily="34" charset="-120"/>
              </a:rPr>
              <a:t>Communication</a:t>
            </a:r>
            <a:endParaRPr lang="en-US" sz="1200" dirty="0"/>
          </a:p>
        </p:txBody>
      </p:sp>
      <p:sp>
        <p:nvSpPr>
          <p:cNvPr id="14" name="Text 12"/>
          <p:cNvSpPr/>
          <p:nvPr/>
        </p:nvSpPr>
        <p:spPr>
          <a:xfrm>
            <a:off x="2697480" y="2240280"/>
            <a:ext cx="1828800" cy="219456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Individual career roadmaps</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ESOP grant letters issued</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Team briefings conducted</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T&amp;C documentation signed</a:t>
            </a:r>
            <a:endParaRPr lang="en-US" sz="800" dirty="0"/>
          </a:p>
        </p:txBody>
      </p:sp>
      <p:sp>
        <p:nvSpPr>
          <p:cNvPr id="15" name="Shape 13"/>
          <p:cNvSpPr/>
          <p:nvPr/>
        </p:nvSpPr>
        <p:spPr>
          <a:xfrm>
            <a:off x="4754880" y="1280160"/>
            <a:ext cx="2011680" cy="329184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6" name="Shape 14"/>
          <p:cNvSpPr/>
          <p:nvPr/>
        </p:nvSpPr>
        <p:spPr>
          <a:xfrm>
            <a:off x="4754880" y="1280160"/>
            <a:ext cx="2011680" cy="54864"/>
          </a:xfrm>
          <a:prstGeom prst="rect">
            <a:avLst/>
          </a:prstGeom>
          <a:solidFill>
            <a:srgbClr val="D69E2E"/>
          </a:solidFill>
          <a:ln/>
        </p:spPr>
      </p:sp>
      <p:sp>
        <p:nvSpPr>
          <p:cNvPr id="17" name="Text 15"/>
          <p:cNvSpPr/>
          <p:nvPr/>
        </p:nvSpPr>
        <p:spPr>
          <a:xfrm>
            <a:off x="4800600" y="1371600"/>
            <a:ext cx="1920240" cy="365760"/>
          </a:xfrm>
          <a:prstGeom prst="rect">
            <a:avLst/>
          </a:prstGeom>
          <a:noFill/>
          <a:ln/>
        </p:spPr>
        <p:txBody>
          <a:bodyPr wrap="square" lIns="0" tIns="0" rIns="0" bIns="0" rtlCol="0" anchor="ctr"/>
          <a:lstStyle/>
          <a:p>
            <a:pPr algn="ctr" indent="0" marL="0">
              <a:buNone/>
            </a:pPr>
            <a:r>
              <a:rPr lang="en-US" sz="1100" b="1" dirty="0">
                <a:solidFill>
                  <a:srgbClr val="D69E2E"/>
                </a:solidFill>
                <a:latin typeface="Georgia" pitchFamily="34" charset="0"/>
                <a:ea typeface="Georgia" pitchFamily="34" charset="-122"/>
                <a:cs typeface="Georgia" pitchFamily="34" charset="-120"/>
              </a:rPr>
              <a:t>Phase 3</a:t>
            </a:r>
            <a:endParaRPr lang="en-US" sz="1100" dirty="0"/>
          </a:p>
          <a:p>
            <a:pPr algn="ctr" indent="0" marL="0">
              <a:buNone/>
            </a:pPr>
            <a:r>
              <a:rPr lang="en-US" sz="1100" b="1" dirty="0">
                <a:solidFill>
                  <a:srgbClr val="D69E2E"/>
                </a:solidFill>
                <a:latin typeface="Georgia" pitchFamily="34" charset="0"/>
                <a:ea typeface="Georgia" pitchFamily="34" charset="-122"/>
                <a:cs typeface="Georgia" pitchFamily="34" charset="-120"/>
              </a:rPr>
              <a:t>MO 3-4</a:t>
            </a:r>
            <a:endParaRPr lang="en-US" sz="1100" dirty="0"/>
          </a:p>
        </p:txBody>
      </p:sp>
      <p:sp>
        <p:nvSpPr>
          <p:cNvPr id="18" name="Text 16"/>
          <p:cNvSpPr/>
          <p:nvPr/>
        </p:nvSpPr>
        <p:spPr>
          <a:xfrm>
            <a:off x="4800600" y="1828800"/>
            <a:ext cx="1920240" cy="320040"/>
          </a:xfrm>
          <a:prstGeom prst="rect">
            <a:avLst/>
          </a:prstGeom>
          <a:noFill/>
          <a:ln/>
        </p:spPr>
        <p:txBody>
          <a:bodyPr wrap="square" lIns="0" tIns="0" rIns="0" bIns="0" rtlCol="0" anchor="ctr"/>
          <a:lstStyle/>
          <a:p>
            <a:pPr algn="ctr" indent="0" marL="0">
              <a:buNone/>
            </a:pPr>
            <a:r>
              <a:rPr lang="en-US" sz="1200" b="1" dirty="0">
                <a:solidFill>
                  <a:srgbClr val="D69E2E"/>
                </a:solidFill>
                <a:latin typeface="Georgia" pitchFamily="34" charset="0"/>
                <a:ea typeface="Georgia" pitchFamily="34" charset="-122"/>
                <a:cs typeface="Georgia" pitchFamily="34" charset="-120"/>
              </a:rPr>
              <a:t>Pilot Run</a:t>
            </a:r>
            <a:endParaRPr lang="en-US" sz="1200" dirty="0"/>
          </a:p>
        </p:txBody>
      </p:sp>
      <p:sp>
        <p:nvSpPr>
          <p:cNvPr id="19" name="Text 17"/>
          <p:cNvSpPr/>
          <p:nvPr/>
        </p:nvSpPr>
        <p:spPr>
          <a:xfrm>
            <a:off x="4846320" y="2240280"/>
            <a:ext cx="1828800" cy="219456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Parallel old vs new calc</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Data validation &amp; testing</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Dashboard dry-run</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Compliance checklist</a:t>
            </a:r>
            <a:endParaRPr lang="en-US" sz="800" dirty="0"/>
          </a:p>
        </p:txBody>
      </p:sp>
      <p:sp>
        <p:nvSpPr>
          <p:cNvPr id="20" name="Shape 18"/>
          <p:cNvSpPr/>
          <p:nvPr/>
        </p:nvSpPr>
        <p:spPr>
          <a:xfrm>
            <a:off x="6903720" y="1280160"/>
            <a:ext cx="2011680" cy="329184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21" name="Shape 19"/>
          <p:cNvSpPr/>
          <p:nvPr/>
        </p:nvSpPr>
        <p:spPr>
          <a:xfrm>
            <a:off x="6903720" y="1280160"/>
            <a:ext cx="2011680" cy="54864"/>
          </a:xfrm>
          <a:prstGeom prst="rect">
            <a:avLst/>
          </a:prstGeom>
          <a:solidFill>
            <a:srgbClr val="38A169"/>
          </a:solidFill>
          <a:ln/>
        </p:spPr>
      </p:sp>
      <p:sp>
        <p:nvSpPr>
          <p:cNvPr id="22" name="Text 20"/>
          <p:cNvSpPr/>
          <p:nvPr/>
        </p:nvSpPr>
        <p:spPr>
          <a:xfrm>
            <a:off x="6949440" y="1371600"/>
            <a:ext cx="1920240" cy="365760"/>
          </a:xfrm>
          <a:prstGeom prst="rect">
            <a:avLst/>
          </a:prstGeom>
          <a:noFill/>
          <a:ln/>
        </p:spPr>
        <p:txBody>
          <a:bodyPr wrap="square" lIns="0" tIns="0" rIns="0" bIns="0" rtlCol="0" anchor="ctr"/>
          <a:lstStyle/>
          <a:p>
            <a:pPr algn="ctr" indent="0" marL="0">
              <a:buNone/>
            </a:pPr>
            <a:r>
              <a:rPr lang="en-US" sz="1100" b="1" dirty="0">
                <a:solidFill>
                  <a:srgbClr val="38A169"/>
                </a:solidFill>
                <a:latin typeface="Georgia" pitchFamily="34" charset="0"/>
                <a:ea typeface="Georgia" pitchFamily="34" charset="-122"/>
                <a:cs typeface="Georgia" pitchFamily="34" charset="-120"/>
              </a:rPr>
              <a:t>Phase 4</a:t>
            </a:r>
            <a:endParaRPr lang="en-US" sz="1100" dirty="0"/>
          </a:p>
          <a:p>
            <a:pPr algn="ctr" indent="0" marL="0">
              <a:buNone/>
            </a:pPr>
            <a:r>
              <a:rPr lang="en-US" sz="1100" b="1" dirty="0">
                <a:solidFill>
                  <a:srgbClr val="38A169"/>
                </a:solidFill>
                <a:latin typeface="Georgia" pitchFamily="34" charset="0"/>
                <a:ea typeface="Georgia" pitchFamily="34" charset="-122"/>
                <a:cs typeface="Georgia" pitchFamily="34" charset="-120"/>
              </a:rPr>
              <a:t>MO 4+</a:t>
            </a:r>
            <a:endParaRPr lang="en-US" sz="1100" dirty="0"/>
          </a:p>
        </p:txBody>
      </p:sp>
      <p:sp>
        <p:nvSpPr>
          <p:cNvPr id="23" name="Text 21"/>
          <p:cNvSpPr/>
          <p:nvPr/>
        </p:nvSpPr>
        <p:spPr>
          <a:xfrm>
            <a:off x="6949440" y="1828800"/>
            <a:ext cx="1920240" cy="320040"/>
          </a:xfrm>
          <a:prstGeom prst="rect">
            <a:avLst/>
          </a:prstGeom>
          <a:noFill/>
          <a:ln/>
        </p:spPr>
        <p:txBody>
          <a:bodyPr wrap="square" lIns="0" tIns="0" rIns="0" bIns="0" rtlCol="0" anchor="ctr"/>
          <a:lstStyle/>
          <a:p>
            <a:pPr algn="ctr" indent="0" marL="0">
              <a:buNone/>
            </a:pPr>
            <a:r>
              <a:rPr lang="en-US" sz="1200" b="1" dirty="0">
                <a:solidFill>
                  <a:srgbClr val="38A169"/>
                </a:solidFill>
                <a:latin typeface="Georgia" pitchFamily="34" charset="0"/>
                <a:ea typeface="Georgia" pitchFamily="34" charset="-122"/>
                <a:cs typeface="Georgia" pitchFamily="34" charset="-120"/>
              </a:rPr>
              <a:t>Go Live</a:t>
            </a:r>
            <a:endParaRPr lang="en-US" sz="1200" dirty="0"/>
          </a:p>
        </p:txBody>
      </p:sp>
      <p:sp>
        <p:nvSpPr>
          <p:cNvPr id="24" name="Text 22"/>
          <p:cNvSpPr/>
          <p:nvPr/>
        </p:nvSpPr>
        <p:spPr>
          <a:xfrm>
            <a:off x="6995160" y="2240280"/>
            <a:ext cx="1828800" cy="219456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Automated payouts start</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CLV tracking live</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First real incentive in hand</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SEBI audit trail active</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69E2E"/>
          </a:solidFill>
          <a:ln/>
        </p:spPr>
      </p:sp>
      <p:sp>
        <p:nvSpPr>
          <p:cNvPr id="3" name="Text 1"/>
          <p:cNvSpPr/>
          <p:nvPr/>
        </p:nvSpPr>
        <p:spPr>
          <a:xfrm>
            <a:off x="640080" y="3657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Key Takeaways</a:t>
            </a:r>
            <a:endParaRPr lang="en-US" sz="3200" dirty="0"/>
          </a:p>
        </p:txBody>
      </p:sp>
      <p:sp>
        <p:nvSpPr>
          <p:cNvPr id="4" name="Shape 2"/>
          <p:cNvSpPr/>
          <p:nvPr/>
        </p:nvSpPr>
        <p:spPr>
          <a:xfrm>
            <a:off x="640080" y="1188720"/>
            <a:ext cx="7863840" cy="41148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5" name="Shape 3"/>
          <p:cNvSpPr/>
          <p:nvPr/>
        </p:nvSpPr>
        <p:spPr>
          <a:xfrm>
            <a:off x="640080" y="1188720"/>
            <a:ext cx="411480" cy="411480"/>
          </a:xfrm>
          <a:prstGeom prst="rect">
            <a:avLst/>
          </a:prstGeom>
          <a:solidFill>
            <a:srgbClr val="38A169"/>
          </a:solidFill>
          <a:ln/>
        </p:spPr>
      </p:sp>
      <p:sp>
        <p:nvSpPr>
          <p:cNvPr id="6" name="Text 4"/>
          <p:cNvSpPr/>
          <p:nvPr/>
        </p:nvSpPr>
        <p:spPr>
          <a:xfrm>
            <a:off x="640080" y="11887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143000" y="1188720"/>
            <a:ext cx="1920240" cy="411480"/>
          </a:xfrm>
          <a:prstGeom prst="rect">
            <a:avLst/>
          </a:prstGeom>
          <a:noFill/>
          <a:ln/>
        </p:spPr>
        <p:txBody>
          <a:bodyPr wrap="square" lIns="0" tIns="0" rIns="0" bIns="0" rtlCol="0" anchor="ctr"/>
          <a:lstStyle/>
          <a:p>
            <a:pPr indent="0" marL="0">
              <a:buNone/>
            </a:pPr>
            <a:r>
              <a:rPr lang="en-US" sz="1200" b="1" dirty="0">
                <a:solidFill>
                  <a:srgbClr val="38A169"/>
                </a:solidFill>
                <a:latin typeface="Georgia" pitchFamily="34" charset="0"/>
                <a:ea typeface="Georgia" pitchFamily="34" charset="-122"/>
                <a:cs typeface="Georgia" pitchFamily="34" charset="-120"/>
              </a:rPr>
              <a:t>Meritocratic</a:t>
            </a:r>
            <a:endParaRPr lang="en-US" sz="1200" dirty="0"/>
          </a:p>
        </p:txBody>
      </p:sp>
      <p:sp>
        <p:nvSpPr>
          <p:cNvPr id="8" name="Text 6"/>
          <p:cNvSpPr/>
          <p:nvPr/>
        </p:nvSpPr>
        <p:spPr>
          <a:xfrm>
            <a:off x="3200400" y="1188720"/>
            <a:ext cx="5212080" cy="411480"/>
          </a:xfrm>
          <a:prstGeom prst="rect">
            <a:avLst/>
          </a:prstGeom>
          <a:noFill/>
          <a:ln/>
        </p:spPr>
        <p:txBody>
          <a:bodyPr wrap="square" lIns="0" tIns="0" rIns="0" bIns="0" rtlCol="0" anchor="ctr"/>
          <a:lstStyle/>
          <a:p>
            <a:pPr indent="0" marL="0">
              <a:buNone/>
            </a:pPr>
            <a:r>
              <a:rPr lang="en-US" sz="1100" dirty="0">
                <a:solidFill>
                  <a:srgbClr val="A0AEC0"/>
                </a:solidFill>
                <a:latin typeface="Calibri" pitchFamily="34" charset="0"/>
                <a:ea typeface="Calibri" pitchFamily="34" charset="-122"/>
                <a:cs typeface="Calibri" pitchFamily="34" charset="-120"/>
              </a:rPr>
              <a:t>Performers rewarded disproportionately — 6 accelerator slabs</a:t>
            </a:r>
            <a:endParaRPr lang="en-US" sz="1100" dirty="0"/>
          </a:p>
        </p:txBody>
      </p:sp>
      <p:sp>
        <p:nvSpPr>
          <p:cNvPr id="9" name="Shape 7"/>
          <p:cNvSpPr/>
          <p:nvPr/>
        </p:nvSpPr>
        <p:spPr>
          <a:xfrm>
            <a:off x="640080" y="1691640"/>
            <a:ext cx="7863840" cy="41148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0" name="Shape 8"/>
          <p:cNvSpPr/>
          <p:nvPr/>
        </p:nvSpPr>
        <p:spPr>
          <a:xfrm>
            <a:off x="640080" y="1691640"/>
            <a:ext cx="411480" cy="411480"/>
          </a:xfrm>
          <a:prstGeom prst="rect">
            <a:avLst/>
          </a:prstGeom>
          <a:solidFill>
            <a:srgbClr val="D69E2E"/>
          </a:solidFill>
          <a:ln/>
        </p:spPr>
      </p:sp>
      <p:sp>
        <p:nvSpPr>
          <p:cNvPr id="11" name="Text 9"/>
          <p:cNvSpPr/>
          <p:nvPr/>
        </p:nvSpPr>
        <p:spPr>
          <a:xfrm>
            <a:off x="640080" y="16916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2" name="Text 10"/>
          <p:cNvSpPr/>
          <p:nvPr/>
        </p:nvSpPr>
        <p:spPr>
          <a:xfrm>
            <a:off x="1143000" y="1691640"/>
            <a:ext cx="1920240" cy="41148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Cost-Controlled</a:t>
            </a:r>
            <a:endParaRPr lang="en-US" sz="1200" dirty="0"/>
          </a:p>
        </p:txBody>
      </p:sp>
      <p:sp>
        <p:nvSpPr>
          <p:cNvPr id="13" name="Text 11"/>
          <p:cNvSpPr/>
          <p:nvPr/>
        </p:nvSpPr>
        <p:spPr>
          <a:xfrm>
            <a:off x="3200400" y="1691640"/>
            <a:ext cx="5212080" cy="411480"/>
          </a:xfrm>
          <a:prstGeom prst="rect">
            <a:avLst/>
          </a:prstGeom>
          <a:noFill/>
          <a:ln/>
        </p:spPr>
        <p:txBody>
          <a:bodyPr wrap="square" lIns="0" tIns="0" rIns="0" bIns="0" rtlCol="0" anchor="ctr"/>
          <a:lstStyle/>
          <a:p>
            <a:pPr indent="0" marL="0">
              <a:buNone/>
            </a:pPr>
            <a:r>
              <a:rPr lang="en-US" sz="1100" dirty="0">
                <a:solidFill>
                  <a:srgbClr val="A0AEC0"/>
                </a:solidFill>
                <a:latin typeface="Calibri" pitchFamily="34" charset="0"/>
                <a:ea typeface="Calibri" pitchFamily="34" charset="-122"/>
                <a:cs typeface="Calibri" pitchFamily="34" charset="-120"/>
              </a:rPr>
              <a:t>30%+ ROI target, every rupee accountable, profit center model</a:t>
            </a:r>
            <a:endParaRPr lang="en-US" sz="1100" dirty="0"/>
          </a:p>
        </p:txBody>
      </p:sp>
      <p:sp>
        <p:nvSpPr>
          <p:cNvPr id="14" name="Shape 12"/>
          <p:cNvSpPr/>
          <p:nvPr/>
        </p:nvSpPr>
        <p:spPr>
          <a:xfrm>
            <a:off x="640080" y="2194560"/>
            <a:ext cx="7863840" cy="41148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15" name="Shape 13"/>
          <p:cNvSpPr/>
          <p:nvPr/>
        </p:nvSpPr>
        <p:spPr>
          <a:xfrm>
            <a:off x="640080" y="2194560"/>
            <a:ext cx="411480" cy="411480"/>
          </a:xfrm>
          <a:prstGeom prst="rect">
            <a:avLst/>
          </a:prstGeom>
          <a:solidFill>
            <a:srgbClr val="4299E1"/>
          </a:solidFill>
          <a:ln/>
        </p:spPr>
      </p:sp>
      <p:sp>
        <p:nvSpPr>
          <p:cNvPr id="16" name="Text 14"/>
          <p:cNvSpPr/>
          <p:nvPr/>
        </p:nvSpPr>
        <p:spPr>
          <a:xfrm>
            <a:off x="640080" y="21945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7" name="Text 15"/>
          <p:cNvSpPr/>
          <p:nvPr/>
        </p:nvSpPr>
        <p:spPr>
          <a:xfrm>
            <a:off x="1143000" y="2194560"/>
            <a:ext cx="1920240" cy="411480"/>
          </a:xfrm>
          <a:prstGeom prst="rect">
            <a:avLst/>
          </a:prstGeom>
          <a:noFill/>
          <a:ln/>
        </p:spPr>
        <p:txBody>
          <a:bodyPr wrap="square" lIns="0" tIns="0" rIns="0" bIns="0" rtlCol="0" anchor="ctr"/>
          <a:lstStyle/>
          <a:p>
            <a:pPr indent="0" marL="0">
              <a:buNone/>
            </a:pPr>
            <a:r>
              <a:rPr lang="en-US" sz="1200" b="1" dirty="0">
                <a:solidFill>
                  <a:srgbClr val="4299E1"/>
                </a:solidFill>
                <a:latin typeface="Georgia" pitchFamily="34" charset="0"/>
                <a:ea typeface="Georgia" pitchFamily="34" charset="-122"/>
                <a:cs typeface="Georgia" pitchFamily="34" charset="-120"/>
              </a:rPr>
              <a:t>System-Driven</a:t>
            </a:r>
            <a:endParaRPr lang="en-US" sz="1200" dirty="0"/>
          </a:p>
        </p:txBody>
      </p:sp>
      <p:sp>
        <p:nvSpPr>
          <p:cNvPr id="18" name="Text 16"/>
          <p:cNvSpPr/>
          <p:nvPr/>
        </p:nvSpPr>
        <p:spPr>
          <a:xfrm>
            <a:off x="3200400" y="2194560"/>
            <a:ext cx="5212080" cy="411480"/>
          </a:xfrm>
          <a:prstGeom prst="rect">
            <a:avLst/>
          </a:prstGeom>
          <a:noFill/>
          <a:ln/>
        </p:spPr>
        <p:txBody>
          <a:bodyPr wrap="square" lIns="0" tIns="0" rIns="0" bIns="0" rtlCol="0" anchor="ctr"/>
          <a:lstStyle/>
          <a:p>
            <a:pPr indent="0" marL="0">
              <a:buNone/>
            </a:pPr>
            <a:r>
              <a:rPr lang="en-US" sz="1100" dirty="0">
                <a:solidFill>
                  <a:srgbClr val="A0AEC0"/>
                </a:solidFill>
                <a:latin typeface="Calibri" pitchFamily="34" charset="0"/>
                <a:ea typeface="Calibri" pitchFamily="34" charset="-122"/>
                <a:cs typeface="Calibri" pitchFamily="34" charset="-120"/>
              </a:rPr>
              <a:t>Automatic calculation, balanced scorecard, compliance multiplier</a:t>
            </a:r>
            <a:endParaRPr lang="en-US" sz="1100" dirty="0"/>
          </a:p>
        </p:txBody>
      </p:sp>
      <p:sp>
        <p:nvSpPr>
          <p:cNvPr id="19" name="Shape 17"/>
          <p:cNvSpPr/>
          <p:nvPr/>
        </p:nvSpPr>
        <p:spPr>
          <a:xfrm>
            <a:off x="640080" y="2697480"/>
            <a:ext cx="7863840" cy="41148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20" name="Shape 18"/>
          <p:cNvSpPr/>
          <p:nvPr/>
        </p:nvSpPr>
        <p:spPr>
          <a:xfrm>
            <a:off x="640080" y="2697480"/>
            <a:ext cx="411480" cy="411480"/>
          </a:xfrm>
          <a:prstGeom prst="rect">
            <a:avLst/>
          </a:prstGeom>
          <a:solidFill>
            <a:srgbClr val="38A169"/>
          </a:solidFill>
          <a:ln/>
        </p:spPr>
      </p:sp>
      <p:sp>
        <p:nvSpPr>
          <p:cNvPr id="21" name="Text 19"/>
          <p:cNvSpPr/>
          <p:nvPr/>
        </p:nvSpPr>
        <p:spPr>
          <a:xfrm>
            <a:off x="640080" y="26974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2" name="Text 20"/>
          <p:cNvSpPr/>
          <p:nvPr/>
        </p:nvSpPr>
        <p:spPr>
          <a:xfrm>
            <a:off x="1143000" y="2697480"/>
            <a:ext cx="1920240" cy="411480"/>
          </a:xfrm>
          <a:prstGeom prst="rect">
            <a:avLst/>
          </a:prstGeom>
          <a:noFill/>
          <a:ln/>
        </p:spPr>
        <p:txBody>
          <a:bodyPr wrap="square" lIns="0" tIns="0" rIns="0" bIns="0" rtlCol="0" anchor="ctr"/>
          <a:lstStyle/>
          <a:p>
            <a:pPr indent="0" marL="0">
              <a:buNone/>
            </a:pPr>
            <a:r>
              <a:rPr lang="en-US" sz="1200" b="1" dirty="0">
                <a:solidFill>
                  <a:srgbClr val="38A169"/>
                </a:solidFill>
                <a:latin typeface="Georgia" pitchFamily="34" charset="0"/>
                <a:ea typeface="Georgia" pitchFamily="34" charset="-122"/>
                <a:cs typeface="Georgia" pitchFamily="34" charset="-120"/>
              </a:rPr>
              <a:t>IPO-Ready</a:t>
            </a:r>
            <a:endParaRPr lang="en-US" sz="1200" dirty="0"/>
          </a:p>
        </p:txBody>
      </p:sp>
      <p:sp>
        <p:nvSpPr>
          <p:cNvPr id="23" name="Text 21"/>
          <p:cNvSpPr/>
          <p:nvPr/>
        </p:nvSpPr>
        <p:spPr>
          <a:xfrm>
            <a:off x="3200400" y="2697480"/>
            <a:ext cx="5212080" cy="411480"/>
          </a:xfrm>
          <a:prstGeom prst="rect">
            <a:avLst/>
          </a:prstGeom>
          <a:noFill/>
          <a:ln/>
        </p:spPr>
        <p:txBody>
          <a:bodyPr wrap="square" lIns="0" tIns="0" rIns="0" bIns="0" rtlCol="0" anchor="ctr"/>
          <a:lstStyle/>
          <a:p>
            <a:pPr indent="0" marL="0">
              <a:buNone/>
            </a:pPr>
            <a:r>
              <a:rPr lang="en-US" sz="1100" dirty="0">
                <a:solidFill>
                  <a:srgbClr val="A0AEC0"/>
                </a:solidFill>
                <a:latin typeface="Calibri" pitchFamily="34" charset="0"/>
                <a:ea typeface="Calibri" pitchFamily="34" charset="-122"/>
                <a:cs typeface="Calibri" pitchFamily="34" charset="-120"/>
              </a:rPr>
              <a:t>ESOP pool, deferred bonus, clawback, SEBI-compliant audit trail</a:t>
            </a:r>
            <a:endParaRPr lang="en-US" sz="1100" dirty="0"/>
          </a:p>
        </p:txBody>
      </p:sp>
      <p:sp>
        <p:nvSpPr>
          <p:cNvPr id="24" name="Shape 22"/>
          <p:cNvSpPr/>
          <p:nvPr/>
        </p:nvSpPr>
        <p:spPr>
          <a:xfrm>
            <a:off x="640080" y="3200400"/>
            <a:ext cx="7863840" cy="41148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25" name="Shape 23"/>
          <p:cNvSpPr/>
          <p:nvPr/>
        </p:nvSpPr>
        <p:spPr>
          <a:xfrm>
            <a:off x="640080" y="3200400"/>
            <a:ext cx="411480" cy="411480"/>
          </a:xfrm>
          <a:prstGeom prst="rect">
            <a:avLst/>
          </a:prstGeom>
          <a:solidFill>
            <a:srgbClr val="D69E2E"/>
          </a:solidFill>
          <a:ln/>
        </p:spPr>
      </p:sp>
      <p:sp>
        <p:nvSpPr>
          <p:cNvPr id="26" name="Text 24"/>
          <p:cNvSpPr/>
          <p:nvPr/>
        </p:nvSpPr>
        <p:spPr>
          <a:xfrm>
            <a:off x="640080" y="32004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7" name="Text 25"/>
          <p:cNvSpPr/>
          <p:nvPr/>
        </p:nvSpPr>
        <p:spPr>
          <a:xfrm>
            <a:off x="1143000" y="3200400"/>
            <a:ext cx="1920240" cy="411480"/>
          </a:xfrm>
          <a:prstGeom prst="rect">
            <a:avLst/>
          </a:prstGeom>
          <a:noFill/>
          <a:ln/>
        </p:spPr>
        <p:txBody>
          <a:bodyPr wrap="square" lIns="0" tIns="0" rIns="0" bIns="0" rtlCol="0" anchor="ctr"/>
          <a:lstStyle/>
          <a:p>
            <a:pPr indent="0" marL="0">
              <a:buNone/>
            </a:pPr>
            <a:r>
              <a:rPr lang="en-US" sz="1200" b="1" dirty="0">
                <a:solidFill>
                  <a:srgbClr val="D69E2E"/>
                </a:solidFill>
                <a:latin typeface="Georgia" pitchFamily="34" charset="0"/>
                <a:ea typeface="Georgia" pitchFamily="34" charset="-122"/>
                <a:cs typeface="Georgia" pitchFamily="34" charset="-120"/>
              </a:rPr>
              <a:t>Wealth Creation</a:t>
            </a:r>
            <a:endParaRPr lang="en-US" sz="1200" dirty="0"/>
          </a:p>
        </p:txBody>
      </p:sp>
      <p:sp>
        <p:nvSpPr>
          <p:cNvPr id="28" name="Text 26"/>
          <p:cNvSpPr/>
          <p:nvPr/>
        </p:nvSpPr>
        <p:spPr>
          <a:xfrm>
            <a:off x="3200400" y="3200400"/>
            <a:ext cx="5212080" cy="411480"/>
          </a:xfrm>
          <a:prstGeom prst="rect">
            <a:avLst/>
          </a:prstGeom>
          <a:noFill/>
          <a:ln/>
        </p:spPr>
        <p:txBody>
          <a:bodyPr wrap="square" lIns="0" tIns="0" rIns="0" bIns="0" rtlCol="0" anchor="ctr"/>
          <a:lstStyle/>
          <a:p>
            <a:pPr indent="0" marL="0">
              <a:buNone/>
            </a:pPr>
            <a:r>
              <a:rPr lang="en-US" sz="1100" dirty="0">
                <a:solidFill>
                  <a:srgbClr val="A0AEC0"/>
                </a:solidFill>
                <a:latin typeface="Calibri" pitchFamily="34" charset="0"/>
                <a:ea typeface="Calibri" pitchFamily="34" charset="-122"/>
                <a:cs typeface="Calibri" pitchFamily="34" charset="-120"/>
              </a:rPr>
              <a:t>ESOP vesting, CLV bonus, trail income — long-term alignment</a:t>
            </a:r>
            <a:endParaRPr lang="en-US" sz="1100" dirty="0"/>
          </a:p>
        </p:txBody>
      </p:sp>
      <p:sp>
        <p:nvSpPr>
          <p:cNvPr id="29" name="Shape 27"/>
          <p:cNvSpPr/>
          <p:nvPr/>
        </p:nvSpPr>
        <p:spPr>
          <a:xfrm>
            <a:off x="640080" y="3703320"/>
            <a:ext cx="7863840" cy="41148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30" name="Shape 28"/>
          <p:cNvSpPr/>
          <p:nvPr/>
        </p:nvSpPr>
        <p:spPr>
          <a:xfrm>
            <a:off x="640080" y="3703320"/>
            <a:ext cx="411480" cy="411480"/>
          </a:xfrm>
          <a:prstGeom prst="rect">
            <a:avLst/>
          </a:prstGeom>
          <a:solidFill>
            <a:srgbClr val="4299E1"/>
          </a:solidFill>
          <a:ln/>
        </p:spPr>
      </p:sp>
      <p:sp>
        <p:nvSpPr>
          <p:cNvPr id="31" name="Text 29"/>
          <p:cNvSpPr/>
          <p:nvPr/>
        </p:nvSpPr>
        <p:spPr>
          <a:xfrm>
            <a:off x="640080" y="3703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32" name="Text 30"/>
          <p:cNvSpPr/>
          <p:nvPr/>
        </p:nvSpPr>
        <p:spPr>
          <a:xfrm>
            <a:off x="1143000" y="3703320"/>
            <a:ext cx="1920240" cy="411480"/>
          </a:xfrm>
          <a:prstGeom prst="rect">
            <a:avLst/>
          </a:prstGeom>
          <a:noFill/>
          <a:ln/>
        </p:spPr>
        <p:txBody>
          <a:bodyPr wrap="square" lIns="0" tIns="0" rIns="0" bIns="0" rtlCol="0" anchor="ctr"/>
          <a:lstStyle/>
          <a:p>
            <a:pPr indent="0" marL="0">
              <a:buNone/>
            </a:pPr>
            <a:r>
              <a:rPr lang="en-US" sz="1200" b="1" dirty="0">
                <a:solidFill>
                  <a:srgbClr val="4299E1"/>
                </a:solidFill>
                <a:latin typeface="Georgia" pitchFamily="34" charset="0"/>
                <a:ea typeface="Georgia" pitchFamily="34" charset="-122"/>
                <a:cs typeface="Georgia" pitchFamily="34" charset="-120"/>
              </a:rPr>
              <a:t>Margin-Aligned</a:t>
            </a:r>
            <a:endParaRPr lang="en-US" sz="1200" dirty="0"/>
          </a:p>
        </p:txBody>
      </p:sp>
      <p:sp>
        <p:nvSpPr>
          <p:cNvPr id="33" name="Text 31"/>
          <p:cNvSpPr/>
          <p:nvPr/>
        </p:nvSpPr>
        <p:spPr>
          <a:xfrm>
            <a:off x="3200400" y="3703320"/>
            <a:ext cx="5212080" cy="411480"/>
          </a:xfrm>
          <a:prstGeom prst="rect">
            <a:avLst/>
          </a:prstGeom>
          <a:noFill/>
          <a:ln/>
        </p:spPr>
        <p:txBody>
          <a:bodyPr wrap="square" lIns="0" tIns="0" rIns="0" bIns="0" rtlCol="0" anchor="ctr"/>
          <a:lstStyle/>
          <a:p>
            <a:pPr indent="0" marL="0">
              <a:buNone/>
            </a:pPr>
            <a:r>
              <a:rPr lang="en-US" sz="1100" dirty="0">
                <a:solidFill>
                  <a:srgbClr val="A0AEC0"/>
                </a:solidFill>
                <a:latin typeface="Calibri" pitchFamily="34" charset="0"/>
                <a:ea typeface="Calibri" pitchFamily="34" charset="-122"/>
                <a:cs typeface="Calibri" pitchFamily="34" charset="-120"/>
              </a:rPr>
              <a:t>Tier system + target scaling — profitability reflected in incentives</a:t>
            </a:r>
            <a:endParaRPr lang="en-US" sz="1100" dirty="0"/>
          </a:p>
        </p:txBody>
      </p:sp>
      <p:sp>
        <p:nvSpPr>
          <p:cNvPr id="34" name="Shape 32"/>
          <p:cNvSpPr/>
          <p:nvPr/>
        </p:nvSpPr>
        <p:spPr>
          <a:xfrm>
            <a:off x="640080" y="4206240"/>
            <a:ext cx="7863840" cy="411480"/>
          </a:xfrm>
          <a:prstGeom prst="rect">
            <a:avLst/>
          </a:prstGeom>
          <a:solidFill>
            <a:srgbClr val="1E2D50"/>
          </a:solidFill>
          <a:ln/>
          <a:effectLst>
            <a:outerShdw sx="100000" sy="100000" kx="0" ky="0" algn="bl" rotWithShape="0" blurRad="76200" dist="25400" dir="8100000">
              <a:srgbClr val="000000">
                <a:alpha val="12000"/>
              </a:srgbClr>
            </a:outerShdw>
          </a:effectLst>
        </p:spPr>
      </p:sp>
      <p:sp>
        <p:nvSpPr>
          <p:cNvPr id="35" name="Shape 33"/>
          <p:cNvSpPr/>
          <p:nvPr/>
        </p:nvSpPr>
        <p:spPr>
          <a:xfrm>
            <a:off x="640080" y="4206240"/>
            <a:ext cx="411480" cy="411480"/>
          </a:xfrm>
          <a:prstGeom prst="rect">
            <a:avLst/>
          </a:prstGeom>
          <a:solidFill>
            <a:srgbClr val="38A169"/>
          </a:solidFill>
          <a:ln/>
        </p:spPr>
      </p:sp>
      <p:sp>
        <p:nvSpPr>
          <p:cNvPr id="36" name="Text 34"/>
          <p:cNvSpPr/>
          <p:nvPr/>
        </p:nvSpPr>
        <p:spPr>
          <a:xfrm>
            <a:off x="640080" y="42062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7" name="Text 35"/>
          <p:cNvSpPr/>
          <p:nvPr/>
        </p:nvSpPr>
        <p:spPr>
          <a:xfrm>
            <a:off x="1143000" y="4206240"/>
            <a:ext cx="1920240" cy="411480"/>
          </a:xfrm>
          <a:prstGeom prst="rect">
            <a:avLst/>
          </a:prstGeom>
          <a:noFill/>
          <a:ln/>
        </p:spPr>
        <p:txBody>
          <a:bodyPr wrap="square" lIns="0" tIns="0" rIns="0" bIns="0" rtlCol="0" anchor="ctr"/>
          <a:lstStyle/>
          <a:p>
            <a:pPr indent="0" marL="0">
              <a:buNone/>
            </a:pPr>
            <a:r>
              <a:rPr lang="en-US" sz="1200" b="1" dirty="0">
                <a:solidFill>
                  <a:srgbClr val="38A169"/>
                </a:solidFill>
                <a:latin typeface="Georgia" pitchFamily="34" charset="0"/>
                <a:ea typeface="Georgia" pitchFamily="34" charset="-122"/>
                <a:cs typeface="Georgia" pitchFamily="34" charset="-120"/>
              </a:rPr>
              <a:t>Growth-Oriented</a:t>
            </a:r>
            <a:endParaRPr lang="en-US" sz="1200" dirty="0"/>
          </a:p>
        </p:txBody>
      </p:sp>
      <p:sp>
        <p:nvSpPr>
          <p:cNvPr id="38" name="Text 36"/>
          <p:cNvSpPr/>
          <p:nvPr/>
        </p:nvSpPr>
        <p:spPr>
          <a:xfrm>
            <a:off x="3200400" y="4206240"/>
            <a:ext cx="5212080" cy="411480"/>
          </a:xfrm>
          <a:prstGeom prst="rect">
            <a:avLst/>
          </a:prstGeom>
          <a:noFill/>
          <a:ln/>
        </p:spPr>
        <p:txBody>
          <a:bodyPr wrap="square" lIns="0" tIns="0" rIns="0" bIns="0" rtlCol="0" anchor="ctr"/>
          <a:lstStyle/>
          <a:p>
            <a:pPr indent="0" marL="0">
              <a:buNone/>
            </a:pPr>
            <a:r>
              <a:rPr lang="en-US" sz="1100" dirty="0">
                <a:solidFill>
                  <a:srgbClr val="A0AEC0"/>
                </a:solidFill>
                <a:latin typeface="Calibri" pitchFamily="34" charset="0"/>
                <a:ea typeface="Calibri" pitchFamily="34" charset="-122"/>
                <a:cs typeface="Calibri" pitchFamily="34" charset="-120"/>
              </a:rPr>
              <a:t>2× force in 2026, national by 2028, IPO by 2030</a:t>
            </a:r>
            <a:endParaRPr lang="en-US" sz="1100" dirty="0"/>
          </a:p>
        </p:txBody>
      </p:sp>
      <p:sp>
        <p:nvSpPr>
          <p:cNvPr id="39" name="Text 37"/>
          <p:cNvSpPr/>
          <p:nvPr/>
        </p:nvSpPr>
        <p:spPr>
          <a:xfrm>
            <a:off x="640080" y="4663440"/>
            <a:ext cx="7863840" cy="274320"/>
          </a:xfrm>
          <a:prstGeom prst="rect">
            <a:avLst/>
          </a:prstGeom>
          <a:noFill/>
          <a:ln/>
        </p:spPr>
        <p:txBody>
          <a:bodyPr wrap="square" lIns="0" tIns="0" rIns="0" bIns="0" rtlCol="0" anchor="ctr"/>
          <a:lstStyle/>
          <a:p>
            <a:pPr algn="ctr" indent="0" marL="0">
              <a:buNone/>
            </a:pPr>
            <a:r>
              <a:rPr lang="en-US" sz="1400" i="1" dirty="0">
                <a:solidFill>
                  <a:srgbClr val="D69E2E"/>
                </a:solidFill>
                <a:latin typeface="Georgia" pitchFamily="34" charset="0"/>
                <a:ea typeface="Georgia" pitchFamily="34" charset="-122"/>
                <a:cs typeface="Georgia" pitchFamily="34" charset="-120"/>
              </a:rPr>
              <a:t>Building a co-workers' institution, not an individual's company</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4754880"/>
            <a:ext cx="9144000" cy="54864"/>
          </a:xfrm>
          <a:prstGeom prst="rect">
            <a:avLst/>
          </a:prstGeom>
          <a:solidFill>
            <a:srgbClr val="D69E2E"/>
          </a:solidFill>
          <a:ln/>
        </p:spPr>
      </p:sp>
      <p:sp>
        <p:nvSpPr>
          <p:cNvPr id="3" name="Text 1"/>
          <p:cNvSpPr/>
          <p:nvPr/>
        </p:nvSpPr>
        <p:spPr>
          <a:xfrm>
            <a:off x="640080" y="1371600"/>
            <a:ext cx="786384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Thank You</a:t>
            </a:r>
            <a:endParaRPr lang="en-US" sz="4800" dirty="0"/>
          </a:p>
        </p:txBody>
      </p:sp>
      <p:sp>
        <p:nvSpPr>
          <p:cNvPr id="4" name="Text 2"/>
          <p:cNvSpPr/>
          <p:nvPr/>
        </p:nvSpPr>
        <p:spPr>
          <a:xfrm>
            <a:off x="2286000" y="2468880"/>
            <a:ext cx="4572000" cy="457200"/>
          </a:xfrm>
          <a:prstGeom prst="rect">
            <a:avLst/>
          </a:prstGeom>
          <a:noFill/>
          <a:ln/>
        </p:spPr>
        <p:txBody>
          <a:bodyPr wrap="square" lIns="0" tIns="0" rIns="0" bIns="0" rtlCol="0" anchor="ctr"/>
          <a:lstStyle/>
          <a:p>
            <a:pPr algn="ctr" indent="0" marL="0">
              <a:buNone/>
            </a:pPr>
            <a:r>
              <a:rPr lang="en-US" sz="2000" dirty="0">
                <a:solidFill>
                  <a:srgbClr val="D69E2E"/>
                </a:solidFill>
                <a:latin typeface="Georgia" pitchFamily="34" charset="0"/>
                <a:ea typeface="Georgia" pitchFamily="34" charset="-122"/>
                <a:cs typeface="Georgia" pitchFamily="34" charset="-120"/>
              </a:rPr>
              <a:t>Next Steps</a:t>
            </a:r>
            <a:endParaRPr lang="en-US" sz="2000" dirty="0"/>
          </a:p>
        </p:txBody>
      </p:sp>
      <p:sp>
        <p:nvSpPr>
          <p:cNvPr id="5" name="Text 3"/>
          <p:cNvSpPr/>
          <p:nvPr/>
        </p:nvSpPr>
        <p:spPr>
          <a:xfrm>
            <a:off x="1371600" y="3017520"/>
            <a:ext cx="6400800" cy="1463040"/>
          </a:xfrm>
          <a:prstGeom prst="rect">
            <a:avLst/>
          </a:prstGeom>
          <a:noFill/>
          <a:ln/>
        </p:spPr>
        <p:txBody>
          <a:bodyPr wrap="square" lIns="0" tIns="0" rIns="0" bIns="0" rtlCol="0" anchor="ctr"/>
          <a:lstStyle/>
          <a:p>
            <a:pPr algn="ctr" indent="0" marL="0">
              <a:buNone/>
            </a:pPr>
            <a:r>
              <a:rPr lang="en-US" sz="1400" dirty="0">
                <a:solidFill>
                  <a:srgbClr val="A0AEC0"/>
                </a:solidFill>
                <a:latin typeface="Calibri" pitchFamily="34" charset="0"/>
                <a:ea typeface="Calibri" pitchFamily="34" charset="-122"/>
                <a:cs typeface="Calibri" pitchFamily="34" charset="-120"/>
              </a:rPr>
              <a:t>Board approval of incentive slabs, ESOP pool &amp; deferred bonus rules
</a:t>
            </a:r>
            <a:endParaRPr lang="en-US" sz="1400" dirty="0"/>
          </a:p>
          <a:p>
            <a:pPr algn="ctr" indent="0" marL="0">
              <a:buNone/>
            </a:pPr>
            <a:r>
              <a:rPr lang="en-US" sz="1400" dirty="0">
                <a:solidFill>
                  <a:srgbClr val="A0AEC0"/>
                </a:solidFill>
                <a:latin typeface="Calibri" pitchFamily="34" charset="0"/>
                <a:ea typeface="Calibri" pitchFamily="34" charset="-122"/>
                <a:cs typeface="Calibri" pitchFamily="34" charset="-120"/>
              </a:rPr>
              <a:t>HR to prepare individual career roadmaps &amp; ESOP grant letters
</a:t>
            </a:r>
            <a:endParaRPr lang="en-US" sz="1400" dirty="0"/>
          </a:p>
          <a:p>
            <a:pPr algn="ctr" indent="0" marL="0">
              <a:buNone/>
            </a:pPr>
            <a:r>
              <a:rPr lang="en-US" sz="1400" dirty="0">
                <a:solidFill>
                  <a:srgbClr val="A0AEC0"/>
                </a:solidFill>
                <a:latin typeface="Calibri" pitchFamily="34" charset="0"/>
                <a:ea typeface="Calibri" pitchFamily="34" charset="-122"/>
                <a:cs typeface="Calibri" pitchFamily="34" charset="-120"/>
              </a:rPr>
              <a:t>IT to integrate incentive engine with CRM &amp; balanced scorecard
</a:t>
            </a:r>
            <a:endParaRPr lang="en-US" sz="1400" dirty="0"/>
          </a:p>
          <a:p>
            <a:pPr algn="ctr" indent="0" marL="0">
              <a:buNone/>
            </a:pPr>
            <a:r>
              <a:rPr lang="en-US" sz="1400" b="1" dirty="0">
                <a:solidFill>
                  <a:srgbClr val="D69E2E"/>
                </a:solidFill>
                <a:latin typeface="Calibri" pitchFamily="34" charset="0"/>
                <a:ea typeface="Calibri" pitchFamily="34" charset="-122"/>
                <a:cs typeface="Calibri" pitchFamily="34" charset="-120"/>
              </a:rPr>
              <a:t>First automated payout + CLV bonus: Q2 FY27</a:t>
            </a:r>
            <a:endParaRPr lang="en-US" sz="1400" dirty="0"/>
          </a:p>
        </p:txBody>
      </p:sp>
      <p:sp>
        <p:nvSpPr>
          <p:cNvPr id="6" name="Text 4"/>
          <p:cNvSpPr/>
          <p:nvPr/>
        </p:nvSpPr>
        <p:spPr>
          <a:xfrm>
            <a:off x="640080" y="4846320"/>
            <a:ext cx="7863840" cy="228600"/>
          </a:xfrm>
          <a:prstGeom prst="rect">
            <a:avLst/>
          </a:prstGeom>
          <a:noFill/>
          <a:ln/>
        </p:spPr>
        <p:txBody>
          <a:bodyPr wrap="square" lIns="0" tIns="0" rIns="0" bIns="0" rtlCol="0" anchor="ctr"/>
          <a:lstStyle/>
          <a:p>
            <a:pPr algn="ctr" indent="0" marL="0">
              <a:buNone/>
            </a:pPr>
            <a:r>
              <a:rPr lang="en-US" sz="1000" dirty="0">
                <a:solidFill>
                  <a:srgbClr val="D69E2E"/>
                </a:solidFill>
                <a:latin typeface="Calibri" pitchFamily="34" charset="0"/>
                <a:ea typeface="Calibri" pitchFamily="34" charset="-122"/>
                <a:cs typeface="Calibri" pitchFamily="34" charset="-120"/>
              </a:rPr>
              <a:t>Contact: Ram Shah &amp; Sangita Shah  |  Directors, Trustner Group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Trustner Group - Incentive Framework Board Deck v2</dc:title>
  <dc:subject>PptxGenJS Presentation</dc:subject>
  <dc:creator>Ram Shah</dc:creator>
  <cp:lastModifiedBy>Ram Shah</cp:lastModifiedBy>
  <cp:revision>1</cp:revision>
  <dcterms:created xsi:type="dcterms:W3CDTF">2026-03-29T18:32:37Z</dcterms:created>
  <dcterms:modified xsi:type="dcterms:W3CDTF">2026-03-29T18:32:37Z</dcterms:modified>
</cp:coreProperties>
</file>