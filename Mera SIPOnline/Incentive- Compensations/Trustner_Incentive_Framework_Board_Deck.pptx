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TRUSTNER GROUP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7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Incentive, Compensation &amp; Performance Management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Presentation | FY 2026-27 | CONFIDENTIAL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 (Trustner Insurance Brokers) | TAS (Trustner Asset Services)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Philosophy: Building a Co-Workers' Institution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Meritocratic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28800" cy="36576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1945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earn 3-5x more in variable pay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Profitable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97480" y="1965960"/>
            <a:ext cx="1828800" cy="36576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1945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incentive tied to actual revenue — no payout without profit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1965960"/>
            <a:ext cx="1828800" cy="36576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1945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System-driven, automatic — no manual overrides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1887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IPO-Ready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95160" y="1965960"/>
            <a:ext cx="1828800" cy="36576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1945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processes designed for listed company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Organization Snapshot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 Employees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TIB + TAS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₹3.91 Cr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6616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Fixed Cost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Departments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Units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Regulated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+ SEBI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274320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Locations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66160" y="3474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Nationally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45:32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3474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: Support Ratio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Hierarchy &amp; Compensation Levels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Director/Promoter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Discretion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CDO/President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₹1.5-3L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Center 8-12%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VP/Regional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₹80K-1.56L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Center 5-8%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Head/Branch 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₹60-100K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Override 2-4%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₹50-103K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Override 1.5-3%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₹52-67K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Revenue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₹35-45K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+ Trail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 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₹28-43K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+ Trail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₹18-43K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+ Trail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₹22-48K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Incentive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S1-S5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Staff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₹6K-54K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Bonus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Incentive Framework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25880" cy="4572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Salary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40-70%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48840" y="1097280"/>
            <a:ext cx="1325880" cy="4572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7" name="Text 5"/>
          <p:cNvSpPr/>
          <p:nvPr/>
        </p:nvSpPr>
        <p:spPr>
          <a:xfrm>
            <a:off x="2148840" y="11430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Incentive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13716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20-40%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097280"/>
            <a:ext cx="132588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1430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Income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13716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5-15%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097280"/>
            <a:ext cx="1325880" cy="4572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1430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Share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3716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097280"/>
            <a:ext cx="1325880" cy="4572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1430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Bonus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3716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18120" y="1097280"/>
            <a:ext cx="1325880" cy="45720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9" name="Text 17"/>
          <p:cNvSpPr/>
          <p:nvPr/>
        </p:nvSpPr>
        <p:spPr>
          <a:xfrm>
            <a:off x="7818120" y="11430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ESOP (Post-IPO)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18120" y="13716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compensation package is layered across multiple components. Emphasis on variable pay creates alignment with business performance.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200400"/>
            <a:ext cx="7680960" cy="1645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3832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No payment of incentives occurs without corresponding business profit. 100% tied to actual revenue realization.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Targets Are 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Target = Monthly Salary × 6 (annual basis for RMs)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POSP/Agency Target = Base × 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Threshold = 80% (below = zero incentive)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verified against actual March 2026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7680960" cy="21031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EXAMPLE: RM at ₹43,700 salary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329184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Target = ₹43,700 × 6 = ₹2,62,200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POSP Target = ₹2,62,200 × 3 = ₹7,86,600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Incentive Trigger = 80% of target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Incentive Accelerator Slabs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Performers are DISPROPORTIONATELY rewarded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37160" cy="36576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80%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 multiplier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37160" cy="36576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80-100%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 multiplier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37160" cy="365760"/>
          </a:xfrm>
          <a:prstGeom prst="rect">
            <a:avLst/>
          </a:prstGeom>
          <a:solidFill>
            <a:srgbClr val="9AE6B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101-110%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 multiplier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37160" cy="365760"/>
          </a:xfrm>
          <a:prstGeom prst="rect">
            <a:avLst/>
          </a:prstGeom>
          <a:solidFill>
            <a:srgbClr val="68D39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111-130%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1.15x multiplier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37160" cy="3657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131-150%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1.25x multiplier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13716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1.50x multiplier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Credit &amp; Diversification Rules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10 Pay+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&lt;10 Pay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 SIP (ann.)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ULIP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 Lumpsum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Single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Directors' Biz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33832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Rules:  </a:t>
            </a:r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team SIP capped at 25% of target. Diversified revenue mandate ensures sustainable growth across product lines.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Trail Income Model: 4 Scenarios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Self-Sourced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RM: 25%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2628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Mgmt: 15%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1234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 60%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+ New Biz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RM: 15%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Mgmt: 10%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 75%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71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+ No New Biz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971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RM: 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2971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Mgmt: 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 95%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Office/Walk-in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840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RM: 10%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3840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Mgmt: 10%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840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 80%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Trail ONLY on INCREMENTAL business post-assignment. Legacy inherited book = 0% to RM. Freeze clause: No new biz in 2 quarters → trail frozen, clients reassigned.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Center Model (Senior Management)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Profit = Revenue - (Manager Salary + Team Salary + Team Incentives + Other Costs + Attrition Cost)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Bonus = Vertical Profit × Profit Share Rate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7680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57984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(CDO/President)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0" y="215798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60904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(VP/Regional Manager)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66090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7680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63824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(Sales Head/Branch Head)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16382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611880"/>
            <a:ext cx="7680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(Area Manager)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66674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7680960" cy="10515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690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Metrics: CTI &lt;40% = Healthy | 40-60% = Warning | &gt;60% = Critical. Loss-making vertical = ZERO bonus for manager.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&amp; Operations Team Bonus Structure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Bonus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Office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 + Accuracy + Volume + Complaints + Attendance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₹5,000/mo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POSP activation ₹200 + ₹500/productive + ₹300/session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Time-to-hire + Retention + Payroll 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₹8,000/qtr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TAT + Renewal follow-up + NPS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₹6,000/mo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 closure + Reconciliation + Compliance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₹9,500/qtr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gen + Conversion + Social growth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₹5,500/mo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support functions have clear KPI-based targets with measurable bonuses. Drives accountability across entire organization.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 ROI &amp; Cost Accountability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KOLKATA EXAMPLE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₹1L + Team 5×₹30K = ₹2.5L/month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= ₹15L + setup costs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monthly business to break even: ₹35-50L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Attrition Cost Attribution: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980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within 3 months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0" y="279806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cost to hiring manager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4670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within 3-6 months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334670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cost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953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after 6 months (performing)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38953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attribution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hire must have a business case. No hiring without clear ROI metrics.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Management: 5-Tier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" cy="5943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&gt;130%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89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Performer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14300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 promotion, retention bonus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09728" cy="5943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100-130%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21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Performer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8745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promotion track, full incentives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09728" cy="59436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06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80-100%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8529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Meets Expectations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6060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Coaching, marginal incentive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109728" cy="5943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37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60-80%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584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Below Expectations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33756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PIP, 90-day plan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109728" cy="59436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3159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Non-Performer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40690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reassignment or separation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709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auto-flags performance. No manual intervention. Impartial, data-driven assessment.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 Roadmap &amp; Promotion Criteria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70432"/>
            <a:ext cx="3200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→ 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1170432"/>
            <a:ext cx="1828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0" y="1170432"/>
            <a:ext cx="23774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consecutive 100%+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56232"/>
            <a:ext cx="3200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→ Sr. 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856232"/>
            <a:ext cx="1828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856232"/>
            <a:ext cx="23774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 months 100%+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42032"/>
            <a:ext cx="3200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Sr. RM → Sales Manager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2542032"/>
            <a:ext cx="1828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2542032"/>
            <a:ext cx="23774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110%+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27832"/>
            <a:ext cx="3200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Manager → ABM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227832"/>
            <a:ext cx="1828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227832"/>
            <a:ext cx="23774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100%+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13632"/>
            <a:ext cx="3200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CDM/ABM → Area Manager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3913632"/>
            <a:ext cx="1828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913632"/>
            <a:ext cx="23774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quarters profitable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599432"/>
            <a:ext cx="32004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 Manager → Sales Head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4599432"/>
            <a:ext cx="1828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4599432"/>
            <a:ext cx="23774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quarters profitable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709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career roadmap for every new joiner. Clear, transparent, merit-based progression.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Earning Potential: RM Example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Salary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Incentive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₹6,768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₹34,968/mo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₹4.2L/year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 (Promoted)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₹33,276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₹9,203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₹42,479/mo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₹5.1L/year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₹38,267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₹12,211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₹50,478/mo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₹6.1L/year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44% GROWTH IN 3 YEARS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earning potential trajectory is shared with every new joiner on Day 1. Clear visibility of growth path drives engagement and performance.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Assumptions: Standard performance trajectory, promotions at scheduled intervals, incentive achievement at 120-130% of target.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5-Year Growth Projection to IPO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Fiscal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(Cr)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(Cr)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FY31 → 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31920"/>
            <a:ext cx="8229600" cy="10515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40690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 ROI achieved by FY29.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readiness by FY30-31. This framework scales with the organization while maintaining meritocratic principles and cost discipline.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Administrative Controls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Control Hierarchy: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7680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81912"/>
            <a:ext cx="29260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(Ram Shah, Sangita Shah)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0" y="1581912"/>
            <a:ext cx="4389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— edit targets, override incentives, change slabs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7680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13432"/>
            <a:ext cx="29260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President/VP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2313432"/>
            <a:ext cx="4389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— view + limited deviation approval (up to ₹50K)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7680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44952"/>
            <a:ext cx="29260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3044952"/>
            <a:ext cx="4389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team view only, no edit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7680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76472"/>
            <a:ext cx="29260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3776472"/>
            <a:ext cx="4389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data view only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deviations require written Director approval. SEBI-compliant audit trail for listed company readiness.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 (4 Phases)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92024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1920240" cy="4572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Finalize &amp; Approve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slabs, board approval, system config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188720"/>
            <a:ext cx="192024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188720"/>
            <a:ext cx="1920240" cy="4572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234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88920" y="1783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377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roadmaps, team briefings, communication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2-3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192024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188720"/>
            <a:ext cx="1920240" cy="4572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234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1783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Run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377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old+new calculation testing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3-4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1188720"/>
            <a:ext cx="192024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1188720"/>
            <a:ext cx="1920240" cy="4572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234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95160" y="1783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Live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2377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dashboards, first payouts, monitoring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4+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3258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Meritocratic — performers rewarded disproportionately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258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Cost-Controlled — 30%+ ROI target, every rupee accountable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13258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System-Driven — automatic calculation, no manual manipulation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0" y="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0" y="210312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13258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IPO-Ready — governance + audit trail for listed company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0" y="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13258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Growth-Oriented — 2x force in 2026, national by 2028, IPO by 2030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0" y="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88720" y="1325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Meritocratic — performers rewarded disproportionately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8872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Cost-Controlled — 30%+ ROI target, every rupee accountable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88720" y="2606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System-Driven — automatic calculation, no manual manipulation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88720" y="3246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IPO-Ready — governance + audit trail for listed company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188720" y="3886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Growth-Oriented — 2x force in 2026, national by 2028, IPO by 2030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co-workers' institution, not an individual's company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approval of incentive slabs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to prepare individual career roadmaps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to integrate incentive engine with CRM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automated payout: Q2 FY27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206240"/>
            <a:ext cx="8229600" cy="36576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Ram Shah &amp; Sangita Shah | Directors, Trustner Group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Incentive, Compensation &amp; Performance Management Framework</dc:title>
  <dc:subject>PptxGenJS Presentation</dc:subject>
  <dc:creator>Trustner Group</dc:creator>
  <cp:lastModifiedBy>Trustner Group</cp:lastModifiedBy>
  <cp:revision>1</cp:revision>
  <dcterms:created xsi:type="dcterms:W3CDTF">2026-03-29T08:45:24Z</dcterms:created>
  <dcterms:modified xsi:type="dcterms:W3CDTF">2026-03-29T08:45:24Z</dcterms:modified>
</cp:coreProperties>
</file>