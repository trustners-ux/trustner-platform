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94" r:id="rId3"/>
    <p:sldId id="318" r:id="rId4"/>
    <p:sldId id="334" r:id="rId5"/>
    <p:sldId id="335" r:id="rId6"/>
    <p:sldId id="336" r:id="rId7"/>
    <p:sldId id="337" r:id="rId8"/>
    <p:sldId id="338" r:id="rId9"/>
    <p:sldId id="339" r:id="rId10"/>
    <p:sldId id="340" r:id="rId11"/>
    <p:sldId id="341" r:id="rId12"/>
    <p:sldId id="342" r:id="rId13"/>
    <p:sldId id="343" r:id="rId14"/>
    <p:sldId id="344" r:id="rId15"/>
    <p:sldId id="322" r:id="rId16"/>
    <p:sldId id="345" r:id="rId17"/>
    <p:sldId id="346" r:id="rId18"/>
    <p:sldId id="347" r:id="rId19"/>
    <p:sldId id="287"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636912"/>
            <a:ext cx="3957590" cy="496996"/>
          </a:xfrm>
          <a:prstGeom prst="rect">
            <a:avLst/>
          </a:prstGeom>
          <a:noFill/>
        </p:spPr>
        <p:txBody>
          <a:bodyPr wrap="square" rtlCol="0">
            <a:spAutoFit/>
          </a:bodyPr>
          <a:lstStyle/>
          <a:p>
            <a:pPr algn="ctr">
              <a:lnSpc>
                <a:spcPct val="150000"/>
              </a:lnSpc>
            </a:pPr>
            <a:r>
              <a:rPr lang="en-US" sz="2000" b="1" dirty="0" smtClean="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214984" y="1772816"/>
            <a:ext cx="3501032"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‘Carry Trade’ </a:t>
            </a:r>
            <a:br>
              <a:rPr lang="en-US" b="1" dirty="0">
                <a:latin typeface="Arial" pitchFamily="34" charset="0"/>
                <a:cs typeface="Arial" pitchFamily="34" charset="0"/>
              </a:rPr>
            </a:br>
            <a:r>
              <a:rPr lang="en-US" b="1" dirty="0" smtClean="0">
                <a:latin typeface="Arial" pitchFamily="34" charset="0"/>
                <a:cs typeface="Arial" pitchFamily="34" charset="0"/>
              </a:rPr>
              <a:t>–  </a:t>
            </a:r>
            <a:r>
              <a:rPr lang="en-US" sz="1600" b="1" dirty="0">
                <a:latin typeface="Arial" pitchFamily="34" charset="0"/>
                <a:cs typeface="Arial" pitchFamily="34" charset="0"/>
              </a:rPr>
              <a:t>By Prof. </a:t>
            </a:r>
            <a:r>
              <a:rPr lang="en-US" sz="1600" b="1" i="1" dirty="0">
                <a:latin typeface="Arial" pitchFamily="34" charset="0"/>
                <a:cs typeface="Arial" pitchFamily="34" charset="0"/>
              </a:rPr>
              <a:t>Simply</a:t>
            </a:r>
            <a:r>
              <a:rPr lang="en-US" sz="1600" b="1" dirty="0">
                <a:latin typeface="Arial" pitchFamily="34" charset="0"/>
                <a:cs typeface="Arial" pitchFamily="34" charset="0"/>
              </a:rPr>
              <a:t> Simple </a:t>
            </a:r>
            <a:r>
              <a:rPr lang="en-US" sz="1100" b="1" baseline="70000" dirty="0">
                <a:latin typeface="Arial" pitchFamily="34" charset="0"/>
                <a:cs typeface="Arial" pitchFamily="34" charset="0"/>
              </a:rPr>
              <a:t>TM</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098012"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Rising interest rates come as bad news for those who wish to take a home loan or a car loan</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rising interest rates bring several opportunities with them as well…</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
        <p:nvSpPr>
          <p:cNvPr id="6" name="Rectangle 5"/>
          <p:cNvSpPr/>
          <p:nvPr/>
        </p:nvSpPr>
        <p:spPr>
          <a:xfrm>
            <a:off x="827584" y="1067574"/>
            <a:ext cx="727280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And one opportunity in this regard is that of ‘Carry Trade’, which essentially means borrowing in one market where interest rates are lower and investing in another market where interest rates are high and thereby making a gain.</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124744"/>
            <a:ext cx="710125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But it is not that simple because it involves two different currencies. One currency is of the country where interest rates are low while the other currency is of the country where interest rates are high.</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949701"/>
            <a:ext cx="7358114"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An example…</a:t>
            </a:r>
            <a:endParaRPr lang="en-US"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
        <p:nvSpPr>
          <p:cNvPr id="6" name="Rectangle 5"/>
          <p:cNvSpPr/>
          <p:nvPr/>
        </p:nvSpPr>
        <p:spPr>
          <a:xfrm>
            <a:off x="686018" y="1412776"/>
            <a:ext cx="763039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And for ‘Carry Trade’ to be profitable, it is crucial that the exchange rates between the countries remain stable. Otherwise instead of a gain one could land up making a serious loss. Thus ‘Carry Trade’ is not devoid of risk.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500990" cy="463075"/>
          </a:xfrm>
          <a:prstGeom prst="rect">
            <a:avLst/>
          </a:prstGeom>
          <a:noFill/>
        </p:spPr>
        <p:txBody>
          <a:bodyPr wrap="square" rtlCol="0">
            <a:spAutoFit/>
          </a:bodyPr>
          <a:lstStyle/>
          <a:p>
            <a:pPr algn="ctr">
              <a:lnSpc>
                <a:spcPct val="150000"/>
              </a:lnSpc>
              <a:tabLst>
                <a:tab pos="354013" algn="l"/>
              </a:tabLst>
            </a:pPr>
            <a:r>
              <a:rPr lang="en-US" b="1" dirty="0">
                <a:latin typeface="Arial" pitchFamily="34" charset="0"/>
                <a:cs typeface="Arial" pitchFamily="34" charset="0"/>
              </a:rPr>
              <a:t>How are ADRs priced?</a:t>
            </a:r>
            <a:endParaRPr lang="en-US" sz="1600" b="1" dirty="0" smtClean="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
        <p:nvSpPr>
          <p:cNvPr id="4" name="Rectangle 3"/>
          <p:cNvSpPr/>
          <p:nvPr/>
        </p:nvSpPr>
        <p:spPr>
          <a:xfrm>
            <a:off x="714348" y="1463183"/>
            <a:ext cx="7746084" cy="3462486"/>
          </a:xfrm>
          <a:prstGeom prst="rect">
            <a:avLst/>
          </a:prstGeom>
        </p:spPr>
        <p:txBody>
          <a:bodyPr wrap="square">
            <a:spAutoFit/>
          </a:bodyPr>
          <a:lstStyle/>
          <a:p>
            <a:pPr>
              <a:lnSpc>
                <a:spcPct val="150000"/>
              </a:lnSpc>
            </a:pPr>
            <a:r>
              <a:rPr lang="en-US" b="1" dirty="0">
                <a:latin typeface="Arial" pitchFamily="34" charset="0"/>
                <a:cs typeface="Arial" pitchFamily="34" charset="0"/>
              </a:rPr>
              <a:t>Now, as we always do, let’s try and get a better understanding of the concept with the help of an example.</a:t>
            </a:r>
            <a:br>
              <a:rPr lang="en-US" b="1" dirty="0">
                <a:latin typeface="Arial" pitchFamily="34" charset="0"/>
                <a:cs typeface="Arial" pitchFamily="34" charset="0"/>
              </a:rPr>
            </a:br>
            <a:endParaRPr lang="en-US" sz="1000" b="1" dirty="0">
              <a:latin typeface="Arial" pitchFamily="34" charset="0"/>
              <a:cs typeface="Arial" pitchFamily="34" charset="0"/>
            </a:endParaRPr>
          </a:p>
          <a:p>
            <a:pPr>
              <a:lnSpc>
                <a:spcPct val="150000"/>
              </a:lnSpc>
            </a:pPr>
            <a:r>
              <a:rPr lang="en-US" b="1" dirty="0">
                <a:latin typeface="Arial" pitchFamily="34" charset="0"/>
                <a:cs typeface="Arial" pitchFamily="34" charset="0"/>
              </a:rPr>
              <a:t>Lets assume that the interest rate in US is 2% whereas is in India </a:t>
            </a:r>
            <a:r>
              <a:rPr lang="en-US" b="1" dirty="0" smtClean="0">
                <a:latin typeface="Arial" pitchFamily="34" charset="0"/>
                <a:cs typeface="Arial" pitchFamily="34" charset="0"/>
              </a:rPr>
              <a:t>it</a:t>
            </a:r>
            <a:br>
              <a:rPr lang="en-US" b="1" dirty="0" smtClean="0">
                <a:latin typeface="Arial" pitchFamily="34" charset="0"/>
                <a:cs typeface="Arial" pitchFamily="34" charset="0"/>
              </a:rPr>
            </a:br>
            <a:r>
              <a:rPr lang="en-US" b="1" dirty="0" smtClean="0">
                <a:latin typeface="Arial" pitchFamily="34" charset="0"/>
                <a:cs typeface="Arial" pitchFamily="34" charset="0"/>
              </a:rPr>
              <a:t>is 7% And </a:t>
            </a:r>
            <a:r>
              <a:rPr lang="en-US" b="1" dirty="0">
                <a:latin typeface="Arial" pitchFamily="34" charset="0"/>
                <a:cs typeface="Arial" pitchFamily="34" charset="0"/>
              </a:rPr>
              <a:t>let’s say  someone borrows $100 in USA to invest in India </a:t>
            </a:r>
          </a:p>
          <a:p>
            <a:pPr>
              <a:lnSpc>
                <a:spcPct val="150000"/>
              </a:lnSpc>
            </a:pPr>
            <a:r>
              <a:rPr lang="en-US" b="1" dirty="0">
                <a:latin typeface="Arial" pitchFamily="34" charset="0"/>
                <a:cs typeface="Arial" pitchFamily="34" charset="0"/>
              </a:rPr>
              <a:t>at 7%.</a:t>
            </a:r>
          </a:p>
          <a:p>
            <a:pPr>
              <a:lnSpc>
                <a:spcPct val="150000"/>
              </a:lnSpc>
            </a:pPr>
            <a:endParaRPr lang="en-US" sz="1000" b="1" dirty="0">
              <a:latin typeface="Arial" pitchFamily="34" charset="0"/>
              <a:cs typeface="Arial" pitchFamily="34" charset="0"/>
            </a:endParaRPr>
          </a:p>
          <a:p>
            <a:pPr>
              <a:lnSpc>
                <a:spcPct val="150000"/>
              </a:lnSpc>
            </a:pPr>
            <a:r>
              <a:rPr lang="en-US" b="1" dirty="0">
                <a:latin typeface="Arial" pitchFamily="34" charset="0"/>
                <a:cs typeface="Arial" pitchFamily="34" charset="0"/>
              </a:rPr>
              <a:t>It is evident that the differential of 5% </a:t>
            </a:r>
            <a:r>
              <a:rPr lang="en-US" b="1" dirty="0" smtClean="0">
                <a:latin typeface="Arial" pitchFamily="34" charset="0"/>
                <a:cs typeface="Arial" pitchFamily="34" charset="0"/>
              </a:rPr>
              <a:t>(</a:t>
            </a:r>
            <a:r>
              <a:rPr lang="en-US" b="1" dirty="0">
                <a:latin typeface="Arial" pitchFamily="34" charset="0"/>
                <a:cs typeface="Arial" pitchFamily="34" charset="0"/>
              </a:rPr>
              <a:t>7% - 2%) is the opportunity to make a profit for taking an exchange rate risk.</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076251"/>
            <a:ext cx="7530060" cy="3000821"/>
          </a:xfrm>
          <a:prstGeom prst="rect">
            <a:avLst/>
          </a:prstGeom>
        </p:spPr>
        <p:txBody>
          <a:bodyPr wrap="square">
            <a:spAutoFit/>
          </a:bodyPr>
          <a:lstStyle/>
          <a:p>
            <a:pPr>
              <a:lnSpc>
                <a:spcPct val="150000"/>
              </a:lnSpc>
            </a:pPr>
            <a:r>
              <a:rPr lang="en-US" b="1" dirty="0">
                <a:latin typeface="Arial" pitchFamily="34" charset="0"/>
                <a:cs typeface="Arial" pitchFamily="34" charset="0"/>
              </a:rPr>
              <a:t>Let’s assume the exchange rate is </a:t>
            </a:r>
            <a:r>
              <a:rPr lang="en-US" b="1" dirty="0" err="1">
                <a:latin typeface="Arial" pitchFamily="34" charset="0"/>
                <a:cs typeface="Arial" pitchFamily="34" charset="0"/>
              </a:rPr>
              <a:t>Rs</a:t>
            </a:r>
            <a:r>
              <a:rPr lang="en-US" b="1" dirty="0">
                <a:latin typeface="Arial" pitchFamily="34" charset="0"/>
                <a:cs typeface="Arial" pitchFamily="34" charset="0"/>
              </a:rPr>
              <a:t> 50 = $1.</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Now if someone in the US wants to invest in India, he has to invest Indian Rupees for which he has to purchase Indian Rupees.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So if the amount in question is $100, then as per assumed exchange rate of </a:t>
            </a:r>
            <a:r>
              <a:rPr lang="en-US" b="1" dirty="0" err="1">
                <a:latin typeface="Arial" pitchFamily="34" charset="0"/>
                <a:cs typeface="Arial" pitchFamily="34" charset="0"/>
              </a:rPr>
              <a:t>Rs</a:t>
            </a:r>
            <a:r>
              <a:rPr lang="en-US" b="1" dirty="0">
                <a:latin typeface="Arial" pitchFamily="34" charset="0"/>
                <a:cs typeface="Arial" pitchFamily="34" charset="0"/>
              </a:rPr>
              <a:t> 50, it would amount to </a:t>
            </a:r>
            <a:r>
              <a:rPr lang="en-US" b="1" dirty="0" err="1">
                <a:latin typeface="Arial" pitchFamily="34" charset="0"/>
                <a:cs typeface="Arial" pitchFamily="34" charset="0"/>
              </a:rPr>
              <a:t>Rs</a:t>
            </a:r>
            <a:r>
              <a:rPr lang="en-US" b="1" dirty="0">
                <a:latin typeface="Arial" pitchFamily="34" charset="0"/>
                <a:cs typeface="Arial" pitchFamily="34" charset="0"/>
              </a:rPr>
              <a:t> 5000.</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052736"/>
            <a:ext cx="7530060" cy="4178067"/>
          </a:xfrm>
          <a:prstGeom prst="rect">
            <a:avLst/>
          </a:prstGeom>
        </p:spPr>
        <p:txBody>
          <a:bodyPr wrap="square">
            <a:spAutoFit/>
          </a:bodyPr>
          <a:lstStyle/>
          <a:p>
            <a:pPr>
              <a:lnSpc>
                <a:spcPct val="150000"/>
              </a:lnSpc>
            </a:pPr>
            <a:r>
              <a:rPr lang="en-US" sz="1700" b="1" dirty="0">
                <a:latin typeface="Arial" pitchFamily="34" charset="0"/>
                <a:cs typeface="Arial" pitchFamily="34" charset="0"/>
              </a:rPr>
              <a:t>So when </a:t>
            </a:r>
            <a:r>
              <a:rPr lang="en-US" sz="1700" b="1" dirty="0" err="1">
                <a:latin typeface="Arial" pitchFamily="34" charset="0"/>
                <a:cs typeface="Arial" pitchFamily="34" charset="0"/>
              </a:rPr>
              <a:t>Rs</a:t>
            </a:r>
            <a:r>
              <a:rPr lang="en-US" sz="1700" b="1" dirty="0">
                <a:latin typeface="Arial" pitchFamily="34" charset="0"/>
                <a:cs typeface="Arial" pitchFamily="34" charset="0"/>
              </a:rPr>
              <a:t> 5000 is invested for one year in India at 7%, it would earn an interest of </a:t>
            </a:r>
            <a:r>
              <a:rPr lang="en-US" sz="1700" b="1" dirty="0" err="1">
                <a:latin typeface="Arial" pitchFamily="34" charset="0"/>
                <a:cs typeface="Arial" pitchFamily="34" charset="0"/>
              </a:rPr>
              <a:t>Rs</a:t>
            </a:r>
            <a:r>
              <a:rPr lang="en-US" sz="1700" b="1" dirty="0">
                <a:latin typeface="Arial" pitchFamily="34" charset="0"/>
                <a:cs typeface="Arial" pitchFamily="34" charset="0"/>
              </a:rPr>
              <a:t> 7% x 5000 = </a:t>
            </a:r>
            <a:r>
              <a:rPr lang="en-US" sz="1700" b="1" dirty="0" err="1">
                <a:latin typeface="Arial" pitchFamily="34" charset="0"/>
                <a:cs typeface="Arial" pitchFamily="34" charset="0"/>
              </a:rPr>
              <a:t>Rs</a:t>
            </a:r>
            <a:r>
              <a:rPr lang="en-US" sz="1700" b="1" dirty="0">
                <a:latin typeface="Arial" pitchFamily="34" charset="0"/>
                <a:cs typeface="Arial" pitchFamily="34" charset="0"/>
              </a:rPr>
              <a:t> 350.</a:t>
            </a:r>
          </a:p>
          <a:p>
            <a:pPr>
              <a:lnSpc>
                <a:spcPct val="150000"/>
              </a:lnSpc>
            </a:pPr>
            <a:endParaRPr lang="en-US" sz="600" b="1" dirty="0">
              <a:latin typeface="Arial" pitchFamily="34" charset="0"/>
              <a:cs typeface="Arial" pitchFamily="34" charset="0"/>
            </a:endParaRPr>
          </a:p>
          <a:p>
            <a:pPr>
              <a:lnSpc>
                <a:spcPct val="150000"/>
              </a:lnSpc>
            </a:pPr>
            <a:r>
              <a:rPr lang="en-US" sz="1700" b="1" dirty="0">
                <a:latin typeface="Arial" pitchFamily="34" charset="0"/>
                <a:cs typeface="Arial" pitchFamily="34" charset="0"/>
              </a:rPr>
              <a:t>Thus at the end of the period the total amount would be </a:t>
            </a:r>
            <a:r>
              <a:rPr lang="en-US" sz="1700" b="1" dirty="0" err="1">
                <a:latin typeface="Arial" pitchFamily="34" charset="0"/>
                <a:cs typeface="Arial" pitchFamily="34" charset="0"/>
              </a:rPr>
              <a:t>Rs</a:t>
            </a:r>
            <a:r>
              <a:rPr lang="en-US" sz="1700" b="1" dirty="0">
                <a:latin typeface="Arial" pitchFamily="34" charset="0"/>
                <a:cs typeface="Arial" pitchFamily="34" charset="0"/>
              </a:rPr>
              <a:t> 5350.</a:t>
            </a:r>
          </a:p>
          <a:p>
            <a:pPr>
              <a:lnSpc>
                <a:spcPct val="150000"/>
              </a:lnSpc>
            </a:pPr>
            <a:endParaRPr lang="en-US" sz="600" b="1" dirty="0">
              <a:latin typeface="Arial" pitchFamily="34" charset="0"/>
              <a:cs typeface="Arial" pitchFamily="34" charset="0"/>
            </a:endParaRPr>
          </a:p>
          <a:p>
            <a:pPr>
              <a:lnSpc>
                <a:spcPct val="150000"/>
              </a:lnSpc>
            </a:pPr>
            <a:r>
              <a:rPr lang="en-US" sz="1700" b="1" dirty="0">
                <a:latin typeface="Arial" pitchFamily="34" charset="0"/>
                <a:cs typeface="Arial" pitchFamily="34" charset="0"/>
              </a:rPr>
              <a:t>On conversion assuming no change in exchange rate, it would be $ 5350/50 = $107 or a net earning of $7</a:t>
            </a:r>
            <a:r>
              <a:rPr lang="en-US" sz="1700" b="1" dirty="0" smtClean="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sz="1700" b="1" dirty="0">
                <a:latin typeface="Arial" pitchFamily="34" charset="0"/>
                <a:cs typeface="Arial" pitchFamily="34" charset="0"/>
              </a:rPr>
              <a:t>Now had the investment been made in the USA itself at 2%, it would have earned net $2 only</a:t>
            </a:r>
            <a:r>
              <a:rPr lang="en-US" sz="1700" b="1" dirty="0" smtClean="0">
                <a:latin typeface="Arial" pitchFamily="34" charset="0"/>
                <a:cs typeface="Arial" pitchFamily="34" charset="0"/>
              </a:rPr>
              <a:t>.</a:t>
            </a:r>
          </a:p>
          <a:p>
            <a:pPr>
              <a:lnSpc>
                <a:spcPct val="150000"/>
              </a:lnSpc>
            </a:pPr>
            <a:endParaRPr lang="en-US" sz="600" b="1" dirty="0">
              <a:latin typeface="Arial" pitchFamily="34" charset="0"/>
              <a:cs typeface="Arial" pitchFamily="34" charset="0"/>
            </a:endParaRPr>
          </a:p>
          <a:p>
            <a:pPr>
              <a:lnSpc>
                <a:spcPct val="150000"/>
              </a:lnSpc>
            </a:pPr>
            <a:r>
              <a:rPr lang="en-US" sz="1700" b="1" dirty="0">
                <a:latin typeface="Arial" pitchFamily="34" charset="0"/>
                <a:cs typeface="Arial" pitchFamily="34" charset="0"/>
              </a:rPr>
              <a:t>Hence by participating in carry trade an additional $5 profit opportunity emerged because of differential interest rates between two countries.</a:t>
            </a:r>
            <a:endParaRPr lang="en-US" sz="1700"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81809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But here we have made a huge assumption that the exchange rate remained stable across the investment time period.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however may not be the case most of the time &amp; in the event of exchange rate variation, the consequence can be painful for the investor.</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81809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Let’s see this by looking at the same example</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We had assumed the exchange rate as </a:t>
            </a:r>
            <a:r>
              <a:rPr lang="en-US" b="1" dirty="0" err="1">
                <a:latin typeface="Arial" pitchFamily="34" charset="0"/>
                <a:cs typeface="Arial" pitchFamily="34" charset="0"/>
              </a:rPr>
              <a:t>Rs</a:t>
            </a:r>
            <a:r>
              <a:rPr lang="en-US" b="1" dirty="0">
                <a:latin typeface="Arial" pitchFamily="34" charset="0"/>
                <a:cs typeface="Arial" pitchFamily="34" charset="0"/>
              </a:rPr>
              <a:t> 50 = $</a:t>
            </a:r>
            <a:r>
              <a:rPr lang="en-US" b="1" dirty="0" smtClean="0">
                <a:latin typeface="Arial" pitchFamily="34" charset="0"/>
                <a:cs typeface="Arial" pitchFamily="34" charset="0"/>
              </a:rPr>
              <a:t>1</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if in the interim period the Rupee grew stronger to </a:t>
            </a:r>
            <a:r>
              <a:rPr lang="en-US" b="1" dirty="0" err="1">
                <a:latin typeface="Arial" pitchFamily="34" charset="0"/>
                <a:cs typeface="Arial" pitchFamily="34" charset="0"/>
              </a:rPr>
              <a:t>Rs</a:t>
            </a:r>
            <a:r>
              <a:rPr lang="en-US" b="1" dirty="0">
                <a:latin typeface="Arial" pitchFamily="34" charset="0"/>
                <a:cs typeface="Arial" pitchFamily="34" charset="0"/>
              </a:rPr>
              <a:t> 40, let’s see what happens to the investment…</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6810272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818092" cy="3790846"/>
          </a:xfrm>
          <a:prstGeom prst="rect">
            <a:avLst/>
          </a:prstGeom>
        </p:spPr>
        <p:txBody>
          <a:bodyPr wrap="square">
            <a:spAutoFit/>
          </a:bodyPr>
          <a:lstStyle/>
          <a:p>
            <a:pPr>
              <a:lnSpc>
                <a:spcPct val="150000"/>
              </a:lnSpc>
            </a:pPr>
            <a:r>
              <a:rPr lang="en-US" b="1" dirty="0">
                <a:latin typeface="Arial" pitchFamily="34" charset="0"/>
                <a:cs typeface="Arial" pitchFamily="34" charset="0"/>
              </a:rPr>
              <a:t>At 7% we saw that the investor in our example made </a:t>
            </a:r>
            <a:r>
              <a:rPr lang="en-US" b="1" dirty="0" err="1">
                <a:latin typeface="Arial" pitchFamily="34" charset="0"/>
                <a:cs typeface="Arial" pitchFamily="34" charset="0"/>
              </a:rPr>
              <a:t>Rs</a:t>
            </a:r>
            <a:r>
              <a:rPr lang="en-US" b="1" dirty="0">
                <a:latin typeface="Arial" pitchFamily="34" charset="0"/>
                <a:cs typeface="Arial" pitchFamily="34" charset="0"/>
              </a:rPr>
              <a:t> 350 and the final amount that he received was 5350. At the exchange rate of </a:t>
            </a:r>
            <a:r>
              <a:rPr lang="en-US" b="1" dirty="0" err="1">
                <a:latin typeface="Arial" pitchFamily="34" charset="0"/>
                <a:cs typeface="Arial" pitchFamily="34" charset="0"/>
              </a:rPr>
              <a:t>Rs</a:t>
            </a:r>
            <a:r>
              <a:rPr lang="en-US" b="1" dirty="0">
                <a:latin typeface="Arial" pitchFamily="34" charset="0"/>
                <a:cs typeface="Arial" pitchFamily="34" charset="0"/>
              </a:rPr>
              <a:t> 50 = $1 he received $ 107.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it the rupee grew weaker in the interim period to </a:t>
            </a:r>
            <a:r>
              <a:rPr lang="en-US" b="1" dirty="0" err="1">
                <a:latin typeface="Arial" pitchFamily="34" charset="0"/>
                <a:cs typeface="Arial" pitchFamily="34" charset="0"/>
              </a:rPr>
              <a:t>Rs</a:t>
            </a:r>
            <a:r>
              <a:rPr lang="en-US" b="1" dirty="0">
                <a:latin typeface="Arial" pitchFamily="34" charset="0"/>
                <a:cs typeface="Arial" pitchFamily="34" charset="0"/>
              </a:rPr>
              <a:t> 60 = $ 1, he would now receive only $ 5350/60 = $ 89.16.</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he would actually make a loss of nearly $11 instead of a gain of $2 he would have made had he invested in USA itself.</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495155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818092" cy="1713354"/>
          </a:xfrm>
          <a:prstGeom prst="rect">
            <a:avLst/>
          </a:prstGeom>
        </p:spPr>
        <p:txBody>
          <a:bodyPr wrap="square">
            <a:spAutoFit/>
          </a:bodyPr>
          <a:lstStyle/>
          <a:p>
            <a:pPr>
              <a:lnSpc>
                <a:spcPct val="150000"/>
              </a:lnSpc>
            </a:pPr>
            <a:r>
              <a:rPr lang="en-US" b="1" dirty="0">
                <a:latin typeface="Arial" pitchFamily="34" charset="0"/>
                <a:cs typeface="Arial" pitchFamily="34" charset="0"/>
              </a:rPr>
              <a:t>This is the currency risk that one has to take in carry trade. If the currency of investment becomes weaker the consequences for the investor are painful and if the currency on the other hand were to get stronger his gains to would get stronger. </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8549379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170020" cy="1754326"/>
          </a:xfrm>
          <a:prstGeom prst="rect">
            <a:avLst/>
          </a:prstGeom>
        </p:spPr>
        <p:txBody>
          <a:bodyPr wrap="square">
            <a:spAutoFit/>
          </a:bodyPr>
          <a:lstStyle/>
          <a:p>
            <a:pPr>
              <a:lnSpc>
                <a:spcPct val="150000"/>
              </a:lnSpc>
            </a:pPr>
            <a:r>
              <a:rPr lang="en-US" b="1" dirty="0">
                <a:latin typeface="Arial" pitchFamily="34" charset="0"/>
                <a:cs typeface="Arial" pitchFamily="34" charset="0"/>
              </a:rPr>
              <a:t>Conversely, if the exchange rate had become </a:t>
            </a:r>
            <a:r>
              <a:rPr lang="en-US" b="1" dirty="0" err="1">
                <a:latin typeface="Arial" pitchFamily="34" charset="0"/>
                <a:cs typeface="Arial" pitchFamily="34" charset="0"/>
              </a:rPr>
              <a:t>Rs</a:t>
            </a:r>
            <a:r>
              <a:rPr lang="en-US" b="1" dirty="0">
                <a:latin typeface="Arial" pitchFamily="34" charset="0"/>
                <a:cs typeface="Arial" pitchFamily="34" charset="0"/>
              </a:rPr>
              <a:t>. 40 = $</a:t>
            </a:r>
            <a:r>
              <a:rPr lang="en-US" b="1" dirty="0" smtClean="0">
                <a:latin typeface="Arial" pitchFamily="34" charset="0"/>
                <a:cs typeface="Arial" pitchFamily="34" charset="0"/>
              </a:rPr>
              <a:t>1,</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would actually have made USD 5350*/40$ =$133.75 which would have given him a significant gain of $33.75 vs. $2 </a:t>
            </a:r>
            <a:r>
              <a:rPr lang="en-US" b="1" dirty="0" smtClean="0">
                <a:latin typeface="Arial" pitchFamily="34" charset="0"/>
                <a:cs typeface="Arial" pitchFamily="34" charset="0"/>
              </a:rPr>
              <a:t>if</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had invested in USA itself.</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4509120"/>
            <a:ext cx="7458052" cy="461665"/>
          </a:xfrm>
          <a:prstGeom prst="rect">
            <a:avLst/>
          </a:prstGeom>
        </p:spPr>
        <p:txBody>
          <a:bodyPr wrap="square">
            <a:spAutoFit/>
          </a:bodyPr>
          <a:lstStyle/>
          <a:p>
            <a:pPr>
              <a:lnSpc>
                <a:spcPct val="150000"/>
              </a:lnSpc>
              <a:spcBef>
                <a:spcPct val="50000"/>
              </a:spcBef>
            </a:pPr>
            <a:r>
              <a:rPr lang="en-US" sz="1600" b="1" dirty="0">
                <a:latin typeface="Arial" pitchFamily="34" charset="0"/>
                <a:cs typeface="Arial" pitchFamily="34" charset="0"/>
              </a:rPr>
              <a:t>Please refer slides 7-10 to find out how the amount 5350 was worked out.</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27407726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423476" y="3573016"/>
            <a:ext cx="374892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Since ‘Carry Trade’ </a:t>
            </a:r>
            <a:r>
              <a:rPr lang="en-US" b="1" dirty="0" smtClean="0">
                <a:latin typeface="Arial" pitchFamily="34" charset="0"/>
                <a:cs typeface="Arial" pitchFamily="34" charset="0"/>
              </a:rPr>
              <a:t>involves</a:t>
            </a:r>
            <a:br>
              <a:rPr lang="en-US" b="1" dirty="0" smtClean="0">
                <a:latin typeface="Arial" pitchFamily="34" charset="0"/>
                <a:cs typeface="Arial" pitchFamily="34" charset="0"/>
              </a:rPr>
            </a:br>
            <a:r>
              <a:rPr lang="en-US" b="1" dirty="0" smtClean="0">
                <a:latin typeface="Arial" pitchFamily="34" charset="0"/>
                <a:cs typeface="Arial" pitchFamily="34" charset="0"/>
              </a:rPr>
              <a:t>borrowing </a:t>
            </a:r>
            <a:r>
              <a:rPr lang="en-US" b="1" dirty="0">
                <a:latin typeface="Arial" pitchFamily="34" charset="0"/>
                <a:cs typeface="Arial" pitchFamily="34" charset="0"/>
              </a:rPr>
              <a:t>in one market to fund investments in another </a:t>
            </a:r>
            <a:r>
              <a:rPr lang="en-US" b="1" dirty="0" smtClean="0">
                <a:latin typeface="Arial" pitchFamily="34" charset="0"/>
                <a:cs typeface="Arial" pitchFamily="34" charset="0"/>
              </a:rPr>
              <a:t>market,</a:t>
            </a:r>
            <a:br>
              <a:rPr lang="en-US" b="1" dirty="0" smtClean="0">
                <a:latin typeface="Arial" pitchFamily="34" charset="0"/>
                <a:cs typeface="Arial" pitchFamily="34" charset="0"/>
              </a:rPr>
            </a:br>
            <a:r>
              <a:rPr lang="en-US" b="1" dirty="0" smtClean="0">
                <a:latin typeface="Arial" pitchFamily="34" charset="0"/>
                <a:cs typeface="Arial" pitchFamily="34" charset="0"/>
              </a:rPr>
              <a:t>both </a:t>
            </a:r>
            <a:r>
              <a:rPr lang="en-US" b="1" dirty="0">
                <a:latin typeface="Arial" pitchFamily="34" charset="0"/>
                <a:cs typeface="Arial" pitchFamily="34" charset="0"/>
              </a:rPr>
              <a:t>‘gains’ and ‘losses’ can get magnified due to the currency fluctuations.  </a:t>
            </a:r>
            <a:endParaRPr lang="en-US" b="1" dirty="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170020" cy="2543197"/>
          </a:xfrm>
          <a:prstGeom prst="rect">
            <a:avLst/>
          </a:prstGeom>
        </p:spPr>
        <p:txBody>
          <a:bodyPr wrap="square">
            <a:spAutoFit/>
          </a:bodyPr>
          <a:lstStyle/>
          <a:p>
            <a:pPr>
              <a:lnSpc>
                <a:spcPct val="150000"/>
              </a:lnSpc>
            </a:pPr>
            <a:r>
              <a:rPr lang="en-US" b="1" dirty="0">
                <a:latin typeface="Arial" pitchFamily="34" charset="0"/>
                <a:cs typeface="Arial" pitchFamily="34" charset="0"/>
              </a:rPr>
              <a:t>However, in real life, the moment the traders get a feel that exchange rates are changing unfavorably, they rapidly unwind their positions by withdrawing their investments, and converting them into dollars.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is famously known as ‘Carry Trade Unwinding’. </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5843264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530060" cy="2169825"/>
          </a:xfrm>
          <a:prstGeom prst="rect">
            <a:avLst/>
          </a:prstGeom>
        </p:spPr>
        <p:txBody>
          <a:bodyPr wrap="square">
            <a:spAutoFit/>
          </a:bodyPr>
          <a:lstStyle/>
          <a:p>
            <a:pPr>
              <a:lnSpc>
                <a:spcPct val="150000"/>
              </a:lnSpc>
            </a:pPr>
            <a:r>
              <a:rPr lang="en-US" b="1" dirty="0">
                <a:latin typeface="Arial" pitchFamily="34" charset="0"/>
                <a:cs typeface="Arial" pitchFamily="34" charset="0"/>
              </a:rPr>
              <a:t>While we have explained ‘Carry Trade’ in fixed income investment in our example, one must understand that ‘Carry Trade’ also refers to investments in any other asset class like shares, commodity, real estate, </a:t>
            </a:r>
            <a:r>
              <a:rPr lang="en-US" b="1" dirty="0" err="1">
                <a:latin typeface="Arial" pitchFamily="34" charset="0"/>
                <a:cs typeface="Arial" pitchFamily="34" charset="0"/>
              </a:rPr>
              <a:t>etc</a:t>
            </a:r>
            <a:r>
              <a:rPr lang="en-US" b="1" dirty="0">
                <a:latin typeface="Arial" pitchFamily="34" charset="0"/>
                <a:cs typeface="Arial" pitchFamily="34" charset="0"/>
              </a:rPr>
              <a:t> in one country by taking leverage from another country.</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5390085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24744"/>
            <a:ext cx="7242028" cy="3000821"/>
          </a:xfrm>
          <a:prstGeom prst="rect">
            <a:avLst/>
          </a:prstGeom>
        </p:spPr>
        <p:txBody>
          <a:bodyPr wrap="square">
            <a:spAutoFit/>
          </a:bodyPr>
          <a:lstStyle/>
          <a:p>
            <a:pPr>
              <a:lnSpc>
                <a:spcPct val="150000"/>
              </a:lnSpc>
            </a:pPr>
            <a:r>
              <a:rPr lang="en-US" b="1" dirty="0">
                <a:latin typeface="Arial" pitchFamily="34" charset="0"/>
                <a:cs typeface="Arial" pitchFamily="34" charset="0"/>
              </a:rPr>
              <a:t>I will be glad to receive your feedback on this lesson to understand if there any gaps.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Your feedback will help me improve my lessons going forward.</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Also if you wish to demystify any other concepts, do write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me </a:t>
            </a:r>
            <a:r>
              <a:rPr lang="en-US" b="1" dirty="0">
                <a:latin typeface="Arial" pitchFamily="34" charset="0"/>
                <a:cs typeface="Arial" pitchFamily="34" charset="0"/>
              </a:rPr>
              <a:t>about them.</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CARRY TRADE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483849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71538" y="1928802"/>
            <a:ext cx="3929090" cy="872034"/>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Please send your feedback to </a:t>
            </a: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1762</TotalTime>
  <Words>1008</Words>
  <Application>Microsoft Office PowerPoint</Application>
  <PresentationFormat>On-screen Show (4:3)</PresentationFormat>
  <Paragraphs>76</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210</cp:revision>
  <dcterms:created xsi:type="dcterms:W3CDTF">2013-10-22T09:41:31Z</dcterms:created>
  <dcterms:modified xsi:type="dcterms:W3CDTF">2014-03-03T09:13:35Z</dcterms:modified>
</cp:coreProperties>
</file>