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94" r:id="rId3"/>
    <p:sldId id="318" r:id="rId4"/>
    <p:sldId id="334" r:id="rId5"/>
    <p:sldId id="335" r:id="rId6"/>
    <p:sldId id="322" r:id="rId7"/>
    <p:sldId id="336" r:id="rId8"/>
    <p:sldId id="337" r:id="rId9"/>
    <p:sldId id="338" r:id="rId10"/>
    <p:sldId id="339" r:id="rId11"/>
    <p:sldId id="340" r:id="rId12"/>
    <p:sldId id="341" r:id="rId13"/>
    <p:sldId id="342" r:id="rId14"/>
    <p:sldId id="343" r:id="rId15"/>
    <p:sldId id="344" r:id="rId16"/>
    <p:sldId id="345" r:id="rId17"/>
    <p:sldId id="287"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3/3/2014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3/3/2014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3/3/2014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3/3/2014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3/3/2014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3/3/2014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3/3/2014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08920"/>
            <a:ext cx="3957590" cy="456535"/>
          </a:xfrm>
          <a:prstGeom prst="rect">
            <a:avLst/>
          </a:prstGeom>
          <a:noFill/>
        </p:spPr>
        <p:txBody>
          <a:bodyPr wrap="square" rtlCol="0">
            <a:spAutoFit/>
          </a:bodyPr>
          <a:lstStyle/>
          <a:p>
            <a:pPr algn="ctr">
              <a:lnSpc>
                <a:spcPct val="150000"/>
              </a:lnSpc>
            </a:pPr>
            <a:r>
              <a:rPr lang="en-US" b="1" dirty="0" smtClean="0">
                <a:solidFill>
                  <a:schemeClr val="bg1"/>
                </a:solidFill>
                <a:latin typeface="Arial" pitchFamily="34" charset="0"/>
                <a:cs typeface="Arial" pitchFamily="34" charset="0"/>
              </a:rPr>
              <a:t>CURRENCY  HEDGING</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691680" y="1988840"/>
            <a:ext cx="2492920"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 Understanding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Currency  </a:t>
            </a:r>
            <a:r>
              <a:rPr lang="en-US" b="1" dirty="0">
                <a:latin typeface="Arial" pitchFamily="34" charset="0"/>
                <a:cs typeface="Arial" pitchFamily="34" charset="0"/>
              </a:rPr>
              <a:t>Hedging</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242028" cy="3000821"/>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There is a village known as Champak. The village is well known for the intelligence of its people. </a:t>
            </a:r>
            <a:r>
              <a:rPr lang="en-US" b="1" dirty="0" err="1">
                <a:latin typeface="Arial" pitchFamily="34" charset="0"/>
                <a:cs typeface="Arial" pitchFamily="34" charset="0"/>
              </a:rPr>
              <a:t>Chameli</a:t>
            </a:r>
            <a:r>
              <a:rPr lang="en-US" b="1" dirty="0">
                <a:latin typeface="Arial" pitchFamily="34" charset="0"/>
                <a:cs typeface="Arial" pitchFamily="34" charset="0"/>
              </a:rPr>
              <a:t> is one smart girl of the village and </a:t>
            </a:r>
            <a:r>
              <a:rPr lang="en-US" b="1" dirty="0" err="1">
                <a:latin typeface="Arial" pitchFamily="34" charset="0"/>
                <a:cs typeface="Arial" pitchFamily="34" charset="0"/>
              </a:rPr>
              <a:t>Chatur</a:t>
            </a:r>
            <a:r>
              <a:rPr lang="en-US" b="1" dirty="0">
                <a:latin typeface="Arial" pitchFamily="34" charset="0"/>
                <a:cs typeface="Arial" pitchFamily="34" charset="0"/>
              </a:rPr>
              <a:t> a smart young man, is keen to marry </a:t>
            </a:r>
            <a:r>
              <a:rPr lang="en-US" b="1" dirty="0" err="1">
                <a:latin typeface="Arial" pitchFamily="34" charset="0"/>
                <a:cs typeface="Arial" pitchFamily="34" charset="0"/>
              </a:rPr>
              <a:t>Chameli</a:t>
            </a:r>
            <a:r>
              <a:rPr lang="en-US" b="1" dirty="0">
                <a:latin typeface="Arial" pitchFamily="34" charset="0"/>
                <a:cs typeface="Arial" pitchFamily="34" charset="0"/>
              </a:rPr>
              <a:t>. </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However, </a:t>
            </a:r>
            <a:r>
              <a:rPr lang="en-US" b="1" dirty="0" err="1">
                <a:latin typeface="Arial" pitchFamily="34" charset="0"/>
                <a:cs typeface="Arial" pitchFamily="34" charset="0"/>
              </a:rPr>
              <a:t>Chameli</a:t>
            </a:r>
            <a:r>
              <a:rPr lang="en-US" b="1" dirty="0">
                <a:latin typeface="Arial" pitchFamily="34" charset="0"/>
                <a:cs typeface="Arial" pitchFamily="34" charset="0"/>
              </a:rPr>
              <a:t> is unwilling to commit. She sets her condition that she might consider marrying him but would confirm only after one year.</a:t>
            </a:r>
            <a:endParaRPr lang="en-US" b="1" dirty="0">
              <a:latin typeface="Arial" pitchFamily="34" charset="0"/>
              <a:cs typeface="Arial" pitchFamily="34" charset="0"/>
            </a:endParaRP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
        <p:nvSpPr>
          <p:cNvPr id="6" name="Rectangle 5"/>
          <p:cNvSpPr/>
          <p:nvPr/>
        </p:nvSpPr>
        <p:spPr>
          <a:xfrm>
            <a:off x="827584" y="1063753"/>
            <a:ext cx="7416824" cy="3416320"/>
          </a:xfrm>
          <a:prstGeom prst="rect">
            <a:avLst/>
          </a:prstGeom>
        </p:spPr>
        <p:txBody>
          <a:bodyPr wrap="square">
            <a:spAutoFit/>
          </a:bodyPr>
          <a:lstStyle/>
          <a:p>
            <a:pPr>
              <a:lnSpc>
                <a:spcPct val="150000"/>
              </a:lnSpc>
            </a:pPr>
            <a:r>
              <a:rPr lang="en-US" b="1" dirty="0">
                <a:latin typeface="Arial" pitchFamily="34" charset="0"/>
                <a:cs typeface="Arial" pitchFamily="34" charset="0"/>
              </a:rPr>
              <a:t>She comes up with an idea and makes an offer to </a:t>
            </a:r>
            <a:r>
              <a:rPr lang="en-US" b="1" dirty="0" err="1">
                <a:latin typeface="Arial" pitchFamily="34" charset="0"/>
                <a:cs typeface="Arial" pitchFamily="34" charset="0"/>
              </a:rPr>
              <a:t>Chatur</a:t>
            </a:r>
            <a:r>
              <a:rPr lang="en-US" b="1" dirty="0">
                <a:latin typeface="Arial" pitchFamily="34" charset="0"/>
                <a:cs typeface="Arial" pitchFamily="34" charset="0"/>
              </a:rPr>
              <a:t>.</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She suggests that they draw up a contract which states that at the end of the year she might consider marrying </a:t>
            </a:r>
            <a:r>
              <a:rPr lang="en-US" b="1" dirty="0" err="1">
                <a:latin typeface="Arial" pitchFamily="34" charset="0"/>
                <a:cs typeface="Arial" pitchFamily="34" charset="0"/>
              </a:rPr>
              <a:t>Chatur</a:t>
            </a:r>
            <a:r>
              <a:rPr lang="en-US" b="1" dirty="0">
                <a:latin typeface="Arial" pitchFamily="34" charset="0"/>
                <a:cs typeface="Arial" pitchFamily="34" charset="0"/>
              </a:rPr>
              <a:t> but there would be no obligation to do so. For signing up the </a:t>
            </a:r>
            <a:r>
              <a:rPr lang="en-US" b="1" dirty="0" smtClean="0">
                <a:latin typeface="Arial" pitchFamily="34" charset="0"/>
                <a:cs typeface="Arial" pitchFamily="34" charset="0"/>
              </a:rPr>
              <a:t>contract,</a:t>
            </a:r>
            <a:br>
              <a:rPr lang="en-US" b="1" dirty="0" smtClean="0">
                <a:latin typeface="Arial" pitchFamily="34" charset="0"/>
                <a:cs typeface="Arial" pitchFamily="34" charset="0"/>
              </a:rPr>
            </a:br>
            <a:r>
              <a:rPr lang="en-US" b="1" dirty="0" smtClean="0">
                <a:latin typeface="Arial" pitchFamily="34" charset="0"/>
                <a:cs typeface="Arial" pitchFamily="34" charset="0"/>
              </a:rPr>
              <a:t>she </a:t>
            </a:r>
            <a:r>
              <a:rPr lang="en-US" b="1" dirty="0">
                <a:latin typeface="Arial" pitchFamily="34" charset="0"/>
                <a:cs typeface="Arial" pitchFamily="34" charset="0"/>
              </a:rPr>
              <a:t>would pay </a:t>
            </a:r>
            <a:r>
              <a:rPr lang="en-US" b="1" dirty="0" err="1">
                <a:latin typeface="Arial" pitchFamily="34" charset="0"/>
                <a:cs typeface="Arial" pitchFamily="34" charset="0"/>
              </a:rPr>
              <a:t>Chatur</a:t>
            </a:r>
            <a:r>
              <a:rPr lang="en-US" b="1" dirty="0">
                <a:latin typeface="Arial" pitchFamily="34" charset="0"/>
                <a:cs typeface="Arial" pitchFamily="34" charset="0"/>
              </a:rPr>
              <a:t> a sum of money. As part of the contract, </a:t>
            </a:r>
            <a:r>
              <a:rPr lang="en-US" b="1" dirty="0" err="1">
                <a:latin typeface="Arial" pitchFamily="34" charset="0"/>
                <a:cs typeface="Arial" pitchFamily="34" charset="0"/>
              </a:rPr>
              <a:t>Chatur</a:t>
            </a:r>
            <a:r>
              <a:rPr lang="en-US" b="1" dirty="0">
                <a:latin typeface="Arial" pitchFamily="34" charset="0"/>
                <a:cs typeface="Arial" pitchFamily="34" charset="0"/>
              </a:rPr>
              <a:t> has to stay within bounds and not</a:t>
            </a:r>
          </a:p>
          <a:p>
            <a:pPr>
              <a:lnSpc>
                <a:spcPct val="150000"/>
              </a:lnSpc>
            </a:pPr>
            <a:r>
              <a:rPr lang="en-US" b="1" dirty="0">
                <a:latin typeface="Arial" pitchFamily="34" charset="0"/>
                <a:cs typeface="Arial" pitchFamily="34" charset="0"/>
              </a:rPr>
              <a:t>persuade her during this period.</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
        <p:nvSpPr>
          <p:cNvPr id="6" name="Rectangle 5"/>
          <p:cNvSpPr/>
          <p:nvPr/>
        </p:nvSpPr>
        <p:spPr>
          <a:xfrm>
            <a:off x="711102" y="1092800"/>
            <a:ext cx="7245274" cy="3416320"/>
          </a:xfrm>
          <a:prstGeom prst="rect">
            <a:avLst/>
          </a:prstGeom>
        </p:spPr>
        <p:txBody>
          <a:bodyPr wrap="square">
            <a:spAutoFit/>
          </a:bodyPr>
          <a:lstStyle/>
          <a:p>
            <a:pPr>
              <a:lnSpc>
                <a:spcPct val="150000"/>
              </a:lnSpc>
            </a:pPr>
            <a:r>
              <a:rPr lang="en-US" b="1" dirty="0">
                <a:latin typeface="Arial" pitchFamily="34" charset="0"/>
                <a:cs typeface="Arial" pitchFamily="34" charset="0"/>
              </a:rPr>
              <a:t>If one sees this situation from </a:t>
            </a:r>
            <a:r>
              <a:rPr lang="en-US" b="1" dirty="0" err="1">
                <a:latin typeface="Arial" pitchFamily="34" charset="0"/>
                <a:cs typeface="Arial" pitchFamily="34" charset="0"/>
              </a:rPr>
              <a:t>Chameli's</a:t>
            </a:r>
            <a:r>
              <a:rPr lang="en-US" b="1" dirty="0">
                <a:latin typeface="Arial" pitchFamily="34" charset="0"/>
                <a:cs typeface="Arial" pitchFamily="34" charset="0"/>
              </a:rPr>
              <a:t> perspective, it appears that she is “Hedging” herself or we may say she is “covering her risks” for a sum of</a:t>
            </a:r>
          </a:p>
          <a:p>
            <a:pPr>
              <a:lnSpc>
                <a:spcPct val="150000"/>
              </a:lnSpc>
            </a:pPr>
            <a:r>
              <a:rPr lang="en-US" b="1" dirty="0">
                <a:latin typeface="Arial" pitchFamily="34" charset="0"/>
                <a:cs typeface="Arial" pitchFamily="34" charset="0"/>
              </a:rPr>
              <a:t>money. </a:t>
            </a:r>
          </a:p>
          <a:p>
            <a:pPr>
              <a:lnSpc>
                <a:spcPct val="150000"/>
              </a:lnSpc>
            </a:pPr>
            <a:endParaRPr lang="en-US" b="1" dirty="0">
              <a:latin typeface="Arial" pitchFamily="34" charset="0"/>
              <a:cs typeface="Arial" pitchFamily="34" charset="0"/>
            </a:endParaRPr>
          </a:p>
          <a:p>
            <a:pPr>
              <a:lnSpc>
                <a:spcPct val="150000"/>
              </a:lnSpc>
            </a:pPr>
            <a:r>
              <a:rPr lang="en-US" b="1" dirty="0" err="1">
                <a:latin typeface="Arial" pitchFamily="34" charset="0"/>
                <a:cs typeface="Arial" pitchFamily="34" charset="0"/>
              </a:rPr>
              <a:t>Chatur</a:t>
            </a:r>
            <a:r>
              <a:rPr lang="en-US" b="1" dirty="0">
                <a:latin typeface="Arial" pitchFamily="34" charset="0"/>
                <a:cs typeface="Arial" pitchFamily="34" charset="0"/>
              </a:rPr>
              <a:t> ,on the other hand, stands a chance of marrying </a:t>
            </a:r>
            <a:r>
              <a:rPr lang="en-US" b="1" dirty="0" err="1">
                <a:latin typeface="Arial" pitchFamily="34" charset="0"/>
                <a:cs typeface="Arial" pitchFamily="34" charset="0"/>
              </a:rPr>
              <a:t>Chameli</a:t>
            </a:r>
            <a:r>
              <a:rPr lang="en-US" b="1" dirty="0">
                <a:latin typeface="Arial" pitchFamily="34" charset="0"/>
                <a:cs typeface="Arial" pitchFamily="34" charset="0"/>
              </a:rPr>
              <a:t> after a year and the sum of money that he gets for the contract becomes the icing on the cake.</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65004"/>
            <a:ext cx="4218262" cy="1338828"/>
          </a:xfrm>
          <a:prstGeom prst="rect">
            <a:avLst/>
          </a:prstGeom>
        </p:spPr>
        <p:txBody>
          <a:bodyPr wrap="square">
            <a:spAutoFit/>
          </a:bodyPr>
          <a:lstStyle/>
          <a:p>
            <a:pPr>
              <a:lnSpc>
                <a:spcPct val="150000"/>
              </a:lnSpc>
            </a:pPr>
            <a:r>
              <a:rPr lang="en-US" b="1" dirty="0">
                <a:latin typeface="Arial" pitchFamily="34" charset="0"/>
                <a:cs typeface="Arial" pitchFamily="34" charset="0"/>
              </a:rPr>
              <a:t>However, let us examine the scenario in the event </a:t>
            </a:r>
            <a:r>
              <a:rPr lang="en-US" b="1" dirty="0" smtClean="0">
                <a:latin typeface="Arial" pitchFamily="34" charset="0"/>
                <a:cs typeface="Arial" pitchFamily="34" charset="0"/>
              </a:rPr>
              <a:t>of</a:t>
            </a:r>
            <a:br>
              <a:rPr lang="en-US" b="1" dirty="0" smtClean="0">
                <a:latin typeface="Arial" pitchFamily="34" charset="0"/>
                <a:cs typeface="Arial" pitchFamily="34" charset="0"/>
              </a:rPr>
            </a:br>
            <a:r>
              <a:rPr lang="en-US" b="1" dirty="0" err="1" smtClean="0">
                <a:latin typeface="Arial" pitchFamily="34" charset="0"/>
                <a:cs typeface="Arial" pitchFamily="34" charset="0"/>
              </a:rPr>
              <a:t>Chameli</a:t>
            </a:r>
            <a:r>
              <a:rPr lang="en-US" b="1" dirty="0" smtClean="0">
                <a:latin typeface="Arial" pitchFamily="34" charset="0"/>
                <a:cs typeface="Arial" pitchFamily="34" charset="0"/>
              </a:rPr>
              <a:t> </a:t>
            </a:r>
            <a:r>
              <a:rPr lang="en-US" b="1" dirty="0">
                <a:latin typeface="Arial" pitchFamily="34" charset="0"/>
                <a:cs typeface="Arial" pitchFamily="34" charset="0"/>
              </a:rPr>
              <a:t>not marrying </a:t>
            </a:r>
            <a:r>
              <a:rPr lang="en-US" b="1" dirty="0" err="1">
                <a:latin typeface="Arial" pitchFamily="34" charset="0"/>
                <a:cs typeface="Arial" pitchFamily="34" charset="0"/>
              </a:rPr>
              <a:t>Chatur</a:t>
            </a:r>
            <a:r>
              <a:rPr lang="en-US" b="1" dirty="0">
                <a:latin typeface="Arial" pitchFamily="34" charset="0"/>
                <a:cs typeface="Arial" pitchFamily="34" charset="0"/>
              </a:rPr>
              <a:t>.</a:t>
            </a:r>
            <a:endParaRPr lang="en-US" b="1" dirty="0">
              <a:latin typeface="Arial" pitchFamily="34" charset="0"/>
              <a:cs typeface="Arial" pitchFamily="34" charset="0"/>
            </a:endParaRPr>
          </a:p>
        </p:txBody>
      </p:sp>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
        <p:nvSpPr>
          <p:cNvPr id="6" name="Rectangle 5"/>
          <p:cNvSpPr/>
          <p:nvPr/>
        </p:nvSpPr>
        <p:spPr>
          <a:xfrm>
            <a:off x="686018" y="1124744"/>
            <a:ext cx="7414374" cy="1754326"/>
          </a:xfrm>
          <a:prstGeom prst="rect">
            <a:avLst/>
          </a:prstGeom>
        </p:spPr>
        <p:txBody>
          <a:bodyPr wrap="square">
            <a:spAutoFit/>
          </a:bodyPr>
          <a:lstStyle/>
          <a:p>
            <a:pPr>
              <a:lnSpc>
                <a:spcPct val="150000"/>
              </a:lnSpc>
            </a:pPr>
            <a:r>
              <a:rPr lang="en-US" b="1" dirty="0" err="1">
                <a:latin typeface="Arial" pitchFamily="34" charset="0"/>
                <a:cs typeface="Arial" pitchFamily="34" charset="0"/>
              </a:rPr>
              <a:t>Chameli</a:t>
            </a:r>
            <a:r>
              <a:rPr lang="en-US" b="1" dirty="0">
                <a:latin typeface="Arial" pitchFamily="34" charset="0"/>
                <a:cs typeface="Arial" pitchFamily="34" charset="0"/>
              </a:rPr>
              <a:t> would use her option of not marrying </a:t>
            </a:r>
            <a:r>
              <a:rPr lang="en-US" b="1" dirty="0" err="1">
                <a:latin typeface="Arial" pitchFamily="34" charset="0"/>
                <a:cs typeface="Arial" pitchFamily="34" charset="0"/>
              </a:rPr>
              <a:t>Chatur</a:t>
            </a:r>
            <a:r>
              <a:rPr lang="en-US" b="1" dirty="0">
                <a:latin typeface="Arial" pitchFamily="34" charset="0"/>
                <a:cs typeface="Arial" pitchFamily="34" charset="0"/>
              </a:rPr>
              <a:t> if she happens to find a groom more eligible than </a:t>
            </a:r>
            <a:r>
              <a:rPr lang="en-US" b="1" dirty="0" err="1">
                <a:latin typeface="Arial" pitchFamily="34" charset="0"/>
                <a:cs typeface="Arial" pitchFamily="34" charset="0"/>
              </a:rPr>
              <a:t>Chatur</a:t>
            </a:r>
            <a:r>
              <a:rPr lang="en-US" b="1" dirty="0">
                <a:latin typeface="Arial" pitchFamily="34" charset="0"/>
                <a:cs typeface="Arial" pitchFamily="34" charset="0"/>
              </a:rPr>
              <a:t>. The only price that she would have to bear for this decision is the sum of money that </a:t>
            </a:r>
            <a:r>
              <a:rPr lang="en-US" b="1" dirty="0" err="1">
                <a:latin typeface="Arial" pitchFamily="34" charset="0"/>
                <a:cs typeface="Arial" pitchFamily="34" charset="0"/>
              </a:rPr>
              <a:t>Chatur</a:t>
            </a:r>
            <a:r>
              <a:rPr lang="en-US" b="1" dirty="0">
                <a:latin typeface="Arial" pitchFamily="34" charset="0"/>
                <a:cs typeface="Arial" pitchFamily="34" charset="0"/>
              </a:rPr>
              <a:t> would get on account of the contract.</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4"/>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
        <p:nvSpPr>
          <p:cNvPr id="4" name="Rectangle 3"/>
          <p:cNvSpPr/>
          <p:nvPr/>
        </p:nvSpPr>
        <p:spPr>
          <a:xfrm>
            <a:off x="714348" y="1124744"/>
            <a:ext cx="7242028" cy="2169825"/>
          </a:xfrm>
          <a:prstGeom prst="rect">
            <a:avLst/>
          </a:prstGeom>
        </p:spPr>
        <p:txBody>
          <a:bodyPr wrap="square">
            <a:spAutoFit/>
          </a:bodyPr>
          <a:lstStyle/>
          <a:p>
            <a:pPr>
              <a:lnSpc>
                <a:spcPct val="150000"/>
              </a:lnSpc>
            </a:pPr>
            <a:r>
              <a:rPr lang="en-US" b="1" dirty="0">
                <a:latin typeface="Arial" pitchFamily="34" charset="0"/>
                <a:cs typeface="Arial" pitchFamily="34" charset="0"/>
              </a:rPr>
              <a:t>So by offering this money, she covers her risks by ensuring that she enjoys the option of marrying either </a:t>
            </a:r>
            <a:r>
              <a:rPr lang="en-US" b="1" dirty="0" err="1">
                <a:latin typeface="Arial" pitchFamily="34" charset="0"/>
                <a:cs typeface="Arial" pitchFamily="34" charset="0"/>
              </a:rPr>
              <a:t>Chatur</a:t>
            </a:r>
            <a:r>
              <a:rPr lang="en-US" b="1" dirty="0">
                <a:latin typeface="Arial" pitchFamily="34" charset="0"/>
                <a:cs typeface="Arial" pitchFamily="34" charset="0"/>
              </a:rPr>
              <a:t> or somebody better. </a:t>
            </a:r>
            <a:r>
              <a:rPr lang="en-US" b="1" dirty="0" err="1">
                <a:latin typeface="Arial" pitchFamily="34" charset="0"/>
                <a:cs typeface="Arial" pitchFamily="34" charset="0"/>
              </a:rPr>
              <a:t>Chatur</a:t>
            </a:r>
            <a:r>
              <a:rPr lang="en-US" b="1" dirty="0">
                <a:latin typeface="Arial" pitchFamily="34" charset="0"/>
                <a:cs typeface="Arial" pitchFamily="34" charset="0"/>
              </a:rPr>
              <a:t> has a reasonable chance of marrying </a:t>
            </a:r>
            <a:r>
              <a:rPr lang="en-US" b="1" dirty="0" err="1">
                <a:latin typeface="Arial" pitchFamily="34" charset="0"/>
                <a:cs typeface="Arial" pitchFamily="34" charset="0"/>
              </a:rPr>
              <a:t>Chameli</a:t>
            </a:r>
            <a:r>
              <a:rPr lang="en-US" b="1" dirty="0">
                <a:latin typeface="Arial" pitchFamily="34" charset="0"/>
                <a:cs typeface="Arial" pitchFamily="34" charset="0"/>
              </a:rPr>
              <a:t> at the end of the year, but if that does not occur he at least gets to pocket the money.</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10997"/>
            <a:ext cx="7242028" cy="3000821"/>
          </a:xfrm>
          <a:prstGeom prst="rect">
            <a:avLst/>
          </a:prstGeom>
        </p:spPr>
        <p:txBody>
          <a:bodyPr wrap="square">
            <a:spAutoFit/>
          </a:bodyPr>
          <a:lstStyle/>
          <a:p>
            <a:pPr>
              <a:lnSpc>
                <a:spcPct val="150000"/>
              </a:lnSpc>
            </a:pPr>
            <a:r>
              <a:rPr lang="en-US" b="1" dirty="0">
                <a:latin typeface="Arial" pitchFamily="34" charset="0"/>
                <a:cs typeface="Arial" pitchFamily="34" charset="0"/>
              </a:rPr>
              <a:t>Hedging of currency risk is similar to this story.</a:t>
            </a:r>
          </a:p>
          <a:p>
            <a:pPr>
              <a:lnSpc>
                <a:spcPct val="150000"/>
              </a:lnSpc>
            </a:pPr>
            <a:endParaRPr lang="en-US" b="1" dirty="0">
              <a:latin typeface="Arial" pitchFamily="34" charset="0"/>
              <a:cs typeface="Arial" pitchFamily="34" charset="0"/>
            </a:endParaRPr>
          </a:p>
          <a:p>
            <a:pPr>
              <a:lnSpc>
                <a:spcPct val="150000"/>
              </a:lnSpc>
            </a:pPr>
            <a:r>
              <a:rPr lang="en-US" b="1" dirty="0" smtClean="0">
                <a:latin typeface="Arial" pitchFamily="34" charset="0"/>
                <a:cs typeface="Arial" pitchFamily="34" charset="0"/>
              </a:rPr>
              <a:t>Let's </a:t>
            </a:r>
            <a:r>
              <a:rPr lang="en-US" b="1" dirty="0">
                <a:latin typeface="Arial" pitchFamily="34" charset="0"/>
                <a:cs typeface="Arial" pitchFamily="34" charset="0"/>
              </a:rPr>
              <a:t>say </a:t>
            </a:r>
            <a:r>
              <a:rPr lang="en-US" b="1" dirty="0" err="1">
                <a:latin typeface="Arial" pitchFamily="34" charset="0"/>
                <a:cs typeface="Arial" pitchFamily="34" charset="0"/>
              </a:rPr>
              <a:t>Chameli</a:t>
            </a:r>
            <a:r>
              <a:rPr lang="en-US" b="1" dirty="0">
                <a:latin typeface="Arial" pitchFamily="34" charset="0"/>
                <a:cs typeface="Arial" pitchFamily="34" charset="0"/>
              </a:rPr>
              <a:t> places an order to buy foreign machinery at a million dollars at the end the year. As per the contract, she will need to make the payment at the end of the year. Now let's say the value of a million dollar is 5 cr. rupees at the time of signing the contract.</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86356" y="980728"/>
            <a:ext cx="760206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At the end of the year the value of the dollar rises by 10</a:t>
            </a:r>
            <a:r>
              <a:rPr lang="en-US" b="1" dirty="0" smtClean="0">
                <a:latin typeface="Arial" pitchFamily="34" charset="0"/>
                <a:cs typeface="Arial" pitchFamily="34" charset="0"/>
              </a:rPr>
              <a:t>%.</a:t>
            </a:r>
            <a:br>
              <a:rPr lang="en-US" b="1" dirty="0" smtClean="0">
                <a:latin typeface="Arial" pitchFamily="34" charset="0"/>
                <a:cs typeface="Arial" pitchFamily="34" charset="0"/>
              </a:rPr>
            </a:br>
            <a:r>
              <a:rPr lang="en-US" b="1" dirty="0" smtClean="0">
                <a:latin typeface="Arial" pitchFamily="34" charset="0"/>
                <a:cs typeface="Arial" pitchFamily="34" charset="0"/>
              </a:rPr>
              <a:t>Now </a:t>
            </a:r>
            <a:r>
              <a:rPr lang="en-US" b="1" dirty="0">
                <a:latin typeface="Arial" pitchFamily="34" charset="0"/>
                <a:cs typeface="Arial" pitchFamily="34" charset="0"/>
              </a:rPr>
              <a:t>she would have to cough up additional </a:t>
            </a:r>
            <a:r>
              <a:rPr lang="en-US" b="1" dirty="0" err="1">
                <a:latin typeface="Arial" pitchFamily="34" charset="0"/>
                <a:cs typeface="Arial" pitchFamily="34" charset="0"/>
              </a:rPr>
              <a:t>Rs</a:t>
            </a:r>
            <a:r>
              <a:rPr lang="en-US" b="1" dirty="0">
                <a:latin typeface="Arial" pitchFamily="34" charset="0"/>
                <a:cs typeface="Arial" pitchFamily="34" charset="0"/>
              </a:rPr>
              <a:t>. 50 </a:t>
            </a:r>
            <a:r>
              <a:rPr lang="en-US" b="1" dirty="0" err="1">
                <a:latin typeface="Arial" pitchFamily="34" charset="0"/>
                <a:cs typeface="Arial" pitchFamily="34" charset="0"/>
              </a:rPr>
              <a:t>lacs</a:t>
            </a:r>
            <a:r>
              <a:rPr lang="en-US" b="1" dirty="0">
                <a:latin typeface="Arial" pitchFamily="34" charset="0"/>
                <a:cs typeface="Arial" pitchFamily="34" charset="0"/>
              </a:rPr>
              <a:t> for the machinery (</a:t>
            </a:r>
            <a:r>
              <a:rPr lang="en-US" b="1" dirty="0" err="1">
                <a:latin typeface="Arial" pitchFamily="34" charset="0"/>
                <a:cs typeface="Arial" pitchFamily="34" charset="0"/>
              </a:rPr>
              <a:t>Rs</a:t>
            </a:r>
            <a:r>
              <a:rPr lang="en-US" b="1" dirty="0">
                <a:latin typeface="Arial" pitchFamily="34" charset="0"/>
                <a:cs typeface="Arial" pitchFamily="34" charset="0"/>
              </a:rPr>
              <a:t> 5.5 </a:t>
            </a:r>
            <a:r>
              <a:rPr lang="en-US" b="1" dirty="0" err="1">
                <a:latin typeface="Arial" pitchFamily="34" charset="0"/>
                <a:cs typeface="Arial" pitchFamily="34" charset="0"/>
              </a:rPr>
              <a:t>cr</a:t>
            </a:r>
            <a:r>
              <a:rPr lang="en-US" b="1" dirty="0">
                <a:latin typeface="Arial" pitchFamily="34" charset="0"/>
                <a:cs typeface="Arial" pitchFamily="34" charset="0"/>
              </a:rPr>
              <a:t> for a million dollars due to price appreciation).</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15159"/>
            <a:ext cx="7314036" cy="1703030"/>
          </a:xfrm>
          <a:prstGeom prst="rect">
            <a:avLst/>
          </a:prstGeom>
        </p:spPr>
        <p:txBody>
          <a:bodyPr wrap="square">
            <a:spAutoFit/>
          </a:bodyPr>
          <a:lstStyle/>
          <a:p>
            <a:pPr>
              <a:lnSpc>
                <a:spcPct val="150000"/>
              </a:lnSpc>
            </a:pPr>
            <a:r>
              <a:rPr lang="en-US" b="1" dirty="0">
                <a:latin typeface="Arial" pitchFamily="34" charset="0"/>
                <a:cs typeface="Arial" pitchFamily="34" charset="0"/>
              </a:rPr>
              <a:t>This increase in cost is not good for her business. And she looks for ways of covering such currency risk. Instead of risking what could be </a:t>
            </a:r>
            <a:r>
              <a:rPr lang="en-US" b="1" dirty="0" err="1">
                <a:latin typeface="Arial" pitchFamily="34" charset="0"/>
                <a:cs typeface="Arial" pitchFamily="34" charset="0"/>
              </a:rPr>
              <a:t>Rs</a:t>
            </a:r>
            <a:r>
              <a:rPr lang="en-US" b="1" dirty="0">
                <a:latin typeface="Arial" pitchFamily="34" charset="0"/>
                <a:cs typeface="Arial" pitchFamily="34" charset="0"/>
              </a:rPr>
              <a:t> 50 </a:t>
            </a:r>
            <a:r>
              <a:rPr lang="en-US" b="1" dirty="0" err="1">
                <a:latin typeface="Arial" pitchFamily="34" charset="0"/>
                <a:cs typeface="Arial" pitchFamily="34" charset="0"/>
              </a:rPr>
              <a:t>lacs</a:t>
            </a:r>
            <a:r>
              <a:rPr lang="en-US" b="1" dirty="0" smtClean="0">
                <a:latin typeface="Arial" pitchFamily="34" charset="0"/>
                <a:cs typeface="Arial" pitchFamily="34" charset="0"/>
              </a:rPr>
              <a:t>, she </a:t>
            </a:r>
            <a:r>
              <a:rPr lang="en-US" b="1" dirty="0">
                <a:latin typeface="Arial" pitchFamily="34" charset="0"/>
                <a:cs typeface="Arial" pitchFamily="34" charset="0"/>
              </a:rPr>
              <a:t>buys a call option (you always buy a “call” option but sell a “put” option).</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15159"/>
            <a:ext cx="7314036" cy="2534027"/>
          </a:xfrm>
          <a:prstGeom prst="rect">
            <a:avLst/>
          </a:prstGeom>
        </p:spPr>
        <p:txBody>
          <a:bodyPr wrap="square">
            <a:spAutoFit/>
          </a:bodyPr>
          <a:lstStyle/>
          <a:p>
            <a:pPr>
              <a:lnSpc>
                <a:spcPct val="150000"/>
              </a:lnSpc>
            </a:pPr>
            <a:r>
              <a:rPr lang="en-US" b="1" dirty="0">
                <a:latin typeface="Arial" pitchFamily="34" charset="0"/>
                <a:cs typeface="Arial" pitchFamily="34" charset="0"/>
              </a:rPr>
              <a:t>This option in essence gives her the option of either purchasing a million dollars for </a:t>
            </a:r>
            <a:r>
              <a:rPr lang="en-US" b="1" dirty="0" err="1">
                <a:latin typeface="Arial" pitchFamily="34" charset="0"/>
                <a:cs typeface="Arial" pitchFamily="34" charset="0"/>
              </a:rPr>
              <a:t>Rs</a:t>
            </a:r>
            <a:r>
              <a:rPr lang="en-US" b="1" dirty="0">
                <a:latin typeface="Arial" pitchFamily="34" charset="0"/>
                <a:cs typeface="Arial" pitchFamily="34" charset="0"/>
              </a:rPr>
              <a:t> 5 cr. or else allowing the option to expire. Logically, if the value of the million dollars falls below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cr</a:t>
            </a:r>
            <a:r>
              <a:rPr lang="en-US" b="1" dirty="0">
                <a:latin typeface="Arial" pitchFamily="34" charset="0"/>
                <a:cs typeface="Arial" pitchFamily="34" charset="0"/>
              </a:rPr>
              <a:t>, she would allow the option to expire. But if the value of the million dollars goes up beyond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cr</a:t>
            </a:r>
            <a:r>
              <a:rPr lang="en-US" b="1" dirty="0">
                <a:latin typeface="Arial" pitchFamily="34" charset="0"/>
                <a:cs typeface="Arial" pitchFamily="34" charset="0"/>
              </a:rPr>
              <a:t>, she would execute the option.</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3574733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15159"/>
            <a:ext cx="7098012" cy="3000821"/>
          </a:xfrm>
          <a:prstGeom prst="rect">
            <a:avLst/>
          </a:prstGeom>
        </p:spPr>
        <p:txBody>
          <a:bodyPr wrap="square">
            <a:spAutoFit/>
          </a:bodyPr>
          <a:lstStyle/>
          <a:p>
            <a:pPr>
              <a:lnSpc>
                <a:spcPct val="150000"/>
              </a:lnSpc>
            </a:pPr>
            <a:r>
              <a:rPr lang="en-US" b="1" dirty="0">
                <a:latin typeface="Arial" pitchFamily="34" charset="0"/>
                <a:cs typeface="Arial" pitchFamily="34" charset="0"/>
              </a:rPr>
              <a:t>For getting the benefit of this protection, which is popularly expressed as hedging in the financial terms, she would naturally have to pay a fee or price.</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Let's say this is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(This is just for the sake of </a:t>
            </a:r>
            <a:r>
              <a:rPr lang="en-US" b="1" dirty="0" smtClean="0">
                <a:latin typeface="Arial" pitchFamily="34" charset="0"/>
                <a:cs typeface="Arial" pitchFamily="34" charset="0"/>
              </a:rPr>
              <a:t>illustration. The </a:t>
            </a:r>
            <a:r>
              <a:rPr lang="en-US" b="1" dirty="0">
                <a:latin typeface="Arial" pitchFamily="34" charset="0"/>
                <a:cs typeface="Arial" pitchFamily="34" charset="0"/>
              </a:rPr>
              <a:t>exact price of the </a:t>
            </a:r>
            <a:r>
              <a:rPr lang="en-US" b="1" dirty="0" smtClean="0">
                <a:latin typeface="Arial" pitchFamily="34" charset="0"/>
                <a:cs typeface="Arial" pitchFamily="34" charset="0"/>
              </a:rPr>
              <a:t>option </a:t>
            </a:r>
            <a:r>
              <a:rPr lang="en-US" b="1" dirty="0">
                <a:latin typeface="Arial" pitchFamily="34" charset="0"/>
                <a:cs typeface="Arial" pitchFamily="34" charset="0"/>
              </a:rPr>
              <a:t>etc. is beyond the scope of this lesson).</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3792403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15159"/>
            <a:ext cx="7386044" cy="3416320"/>
          </a:xfrm>
          <a:prstGeom prst="rect">
            <a:avLst/>
          </a:prstGeom>
        </p:spPr>
        <p:txBody>
          <a:bodyPr wrap="square">
            <a:spAutoFit/>
          </a:bodyPr>
          <a:lstStyle/>
          <a:p>
            <a:pPr>
              <a:lnSpc>
                <a:spcPct val="150000"/>
              </a:lnSpc>
            </a:pPr>
            <a:r>
              <a:rPr lang="en-US" b="1" dirty="0">
                <a:latin typeface="Arial" pitchFamily="34" charset="0"/>
                <a:cs typeface="Arial" pitchFamily="34" charset="0"/>
              </a:rPr>
              <a:t>So by risking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she gets the option of purchasing a million dollars either for </a:t>
            </a:r>
            <a:r>
              <a:rPr lang="en-US" b="1" dirty="0" err="1">
                <a:latin typeface="Arial" pitchFamily="34" charset="0"/>
                <a:cs typeface="Arial" pitchFamily="34" charset="0"/>
              </a:rPr>
              <a:t>Rs</a:t>
            </a:r>
            <a:r>
              <a:rPr lang="en-US" b="1" dirty="0">
                <a:latin typeface="Arial" pitchFamily="34" charset="0"/>
                <a:cs typeface="Arial" pitchFamily="34" charset="0"/>
              </a:rPr>
              <a:t> 5 cr. or less but certainly not more. And for this she would have to pay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agreed price fixed a year ago.)</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If the price of a million dollars were to drop to </a:t>
            </a:r>
            <a:r>
              <a:rPr lang="en-US" b="1" dirty="0" err="1">
                <a:latin typeface="Arial" pitchFamily="34" charset="0"/>
                <a:cs typeface="Arial" pitchFamily="34" charset="0"/>
              </a:rPr>
              <a:t>Rs</a:t>
            </a:r>
            <a:r>
              <a:rPr lang="en-US" b="1" dirty="0">
                <a:latin typeface="Arial" pitchFamily="34" charset="0"/>
                <a:cs typeface="Arial" pitchFamily="34" charset="0"/>
              </a:rPr>
              <a:t> 4.95 cr. then she would also recover her fee,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and if the price were to drop to </a:t>
            </a:r>
            <a:r>
              <a:rPr lang="en-US" b="1" dirty="0" err="1">
                <a:latin typeface="Arial" pitchFamily="34" charset="0"/>
                <a:cs typeface="Arial" pitchFamily="34" charset="0"/>
              </a:rPr>
              <a:t>Rs</a:t>
            </a:r>
            <a:r>
              <a:rPr lang="en-US" b="1" dirty="0">
                <a:latin typeface="Arial" pitchFamily="34" charset="0"/>
                <a:cs typeface="Arial" pitchFamily="34" charset="0"/>
              </a:rPr>
              <a:t> 4.9 cr., she would end up making a profit of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2681259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714348" y="1115159"/>
            <a:ext cx="7242028" cy="3831818"/>
          </a:xfrm>
          <a:prstGeom prst="rect">
            <a:avLst/>
          </a:prstGeom>
        </p:spPr>
        <p:txBody>
          <a:bodyPr wrap="square">
            <a:spAutoFit/>
          </a:bodyPr>
          <a:lstStyle/>
          <a:p>
            <a:pPr>
              <a:lnSpc>
                <a:spcPct val="150000"/>
              </a:lnSpc>
            </a:pPr>
            <a:r>
              <a:rPr lang="en-US" b="1" dirty="0">
                <a:latin typeface="Arial" pitchFamily="34" charset="0"/>
                <a:cs typeface="Arial" pitchFamily="34" charset="0"/>
              </a:rPr>
              <a:t>Her total cost would then be </a:t>
            </a:r>
            <a:r>
              <a:rPr lang="en-US" b="1" dirty="0" err="1">
                <a:latin typeface="Arial" pitchFamily="34" charset="0"/>
                <a:cs typeface="Arial" pitchFamily="34" charset="0"/>
              </a:rPr>
              <a:t>Rs</a:t>
            </a:r>
            <a:r>
              <a:rPr lang="en-US" b="1" dirty="0">
                <a:latin typeface="Arial" pitchFamily="34" charset="0"/>
                <a:cs typeface="Arial" pitchFamily="34" charset="0"/>
              </a:rPr>
              <a:t> 4.9 </a:t>
            </a:r>
            <a:r>
              <a:rPr lang="en-US" b="1" dirty="0" err="1">
                <a:latin typeface="Arial" pitchFamily="34" charset="0"/>
                <a:cs typeface="Arial" pitchFamily="34" charset="0"/>
              </a:rPr>
              <a:t>cr</a:t>
            </a:r>
            <a:r>
              <a:rPr lang="en-US" b="1" dirty="0">
                <a:latin typeface="Arial" pitchFamily="34" charset="0"/>
                <a:cs typeface="Arial" pitchFamily="34" charset="0"/>
              </a:rPr>
              <a:t> for a million dollar +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as the fee = </a:t>
            </a:r>
            <a:r>
              <a:rPr lang="en-US" b="1" dirty="0" err="1">
                <a:latin typeface="Arial" pitchFamily="34" charset="0"/>
                <a:cs typeface="Arial" pitchFamily="34" charset="0"/>
              </a:rPr>
              <a:t>Rs</a:t>
            </a:r>
            <a:r>
              <a:rPr lang="en-US" b="1" dirty="0">
                <a:latin typeface="Arial" pitchFamily="34" charset="0"/>
                <a:cs typeface="Arial" pitchFamily="34" charset="0"/>
              </a:rPr>
              <a:t> 4.95</a:t>
            </a:r>
          </a:p>
          <a:p>
            <a:pPr>
              <a:lnSpc>
                <a:spcPct val="150000"/>
              </a:lnSpc>
            </a:pPr>
            <a:r>
              <a:rPr lang="en-US" b="1" dirty="0">
                <a:latin typeface="Arial" pitchFamily="34" charset="0"/>
                <a:cs typeface="Arial" pitchFamily="34" charset="0"/>
              </a:rPr>
              <a:t>cr. which is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less than the agreed price fixed a year ago.</a:t>
            </a:r>
          </a:p>
          <a:p>
            <a:pPr>
              <a:lnSpc>
                <a:spcPct val="150000"/>
              </a:lnSpc>
            </a:pPr>
            <a:endParaRPr lang="en-US" b="1" dirty="0">
              <a:latin typeface="Arial" pitchFamily="34" charset="0"/>
              <a:cs typeface="Arial" pitchFamily="34" charset="0"/>
            </a:endParaRPr>
          </a:p>
          <a:p>
            <a:pPr>
              <a:lnSpc>
                <a:spcPct val="150000"/>
              </a:lnSpc>
            </a:pPr>
            <a:r>
              <a:rPr lang="en-US" b="1" dirty="0">
                <a:latin typeface="Arial" pitchFamily="34" charset="0"/>
                <a:cs typeface="Arial" pitchFamily="34" charset="0"/>
              </a:rPr>
              <a:t>Otherwise she would risk only </a:t>
            </a:r>
            <a:r>
              <a:rPr lang="en-US" b="1" dirty="0" err="1">
                <a:latin typeface="Arial" pitchFamily="34" charset="0"/>
                <a:cs typeface="Arial" pitchFamily="34" charset="0"/>
              </a:rPr>
              <a:t>Rs</a:t>
            </a:r>
            <a:r>
              <a:rPr lang="en-US" b="1" dirty="0">
                <a:latin typeface="Arial" pitchFamily="34" charset="0"/>
                <a:cs typeface="Arial" pitchFamily="34" charset="0"/>
              </a:rPr>
              <a:t> 5 </a:t>
            </a:r>
            <a:r>
              <a:rPr lang="en-US" b="1" dirty="0" err="1">
                <a:latin typeface="Arial" pitchFamily="34" charset="0"/>
                <a:cs typeface="Arial" pitchFamily="34" charset="0"/>
              </a:rPr>
              <a:t>lacs</a:t>
            </a:r>
            <a:r>
              <a:rPr lang="en-US" b="1" dirty="0">
                <a:latin typeface="Arial" pitchFamily="34" charset="0"/>
                <a:cs typeface="Arial" pitchFamily="34" charset="0"/>
              </a:rPr>
              <a:t> in the deal for which she would get a peace of mind by ensuring that the exchange rate for her does not change over the year. This is popularly known as covering the currency risk by way of hedging through the purchase of call options.</a:t>
            </a:r>
            <a:endParaRPr lang="en-US" b="1" dirty="0">
              <a:latin typeface="Arial" pitchFamily="34" charset="0"/>
              <a:cs typeface="Arial" pitchFamily="34" charset="0"/>
            </a:endParaRPr>
          </a:p>
        </p:txBody>
      </p:sp>
      <p:sp>
        <p:nvSpPr>
          <p:cNvPr id="6" name="TextBox 5"/>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0746030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765004"/>
            <a:ext cx="4218262" cy="1338828"/>
          </a:xfrm>
          <a:prstGeom prst="rect">
            <a:avLst/>
          </a:prstGeom>
        </p:spPr>
        <p:txBody>
          <a:bodyPr wrap="square">
            <a:spAutoFit/>
          </a:bodyPr>
          <a:lstStyle/>
          <a:p>
            <a:pPr>
              <a:lnSpc>
                <a:spcPct val="150000"/>
              </a:lnSpc>
              <a:buFont typeface="Arial" charset="0"/>
              <a:buNone/>
            </a:pPr>
            <a:r>
              <a:rPr lang="en-US" b="1" dirty="0">
                <a:latin typeface="Arial" pitchFamily="34" charset="0"/>
                <a:cs typeface="Arial" pitchFamily="34" charset="0"/>
              </a:rPr>
              <a:t>Hope this lesson has helped </a:t>
            </a:r>
            <a:r>
              <a:rPr lang="en-US" b="1" dirty="0" smtClean="0">
                <a:latin typeface="Arial" pitchFamily="34" charset="0"/>
                <a:cs typeface="Arial" pitchFamily="34" charset="0"/>
              </a:rPr>
              <a:t>you</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understanding the </a:t>
            </a:r>
            <a:r>
              <a:rPr lang="en-US" b="1" dirty="0" smtClean="0">
                <a:latin typeface="Arial" pitchFamily="34" charset="0"/>
                <a:cs typeface="Arial" pitchFamily="34" charset="0"/>
              </a:rPr>
              <a:t>term</a:t>
            </a:r>
            <a:br>
              <a:rPr lang="en-US" b="1" dirty="0" smtClean="0">
                <a:latin typeface="Arial" pitchFamily="34" charset="0"/>
                <a:cs typeface="Arial" pitchFamily="34" charset="0"/>
              </a:rPr>
            </a:br>
            <a:r>
              <a:rPr lang="en-US" b="1" dirty="0" smtClean="0">
                <a:latin typeface="Arial" pitchFamily="34" charset="0"/>
                <a:cs typeface="Arial" pitchFamily="34" charset="0"/>
              </a:rPr>
              <a:t>Currency </a:t>
            </a:r>
            <a:r>
              <a:rPr lang="en-US" b="1" dirty="0">
                <a:latin typeface="Arial" pitchFamily="34" charset="0"/>
                <a:cs typeface="Arial" pitchFamily="34" charset="0"/>
              </a:rPr>
              <a:t>Hedging </a:t>
            </a:r>
          </a:p>
        </p:txBody>
      </p:sp>
      <p:sp>
        <p:nvSpPr>
          <p:cNvPr id="4" name="TextBox 3"/>
          <p:cNvSpPr txBox="1"/>
          <p:nvPr/>
        </p:nvSpPr>
        <p:spPr>
          <a:xfrm>
            <a:off x="2051720" y="476672"/>
            <a:ext cx="47525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CURRENCY  HEDGING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409173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071538" y="1928802"/>
            <a:ext cx="3929090" cy="927433"/>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1768</TotalTime>
  <Words>993</Words>
  <Application>Microsoft Office PowerPoint</Application>
  <PresentationFormat>On-screen Show (4:3)</PresentationFormat>
  <Paragraphs>53</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210</cp:revision>
  <dcterms:created xsi:type="dcterms:W3CDTF">2013-10-22T09:41:31Z</dcterms:created>
  <dcterms:modified xsi:type="dcterms:W3CDTF">2014-03-03T11:34:16Z</dcterms:modified>
</cp:coreProperties>
</file>