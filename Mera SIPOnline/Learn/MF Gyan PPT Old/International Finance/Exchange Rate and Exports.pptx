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18" r:id="rId3"/>
    <p:sldId id="353" r:id="rId4"/>
    <p:sldId id="354" r:id="rId5"/>
    <p:sldId id="334" r:id="rId6"/>
    <p:sldId id="335" r:id="rId7"/>
    <p:sldId id="355" r:id="rId8"/>
    <p:sldId id="346" r:id="rId9"/>
    <p:sldId id="347" r:id="rId10"/>
    <p:sldId id="348" r:id="rId11"/>
    <p:sldId id="349" r:id="rId12"/>
    <p:sldId id="350" r:id="rId13"/>
    <p:sldId id="356" r:id="rId14"/>
    <p:sldId id="357"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3/4/2014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3/4/2014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3/4/2014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3/4/2014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3/4/2014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08920"/>
            <a:ext cx="3957590" cy="456535"/>
          </a:xfrm>
          <a:prstGeom prst="rect">
            <a:avLst/>
          </a:prstGeom>
          <a:noFill/>
        </p:spPr>
        <p:txBody>
          <a:bodyPr wrap="square" rtlCol="0">
            <a:spAutoFit/>
          </a:bodyPr>
          <a:lstStyle/>
          <a:p>
            <a:pPr algn="ctr">
              <a:lnSpc>
                <a:spcPct val="150000"/>
              </a:lnSpc>
            </a:pPr>
            <a:r>
              <a:rPr lang="en-US" b="1" dirty="0">
                <a:solidFill>
                  <a:schemeClr val="bg1"/>
                </a:solidFill>
                <a:latin typeface="Arial" pitchFamily="34" charset="0"/>
                <a:cs typeface="Arial" pitchFamily="34" charset="0"/>
              </a:rPr>
              <a:t>EXCHANGE RATE AND EXPORTS</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098012"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Many magazines mention that “to improve exports, the central banks need to depreciate the currency”. </a:t>
            </a:r>
            <a:endParaRPr lang="en-US" b="1" dirty="0" smtClean="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However what does it mean and how does exports get a boost by depreciating the currency?</a:t>
            </a:r>
            <a:endParaRPr lang="en-US" b="1" dirty="0">
              <a:latin typeface="Arial" pitchFamily="34" charset="0"/>
              <a:cs typeface="Arial" pitchFamily="34" charset="0"/>
            </a:endParaRP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437112"/>
            <a:ext cx="4176464"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To understand how lowering the exchange rate of a currency affects exports of the country, let me tell you a story</a:t>
            </a:r>
            <a:endParaRPr lang="en-US" b="1" dirty="0">
              <a:latin typeface="Arial" pitchFamily="34" charset="0"/>
              <a:cs typeface="Arial" pitchFamily="34" charset="0"/>
            </a:endParaRP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2843808" y="1071546"/>
            <a:ext cx="4248472" cy="2169825"/>
          </a:xfrm>
          <a:prstGeom prst="rect">
            <a:avLst/>
          </a:prstGeom>
          <a:noFill/>
        </p:spPr>
        <p:txBody>
          <a:bodyPr wrap="square" rtlCol="0">
            <a:spAutoFit/>
          </a:bodyPr>
          <a:lstStyle/>
          <a:p>
            <a:pPr>
              <a:lnSpc>
                <a:spcPct val="150000"/>
              </a:lnSpc>
            </a:pPr>
            <a:r>
              <a:rPr lang="en-US" b="1" dirty="0" err="1">
                <a:latin typeface="Arial" pitchFamily="34" charset="0"/>
                <a:cs typeface="Arial" pitchFamily="34" charset="0"/>
              </a:rPr>
              <a:t>Mr</a:t>
            </a:r>
            <a:r>
              <a:rPr lang="en-US" b="1" dirty="0">
                <a:latin typeface="Arial" pitchFamily="34" charset="0"/>
                <a:cs typeface="Arial" pitchFamily="34" charset="0"/>
              </a:rPr>
              <a:t> </a:t>
            </a:r>
            <a:r>
              <a:rPr lang="en-US" b="1" dirty="0" err="1">
                <a:latin typeface="Arial" pitchFamily="34" charset="0"/>
                <a:cs typeface="Arial" pitchFamily="34" charset="0"/>
              </a:rPr>
              <a:t>Aam</a:t>
            </a:r>
            <a:r>
              <a:rPr lang="en-US" b="1" dirty="0">
                <a:latin typeface="Arial" pitchFamily="34" charset="0"/>
                <a:cs typeface="Arial" pitchFamily="34" charset="0"/>
              </a:rPr>
              <a:t> is a mango seller. His mangoes are amongst the best in the market. He sells them for </a:t>
            </a:r>
            <a:r>
              <a:rPr lang="en-US" b="1" dirty="0" err="1">
                <a:latin typeface="Arial" pitchFamily="34" charset="0"/>
                <a:cs typeface="Arial" pitchFamily="34" charset="0"/>
              </a:rPr>
              <a:t>Rs</a:t>
            </a:r>
            <a:r>
              <a:rPr lang="en-US" b="1" dirty="0">
                <a:latin typeface="Arial" pitchFamily="34" charset="0"/>
                <a:cs typeface="Arial" pitchFamily="34" charset="0"/>
              </a:rPr>
              <a:t> 1000 per dozen. He also exports mangoes to </a:t>
            </a:r>
            <a:r>
              <a:rPr lang="en-US" b="1" dirty="0" err="1">
                <a:latin typeface="Arial" pitchFamily="34" charset="0"/>
                <a:cs typeface="Arial" pitchFamily="34" charset="0"/>
              </a:rPr>
              <a:t>Mr</a:t>
            </a:r>
            <a:r>
              <a:rPr lang="en-US" b="1" dirty="0">
                <a:latin typeface="Arial" pitchFamily="34" charset="0"/>
                <a:cs typeface="Arial" pitchFamily="34" charset="0"/>
              </a:rPr>
              <a:t> Mango in USA.</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786366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
        <p:nvSpPr>
          <p:cNvPr id="6" name="Rectangle 5"/>
          <p:cNvSpPr/>
          <p:nvPr/>
        </p:nvSpPr>
        <p:spPr>
          <a:xfrm>
            <a:off x="827584" y="1063753"/>
            <a:ext cx="7056784" cy="1338828"/>
          </a:xfrm>
          <a:prstGeom prst="rect">
            <a:avLst/>
          </a:prstGeom>
        </p:spPr>
        <p:txBody>
          <a:bodyPr wrap="square">
            <a:spAutoFit/>
          </a:bodyPr>
          <a:lstStyle/>
          <a:p>
            <a:pPr>
              <a:lnSpc>
                <a:spcPct val="150000"/>
              </a:lnSpc>
            </a:pPr>
            <a:r>
              <a:rPr lang="en-US" b="1" dirty="0">
                <a:latin typeface="Arial" pitchFamily="34" charset="0"/>
                <a:cs typeface="Arial" pitchFamily="34" charset="0"/>
              </a:rPr>
              <a:t>Let’s say the exchange rate is </a:t>
            </a:r>
            <a:r>
              <a:rPr lang="en-US" b="1" dirty="0" err="1">
                <a:latin typeface="Arial" pitchFamily="34" charset="0"/>
                <a:cs typeface="Arial" pitchFamily="34" charset="0"/>
              </a:rPr>
              <a:t>Rs</a:t>
            </a:r>
            <a:r>
              <a:rPr lang="en-US" b="1" dirty="0">
                <a:latin typeface="Arial" pitchFamily="34" charset="0"/>
                <a:cs typeface="Arial" pitchFamily="34" charset="0"/>
              </a:rPr>
              <a:t> 50 for a dollar. In other words it means that if </a:t>
            </a:r>
            <a:r>
              <a:rPr lang="en-US" b="1" dirty="0" err="1">
                <a:latin typeface="Arial" pitchFamily="34" charset="0"/>
                <a:cs typeface="Arial" pitchFamily="34" charset="0"/>
              </a:rPr>
              <a:t>Mr</a:t>
            </a:r>
            <a:r>
              <a:rPr lang="en-US" b="1" dirty="0">
                <a:latin typeface="Arial" pitchFamily="34" charset="0"/>
                <a:cs typeface="Arial" pitchFamily="34" charset="0"/>
              </a:rPr>
              <a:t> Mango were to pay $1 he could buy </a:t>
            </a:r>
            <a:r>
              <a:rPr lang="en-US" b="1" dirty="0" err="1">
                <a:latin typeface="Arial" pitchFamily="34" charset="0"/>
                <a:cs typeface="Arial" pitchFamily="34" charset="0"/>
              </a:rPr>
              <a:t>Rs</a:t>
            </a:r>
            <a:r>
              <a:rPr lang="en-US" b="1" dirty="0">
                <a:latin typeface="Arial" pitchFamily="34" charset="0"/>
                <a:cs typeface="Arial" pitchFamily="34" charset="0"/>
              </a:rPr>
              <a:t> 50 from a currency exchange.</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6669210" cy="2862322"/>
          </a:xfrm>
          <a:prstGeom prst="rect">
            <a:avLst/>
          </a:prstGeom>
        </p:spPr>
        <p:txBody>
          <a:bodyPr wrap="square">
            <a:spAutoFit/>
          </a:bodyPr>
          <a:lstStyle/>
          <a:p>
            <a:pPr>
              <a:lnSpc>
                <a:spcPct val="200000"/>
              </a:lnSpc>
            </a:pPr>
            <a:r>
              <a:rPr lang="en-US" b="1" dirty="0">
                <a:latin typeface="Arial" pitchFamily="34" charset="0"/>
                <a:cs typeface="Arial" pitchFamily="34" charset="0"/>
              </a:rPr>
              <a:t>So if $1 gets him </a:t>
            </a:r>
            <a:r>
              <a:rPr lang="en-US" b="1" dirty="0" err="1">
                <a:latin typeface="Arial" pitchFamily="34" charset="0"/>
                <a:cs typeface="Arial" pitchFamily="34" charset="0"/>
              </a:rPr>
              <a:t>Rs</a:t>
            </a:r>
            <a:r>
              <a:rPr lang="en-US" b="1" dirty="0">
                <a:latin typeface="Arial" pitchFamily="34" charset="0"/>
                <a:cs typeface="Arial" pitchFamily="34" charset="0"/>
              </a:rPr>
              <a:t> 50, he would need $20 to buy </a:t>
            </a:r>
            <a:r>
              <a:rPr lang="en-US" b="1" dirty="0" err="1">
                <a:latin typeface="Arial" pitchFamily="34" charset="0"/>
                <a:cs typeface="Arial" pitchFamily="34" charset="0"/>
              </a:rPr>
              <a:t>Rs</a:t>
            </a:r>
            <a:r>
              <a:rPr lang="en-US" b="1" dirty="0">
                <a:latin typeface="Arial" pitchFamily="34" charset="0"/>
                <a:cs typeface="Arial" pitchFamily="34" charset="0"/>
              </a:rPr>
              <a:t> </a:t>
            </a:r>
            <a:r>
              <a:rPr lang="en-US" b="1" dirty="0" smtClean="0">
                <a:latin typeface="Arial" pitchFamily="34" charset="0"/>
                <a:cs typeface="Arial" pitchFamily="34" charset="0"/>
              </a:rPr>
              <a:t>1000 (1000/50 </a:t>
            </a:r>
            <a:r>
              <a:rPr lang="en-US" b="1" dirty="0">
                <a:latin typeface="Arial" pitchFamily="34" charset="0"/>
                <a:cs typeface="Arial" pitchFamily="34" charset="0"/>
              </a:rPr>
              <a:t>= 20)</a:t>
            </a:r>
          </a:p>
          <a:p>
            <a:pPr>
              <a:lnSpc>
                <a:spcPct val="200000"/>
              </a:lnSpc>
            </a:pPr>
            <a:r>
              <a:rPr lang="en-US" b="1" dirty="0">
                <a:latin typeface="Arial" pitchFamily="34" charset="0"/>
                <a:cs typeface="Arial" pitchFamily="34" charset="0"/>
              </a:rPr>
              <a:t>So he first purchases </a:t>
            </a:r>
            <a:r>
              <a:rPr lang="en-US" b="1" dirty="0" err="1">
                <a:latin typeface="Arial" pitchFamily="34" charset="0"/>
                <a:cs typeface="Arial" pitchFamily="34" charset="0"/>
              </a:rPr>
              <a:t>Rs</a:t>
            </a:r>
            <a:r>
              <a:rPr lang="en-US" b="1" dirty="0">
                <a:latin typeface="Arial" pitchFamily="34" charset="0"/>
                <a:cs typeface="Arial" pitchFamily="34" charset="0"/>
              </a:rPr>
              <a:t> 1000 by paying $20</a:t>
            </a:r>
          </a:p>
          <a:p>
            <a:pPr>
              <a:lnSpc>
                <a:spcPct val="200000"/>
              </a:lnSpc>
            </a:pPr>
            <a:r>
              <a:rPr lang="en-US" b="1" dirty="0">
                <a:latin typeface="Arial" pitchFamily="34" charset="0"/>
                <a:cs typeface="Arial" pitchFamily="34" charset="0"/>
              </a:rPr>
              <a:t>Then he pays the </a:t>
            </a:r>
            <a:r>
              <a:rPr lang="en-US" b="1" dirty="0" err="1">
                <a:latin typeface="Arial" pitchFamily="34" charset="0"/>
                <a:cs typeface="Arial" pitchFamily="34" charset="0"/>
              </a:rPr>
              <a:t>Rs</a:t>
            </a:r>
            <a:r>
              <a:rPr lang="en-US" b="1" dirty="0">
                <a:latin typeface="Arial" pitchFamily="34" charset="0"/>
                <a:cs typeface="Arial" pitchFamily="34" charset="0"/>
              </a:rPr>
              <a:t> 1000 to </a:t>
            </a:r>
            <a:r>
              <a:rPr lang="en-US" b="1" dirty="0" err="1">
                <a:latin typeface="Arial" pitchFamily="34" charset="0"/>
                <a:cs typeface="Arial" pitchFamily="34" charset="0"/>
              </a:rPr>
              <a:t>Mr</a:t>
            </a:r>
            <a:r>
              <a:rPr lang="en-US" b="1" dirty="0">
                <a:latin typeface="Arial" pitchFamily="34" charset="0"/>
                <a:cs typeface="Arial" pitchFamily="34" charset="0"/>
              </a:rPr>
              <a:t> </a:t>
            </a:r>
            <a:r>
              <a:rPr lang="en-US" b="1" dirty="0" err="1">
                <a:latin typeface="Arial" pitchFamily="34" charset="0"/>
                <a:cs typeface="Arial" pitchFamily="34" charset="0"/>
              </a:rPr>
              <a:t>Aam</a:t>
            </a:r>
            <a:r>
              <a:rPr lang="en-US" b="1" dirty="0">
                <a:latin typeface="Arial" pitchFamily="34" charset="0"/>
                <a:cs typeface="Arial" pitchFamily="34" charset="0"/>
              </a:rPr>
              <a:t> for a dozen mangoes.</a:t>
            </a:r>
          </a:p>
          <a:p>
            <a:pPr>
              <a:lnSpc>
                <a:spcPct val="200000"/>
              </a:lnSpc>
            </a:pPr>
            <a:r>
              <a:rPr lang="en-US" b="1" dirty="0">
                <a:latin typeface="Arial" pitchFamily="34" charset="0"/>
                <a:cs typeface="Arial" pitchFamily="34" charset="0"/>
              </a:rPr>
              <a:t>Hope it is quite clear till now.</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036451"/>
            <a:ext cx="4176464" cy="2128853"/>
          </a:xfrm>
          <a:prstGeom prst="rect">
            <a:avLst/>
          </a:prstGeom>
        </p:spPr>
        <p:txBody>
          <a:bodyPr wrap="square">
            <a:spAutoFit/>
          </a:bodyPr>
          <a:lstStyle/>
          <a:p>
            <a:pPr>
              <a:lnSpc>
                <a:spcPct val="150000"/>
              </a:lnSpc>
            </a:pPr>
            <a:r>
              <a:rPr lang="en-US" b="1" dirty="0">
                <a:latin typeface="Arial" pitchFamily="34" charset="0"/>
                <a:cs typeface="Arial" pitchFamily="34" charset="0"/>
              </a:rPr>
              <a:t>Suddenly one day </a:t>
            </a:r>
            <a:r>
              <a:rPr lang="en-US" b="1" dirty="0" err="1">
                <a:latin typeface="Arial" pitchFamily="34" charset="0"/>
                <a:cs typeface="Arial" pitchFamily="34" charset="0"/>
              </a:rPr>
              <a:t>Mr</a:t>
            </a:r>
            <a:r>
              <a:rPr lang="en-US" b="1" dirty="0">
                <a:latin typeface="Arial" pitchFamily="34" charset="0"/>
                <a:cs typeface="Arial" pitchFamily="34" charset="0"/>
              </a:rPr>
              <a:t> Mango stops purchasing mangoes from </a:t>
            </a:r>
            <a:r>
              <a:rPr lang="en-US" b="1" dirty="0" err="1">
                <a:latin typeface="Arial" pitchFamily="34" charset="0"/>
                <a:cs typeface="Arial" pitchFamily="34" charset="0"/>
              </a:rPr>
              <a:t>Mr</a:t>
            </a:r>
            <a:r>
              <a:rPr lang="en-US" b="1" dirty="0">
                <a:latin typeface="Arial" pitchFamily="34" charset="0"/>
                <a:cs typeface="Arial" pitchFamily="34" charset="0"/>
              </a:rPr>
              <a:t> </a:t>
            </a:r>
            <a:r>
              <a:rPr lang="en-US" b="1" dirty="0" err="1">
                <a:latin typeface="Arial" pitchFamily="34" charset="0"/>
                <a:cs typeface="Arial" pitchFamily="34" charset="0"/>
              </a:rPr>
              <a:t>Aam</a:t>
            </a:r>
            <a:r>
              <a:rPr lang="en-US" b="1" dirty="0">
                <a:latin typeface="Arial" pitchFamily="34" charset="0"/>
                <a:cs typeface="Arial" pitchFamily="34" charset="0"/>
              </a:rPr>
              <a:t>. On enquiring, </a:t>
            </a:r>
            <a:r>
              <a:rPr lang="en-US" b="1" dirty="0" err="1">
                <a:latin typeface="Arial" pitchFamily="34" charset="0"/>
                <a:cs typeface="Arial" pitchFamily="34" charset="0"/>
              </a:rPr>
              <a:t>Mr</a:t>
            </a:r>
            <a:r>
              <a:rPr lang="en-US" b="1" dirty="0">
                <a:latin typeface="Arial" pitchFamily="34" charset="0"/>
                <a:cs typeface="Arial" pitchFamily="34" charset="0"/>
              </a:rPr>
              <a:t> </a:t>
            </a:r>
            <a:r>
              <a:rPr lang="en-US" b="1" dirty="0" err="1">
                <a:latin typeface="Arial" pitchFamily="34" charset="0"/>
                <a:cs typeface="Arial" pitchFamily="34" charset="0"/>
              </a:rPr>
              <a:t>Aam</a:t>
            </a:r>
            <a:r>
              <a:rPr lang="en-US" b="1" dirty="0">
                <a:latin typeface="Arial" pitchFamily="34" charset="0"/>
                <a:cs typeface="Arial" pitchFamily="34" charset="0"/>
              </a:rPr>
              <a:t> finds out that </a:t>
            </a:r>
            <a:r>
              <a:rPr lang="en-US" b="1" dirty="0" err="1">
                <a:latin typeface="Arial" pitchFamily="34" charset="0"/>
                <a:cs typeface="Arial" pitchFamily="34" charset="0"/>
              </a:rPr>
              <a:t>Mr</a:t>
            </a:r>
            <a:r>
              <a:rPr lang="en-US" b="1" dirty="0">
                <a:latin typeface="Arial" pitchFamily="34" charset="0"/>
                <a:cs typeface="Arial" pitchFamily="34" charset="0"/>
              </a:rPr>
              <a:t> Mango is buying from another country as he is getting them for $15</a:t>
            </a:r>
            <a:endParaRPr lang="en-US" b="1" dirty="0">
              <a:latin typeface="Arial" pitchFamily="34" charset="0"/>
              <a:cs typeface="Arial" pitchFamily="34" charset="0"/>
            </a:endParaRP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6834514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6813226" cy="2585323"/>
          </a:xfrm>
          <a:prstGeom prst="rect">
            <a:avLst/>
          </a:prstGeom>
        </p:spPr>
        <p:txBody>
          <a:bodyPr wrap="square">
            <a:spAutoFit/>
          </a:bodyPr>
          <a:lstStyle/>
          <a:p>
            <a:pPr>
              <a:lnSpc>
                <a:spcPct val="150000"/>
              </a:lnSpc>
            </a:pPr>
            <a:r>
              <a:rPr lang="en-US" b="1" dirty="0">
                <a:latin typeface="Arial" pitchFamily="34" charset="0"/>
                <a:cs typeface="Arial" pitchFamily="34" charset="0"/>
              </a:rPr>
              <a:t>To sell at $15, it would mean that </a:t>
            </a:r>
            <a:r>
              <a:rPr lang="en-US" b="1" dirty="0" err="1">
                <a:latin typeface="Arial" pitchFamily="34" charset="0"/>
                <a:cs typeface="Arial" pitchFamily="34" charset="0"/>
              </a:rPr>
              <a:t>Mr</a:t>
            </a:r>
            <a:r>
              <a:rPr lang="en-US" b="1" dirty="0">
                <a:latin typeface="Arial" pitchFamily="34" charset="0"/>
                <a:cs typeface="Arial" pitchFamily="34" charset="0"/>
              </a:rPr>
              <a:t> </a:t>
            </a:r>
            <a:r>
              <a:rPr lang="en-US" b="1" dirty="0" err="1">
                <a:latin typeface="Arial" pitchFamily="34" charset="0"/>
                <a:cs typeface="Arial" pitchFamily="34" charset="0"/>
              </a:rPr>
              <a:t>Aam</a:t>
            </a:r>
            <a:r>
              <a:rPr lang="en-US" b="1" dirty="0">
                <a:latin typeface="Arial" pitchFamily="34" charset="0"/>
                <a:cs typeface="Arial" pitchFamily="34" charset="0"/>
              </a:rPr>
              <a:t> would have </a:t>
            </a:r>
            <a:r>
              <a:rPr lang="en-US" b="1" dirty="0" smtClean="0">
                <a:latin typeface="Arial" pitchFamily="34" charset="0"/>
                <a:cs typeface="Arial" pitchFamily="34" charset="0"/>
              </a:rPr>
              <a:t>to</a:t>
            </a:r>
            <a:br>
              <a:rPr lang="en-US" b="1" dirty="0" smtClean="0">
                <a:latin typeface="Arial" pitchFamily="34" charset="0"/>
                <a:cs typeface="Arial" pitchFamily="34" charset="0"/>
              </a:rPr>
            </a:br>
            <a:r>
              <a:rPr lang="en-US" b="1" dirty="0" smtClean="0">
                <a:latin typeface="Arial" pitchFamily="34" charset="0"/>
                <a:cs typeface="Arial" pitchFamily="34" charset="0"/>
              </a:rPr>
              <a:t>sell </a:t>
            </a:r>
            <a:r>
              <a:rPr lang="en-US" b="1" dirty="0">
                <a:latin typeface="Arial" pitchFamily="34" charset="0"/>
                <a:cs typeface="Arial" pitchFamily="34" charset="0"/>
              </a:rPr>
              <a:t>a dozen for </a:t>
            </a:r>
            <a:r>
              <a:rPr lang="en-US" b="1" dirty="0" err="1">
                <a:latin typeface="Arial" pitchFamily="34" charset="0"/>
                <a:cs typeface="Arial" pitchFamily="34" charset="0"/>
              </a:rPr>
              <a:t>Rs</a:t>
            </a:r>
            <a:r>
              <a:rPr lang="en-US" b="1" dirty="0">
                <a:latin typeface="Arial" pitchFamily="34" charset="0"/>
                <a:cs typeface="Arial" pitchFamily="34" charset="0"/>
              </a:rPr>
              <a:t> 750. </a:t>
            </a:r>
            <a:endParaRPr lang="en-US" b="1" dirty="0" smtClean="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pPr>
              <a:lnSpc>
                <a:spcPct val="150000"/>
              </a:lnSpc>
            </a:pPr>
            <a:r>
              <a:rPr lang="en-US" b="1" dirty="0" err="1">
                <a:latin typeface="Arial" pitchFamily="34" charset="0"/>
                <a:cs typeface="Arial" pitchFamily="34" charset="0"/>
              </a:rPr>
              <a:t>Mr</a:t>
            </a:r>
            <a:r>
              <a:rPr lang="en-US" b="1" dirty="0">
                <a:latin typeface="Arial" pitchFamily="34" charset="0"/>
                <a:cs typeface="Arial" pitchFamily="34" charset="0"/>
              </a:rPr>
              <a:t> </a:t>
            </a:r>
            <a:r>
              <a:rPr lang="en-US" b="1" dirty="0" err="1">
                <a:latin typeface="Arial" pitchFamily="34" charset="0"/>
                <a:cs typeface="Arial" pitchFamily="34" charset="0"/>
              </a:rPr>
              <a:t>Aam</a:t>
            </a:r>
            <a:r>
              <a:rPr lang="en-US" b="1" dirty="0">
                <a:latin typeface="Arial" pitchFamily="34" charset="0"/>
                <a:cs typeface="Arial" pitchFamily="34" charset="0"/>
              </a:rPr>
              <a:t> realizes that its nearly impossible to sell at this price. Far from earning profits he would be making a huge loss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417281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695724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Now </a:t>
            </a:r>
            <a:r>
              <a:rPr lang="en-US" b="1" dirty="0" err="1">
                <a:latin typeface="Arial" pitchFamily="34" charset="0"/>
                <a:cs typeface="Arial" pitchFamily="34" charset="0"/>
              </a:rPr>
              <a:t>Mr</a:t>
            </a:r>
            <a:r>
              <a:rPr lang="en-US" b="1" dirty="0">
                <a:latin typeface="Arial" pitchFamily="34" charset="0"/>
                <a:cs typeface="Arial" pitchFamily="34" charset="0"/>
              </a:rPr>
              <a:t> </a:t>
            </a:r>
            <a:r>
              <a:rPr lang="en-US" b="1" dirty="0" err="1">
                <a:latin typeface="Arial" pitchFamily="34" charset="0"/>
                <a:cs typeface="Arial" pitchFamily="34" charset="0"/>
              </a:rPr>
              <a:t>Aam</a:t>
            </a:r>
            <a:r>
              <a:rPr lang="en-US" b="1" dirty="0">
                <a:latin typeface="Arial" pitchFamily="34" charset="0"/>
                <a:cs typeface="Arial" pitchFamily="34" charset="0"/>
              </a:rPr>
              <a:t> goes to the union of mango sellers who send a representative to the government with a request that instead of selling </a:t>
            </a:r>
            <a:r>
              <a:rPr lang="en-US" b="1" dirty="0" err="1">
                <a:latin typeface="Arial" pitchFamily="34" charset="0"/>
                <a:cs typeface="Arial" pitchFamily="34" charset="0"/>
              </a:rPr>
              <a:t>Rs</a:t>
            </a:r>
            <a:r>
              <a:rPr lang="en-US" b="1" dirty="0">
                <a:latin typeface="Arial" pitchFamily="34" charset="0"/>
                <a:cs typeface="Arial" pitchFamily="34" charset="0"/>
              </a:rPr>
              <a:t> 1000 for $20, they should make the rupee cheaper and sell </a:t>
            </a:r>
            <a:r>
              <a:rPr lang="en-US" b="1" dirty="0" err="1">
                <a:latin typeface="Arial" pitchFamily="34" charset="0"/>
                <a:cs typeface="Arial" pitchFamily="34" charset="0"/>
              </a:rPr>
              <a:t>Rs</a:t>
            </a:r>
            <a:r>
              <a:rPr lang="en-US" b="1" dirty="0">
                <a:latin typeface="Arial" pitchFamily="34" charset="0"/>
                <a:cs typeface="Arial" pitchFamily="34" charset="0"/>
              </a:rPr>
              <a:t> 1000 for $15 only.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1638178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317282" cy="2128853"/>
          </a:xfrm>
          <a:prstGeom prst="rect">
            <a:avLst/>
          </a:prstGeom>
        </p:spPr>
        <p:txBody>
          <a:bodyPr wrap="square">
            <a:spAutoFit/>
          </a:bodyPr>
          <a:lstStyle/>
          <a:p>
            <a:pPr>
              <a:lnSpc>
                <a:spcPct val="150000"/>
              </a:lnSpc>
            </a:pPr>
            <a:r>
              <a:rPr lang="en-US" b="1" dirty="0">
                <a:latin typeface="Arial" pitchFamily="34" charset="0"/>
                <a:cs typeface="Arial" pitchFamily="34" charset="0"/>
              </a:rPr>
              <a:t>Since the representative is strong and since even exporters of other products had made similar requests, the government relents and makes the rupee cheaper such that </a:t>
            </a:r>
            <a:r>
              <a:rPr lang="en-US" b="1" dirty="0" err="1">
                <a:latin typeface="Arial" pitchFamily="34" charset="0"/>
                <a:cs typeface="Arial" pitchFamily="34" charset="0"/>
              </a:rPr>
              <a:t>Rs</a:t>
            </a:r>
            <a:r>
              <a:rPr lang="en-US" b="1" dirty="0">
                <a:latin typeface="Arial" pitchFamily="34" charset="0"/>
                <a:cs typeface="Arial" pitchFamily="34" charset="0"/>
              </a:rPr>
              <a:t> 1000 would be sold for $15. So now for $15 </a:t>
            </a:r>
            <a:r>
              <a:rPr lang="en-US" b="1" dirty="0" err="1">
                <a:latin typeface="Arial" pitchFamily="34" charset="0"/>
                <a:cs typeface="Arial" pitchFamily="34" charset="0"/>
              </a:rPr>
              <a:t>Mr</a:t>
            </a:r>
            <a:r>
              <a:rPr lang="en-US" b="1" dirty="0">
                <a:latin typeface="Arial" pitchFamily="34" charset="0"/>
                <a:cs typeface="Arial" pitchFamily="34" charset="0"/>
              </a:rPr>
              <a:t> Mango can once again buy </a:t>
            </a:r>
            <a:r>
              <a:rPr lang="en-US" b="1" dirty="0" err="1">
                <a:latin typeface="Arial" pitchFamily="34" charset="0"/>
                <a:cs typeface="Arial" pitchFamily="34" charset="0"/>
              </a:rPr>
              <a:t>Rs</a:t>
            </a:r>
            <a:r>
              <a:rPr lang="en-US" b="1" dirty="0">
                <a:latin typeface="Arial" pitchFamily="34" charset="0"/>
                <a:cs typeface="Arial" pitchFamily="34" charset="0"/>
              </a:rPr>
              <a:t> 1000 or for $1 he can now buy 66.67 rupees.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540571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317282" cy="1713354"/>
          </a:xfrm>
          <a:prstGeom prst="rect">
            <a:avLst/>
          </a:prstGeom>
        </p:spPr>
        <p:txBody>
          <a:bodyPr wrap="square">
            <a:spAutoFit/>
          </a:bodyPr>
          <a:lstStyle/>
          <a:p>
            <a:pPr>
              <a:lnSpc>
                <a:spcPct val="150000"/>
              </a:lnSpc>
            </a:pPr>
            <a:r>
              <a:rPr lang="en-US" b="1" dirty="0">
                <a:latin typeface="Arial" pitchFamily="34" charset="0"/>
                <a:cs typeface="Arial" pitchFamily="34" charset="0"/>
              </a:rPr>
              <a:t>Thus the seemingly upwards movement from </a:t>
            </a:r>
            <a:r>
              <a:rPr lang="en-US" b="1" dirty="0" err="1">
                <a:latin typeface="Arial" pitchFamily="34" charset="0"/>
                <a:cs typeface="Arial" pitchFamily="34" charset="0"/>
              </a:rPr>
              <a:t>Rs</a:t>
            </a:r>
            <a:r>
              <a:rPr lang="en-US" b="1" dirty="0">
                <a:latin typeface="Arial" pitchFamily="34" charset="0"/>
                <a:cs typeface="Arial" pitchFamily="34" charset="0"/>
              </a:rPr>
              <a:t> 50 to </a:t>
            </a:r>
            <a:r>
              <a:rPr lang="en-US" b="1" dirty="0" err="1">
                <a:latin typeface="Arial" pitchFamily="34" charset="0"/>
                <a:cs typeface="Arial" pitchFamily="34" charset="0"/>
              </a:rPr>
              <a:t>Rs</a:t>
            </a:r>
            <a:r>
              <a:rPr lang="en-US" b="1" dirty="0">
                <a:latin typeface="Arial" pitchFamily="34" charset="0"/>
                <a:cs typeface="Arial" pitchFamily="34" charset="0"/>
              </a:rPr>
              <a:t> 66.67 actually is the lowering of value of the rupee because now $1 can fetch </a:t>
            </a:r>
            <a:r>
              <a:rPr lang="en-US" b="1" dirty="0" err="1">
                <a:latin typeface="Arial" pitchFamily="34" charset="0"/>
                <a:cs typeface="Arial" pitchFamily="34" charset="0"/>
              </a:rPr>
              <a:t>Rs</a:t>
            </a:r>
            <a:r>
              <a:rPr lang="en-US" b="1" dirty="0">
                <a:latin typeface="Arial" pitchFamily="34" charset="0"/>
                <a:cs typeface="Arial" pitchFamily="34" charset="0"/>
              </a:rPr>
              <a:t> 66.67 instead of the </a:t>
            </a:r>
            <a:r>
              <a:rPr lang="en-US" b="1" dirty="0" err="1">
                <a:latin typeface="Arial" pitchFamily="34" charset="0"/>
                <a:cs typeface="Arial" pitchFamily="34" charset="0"/>
              </a:rPr>
              <a:t>Rs</a:t>
            </a:r>
            <a:r>
              <a:rPr lang="en-US" b="1" dirty="0">
                <a:latin typeface="Arial" pitchFamily="34" charset="0"/>
                <a:cs typeface="Arial" pitchFamily="34" charset="0"/>
              </a:rPr>
              <a:t> 50 which was possible before the depreciation ( or value reduction)</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450902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317282" cy="1297856"/>
          </a:xfrm>
          <a:prstGeom prst="rect">
            <a:avLst/>
          </a:prstGeom>
        </p:spPr>
        <p:txBody>
          <a:bodyPr wrap="square">
            <a:spAutoFit/>
          </a:bodyPr>
          <a:lstStyle/>
          <a:p>
            <a:pPr>
              <a:lnSpc>
                <a:spcPct val="150000"/>
              </a:lnSpc>
            </a:pPr>
            <a:r>
              <a:rPr lang="en-US" b="1" dirty="0">
                <a:latin typeface="Arial" pitchFamily="34" charset="0"/>
                <a:cs typeface="Arial" pitchFamily="34" charset="0"/>
              </a:rPr>
              <a:t>Since rupee depreciation brought the value of the </a:t>
            </a:r>
            <a:r>
              <a:rPr lang="en-US" b="1" dirty="0" err="1">
                <a:latin typeface="Arial" pitchFamily="34" charset="0"/>
                <a:cs typeface="Arial" pitchFamily="34" charset="0"/>
              </a:rPr>
              <a:t>Rs</a:t>
            </a:r>
            <a:r>
              <a:rPr lang="en-US" b="1" dirty="0">
                <a:latin typeface="Arial" pitchFamily="34" charset="0"/>
                <a:cs typeface="Arial" pitchFamily="34" charset="0"/>
              </a:rPr>
              <a:t> 1000 down to $15 (which </a:t>
            </a:r>
            <a:r>
              <a:rPr lang="en-US" b="1" dirty="0" err="1">
                <a:latin typeface="Arial" pitchFamily="34" charset="0"/>
                <a:cs typeface="Arial" pitchFamily="34" charset="0"/>
              </a:rPr>
              <a:t>Mr</a:t>
            </a:r>
            <a:r>
              <a:rPr lang="en-US" b="1" dirty="0">
                <a:latin typeface="Arial" pitchFamily="34" charset="0"/>
                <a:cs typeface="Arial" pitchFamily="34" charset="0"/>
              </a:rPr>
              <a:t> Mango was paying for mangoes in another country), he now restarts his business relationship with </a:t>
            </a:r>
            <a:r>
              <a:rPr lang="en-US" b="1" dirty="0" err="1">
                <a:latin typeface="Arial" pitchFamily="34" charset="0"/>
                <a:cs typeface="Arial" pitchFamily="34" charset="0"/>
              </a:rPr>
              <a:t>Mr</a:t>
            </a:r>
            <a:r>
              <a:rPr lang="en-US" b="1" dirty="0">
                <a:latin typeface="Arial" pitchFamily="34" charset="0"/>
                <a:cs typeface="Arial" pitchFamily="34" charset="0"/>
              </a:rPr>
              <a:t> </a:t>
            </a:r>
            <a:r>
              <a:rPr lang="en-US" b="1" dirty="0" err="1">
                <a:latin typeface="Arial" pitchFamily="34" charset="0"/>
                <a:cs typeface="Arial" pitchFamily="34" charset="0"/>
              </a:rPr>
              <a:t>Aam</a:t>
            </a:r>
            <a:r>
              <a:rPr lang="en-US" b="1" dirty="0">
                <a:latin typeface="Arial" pitchFamily="34" charset="0"/>
                <a:cs typeface="Arial" pitchFamily="34" charset="0"/>
              </a:rPr>
              <a:t>.</a:t>
            </a:r>
            <a:endParaRPr lang="en-US" b="1" dirty="0">
              <a:latin typeface="Arial" pitchFamily="34" charset="0"/>
              <a:cs typeface="Arial" pitchFamily="34" charset="0"/>
            </a:endParaRPr>
          </a:p>
        </p:txBody>
      </p:sp>
      <p:sp>
        <p:nvSpPr>
          <p:cNvPr id="3" name="Rectangle 2"/>
          <p:cNvSpPr/>
          <p:nvPr/>
        </p:nvSpPr>
        <p:spPr>
          <a:xfrm>
            <a:off x="827584" y="2988270"/>
            <a:ext cx="7200800" cy="882357"/>
          </a:xfrm>
          <a:prstGeom prst="rect">
            <a:avLst/>
          </a:prstGeom>
        </p:spPr>
        <p:txBody>
          <a:bodyPr wrap="square">
            <a:spAutoFit/>
          </a:bodyPr>
          <a:lstStyle/>
          <a:p>
            <a:pPr>
              <a:lnSpc>
                <a:spcPct val="150000"/>
              </a:lnSpc>
            </a:pPr>
            <a:r>
              <a:rPr lang="en-US" b="1" dirty="0">
                <a:latin typeface="Arial" pitchFamily="34" charset="0"/>
                <a:cs typeface="Arial" pitchFamily="34" charset="0"/>
              </a:rPr>
              <a:t>Thus by depreciating the rupee the Indian government helps exporters like </a:t>
            </a:r>
            <a:r>
              <a:rPr lang="en-US" b="1" dirty="0" err="1">
                <a:latin typeface="Arial" pitchFamily="34" charset="0"/>
                <a:cs typeface="Arial" pitchFamily="34" charset="0"/>
              </a:rPr>
              <a:t>Mr</a:t>
            </a:r>
            <a:r>
              <a:rPr lang="en-US" b="1" dirty="0">
                <a:latin typeface="Arial" pitchFamily="34" charset="0"/>
                <a:cs typeface="Arial" pitchFamily="34" charset="0"/>
              </a:rPr>
              <a:t> </a:t>
            </a:r>
            <a:r>
              <a:rPr lang="en-US" b="1" dirty="0" err="1">
                <a:latin typeface="Arial" pitchFamily="34" charset="0"/>
                <a:cs typeface="Arial" pitchFamily="34" charset="0"/>
              </a:rPr>
              <a:t>Aam</a:t>
            </a:r>
            <a:r>
              <a:rPr lang="en-US" b="1" dirty="0">
                <a:latin typeface="Arial" pitchFamily="34" charset="0"/>
                <a:cs typeface="Arial" pitchFamily="34" charset="0"/>
              </a:rPr>
              <a: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1568316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2843808" y="1196752"/>
            <a:ext cx="4248472" cy="1938992"/>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Hope you’ve understood the relationship between exchange rate and its impact on exports and how government can play a role to help exporters by depreciating their currency</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13887282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381930"/>
            <a:ext cx="4176464" cy="1711366"/>
          </a:xfrm>
          <a:prstGeom prst="rect">
            <a:avLst/>
          </a:prstGeom>
        </p:spPr>
        <p:txBody>
          <a:bodyPr wrap="square">
            <a:spAutoFit/>
          </a:bodyPr>
          <a:lstStyle/>
          <a:p>
            <a:pPr>
              <a:lnSpc>
                <a:spcPct val="150000"/>
              </a:lnSpc>
            </a:pPr>
            <a:r>
              <a:rPr lang="en-US" b="1" dirty="0">
                <a:latin typeface="Arial" pitchFamily="34" charset="0"/>
                <a:cs typeface="Arial" pitchFamily="34" charset="0"/>
              </a:rPr>
              <a:t>Hope this lesson has succeeded in clarifying the concept of “to improve exports, the central banks need to depreciate the currency”. </a:t>
            </a:r>
            <a:endParaRPr lang="en-US" b="1" dirty="0">
              <a:latin typeface="Arial" pitchFamily="34" charset="0"/>
              <a:cs typeface="Arial" pitchFamily="34" charset="0"/>
            </a:endParaRP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EXCHANGE RATE AND EXPORTS</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9668981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071538" y="1928802"/>
            <a:ext cx="3929090" cy="927433"/>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me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1817</TotalTime>
  <Words>725</Words>
  <Application>Microsoft Office PowerPoint</Application>
  <PresentationFormat>On-screen Show (4:3)</PresentationFormat>
  <Paragraphs>41</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216</cp:revision>
  <dcterms:created xsi:type="dcterms:W3CDTF">2013-10-22T09:41:31Z</dcterms:created>
  <dcterms:modified xsi:type="dcterms:W3CDTF">2014-03-04T05:46:10Z</dcterms:modified>
</cp:coreProperties>
</file>