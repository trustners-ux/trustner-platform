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94" r:id="rId3"/>
    <p:sldId id="318" r:id="rId4"/>
    <p:sldId id="334" r:id="rId5"/>
    <p:sldId id="335" r:id="rId6"/>
    <p:sldId id="336" r:id="rId7"/>
    <p:sldId id="337" r:id="rId8"/>
    <p:sldId id="338" r:id="rId9"/>
    <p:sldId id="339" r:id="rId10"/>
    <p:sldId id="340" r:id="rId11"/>
    <p:sldId id="341" r:id="rId12"/>
    <p:sldId id="342" r:id="rId13"/>
    <p:sldId id="343" r:id="rId14"/>
    <p:sldId id="322" r:id="rId15"/>
    <p:sldId id="287" r:id="rId16"/>
    <p:sldId id="273"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66" d="100"/>
          <a:sy n="66" d="100"/>
        </p:scale>
        <p:origin x="-1200"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3/3/2014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3/3/2014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3/3/2014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3/3/2014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3/3/2014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3/3/2014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3/3/2014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3/3/2014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3/3/2014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1115616" y="2636912"/>
            <a:ext cx="3957590" cy="504305"/>
          </a:xfrm>
          <a:prstGeom prst="rect">
            <a:avLst/>
          </a:prstGeom>
          <a:noFill/>
        </p:spPr>
        <p:txBody>
          <a:bodyPr wrap="square" rtlCol="0">
            <a:spAutoFit/>
          </a:bodyPr>
          <a:lstStyle/>
          <a:p>
            <a:pPr algn="ctr">
              <a:lnSpc>
                <a:spcPct val="150000"/>
              </a:lnSpc>
            </a:pPr>
            <a:r>
              <a:rPr lang="en-US" sz="2000" b="1" dirty="0" smtClean="0">
                <a:solidFill>
                  <a:schemeClr val="bg1"/>
                </a:solidFill>
                <a:latin typeface="Arial" pitchFamily="34" charset="0"/>
                <a:cs typeface="Arial" pitchFamily="34" charset="0"/>
              </a:rPr>
              <a:t>CREDIT DEFAULT SWAPS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214984" y="1772816"/>
            <a:ext cx="3501032" cy="880369"/>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Credit Default Swaps </a:t>
            </a:r>
            <a:br>
              <a:rPr lang="en-US" b="1" dirty="0">
                <a:latin typeface="Arial" pitchFamily="34" charset="0"/>
                <a:cs typeface="Arial" pitchFamily="34" charset="0"/>
              </a:rPr>
            </a:br>
            <a:r>
              <a:rPr lang="en-US" b="1" dirty="0">
                <a:latin typeface="Arial" pitchFamily="34" charset="0"/>
                <a:cs typeface="Arial" pitchFamily="34" charset="0"/>
              </a:rPr>
              <a:t>–  By Prof. </a:t>
            </a:r>
            <a:r>
              <a:rPr lang="en-US" b="1" i="1" dirty="0">
                <a:latin typeface="Arial" pitchFamily="34" charset="0"/>
                <a:cs typeface="Arial" pitchFamily="34" charset="0"/>
              </a:rPr>
              <a:t>Simply</a:t>
            </a:r>
            <a:r>
              <a:rPr lang="en-US" b="1" dirty="0">
                <a:latin typeface="Arial" pitchFamily="34" charset="0"/>
                <a:cs typeface="Arial" pitchFamily="34" charset="0"/>
              </a:rPr>
              <a:t> Simple</a:t>
            </a:r>
            <a:endParaRPr lang="en-US" b="1" baseline="70000" dirty="0">
              <a:latin typeface="Arial" pitchFamily="34" charset="0"/>
              <a:cs typeface="Arial" pitchFamily="34" charset="0"/>
            </a:endParaRPr>
          </a:p>
        </p:txBody>
      </p:sp>
    </p:spTree>
    <p:extLst>
      <p:ext uri="{BB962C8B-B14F-4D97-AF65-F5344CB8AC3E}">
        <p14:creationId xmlns:p14="http://schemas.microsoft.com/office/powerpoint/2010/main" val="14917799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098012" cy="3365024"/>
          </a:xfrm>
          <a:prstGeom prst="rect">
            <a:avLst/>
          </a:prstGeom>
          <a:noFill/>
        </p:spPr>
        <p:txBody>
          <a:bodyPr wrap="square" rtlCol="0">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A Credit Default Swap (CDS) is a contract in which a buyer pays a payment to a seller to take on the credit risk of a third party.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tabLst>
                <a:tab pos="465138" algn="l"/>
              </a:tabLst>
            </a:pPr>
            <a:r>
              <a:rPr lang="en-US" b="1" dirty="0" smtClean="0">
                <a:latin typeface="Arial" pitchFamily="34" charset="0"/>
                <a:cs typeface="Arial" pitchFamily="34" charset="0"/>
              </a:rPr>
              <a:t>	In </a:t>
            </a:r>
            <a:r>
              <a:rPr lang="en-US" b="1" dirty="0">
                <a:latin typeface="Arial" pitchFamily="34" charset="0"/>
                <a:cs typeface="Arial" pitchFamily="34" charset="0"/>
              </a:rPr>
              <a:t>exchange, the buyer receives the right to a payoff from the seller if the third party goes into default or on the occurrence of a specific credit event named in the contract (such as bankruptcy or restructuring). </a:t>
            </a:r>
            <a:endParaRPr lang="en-US" b="1" dirty="0">
              <a:latin typeface="Arial" pitchFamily="34" charset="0"/>
              <a:cs typeface="Arial" pitchFamily="34" charset="0"/>
            </a:endParaRPr>
          </a:p>
        </p:txBody>
      </p:sp>
      <p:sp>
        <p:nvSpPr>
          <p:cNvPr id="4" name="TextBox 3"/>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CREDIT DEFAULT SWAPS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CREDIT DEFAULT SWAPS</a:t>
            </a:r>
            <a:endParaRPr lang="en-US" sz="2000" b="1" dirty="0">
              <a:solidFill>
                <a:schemeClr val="bg1"/>
              </a:solidFill>
              <a:latin typeface="Arial" pitchFamily="34" charset="0"/>
              <a:cs typeface="Arial" pitchFamily="34" charset="0"/>
            </a:endParaRPr>
          </a:p>
        </p:txBody>
      </p:sp>
      <p:sp>
        <p:nvSpPr>
          <p:cNvPr id="6" name="Rectangle 5"/>
          <p:cNvSpPr/>
          <p:nvPr/>
        </p:nvSpPr>
        <p:spPr>
          <a:xfrm>
            <a:off x="827584" y="949701"/>
            <a:ext cx="7272808" cy="463075"/>
          </a:xfrm>
          <a:prstGeom prst="rect">
            <a:avLst/>
          </a:prstGeom>
        </p:spPr>
        <p:txBody>
          <a:bodyPr wrap="square">
            <a:spAutoFit/>
          </a:bodyPr>
          <a:lstStyle/>
          <a:p>
            <a:pPr algn="ctr">
              <a:lnSpc>
                <a:spcPct val="150000"/>
              </a:lnSpc>
            </a:pPr>
            <a:r>
              <a:rPr lang="en-US" b="1" dirty="0">
                <a:latin typeface="Arial" pitchFamily="34" charset="0"/>
                <a:cs typeface="Arial" pitchFamily="34" charset="0"/>
              </a:rPr>
              <a:t>To give an example… </a:t>
            </a:r>
            <a:endParaRPr lang="en-US" b="1" dirty="0">
              <a:latin typeface="Arial" pitchFamily="34" charset="0"/>
              <a:cs typeface="Arial" pitchFamily="34" charset="0"/>
            </a:endParaRPr>
          </a:p>
        </p:txBody>
      </p:sp>
      <p:sp>
        <p:nvSpPr>
          <p:cNvPr id="4" name="Rectangle 3"/>
          <p:cNvSpPr/>
          <p:nvPr/>
        </p:nvSpPr>
        <p:spPr>
          <a:xfrm>
            <a:off x="827584" y="1484784"/>
            <a:ext cx="7416824" cy="3693319"/>
          </a:xfrm>
          <a:prstGeom prst="rect">
            <a:avLst/>
          </a:prstGeom>
        </p:spPr>
        <p:txBody>
          <a:bodyPr wrap="square">
            <a:spAutoFit/>
          </a:bodyPr>
          <a:lstStyle/>
          <a:p>
            <a:pPr>
              <a:lnSpc>
                <a:spcPct val="150000"/>
              </a:lnSpc>
            </a:pPr>
            <a:r>
              <a:rPr lang="en-US" b="1" dirty="0">
                <a:latin typeface="Arial" pitchFamily="34" charset="0"/>
                <a:cs typeface="Arial" pitchFamily="34" charset="0"/>
              </a:rPr>
              <a:t>Say there is a person A who lends </a:t>
            </a:r>
            <a:r>
              <a:rPr lang="en-US" b="1" dirty="0" err="1">
                <a:latin typeface="Arial" pitchFamily="34" charset="0"/>
                <a:cs typeface="Arial" pitchFamily="34" charset="0"/>
              </a:rPr>
              <a:t>Rs</a:t>
            </a:r>
            <a:r>
              <a:rPr lang="en-US" b="1" dirty="0">
                <a:latin typeface="Arial" pitchFamily="34" charset="0"/>
                <a:cs typeface="Arial" pitchFamily="34" charset="0"/>
              </a:rPr>
              <a:t>. 1000 to person B on Monday. Person B promises to pay him back on Friday. But there is a possibility that person B may default in paying back person A in the event of a bankruptcy etc.</a:t>
            </a:r>
          </a:p>
          <a:p>
            <a:pPr>
              <a:lnSpc>
                <a:spcPct val="150000"/>
              </a:lnSpc>
            </a:pPr>
            <a:endParaRPr lang="en-US" sz="600" b="1" dirty="0">
              <a:latin typeface="Arial" pitchFamily="34" charset="0"/>
              <a:cs typeface="Arial" pitchFamily="34" charset="0"/>
            </a:endParaRPr>
          </a:p>
          <a:p>
            <a:pPr>
              <a:lnSpc>
                <a:spcPct val="150000"/>
              </a:lnSpc>
            </a:pPr>
            <a:r>
              <a:rPr lang="en-US" b="1" dirty="0">
                <a:latin typeface="Arial" pitchFamily="34" charset="0"/>
                <a:cs typeface="Arial" pitchFamily="34" charset="0"/>
              </a:rPr>
              <a:t>Therefore, person A gets into a contract with a person C to take over the credit risk of this transaction, </a:t>
            </a:r>
            <a:r>
              <a:rPr lang="en-US" b="1" i="1" dirty="0">
                <a:latin typeface="Arial" pitchFamily="34" charset="0"/>
                <a:cs typeface="Arial" pitchFamily="34" charset="0"/>
              </a:rPr>
              <a:t>in case person B defaults</a:t>
            </a:r>
            <a:r>
              <a:rPr lang="en-US" b="1" dirty="0">
                <a:latin typeface="Arial" pitchFamily="34" charset="0"/>
                <a:cs typeface="Arial" pitchFamily="34" charset="0"/>
              </a:rPr>
              <a:t>.</a:t>
            </a:r>
          </a:p>
          <a:p>
            <a:pPr>
              <a:lnSpc>
                <a:spcPct val="150000"/>
              </a:lnSpc>
            </a:pPr>
            <a:endParaRPr lang="en-US" sz="600" b="1" dirty="0">
              <a:latin typeface="Arial" pitchFamily="34" charset="0"/>
              <a:cs typeface="Arial" pitchFamily="34" charset="0"/>
            </a:endParaRPr>
          </a:p>
          <a:p>
            <a:pPr>
              <a:lnSpc>
                <a:spcPct val="150000"/>
              </a:lnSpc>
            </a:pPr>
            <a:r>
              <a:rPr lang="en-US" b="1" dirty="0">
                <a:latin typeface="Arial" pitchFamily="34" charset="0"/>
                <a:cs typeface="Arial" pitchFamily="34" charset="0"/>
              </a:rPr>
              <a:t>According to the contract, person A pays a one-time premium of </a:t>
            </a:r>
            <a:r>
              <a:rPr lang="en-US" b="1" dirty="0" err="1">
                <a:latin typeface="Arial" pitchFamily="34" charset="0"/>
                <a:cs typeface="Arial" pitchFamily="34" charset="0"/>
              </a:rPr>
              <a:t>Rs</a:t>
            </a:r>
            <a:r>
              <a:rPr lang="en-US" b="1" dirty="0">
                <a:latin typeface="Arial" pitchFamily="34" charset="0"/>
                <a:cs typeface="Arial" pitchFamily="34" charset="0"/>
              </a:rPr>
              <a:t>. 100 to person C.</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CREDIT DEFAULT SWAPS</a:t>
            </a:r>
            <a:endParaRPr lang="en-US" sz="2000" b="1" dirty="0">
              <a:solidFill>
                <a:schemeClr val="bg1"/>
              </a:solidFill>
              <a:latin typeface="Arial" pitchFamily="34" charset="0"/>
              <a:cs typeface="Arial" pitchFamily="34" charset="0"/>
            </a:endParaRPr>
          </a:p>
        </p:txBody>
      </p:sp>
      <p:sp>
        <p:nvSpPr>
          <p:cNvPr id="6" name="Rectangle 5"/>
          <p:cNvSpPr/>
          <p:nvPr/>
        </p:nvSpPr>
        <p:spPr>
          <a:xfrm>
            <a:off x="711102" y="1124744"/>
            <a:ext cx="7101258" cy="464871"/>
          </a:xfrm>
          <a:prstGeom prst="rect">
            <a:avLst/>
          </a:prstGeom>
        </p:spPr>
        <p:txBody>
          <a:bodyPr wrap="square">
            <a:spAutoFit/>
          </a:bodyPr>
          <a:lstStyle/>
          <a:p>
            <a:pPr algn="ctr">
              <a:lnSpc>
                <a:spcPct val="150000"/>
              </a:lnSpc>
            </a:pPr>
            <a:r>
              <a:rPr lang="en-US" b="1" dirty="0">
                <a:latin typeface="Arial" pitchFamily="34" charset="0"/>
                <a:cs typeface="Arial" pitchFamily="34" charset="0"/>
              </a:rPr>
              <a:t>Now, imagine two situations… </a:t>
            </a:r>
            <a:endParaRPr lang="en-US" b="1" dirty="0">
              <a:latin typeface="Arial" pitchFamily="34" charset="0"/>
              <a:cs typeface="Arial" pitchFamily="34" charset="0"/>
            </a:endParaRPr>
          </a:p>
        </p:txBody>
      </p:sp>
      <p:sp>
        <p:nvSpPr>
          <p:cNvPr id="4" name="Rectangle 3"/>
          <p:cNvSpPr/>
          <p:nvPr/>
        </p:nvSpPr>
        <p:spPr>
          <a:xfrm>
            <a:off x="734068" y="1772816"/>
            <a:ext cx="7078292" cy="3416320"/>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Situation A: Person B pays back </a:t>
            </a:r>
            <a:r>
              <a:rPr lang="en-US" b="1" dirty="0" err="1">
                <a:latin typeface="Arial" pitchFamily="34" charset="0"/>
                <a:cs typeface="Arial" pitchFamily="34" charset="0"/>
              </a:rPr>
              <a:t>Rs</a:t>
            </a:r>
            <a:r>
              <a:rPr lang="en-US" b="1" dirty="0">
                <a:latin typeface="Arial" pitchFamily="34" charset="0"/>
                <a:cs typeface="Arial" pitchFamily="34" charset="0"/>
              </a:rPr>
              <a:t>. 1000 to person </a:t>
            </a:r>
            <a:r>
              <a:rPr lang="en-US" b="1" dirty="0" smtClean="0">
                <a:latin typeface="Arial" pitchFamily="34" charset="0"/>
                <a:cs typeface="Arial" pitchFamily="34" charset="0"/>
              </a:rPr>
              <a:t>A.</a:t>
            </a:r>
            <a:br>
              <a:rPr lang="en-US" b="1" dirty="0" smtClean="0">
                <a:latin typeface="Arial" pitchFamily="34" charset="0"/>
                <a:cs typeface="Arial" pitchFamily="34" charset="0"/>
              </a:rPr>
            </a:br>
            <a:r>
              <a:rPr lang="en-US" b="1" dirty="0" smtClean="0">
                <a:latin typeface="Arial" pitchFamily="34" charset="0"/>
                <a:cs typeface="Arial" pitchFamily="34" charset="0"/>
              </a:rPr>
              <a:t>Since </a:t>
            </a:r>
            <a:r>
              <a:rPr lang="en-US" b="1" dirty="0">
                <a:latin typeface="Arial" pitchFamily="34" charset="0"/>
                <a:cs typeface="Arial" pitchFamily="34" charset="0"/>
              </a:rPr>
              <a:t>person B has not defaulted, the transaction ends between persons A &amp; B, and also between persons A &amp; C.</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Situation B: Person B defaults in his payment to person A. Now, according to the contract between persons A &amp; </a:t>
            </a:r>
            <a:r>
              <a:rPr lang="en-US" b="1" dirty="0" smtClean="0">
                <a:latin typeface="Arial" pitchFamily="34" charset="0"/>
                <a:cs typeface="Arial" pitchFamily="34" charset="0"/>
              </a:rPr>
              <a:t>C,</a:t>
            </a:r>
            <a:br>
              <a:rPr lang="en-US" b="1" dirty="0" smtClean="0">
                <a:latin typeface="Arial" pitchFamily="34" charset="0"/>
                <a:cs typeface="Arial" pitchFamily="34" charset="0"/>
              </a:rPr>
            </a:br>
            <a:r>
              <a:rPr lang="en-US" b="1" dirty="0" smtClean="0">
                <a:latin typeface="Arial" pitchFamily="34" charset="0"/>
                <a:cs typeface="Arial" pitchFamily="34" charset="0"/>
              </a:rPr>
              <a:t>It </a:t>
            </a:r>
            <a:r>
              <a:rPr lang="en-US" b="1" dirty="0">
                <a:latin typeface="Arial" pitchFamily="34" charset="0"/>
                <a:cs typeface="Arial" pitchFamily="34" charset="0"/>
              </a:rPr>
              <a:t>becomes the obligation of person C to pay back </a:t>
            </a:r>
            <a:r>
              <a:rPr lang="en-US" b="1" dirty="0" err="1">
                <a:latin typeface="Arial" pitchFamily="34" charset="0"/>
                <a:cs typeface="Arial" pitchFamily="34" charset="0"/>
              </a:rPr>
              <a:t>Rs</a:t>
            </a:r>
            <a:r>
              <a:rPr lang="en-US" b="1" dirty="0">
                <a:latin typeface="Arial" pitchFamily="34" charset="0"/>
                <a:cs typeface="Arial" pitchFamily="34" charset="0"/>
              </a:rPr>
              <a:t>. 1000 to person A.</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52736"/>
            <a:ext cx="7358114" cy="464871"/>
          </a:xfrm>
          <a:prstGeom prst="rect">
            <a:avLst/>
          </a:prstGeom>
          <a:noFill/>
        </p:spPr>
        <p:txBody>
          <a:bodyPr wrap="square" rtlCol="0">
            <a:spAutoFit/>
          </a:bodyPr>
          <a:lstStyle/>
          <a:p>
            <a:pPr algn="ctr">
              <a:lnSpc>
                <a:spcPct val="150000"/>
              </a:lnSpc>
              <a:tabLst>
                <a:tab pos="354013" algn="l"/>
              </a:tabLst>
            </a:pPr>
            <a:r>
              <a:rPr lang="en-US" b="1" dirty="0">
                <a:latin typeface="Arial" pitchFamily="34" charset="0"/>
                <a:cs typeface="Arial" pitchFamily="34" charset="0"/>
              </a:rPr>
              <a:t>Diagrammatically explaining… </a:t>
            </a:r>
            <a:endParaRPr lang="en-US" b="1" dirty="0" smtClean="0">
              <a:latin typeface="Arial" pitchFamily="34" charset="0"/>
              <a:cs typeface="Arial" pitchFamily="34" charset="0"/>
            </a:endParaRPr>
          </a:p>
        </p:txBody>
      </p:sp>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CREDIT DEFAULT SWAPS</a:t>
            </a:r>
            <a:endParaRPr lang="en-US" sz="2000" b="1" dirty="0">
              <a:solidFill>
                <a:schemeClr val="bg1"/>
              </a:solidFill>
              <a:latin typeface="Arial" pitchFamily="34" charset="0"/>
              <a:cs typeface="Arial" pitchFamily="34" charset="0"/>
            </a:endParaRPr>
          </a:p>
        </p:txBody>
      </p:sp>
      <p:sp>
        <p:nvSpPr>
          <p:cNvPr id="6" name="Rectangle 5"/>
          <p:cNvSpPr/>
          <p:nvPr/>
        </p:nvSpPr>
        <p:spPr>
          <a:xfrm>
            <a:off x="5006498" y="1762202"/>
            <a:ext cx="3921986" cy="507831"/>
          </a:xfrm>
          <a:prstGeom prst="rect">
            <a:avLst/>
          </a:prstGeom>
        </p:spPr>
        <p:txBody>
          <a:bodyPr wrap="square">
            <a:spAutoFit/>
          </a:bodyPr>
          <a:lstStyle/>
          <a:p>
            <a:pPr algn="ctr">
              <a:lnSpc>
                <a:spcPct val="150000"/>
              </a:lnSpc>
              <a:spcBef>
                <a:spcPct val="50000"/>
              </a:spcBef>
            </a:pPr>
            <a:r>
              <a:rPr lang="en-US" b="1" dirty="0">
                <a:latin typeface="Arial" pitchFamily="34" charset="0"/>
                <a:cs typeface="Arial" pitchFamily="34" charset="0"/>
              </a:rPr>
              <a:t>Person B (Borrows Money from A)</a:t>
            </a:r>
            <a:endParaRPr lang="en-US" b="1" dirty="0">
              <a:latin typeface="Arial" pitchFamily="34" charset="0"/>
              <a:cs typeface="Arial" pitchFamily="34" charset="0"/>
            </a:endParaRPr>
          </a:p>
        </p:txBody>
      </p:sp>
      <p:sp>
        <p:nvSpPr>
          <p:cNvPr id="4" name="Rectangle 3"/>
          <p:cNvSpPr/>
          <p:nvPr/>
        </p:nvSpPr>
        <p:spPr>
          <a:xfrm>
            <a:off x="5076056" y="3105835"/>
            <a:ext cx="3816424" cy="872034"/>
          </a:xfrm>
          <a:prstGeom prst="rect">
            <a:avLst/>
          </a:prstGeom>
        </p:spPr>
        <p:txBody>
          <a:bodyPr wrap="square">
            <a:spAutoFit/>
          </a:bodyPr>
          <a:lstStyle/>
          <a:p>
            <a:pPr>
              <a:lnSpc>
                <a:spcPct val="150000"/>
              </a:lnSpc>
              <a:spcBef>
                <a:spcPct val="50000"/>
              </a:spcBef>
            </a:pPr>
            <a:r>
              <a:rPr lang="en-US" b="1" dirty="0">
                <a:latin typeface="Arial" pitchFamily="34" charset="0"/>
                <a:cs typeface="Arial" pitchFamily="34" charset="0"/>
              </a:rPr>
              <a:t>Person A (lends money to </a:t>
            </a:r>
            <a:r>
              <a:rPr lang="en-US" b="1" dirty="0" smtClean="0">
                <a:latin typeface="Arial" pitchFamily="34" charset="0"/>
                <a:cs typeface="Arial" pitchFamily="34" charset="0"/>
              </a:rPr>
              <a:t>B</a:t>
            </a:r>
            <a:br>
              <a:rPr lang="en-US" b="1" dirty="0" smtClean="0">
                <a:latin typeface="Arial" pitchFamily="34" charset="0"/>
                <a:cs typeface="Arial" pitchFamily="34" charset="0"/>
              </a:rPr>
            </a:br>
            <a:r>
              <a:rPr lang="en-US" b="1" dirty="0" smtClean="0">
                <a:latin typeface="Arial" pitchFamily="34" charset="0"/>
                <a:cs typeface="Arial" pitchFamily="34" charset="0"/>
              </a:rPr>
              <a:t>&amp; </a:t>
            </a:r>
            <a:r>
              <a:rPr lang="en-US" b="1" dirty="0">
                <a:latin typeface="Arial" pitchFamily="34" charset="0"/>
                <a:cs typeface="Arial" pitchFamily="34" charset="0"/>
              </a:rPr>
              <a:t>enters into a contract with C)</a:t>
            </a:r>
            <a:endParaRPr lang="en-US" b="1" dirty="0">
              <a:latin typeface="Arial" pitchFamily="34" charset="0"/>
              <a:cs typeface="Arial" pitchFamily="34" charset="0"/>
            </a:endParaRPr>
          </a:p>
        </p:txBody>
      </p:sp>
      <p:sp>
        <p:nvSpPr>
          <p:cNvPr id="7" name="Rectangle 6"/>
          <p:cNvSpPr/>
          <p:nvPr/>
        </p:nvSpPr>
        <p:spPr>
          <a:xfrm>
            <a:off x="323528" y="3068960"/>
            <a:ext cx="3365024" cy="923330"/>
          </a:xfrm>
          <a:prstGeom prst="rect">
            <a:avLst/>
          </a:prstGeom>
        </p:spPr>
        <p:txBody>
          <a:bodyPr wrap="none">
            <a:spAutoFit/>
          </a:bodyPr>
          <a:lstStyle/>
          <a:p>
            <a:pPr>
              <a:lnSpc>
                <a:spcPct val="150000"/>
              </a:lnSpc>
              <a:spcBef>
                <a:spcPct val="50000"/>
              </a:spcBef>
            </a:pPr>
            <a:r>
              <a:rPr lang="en-US" b="1" dirty="0">
                <a:latin typeface="Arial" pitchFamily="34" charset="0"/>
                <a:cs typeface="Arial" pitchFamily="34" charset="0"/>
              </a:rPr>
              <a:t>Person </a:t>
            </a:r>
            <a:r>
              <a:rPr lang="en-US" b="1" dirty="0" smtClean="0">
                <a:latin typeface="Arial" pitchFamily="34" charset="0"/>
                <a:cs typeface="Arial" pitchFamily="34" charset="0"/>
              </a:rPr>
              <a:t>C</a:t>
            </a:r>
            <a:br>
              <a:rPr lang="en-US" b="1" dirty="0" smtClean="0">
                <a:latin typeface="Arial" pitchFamily="34" charset="0"/>
                <a:cs typeface="Arial" pitchFamily="34" charset="0"/>
              </a:rPr>
            </a:br>
            <a:r>
              <a:rPr lang="en-US" b="1" dirty="0" smtClean="0">
                <a:latin typeface="Arial" pitchFamily="34" charset="0"/>
                <a:cs typeface="Arial" pitchFamily="34" charset="0"/>
              </a:rPr>
              <a:t>(takes </a:t>
            </a:r>
            <a:r>
              <a:rPr lang="en-US" b="1" dirty="0">
                <a:latin typeface="Arial" pitchFamily="34" charset="0"/>
                <a:cs typeface="Arial" pitchFamily="34" charset="0"/>
              </a:rPr>
              <a:t>on the credit risk of B)</a:t>
            </a:r>
            <a:endParaRPr lang="en-US" b="1" dirty="0">
              <a:latin typeface="Arial" pitchFamily="34" charset="0"/>
              <a:cs typeface="Arial" pitchFamily="34" charset="0"/>
            </a:endParaRPr>
          </a:p>
        </p:txBody>
      </p:sp>
      <p:sp>
        <p:nvSpPr>
          <p:cNvPr id="10" name="Right Arrow 9"/>
          <p:cNvSpPr/>
          <p:nvPr/>
        </p:nvSpPr>
        <p:spPr>
          <a:xfrm rot="5400000">
            <a:off x="6199690" y="2622566"/>
            <a:ext cx="900098" cy="1950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p:cNvSpPr/>
          <p:nvPr/>
        </p:nvSpPr>
        <p:spPr>
          <a:xfrm rot="10800000">
            <a:off x="3779912" y="3472657"/>
            <a:ext cx="1154902" cy="2502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500990" cy="463075"/>
          </a:xfrm>
          <a:prstGeom prst="rect">
            <a:avLst/>
          </a:prstGeom>
          <a:noFill/>
        </p:spPr>
        <p:txBody>
          <a:bodyPr wrap="square" rtlCol="0">
            <a:spAutoFit/>
          </a:bodyPr>
          <a:lstStyle/>
          <a:p>
            <a:pPr algn="ctr">
              <a:lnSpc>
                <a:spcPct val="150000"/>
              </a:lnSpc>
              <a:tabLst>
                <a:tab pos="354013" algn="l"/>
              </a:tabLst>
            </a:pPr>
            <a:r>
              <a:rPr lang="en-US" b="1" dirty="0">
                <a:latin typeface="Arial" pitchFamily="34" charset="0"/>
                <a:cs typeface="Arial" pitchFamily="34" charset="0"/>
              </a:rPr>
              <a:t>Therefore…</a:t>
            </a:r>
            <a:endParaRPr lang="en-US" sz="1600" b="1" dirty="0" smtClean="0">
              <a:latin typeface="Arial" pitchFamily="34" charset="0"/>
              <a:cs typeface="Arial" pitchFamily="34" charset="0"/>
            </a:endParaRPr>
          </a:p>
        </p:txBody>
      </p:sp>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CREDIT DEFAULT SWAPS</a:t>
            </a:r>
            <a:endParaRPr lang="en-US" sz="2000" b="1" dirty="0">
              <a:solidFill>
                <a:schemeClr val="bg1"/>
              </a:solidFill>
              <a:latin typeface="Arial" pitchFamily="34" charset="0"/>
              <a:cs typeface="Arial" pitchFamily="34" charset="0"/>
            </a:endParaRPr>
          </a:p>
        </p:txBody>
      </p:sp>
      <p:sp>
        <p:nvSpPr>
          <p:cNvPr id="4" name="Rectangle 3"/>
          <p:cNvSpPr/>
          <p:nvPr/>
        </p:nvSpPr>
        <p:spPr>
          <a:xfrm>
            <a:off x="714348" y="1463183"/>
            <a:ext cx="7746084" cy="3416320"/>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This contract, which</a:t>
            </a:r>
            <a:r>
              <a:rPr lang="en-US" b="1" dirty="0" smtClean="0">
                <a:latin typeface="Arial" pitchFamily="34" charset="0"/>
                <a:cs typeface="Arial" pitchFamily="34" charset="0"/>
              </a:rPr>
              <a:t>:</a:t>
            </a:r>
          </a:p>
          <a:p>
            <a:pPr>
              <a:lnSpc>
                <a:spcPct val="150000"/>
              </a:lnSpc>
            </a:pPr>
            <a:endParaRPr lang="en-US" b="1" dirty="0">
              <a:latin typeface="Arial" pitchFamily="34" charset="0"/>
              <a:cs typeface="Arial" pitchFamily="34" charset="0"/>
            </a:endParaRPr>
          </a:p>
          <a:p>
            <a:pPr marL="0" lvl="1">
              <a:lnSpc>
                <a:spcPct val="150000"/>
              </a:lnSpc>
              <a:tabLst>
                <a:tab pos="465138" algn="l"/>
                <a:tab pos="914400" algn="l"/>
              </a:tabLst>
            </a:pPr>
            <a:r>
              <a:rPr lang="en-US" b="1" dirty="0" smtClean="0">
                <a:latin typeface="Arial" pitchFamily="34" charset="0"/>
                <a:cs typeface="Arial" pitchFamily="34" charset="0"/>
              </a:rPr>
              <a:t>	-	Transfers </a:t>
            </a:r>
            <a:r>
              <a:rPr lang="en-US" b="1" dirty="0">
                <a:latin typeface="Arial" pitchFamily="34" charset="0"/>
                <a:cs typeface="Arial" pitchFamily="34" charset="0"/>
              </a:rPr>
              <a:t>the ‘credit’ risk from one person to another</a:t>
            </a:r>
          </a:p>
          <a:p>
            <a:pPr marL="0" lvl="1">
              <a:lnSpc>
                <a:spcPct val="150000"/>
              </a:lnSpc>
              <a:tabLst>
                <a:tab pos="465138" algn="l"/>
                <a:tab pos="914400" algn="l"/>
              </a:tabLst>
            </a:pPr>
            <a:r>
              <a:rPr lang="en-US" b="1" dirty="0" smtClean="0">
                <a:latin typeface="Arial" pitchFamily="34" charset="0"/>
                <a:cs typeface="Arial" pitchFamily="34" charset="0"/>
              </a:rPr>
              <a:t>	-	Is </a:t>
            </a:r>
            <a:r>
              <a:rPr lang="en-US" b="1" dirty="0">
                <a:latin typeface="Arial" pitchFamily="34" charset="0"/>
                <a:cs typeface="Arial" pitchFamily="34" charset="0"/>
              </a:rPr>
              <a:t>exercised when one party ‘defaults’ in its payment</a:t>
            </a:r>
          </a:p>
          <a:p>
            <a:pPr marL="0" lvl="1">
              <a:lnSpc>
                <a:spcPct val="150000"/>
              </a:lnSpc>
              <a:tabLst>
                <a:tab pos="465138" algn="l"/>
                <a:tab pos="914400" algn="l"/>
              </a:tabLst>
            </a:pPr>
            <a:r>
              <a:rPr lang="en-US" b="1" dirty="0" smtClean="0">
                <a:latin typeface="Arial" pitchFamily="34" charset="0"/>
                <a:cs typeface="Arial" pitchFamily="34" charset="0"/>
              </a:rPr>
              <a:t>	-	Consists </a:t>
            </a:r>
            <a:r>
              <a:rPr lang="en-US" b="1" dirty="0">
                <a:latin typeface="Arial" pitchFamily="34" charset="0"/>
                <a:cs typeface="Arial" pitchFamily="34" charset="0"/>
              </a:rPr>
              <a:t>of a ‘swap’ of a buyer and a seller (in our example, </a:t>
            </a:r>
            <a:r>
              <a:rPr lang="en-US" b="1" dirty="0" smtClean="0">
                <a:latin typeface="Arial" pitchFamily="34" charset="0"/>
                <a:cs typeface="Arial" pitchFamily="34" charset="0"/>
              </a:rPr>
              <a:t>	-	person </a:t>
            </a:r>
            <a:r>
              <a:rPr lang="en-US" b="1" dirty="0">
                <a:latin typeface="Arial" pitchFamily="34" charset="0"/>
                <a:cs typeface="Arial" pitchFamily="34" charset="0"/>
              </a:rPr>
              <a:t>A is a seller to person B and a buyer to person C</a:t>
            </a:r>
            <a:r>
              <a:rPr lang="en-US" b="1" dirty="0" smtClean="0">
                <a:latin typeface="Arial" pitchFamily="34" charset="0"/>
                <a:cs typeface="Arial" pitchFamily="34" charset="0"/>
              </a:rPr>
              <a:t>)</a:t>
            </a:r>
          </a:p>
          <a:p>
            <a:pPr marL="0" lvl="1">
              <a:lnSpc>
                <a:spcPct val="150000"/>
              </a:lnSpc>
              <a:tabLst>
                <a:tab pos="465138" algn="l"/>
                <a:tab pos="914400" algn="l"/>
              </a:tabLst>
            </a:pPr>
            <a:endParaRPr lang="en-US" b="1" dirty="0">
              <a:latin typeface="Arial" pitchFamily="34" charset="0"/>
              <a:cs typeface="Arial" pitchFamily="34" charset="0"/>
            </a:endParaRPr>
          </a:p>
          <a:p>
            <a:pPr>
              <a:lnSpc>
                <a:spcPct val="150000"/>
              </a:lnSpc>
              <a:buFontTx/>
              <a:buNone/>
              <a:tabLst>
                <a:tab pos="465138" algn="l"/>
              </a:tabLst>
            </a:pPr>
            <a:r>
              <a:rPr lang="en-US" b="1" dirty="0">
                <a:latin typeface="Arial" pitchFamily="34" charset="0"/>
                <a:cs typeface="Arial" pitchFamily="34" charset="0"/>
              </a:rPr>
              <a:t>	is called a Credit Default Swap.</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Rectangle 4"/>
          <p:cNvSpPr/>
          <p:nvPr/>
        </p:nvSpPr>
        <p:spPr>
          <a:xfrm>
            <a:off x="714348" y="1021709"/>
            <a:ext cx="7242028" cy="507831"/>
          </a:xfrm>
          <a:prstGeom prst="rect">
            <a:avLst/>
          </a:prstGeom>
        </p:spPr>
        <p:txBody>
          <a:bodyPr wrap="square">
            <a:spAutoFit/>
          </a:bodyPr>
          <a:lstStyle/>
          <a:p>
            <a:pPr algn="ctr">
              <a:lnSpc>
                <a:spcPct val="150000"/>
              </a:lnSpc>
            </a:pPr>
            <a:r>
              <a:rPr lang="en-US" b="1" dirty="0">
                <a:latin typeface="Arial" pitchFamily="34" charset="0"/>
                <a:cs typeface="Arial" pitchFamily="34" charset="0"/>
              </a:rPr>
              <a:t>Now…</a:t>
            </a:r>
            <a:endParaRPr lang="en-US" b="1" dirty="0">
              <a:latin typeface="Arial" pitchFamily="34" charset="0"/>
              <a:cs typeface="Arial" pitchFamily="34" charset="0"/>
            </a:endParaRPr>
          </a:p>
        </p:txBody>
      </p:sp>
      <p:sp>
        <p:nvSpPr>
          <p:cNvPr id="6" name="TextBox 5"/>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CREDIT DEFAULT SWAPS</a:t>
            </a:r>
            <a:endParaRPr lang="en-US" sz="2000" b="1" dirty="0">
              <a:solidFill>
                <a:schemeClr val="bg1"/>
              </a:solidFill>
              <a:latin typeface="Arial" pitchFamily="34" charset="0"/>
              <a:cs typeface="Arial" pitchFamily="34" charset="0"/>
            </a:endParaRPr>
          </a:p>
        </p:txBody>
      </p:sp>
      <p:sp>
        <p:nvSpPr>
          <p:cNvPr id="4" name="Rectangle 3"/>
          <p:cNvSpPr/>
          <p:nvPr/>
        </p:nvSpPr>
        <p:spPr>
          <a:xfrm>
            <a:off x="899592" y="1556792"/>
            <a:ext cx="7416824" cy="3462486"/>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One party of the CDS contract is called the protection buyer while the other party is called the protection seller</a:t>
            </a:r>
            <a:r>
              <a:rPr lang="en-US" b="1" dirty="0" smtClean="0">
                <a:latin typeface="Arial" pitchFamily="34" charset="0"/>
                <a:cs typeface="Arial" pitchFamily="34" charset="0"/>
              </a:rPr>
              <a:t>.</a:t>
            </a:r>
          </a:p>
          <a:p>
            <a:pPr>
              <a:lnSpc>
                <a:spcPct val="150000"/>
              </a:lnSpc>
              <a:tabLst>
                <a:tab pos="465138" algn="l"/>
              </a:tabLst>
            </a:pPr>
            <a:r>
              <a:rPr lang="en-US" sz="1000" b="1" dirty="0" smtClean="0">
                <a:latin typeface="Arial" pitchFamily="34" charset="0"/>
                <a:cs typeface="Arial" pitchFamily="34" charset="0"/>
              </a:rPr>
              <a:t> </a:t>
            </a:r>
            <a:endParaRPr lang="en-US" sz="10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Protection Buyers are mostly banks and financial institutions but Protection Sellers could be anybody with an appetite for risk, such as hedge funds and insurers in the US. </a:t>
            </a:r>
          </a:p>
          <a:p>
            <a:pPr marL="465138" indent="-465138">
              <a:lnSpc>
                <a:spcPct val="150000"/>
              </a:lnSpc>
              <a:buFont typeface="Wingdings" pitchFamily="2" charset="2"/>
              <a:buChar char="q"/>
              <a:tabLst>
                <a:tab pos="465138" algn="l"/>
              </a:tabLst>
            </a:pPr>
            <a:endParaRPr lang="en-US" sz="10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In all CDS contracts, a protection buyer transfers his Credit Risk of a third party transaction to a protection seller. </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Rectangle 4"/>
          <p:cNvSpPr/>
          <p:nvPr/>
        </p:nvSpPr>
        <p:spPr>
          <a:xfrm>
            <a:off x="714348" y="1052736"/>
            <a:ext cx="7314036" cy="504056"/>
          </a:xfrm>
          <a:prstGeom prst="rect">
            <a:avLst/>
          </a:prstGeom>
        </p:spPr>
        <p:txBody>
          <a:bodyPr wrap="square">
            <a:spAutoFit/>
          </a:bodyPr>
          <a:lstStyle/>
          <a:p>
            <a:pPr algn="ctr">
              <a:lnSpc>
                <a:spcPct val="150000"/>
              </a:lnSpc>
            </a:pPr>
            <a:r>
              <a:rPr lang="en-US" b="1" dirty="0">
                <a:latin typeface="Arial" pitchFamily="34" charset="0"/>
                <a:cs typeface="Arial" pitchFamily="34" charset="0"/>
              </a:rPr>
              <a:t>So what is Credit Risk?</a:t>
            </a:r>
            <a:endParaRPr lang="en-US" b="1" dirty="0">
              <a:latin typeface="Arial" pitchFamily="34" charset="0"/>
              <a:cs typeface="Arial" pitchFamily="34" charset="0"/>
            </a:endParaRPr>
          </a:p>
        </p:txBody>
      </p:sp>
      <p:sp>
        <p:nvSpPr>
          <p:cNvPr id="6" name="TextBox 5"/>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CREDIT DEFAULT SWAPS</a:t>
            </a:r>
            <a:endParaRPr lang="en-US" sz="2000" b="1" dirty="0">
              <a:solidFill>
                <a:schemeClr val="bg1"/>
              </a:solidFill>
              <a:latin typeface="Arial" pitchFamily="34" charset="0"/>
              <a:cs typeface="Arial" pitchFamily="34" charset="0"/>
            </a:endParaRPr>
          </a:p>
        </p:txBody>
      </p:sp>
      <p:sp>
        <p:nvSpPr>
          <p:cNvPr id="4" name="Rectangle 3"/>
          <p:cNvSpPr/>
          <p:nvPr/>
        </p:nvSpPr>
        <p:spPr>
          <a:xfrm>
            <a:off x="714348" y="1556792"/>
            <a:ext cx="7890100" cy="3877985"/>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Credit risk is the risk involved in all transactions of </a:t>
            </a:r>
            <a:r>
              <a:rPr lang="en-US" b="1" dirty="0" smtClean="0">
                <a:latin typeface="Arial" pitchFamily="34" charset="0"/>
                <a:cs typeface="Arial" pitchFamily="34" charset="0"/>
              </a:rPr>
              <a:t>borrowing</a:t>
            </a:r>
            <a:br>
              <a:rPr lang="en-US" b="1" dirty="0" smtClean="0">
                <a:latin typeface="Arial" pitchFamily="34" charset="0"/>
                <a:cs typeface="Arial" pitchFamily="34" charset="0"/>
              </a:rPr>
            </a:br>
            <a:r>
              <a:rPr lang="en-US" b="1" dirty="0" smtClean="0">
                <a:latin typeface="Arial" pitchFamily="34" charset="0"/>
                <a:cs typeface="Arial" pitchFamily="34" charset="0"/>
              </a:rPr>
              <a:t>and </a:t>
            </a:r>
            <a:r>
              <a:rPr lang="en-US" b="1" dirty="0">
                <a:latin typeface="Arial" pitchFamily="34" charset="0"/>
                <a:cs typeface="Arial" pitchFamily="34" charset="0"/>
              </a:rPr>
              <a:t>lending. If you lend money, what are the chances that the borrower will make the repayment?</a:t>
            </a:r>
          </a:p>
          <a:p>
            <a:pPr marL="465138" indent="-465138">
              <a:lnSpc>
                <a:spcPct val="150000"/>
              </a:lnSpc>
              <a:buFont typeface="Wingdings" pitchFamily="2" charset="2"/>
              <a:buChar char="q"/>
              <a:tabLst>
                <a:tab pos="465138" algn="l"/>
              </a:tabLst>
            </a:pPr>
            <a:endParaRPr lang="en-US" sz="8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In case the borrower is likely to promptly return the money, then you have a low credit risk, and in case there is a high probability of default then you have a high credit risk. </a:t>
            </a:r>
          </a:p>
          <a:p>
            <a:pPr marL="465138" indent="-465138">
              <a:lnSpc>
                <a:spcPct val="150000"/>
              </a:lnSpc>
              <a:buFont typeface="Wingdings" pitchFamily="2" charset="2"/>
              <a:buChar char="q"/>
              <a:tabLst>
                <a:tab pos="465138" algn="l"/>
              </a:tabLst>
            </a:pPr>
            <a:endParaRPr lang="en-US" sz="8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So each borrowing and lending has its own element of risk involved.  </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Rectangle 4"/>
          <p:cNvSpPr/>
          <p:nvPr/>
        </p:nvSpPr>
        <p:spPr>
          <a:xfrm>
            <a:off x="714348" y="1124744"/>
            <a:ext cx="7314036" cy="507831"/>
          </a:xfrm>
          <a:prstGeom prst="rect">
            <a:avLst/>
          </a:prstGeom>
        </p:spPr>
        <p:txBody>
          <a:bodyPr wrap="square">
            <a:spAutoFit/>
          </a:bodyPr>
          <a:lstStyle/>
          <a:p>
            <a:pPr algn="ctr">
              <a:lnSpc>
                <a:spcPct val="150000"/>
              </a:lnSpc>
            </a:pPr>
            <a:r>
              <a:rPr lang="en-US" b="1" dirty="0">
                <a:latin typeface="Arial" pitchFamily="34" charset="0"/>
                <a:cs typeface="Arial" pitchFamily="34" charset="0"/>
              </a:rPr>
              <a:t>So… </a:t>
            </a:r>
            <a:endParaRPr lang="en-US" b="1" dirty="0">
              <a:latin typeface="Arial" pitchFamily="34" charset="0"/>
              <a:cs typeface="Arial" pitchFamily="34" charset="0"/>
            </a:endParaRPr>
          </a:p>
        </p:txBody>
      </p:sp>
      <p:sp>
        <p:nvSpPr>
          <p:cNvPr id="6" name="TextBox 5"/>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CREDIT DEFAULT SWAPS</a:t>
            </a:r>
            <a:endParaRPr lang="en-US" sz="2000" b="1" dirty="0">
              <a:solidFill>
                <a:schemeClr val="bg1"/>
              </a:solidFill>
              <a:latin typeface="Arial" pitchFamily="34" charset="0"/>
              <a:cs typeface="Arial" pitchFamily="34" charset="0"/>
            </a:endParaRPr>
          </a:p>
        </p:txBody>
      </p:sp>
      <p:sp>
        <p:nvSpPr>
          <p:cNvPr id="4" name="Rectangle 3"/>
          <p:cNvSpPr/>
          <p:nvPr/>
        </p:nvSpPr>
        <p:spPr>
          <a:xfrm>
            <a:off x="747884" y="1700808"/>
            <a:ext cx="6992468" cy="3000821"/>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A credit default swap resembles an insurance policy. You pay the premium and the insurance company undertakes to make good your loss.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So, everything depends on the happening of the credit event. If no default occurs then the protection seller would not make any payment.</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Rectangle 4"/>
          <p:cNvSpPr/>
          <p:nvPr/>
        </p:nvSpPr>
        <p:spPr>
          <a:xfrm>
            <a:off x="714348" y="1124744"/>
            <a:ext cx="7314036" cy="507831"/>
          </a:xfrm>
          <a:prstGeom prst="rect">
            <a:avLst/>
          </a:prstGeom>
        </p:spPr>
        <p:txBody>
          <a:bodyPr wrap="square">
            <a:spAutoFit/>
          </a:bodyPr>
          <a:lstStyle/>
          <a:p>
            <a:pPr algn="ctr">
              <a:lnSpc>
                <a:spcPct val="150000"/>
              </a:lnSpc>
            </a:pPr>
            <a:r>
              <a:rPr lang="en-US" b="1" dirty="0">
                <a:latin typeface="Arial" pitchFamily="34" charset="0"/>
                <a:cs typeface="Arial" pitchFamily="34" charset="0"/>
              </a:rPr>
              <a:t>Here’s another diagram… </a:t>
            </a:r>
            <a:endParaRPr lang="en-US" b="1" dirty="0">
              <a:latin typeface="Arial" pitchFamily="34" charset="0"/>
              <a:cs typeface="Arial" pitchFamily="34" charset="0"/>
            </a:endParaRPr>
          </a:p>
        </p:txBody>
      </p:sp>
      <p:sp>
        <p:nvSpPr>
          <p:cNvPr id="6" name="TextBox 5"/>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CREDIT DEFAULT SWAPS</a:t>
            </a:r>
            <a:endParaRPr lang="en-US" sz="2000" b="1" dirty="0">
              <a:solidFill>
                <a:schemeClr val="bg1"/>
              </a:solidFill>
              <a:latin typeface="Arial" pitchFamily="34" charset="0"/>
              <a:cs typeface="Arial" pitchFamily="34" charset="0"/>
            </a:endParaRPr>
          </a:p>
        </p:txBody>
      </p:sp>
      <p:pic>
        <p:nvPicPr>
          <p:cNvPr id="7" name="Picture 7" descr="CDS Transa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0492" y="1844824"/>
            <a:ext cx="7075884" cy="4361910"/>
          </a:xfrm>
          <a:prstGeom prst="rect">
            <a:avLst/>
          </a:prstGeom>
          <a:noFill/>
          <a:effectLst>
            <a:outerShdw blurRad="139700" dist="38100" dir="8100000" sx="101000" sy="101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102720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Rectangle 4"/>
          <p:cNvSpPr/>
          <p:nvPr/>
        </p:nvSpPr>
        <p:spPr>
          <a:xfrm>
            <a:off x="714348" y="1120969"/>
            <a:ext cx="7314036" cy="507831"/>
          </a:xfrm>
          <a:prstGeom prst="rect">
            <a:avLst/>
          </a:prstGeom>
        </p:spPr>
        <p:txBody>
          <a:bodyPr wrap="square">
            <a:spAutoFit/>
          </a:bodyPr>
          <a:lstStyle/>
          <a:p>
            <a:pPr algn="ctr">
              <a:lnSpc>
                <a:spcPct val="150000"/>
              </a:lnSpc>
            </a:pPr>
            <a:r>
              <a:rPr lang="en-US" b="1" dirty="0">
                <a:latin typeface="Arial" pitchFamily="34" charset="0"/>
                <a:cs typeface="Arial" pitchFamily="34" charset="0"/>
              </a:rPr>
              <a:t>Also… </a:t>
            </a:r>
            <a:endParaRPr lang="en-US" b="1" dirty="0">
              <a:latin typeface="Arial" pitchFamily="34" charset="0"/>
              <a:cs typeface="Arial" pitchFamily="34" charset="0"/>
            </a:endParaRPr>
          </a:p>
        </p:txBody>
      </p:sp>
      <p:sp>
        <p:nvSpPr>
          <p:cNvPr id="6" name="TextBox 5"/>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CREDIT DEFAULT SWAPS</a:t>
            </a:r>
            <a:endParaRPr lang="en-US" sz="2000" b="1" dirty="0">
              <a:solidFill>
                <a:schemeClr val="bg1"/>
              </a:solidFill>
              <a:latin typeface="Arial" pitchFamily="34" charset="0"/>
              <a:cs typeface="Arial" pitchFamily="34" charset="0"/>
            </a:endParaRPr>
          </a:p>
        </p:txBody>
      </p:sp>
      <p:sp>
        <p:nvSpPr>
          <p:cNvPr id="3" name="Rectangle 2"/>
          <p:cNvSpPr/>
          <p:nvPr/>
        </p:nvSpPr>
        <p:spPr>
          <a:xfrm>
            <a:off x="690954" y="1720160"/>
            <a:ext cx="7337430" cy="3365024"/>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Like any other Over The Counter (OTC) derivatives contract, CDS contracts are negotiated directly between the two parties.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But most of these contracts follow the standard terms and conditions of the International Swaps and Derivatives Association (</a:t>
            </a:r>
            <a:r>
              <a:rPr lang="en-US" b="1" dirty="0" err="1">
                <a:latin typeface="Arial" pitchFamily="34" charset="0"/>
                <a:cs typeface="Arial" pitchFamily="34" charset="0"/>
              </a:rPr>
              <a:t>Isda</a:t>
            </a:r>
            <a:r>
              <a:rPr lang="en-US" b="1" dirty="0">
                <a:latin typeface="Arial" pitchFamily="34" charset="0"/>
                <a:cs typeface="Arial" pitchFamily="34" charset="0"/>
              </a:rPr>
              <a:t>), which makes them look like a standardized product.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3495155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Rectangle 4"/>
          <p:cNvSpPr/>
          <p:nvPr/>
        </p:nvSpPr>
        <p:spPr>
          <a:xfrm>
            <a:off x="714348" y="1124744"/>
            <a:ext cx="7314036" cy="507831"/>
          </a:xfrm>
          <a:prstGeom prst="rect">
            <a:avLst/>
          </a:prstGeom>
        </p:spPr>
        <p:txBody>
          <a:bodyPr wrap="square">
            <a:spAutoFit/>
          </a:bodyPr>
          <a:lstStyle/>
          <a:p>
            <a:pPr algn="ctr">
              <a:lnSpc>
                <a:spcPct val="150000"/>
              </a:lnSpc>
            </a:pPr>
            <a:r>
              <a:rPr lang="en-US" b="1" dirty="0">
                <a:latin typeface="Arial" pitchFamily="34" charset="0"/>
                <a:cs typeface="Arial" pitchFamily="34" charset="0"/>
              </a:rPr>
              <a:t>To Sum Up</a:t>
            </a:r>
            <a:endParaRPr lang="en-US" b="1" dirty="0">
              <a:latin typeface="Arial" pitchFamily="34" charset="0"/>
              <a:cs typeface="Arial" pitchFamily="34" charset="0"/>
            </a:endParaRPr>
          </a:p>
        </p:txBody>
      </p:sp>
      <p:sp>
        <p:nvSpPr>
          <p:cNvPr id="6" name="TextBox 5"/>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CREDIT DEFAULT SWAPS</a:t>
            </a:r>
            <a:endParaRPr lang="en-US" sz="2000" b="1" dirty="0">
              <a:solidFill>
                <a:schemeClr val="bg1"/>
              </a:solidFill>
              <a:latin typeface="Arial" pitchFamily="34" charset="0"/>
              <a:cs typeface="Arial" pitchFamily="34" charset="0"/>
            </a:endParaRPr>
          </a:p>
        </p:txBody>
      </p:sp>
      <p:sp>
        <p:nvSpPr>
          <p:cNvPr id="3" name="Rectangle 2"/>
          <p:cNvSpPr/>
          <p:nvPr/>
        </p:nvSpPr>
        <p:spPr>
          <a:xfrm>
            <a:off x="827584" y="1581279"/>
            <a:ext cx="7704856" cy="3693319"/>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A Credit Default Swap (CDS) is a credit derivative contract between two counterparties, whereby the "buyer" pays periodic payments to the "seller" in exchange for the right to a payoff if there is a default or credit event in respect of a third party.</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They typically apply to municipal bonds, corporate debt and mortgage securities and are sold by banks, hedge funds and others.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Like most financial derivatives, credit default swaps can be used to hedge existing exposures to credit risk, or to speculate on changes in credit spreads.</a:t>
            </a:r>
            <a:endParaRPr lang="en-US" sz="1600" b="1" dirty="0">
              <a:latin typeface="Arial" pitchFamily="34" charset="0"/>
              <a:cs typeface="Arial" pitchFamily="34" charset="0"/>
            </a:endParaRPr>
          </a:p>
        </p:txBody>
      </p:sp>
    </p:spTree>
    <p:extLst>
      <p:ext uri="{BB962C8B-B14F-4D97-AF65-F5344CB8AC3E}">
        <p14:creationId xmlns:p14="http://schemas.microsoft.com/office/powerpoint/2010/main" val="85493791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39952" y="4941168"/>
            <a:ext cx="4248472" cy="923330"/>
          </a:xfrm>
          <a:prstGeom prst="rect">
            <a:avLst/>
          </a:prstGeom>
        </p:spPr>
        <p:txBody>
          <a:bodyPr wrap="square">
            <a:spAutoFit/>
          </a:bodyPr>
          <a:lstStyle/>
          <a:p>
            <a:pPr>
              <a:lnSpc>
                <a:spcPct val="150000"/>
              </a:lnSpc>
              <a:buFontTx/>
              <a:buNone/>
            </a:pPr>
            <a:r>
              <a:rPr lang="en-US" b="1" dirty="0">
                <a:latin typeface="Arial" pitchFamily="34" charset="0"/>
                <a:cs typeface="Arial" pitchFamily="34" charset="0"/>
              </a:rPr>
              <a:t>Hope you </a:t>
            </a:r>
            <a:r>
              <a:rPr lang="en-US" b="1" dirty="0" smtClean="0">
                <a:latin typeface="Arial" pitchFamily="34" charset="0"/>
                <a:cs typeface="Arial" pitchFamily="34" charset="0"/>
              </a:rPr>
              <a:t>have now </a:t>
            </a:r>
            <a:r>
              <a:rPr lang="en-US" b="1" dirty="0">
                <a:latin typeface="Arial" pitchFamily="34" charset="0"/>
                <a:cs typeface="Arial" pitchFamily="34" charset="0"/>
              </a:rPr>
              <a:t>understood the concept </a:t>
            </a:r>
            <a:r>
              <a:rPr lang="en-US" b="1" dirty="0" smtClean="0">
                <a:latin typeface="Arial" pitchFamily="34" charset="0"/>
                <a:cs typeface="Arial" pitchFamily="34" charset="0"/>
              </a:rPr>
              <a:t>of Credit </a:t>
            </a:r>
            <a:r>
              <a:rPr lang="en-US" b="1" dirty="0">
                <a:latin typeface="Arial" pitchFamily="34" charset="0"/>
                <a:cs typeface="Arial" pitchFamily="34" charset="0"/>
              </a:rPr>
              <a:t>Default Swaps</a:t>
            </a:r>
            <a:endParaRPr lang="en-US" b="1" dirty="0">
              <a:latin typeface="Arial" pitchFamily="34" charset="0"/>
              <a:cs typeface="Arial" pitchFamily="34" charset="0"/>
            </a:endParaRPr>
          </a:p>
        </p:txBody>
      </p:sp>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CREDIT DEFAULT SWAPS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071538" y="1928802"/>
            <a:ext cx="3929090" cy="834587"/>
          </a:xfrm>
          <a:prstGeom prst="rect">
            <a:avLst/>
          </a:prstGeom>
          <a:noFill/>
        </p:spPr>
        <p:txBody>
          <a:bodyPr wrap="square" rtlCol="0">
            <a:spAutoFit/>
          </a:bodyPr>
          <a:lstStyle/>
          <a:p>
            <a:pPr marL="342900" indent="-342900" algn="ctr">
              <a:lnSpc>
                <a:spcPct val="150000"/>
              </a:lnSpc>
              <a:spcBef>
                <a:spcPct val="20000"/>
              </a:spcBef>
            </a:pPr>
            <a:r>
              <a:rPr lang="en-US" sz="1600" b="1" dirty="0">
                <a:latin typeface="Arial" pitchFamily="34" charset="0"/>
                <a:cs typeface="Arial" pitchFamily="34" charset="0"/>
              </a:rPr>
              <a:t>In case of any query, please e-mail </a:t>
            </a:r>
          </a:p>
          <a:p>
            <a:pPr marL="342900" indent="-342900" algn="ctr">
              <a:lnSpc>
                <a:spcPct val="150000"/>
              </a:lnSpc>
              <a:spcBef>
                <a:spcPct val="20000"/>
              </a:spcBef>
            </a:pPr>
            <a:r>
              <a:rPr lang="en-US" sz="1600" b="1" dirty="0">
                <a:latin typeface="Arial" pitchFamily="34" charset="0"/>
                <a:cs typeface="Arial" pitchFamily="34" charset="0"/>
                <a:hlinkClick r:id="rId4"/>
              </a:rPr>
              <a:t>professor@tataamc.com</a:t>
            </a:r>
            <a:endParaRPr lang="en-US" sz="1600"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1820</TotalTime>
  <Words>729</Words>
  <Application>Microsoft Office PowerPoint</Application>
  <PresentationFormat>On-screen Show (4:3)</PresentationFormat>
  <Paragraphs>73</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mangeshkambli</cp:lastModifiedBy>
  <cp:revision>225</cp:revision>
  <dcterms:created xsi:type="dcterms:W3CDTF">2013-10-22T09:41:31Z</dcterms:created>
  <dcterms:modified xsi:type="dcterms:W3CDTF">2014-03-03T10:11:16Z</dcterms:modified>
</cp:coreProperties>
</file>