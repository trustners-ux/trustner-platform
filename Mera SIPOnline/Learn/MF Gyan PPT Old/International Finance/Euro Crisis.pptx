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18" r:id="rId3"/>
    <p:sldId id="334" r:id="rId4"/>
    <p:sldId id="335" r:id="rId5"/>
    <p:sldId id="346" r:id="rId6"/>
    <p:sldId id="347" r:id="rId7"/>
    <p:sldId id="348" r:id="rId8"/>
    <p:sldId id="349" r:id="rId9"/>
    <p:sldId id="350" r:id="rId10"/>
    <p:sldId id="351" r:id="rId11"/>
    <p:sldId id="352" r:id="rId12"/>
    <p:sldId id="345"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3/3/2014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3/3/2014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08920"/>
            <a:ext cx="3957590" cy="456535"/>
          </a:xfrm>
          <a:prstGeom prst="rect">
            <a:avLst/>
          </a:prstGeom>
          <a:noFill/>
        </p:spPr>
        <p:txBody>
          <a:bodyPr wrap="square" rtlCol="0">
            <a:spAutoFit/>
          </a:bodyPr>
          <a:lstStyle/>
          <a:p>
            <a:pPr algn="ctr">
              <a:lnSpc>
                <a:spcPct val="150000"/>
              </a:lnSpc>
            </a:pPr>
            <a:r>
              <a:rPr lang="en-US" b="1" dirty="0" smtClean="0">
                <a:solidFill>
                  <a:schemeClr val="bg1"/>
                </a:solidFill>
                <a:latin typeface="Arial" pitchFamily="34" charset="0"/>
                <a:cs typeface="Arial" pitchFamily="34" charset="0"/>
              </a:rPr>
              <a:t>EURO CRISIS</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746084"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Why is the Euro problem getting acute? </a:t>
            </a:r>
            <a:r>
              <a:rPr lang="en-US" dirty="0">
                <a:latin typeface="Arial" pitchFamily="34" charset="0"/>
                <a:cs typeface="Arial" pitchFamily="34" charset="0"/>
              </a:rPr>
              <a:t/>
            </a:r>
            <a:br>
              <a:rPr lang="en-US" dirty="0">
                <a:latin typeface="Arial" pitchFamily="34" charset="0"/>
                <a:cs typeface="Arial" pitchFamily="34" charset="0"/>
              </a:rPr>
            </a:br>
            <a:r>
              <a:rPr lang="en-US" dirty="0">
                <a:latin typeface="Arial" pitchFamily="34" charset="0"/>
                <a:cs typeface="Arial" pitchFamily="34" charset="0"/>
              </a:rPr>
              <a:t> </a:t>
            </a:r>
            <a:r>
              <a:rPr lang="en-US" b="1" dirty="0">
                <a:latin typeface="Arial" pitchFamily="34" charset="0"/>
                <a:cs typeface="Arial" pitchFamily="34" charset="0"/>
              </a:rPr>
              <a:t>Why is Greece behaving like a spoilsport?</a:t>
            </a:r>
            <a:r>
              <a:rPr lang="en-US" dirty="0">
                <a:latin typeface="Arial" pitchFamily="34" charset="0"/>
                <a:cs typeface="Arial" pitchFamily="34" charset="0"/>
              </a:rPr>
              <a:t/>
            </a:r>
            <a:br>
              <a:rPr lang="en-US" dirty="0">
                <a:latin typeface="Arial" pitchFamily="34" charset="0"/>
                <a:cs typeface="Arial" pitchFamily="34" charset="0"/>
              </a:rPr>
            </a:br>
            <a:r>
              <a:rPr lang="en-US" b="1" dirty="0">
                <a:latin typeface="Arial" pitchFamily="34" charset="0"/>
                <a:cs typeface="Arial" pitchFamily="34" charset="0"/>
              </a:rPr>
              <a:t>Why is Germany persuading Greece to relent </a:t>
            </a:r>
            <a:r>
              <a:rPr lang="en-US" b="1" dirty="0" smtClean="0">
                <a:latin typeface="Arial" pitchFamily="34" charset="0"/>
                <a:cs typeface="Arial" pitchFamily="34" charset="0"/>
              </a:rPr>
              <a:t>and</a:t>
            </a:r>
            <a:br>
              <a:rPr lang="en-US" b="1" dirty="0" smtClean="0">
                <a:latin typeface="Arial" pitchFamily="34" charset="0"/>
                <a:cs typeface="Arial" pitchFamily="34" charset="0"/>
              </a:rPr>
            </a:br>
            <a:r>
              <a:rPr lang="en-US" b="1" dirty="0" smtClean="0">
                <a:latin typeface="Arial" pitchFamily="34" charset="0"/>
                <a:cs typeface="Arial" pitchFamily="34" charset="0"/>
              </a:rPr>
              <a:t>follow </a:t>
            </a:r>
            <a:r>
              <a:rPr lang="en-US" b="1" dirty="0">
                <a:latin typeface="Arial" pitchFamily="34" charset="0"/>
                <a:cs typeface="Arial" pitchFamily="34" charset="0"/>
              </a:rPr>
              <a:t>austerity measures?</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827584" y="1063753"/>
            <a:ext cx="7416824" cy="2118529"/>
          </a:xfrm>
          <a:prstGeom prst="rect">
            <a:avLst/>
          </a:prstGeom>
        </p:spPr>
        <p:txBody>
          <a:bodyPr wrap="square">
            <a:spAutoFit/>
          </a:bodyPr>
          <a:lstStyle/>
          <a:p>
            <a:pPr>
              <a:lnSpc>
                <a:spcPct val="150000"/>
              </a:lnSpc>
            </a:pPr>
            <a:r>
              <a:rPr lang="en-US" b="1" dirty="0">
                <a:latin typeface="Arial" pitchFamily="34" charset="0"/>
                <a:cs typeface="Arial" pitchFamily="34" charset="0"/>
              </a:rPr>
              <a:t>To get a better understanding of the complex linkages of the problems in Europe, one will look at them to be part of one big family. Accordingly, Germany is the elder brother of Greece. Greece has lived beyond his means while Germany on the other hand has managed its finances prudently.</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533306" cy="3000821"/>
          </a:xfrm>
          <a:prstGeom prst="rect">
            <a:avLst/>
          </a:prstGeom>
        </p:spPr>
        <p:txBody>
          <a:bodyPr wrap="square">
            <a:spAutoFit/>
          </a:bodyPr>
          <a:lstStyle/>
          <a:p>
            <a:pPr>
              <a:lnSpc>
                <a:spcPct val="150000"/>
              </a:lnSpc>
            </a:pPr>
            <a:r>
              <a:rPr lang="en-US" b="1" dirty="0">
                <a:latin typeface="Arial" pitchFamily="34" charset="0"/>
                <a:cs typeface="Arial" pitchFamily="34" charset="0"/>
              </a:rPr>
              <a:t> So while Greece is in debt, Germany has surplus. The problem is since Germany and Greece belong to the same family; Greece’s problem is to an extent Germany’s problem. So Germany has agreed to help his brother (Greece) but in return wants Greece to mend his ways. Like any elder brother would, Germany would like Greece to change his ways, become prudent with money, undergo some years of hardships and pay his debts.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677322" cy="3416320"/>
          </a:xfrm>
          <a:prstGeom prst="rect">
            <a:avLst/>
          </a:prstGeom>
        </p:spPr>
        <p:txBody>
          <a:bodyPr wrap="square">
            <a:spAutoFit/>
          </a:bodyPr>
          <a:lstStyle/>
          <a:p>
            <a:pPr>
              <a:lnSpc>
                <a:spcPct val="150000"/>
              </a:lnSpc>
            </a:pPr>
            <a:r>
              <a:rPr lang="en-US" b="1" dirty="0">
                <a:latin typeface="Arial" pitchFamily="34" charset="0"/>
                <a:cs typeface="Arial" pitchFamily="34" charset="0"/>
              </a:rPr>
              <a:t>Germany requests Greece to do this since Greece belongs to the same family and Germany does not want the family name tarnished.</a:t>
            </a:r>
          </a:p>
          <a:p>
            <a:pPr>
              <a:lnSpc>
                <a:spcPct val="150000"/>
              </a:lnSpc>
            </a:pPr>
            <a:r>
              <a:rPr lang="en-US" b="1" dirty="0">
                <a:latin typeface="Arial" pitchFamily="34" charset="0"/>
                <a:cs typeface="Arial" pitchFamily="34" charset="0"/>
              </a:rPr>
              <a:t>However, the problem is that on one hand, Greece would like Germany’s help but on the other hand, may not want to follow the austerity measures. Greece feels that Germany is resorting to bullying tactics and putting his independence at stake</a:t>
            </a:r>
            <a:r>
              <a:rPr lang="en-US" b="1" dirty="0" smtClean="0">
                <a:latin typeface="Arial" pitchFamily="34" charset="0"/>
                <a:cs typeface="Arial" pitchFamily="34" charset="0"/>
              </a:rPr>
              <a:t>. This </a:t>
            </a:r>
            <a:r>
              <a:rPr lang="en-US" b="1" dirty="0">
                <a:latin typeface="Arial" pitchFamily="34" charset="0"/>
                <a:cs typeface="Arial" pitchFamily="34" charset="0"/>
              </a:rPr>
              <a:t>is putting pressure on Germany because Germany does not want to extend help unconditionally.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17281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3000821"/>
          </a:xfrm>
          <a:prstGeom prst="rect">
            <a:avLst/>
          </a:prstGeom>
        </p:spPr>
        <p:txBody>
          <a:bodyPr wrap="square">
            <a:spAutoFit/>
          </a:bodyPr>
          <a:lstStyle/>
          <a:p>
            <a:pPr>
              <a:lnSpc>
                <a:spcPct val="150000"/>
              </a:lnSpc>
            </a:pPr>
            <a:r>
              <a:rPr lang="en-US" b="1" dirty="0">
                <a:latin typeface="Arial" pitchFamily="34" charset="0"/>
                <a:cs typeface="Arial" pitchFamily="34" charset="0"/>
              </a:rPr>
              <a:t>Since Greece and Germany belong to the same </a:t>
            </a:r>
            <a:r>
              <a:rPr lang="en-US" b="1" dirty="0" smtClean="0">
                <a:latin typeface="Arial" pitchFamily="34" charset="0"/>
                <a:cs typeface="Arial" pitchFamily="34" charset="0"/>
              </a:rPr>
              <a:t>family,</a:t>
            </a:r>
            <a:br>
              <a:rPr lang="en-US" b="1" dirty="0" smtClean="0">
                <a:latin typeface="Arial" pitchFamily="34" charset="0"/>
                <a:cs typeface="Arial" pitchFamily="34" charset="0"/>
              </a:rPr>
            </a:br>
            <a:r>
              <a:rPr lang="en-US" b="1" dirty="0" smtClean="0">
                <a:latin typeface="Arial" pitchFamily="34" charset="0"/>
                <a:cs typeface="Arial" pitchFamily="34" charset="0"/>
              </a:rPr>
              <a:t>Germany </a:t>
            </a:r>
            <a:r>
              <a:rPr lang="en-US" b="1" dirty="0">
                <a:latin typeface="Arial" pitchFamily="34" charset="0"/>
                <a:cs typeface="Arial" pitchFamily="34" charset="0"/>
              </a:rPr>
              <a:t>is in a deadlock in order to preserve the family name. The problem is that if Greece defaults and decides to walk out of the family, the other brothers of Germany such as Spain, Italy, Ireland, and Portugal who too have a debt </a:t>
            </a:r>
            <a:r>
              <a:rPr lang="en-US" b="1" dirty="0" smtClean="0">
                <a:latin typeface="Arial" pitchFamily="34" charset="0"/>
                <a:cs typeface="Arial" pitchFamily="34" charset="0"/>
              </a:rPr>
              <a:t>problem, might </a:t>
            </a:r>
            <a:r>
              <a:rPr lang="en-US" b="1" dirty="0">
                <a:latin typeface="Arial" pitchFamily="34" charset="0"/>
                <a:cs typeface="Arial" pitchFamily="34" charset="0"/>
              </a:rPr>
              <a:t>lose credibility and fall back on Germany to rescue them. Germany is afraid this could eventually lead to a split in the family.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638178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2126864"/>
          </a:xfrm>
          <a:prstGeom prst="rect">
            <a:avLst/>
          </a:prstGeom>
        </p:spPr>
        <p:txBody>
          <a:bodyPr wrap="square">
            <a:spAutoFit/>
          </a:bodyPr>
          <a:lstStyle/>
          <a:p>
            <a:pPr>
              <a:lnSpc>
                <a:spcPct val="150000"/>
              </a:lnSpc>
            </a:pPr>
            <a:r>
              <a:rPr lang="en-US" b="1" dirty="0">
                <a:latin typeface="Arial" pitchFamily="34" charset="0"/>
                <a:cs typeface="Arial" pitchFamily="34" charset="0"/>
              </a:rPr>
              <a:t>Since Germany otherwise is doing well in his business and at the same time is acting as the head of the family, the split is not something Germany wants. Also, if Greece splits from the family, people at large might lose confidence in the family name and sell off the debt that the family owes them.</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540571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2118529"/>
          </a:xfrm>
          <a:prstGeom prst="rect">
            <a:avLst/>
          </a:prstGeom>
        </p:spPr>
        <p:txBody>
          <a:bodyPr wrap="square">
            <a:spAutoFit/>
          </a:bodyPr>
          <a:lstStyle/>
          <a:p>
            <a:pPr>
              <a:lnSpc>
                <a:spcPct val="150000"/>
              </a:lnSpc>
            </a:pPr>
            <a:r>
              <a:rPr lang="en-US" b="1" dirty="0">
                <a:latin typeface="Arial" pitchFamily="34" charset="0"/>
                <a:cs typeface="Arial" pitchFamily="34" charset="0"/>
              </a:rPr>
              <a:t>If this happens, one might not lend any money to the family at standard market rates. This could hurt the family business and the family business activity could come to a stand-still. This is the reason why Germany is pestering Greece to mend his ways by following fiscal discipline.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450902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2949525"/>
          </a:xfrm>
          <a:prstGeom prst="rect">
            <a:avLst/>
          </a:prstGeom>
        </p:spPr>
        <p:txBody>
          <a:bodyPr wrap="square">
            <a:spAutoFit/>
          </a:bodyPr>
          <a:lstStyle/>
          <a:p>
            <a:pPr>
              <a:lnSpc>
                <a:spcPct val="150000"/>
              </a:lnSpc>
            </a:pPr>
            <a:r>
              <a:rPr lang="en-US" b="1" dirty="0">
                <a:latin typeface="Arial" pitchFamily="34" charset="0"/>
                <a:cs typeface="Arial" pitchFamily="34" charset="0"/>
              </a:rPr>
              <a:t>Unfortunately, some Greece politicians might be misleading people to believe that there is a solution to their debt problem without having to follow some discipline either by way of austerity or restructuring of economy for better productivity.</a:t>
            </a:r>
            <a:br>
              <a:rPr lang="en-US" b="1" dirty="0">
                <a:latin typeface="Arial" pitchFamily="34" charset="0"/>
                <a:cs typeface="Arial" pitchFamily="34" charset="0"/>
              </a:rPr>
            </a:br>
            <a:r>
              <a:rPr lang="en-US" b="1" dirty="0">
                <a:latin typeface="Arial" pitchFamily="34" charset="0"/>
                <a:cs typeface="Arial" pitchFamily="34" charset="0"/>
              </a:rPr>
              <a:t>They are stirring passion among the people by stating that Germany might want to take control of their lives and is a threat to Greece’s sovereignty.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568316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2957861"/>
          </a:xfrm>
          <a:prstGeom prst="rect">
            <a:avLst/>
          </a:prstGeom>
        </p:spPr>
        <p:txBody>
          <a:bodyPr wrap="square">
            <a:spAutoFit/>
          </a:bodyPr>
          <a:lstStyle/>
          <a:p>
            <a:pPr>
              <a:lnSpc>
                <a:spcPct val="150000"/>
              </a:lnSpc>
            </a:pPr>
            <a:r>
              <a:rPr lang="en-US" b="1" dirty="0">
                <a:latin typeface="Arial" pitchFamily="34" charset="0"/>
                <a:cs typeface="Arial" pitchFamily="34" charset="0"/>
              </a:rPr>
              <a:t>Election results that are slated in June will give an indication about the future of Greece. If the Conservative Party comes to power, there is a chance that they will try to maintain fiscal discipline and keep the European Union intact. However, if the party that is opposing fiscal discipline measures comes to power, the Union might split and Greece may move out of Euro and go back to its original independent currency ‘Drachma.”</a:t>
            </a:r>
            <a:endParaRPr lang="en-US" b="1" dirty="0">
              <a:latin typeface="Arial" pitchFamily="34" charset="0"/>
              <a:cs typeface="Arial" pitchFamily="34" charset="0"/>
            </a:endParaRPr>
          </a:p>
        </p:txBody>
      </p:sp>
    </p:spTree>
    <p:extLst>
      <p:ext uri="{BB962C8B-B14F-4D97-AF65-F5344CB8AC3E}">
        <p14:creationId xmlns:p14="http://schemas.microsoft.com/office/powerpoint/2010/main" val="5029503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533306" cy="2585323"/>
          </a:xfrm>
          <a:prstGeom prst="rect">
            <a:avLst/>
          </a:prstGeom>
        </p:spPr>
        <p:txBody>
          <a:bodyPr wrap="square">
            <a:spAutoFit/>
          </a:bodyPr>
          <a:lstStyle/>
          <a:p>
            <a:pPr>
              <a:lnSpc>
                <a:spcPct val="150000"/>
              </a:lnSpc>
            </a:pPr>
            <a:r>
              <a:rPr lang="en-US" b="1" dirty="0">
                <a:latin typeface="Arial" pitchFamily="34" charset="0"/>
                <a:cs typeface="Arial" pitchFamily="34" charset="0"/>
              </a:rPr>
              <a:t>Even if that were to happen, the value of Drachma could nosedive. While it would suit exports, imports would become very expensive. The debt problem may not get solved automatically. Greece might have to focus on enhancing productivity and competitiveness and may need to follow fiscal discipline. In essence, there is no short cut solution to escape debt.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0170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65004"/>
            <a:ext cx="4218262" cy="880369"/>
          </a:xfrm>
          <a:prstGeom prst="rect">
            <a:avLst/>
          </a:prstGeom>
        </p:spPr>
        <p:txBody>
          <a:bodyPr wrap="square">
            <a:spAutoFit/>
          </a:bodyPr>
          <a:lstStyle/>
          <a:p>
            <a:pPr>
              <a:lnSpc>
                <a:spcPct val="150000"/>
              </a:lnSpc>
            </a:pPr>
            <a:r>
              <a:rPr lang="en-US" b="1" dirty="0">
                <a:latin typeface="Arial" pitchFamily="34" charset="0"/>
                <a:cs typeface="Arial" pitchFamily="34" charset="0"/>
              </a:rPr>
              <a:t>Hope this has given you the answers to questions raised at the start.</a:t>
            </a: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EURO CRISIS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409173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71538" y="1928802"/>
            <a:ext cx="3929090" cy="935769"/>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1797</TotalTime>
  <Words>682</Words>
  <Application>Microsoft Office PowerPoint</Application>
  <PresentationFormat>On-screen Show (4:3)</PresentationFormat>
  <Paragraphs>30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213</cp:revision>
  <dcterms:created xsi:type="dcterms:W3CDTF">2013-10-22T09:41:31Z</dcterms:created>
  <dcterms:modified xsi:type="dcterms:W3CDTF">2014-03-03T12:03:54Z</dcterms:modified>
</cp:coreProperties>
</file>