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358" r:id="rId3"/>
    <p:sldId id="353" r:id="rId4"/>
    <p:sldId id="318" r:id="rId5"/>
    <p:sldId id="381" r:id="rId6"/>
    <p:sldId id="382" r:id="rId7"/>
    <p:sldId id="383" r:id="rId8"/>
    <p:sldId id="384" r:id="rId9"/>
    <p:sldId id="385" r:id="rId10"/>
    <p:sldId id="386" r:id="rId11"/>
    <p:sldId id="377" r:id="rId12"/>
    <p:sldId id="387" r:id="rId13"/>
    <p:sldId id="388" r:id="rId14"/>
    <p:sldId id="334" r:id="rId15"/>
    <p:sldId id="379" r:id="rId16"/>
    <p:sldId id="287"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3/5/2014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3/5/2014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3/5/2014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3/5/2014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3/5/2014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71636"/>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619672" y="1900559"/>
            <a:ext cx="2952328" cy="880369"/>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US </a:t>
            </a:r>
            <a:r>
              <a:rPr lang="en-US" b="1" dirty="0">
                <a:latin typeface="Arial" pitchFamily="34" charset="0"/>
                <a:cs typeface="Arial" pitchFamily="34" charset="0"/>
              </a:rPr>
              <a:t>debt ceiling </a:t>
            </a:r>
            <a:r>
              <a:rPr lang="en-US" b="1" dirty="0" smtClean="0">
                <a:latin typeface="Arial" pitchFamily="34" charset="0"/>
                <a:cs typeface="Arial" pitchFamily="34" charset="0"/>
              </a:rPr>
              <a:t>crisis</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437112"/>
            <a:ext cx="403244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The US debt ceiling crisis has been in the news. Hence it is important for us to conceptually understand this crisis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196752"/>
            <a:ext cx="7272808" cy="3693319"/>
          </a:xfrm>
          <a:prstGeom prst="rect">
            <a:avLst/>
          </a:prstGeom>
        </p:spPr>
        <p:txBody>
          <a:bodyPr wrap="square">
            <a:spAutoFit/>
          </a:bodyPr>
          <a:lstStyle/>
          <a:p>
            <a:pPr marL="465138" indent="-465138">
              <a:lnSpc>
                <a:spcPct val="150000"/>
              </a:lnSpc>
              <a:buSzPct val="200000"/>
              <a:buFont typeface="Wingdings" pitchFamily="2" charset="2"/>
              <a:buChar char="§"/>
              <a:tabLst>
                <a:tab pos="465138" algn="l"/>
              </a:tabLst>
              <a:defRPr/>
            </a:pPr>
            <a:r>
              <a:rPr lang="en-US" b="1" dirty="0">
                <a:latin typeface="Arial" pitchFamily="34" charset="0"/>
                <a:cs typeface="Arial" pitchFamily="34" charset="0"/>
              </a:rPr>
              <a:t>The US has been a powerful country both economically as well as politically.</a:t>
            </a:r>
          </a:p>
          <a:p>
            <a:pPr marL="465138" indent="-465138">
              <a:lnSpc>
                <a:spcPct val="150000"/>
              </a:lnSpc>
              <a:buSzPct val="200000"/>
              <a:buFont typeface="Wingdings" pitchFamily="2" charset="2"/>
              <a:buChar char="§"/>
              <a:tabLst>
                <a:tab pos="465138" algn="l"/>
              </a:tabLst>
              <a:defRPr/>
            </a:pPr>
            <a:endParaRPr lang="en-US" sz="1000" b="1" dirty="0">
              <a:latin typeface="Arial" pitchFamily="34" charset="0"/>
              <a:cs typeface="Arial" pitchFamily="34" charset="0"/>
            </a:endParaRPr>
          </a:p>
          <a:p>
            <a:pPr marL="465138" indent="-465138">
              <a:lnSpc>
                <a:spcPct val="150000"/>
              </a:lnSpc>
              <a:buSzPct val="200000"/>
              <a:buFont typeface="Wingdings" pitchFamily="2" charset="2"/>
              <a:buChar char="§"/>
              <a:tabLst>
                <a:tab pos="465138" algn="l"/>
              </a:tabLst>
              <a:defRPr/>
            </a:pPr>
            <a:r>
              <a:rPr lang="en-US" b="1" dirty="0">
                <a:latin typeface="Arial" pitchFamily="34" charset="0"/>
                <a:cs typeface="Arial" pitchFamily="34" charset="0"/>
              </a:rPr>
              <a:t>Naturally its currency has been seen as safe and stable</a:t>
            </a:r>
          </a:p>
          <a:p>
            <a:pPr marL="465138" indent="-465138">
              <a:lnSpc>
                <a:spcPct val="150000"/>
              </a:lnSpc>
              <a:buSzPct val="200000"/>
              <a:buFont typeface="Wingdings" pitchFamily="2" charset="2"/>
              <a:buChar char="§"/>
              <a:tabLst>
                <a:tab pos="465138" algn="l"/>
              </a:tabLst>
              <a:defRPr/>
            </a:pPr>
            <a:endParaRPr lang="en-US" sz="1000" b="1" dirty="0">
              <a:latin typeface="Arial" pitchFamily="34" charset="0"/>
              <a:cs typeface="Arial" pitchFamily="34" charset="0"/>
            </a:endParaRPr>
          </a:p>
          <a:p>
            <a:pPr marL="465138" indent="-465138">
              <a:lnSpc>
                <a:spcPct val="150000"/>
              </a:lnSpc>
              <a:buSzPct val="200000"/>
              <a:buFont typeface="Wingdings" pitchFamily="2" charset="2"/>
              <a:buChar char="§"/>
              <a:tabLst>
                <a:tab pos="465138" algn="l"/>
              </a:tabLst>
              <a:defRPr/>
            </a:pPr>
            <a:r>
              <a:rPr lang="en-US" b="1" dirty="0">
                <a:latin typeface="Arial" pitchFamily="34" charset="0"/>
                <a:cs typeface="Arial" pitchFamily="34" charset="0"/>
              </a:rPr>
              <a:t>Therefore US has been in a position to borrow cheap from the rest of the world as well as from its own citizens</a:t>
            </a:r>
          </a:p>
          <a:p>
            <a:pPr marL="465138" indent="-465138">
              <a:lnSpc>
                <a:spcPct val="150000"/>
              </a:lnSpc>
              <a:buSzPct val="200000"/>
              <a:buFont typeface="Wingdings" pitchFamily="2" charset="2"/>
              <a:buChar char="§"/>
              <a:tabLst>
                <a:tab pos="465138" algn="l"/>
              </a:tabLst>
              <a:defRPr/>
            </a:pPr>
            <a:endParaRPr lang="en-US" sz="1000" b="1" dirty="0">
              <a:latin typeface="Arial" pitchFamily="34" charset="0"/>
              <a:cs typeface="Arial" pitchFamily="34" charset="0"/>
            </a:endParaRPr>
          </a:p>
          <a:p>
            <a:pPr marL="465138" indent="-465138">
              <a:lnSpc>
                <a:spcPct val="150000"/>
              </a:lnSpc>
              <a:buSzPct val="200000"/>
              <a:buFont typeface="Wingdings" pitchFamily="2" charset="2"/>
              <a:buChar char="§"/>
              <a:tabLst>
                <a:tab pos="465138" algn="l"/>
              </a:tabLst>
              <a:defRPr/>
            </a:pPr>
            <a:r>
              <a:rPr lang="en-US" b="1" dirty="0">
                <a:latin typeface="Arial" pitchFamily="34" charset="0"/>
                <a:cs typeface="Arial" pitchFamily="34" charset="0"/>
              </a:rPr>
              <a:t>US dollar therefore has been also seen as the reserve currency for most of the world citizen</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141570"/>
            <a:ext cx="7272808" cy="1754326"/>
          </a:xfrm>
          <a:prstGeom prst="rect">
            <a:avLst/>
          </a:prstGeom>
        </p:spPr>
        <p:txBody>
          <a:bodyPr wrap="square">
            <a:spAutoFit/>
          </a:bodyPr>
          <a:lstStyle/>
          <a:p>
            <a:pPr>
              <a:lnSpc>
                <a:spcPct val="150000"/>
              </a:lnSpc>
              <a:spcBef>
                <a:spcPct val="20000"/>
              </a:spcBef>
              <a:buSzPct val="200000"/>
            </a:pPr>
            <a:r>
              <a:rPr lang="en-US" b="1" dirty="0">
                <a:latin typeface="Arial" pitchFamily="34" charset="0"/>
                <a:cs typeface="Arial" pitchFamily="34" charset="0"/>
              </a:rPr>
              <a:t>However the US has been spending more than what it </a:t>
            </a:r>
            <a:r>
              <a:rPr lang="en-US" b="1" dirty="0" smtClean="0">
                <a:latin typeface="Arial" pitchFamily="34" charset="0"/>
                <a:cs typeface="Arial" pitchFamily="34" charset="0"/>
              </a:rPr>
              <a:t>earns.</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gap between its earnings and spends which has been constantly rising is funded with the help of borrowings </a:t>
            </a:r>
            <a:r>
              <a:rPr lang="en-US" b="1" dirty="0" smtClean="0">
                <a:latin typeface="Arial" pitchFamily="34" charset="0"/>
                <a:cs typeface="Arial" pitchFamily="34" charset="0"/>
              </a:rPr>
              <a:t>from</a:t>
            </a:r>
            <a:br>
              <a:rPr lang="en-US" b="1" dirty="0" smtClean="0">
                <a:latin typeface="Arial" pitchFamily="34" charset="0"/>
                <a:cs typeface="Arial" pitchFamily="34" charset="0"/>
              </a:rPr>
            </a:br>
            <a:r>
              <a:rPr lang="en-US" b="1" dirty="0" smtClean="0">
                <a:latin typeface="Arial" pitchFamily="34" charset="0"/>
                <a:cs typeface="Arial" pitchFamily="34" charset="0"/>
              </a:rPr>
              <a:t>its </a:t>
            </a:r>
            <a:r>
              <a:rPr lang="en-US" b="1" dirty="0">
                <a:latin typeface="Arial" pitchFamily="34" charset="0"/>
                <a:cs typeface="Arial" pitchFamily="34" charset="0"/>
              </a:rPr>
              <a:t>own people as well as from other countries.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1926595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456535"/>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Thus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490008"/>
            <a:ext cx="8064896"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US has been borrowing and borrowing.</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Due to the perceived stability of the dollar the US does not find it difficult to borrow cheap</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When it borrows dollars, it issues bonds to the </a:t>
            </a:r>
            <a:r>
              <a:rPr lang="en-US" b="1" dirty="0" smtClean="0">
                <a:latin typeface="Arial" pitchFamily="34" charset="0"/>
                <a:cs typeface="Arial" pitchFamily="34" charset="0"/>
              </a:rPr>
              <a:t>lenders</a:t>
            </a:r>
            <a:br>
              <a:rPr lang="en-US" b="1" dirty="0" smtClean="0">
                <a:latin typeface="Arial" pitchFamily="34" charset="0"/>
                <a:cs typeface="Arial" pitchFamily="34" charset="0"/>
              </a:rPr>
            </a:br>
            <a:r>
              <a:rPr lang="en-US" b="1" dirty="0" smtClean="0">
                <a:latin typeface="Arial" pitchFamily="34" charset="0"/>
                <a:cs typeface="Arial" pitchFamily="34" charset="0"/>
              </a:rPr>
              <a:t>(there </a:t>
            </a:r>
            <a:r>
              <a:rPr lang="en-US" b="1" dirty="0">
                <a:latin typeface="Arial" pitchFamily="34" charset="0"/>
                <a:cs typeface="Arial" pitchFamily="34" charset="0"/>
              </a:rPr>
              <a:t>bonds are like IOUs)</a:t>
            </a:r>
            <a:br>
              <a:rPr lang="en-US" b="1" dirty="0">
                <a:latin typeface="Arial" pitchFamily="34" charset="0"/>
                <a:cs typeface="Arial" pitchFamily="34" charset="0"/>
              </a:rPr>
            </a:b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Also due to the perceived safety of the dollar the US bonds are rated AAA which qualifies it as one of the safest papers in the world</a:t>
            </a:r>
          </a:p>
        </p:txBody>
      </p:sp>
    </p:spTree>
    <p:extLst>
      <p:ext uri="{BB962C8B-B14F-4D97-AF65-F5344CB8AC3E}">
        <p14:creationId xmlns:p14="http://schemas.microsoft.com/office/powerpoint/2010/main" val="10848300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507831"/>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So</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490008"/>
            <a:ext cx="7272808" cy="337335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US dollar continues to be in demand and hence remains a strong currency</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However the debt that has been created through repeated borrowing has gone too large</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US govt. is now finding it hard to service even the interest on the debt leave alone the principal</a:t>
            </a:r>
          </a:p>
        </p:txBody>
      </p:sp>
    </p:spTree>
    <p:extLst>
      <p:ext uri="{BB962C8B-B14F-4D97-AF65-F5344CB8AC3E}">
        <p14:creationId xmlns:p14="http://schemas.microsoft.com/office/powerpoint/2010/main" val="26334314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196752"/>
            <a:ext cx="727280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The republicans (the opposition party) are demanding a ceiling on such borrowings because they believe that such borrowings will increase the debt burden on future generation without helping the economy, unless a plan to make a balance act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238135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052736"/>
            <a:ext cx="7488832" cy="3831818"/>
          </a:xfrm>
          <a:prstGeom prst="rect">
            <a:avLst/>
          </a:prstGeom>
        </p:spPr>
        <p:txBody>
          <a:bodyPr wrap="square">
            <a:spAutoFit/>
          </a:bodyPr>
          <a:lstStyle/>
          <a:p>
            <a:pPr>
              <a:lnSpc>
                <a:spcPct val="150000"/>
              </a:lnSpc>
              <a:defRPr/>
            </a:pPr>
            <a:r>
              <a:rPr lang="en-US" b="1" dirty="0">
                <a:latin typeface="Arial" pitchFamily="34" charset="0"/>
                <a:cs typeface="Arial" pitchFamily="34" charset="0"/>
              </a:rPr>
              <a:t>Debt ceiling would be possible if the government decides</a:t>
            </a:r>
          </a:p>
          <a:p>
            <a:pPr marL="465138" indent="-465138">
              <a:lnSpc>
                <a:spcPct val="150000"/>
              </a:lnSpc>
              <a:buFont typeface="Wingdings" pitchFamily="2" charset="2"/>
              <a:buChar char="q"/>
              <a:tabLst>
                <a:tab pos="465138" algn="l"/>
              </a:tabLst>
              <a:defRPr/>
            </a:pPr>
            <a:r>
              <a:rPr lang="en-US" b="1" dirty="0">
                <a:latin typeface="Arial" pitchFamily="34" charset="0"/>
                <a:cs typeface="Arial" pitchFamily="34" charset="0"/>
              </a:rPr>
              <a:t>To reduce their expenditure</a:t>
            </a:r>
          </a:p>
          <a:p>
            <a:pPr marL="465138" indent="-465138">
              <a:lnSpc>
                <a:spcPct val="150000"/>
              </a:lnSpc>
              <a:buFont typeface="Wingdings" pitchFamily="2" charset="2"/>
              <a:buChar char="q"/>
              <a:tabLst>
                <a:tab pos="465138" algn="l"/>
              </a:tabLst>
              <a:defRPr/>
            </a:pPr>
            <a:r>
              <a:rPr lang="en-US" b="1" dirty="0">
                <a:latin typeface="Arial" pitchFamily="34" charset="0"/>
                <a:cs typeface="Arial" pitchFamily="34" charset="0"/>
              </a:rPr>
              <a:t>To increase taxes </a:t>
            </a:r>
          </a:p>
          <a:p>
            <a:pPr>
              <a:lnSpc>
                <a:spcPct val="150000"/>
              </a:lnSpc>
              <a:defRPr/>
            </a:pPr>
            <a:r>
              <a:rPr lang="en-US" b="1" dirty="0">
                <a:latin typeface="Arial" pitchFamily="34" charset="0"/>
                <a:cs typeface="Arial" pitchFamily="34" charset="0"/>
              </a:rPr>
              <a:t>If government were to reduce expenditure its demand for goods and services would reduce. If the government would increase taxes the demand for goods and services of the people at large would reduce. Both these would impact the industry and create job losses. The government wants to stay away from such unpopular measures and instead would like to increase the debt ceiling.</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8305357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113225"/>
            <a:ext cx="7056784" cy="2585323"/>
          </a:xfrm>
          <a:prstGeom prst="rect">
            <a:avLst/>
          </a:prstGeom>
        </p:spPr>
        <p:txBody>
          <a:bodyPr wrap="square">
            <a:spAutoFit/>
          </a:bodyPr>
          <a:lstStyle/>
          <a:p>
            <a:pPr>
              <a:lnSpc>
                <a:spcPct val="150000"/>
              </a:lnSpc>
            </a:pPr>
            <a:r>
              <a:rPr lang="en-US" b="1" dirty="0">
                <a:latin typeface="Arial" pitchFamily="34" charset="0"/>
                <a:cs typeface="Arial" pitchFamily="34" charset="0"/>
              </a:rPr>
              <a:t>The government also needs to fund the social security and medical schemes which support the people for which it needs to borrow</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Thus </a:t>
            </a:r>
            <a:r>
              <a:rPr lang="en-US" b="1" dirty="0">
                <a:latin typeface="Arial" pitchFamily="34" charset="0"/>
                <a:cs typeface="Arial" pitchFamily="34" charset="0"/>
              </a:rPr>
              <a:t>the government has a lot to lose in terms of </a:t>
            </a:r>
            <a:r>
              <a:rPr lang="en-US" b="1" dirty="0" smtClean="0">
                <a:latin typeface="Arial" pitchFamily="34" charset="0"/>
                <a:cs typeface="Arial" pitchFamily="34" charset="0"/>
              </a:rPr>
              <a:t>credibility</a:t>
            </a:r>
            <a:br>
              <a:rPr lang="en-US" b="1" dirty="0" smtClean="0">
                <a:latin typeface="Arial" pitchFamily="34" charset="0"/>
                <a:cs typeface="Arial" pitchFamily="34" charset="0"/>
              </a:rPr>
            </a:br>
            <a:r>
              <a:rPr lang="en-US" b="1" dirty="0" smtClean="0">
                <a:latin typeface="Arial" pitchFamily="34" charset="0"/>
                <a:cs typeface="Arial" pitchFamily="34" charset="0"/>
              </a:rPr>
              <a:t>if </a:t>
            </a:r>
            <a:r>
              <a:rPr lang="en-US" b="1" dirty="0">
                <a:latin typeface="Arial" pitchFamily="34" charset="0"/>
                <a:cs typeface="Arial" pitchFamily="34" charset="0"/>
              </a:rPr>
              <a:t>it were to limit the borrowing</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506177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4653136"/>
            <a:ext cx="3528392" cy="1338828"/>
          </a:xfrm>
          <a:prstGeom prst="rect">
            <a:avLst/>
          </a:prstGeom>
        </p:spPr>
        <p:txBody>
          <a:bodyPr wrap="square">
            <a:spAutoFit/>
          </a:bodyPr>
          <a:lstStyle/>
          <a:p>
            <a:pPr>
              <a:lnSpc>
                <a:spcPct val="150000"/>
              </a:lnSpc>
            </a:pPr>
            <a:r>
              <a:rPr lang="en-US" b="1" dirty="0">
                <a:latin typeface="Arial" pitchFamily="34" charset="0"/>
                <a:cs typeface="Arial" pitchFamily="34" charset="0"/>
              </a:rPr>
              <a:t>However what would </a:t>
            </a:r>
            <a:r>
              <a:rPr lang="en-US" b="1" dirty="0" smtClean="0">
                <a:latin typeface="Arial" pitchFamily="34" charset="0"/>
                <a:cs typeface="Arial" pitchFamily="34" charset="0"/>
              </a:rPr>
              <a:t>happen</a:t>
            </a:r>
            <a:br>
              <a:rPr lang="en-US" b="1" dirty="0" smtClean="0">
                <a:latin typeface="Arial" pitchFamily="34" charset="0"/>
                <a:cs typeface="Arial" pitchFamily="34" charset="0"/>
              </a:rPr>
            </a:br>
            <a:r>
              <a:rPr lang="en-US" b="1" dirty="0" smtClean="0">
                <a:latin typeface="Arial" pitchFamily="34" charset="0"/>
                <a:cs typeface="Arial" pitchFamily="34" charset="0"/>
              </a:rPr>
              <a:t>it the US </a:t>
            </a:r>
            <a:r>
              <a:rPr lang="en-US" b="1" dirty="0">
                <a:latin typeface="Arial" pitchFamily="34" charset="0"/>
                <a:cs typeface="Arial" pitchFamily="34" charset="0"/>
              </a:rPr>
              <a:t>government fails </a:t>
            </a:r>
            <a:r>
              <a:rPr lang="en-US" b="1" dirty="0" smtClean="0">
                <a:latin typeface="Arial" pitchFamily="34" charset="0"/>
                <a:cs typeface="Arial" pitchFamily="34" charset="0"/>
              </a:rPr>
              <a:t>to</a:t>
            </a:r>
            <a:br>
              <a:rPr lang="en-US" b="1" dirty="0" smtClean="0">
                <a:latin typeface="Arial" pitchFamily="34" charset="0"/>
                <a:cs typeface="Arial" pitchFamily="34" charset="0"/>
              </a:rPr>
            </a:br>
            <a:r>
              <a:rPr lang="en-US" b="1" dirty="0" smtClean="0">
                <a:latin typeface="Arial" pitchFamily="34" charset="0"/>
                <a:cs typeface="Arial" pitchFamily="34" charset="0"/>
              </a:rPr>
              <a:t>service </a:t>
            </a:r>
            <a:r>
              <a:rPr lang="en-US" b="1" dirty="0">
                <a:latin typeface="Arial" pitchFamily="34" charset="0"/>
                <a:cs typeface="Arial" pitchFamily="34" charset="0"/>
              </a:rPr>
              <a:t>its debt?</a:t>
            </a:r>
            <a:endParaRPr lang="en-US" b="1" dirty="0">
              <a:latin typeface="Arial" pitchFamily="34" charset="0"/>
              <a:cs typeface="Arial" pitchFamily="34" charset="0"/>
            </a:endParaRP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5381028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052736"/>
            <a:ext cx="7416824" cy="4247317"/>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If the US were to start defaulting on its debt, the rating enjoyed by its Bonds would reduce from AAA to perhaps AA.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If this were to happen most of the lenders would get uncomfortable holding on to the US Bonds and would want start selling the bonds.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Higher selling pressure would cause the US bonds to lose value which would cause further stress for many countries who are sitting on huge piles of US Bond.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Thus the contagion of default would impact the world.</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236672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124744"/>
            <a:ext cx="7488832" cy="880369"/>
          </a:xfrm>
          <a:prstGeom prst="rect">
            <a:avLst/>
          </a:prstGeom>
        </p:spPr>
        <p:txBody>
          <a:bodyPr wrap="square">
            <a:spAutoFit/>
          </a:bodyPr>
          <a:lstStyle/>
          <a:p>
            <a:pPr>
              <a:lnSpc>
                <a:spcPct val="150000"/>
              </a:lnSpc>
            </a:pPr>
            <a:r>
              <a:rPr lang="en-US" b="1" dirty="0">
                <a:latin typeface="Arial" pitchFamily="34" charset="0"/>
                <a:cs typeface="Arial" pitchFamily="34" charset="0"/>
              </a:rPr>
              <a:t>From the US point of view its currency would get weak </a:t>
            </a:r>
            <a:r>
              <a:rPr lang="en-US" b="1" dirty="0" smtClean="0">
                <a:latin typeface="Arial" pitchFamily="34" charset="0"/>
                <a:cs typeface="Arial" pitchFamily="34" charset="0"/>
              </a:rPr>
              <a:t>and</a:t>
            </a:r>
            <a:br>
              <a:rPr lang="en-US" b="1" dirty="0" smtClean="0">
                <a:latin typeface="Arial" pitchFamily="34" charset="0"/>
                <a:cs typeface="Arial" pitchFamily="34" charset="0"/>
              </a:rPr>
            </a:br>
            <a:r>
              <a:rPr lang="en-US" b="1" dirty="0" smtClean="0">
                <a:latin typeface="Arial" pitchFamily="34" charset="0"/>
                <a:cs typeface="Arial" pitchFamily="34" charset="0"/>
              </a:rPr>
              <a:t>it </a:t>
            </a:r>
            <a:r>
              <a:rPr lang="en-US" b="1" dirty="0">
                <a:latin typeface="Arial" pitchFamily="34" charset="0"/>
                <a:cs typeface="Arial" pitchFamily="34" charset="0"/>
              </a:rPr>
              <a:t>would become difficult for it to borrow at low rates.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4634420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
        <p:nvSpPr>
          <p:cNvPr id="3" name="Rectangle 2"/>
          <p:cNvSpPr/>
          <p:nvPr/>
        </p:nvSpPr>
        <p:spPr>
          <a:xfrm>
            <a:off x="683568" y="1086112"/>
            <a:ext cx="7560840" cy="2126864"/>
          </a:xfrm>
          <a:prstGeom prst="rect">
            <a:avLst/>
          </a:prstGeom>
        </p:spPr>
        <p:txBody>
          <a:bodyPr wrap="square">
            <a:spAutoFit/>
          </a:bodyPr>
          <a:lstStyle/>
          <a:p>
            <a:pPr>
              <a:lnSpc>
                <a:spcPct val="150000"/>
              </a:lnSpc>
            </a:pPr>
            <a:r>
              <a:rPr lang="en-US" b="1" dirty="0">
                <a:latin typeface="Arial" pitchFamily="34" charset="0"/>
                <a:cs typeface="Arial" pitchFamily="34" charset="0"/>
              </a:rPr>
              <a:t>If the US won’t be able to borrow effectively it will not be able to fund its deficit. This would lead to liquidity crunch. Factories would close down and job losses would alarmingly go up. Eventually this would lead to chaos and anarchy not only in the US but across the world like what happened in 2008 meltdown.</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869160"/>
            <a:ext cx="3528392" cy="923330"/>
          </a:xfrm>
          <a:prstGeom prst="rect">
            <a:avLst/>
          </a:prstGeom>
        </p:spPr>
        <p:txBody>
          <a:bodyPr wrap="square">
            <a:spAutoFit/>
          </a:bodyPr>
          <a:lstStyle/>
          <a:p>
            <a:pPr>
              <a:lnSpc>
                <a:spcPct val="150000"/>
              </a:lnSpc>
            </a:pPr>
            <a:r>
              <a:rPr lang="en-US" b="1" dirty="0">
                <a:latin typeface="Arial" pitchFamily="34" charset="0"/>
                <a:cs typeface="Arial" pitchFamily="34" charset="0"/>
              </a:rPr>
              <a:t>Hope this story has </a:t>
            </a:r>
            <a:r>
              <a:rPr lang="en-US" b="1" dirty="0" smtClean="0">
                <a:latin typeface="Arial" pitchFamily="34" charset="0"/>
                <a:cs typeface="Arial" pitchFamily="34" charset="0"/>
              </a:rPr>
              <a:t>clarified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issue of “US debt ceiling”</a:t>
            </a: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US DEBT CEILING CRISIS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983202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043609" y="2060848"/>
            <a:ext cx="3960440" cy="935769"/>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2228</TotalTime>
  <Words>757</Words>
  <Application>Microsoft Office PowerPoint</Application>
  <PresentationFormat>On-screen Show (4:3)</PresentationFormat>
  <Paragraphs>62</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249</cp:revision>
  <dcterms:created xsi:type="dcterms:W3CDTF">2013-10-22T09:41:31Z</dcterms:created>
  <dcterms:modified xsi:type="dcterms:W3CDTF">2014-03-05T06:55:27Z</dcterms:modified>
</cp:coreProperties>
</file>