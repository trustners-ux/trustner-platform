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58" r:id="rId3"/>
    <p:sldId id="318" r:id="rId4"/>
    <p:sldId id="353" r:id="rId5"/>
    <p:sldId id="334" r:id="rId6"/>
    <p:sldId id="335" r:id="rId7"/>
    <p:sldId id="359" r:id="rId8"/>
    <p:sldId id="360" r:id="rId9"/>
    <p:sldId id="354" r:id="rId10"/>
    <p:sldId id="361" r:id="rId11"/>
    <p:sldId id="362" r:id="rId12"/>
    <p:sldId id="363" r:id="rId13"/>
    <p:sldId id="364" r:id="rId14"/>
    <p:sldId id="357" r:id="rId15"/>
    <p:sldId id="287"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3/4/2014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3/4/2014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3/4/2014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3/4/2014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3/4/2014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353943"/>
          </a:xfrm>
          <a:prstGeom prst="rect">
            <a:avLst/>
          </a:prstGeom>
          <a:noFill/>
        </p:spPr>
        <p:txBody>
          <a:bodyPr wrap="square" rtlCol="0">
            <a:spAutoFit/>
          </a:bodyPr>
          <a:lstStyle/>
          <a:p>
            <a:pPr algn="ctr"/>
            <a:r>
              <a:rPr lang="en-US" sz="1700" b="1" dirty="0" smtClean="0">
                <a:solidFill>
                  <a:schemeClr val="bg1"/>
                </a:solidFill>
                <a:latin typeface="Arial" pitchFamily="34" charset="0"/>
                <a:cs typeface="Arial" pitchFamily="34" charset="0"/>
              </a:rPr>
              <a:t>OUTRIGHT MONETARY TRANSACTION</a:t>
            </a:r>
            <a:endParaRPr lang="en-US" sz="17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62494" y="2184315"/>
            <a:ext cx="3528392" cy="792781"/>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 Understanding </a:t>
            </a:r>
            <a:r>
              <a:rPr lang="en-US" sz="1600" b="1" dirty="0" smtClean="0">
                <a:latin typeface="Arial" pitchFamily="34" charset="0"/>
                <a:cs typeface="Arial" pitchFamily="34" charset="0"/>
              </a:rPr>
              <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Outright </a:t>
            </a:r>
            <a:r>
              <a:rPr lang="en-US" sz="1600" b="1" dirty="0">
                <a:latin typeface="Arial" pitchFamily="34" charset="0"/>
                <a:cs typeface="Arial" pitchFamily="34" charset="0"/>
              </a:rPr>
              <a:t>Monetary Transaction</a:t>
            </a:r>
            <a:endParaRPr lang="en-US" sz="1700" b="1" baseline="70000"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386044" cy="341632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On 6th September, the ECB announced that it will buy unlimited amounts of sovereign debt from troubled countries of the euro zone, subject to certain conditions. The ECB has named this “Outright Monetary Transaction” or OMT.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When we say that the ECB will buy debt, it means that the ECB will buy government bonds of troubled economies of the euro zone. </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32085" y="2060848"/>
            <a:ext cx="3584331" cy="4247317"/>
          </a:xfrm>
          <a:prstGeom prst="rect">
            <a:avLst/>
          </a:prstGeom>
        </p:spPr>
        <p:txBody>
          <a:bodyPr wrap="square">
            <a:spAutoFit/>
          </a:bodyPr>
          <a:lstStyle/>
          <a:p>
            <a:pPr>
              <a:lnSpc>
                <a:spcPct val="150000"/>
              </a:lnSpc>
            </a:pPr>
            <a:r>
              <a:rPr lang="en-US" b="1" dirty="0">
                <a:latin typeface="Arial" pitchFamily="34" charset="0"/>
                <a:cs typeface="Arial" pitchFamily="34" charset="0"/>
              </a:rPr>
              <a:t>What this means that countries with troubled economies will get the much needed liquidity. However, simply by infusing liquidity, would the troubled economies see their pain evaporate? Is it enough to inject liquidity or is there something else that is the need of the hour? </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1981463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1063753"/>
            <a:ext cx="7416824" cy="3000821"/>
          </a:xfrm>
          <a:prstGeom prst="rect">
            <a:avLst/>
          </a:prstGeom>
        </p:spPr>
        <p:txBody>
          <a:bodyPr wrap="square">
            <a:spAutoFit/>
          </a:bodyPr>
          <a:lstStyle/>
          <a:p>
            <a:pPr>
              <a:lnSpc>
                <a:spcPct val="150000"/>
              </a:lnSpc>
            </a:pPr>
            <a:r>
              <a:rPr lang="en-US" b="1" dirty="0">
                <a:latin typeface="Arial" pitchFamily="34" charset="0"/>
                <a:cs typeface="Arial" pitchFamily="34" charset="0"/>
              </a:rPr>
              <a:t>To get a better insight into this problem, let's look at the following example:-</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Let's say Sunil is a brilliant lad. He is 20 years old and goes to a one of the most prestigious colleges of the city. His father </a:t>
            </a:r>
            <a:r>
              <a:rPr lang="en-US" b="1" dirty="0" smtClean="0">
                <a:latin typeface="Arial" pitchFamily="34" charset="0"/>
                <a:cs typeface="Arial" pitchFamily="34" charset="0"/>
              </a:rPr>
              <a:t>is</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CEO of a company and he lives in one of the best </a:t>
            </a:r>
            <a:r>
              <a:rPr lang="en-US" b="1" dirty="0" smtClean="0">
                <a:latin typeface="Arial" pitchFamily="34" charset="0"/>
                <a:cs typeface="Arial" pitchFamily="34" charset="0"/>
              </a:rPr>
              <a:t>locations</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a:latin typeface="Arial" pitchFamily="34" charset="0"/>
                <a:cs typeface="Arial" pitchFamily="34" charset="0"/>
              </a:rPr>
              <a:t>the city. </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533306" cy="3000821"/>
          </a:xfrm>
          <a:prstGeom prst="rect">
            <a:avLst/>
          </a:prstGeom>
        </p:spPr>
        <p:txBody>
          <a:bodyPr wrap="square">
            <a:spAutoFit/>
          </a:bodyPr>
          <a:lstStyle/>
          <a:p>
            <a:pPr>
              <a:lnSpc>
                <a:spcPct val="150000"/>
              </a:lnSpc>
            </a:pPr>
            <a:r>
              <a:rPr lang="en-US" b="1" dirty="0">
                <a:latin typeface="Arial" pitchFamily="34" charset="0"/>
                <a:cs typeface="Arial" pitchFamily="34" charset="0"/>
              </a:rPr>
              <a:t>Everything seems to be on track for Sunil except for one problem. Sunil suffers from obesity. His weight weighs him down and prevents him to attain the potential that he deserves.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There is a constant tussle between his health and weight and of late, his health has been on the receiving end. Sunil has been suffering from intense back pain.</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821338" cy="2585323"/>
          </a:xfrm>
          <a:prstGeom prst="rect">
            <a:avLst/>
          </a:prstGeom>
        </p:spPr>
        <p:txBody>
          <a:bodyPr wrap="square">
            <a:spAutoFit/>
          </a:bodyPr>
          <a:lstStyle/>
          <a:p>
            <a:pPr>
              <a:lnSpc>
                <a:spcPct val="150000"/>
              </a:lnSpc>
            </a:pPr>
            <a:r>
              <a:rPr lang="en-US" b="1" dirty="0">
                <a:latin typeface="Arial" pitchFamily="34" charset="0"/>
                <a:cs typeface="Arial" pitchFamily="34" charset="0"/>
              </a:rPr>
              <a:t>The doctor prescribes pain killers which gives Sunil immediate relief.</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So Sunil continues to live life and does little to cut down his weight. As a result of his lackadaisical ways, the back pain returns with increased intensity. This time when he visits his doctor, he is advised bed </a:t>
            </a:r>
            <a:r>
              <a:rPr lang="en-US" b="1" dirty="0" smtClean="0">
                <a:latin typeface="Arial" pitchFamily="34" charset="0"/>
                <a:cs typeface="Arial" pitchFamily="34" charset="0"/>
              </a:rPr>
              <a:t>rest along </a:t>
            </a:r>
            <a:r>
              <a:rPr lang="en-US" b="1" dirty="0">
                <a:latin typeface="Arial" pitchFamily="34" charset="0"/>
                <a:cs typeface="Arial" pitchFamily="34" charset="0"/>
              </a:rPr>
              <a:t>with pain killers.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4859455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46129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Moreover, the doctor tells him that the bed-rest and pain killers is necessary for getting relief but it not sufficient enough to cure him of the problem. For a sustained solution, he should follow a disciplined exercise and diet regime.</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9256497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3059832" y="1052736"/>
            <a:ext cx="3816424" cy="2031325"/>
          </a:xfrm>
          <a:prstGeom prst="rect">
            <a:avLst/>
          </a:prstGeom>
          <a:noFill/>
        </p:spPr>
        <p:txBody>
          <a:bodyPr wrap="square" rtlCol="0">
            <a:spAutoFit/>
          </a:bodyPr>
          <a:lstStyle/>
          <a:p>
            <a:r>
              <a:rPr lang="en-US" b="1" dirty="0">
                <a:latin typeface="Arial" pitchFamily="34" charset="0"/>
                <a:cs typeface="Arial" pitchFamily="34" charset="0"/>
              </a:rPr>
              <a:t>Now let us revisit the OMT relief for the troubled economies and establish the connection. What would be taken as the pain killer and what </a:t>
            </a:r>
            <a:r>
              <a:rPr lang="en-US" b="1" dirty="0" smtClean="0">
                <a:latin typeface="Arial" pitchFamily="34" charset="0"/>
                <a:cs typeface="Arial" pitchFamily="34" charset="0"/>
              </a:rPr>
              <a:t>would construe </a:t>
            </a:r>
            <a:r>
              <a:rPr lang="en-US" b="1" dirty="0">
                <a:latin typeface="Arial" pitchFamily="34" charset="0"/>
                <a:cs typeface="Arial" pitchFamily="34" charset="0"/>
              </a:rPr>
              <a:t>to be the discipline exercise and diet regime?</a:t>
            </a:r>
            <a:endParaRPr lang="en-US" b="1" dirty="0">
              <a:latin typeface="Arial" pitchFamily="34" charset="0"/>
              <a:cs typeface="Arial" pitchFamily="34" charset="0"/>
            </a:endParaRPr>
          </a:p>
        </p:txBody>
      </p:sp>
      <p:sp>
        <p:nvSpPr>
          <p:cNvPr id="6" name="TextBox 5"/>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4786366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461298" cy="2585323"/>
          </a:xfrm>
          <a:prstGeom prst="rect">
            <a:avLst/>
          </a:prstGeom>
        </p:spPr>
        <p:txBody>
          <a:bodyPr wrap="square">
            <a:spAutoFit/>
          </a:bodyPr>
          <a:lstStyle/>
          <a:p>
            <a:pPr>
              <a:lnSpc>
                <a:spcPct val="150000"/>
              </a:lnSpc>
            </a:pPr>
            <a:r>
              <a:rPr lang="en-US" b="1" dirty="0">
                <a:latin typeface="Arial" pitchFamily="34" charset="0"/>
                <a:cs typeface="Arial" pitchFamily="34" charset="0"/>
              </a:rPr>
              <a:t>A closer analysis would reveal that the OMT can be interpreted to be the “Pain-killers” while structural economic reforms and austerity measures would be taken to mean the disciplined regime.</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So just as in the case of Sunil, these economies will certainly get some respite due to this sudden injection of liquidity.</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8827415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605314" cy="1754326"/>
          </a:xfrm>
          <a:prstGeom prst="rect">
            <a:avLst/>
          </a:prstGeom>
        </p:spPr>
        <p:txBody>
          <a:bodyPr wrap="square">
            <a:spAutoFit/>
          </a:bodyPr>
          <a:lstStyle/>
          <a:p>
            <a:pPr>
              <a:lnSpc>
                <a:spcPct val="150000"/>
              </a:lnSpc>
            </a:pPr>
            <a:r>
              <a:rPr lang="en-US" b="1" dirty="0">
                <a:latin typeface="Arial" pitchFamily="34" charset="0"/>
                <a:cs typeface="Arial" pitchFamily="34" charset="0"/>
              </a:rPr>
              <a:t>But if they do not embark upon the disciplined course of reforms and take some measures to bring in a culture of voluntary austerity, the problems that these countries have got entangled with may not get solved. </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7177827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2169825"/>
          </a:xfrm>
          <a:prstGeom prst="rect">
            <a:avLst/>
          </a:prstGeom>
        </p:spPr>
        <p:txBody>
          <a:bodyPr wrap="square">
            <a:spAutoFit/>
          </a:bodyPr>
          <a:lstStyle/>
          <a:p>
            <a:pPr>
              <a:lnSpc>
                <a:spcPct val="150000"/>
              </a:lnSpc>
            </a:pPr>
            <a:r>
              <a:rPr lang="en-US" b="1" dirty="0">
                <a:latin typeface="Arial" pitchFamily="34" charset="0"/>
                <a:cs typeface="Arial" pitchFamily="34" charset="0"/>
              </a:rPr>
              <a:t>Moreover, this infusion of liquidity, will give the troubled economies immediate relief by ensuring that their borrowing costs don't spiral beyond control. But one should bear in mind that higher liquidity could see money getting diverted towards commodities, putting upward pressure on their prices.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7713769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605314" cy="2585323"/>
          </a:xfrm>
          <a:prstGeom prst="rect">
            <a:avLst/>
          </a:prstGeom>
        </p:spPr>
        <p:txBody>
          <a:bodyPr wrap="square">
            <a:spAutoFit/>
          </a:bodyPr>
          <a:lstStyle/>
          <a:p>
            <a:pPr>
              <a:lnSpc>
                <a:spcPct val="150000"/>
              </a:lnSpc>
            </a:pPr>
            <a:r>
              <a:rPr lang="en-US" b="1" dirty="0">
                <a:latin typeface="Arial" pitchFamily="34" charset="0"/>
                <a:cs typeface="Arial" pitchFamily="34" charset="0"/>
              </a:rPr>
              <a:t>In India, the liquidity could translate into euphoria in the stock market, for which the markets rallied by 2% after the announcement.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But at the same time, if commodity prices continue to increase it could put adverse pressure on the fiscal deficit as well as cause the rupee to weaken due to </a:t>
            </a:r>
            <a:r>
              <a:rPr lang="en-US" b="1" dirty="0" smtClean="0">
                <a:latin typeface="Arial" pitchFamily="34" charset="0"/>
                <a:cs typeface="Arial" pitchFamily="34" charset="0"/>
              </a:rPr>
              <a:t>crude purchase </a:t>
            </a:r>
            <a:r>
              <a:rPr lang="en-US" b="1" dirty="0">
                <a:latin typeface="Arial" pitchFamily="34" charset="0"/>
                <a:cs typeface="Arial" pitchFamily="34" charset="0"/>
              </a:rPr>
              <a:t>at higher prices.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9858351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653412"/>
            <a:ext cx="4392488" cy="1295868"/>
          </a:xfrm>
          <a:prstGeom prst="rect">
            <a:avLst/>
          </a:prstGeom>
        </p:spPr>
        <p:txBody>
          <a:bodyPr wrap="square">
            <a:spAutoFit/>
          </a:bodyPr>
          <a:lstStyle/>
          <a:p>
            <a:pPr>
              <a:lnSpc>
                <a:spcPct val="150000"/>
              </a:lnSpc>
            </a:pPr>
            <a:r>
              <a:rPr lang="en-US" b="1" dirty="0">
                <a:latin typeface="Arial" pitchFamily="34" charset="0"/>
                <a:cs typeface="Arial" pitchFamily="34" charset="0"/>
              </a:rPr>
              <a:t>Hope this lesson has helped </a:t>
            </a:r>
            <a:r>
              <a:rPr lang="en-US" b="1" dirty="0" smtClean="0">
                <a:latin typeface="Arial" pitchFamily="34" charset="0"/>
                <a:cs typeface="Arial" pitchFamily="34" charset="0"/>
              </a:rPr>
              <a:t>you</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a:latin typeface="Arial" pitchFamily="34" charset="0"/>
                <a:cs typeface="Arial" pitchFamily="34" charset="0"/>
              </a:rPr>
              <a:t>understanding the </a:t>
            </a:r>
            <a:r>
              <a:rPr lang="en-US" b="1" dirty="0" smtClean="0">
                <a:latin typeface="Arial" pitchFamily="34" charset="0"/>
                <a:cs typeface="Arial" pitchFamily="34" charset="0"/>
              </a:rPr>
              <a:t>term</a:t>
            </a:r>
            <a:br>
              <a:rPr lang="en-US" b="1" dirty="0" smtClean="0">
                <a:latin typeface="Arial" pitchFamily="34" charset="0"/>
                <a:cs typeface="Arial" pitchFamily="34" charset="0"/>
              </a:rPr>
            </a:br>
            <a:r>
              <a:rPr lang="en-US" b="1" dirty="0" smtClean="0">
                <a:latin typeface="Arial" pitchFamily="34" charset="0"/>
                <a:cs typeface="Arial" pitchFamily="34" charset="0"/>
              </a:rPr>
              <a:t>Outright </a:t>
            </a:r>
            <a:r>
              <a:rPr lang="en-US" b="1" dirty="0">
                <a:latin typeface="Arial" pitchFamily="34" charset="0"/>
                <a:cs typeface="Arial" pitchFamily="34" charset="0"/>
              </a:rPr>
              <a:t>Monetary Transaction</a:t>
            </a:r>
          </a:p>
        </p:txBody>
      </p:sp>
      <p:sp>
        <p:nvSpPr>
          <p:cNvPr id="6" name="TextBox 5"/>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OUTRIGHT MONETARY TRANSACTION</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9668981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59632" y="1988840"/>
            <a:ext cx="3705781" cy="935769"/>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2072</TotalTime>
  <Words>812</Words>
  <Application>Microsoft Office PowerPoint</Application>
  <PresentationFormat>On-screen Show (4:3)</PresentationFormat>
  <Paragraphs>44</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232</cp:revision>
  <dcterms:created xsi:type="dcterms:W3CDTF">2013-10-22T09:41:31Z</dcterms:created>
  <dcterms:modified xsi:type="dcterms:W3CDTF">2014-03-04T11:10:09Z</dcterms:modified>
</cp:coreProperties>
</file>