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358" r:id="rId3"/>
    <p:sldId id="353" r:id="rId4"/>
    <p:sldId id="354" r:id="rId5"/>
    <p:sldId id="318" r:id="rId6"/>
    <p:sldId id="334" r:id="rId7"/>
    <p:sldId id="335" r:id="rId8"/>
    <p:sldId id="357" r:id="rId9"/>
    <p:sldId id="287" r:id="rId10"/>
    <p:sldId id="273"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91" autoAdjust="0"/>
    <p:restoredTop sz="94595" autoAdjust="0"/>
  </p:normalViewPr>
  <p:slideViewPr>
    <p:cSldViewPr>
      <p:cViewPr varScale="1">
        <p:scale>
          <a:sx n="66" d="100"/>
          <a:sy n="66" d="100"/>
        </p:scale>
        <p:origin x="-1200" y="-1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0E05B8-715C-4FAF-BC8A-A5F0580F534E}" type="datetimeFigureOut">
              <a:rPr lang="en-US" smtClean="0"/>
              <a:pPr/>
              <a:t>3/4/2014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2A204C8-0732-4ACB-BFB7-2799F61E2A0A}" type="slidenum">
              <a:rPr lang="en-IN" smtClean="0"/>
              <a:pPr/>
              <a:t>‹#›</a:t>
            </a:fld>
            <a:endParaRPr lang="en-IN"/>
          </a:p>
        </p:txBody>
      </p:sp>
    </p:spTree>
    <p:extLst>
      <p:ext uri="{BB962C8B-B14F-4D97-AF65-F5344CB8AC3E}">
        <p14:creationId xmlns:p14="http://schemas.microsoft.com/office/powerpoint/2010/main" val="1720646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A7C54CB-0529-403B-B072-87342900D6A8}" type="datetimeFigureOut">
              <a:rPr lang="en-US" smtClean="0"/>
              <a:pPr/>
              <a:t>3/4/2014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A7C54CB-0529-403B-B072-87342900D6A8}" type="datetimeFigureOut">
              <a:rPr lang="en-US" smtClean="0"/>
              <a:pPr/>
              <a:t>3/4/2014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7C54CB-0529-403B-B072-87342900D6A8}" type="datetimeFigureOut">
              <a:rPr lang="en-US" smtClean="0"/>
              <a:pPr/>
              <a:t>3/4/2014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A7C54CB-0529-403B-B072-87342900D6A8}" type="datetimeFigureOut">
              <a:rPr lang="en-US" smtClean="0"/>
              <a:pPr/>
              <a:t>3/4/2014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A7C54CB-0529-403B-B072-87342900D6A8}" type="datetimeFigureOut">
              <a:rPr lang="en-US" smtClean="0"/>
              <a:pPr/>
              <a:t>3/4/2014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A60570A3-6B67-4C18-ABAC-AE1ACD0864A2}"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C54CB-0529-403B-B072-87342900D6A8}" type="datetimeFigureOut">
              <a:rPr lang="en-US" smtClean="0"/>
              <a:pPr/>
              <a:t>3/4/2014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60570A3-6B67-4C18-ABAC-AE1ACD0864A2}"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hyperlink" Target="mailto:professor@tataamc.com"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403648" y="2740858"/>
            <a:ext cx="3957590" cy="400110"/>
          </a:xfrm>
          <a:prstGeom prst="rect">
            <a:avLst/>
          </a:prstGeom>
          <a:noFill/>
        </p:spPr>
        <p:txBody>
          <a:bodyPr wrap="square" rtlCol="0">
            <a:spAutoFit/>
          </a:bodyPr>
          <a:lstStyle/>
          <a:p>
            <a:pPr algn="ctr"/>
            <a:r>
              <a:rPr lang="en-US" sz="2000" b="1" dirty="0" smtClean="0">
                <a:solidFill>
                  <a:schemeClr val="bg1"/>
                </a:solidFill>
                <a:latin typeface="Arial" pitchFamily="34" charset="0"/>
                <a:cs typeface="Arial" pitchFamily="34" charset="0"/>
              </a:rPr>
              <a:t>FED TAPERING</a:t>
            </a:r>
            <a:endParaRPr lang="en-IN" sz="2000" b="1" dirty="0">
              <a:solidFill>
                <a:schemeClr val="bg1"/>
              </a:solidFill>
              <a:latin typeface="Arial" pitchFamily="34" charset="0"/>
              <a:cs typeface="Arial" pitchFamily="34" charset="0"/>
            </a:endParaRPr>
          </a:p>
        </p:txBody>
      </p:sp>
      <p:grpSp>
        <p:nvGrpSpPr>
          <p:cNvPr id="8" name="Group 7"/>
          <p:cNvGrpSpPr/>
          <p:nvPr/>
        </p:nvGrpSpPr>
        <p:grpSpPr>
          <a:xfrm>
            <a:off x="-1" y="-1"/>
            <a:ext cx="9144001" cy="6858001"/>
            <a:chOff x="-1" y="-1"/>
            <a:chExt cx="9144001" cy="6858001"/>
          </a:xfrm>
        </p:grpSpPr>
        <p:pic>
          <p:nvPicPr>
            <p:cNvPr id="2050" name="Picture 2" descr="H:\TATA\From Rajni\Jpegs_blank\PSS_LESSONS_PG1.jpg"/>
            <p:cNvPicPr>
              <a:picLocks noChangeAspect="1" noChangeArrowheads="1"/>
            </p:cNvPicPr>
            <p:nvPr/>
          </p:nvPicPr>
          <p:blipFill>
            <a:blip r:embed="rId2" cstate="print"/>
            <a:stretch>
              <a:fillRect/>
            </a:stretch>
          </p:blipFill>
          <p:spPr bwMode="auto">
            <a:xfrm>
              <a:off x="-1" y="-1"/>
              <a:ext cx="9144001" cy="6858001"/>
            </a:xfrm>
            <a:prstGeom prst="rect">
              <a:avLst/>
            </a:prstGeom>
            <a:noFill/>
            <a:ln>
              <a:noFill/>
            </a:ln>
          </p:spPr>
        </p:pic>
        <p:pic>
          <p:nvPicPr>
            <p:cNvPr id="4" name="Picture 23" descr="TMF Logo New.jpg"/>
            <p:cNvPicPr>
              <a:picLocks noChangeAspect="1"/>
            </p:cNvPicPr>
            <p:nvPr/>
          </p:nvPicPr>
          <p:blipFill>
            <a:blip r:embed="rId3" cstate="print"/>
            <a:srcRect/>
            <a:stretch>
              <a:fillRect/>
            </a:stretch>
          </p:blipFill>
          <p:spPr bwMode="auto">
            <a:xfrm>
              <a:off x="2411760" y="5321776"/>
              <a:ext cx="1177849" cy="822960"/>
            </a:xfrm>
            <a:prstGeom prst="rect">
              <a:avLst/>
            </a:prstGeom>
            <a:noFill/>
            <a:ln w="9525">
              <a:noFill/>
              <a:miter lim="800000"/>
              <a:headEnd/>
              <a:tailEnd/>
            </a:ln>
          </p:spPr>
        </p:pic>
        <p:cxnSp>
          <p:nvCxnSpPr>
            <p:cNvPr id="7" name="Straight Connector 6"/>
            <p:cNvCxnSpPr/>
            <p:nvPr/>
          </p:nvCxnSpPr>
          <p:spPr>
            <a:xfrm>
              <a:off x="2123728" y="5301208"/>
              <a:ext cx="0" cy="864096"/>
            </a:xfrm>
            <a:prstGeom prst="line">
              <a:avLst/>
            </a:prstGeom>
          </p:spPr>
          <p:style>
            <a:lnRef idx="1">
              <a:schemeClr val="dk1"/>
            </a:lnRef>
            <a:fillRef idx="0">
              <a:schemeClr val="dk1"/>
            </a:fillRef>
            <a:effectRef idx="0">
              <a:schemeClr val="dk1"/>
            </a:effectRef>
            <a:fontRef idx="minor">
              <a:schemeClr val="tx1"/>
            </a:fontRef>
          </p:style>
        </p:cxnSp>
      </p:grpSp>
      <p:sp>
        <p:nvSpPr>
          <p:cNvPr id="9" name="TextBox 8"/>
          <p:cNvSpPr txBox="1"/>
          <p:nvPr/>
        </p:nvSpPr>
        <p:spPr>
          <a:xfrm>
            <a:off x="971600" y="2852936"/>
            <a:ext cx="4248472" cy="261610"/>
          </a:xfrm>
          <a:prstGeom prst="rect">
            <a:avLst/>
          </a:prstGeom>
          <a:noFill/>
        </p:spPr>
        <p:txBody>
          <a:bodyPr wrap="square" rtlCol="0">
            <a:spAutoFit/>
          </a:bodyPr>
          <a:lstStyle/>
          <a:p>
            <a:pPr algn="ctr"/>
            <a:r>
              <a:rPr lang="en-US" sz="1100" b="1" dirty="0" smtClean="0">
                <a:solidFill>
                  <a:schemeClr val="bg1"/>
                </a:solidFill>
                <a:latin typeface="Arial" pitchFamily="34" charset="0"/>
                <a:cs typeface="Arial" pitchFamily="34" charset="0"/>
              </a:rPr>
              <a:t>NOMINAL EXCHANGE RATE AND REAL EXCHANGE RATE</a:t>
            </a:r>
            <a:endParaRPr lang="en-US" sz="11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4.jpg"/>
          <p:cNvPicPr>
            <a:picLocks noChangeAspect="1" noChangeArrowheads="1"/>
          </p:cNvPicPr>
          <p:nvPr/>
        </p:nvPicPr>
        <p:blipFill>
          <a:blip r:embed="rId2" cstate="print"/>
          <a:srcRect/>
          <a:stretch>
            <a:fillRect/>
          </a:stretch>
        </p:blipFill>
        <p:spPr bwMode="auto">
          <a:xfrm>
            <a:off x="0" y="0"/>
            <a:ext cx="9144000" cy="6858001"/>
          </a:xfrm>
          <a:prstGeom prst="rect">
            <a:avLst/>
          </a:prstGeom>
          <a:noFill/>
        </p:spPr>
      </p:pic>
      <p:sp>
        <p:nvSpPr>
          <p:cNvPr id="3" name="TextBox 2"/>
          <p:cNvSpPr txBox="1"/>
          <p:nvPr/>
        </p:nvSpPr>
        <p:spPr>
          <a:xfrm>
            <a:off x="1331640" y="1406967"/>
            <a:ext cx="3528392" cy="1661993"/>
          </a:xfrm>
          <a:prstGeom prst="rect">
            <a:avLst/>
          </a:prstGeom>
          <a:noFill/>
        </p:spPr>
        <p:txBody>
          <a:bodyPr wrap="square" rtlCol="0">
            <a:spAutoFit/>
          </a:bodyPr>
          <a:lstStyle/>
          <a:p>
            <a:pPr>
              <a:lnSpc>
                <a:spcPct val="150000"/>
              </a:lnSpc>
            </a:pPr>
            <a:r>
              <a:rPr lang="en-US" sz="1700" b="1" dirty="0">
                <a:latin typeface="Arial" pitchFamily="34" charset="0"/>
                <a:cs typeface="Arial" pitchFamily="34" charset="0"/>
              </a:rPr>
              <a:t>Understanding the difference between nominal exchange rate and real exchange rate</a:t>
            </a:r>
          </a:p>
          <a:p>
            <a:pPr>
              <a:lnSpc>
                <a:spcPct val="150000"/>
              </a:lnSpc>
            </a:pPr>
            <a:r>
              <a:rPr lang="en-US" sz="1700" b="1" dirty="0" smtClean="0">
                <a:latin typeface="Arial" pitchFamily="34" charset="0"/>
                <a:cs typeface="Arial" pitchFamily="34" charset="0"/>
              </a:rPr>
              <a:t>–  </a:t>
            </a:r>
            <a:r>
              <a:rPr lang="en-US" sz="1700" b="1" dirty="0">
                <a:latin typeface="Arial" pitchFamily="34" charset="0"/>
                <a:cs typeface="Arial" pitchFamily="34" charset="0"/>
              </a:rPr>
              <a:t>By Prof. </a:t>
            </a:r>
            <a:r>
              <a:rPr lang="en-US" sz="1700" b="1" i="1" dirty="0">
                <a:latin typeface="Arial" pitchFamily="34" charset="0"/>
                <a:cs typeface="Arial" pitchFamily="34" charset="0"/>
              </a:rPr>
              <a:t>Simply</a:t>
            </a:r>
            <a:r>
              <a:rPr lang="en-US" sz="1700" b="1" dirty="0">
                <a:latin typeface="Arial" pitchFamily="34" charset="0"/>
                <a:cs typeface="Arial" pitchFamily="34" charset="0"/>
              </a:rPr>
              <a:t> Simple </a:t>
            </a:r>
            <a:r>
              <a:rPr lang="en-US" sz="1700" b="1" baseline="70000" dirty="0">
                <a:latin typeface="Arial" pitchFamily="34" charset="0"/>
                <a:cs typeface="Arial" pitchFamily="34" charset="0"/>
              </a:rPr>
              <a:t>TM</a:t>
            </a:r>
            <a:endParaRPr lang="en-US" sz="1700" b="1" baseline="70000" dirty="0">
              <a:latin typeface="Arial" pitchFamily="34" charset="0"/>
              <a:cs typeface="Arial" pitchFamily="34" charset="0"/>
            </a:endParaRPr>
          </a:p>
        </p:txBody>
      </p:sp>
    </p:spTree>
    <p:extLst>
      <p:ext uri="{BB962C8B-B14F-4D97-AF65-F5344CB8AC3E}">
        <p14:creationId xmlns:p14="http://schemas.microsoft.com/office/powerpoint/2010/main" val="21745218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4139952" y="4437112"/>
            <a:ext cx="403244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When we say that $1=</a:t>
            </a:r>
            <a:r>
              <a:rPr lang="en-US" b="1" dirty="0" err="1">
                <a:latin typeface="Arial" pitchFamily="34" charset="0"/>
                <a:cs typeface="Arial" pitchFamily="34" charset="0"/>
              </a:rPr>
              <a:t>Rs</a:t>
            </a:r>
            <a:r>
              <a:rPr lang="en-US" b="1" dirty="0">
                <a:latin typeface="Arial" pitchFamily="34" charset="0"/>
                <a:cs typeface="Arial" pitchFamily="34" charset="0"/>
              </a:rPr>
              <a:t>. 40we</a:t>
            </a:r>
            <a:r>
              <a:rPr lang="en-US" b="1" dirty="0" smtClean="0">
                <a:latin typeface="Arial" pitchFamily="34" charset="0"/>
                <a:cs typeface="Arial" pitchFamily="34" charset="0"/>
              </a:rPr>
              <a:t> </a:t>
            </a:r>
            <a:r>
              <a:rPr lang="en-US" b="1" dirty="0">
                <a:latin typeface="Arial" pitchFamily="34" charset="0"/>
                <a:cs typeface="Arial" pitchFamily="34" charset="0"/>
              </a:rPr>
              <a:t>are talking about </a:t>
            </a:r>
            <a:r>
              <a:rPr lang="en-US" b="1" dirty="0" smtClean="0">
                <a:latin typeface="Arial" pitchFamily="34" charset="0"/>
                <a:cs typeface="Arial" pitchFamily="34" charset="0"/>
              </a:rPr>
              <a:t>nominal exchange </a:t>
            </a:r>
            <a:r>
              <a:rPr lang="en-US" b="1" dirty="0">
                <a:latin typeface="Arial" pitchFamily="34" charset="0"/>
                <a:cs typeface="Arial" pitchFamily="34" charset="0"/>
              </a:rPr>
              <a:t>rate. This is the rate at which you can purchase dollars. </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NOMINAL EXCHANGE RATE AND REAL EXCHANGE RATE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11981463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2.jpg"/>
          <p:cNvPicPr>
            <a:picLocks noChangeAspect="1" noChangeArrowheads="1"/>
          </p:cNvPicPr>
          <p:nvPr/>
        </p:nvPicPr>
        <p:blipFill>
          <a:blip r:embed="rId2" cstate="print"/>
          <a:srcRect/>
          <a:stretch>
            <a:fillRect/>
          </a:stretch>
        </p:blipFill>
        <p:spPr bwMode="auto">
          <a:xfrm>
            <a:off x="0" y="-1"/>
            <a:ext cx="9144000" cy="6858001"/>
          </a:xfrm>
          <a:prstGeom prst="rect">
            <a:avLst/>
          </a:prstGeom>
          <a:ln w="228600" cap="sq" cmpd="thickThin">
            <a:solidFill>
              <a:srgbClr val="000000"/>
            </a:solidFill>
            <a:prstDash val="solid"/>
            <a:miter lim="800000"/>
          </a:ln>
          <a:effectLst>
            <a:innerShdw blurRad="76200">
              <a:srgbClr val="000000"/>
            </a:innerShdw>
          </a:effectLst>
        </p:spPr>
      </p:pic>
      <p:sp>
        <p:nvSpPr>
          <p:cNvPr id="4" name="TextBox 3"/>
          <p:cNvSpPr txBox="1"/>
          <p:nvPr/>
        </p:nvSpPr>
        <p:spPr>
          <a:xfrm>
            <a:off x="3093368" y="1196752"/>
            <a:ext cx="3710880" cy="1703030"/>
          </a:xfrm>
          <a:prstGeom prst="rect">
            <a:avLst/>
          </a:prstGeom>
          <a:noFill/>
        </p:spPr>
        <p:txBody>
          <a:bodyPr wrap="square" rtlCol="0">
            <a:spAutoFit/>
          </a:bodyPr>
          <a:lstStyle/>
          <a:p>
            <a:pPr>
              <a:lnSpc>
                <a:spcPct val="150000"/>
              </a:lnSpc>
            </a:pPr>
            <a:r>
              <a:rPr lang="en-US" b="1" dirty="0">
                <a:latin typeface="Arial" pitchFamily="34" charset="0"/>
                <a:cs typeface="Arial" pitchFamily="34" charset="0"/>
              </a:rPr>
              <a:t>Now that we understand what is “Nominal” exchange </a:t>
            </a:r>
            <a:r>
              <a:rPr lang="en-US" b="1" dirty="0" smtClean="0">
                <a:latin typeface="Arial" pitchFamily="34" charset="0"/>
                <a:cs typeface="Arial" pitchFamily="34" charset="0"/>
              </a:rPr>
              <a:t>rate,</a:t>
            </a:r>
            <a:br>
              <a:rPr lang="en-US" b="1" dirty="0" smtClean="0">
                <a:latin typeface="Arial" pitchFamily="34" charset="0"/>
                <a:cs typeface="Arial" pitchFamily="34" charset="0"/>
              </a:rPr>
            </a:br>
            <a:r>
              <a:rPr lang="en-US" b="1" dirty="0" smtClean="0">
                <a:latin typeface="Arial" pitchFamily="34" charset="0"/>
                <a:cs typeface="Arial" pitchFamily="34" charset="0"/>
              </a:rPr>
              <a:t>let’s </a:t>
            </a:r>
            <a:r>
              <a:rPr lang="en-US" b="1" dirty="0">
                <a:latin typeface="Arial" pitchFamily="34" charset="0"/>
                <a:cs typeface="Arial" pitchFamily="34" charset="0"/>
              </a:rPr>
              <a:t>understand  what “Real” exchange rate is all about…</a:t>
            </a:r>
            <a:endParaRPr lang="en-US" b="1" dirty="0">
              <a:latin typeface="Arial" pitchFamily="34" charset="0"/>
              <a:cs typeface="Arial" pitchFamily="34" charset="0"/>
            </a:endParaRPr>
          </a:p>
        </p:txBody>
      </p:sp>
      <p:sp>
        <p:nvSpPr>
          <p:cNvPr id="6" name="TextBox 5"/>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NOMINAL EXCHANGE RATE AND REAL EXCHANGE RATE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47863668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TextBox 2"/>
          <p:cNvSpPr txBox="1"/>
          <p:nvPr/>
        </p:nvSpPr>
        <p:spPr>
          <a:xfrm>
            <a:off x="714348" y="1000108"/>
            <a:ext cx="7098012" cy="3831818"/>
          </a:xfrm>
          <a:prstGeom prst="rect">
            <a:avLst/>
          </a:prstGeom>
          <a:noFill/>
        </p:spPr>
        <p:txBody>
          <a:bodyPr wrap="square" rtlCol="0">
            <a:spAutoFit/>
          </a:bodyPr>
          <a:lstStyle/>
          <a:p>
            <a:pPr marL="342900" indent="-342900">
              <a:lnSpc>
                <a:spcPct val="150000"/>
              </a:lnSpc>
            </a:pPr>
            <a:r>
              <a:rPr lang="en-US" b="1" dirty="0">
                <a:latin typeface="Arial" pitchFamily="34" charset="0"/>
                <a:cs typeface="Arial" pitchFamily="34" charset="0"/>
              </a:rPr>
              <a:t>To understand this let’s consider an analogy:-</a:t>
            </a:r>
          </a:p>
          <a:p>
            <a:pPr marL="342900" indent="-342900">
              <a:lnSpc>
                <a:spcPct val="150000"/>
              </a:lnSpc>
            </a:pPr>
            <a:endParaRPr lang="en-US" b="1" dirty="0">
              <a:latin typeface="Arial" pitchFamily="34" charset="0"/>
              <a:cs typeface="Arial" pitchFamily="34" charset="0"/>
            </a:endParaRP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Let’s say the nominal exchange rates between the currencies of US &amp; India are in the ratio of 1:40. </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means that  $1 = </a:t>
            </a:r>
            <a:r>
              <a:rPr lang="en-US" b="1" dirty="0" err="1">
                <a:latin typeface="Arial" pitchFamily="34" charset="0"/>
                <a:cs typeface="Arial" pitchFamily="34" charset="0"/>
              </a:rPr>
              <a:t>Rs</a:t>
            </a:r>
            <a:r>
              <a:rPr lang="en-US" b="1" dirty="0">
                <a:latin typeface="Arial" pitchFamily="34" charset="0"/>
                <a:cs typeface="Arial" pitchFamily="34" charset="0"/>
              </a:rPr>
              <a:t>. 40.</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Now let’s say the cost of a McDonald’s Burger in the US is $1 . </a:t>
            </a:r>
          </a:p>
          <a:p>
            <a:pPr marL="465138" indent="-465138">
              <a:lnSpc>
                <a:spcPct val="150000"/>
              </a:lnSpc>
              <a:buFont typeface="Wingdings" pitchFamily="2" charset="2"/>
              <a:buChar char="q"/>
              <a:tabLst>
                <a:tab pos="465138" algn="l"/>
              </a:tabLst>
            </a:pPr>
            <a:r>
              <a:rPr lang="en-US" b="1" dirty="0">
                <a:latin typeface="Arial" pitchFamily="34" charset="0"/>
                <a:cs typeface="Arial" pitchFamily="34" charset="0"/>
              </a:rPr>
              <a:t>This means that for a US resident earning in US dollars, the cost of the Burger in India should be </a:t>
            </a:r>
            <a:r>
              <a:rPr lang="en-US" b="1" dirty="0" err="1">
                <a:latin typeface="Arial" pitchFamily="34" charset="0"/>
                <a:cs typeface="Arial" pitchFamily="34" charset="0"/>
              </a:rPr>
              <a:t>Rs</a:t>
            </a:r>
            <a:r>
              <a:rPr lang="en-US" b="1" dirty="0">
                <a:latin typeface="Arial" pitchFamily="34" charset="0"/>
                <a:cs typeface="Arial" pitchFamily="34" charset="0"/>
              </a:rPr>
              <a:t>. 40.</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NOMINAL EXCHANGE RATE AND REAL EXCHANGE RATE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827584" y="1063753"/>
            <a:ext cx="7272808" cy="2585323"/>
          </a:xfrm>
          <a:prstGeom prst="rect">
            <a:avLst/>
          </a:prstGeom>
        </p:spPr>
        <p:txBody>
          <a:bodyPr wrap="square">
            <a:spAutoFit/>
          </a:bodyPr>
          <a:lstStyle/>
          <a:p>
            <a:pPr marL="465138" indent="-465138">
              <a:lnSpc>
                <a:spcPct val="150000"/>
              </a:lnSpc>
              <a:buFontTx/>
              <a:buAutoNum type="arabicPeriod"/>
              <a:tabLst>
                <a:tab pos="465138" algn="l"/>
              </a:tabLst>
            </a:pPr>
            <a:r>
              <a:rPr lang="en-US" b="1" dirty="0">
                <a:latin typeface="Arial" pitchFamily="34" charset="0"/>
                <a:cs typeface="Arial" pitchFamily="34" charset="0"/>
              </a:rPr>
              <a:t>Now suppose the rate of inflation in India is 10% while the rate of inflation in US is 0%.</a:t>
            </a:r>
          </a:p>
          <a:p>
            <a:pPr marL="465138" indent="-465138">
              <a:lnSpc>
                <a:spcPct val="150000"/>
              </a:lnSpc>
              <a:buFontTx/>
              <a:buAutoNum type="arabicPeriod"/>
              <a:tabLst>
                <a:tab pos="465138" algn="l"/>
              </a:tabLst>
            </a:pPr>
            <a:r>
              <a:rPr lang="en-US" b="1" dirty="0">
                <a:latin typeface="Arial" pitchFamily="34" charset="0"/>
                <a:cs typeface="Arial" pitchFamily="34" charset="0"/>
              </a:rPr>
              <a:t>Due to this, the cost of the Burger in India would actually be equal </a:t>
            </a:r>
            <a:r>
              <a:rPr lang="en-US" b="1" dirty="0" smtClean="0">
                <a:latin typeface="Arial" pitchFamily="34" charset="0"/>
                <a:cs typeface="Arial" pitchFamily="34" charset="0"/>
              </a:rPr>
              <a:t>to </a:t>
            </a:r>
            <a:r>
              <a:rPr lang="en-US" b="1" dirty="0" err="1" smtClean="0">
                <a:latin typeface="Arial" pitchFamily="34" charset="0"/>
                <a:cs typeface="Arial" pitchFamily="34" charset="0"/>
              </a:rPr>
              <a:t>Rs</a:t>
            </a:r>
            <a:r>
              <a:rPr lang="en-US" b="1" dirty="0" smtClean="0">
                <a:latin typeface="Arial" pitchFamily="34" charset="0"/>
                <a:cs typeface="Arial" pitchFamily="34" charset="0"/>
              </a:rPr>
              <a:t> </a:t>
            </a:r>
            <a:r>
              <a:rPr lang="en-US" b="1" dirty="0">
                <a:latin typeface="Arial" pitchFamily="34" charset="0"/>
                <a:cs typeface="Arial" pitchFamily="34" charset="0"/>
              </a:rPr>
              <a:t>(40x1.1) = </a:t>
            </a:r>
            <a:r>
              <a:rPr lang="en-US" b="1" dirty="0" err="1">
                <a:latin typeface="Arial" pitchFamily="34" charset="0"/>
                <a:cs typeface="Arial" pitchFamily="34" charset="0"/>
              </a:rPr>
              <a:t>Rs</a:t>
            </a:r>
            <a:r>
              <a:rPr lang="en-US" b="1" dirty="0">
                <a:latin typeface="Arial" pitchFamily="34" charset="0"/>
                <a:cs typeface="Arial" pitchFamily="34" charset="0"/>
              </a:rPr>
              <a:t>. 44.</a:t>
            </a:r>
          </a:p>
          <a:p>
            <a:pPr marL="465138" indent="-465138">
              <a:lnSpc>
                <a:spcPct val="150000"/>
              </a:lnSpc>
              <a:buFontTx/>
              <a:buAutoNum type="arabicPeriod"/>
              <a:tabLst>
                <a:tab pos="465138" algn="l"/>
              </a:tabLst>
            </a:pPr>
            <a:r>
              <a:rPr lang="en-US" b="1" dirty="0">
                <a:latin typeface="Arial" pitchFamily="34" charset="0"/>
                <a:cs typeface="Arial" pitchFamily="34" charset="0"/>
              </a:rPr>
              <a:t>Therefore, although the US resident can buy </a:t>
            </a:r>
            <a:r>
              <a:rPr lang="en-US" b="1" dirty="0" err="1">
                <a:latin typeface="Arial" pitchFamily="34" charset="0"/>
                <a:cs typeface="Arial" pitchFamily="34" charset="0"/>
              </a:rPr>
              <a:t>Rs</a:t>
            </a:r>
            <a:r>
              <a:rPr lang="en-US" b="1" dirty="0">
                <a:latin typeface="Arial" pitchFamily="34" charset="0"/>
                <a:cs typeface="Arial" pitchFamily="34" charset="0"/>
              </a:rPr>
              <a:t>. 40 for $1, he cannot purchase the Burger for $1 in India.</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NOMINAL EXCHANGE RATE AND REAL EXCHANGE RATE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manisha\Desktop\From Rajni\Jpegs_blank\PSS_LESSONS_PG3.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6" name="Rectangle 5"/>
          <p:cNvSpPr/>
          <p:nvPr/>
        </p:nvSpPr>
        <p:spPr>
          <a:xfrm>
            <a:off x="711102" y="1092800"/>
            <a:ext cx="7893346" cy="4247317"/>
          </a:xfrm>
          <a:prstGeom prst="rect">
            <a:avLst/>
          </a:prstGeom>
        </p:spPr>
        <p:txBody>
          <a:bodyPr wrap="square">
            <a:spAutoFit/>
          </a:bodyPr>
          <a:lstStyle/>
          <a:p>
            <a:pPr marL="465138" indent="-465138">
              <a:lnSpc>
                <a:spcPct val="150000"/>
              </a:lnSpc>
              <a:buFontTx/>
              <a:buAutoNum type="arabicPeriod"/>
              <a:tabLst>
                <a:tab pos="465138" algn="l"/>
              </a:tabLst>
            </a:pPr>
            <a:r>
              <a:rPr lang="en-US" b="1" dirty="0">
                <a:latin typeface="Arial" pitchFamily="34" charset="0"/>
                <a:cs typeface="Arial" pitchFamily="34" charset="0"/>
              </a:rPr>
              <a:t>By the same token, the Burger becomes more expensive for an Indian resident too even though the nominal exchange rate does not change.</a:t>
            </a:r>
          </a:p>
          <a:p>
            <a:pPr marL="465138" indent="-465138">
              <a:lnSpc>
                <a:spcPct val="150000"/>
              </a:lnSpc>
              <a:buFontTx/>
              <a:buAutoNum type="arabicPeriod"/>
              <a:tabLst>
                <a:tab pos="465138" algn="l"/>
              </a:tabLst>
            </a:pPr>
            <a:endParaRPr lang="en-US" sz="600" b="1" dirty="0">
              <a:latin typeface="Arial" pitchFamily="34" charset="0"/>
              <a:cs typeface="Arial" pitchFamily="34" charset="0"/>
            </a:endParaRPr>
          </a:p>
          <a:p>
            <a:pPr marL="465138" indent="-465138">
              <a:lnSpc>
                <a:spcPct val="150000"/>
              </a:lnSpc>
              <a:buFontTx/>
              <a:buAutoNum type="arabicPeriod"/>
              <a:tabLst>
                <a:tab pos="465138" algn="l"/>
              </a:tabLst>
            </a:pPr>
            <a:r>
              <a:rPr lang="en-US" b="1" dirty="0">
                <a:latin typeface="Arial" pitchFamily="34" charset="0"/>
                <a:cs typeface="Arial" pitchFamily="34" charset="0"/>
              </a:rPr>
              <a:t>This is because, although $1 is still equal to </a:t>
            </a:r>
            <a:r>
              <a:rPr lang="en-US" b="1" dirty="0" err="1">
                <a:latin typeface="Arial" pitchFamily="34" charset="0"/>
                <a:cs typeface="Arial" pitchFamily="34" charset="0"/>
              </a:rPr>
              <a:t>Rs</a:t>
            </a:r>
            <a:r>
              <a:rPr lang="en-US" b="1" dirty="0">
                <a:latin typeface="Arial" pitchFamily="34" charset="0"/>
                <a:cs typeface="Arial" pitchFamily="34" charset="0"/>
              </a:rPr>
              <a:t> 40, an Indian resident needs </a:t>
            </a:r>
            <a:r>
              <a:rPr lang="en-US" b="1" dirty="0" err="1">
                <a:latin typeface="Arial" pitchFamily="34" charset="0"/>
                <a:cs typeface="Arial" pitchFamily="34" charset="0"/>
              </a:rPr>
              <a:t>Rs</a:t>
            </a:r>
            <a:r>
              <a:rPr lang="en-US" b="1" dirty="0">
                <a:latin typeface="Arial" pitchFamily="34" charset="0"/>
                <a:cs typeface="Arial" pitchFamily="34" charset="0"/>
              </a:rPr>
              <a:t>. 44 to purchase the same Burger.</a:t>
            </a:r>
          </a:p>
          <a:p>
            <a:pPr marL="465138" indent="-465138">
              <a:lnSpc>
                <a:spcPct val="150000"/>
              </a:lnSpc>
              <a:buFontTx/>
              <a:buAutoNum type="arabicPeriod"/>
              <a:tabLst>
                <a:tab pos="465138" algn="l"/>
              </a:tabLst>
            </a:pPr>
            <a:endParaRPr lang="en-US" sz="600" b="1" dirty="0">
              <a:latin typeface="Arial" pitchFamily="34" charset="0"/>
              <a:cs typeface="Arial" pitchFamily="34" charset="0"/>
            </a:endParaRPr>
          </a:p>
          <a:p>
            <a:pPr marL="465138" indent="-465138">
              <a:lnSpc>
                <a:spcPct val="150000"/>
              </a:lnSpc>
              <a:buFontTx/>
              <a:buAutoNum type="arabicPeriod"/>
              <a:tabLst>
                <a:tab pos="465138" algn="l"/>
              </a:tabLst>
            </a:pPr>
            <a:r>
              <a:rPr lang="en-US" b="1" dirty="0">
                <a:latin typeface="Arial" pitchFamily="34" charset="0"/>
                <a:cs typeface="Arial" pitchFamily="34" charset="0"/>
              </a:rPr>
              <a:t>Thus this exchange rate, which is in the ratio of 1:44, gets impacted by inflation from the perspective of purchase of products.</a:t>
            </a:r>
          </a:p>
          <a:p>
            <a:pPr marL="465138" indent="-465138">
              <a:lnSpc>
                <a:spcPct val="150000"/>
              </a:lnSpc>
              <a:buFontTx/>
              <a:buAutoNum type="arabicPeriod"/>
              <a:tabLst>
                <a:tab pos="465138" algn="l"/>
              </a:tabLst>
            </a:pPr>
            <a:endParaRPr lang="en-US" sz="600" b="1" dirty="0">
              <a:latin typeface="Arial" pitchFamily="34" charset="0"/>
              <a:cs typeface="Arial" pitchFamily="34" charset="0"/>
            </a:endParaRPr>
          </a:p>
          <a:p>
            <a:pPr marL="465138" indent="-465138">
              <a:lnSpc>
                <a:spcPct val="150000"/>
              </a:lnSpc>
              <a:buFontTx/>
              <a:buAutoNum type="arabicPeriod"/>
              <a:tabLst>
                <a:tab pos="465138" algn="l"/>
              </a:tabLst>
            </a:pPr>
            <a:r>
              <a:rPr lang="en-US" b="1" dirty="0">
                <a:latin typeface="Arial" pitchFamily="34" charset="0"/>
                <a:cs typeface="Arial" pitchFamily="34" charset="0"/>
              </a:rPr>
              <a:t>This is known as the “Real Exchange Rate”.</a:t>
            </a:r>
            <a:endParaRPr lang="en-US" b="1" dirty="0">
              <a:latin typeface="Arial" pitchFamily="34" charset="0"/>
              <a:cs typeface="Arial" pitchFamily="34" charset="0"/>
            </a:endParaRPr>
          </a:p>
        </p:txBody>
      </p:sp>
      <p:sp>
        <p:nvSpPr>
          <p:cNvPr id="5" name="TextBox 4"/>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NOMINAL EXCHANGE RATE AND REAL EXCHANGE RATE</a:t>
            </a:r>
            <a:endParaRPr lang="en-US" sz="2000" b="1" dirty="0">
              <a:solidFill>
                <a:schemeClr val="bg1"/>
              </a:solidFill>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Ramiz\Desktop\From Rajni\Jpegs_blank\PSS_LESSONS_PG6.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3" name="Rectangle 2"/>
          <p:cNvSpPr/>
          <p:nvPr/>
        </p:nvSpPr>
        <p:spPr>
          <a:xfrm>
            <a:off x="3995936" y="4344235"/>
            <a:ext cx="4392488" cy="1754326"/>
          </a:xfrm>
          <a:prstGeom prst="rect">
            <a:avLst/>
          </a:prstGeom>
        </p:spPr>
        <p:txBody>
          <a:bodyPr wrap="square">
            <a:spAutoFit/>
          </a:bodyPr>
          <a:lstStyle/>
          <a:p>
            <a:pPr>
              <a:lnSpc>
                <a:spcPct val="150000"/>
              </a:lnSpc>
            </a:pPr>
            <a:r>
              <a:rPr lang="en-US" b="1" dirty="0">
                <a:latin typeface="Arial" pitchFamily="34" charset="0"/>
                <a:cs typeface="Arial" pitchFamily="34" charset="0"/>
              </a:rPr>
              <a:t>Hope this lesson has succeeded in clarifying the difference between Nominal Exchange Rate and Real Exchange Rate clearly.</a:t>
            </a:r>
            <a:endParaRPr lang="en-US" b="1" dirty="0">
              <a:latin typeface="Arial" pitchFamily="34" charset="0"/>
              <a:cs typeface="Arial" pitchFamily="34" charset="0"/>
            </a:endParaRPr>
          </a:p>
        </p:txBody>
      </p:sp>
      <p:sp>
        <p:nvSpPr>
          <p:cNvPr id="6" name="TextBox 5"/>
          <p:cNvSpPr txBox="1"/>
          <p:nvPr/>
        </p:nvSpPr>
        <p:spPr>
          <a:xfrm>
            <a:off x="683568" y="476672"/>
            <a:ext cx="7272808" cy="400110"/>
          </a:xfrm>
          <a:prstGeom prst="rect">
            <a:avLst/>
          </a:prstGeom>
          <a:noFill/>
        </p:spPr>
        <p:txBody>
          <a:bodyPr wrap="square" rtlCol="0">
            <a:spAutoFit/>
          </a:bodyPr>
          <a:lstStyle/>
          <a:p>
            <a:pPr algn="ctr"/>
            <a:r>
              <a:rPr lang="en-US" sz="2000" b="1" dirty="0">
                <a:solidFill>
                  <a:schemeClr val="bg1"/>
                </a:solidFill>
                <a:latin typeface="Arial" pitchFamily="34" charset="0"/>
                <a:cs typeface="Arial" pitchFamily="34" charset="0"/>
              </a:rPr>
              <a:t>NOMINAL EXCHANGE RATE AND REAL EXCHANGE RATE</a:t>
            </a:r>
            <a:endParaRPr lang="en-US" sz="2000" b="1" dirty="0">
              <a:solidFill>
                <a:schemeClr val="bg1"/>
              </a:solidFill>
              <a:latin typeface="Arial" pitchFamily="34" charset="0"/>
              <a:cs typeface="Arial" pitchFamily="34" charset="0"/>
            </a:endParaRPr>
          </a:p>
        </p:txBody>
      </p:sp>
    </p:spTree>
    <p:extLst>
      <p:ext uri="{BB962C8B-B14F-4D97-AF65-F5344CB8AC3E}">
        <p14:creationId xmlns:p14="http://schemas.microsoft.com/office/powerpoint/2010/main" val="396689811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10705" y="-1"/>
            <a:ext cx="9144000" cy="6858001"/>
            <a:chOff x="0" y="-1"/>
            <a:chExt cx="9144000" cy="6858001"/>
          </a:xfrm>
        </p:grpSpPr>
        <p:pic>
          <p:nvPicPr>
            <p:cNvPr id="9" name="Picture 2" descr="C:\Users\manisha\Desktop\From Rajni\Jpegs_blank\PSS_LESSONS_PG4.jpg"/>
            <p:cNvPicPr>
              <a:picLocks noChangeAspect="1" noChangeArrowheads="1"/>
            </p:cNvPicPr>
            <p:nvPr/>
          </p:nvPicPr>
          <p:blipFill>
            <a:blip r:embed="rId2" cstate="print"/>
            <a:srcRect/>
            <a:stretch>
              <a:fillRect/>
            </a:stretch>
          </p:blipFill>
          <p:spPr bwMode="auto">
            <a:xfrm>
              <a:off x="0" y="-1"/>
              <a:ext cx="9144000" cy="6858001"/>
            </a:xfrm>
            <a:prstGeom prst="rect">
              <a:avLst/>
            </a:prstGeom>
            <a:noFill/>
          </p:spPr>
        </p:pic>
        <p:pic>
          <p:nvPicPr>
            <p:cNvPr id="10" name="Picture 23" descr="TMF Logo New.jpg"/>
            <p:cNvPicPr>
              <a:picLocks noChangeAspect="1"/>
            </p:cNvPicPr>
            <p:nvPr/>
          </p:nvPicPr>
          <p:blipFill>
            <a:blip r:embed="rId3" cstate="print"/>
            <a:srcRect/>
            <a:stretch>
              <a:fillRect/>
            </a:stretch>
          </p:blipFill>
          <p:spPr bwMode="auto">
            <a:xfrm>
              <a:off x="7773739" y="285750"/>
              <a:ext cx="974725" cy="681038"/>
            </a:xfrm>
            <a:prstGeom prst="rect">
              <a:avLst/>
            </a:prstGeom>
            <a:noFill/>
            <a:ln w="9525">
              <a:noFill/>
              <a:miter lim="800000"/>
              <a:headEnd/>
              <a:tailEnd/>
            </a:ln>
          </p:spPr>
        </p:pic>
      </p:grpSp>
      <p:sp>
        <p:nvSpPr>
          <p:cNvPr id="11" name="TextBox 10"/>
          <p:cNvSpPr txBox="1"/>
          <p:nvPr/>
        </p:nvSpPr>
        <p:spPr>
          <a:xfrm>
            <a:off x="1259632" y="1988840"/>
            <a:ext cx="3705781" cy="937757"/>
          </a:xfrm>
          <a:prstGeom prst="rect">
            <a:avLst/>
          </a:prstGeom>
          <a:noFill/>
        </p:spPr>
        <p:txBody>
          <a:bodyPr wrap="square" rtlCol="0">
            <a:spAutoFit/>
          </a:bodyPr>
          <a:lstStyle/>
          <a:p>
            <a:pPr marL="342900" indent="-342900" algn="ctr">
              <a:lnSpc>
                <a:spcPct val="150000"/>
              </a:lnSpc>
              <a:spcBef>
                <a:spcPct val="20000"/>
              </a:spcBef>
            </a:pPr>
            <a:r>
              <a:rPr lang="en-US" b="1" dirty="0">
                <a:latin typeface="Arial" pitchFamily="34" charset="0"/>
                <a:cs typeface="Arial" pitchFamily="34" charset="0"/>
              </a:rPr>
              <a:t>Please give me your feedback at </a:t>
            </a:r>
          </a:p>
          <a:p>
            <a:pPr marL="342900" indent="-342900" algn="ctr">
              <a:lnSpc>
                <a:spcPct val="150000"/>
              </a:lnSpc>
              <a:spcBef>
                <a:spcPct val="20000"/>
              </a:spcBef>
            </a:pPr>
            <a:r>
              <a:rPr lang="en-US" b="1" dirty="0">
                <a:latin typeface="Arial" pitchFamily="34" charset="0"/>
                <a:cs typeface="Arial" pitchFamily="34" charset="0"/>
                <a:hlinkClick r:id="rId4"/>
              </a:rPr>
              <a:t>professor@tataamc.com</a:t>
            </a:r>
            <a:endParaRPr lang="en-US"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latin typeface="Arial" pitchFamily="34" charset="0"/>
              <a:cs typeface="Arial" pitchFamily="34" charset="0"/>
            </a:endParaRPr>
          </a:p>
        </p:txBody>
      </p:sp>
      <p:sp>
        <p:nvSpPr>
          <p:cNvPr id="3" name="Content Placeholder 2"/>
          <p:cNvSpPr>
            <a:spLocks noGrp="1"/>
          </p:cNvSpPr>
          <p:nvPr>
            <p:ph idx="1"/>
          </p:nvPr>
        </p:nvSpPr>
        <p:spPr/>
        <p:txBody>
          <a:bodyPr/>
          <a:lstStyle/>
          <a:p>
            <a:endParaRPr lang="en-US">
              <a:latin typeface="Arial" pitchFamily="34" charset="0"/>
              <a:cs typeface="Arial" pitchFamily="34" charset="0"/>
            </a:endParaRPr>
          </a:p>
        </p:txBody>
      </p:sp>
      <p:pic>
        <p:nvPicPr>
          <p:cNvPr id="1026"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5"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2200" b="1" dirty="0">
              <a:solidFill>
                <a:schemeClr val="bg1"/>
              </a:solidFill>
              <a:latin typeface="Arial" pitchFamily="34" charset="0"/>
              <a:cs typeface="Arial" pitchFamily="34" charset="0"/>
            </a:endParaRPr>
          </a:p>
        </p:txBody>
      </p:sp>
      <p:pic>
        <p:nvPicPr>
          <p:cNvPr id="10" name="Picture 2" descr="C:\Users\Ramiz\Desktop\From Rajni\Jpegs_blank\PSS_LESSONS_PG5.jpg"/>
          <p:cNvPicPr>
            <a:picLocks noChangeAspect="1" noChangeArrowheads="1"/>
          </p:cNvPicPr>
          <p:nvPr/>
        </p:nvPicPr>
        <p:blipFill>
          <a:blip r:embed="rId2" cstate="print"/>
          <a:srcRect/>
          <a:stretch>
            <a:fillRect/>
          </a:stretch>
        </p:blipFill>
        <p:spPr bwMode="auto">
          <a:xfrm>
            <a:off x="0" y="0"/>
            <a:ext cx="9144000" cy="6858000"/>
          </a:xfrm>
          <a:prstGeom prst="rect">
            <a:avLst/>
          </a:prstGeom>
          <a:noFill/>
        </p:spPr>
      </p:pic>
      <p:sp>
        <p:nvSpPr>
          <p:cNvPr id="11" name="TextBox 5"/>
          <p:cNvSpPr txBox="1"/>
          <p:nvPr/>
        </p:nvSpPr>
        <p:spPr>
          <a:xfrm>
            <a:off x="990600" y="457200"/>
            <a:ext cx="69342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200" b="1" dirty="0" smtClean="0">
                <a:solidFill>
                  <a:schemeClr val="bg1"/>
                </a:solidFill>
                <a:latin typeface="Arial" pitchFamily="34" charset="0"/>
                <a:cs typeface="Arial" pitchFamily="34" charset="0"/>
              </a:rPr>
              <a:t>DISCLAIMER</a:t>
            </a:r>
            <a:endParaRPr lang="en-US" sz="2200" b="1" dirty="0">
              <a:solidFill>
                <a:schemeClr val="bg1"/>
              </a:solidFill>
              <a:latin typeface="Arial" pitchFamily="34" charset="0"/>
              <a:cs typeface="Arial" pitchFamily="34" charset="0"/>
            </a:endParaRPr>
          </a:p>
        </p:txBody>
      </p:sp>
      <p:sp>
        <p:nvSpPr>
          <p:cNvPr id="12" name="Rectangle 11"/>
          <p:cNvSpPr/>
          <p:nvPr/>
        </p:nvSpPr>
        <p:spPr>
          <a:xfrm>
            <a:off x="914400" y="1040857"/>
            <a:ext cx="7315200" cy="3093154"/>
          </a:xfrm>
          <a:prstGeom prst="rect">
            <a:avLst/>
          </a:prstGeom>
        </p:spPr>
        <p:txBody>
          <a:bodyPr wrap="square">
            <a:spAutoFit/>
          </a:bodyPr>
          <a:lstStyle/>
          <a:p>
            <a:pPr indent="-1588" algn="just">
              <a:lnSpc>
                <a:spcPct val="150000"/>
              </a:lnSpc>
              <a:buFontTx/>
              <a:buNone/>
            </a:pPr>
            <a:r>
              <a:rPr lang="en-US" sz="1300" b="1" dirty="0" smtClean="0">
                <a:latin typeface="Arial" pitchFamily="34" charset="0"/>
                <a:cs typeface="Arial" pitchFamily="34" charset="0"/>
              </a:rPr>
              <a:t>The views expressed in this lesson are for information purposes only and do not construe to be any investment, legal or taxation advice. The lesson is a conceptual representation and may not include several nuances that are associated and vital. The purpose of this lesson is to clarify the basics of the concept so that readers at large can relate and thereby take more interest in the product / concept. In a nutshell, Professor Simply Simple lessons should be seen from the perspective of it being a primer on financial concepts. The contents are topical in nature and held true at the time of creation of the lesson. This is not indicative of future market trends, nor is Tata Asset Management Ltd. attempting to predict the same. Reprinting any part of this material will be at your own risk. Tata Asset Management Ltd. will not be liable for the consequences of such action.</a:t>
            </a:r>
          </a:p>
        </p:txBody>
      </p:sp>
      <p:sp>
        <p:nvSpPr>
          <p:cNvPr id="13" name="Rectangle 12"/>
          <p:cNvSpPr/>
          <p:nvPr/>
        </p:nvSpPr>
        <p:spPr>
          <a:xfrm>
            <a:off x="990600" y="4529909"/>
            <a:ext cx="7162800" cy="923330"/>
          </a:xfrm>
          <a:prstGeom prst="rect">
            <a:avLst/>
          </a:prstGeom>
        </p:spPr>
        <p:txBody>
          <a:bodyPr wrap="square">
            <a:spAutoFit/>
          </a:bodyPr>
          <a:lstStyle/>
          <a:p>
            <a:pPr algn="ctr">
              <a:lnSpc>
                <a:spcPct val="150000"/>
              </a:lnSpc>
            </a:pPr>
            <a:r>
              <a:rPr lang="en-US" b="1" dirty="0" smtClean="0">
                <a:latin typeface="Arial" pitchFamily="34" charset="0"/>
                <a:cs typeface="Arial" pitchFamily="34" charset="0"/>
              </a:rPr>
              <a:t>Mutual Fund investments are subject to market risks,</a:t>
            </a:r>
            <a:br>
              <a:rPr lang="en-US" b="1" dirty="0" smtClean="0">
                <a:latin typeface="Arial" pitchFamily="34" charset="0"/>
                <a:cs typeface="Arial" pitchFamily="34" charset="0"/>
              </a:rPr>
            </a:br>
            <a:r>
              <a:rPr lang="en-US" b="1" dirty="0" smtClean="0">
                <a:latin typeface="Arial" pitchFamily="34" charset="0"/>
                <a:cs typeface="Arial" pitchFamily="34" charset="0"/>
              </a:rPr>
              <a:t>read all scheme related documents carefully.</a:t>
            </a:r>
            <a:endParaRPr lang="en-US" dirty="0">
              <a:latin typeface="Arial" pitchFamily="34" charset="0"/>
              <a:cs typeface="Arial" pitchFamily="34" charset="0"/>
            </a:endParaRPr>
          </a:p>
        </p:txBody>
      </p:sp>
      <p:cxnSp>
        <p:nvCxnSpPr>
          <p:cNvPr id="15" name="Straight Connector 14"/>
          <p:cNvCxnSpPr/>
          <p:nvPr/>
        </p:nvCxnSpPr>
        <p:spPr>
          <a:xfrm>
            <a:off x="914400" y="4331960"/>
            <a:ext cx="7315200"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2059</TotalTime>
  <Words>547</Words>
  <Application>Microsoft Office PowerPoint</Application>
  <PresentationFormat>On-screen Show (4:3)</PresentationFormat>
  <Paragraphs>34</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manisha</dc:creator>
  <cp:lastModifiedBy>mangeshkambli</cp:lastModifiedBy>
  <cp:revision>227</cp:revision>
  <dcterms:created xsi:type="dcterms:W3CDTF">2013-10-22T09:41:31Z</dcterms:created>
  <dcterms:modified xsi:type="dcterms:W3CDTF">2014-03-04T10:57:06Z</dcterms:modified>
</cp:coreProperties>
</file>