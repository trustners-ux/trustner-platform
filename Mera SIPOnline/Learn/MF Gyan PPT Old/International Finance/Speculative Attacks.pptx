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58" r:id="rId3"/>
    <p:sldId id="353" r:id="rId4"/>
    <p:sldId id="318" r:id="rId5"/>
    <p:sldId id="381" r:id="rId6"/>
    <p:sldId id="382" r:id="rId7"/>
    <p:sldId id="383" r:id="rId8"/>
    <p:sldId id="384" r:id="rId9"/>
    <p:sldId id="385" r:id="rId10"/>
    <p:sldId id="386" r:id="rId11"/>
    <p:sldId id="387" r:id="rId12"/>
    <p:sldId id="388" r:id="rId13"/>
    <p:sldId id="377" r:id="rId14"/>
    <p:sldId id="334" r:id="rId15"/>
    <p:sldId id="389" r:id="rId16"/>
    <p:sldId id="379"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lchaturvedi@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71636"/>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619672" y="1628800"/>
            <a:ext cx="2952328"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p>
          <a:p>
            <a:pPr>
              <a:lnSpc>
                <a:spcPct val="150000"/>
              </a:lnSpc>
            </a:pPr>
            <a:r>
              <a:rPr lang="en-US" b="1" dirty="0" smtClean="0">
                <a:latin typeface="Arial" pitchFamily="34" charset="0"/>
                <a:cs typeface="Arial" pitchFamily="34" charset="0"/>
              </a:rPr>
              <a:t>Speculative </a:t>
            </a:r>
            <a:r>
              <a:rPr lang="en-US" b="1" dirty="0">
                <a:latin typeface="Arial" pitchFamily="34" charset="0"/>
                <a:cs typeface="Arial" pitchFamily="34" charset="0"/>
              </a:rPr>
              <a:t>Attacks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 </a:t>
            </a:r>
            <a:r>
              <a:rPr lang="en-US" b="1" dirty="0">
                <a:latin typeface="Arial" pitchFamily="34" charset="0"/>
                <a:cs typeface="Arial" pitchFamily="34" charset="0"/>
              </a:rPr>
              <a:t>Simple</a:t>
            </a:r>
            <a:endParaRPr lang="en-US"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16016" y="2893000"/>
            <a:ext cx="3816424" cy="3416320"/>
          </a:xfrm>
          <a:prstGeom prst="rect">
            <a:avLst/>
          </a:prstGeom>
        </p:spPr>
        <p:txBody>
          <a:bodyPr wrap="square">
            <a:spAutoFit/>
          </a:bodyPr>
          <a:lstStyle/>
          <a:p>
            <a:pPr>
              <a:lnSpc>
                <a:spcPct val="150000"/>
              </a:lnSpc>
            </a:pPr>
            <a:r>
              <a:rPr lang="en-US" b="1" dirty="0">
                <a:latin typeface="Arial" pitchFamily="34" charset="0"/>
                <a:cs typeface="Arial" pitchFamily="34" charset="0"/>
              </a:rPr>
              <a:t>We have all heard of Financial speculation, which involves the buying &amp; selling of stocks, bonds, currencies, real estate or any other valuable financial instrument </a:t>
            </a:r>
            <a:r>
              <a:rPr lang="en-US" b="1" i="1" dirty="0">
                <a:latin typeface="Arial" pitchFamily="34" charset="0"/>
                <a:cs typeface="Arial" pitchFamily="34" charset="0"/>
              </a:rPr>
              <a:t>owing to anticipated fluctuations in its price with the aim of profiting from it.</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369332"/>
          </a:xfrm>
          <a:prstGeom prst="rect">
            <a:avLst/>
          </a:prstGeom>
          <a:noFill/>
        </p:spPr>
        <p:txBody>
          <a:bodyPr wrap="square" rtlCol="0">
            <a:spAutoFit/>
          </a:bodyPr>
          <a:lstStyle/>
          <a:p>
            <a:pPr algn="ctr"/>
            <a:r>
              <a:rPr lang="en-US" b="1" dirty="0">
                <a:latin typeface="Arial" pitchFamily="34" charset="0"/>
                <a:cs typeface="Arial" pitchFamily="34" charset="0"/>
              </a:rPr>
              <a:t>Simply put…</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12190"/>
            <a:ext cx="7704856" cy="3785652"/>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750" b="1" dirty="0" smtClean="0">
                <a:latin typeface="Arial" pitchFamily="34" charset="0"/>
                <a:cs typeface="Arial" pitchFamily="34" charset="0"/>
              </a:rPr>
              <a:t>Financial </a:t>
            </a:r>
            <a:r>
              <a:rPr lang="en-US" sz="1750" b="1" dirty="0">
                <a:latin typeface="Arial" pitchFamily="34" charset="0"/>
                <a:cs typeface="Arial" pitchFamily="34" charset="0"/>
              </a:rPr>
              <a:t>Speculation is the process </a:t>
            </a:r>
            <a:r>
              <a:rPr lang="en-US" sz="1750" b="1" dirty="0" smtClean="0">
                <a:latin typeface="Arial" pitchFamily="34" charset="0"/>
                <a:cs typeface="Arial" pitchFamily="34" charset="0"/>
              </a:rPr>
              <a:t>of selecting </a:t>
            </a:r>
            <a:r>
              <a:rPr lang="en-US" sz="1750" b="1" dirty="0">
                <a:latin typeface="Arial" pitchFamily="34" charset="0"/>
                <a:cs typeface="Arial" pitchFamily="34" charset="0"/>
              </a:rPr>
              <a:t>investments with higher risk </a:t>
            </a:r>
            <a:r>
              <a:rPr lang="en-US" sz="1750" b="1" dirty="0" smtClean="0">
                <a:latin typeface="Arial" pitchFamily="34" charset="0"/>
                <a:cs typeface="Arial" pitchFamily="34" charset="0"/>
              </a:rPr>
              <a:t>in order </a:t>
            </a:r>
            <a:r>
              <a:rPr lang="en-US" sz="1750" b="1" dirty="0">
                <a:latin typeface="Arial" pitchFamily="34" charset="0"/>
                <a:cs typeface="Arial" pitchFamily="34" charset="0"/>
              </a:rPr>
              <a:t>to profit from an </a:t>
            </a:r>
            <a:r>
              <a:rPr lang="en-US" sz="1750" b="1" dirty="0" smtClean="0">
                <a:latin typeface="Arial" pitchFamily="34" charset="0"/>
                <a:cs typeface="Arial" pitchFamily="34" charset="0"/>
              </a:rPr>
              <a:t>anticipated price </a:t>
            </a:r>
            <a:r>
              <a:rPr lang="en-US" sz="1750" b="1" dirty="0">
                <a:latin typeface="Arial" pitchFamily="34" charset="0"/>
                <a:cs typeface="Arial" pitchFamily="34" charset="0"/>
              </a:rPr>
              <a:t>movement.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50" b="1" dirty="0" smtClean="0">
                <a:latin typeface="Arial" pitchFamily="34" charset="0"/>
                <a:cs typeface="Arial" pitchFamily="34" charset="0"/>
              </a:rPr>
              <a:t>Speculation </a:t>
            </a:r>
            <a:r>
              <a:rPr lang="en-US" sz="1750" b="1" dirty="0">
                <a:latin typeface="Arial" pitchFamily="34" charset="0"/>
                <a:cs typeface="Arial" pitchFamily="34" charset="0"/>
              </a:rPr>
              <a:t>should not be </a:t>
            </a:r>
            <a:r>
              <a:rPr lang="en-US" sz="1750" b="1" dirty="0" smtClean="0">
                <a:latin typeface="Arial" pitchFamily="34" charset="0"/>
                <a:cs typeface="Arial" pitchFamily="34" charset="0"/>
              </a:rPr>
              <a:t>considered purely </a:t>
            </a:r>
            <a:r>
              <a:rPr lang="en-US" sz="1750" b="1" dirty="0">
                <a:latin typeface="Arial" pitchFamily="34" charset="0"/>
                <a:cs typeface="Arial" pitchFamily="34" charset="0"/>
              </a:rPr>
              <a:t>a form of gambling, as </a:t>
            </a:r>
            <a:r>
              <a:rPr lang="en-US" sz="1750" b="1" dirty="0" smtClean="0">
                <a:latin typeface="Arial" pitchFamily="34" charset="0"/>
                <a:cs typeface="Arial" pitchFamily="34" charset="0"/>
              </a:rPr>
              <a:t>speculators do </a:t>
            </a:r>
            <a:r>
              <a:rPr lang="en-US" sz="1750" b="1" dirty="0">
                <a:latin typeface="Arial" pitchFamily="34" charset="0"/>
                <a:cs typeface="Arial" pitchFamily="34" charset="0"/>
              </a:rPr>
              <a:t>make informed decisions </a:t>
            </a:r>
            <a:r>
              <a:rPr lang="en-US" sz="1750" b="1" dirty="0" smtClean="0">
                <a:latin typeface="Arial" pitchFamily="34" charset="0"/>
                <a:cs typeface="Arial" pitchFamily="34" charset="0"/>
              </a:rPr>
              <a:t>before choosing </a:t>
            </a:r>
            <a:r>
              <a:rPr lang="en-US" sz="1750" b="1" dirty="0">
                <a:latin typeface="Arial" pitchFamily="34" charset="0"/>
                <a:cs typeface="Arial" pitchFamily="34" charset="0"/>
              </a:rPr>
              <a:t>to acquire </a:t>
            </a:r>
            <a:r>
              <a:rPr lang="en-US" sz="1750" b="1" dirty="0" smtClean="0">
                <a:latin typeface="Arial" pitchFamily="34" charset="0"/>
                <a:cs typeface="Arial" pitchFamily="34" charset="0"/>
              </a:rPr>
              <a:t>the </a:t>
            </a:r>
            <a:r>
              <a:rPr lang="en-US" sz="1750" b="1" dirty="0">
                <a:latin typeface="Arial" pitchFamily="34" charset="0"/>
                <a:cs typeface="Arial" pitchFamily="34" charset="0"/>
              </a:rPr>
              <a:t>additional risks. </a:t>
            </a:r>
            <a:r>
              <a:rPr lang="en-US" sz="1750" b="1" dirty="0" smtClean="0">
                <a:latin typeface="Arial" pitchFamily="34" charset="0"/>
                <a:cs typeface="Arial" pitchFamily="34" charset="0"/>
              </a:rPr>
              <a:t>In that </a:t>
            </a:r>
            <a:r>
              <a:rPr lang="en-US" sz="1750" b="1" dirty="0">
                <a:latin typeface="Arial" pitchFamily="34" charset="0"/>
                <a:cs typeface="Arial" pitchFamily="34" charset="0"/>
              </a:rPr>
              <a:t>sense, it is a positive, though risky</a:t>
            </a:r>
            <a:r>
              <a:rPr lang="en-US" sz="1750" b="1" dirty="0" smtClean="0">
                <a:latin typeface="Arial" pitchFamily="34" charset="0"/>
                <a:cs typeface="Arial" pitchFamily="34" charset="0"/>
              </a:rPr>
              <a:t>, form </a:t>
            </a:r>
            <a:r>
              <a:rPr lang="en-US" sz="1750" b="1" dirty="0">
                <a:latin typeface="Arial" pitchFamily="34" charset="0"/>
                <a:cs typeface="Arial" pitchFamily="34" charset="0"/>
              </a:rPr>
              <a:t>of investing.</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50" b="1" dirty="0" smtClean="0">
                <a:latin typeface="Arial" pitchFamily="34" charset="0"/>
                <a:cs typeface="Arial" pitchFamily="34" charset="0"/>
              </a:rPr>
              <a:t>But </a:t>
            </a:r>
            <a:r>
              <a:rPr lang="en-US" sz="1750" b="1" dirty="0">
                <a:latin typeface="Arial" pitchFamily="34" charset="0"/>
                <a:cs typeface="Arial" pitchFamily="34" charset="0"/>
              </a:rPr>
              <a:t>speculation cannot be categorized as </a:t>
            </a:r>
            <a:r>
              <a:rPr lang="en-US" sz="1750" b="1" dirty="0" smtClean="0">
                <a:latin typeface="Arial" pitchFamily="34" charset="0"/>
                <a:cs typeface="Arial" pitchFamily="34" charset="0"/>
              </a:rPr>
              <a:t>a traditional </a:t>
            </a:r>
            <a:r>
              <a:rPr lang="en-US" sz="1750" b="1" dirty="0">
                <a:latin typeface="Arial" pitchFamily="34" charset="0"/>
                <a:cs typeface="Arial" pitchFamily="34" charset="0"/>
              </a:rPr>
              <a:t>investment because </a:t>
            </a:r>
            <a:r>
              <a:rPr lang="en-US" sz="1750" b="1" dirty="0" smtClean="0">
                <a:latin typeface="Arial" pitchFamily="34" charset="0"/>
                <a:cs typeface="Arial" pitchFamily="34" charset="0"/>
              </a:rPr>
              <a:t>the acquired </a:t>
            </a:r>
            <a:r>
              <a:rPr lang="en-US" sz="1750" b="1" dirty="0">
                <a:latin typeface="Arial" pitchFamily="34" charset="0"/>
                <a:cs typeface="Arial" pitchFamily="34" charset="0"/>
              </a:rPr>
              <a:t>risk is higher than average.</a:t>
            </a:r>
            <a:endParaRPr lang="en-US" sz="175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507831"/>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So what </a:t>
            </a:r>
            <a:r>
              <a:rPr lang="en-US" b="1" i="1" dirty="0">
                <a:latin typeface="Arial" pitchFamily="34" charset="0"/>
                <a:cs typeface="Arial" pitchFamily="34" charset="0"/>
              </a:rPr>
              <a:t>are</a:t>
            </a:r>
            <a:r>
              <a:rPr lang="en-US" b="1" dirty="0">
                <a:latin typeface="Arial" pitchFamily="34" charset="0"/>
                <a:cs typeface="Arial" pitchFamily="34" charset="0"/>
              </a:rPr>
              <a:t> Speculative Attacks?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128792" cy="3000821"/>
          </a:xfrm>
          <a:prstGeom prst="rect">
            <a:avLst/>
          </a:prstGeom>
        </p:spPr>
        <p:txBody>
          <a:bodyPr wrap="square">
            <a:spAutoFit/>
          </a:bodyPr>
          <a:lstStyle/>
          <a:p>
            <a:pPr>
              <a:lnSpc>
                <a:spcPct val="150000"/>
              </a:lnSpc>
              <a:buFontTx/>
              <a:buNone/>
              <a:tabLst>
                <a:tab pos="344488" algn="l"/>
              </a:tabLst>
            </a:pPr>
            <a:r>
              <a:rPr lang="en-US" b="1" dirty="0">
                <a:latin typeface="Arial" pitchFamily="34" charset="0"/>
                <a:cs typeface="Arial" pitchFamily="34" charset="0"/>
              </a:rPr>
              <a:t>A Speculative Attack, on the other hand, refers to massive selling of domestic ‘</a:t>
            </a:r>
            <a:r>
              <a:rPr lang="en-US" b="1" u="sng" dirty="0">
                <a:latin typeface="Arial" pitchFamily="34" charset="0"/>
                <a:cs typeface="Arial" pitchFamily="34" charset="0"/>
              </a:rPr>
              <a:t>currency</a:t>
            </a:r>
            <a:r>
              <a:rPr lang="en-US" b="1" dirty="0">
                <a:latin typeface="Arial" pitchFamily="34" charset="0"/>
                <a:cs typeface="Arial" pitchFamily="34" charset="0"/>
              </a:rPr>
              <a:t>’ in the </a:t>
            </a:r>
            <a:r>
              <a:rPr lang="en-US" b="1" dirty="0" err="1">
                <a:latin typeface="Arial" pitchFamily="34" charset="0"/>
                <a:cs typeface="Arial" pitchFamily="34" charset="0"/>
              </a:rPr>
              <a:t>forex</a:t>
            </a:r>
            <a:r>
              <a:rPr lang="en-US" b="1" dirty="0">
                <a:latin typeface="Arial" pitchFamily="34" charset="0"/>
                <a:cs typeface="Arial" pitchFamily="34" charset="0"/>
              </a:rPr>
              <a:t> market triggered by misinformation spread by speculators with the aim of profiting from the process. </a:t>
            </a:r>
          </a:p>
          <a:p>
            <a:pPr>
              <a:lnSpc>
                <a:spcPct val="150000"/>
              </a:lnSpc>
              <a:buFontTx/>
              <a:buNone/>
              <a:tabLst>
                <a:tab pos="344488" algn="l"/>
              </a:tabLst>
            </a:pPr>
            <a:endParaRPr lang="en-US" b="1" dirty="0">
              <a:latin typeface="Arial" pitchFamily="34" charset="0"/>
              <a:cs typeface="Arial" pitchFamily="34" charset="0"/>
            </a:endParaRPr>
          </a:p>
          <a:p>
            <a:pPr>
              <a:lnSpc>
                <a:spcPct val="150000"/>
              </a:lnSpc>
              <a:buFontTx/>
              <a:buNone/>
              <a:tabLst>
                <a:tab pos="344488" algn="l"/>
              </a:tabLst>
            </a:pPr>
            <a:r>
              <a:rPr lang="en-US" b="1" dirty="0">
                <a:latin typeface="Arial" pitchFamily="34" charset="0"/>
                <a:cs typeface="Arial" pitchFamily="34" charset="0"/>
              </a:rPr>
              <a:t>In that sense, it becomes a negative form of investing based on greed.</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926595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How are Speculative Attacks set in motion?</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128792"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To give an example, if investors think that the present exchange rate (say </a:t>
            </a:r>
            <a:r>
              <a:rPr lang="en-US" b="1" dirty="0" err="1">
                <a:latin typeface="Arial" pitchFamily="34" charset="0"/>
                <a:cs typeface="Arial" pitchFamily="34" charset="0"/>
              </a:rPr>
              <a:t>Rs</a:t>
            </a:r>
            <a:r>
              <a:rPr lang="en-US" b="1" dirty="0">
                <a:latin typeface="Arial" pitchFamily="34" charset="0"/>
                <a:cs typeface="Arial" pitchFamily="34" charset="0"/>
              </a:rPr>
              <a:t>. 40 for $1) is overvalued, they might expect a devaluation (to, say, </a:t>
            </a:r>
            <a:r>
              <a:rPr lang="en-US" b="1" dirty="0" err="1">
                <a:latin typeface="Arial" pitchFamily="34" charset="0"/>
                <a:cs typeface="Arial" pitchFamily="34" charset="0"/>
              </a:rPr>
              <a:t>Rs</a:t>
            </a:r>
            <a:r>
              <a:rPr lang="en-US" b="1" dirty="0">
                <a:latin typeface="Arial" pitchFamily="34" charset="0"/>
                <a:cs typeface="Arial" pitchFamily="34" charset="0"/>
              </a:rPr>
              <a:t>. 42 for $1) in the near future. This is what is called a negative expectation.</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Some greedy speculators spread misinformation about a possible devaluation in the near future in keeping with the negative expectations and spread panic in the market.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0848300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So…</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272808" cy="175432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Before the attack these speculators buy and hold foreign currency and when the devaluation in the domestic currency takes place, they exchange their foreign currency for a higher sum and thereby profit from it.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633431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Now…</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776864"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triggers panic in the market causing a lot of other investors to also convert their domestic currencies to foreign currencies en masse to escape this loss of </a:t>
            </a:r>
            <a:r>
              <a:rPr lang="en-US" b="1" dirty="0" err="1">
                <a:latin typeface="Arial" pitchFamily="34" charset="0"/>
                <a:cs typeface="Arial" pitchFamily="34" charset="0"/>
              </a:rPr>
              <a:t>Rs</a:t>
            </a:r>
            <a:r>
              <a:rPr lang="en-US" b="1" dirty="0">
                <a:latin typeface="Arial" pitchFamily="34" charset="0"/>
                <a:cs typeface="Arial" pitchFamily="34" charset="0"/>
              </a:rPr>
              <a:t>. 2 (</a:t>
            </a:r>
            <a:r>
              <a:rPr lang="en-US" b="1" dirty="0" err="1">
                <a:latin typeface="Arial" pitchFamily="34" charset="0"/>
                <a:cs typeface="Arial" pitchFamily="34" charset="0"/>
              </a:rPr>
              <a:t>Rs</a:t>
            </a:r>
            <a:r>
              <a:rPr lang="en-US" b="1" dirty="0">
                <a:latin typeface="Arial" pitchFamily="34" charset="0"/>
                <a:cs typeface="Arial" pitchFamily="34" charset="0"/>
              </a:rPr>
              <a:t>. 42 – </a:t>
            </a:r>
            <a:r>
              <a:rPr lang="en-US" b="1" dirty="0" err="1">
                <a:latin typeface="Arial" pitchFamily="34" charset="0"/>
                <a:cs typeface="Arial" pitchFamily="34" charset="0"/>
              </a:rPr>
              <a:t>Rs</a:t>
            </a:r>
            <a:r>
              <a:rPr lang="en-US" b="1" dirty="0">
                <a:latin typeface="Arial" pitchFamily="34" charset="0"/>
                <a:cs typeface="Arial" pitchFamily="34" charset="0"/>
              </a:rPr>
              <a:t>. 40) </a:t>
            </a:r>
            <a:br>
              <a:rPr lang="en-US" b="1" dirty="0">
                <a:latin typeface="Arial" pitchFamily="34" charset="0"/>
                <a:cs typeface="Arial" pitchFamily="34" charset="0"/>
              </a:rPr>
            </a:b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the speculators had purchased foreign currency (at </a:t>
            </a:r>
            <a:r>
              <a:rPr lang="en-US" b="1" dirty="0" err="1">
                <a:latin typeface="Arial" pitchFamily="34" charset="0"/>
                <a:cs typeface="Arial" pitchFamily="34" charset="0"/>
              </a:rPr>
              <a:t>Rs</a:t>
            </a:r>
            <a:r>
              <a:rPr lang="en-US" b="1" dirty="0">
                <a:latin typeface="Arial" pitchFamily="34" charset="0"/>
                <a:cs typeface="Arial" pitchFamily="34" charset="0"/>
              </a:rPr>
              <a:t>. 40 for $1) before devaluation, then they would now earn a profit on it (by selling it to people at, say, </a:t>
            </a:r>
            <a:r>
              <a:rPr lang="en-US" b="1" dirty="0" err="1">
                <a:latin typeface="Arial" pitchFamily="34" charset="0"/>
                <a:cs typeface="Arial" pitchFamily="34" charset="0"/>
              </a:rPr>
              <a:t>Rs</a:t>
            </a:r>
            <a:r>
              <a:rPr lang="en-US" b="1" dirty="0">
                <a:latin typeface="Arial" pitchFamily="34" charset="0"/>
                <a:cs typeface="Arial" pitchFamily="34" charset="0"/>
              </a:rPr>
              <a:t>. 41 for $1 which would still be lower than the expected </a:t>
            </a:r>
            <a:r>
              <a:rPr lang="en-US" b="1" dirty="0" err="1">
                <a:latin typeface="Arial" pitchFamily="34" charset="0"/>
                <a:cs typeface="Arial" pitchFamily="34" charset="0"/>
              </a:rPr>
              <a:t>Rs</a:t>
            </a:r>
            <a:r>
              <a:rPr lang="en-US" b="1" dirty="0">
                <a:latin typeface="Arial" pitchFamily="34" charset="0"/>
                <a:cs typeface="Arial" pitchFamily="34" charset="0"/>
              </a:rPr>
              <a:t>. 42)</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238135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Thus…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272808" cy="133882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possibility of earning a profit by artificially creating a fear of suffering a loss is what sets the wheels of speculative attack in motion.</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8305357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456535"/>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How does one fight it?</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272808" cy="2949525"/>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Plan A: The central bank (the RBI) acting as a guardian of the exchange rate creates a ‘fixed exchange rate’ system.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To give an example, it starts selling foreign currency at a fixed rate of say </a:t>
            </a:r>
            <a:r>
              <a:rPr lang="en-US" b="1" dirty="0" err="1">
                <a:latin typeface="Arial" pitchFamily="34" charset="0"/>
                <a:cs typeface="Arial" pitchFamily="34" charset="0"/>
              </a:rPr>
              <a:t>Rs</a:t>
            </a:r>
            <a:r>
              <a:rPr lang="en-US" b="1" dirty="0">
                <a:latin typeface="Arial" pitchFamily="34" charset="0"/>
                <a:cs typeface="Arial" pitchFamily="34" charset="0"/>
              </a:rPr>
              <a:t>. 40 to undercut the greedy investors (who are selling it at </a:t>
            </a:r>
            <a:r>
              <a:rPr lang="en-US" b="1" dirty="0" err="1">
                <a:latin typeface="Arial" pitchFamily="34" charset="0"/>
                <a:cs typeface="Arial" pitchFamily="34" charset="0"/>
              </a:rPr>
              <a:t>Rs</a:t>
            </a:r>
            <a:r>
              <a:rPr lang="en-US" b="1" dirty="0">
                <a:latin typeface="Arial" pitchFamily="34" charset="0"/>
                <a:cs typeface="Arial" pitchFamily="34" charset="0"/>
              </a:rPr>
              <a:t>. 41) by using the money lying in its reserves.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506177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507831"/>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Now…</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272808"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the attack has been engineered by misguided investors, then timely intervention by the central bank may help stem the problem.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But if the problem leads to a fundamental economic weakness, like depleting the reserves of the central bank, then Plan A  may not suffice and the government would have to look at an alternate measure.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236672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458052" cy="507831"/>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So Plan B…</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490008"/>
            <a:ext cx="7488832"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central bank may simultaneously raise ‘domestic interest rates’, which makes investment in domestic currency more lucrative. </a:t>
            </a:r>
            <a:endParaRPr lang="en-US" b="1" dirty="0" smtClean="0">
              <a:latin typeface="Arial" pitchFamily="34" charset="0"/>
              <a:cs typeface="Arial" pitchFamily="34" charset="0"/>
            </a:endParaRP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High interest rates also make it difficult to obtain domestic currency on credit for speculating in the </a:t>
            </a:r>
            <a:r>
              <a:rPr lang="en-US" b="1" dirty="0" err="1">
                <a:latin typeface="Arial" pitchFamily="34" charset="0"/>
                <a:cs typeface="Arial" pitchFamily="34" charset="0"/>
              </a:rPr>
              <a:t>forex</a:t>
            </a:r>
            <a:r>
              <a:rPr lang="en-US" b="1" dirty="0">
                <a:latin typeface="Arial" pitchFamily="34" charset="0"/>
                <a:cs typeface="Arial" pitchFamily="34" charset="0"/>
              </a:rPr>
              <a:t> market. </a:t>
            </a:r>
            <a:endParaRPr lang="en-US" b="1" dirty="0" smtClean="0">
              <a:latin typeface="Arial" pitchFamily="34" charset="0"/>
              <a:cs typeface="Arial" pitchFamily="34" charset="0"/>
            </a:endParaRP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may help in controlling speculative attacks but may hurt the domestic economy.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634420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924895"/>
            <a:ext cx="3672408" cy="880369"/>
          </a:xfrm>
          <a:prstGeom prst="rect">
            <a:avLst/>
          </a:prstGeom>
        </p:spPr>
        <p:txBody>
          <a:bodyPr wrap="square">
            <a:spAutoFit/>
          </a:bodyPr>
          <a:lstStyle/>
          <a:p>
            <a:pPr>
              <a:lnSpc>
                <a:spcPct val="150000"/>
              </a:lnSpc>
            </a:pPr>
            <a:r>
              <a:rPr lang="en-US" b="1" dirty="0">
                <a:latin typeface="Arial" pitchFamily="34" charset="0"/>
                <a:cs typeface="Arial" pitchFamily="34" charset="0"/>
              </a:rPr>
              <a:t>But what </a:t>
            </a:r>
            <a:r>
              <a:rPr lang="en-US" b="1" dirty="0" smtClean="0">
                <a:latin typeface="Arial" pitchFamily="34" charset="0"/>
                <a:cs typeface="Arial" pitchFamily="34" charset="0"/>
              </a:rPr>
              <a:t>if</a:t>
            </a:r>
            <a:br>
              <a:rPr lang="en-US" b="1" dirty="0" smtClean="0">
                <a:latin typeface="Arial" pitchFamily="34" charset="0"/>
                <a:cs typeface="Arial" pitchFamily="34" charset="0"/>
              </a:rPr>
            </a:br>
            <a:r>
              <a:rPr lang="en-US" b="1" dirty="0" smtClean="0">
                <a:latin typeface="Arial" pitchFamily="34" charset="0"/>
                <a:cs typeface="Arial" pitchFamily="34" charset="0"/>
              </a:rPr>
              <a:t>Plan </a:t>
            </a:r>
            <a:r>
              <a:rPr lang="en-US" b="1" dirty="0">
                <a:latin typeface="Arial" pitchFamily="34" charset="0"/>
                <a:cs typeface="Arial" pitchFamily="34" charset="0"/>
              </a:rPr>
              <a:t>B does not work????</a:t>
            </a:r>
            <a:endParaRPr lang="en-US"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5381028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6984776"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Plan C…</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597139"/>
            <a:ext cx="7560840" cy="35548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‘Capital Fasting’ in the </a:t>
            </a:r>
            <a:r>
              <a:rPr lang="en-US" b="1" dirty="0" err="1">
                <a:latin typeface="Arial" pitchFamily="34" charset="0"/>
                <a:cs typeface="Arial" pitchFamily="34" charset="0"/>
              </a:rPr>
              <a:t>forex</a:t>
            </a:r>
            <a:r>
              <a:rPr lang="en-US" b="1" dirty="0">
                <a:latin typeface="Arial" pitchFamily="34" charset="0"/>
                <a:cs typeface="Arial" pitchFamily="34" charset="0"/>
              </a:rPr>
              <a:t> market </a:t>
            </a:r>
            <a:r>
              <a:rPr lang="en-US" b="1" dirty="0" smtClean="0">
                <a:latin typeface="Arial" pitchFamily="34" charset="0"/>
                <a:cs typeface="Arial" pitchFamily="34" charset="0"/>
              </a:rPr>
              <a:t>may also </a:t>
            </a:r>
            <a:r>
              <a:rPr lang="en-US" b="1" dirty="0">
                <a:latin typeface="Arial" pitchFamily="34" charset="0"/>
                <a:cs typeface="Arial" pitchFamily="34" charset="0"/>
              </a:rPr>
              <a:t>be used in the form of </a:t>
            </a:r>
            <a:r>
              <a:rPr lang="en-US" b="1" dirty="0" smtClean="0">
                <a:latin typeface="Arial" pitchFamily="34" charset="0"/>
                <a:cs typeface="Arial" pitchFamily="34" charset="0"/>
              </a:rPr>
              <a:t>capital controls</a:t>
            </a:r>
            <a:r>
              <a:rPr lang="en-US" b="1" dirty="0">
                <a:latin typeface="Arial" pitchFamily="34" charset="0"/>
                <a:cs typeface="Arial" pitchFamily="34" charset="0"/>
              </a:rPr>
              <a:t>. The central bank may </a:t>
            </a:r>
            <a:r>
              <a:rPr lang="en-US" b="1" dirty="0" smtClean="0">
                <a:latin typeface="Arial" pitchFamily="34" charset="0"/>
                <a:cs typeface="Arial" pitchFamily="34" charset="0"/>
              </a:rPr>
              <a:t>severely restrict </a:t>
            </a:r>
            <a:r>
              <a:rPr lang="en-US" b="1" dirty="0">
                <a:latin typeface="Arial" pitchFamily="34" charset="0"/>
                <a:cs typeface="Arial" pitchFamily="34" charset="0"/>
              </a:rPr>
              <a:t>the limit up to which residents </a:t>
            </a:r>
            <a:r>
              <a:rPr lang="en-US" b="1" dirty="0" smtClean="0">
                <a:latin typeface="Arial" pitchFamily="34" charset="0"/>
                <a:cs typeface="Arial" pitchFamily="34" charset="0"/>
              </a:rPr>
              <a:t>can purchase </a:t>
            </a:r>
            <a:r>
              <a:rPr lang="en-US" b="1" dirty="0">
                <a:latin typeface="Arial" pitchFamily="34" charset="0"/>
                <a:cs typeface="Arial" pitchFamily="34" charset="0"/>
              </a:rPr>
              <a:t>foreign currency.</a:t>
            </a:r>
          </a:p>
          <a:p>
            <a:pPr marL="465138" indent="-465138">
              <a:lnSpc>
                <a:spcPct val="150000"/>
              </a:lnSpc>
              <a:buFont typeface="Wingdings" pitchFamily="2" charset="2"/>
              <a:buChar char="q"/>
              <a:tabLst>
                <a:tab pos="465138" algn="l"/>
              </a:tabLst>
            </a:pPr>
            <a:endParaRPr lang="en-US" sz="12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But, use of capital controls during a crisis </a:t>
            </a:r>
            <a:r>
              <a:rPr lang="en-US" b="1" dirty="0" smtClean="0">
                <a:latin typeface="Arial" pitchFamily="34" charset="0"/>
                <a:cs typeface="Arial" pitchFamily="34" charset="0"/>
              </a:rPr>
              <a:t>can seriously </a:t>
            </a:r>
            <a:r>
              <a:rPr lang="en-US" b="1" dirty="0">
                <a:latin typeface="Arial" pitchFamily="34" charset="0"/>
                <a:cs typeface="Arial" pitchFamily="34" charset="0"/>
              </a:rPr>
              <a:t>affect capital inflows in the future. </a:t>
            </a:r>
          </a:p>
          <a:p>
            <a:pPr marL="465138" indent="-465138">
              <a:lnSpc>
                <a:spcPct val="150000"/>
              </a:lnSpc>
              <a:buFont typeface="Wingdings" pitchFamily="2" charset="2"/>
              <a:buChar char="q"/>
              <a:tabLst>
                <a:tab pos="465138" algn="l"/>
              </a:tabLst>
            </a:pPr>
            <a:endParaRPr lang="en-US" sz="12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After all, nobody would like to go to a </a:t>
            </a:r>
            <a:r>
              <a:rPr lang="en-US" b="1" dirty="0" smtClean="0">
                <a:latin typeface="Arial" pitchFamily="34" charset="0"/>
                <a:cs typeface="Arial" pitchFamily="34" charset="0"/>
              </a:rPr>
              <a:t>theatre that </a:t>
            </a:r>
            <a:r>
              <a:rPr lang="en-US" b="1" dirty="0">
                <a:latin typeface="Arial" pitchFamily="34" charset="0"/>
                <a:cs typeface="Arial" pitchFamily="34" charset="0"/>
              </a:rPr>
              <a:t>shuts all the doors during a fire to </a:t>
            </a:r>
            <a:r>
              <a:rPr lang="en-US" b="1" dirty="0" smtClean="0">
                <a:latin typeface="Arial" pitchFamily="34" charset="0"/>
                <a:cs typeface="Arial" pitchFamily="34" charset="0"/>
              </a:rPr>
              <a:t>prevent a </a:t>
            </a:r>
            <a:r>
              <a:rPr lang="en-US" b="1" dirty="0">
                <a:latin typeface="Arial" pitchFamily="34" charset="0"/>
                <a:cs typeface="Arial" pitchFamily="34" charset="0"/>
              </a:rPr>
              <a:t>stampede.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6984776"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Ultimately…</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
        <p:nvSpPr>
          <p:cNvPr id="3" name="Rectangle 2"/>
          <p:cNvSpPr/>
          <p:nvPr/>
        </p:nvSpPr>
        <p:spPr>
          <a:xfrm>
            <a:off x="683568" y="1597139"/>
            <a:ext cx="7560840" cy="2585323"/>
          </a:xfrm>
          <a:prstGeom prst="rect">
            <a:avLst/>
          </a:prstGeom>
        </p:spPr>
        <p:txBody>
          <a:bodyPr wrap="square">
            <a:spAutoFit/>
          </a:bodyPr>
          <a:lstStyle/>
          <a:p>
            <a:pPr marL="463550" indent="-463550">
              <a:lnSpc>
                <a:spcPct val="150000"/>
              </a:lnSpc>
              <a:buFont typeface="Wingdings" pitchFamily="2" charset="2"/>
              <a:buChar char="q"/>
              <a:tabLst>
                <a:tab pos="465138" algn="l"/>
              </a:tabLst>
            </a:pPr>
            <a:r>
              <a:rPr lang="en-US" b="1" dirty="0">
                <a:latin typeface="Arial" pitchFamily="34" charset="0"/>
                <a:cs typeface="Arial" pitchFamily="34" charset="0"/>
              </a:rPr>
              <a:t>The central bank also has to take note of all costs incurred to implement either Plan A, B or C and their respective benefits. </a:t>
            </a:r>
          </a:p>
          <a:p>
            <a:pPr marL="463550" indent="-463550">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3550" indent="-463550">
              <a:lnSpc>
                <a:spcPct val="150000"/>
              </a:lnSpc>
              <a:buFont typeface="Wingdings" pitchFamily="2" charset="2"/>
              <a:buChar char="q"/>
              <a:tabLst>
                <a:tab pos="465138" algn="l"/>
              </a:tabLst>
            </a:pPr>
            <a:r>
              <a:rPr lang="en-US" b="1" dirty="0">
                <a:latin typeface="Arial" pitchFamily="34" charset="0"/>
                <a:cs typeface="Arial" pitchFamily="34" charset="0"/>
              </a:rPr>
              <a:t>If the costs outweigh benefits, and if there is a genuine demand for foreign currency, then the central bank may even let the currency devalue.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4494779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869160"/>
            <a:ext cx="4320480" cy="872034"/>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a:t>
            </a:r>
            <a:r>
              <a:rPr lang="en-US" b="1" dirty="0" smtClean="0">
                <a:latin typeface="Arial" pitchFamily="34" charset="0"/>
                <a:cs typeface="Arial" pitchFamily="34" charset="0"/>
              </a:rPr>
              <a:t>of Speculative </a:t>
            </a:r>
            <a:r>
              <a:rPr lang="en-US" b="1" dirty="0">
                <a:latin typeface="Arial" pitchFamily="34" charset="0"/>
                <a:cs typeface="Arial" pitchFamily="34" charset="0"/>
              </a:rPr>
              <a:t>Attacks</a:t>
            </a:r>
            <a:endParaRPr lang="en-US"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SPECULATIVE ATTACKS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983202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43609" y="2060848"/>
            <a:ext cx="3960440" cy="978729"/>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In case of any query, please e-mail </a:t>
            </a:r>
          </a:p>
          <a:p>
            <a:pPr marL="342900" indent="-342900" algn="ctr">
              <a:lnSpc>
                <a:spcPct val="150000"/>
              </a:lnSpc>
              <a:spcBef>
                <a:spcPct val="20000"/>
              </a:spcBef>
            </a:pPr>
            <a:r>
              <a:rPr lang="en-US" b="1" dirty="0">
                <a:latin typeface="Arial" pitchFamily="34" charset="0"/>
                <a:cs typeface="Arial" pitchFamily="34" charset="0"/>
                <a:hlinkClick r:id="rId4"/>
              </a:rPr>
              <a:t>lchaturvedi@tataamc.com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2208</TotalTime>
  <Words>946</Words>
  <Application>Microsoft Office PowerPoint</Application>
  <PresentationFormat>On-screen Show (4:3)</PresentationFormat>
  <Paragraphs>71</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245</cp:revision>
  <dcterms:created xsi:type="dcterms:W3CDTF">2013-10-22T09:41:31Z</dcterms:created>
  <dcterms:modified xsi:type="dcterms:W3CDTF">2014-03-05T06:35:25Z</dcterms:modified>
</cp:coreProperties>
</file>