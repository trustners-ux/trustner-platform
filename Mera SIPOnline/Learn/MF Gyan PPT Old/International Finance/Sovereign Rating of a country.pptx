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358" r:id="rId3"/>
    <p:sldId id="353" r:id="rId4"/>
    <p:sldId id="354" r:id="rId5"/>
    <p:sldId id="318" r:id="rId6"/>
    <p:sldId id="377" r:id="rId7"/>
    <p:sldId id="334" r:id="rId8"/>
    <p:sldId id="335" r:id="rId9"/>
    <p:sldId id="359" r:id="rId10"/>
    <p:sldId id="360" r:id="rId11"/>
    <p:sldId id="378" r:id="rId12"/>
    <p:sldId id="361" r:id="rId13"/>
    <p:sldId id="362" r:id="rId14"/>
    <p:sldId id="379" r:id="rId15"/>
    <p:sldId id="363" r:id="rId16"/>
    <p:sldId id="380" r:id="rId17"/>
    <p:sldId id="287"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3/5/2014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3/5/2014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3/5/2014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3/5/2014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3/5/2014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71636"/>
            <a:ext cx="4248472"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SOVEREIGN RATING OF A COUNTRY</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628800"/>
            <a:ext cx="3456384"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Sovereign </a:t>
            </a:r>
            <a:r>
              <a:rPr lang="en-US" b="1" dirty="0">
                <a:latin typeface="Arial" pitchFamily="34" charset="0"/>
                <a:cs typeface="Arial" pitchFamily="34" charset="0"/>
              </a:rPr>
              <a:t>Rating of a </a:t>
            </a:r>
            <a:r>
              <a:rPr lang="en-US" b="1" dirty="0" smtClean="0">
                <a:latin typeface="Arial" pitchFamily="34" charset="0"/>
                <a:cs typeface="Arial" pitchFamily="34" charset="0"/>
              </a:rPr>
              <a:t>country</a:t>
            </a:r>
          </a:p>
          <a:p>
            <a:pPr>
              <a:lnSpc>
                <a:spcPct val="150000"/>
              </a:lnSpc>
            </a:pPr>
            <a:r>
              <a:rPr lang="en-US" dirty="0" smtClean="0">
                <a:latin typeface="Arial" pitchFamily="34" charset="0"/>
                <a:cs typeface="Arial" pitchFamily="34" charset="0"/>
              </a:rPr>
              <a:t>–  </a:t>
            </a:r>
            <a:r>
              <a:rPr lang="en-US" dirty="0">
                <a:latin typeface="Arial" pitchFamily="34" charset="0"/>
                <a:cs typeface="Arial" pitchFamily="34" charset="0"/>
              </a:rPr>
              <a:t>By Prof. </a:t>
            </a:r>
            <a:r>
              <a:rPr lang="en-US" i="1" dirty="0">
                <a:latin typeface="Arial" pitchFamily="34" charset="0"/>
                <a:cs typeface="Arial" pitchFamily="34" charset="0"/>
              </a:rPr>
              <a:t>Simply</a:t>
            </a:r>
            <a:r>
              <a:rPr lang="en-US" dirty="0">
                <a:latin typeface="Arial" pitchFamily="34" charset="0"/>
                <a:cs typeface="Arial" pitchFamily="34" charset="0"/>
              </a:rPr>
              <a:t> </a:t>
            </a:r>
            <a:r>
              <a:rPr lang="en-US" dirty="0" smtClean="0">
                <a:latin typeface="Arial" pitchFamily="34" charset="0"/>
                <a:cs typeface="Arial" pitchFamily="34" charset="0"/>
              </a:rPr>
              <a:t>Simple </a:t>
            </a:r>
            <a:r>
              <a:rPr lang="en-US" baseline="70000" dirty="0">
                <a:latin typeface="Arial" pitchFamily="34" charset="0"/>
                <a:cs typeface="Arial" pitchFamily="34" charset="0"/>
              </a:rPr>
              <a:t>TM</a:t>
            </a:r>
            <a:endParaRPr lang="en-US" baseline="70000"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23928" y="4610452"/>
            <a:ext cx="4464496" cy="1338828"/>
          </a:xfrm>
          <a:prstGeom prst="rect">
            <a:avLst/>
          </a:prstGeom>
        </p:spPr>
        <p:txBody>
          <a:bodyPr wrap="square">
            <a:spAutoFit/>
          </a:bodyPr>
          <a:lstStyle/>
          <a:p>
            <a:pPr>
              <a:lnSpc>
                <a:spcPct val="150000"/>
              </a:lnSpc>
            </a:pPr>
            <a:r>
              <a:rPr lang="en-US" b="1" dirty="0">
                <a:latin typeface="Arial" pitchFamily="34" charset="0"/>
                <a:cs typeface="Arial" pitchFamily="34" charset="0"/>
              </a:rPr>
              <a:t>Just like companies are rated by rating agencies so are countries rated.</a:t>
            </a:r>
          </a:p>
          <a:p>
            <a:pPr>
              <a:lnSpc>
                <a:spcPct val="150000"/>
              </a:lnSpc>
            </a:pPr>
            <a:r>
              <a:rPr lang="en-US" b="1" dirty="0">
                <a:latin typeface="Arial" pitchFamily="34" charset="0"/>
                <a:cs typeface="Arial" pitchFamily="34" charset="0"/>
              </a:rPr>
              <a:t>Let’s understand how this is done.</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extLst>
      <p:ext uri="{BB962C8B-B14F-4D97-AF65-F5344CB8AC3E}">
        <p14:creationId xmlns:p14="http://schemas.microsoft.com/office/powerpoint/2010/main"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2843808" y="980728"/>
            <a:ext cx="4320480"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Sovereign ratings are needed for those who plan to invest in a foreign country. If the country does not enjoy a good rating, such investments are considered risky. </a:t>
            </a:r>
            <a:endParaRPr lang="en-US" b="1" dirty="0">
              <a:latin typeface="Arial" pitchFamily="34" charset="0"/>
              <a:cs typeface="Arial" pitchFamily="34" charset="0"/>
            </a:endParaRPr>
          </a:p>
        </p:txBody>
      </p:sp>
      <p:sp>
        <p:nvSpPr>
          <p:cNvPr id="6" name="TextBox 5"/>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extLst>
      <p:ext uri="{BB962C8B-B14F-4D97-AF65-F5344CB8AC3E}">
        <p14:creationId xmlns:p14="http://schemas.microsoft.com/office/powerpoint/2010/main" val="4786366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Till recently sovereign default was not considered a real concern. But the recent news flows from Greece, Portugal, Ireland, Spain and Dubai has shown that countries themselves can come to the brink of default.</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83968" y="4682460"/>
            <a:ext cx="3672408" cy="1338828"/>
          </a:xfrm>
          <a:prstGeom prst="rect">
            <a:avLst/>
          </a:prstGeom>
        </p:spPr>
        <p:txBody>
          <a:bodyPr wrap="square">
            <a:spAutoFit/>
          </a:bodyPr>
          <a:lstStyle/>
          <a:p>
            <a:pPr>
              <a:lnSpc>
                <a:spcPct val="150000"/>
              </a:lnSpc>
            </a:pPr>
            <a:r>
              <a:rPr lang="en-US" b="1" dirty="0">
                <a:latin typeface="Arial" pitchFamily="34" charset="0"/>
                <a:cs typeface="Arial" pitchFamily="34" charset="0"/>
              </a:rPr>
              <a:t>So how are countries rated.</a:t>
            </a:r>
          </a:p>
          <a:p>
            <a:pPr>
              <a:lnSpc>
                <a:spcPct val="150000"/>
              </a:lnSpc>
            </a:pPr>
            <a:r>
              <a:rPr lang="en-US" b="1" dirty="0">
                <a:latin typeface="Arial" pitchFamily="34" charset="0"/>
                <a:cs typeface="Arial" pitchFamily="34" charset="0"/>
              </a:rPr>
              <a:t>This process is a </a:t>
            </a:r>
            <a:r>
              <a:rPr lang="en-US" b="1" dirty="0" smtClean="0">
                <a:latin typeface="Arial" pitchFamily="34" charset="0"/>
                <a:cs typeface="Arial" pitchFamily="34" charset="0"/>
              </a:rPr>
              <a:t>little different</a:t>
            </a:r>
            <a:br>
              <a:rPr lang="en-US" b="1" dirty="0" smtClean="0">
                <a:latin typeface="Arial" pitchFamily="34" charset="0"/>
                <a:cs typeface="Arial" pitchFamily="34" charset="0"/>
              </a:rPr>
            </a:br>
            <a:r>
              <a:rPr lang="en-US" b="1" dirty="0" smtClean="0">
                <a:latin typeface="Arial" pitchFamily="34" charset="0"/>
                <a:cs typeface="Arial" pitchFamily="34" charset="0"/>
              </a:rPr>
              <a:t>from </a:t>
            </a:r>
            <a:r>
              <a:rPr lang="en-US" b="1" dirty="0">
                <a:latin typeface="Arial" pitchFamily="34" charset="0"/>
                <a:cs typeface="Arial" pitchFamily="34" charset="0"/>
              </a:rPr>
              <a:t>how companies are rated.</a:t>
            </a:r>
            <a:endParaRPr lang="en-US" b="1" dirty="0">
              <a:latin typeface="Arial" pitchFamily="34" charset="0"/>
              <a:cs typeface="Arial" pitchFamily="34" charset="0"/>
            </a:endParaRP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extLst>
      <p:ext uri="{BB962C8B-B14F-4D97-AF65-F5344CB8AC3E}">
        <p14:creationId xmlns:p14="http://schemas.microsoft.com/office/powerpoint/2010/main" val="25381028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1063753"/>
            <a:ext cx="6984776" cy="3000821"/>
          </a:xfrm>
          <a:prstGeom prst="rect">
            <a:avLst/>
          </a:prstGeom>
        </p:spPr>
        <p:txBody>
          <a:bodyPr wrap="square">
            <a:spAutoFit/>
          </a:bodyPr>
          <a:lstStyle/>
          <a:p>
            <a:pPr>
              <a:lnSpc>
                <a:spcPct val="150000"/>
              </a:lnSpc>
            </a:pPr>
            <a:r>
              <a:rPr lang="en-US" b="1" dirty="0">
                <a:latin typeface="Arial" pitchFamily="34" charset="0"/>
                <a:cs typeface="Arial" pitchFamily="34" charset="0"/>
              </a:rPr>
              <a:t>Just as in the case of a company, even for a country there are several quantitative parameters that suggests the health of the economy</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However, unlike a company rating, in the case of rating a country, higher weightage is given to other qualitative parameters.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3375348"/>
          </a:xfrm>
          <a:prstGeom prst="rect">
            <a:avLst/>
          </a:prstGeom>
        </p:spPr>
        <p:txBody>
          <a:bodyPr wrap="square">
            <a:spAutoFit/>
          </a:bodyPr>
          <a:lstStyle/>
          <a:p>
            <a:pPr>
              <a:lnSpc>
                <a:spcPct val="150000"/>
              </a:lnSpc>
            </a:pPr>
            <a:r>
              <a:rPr lang="en-US" b="1" dirty="0">
                <a:latin typeface="Arial" pitchFamily="34" charset="0"/>
                <a:cs typeface="Arial" pitchFamily="34" charset="0"/>
              </a:rPr>
              <a:t>Some quantitative parameters which indicate the countries abilities to pay its debt are :-</a:t>
            </a:r>
          </a:p>
          <a:p>
            <a:pPr marL="465138" indent="-465138">
              <a:lnSpc>
                <a:spcPct val="150000"/>
              </a:lnSpc>
              <a:buFontTx/>
              <a:buAutoNum type="arabicPeriod"/>
              <a:tabLst>
                <a:tab pos="465138" algn="l"/>
              </a:tabLst>
            </a:pPr>
            <a:r>
              <a:rPr lang="en-US" b="1" dirty="0">
                <a:latin typeface="Arial" pitchFamily="34" charset="0"/>
                <a:cs typeface="Arial" pitchFamily="34" charset="0"/>
              </a:rPr>
              <a:t>Debt/GDP</a:t>
            </a:r>
          </a:p>
          <a:p>
            <a:pPr marL="465138" indent="-465138">
              <a:lnSpc>
                <a:spcPct val="150000"/>
              </a:lnSpc>
              <a:buFontTx/>
              <a:buAutoNum type="arabicPeriod"/>
              <a:tabLst>
                <a:tab pos="465138" algn="l"/>
              </a:tabLst>
            </a:pPr>
            <a:r>
              <a:rPr lang="en-US" b="1" dirty="0">
                <a:latin typeface="Arial" pitchFamily="34" charset="0"/>
                <a:cs typeface="Arial" pitchFamily="34" charset="0"/>
              </a:rPr>
              <a:t>Current account deficit</a:t>
            </a:r>
          </a:p>
          <a:p>
            <a:pPr marL="465138" indent="-465138">
              <a:lnSpc>
                <a:spcPct val="150000"/>
              </a:lnSpc>
              <a:buFontTx/>
              <a:buAutoNum type="arabicPeriod"/>
              <a:tabLst>
                <a:tab pos="465138" algn="l"/>
              </a:tabLst>
            </a:pPr>
            <a:r>
              <a:rPr lang="en-US" b="1" dirty="0">
                <a:latin typeface="Arial" pitchFamily="34" charset="0"/>
                <a:cs typeface="Arial" pitchFamily="34" charset="0"/>
              </a:rPr>
              <a:t>Interest amount/Expenditure</a:t>
            </a:r>
          </a:p>
          <a:p>
            <a:pPr marL="465138" indent="-465138">
              <a:lnSpc>
                <a:spcPct val="150000"/>
              </a:lnSpc>
              <a:buFontTx/>
              <a:buAutoNum type="arabicPeriod"/>
              <a:tabLst>
                <a:tab pos="465138" algn="l"/>
              </a:tabLst>
            </a:pPr>
            <a:r>
              <a:rPr lang="en-US" b="1" dirty="0">
                <a:latin typeface="Arial" pitchFamily="34" charset="0"/>
                <a:cs typeface="Arial" pitchFamily="34" charset="0"/>
              </a:rPr>
              <a:t>Economic growth rate</a:t>
            </a:r>
          </a:p>
          <a:p>
            <a:pPr marL="465138" indent="-465138">
              <a:lnSpc>
                <a:spcPct val="150000"/>
              </a:lnSpc>
              <a:buFontTx/>
              <a:buAutoNum type="arabicPeriod"/>
              <a:tabLst>
                <a:tab pos="465138" algn="l"/>
              </a:tabLst>
            </a:pPr>
            <a:r>
              <a:rPr lang="en-US" b="1" dirty="0">
                <a:latin typeface="Arial" pitchFamily="34" charset="0"/>
                <a:cs typeface="Arial" pitchFamily="34" charset="0"/>
              </a:rPr>
              <a:t>Savings rate</a:t>
            </a:r>
          </a:p>
          <a:p>
            <a:pPr marL="465138" indent="-465138">
              <a:lnSpc>
                <a:spcPct val="150000"/>
              </a:lnSpc>
              <a:buFontTx/>
              <a:buAutoNum type="arabicPeriod"/>
              <a:tabLst>
                <a:tab pos="465138" algn="l"/>
              </a:tabLst>
            </a:pPr>
            <a:r>
              <a:rPr lang="en-US" b="1" dirty="0">
                <a:latin typeface="Arial" pitchFamily="34" charset="0"/>
                <a:cs typeface="Arial" pitchFamily="34" charset="0"/>
              </a:rPr>
              <a:t>Investment rate</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101258" cy="1338828"/>
          </a:xfrm>
          <a:prstGeom prst="rect">
            <a:avLst/>
          </a:prstGeom>
        </p:spPr>
        <p:txBody>
          <a:bodyPr wrap="square">
            <a:spAutoFit/>
          </a:bodyPr>
          <a:lstStyle/>
          <a:p>
            <a:pPr>
              <a:lnSpc>
                <a:spcPct val="150000"/>
              </a:lnSpc>
            </a:pPr>
            <a:r>
              <a:rPr lang="en-US" b="1" dirty="0">
                <a:latin typeface="Arial" pitchFamily="34" charset="0"/>
                <a:cs typeface="Arial" pitchFamily="34" charset="0"/>
              </a:rPr>
              <a:t>The countries ability to withstand financial shocks are also investigated – whether banks have been subjected to stress tests and how they have emerged from such tests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extLst>
      <p:ext uri="{BB962C8B-B14F-4D97-AF65-F5344CB8AC3E}">
        <p14:creationId xmlns:p14="http://schemas.microsoft.com/office/powerpoint/2010/main" val="24859455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101258" cy="1297856"/>
          </a:xfrm>
          <a:prstGeom prst="rect">
            <a:avLst/>
          </a:prstGeom>
        </p:spPr>
        <p:txBody>
          <a:bodyPr wrap="square">
            <a:spAutoFit/>
          </a:bodyPr>
          <a:lstStyle/>
          <a:p>
            <a:pPr>
              <a:lnSpc>
                <a:spcPct val="150000"/>
              </a:lnSpc>
            </a:pPr>
            <a:r>
              <a:rPr lang="en-US" b="1" dirty="0">
                <a:latin typeface="Arial" pitchFamily="34" charset="0"/>
                <a:cs typeface="Arial" pitchFamily="34" charset="0"/>
              </a:rPr>
              <a:t>Besides quantitative measures the rating agencies interview policymakers to assess the policies being planned and the countries outlook towards financial reforms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extLst>
      <p:ext uri="{BB962C8B-B14F-4D97-AF65-F5344CB8AC3E}">
        <p14:creationId xmlns:p14="http://schemas.microsoft.com/office/powerpoint/2010/main" val="29256497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3131840" y="1043151"/>
            <a:ext cx="3816424"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Analysts also make a judgment of the political risks that prevails such as probabilities of an external war, internal unrest, terrorism threats etc.</a:t>
            </a:r>
            <a:endParaRPr lang="en-US" b="1" dirty="0">
              <a:latin typeface="Arial" pitchFamily="34" charset="0"/>
              <a:cs typeface="Arial" pitchFamily="34" charset="0"/>
            </a:endParaRP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extLst>
      <p:ext uri="{BB962C8B-B14F-4D97-AF65-F5344CB8AC3E}">
        <p14:creationId xmlns:p14="http://schemas.microsoft.com/office/powerpoint/2010/main" val="20952512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1711109"/>
          </a:xfrm>
          <a:prstGeom prst="rect">
            <a:avLst/>
          </a:prstGeom>
        </p:spPr>
        <p:txBody>
          <a:bodyPr wrap="square">
            <a:spAutoFit/>
          </a:bodyPr>
          <a:lstStyle/>
          <a:p>
            <a:pPr>
              <a:lnSpc>
                <a:spcPct val="150000"/>
              </a:lnSpc>
            </a:pPr>
            <a:r>
              <a:rPr lang="en-US" b="1" dirty="0">
                <a:latin typeface="Arial" pitchFamily="34" charset="0"/>
                <a:cs typeface="Arial" pitchFamily="34" charset="0"/>
              </a:rPr>
              <a:t> Thus while the quantitative parameters become the inputs into some sort of “mathematical model” to assess the country’s credit worthiness while the </a:t>
            </a:r>
            <a:r>
              <a:rPr lang="en-US" b="1" dirty="0" err="1">
                <a:latin typeface="Arial" pitchFamily="34" charset="0"/>
                <a:cs typeface="Arial" pitchFamily="34" charset="0"/>
              </a:rPr>
              <a:t>the</a:t>
            </a:r>
            <a:r>
              <a:rPr lang="en-US" b="1" dirty="0">
                <a:latin typeface="Arial" pitchFamily="34" charset="0"/>
                <a:cs typeface="Arial" pitchFamily="34" charset="0"/>
              </a:rPr>
              <a:t> qualitative parameters which examines  risk environment prevailing there.</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extLst>
      <p:ext uri="{BB962C8B-B14F-4D97-AF65-F5344CB8AC3E}">
        <p14:creationId xmlns:p14="http://schemas.microsoft.com/office/powerpoint/2010/main" val="18827415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1713354"/>
          </a:xfrm>
          <a:prstGeom prst="rect">
            <a:avLst/>
          </a:prstGeom>
        </p:spPr>
        <p:txBody>
          <a:bodyPr wrap="square">
            <a:spAutoFit/>
          </a:bodyPr>
          <a:lstStyle/>
          <a:p>
            <a:pPr>
              <a:lnSpc>
                <a:spcPct val="150000"/>
              </a:lnSpc>
            </a:pPr>
            <a:r>
              <a:rPr lang="en-US" b="1" dirty="0">
                <a:latin typeface="Arial" pitchFamily="34" charset="0"/>
                <a:cs typeface="Arial" pitchFamily="34" charset="0"/>
              </a:rPr>
              <a:t>Thus sovereign rating essentially assesses the country’s government. In this context its interesting to note that US has a AAA rating and India’s rating is BBB- while the outlook is ‘stable’ for both of them (S&amp;P Rating </a:t>
            </a:r>
            <a:r>
              <a:rPr lang="en-US" b="1" dirty="0" err="1">
                <a:latin typeface="Arial" pitchFamily="34" charset="0"/>
                <a:cs typeface="Arial" pitchFamily="34" charset="0"/>
              </a:rPr>
              <a:t>dt.</a:t>
            </a:r>
            <a:r>
              <a:rPr lang="en-US" b="1" dirty="0">
                <a:latin typeface="Arial" pitchFamily="34" charset="0"/>
                <a:cs typeface="Arial" pitchFamily="34" charset="0"/>
              </a:rPr>
              <a:t> 23 Aug, 2010).</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extLst>
      <p:ext uri="{BB962C8B-B14F-4D97-AF65-F5344CB8AC3E}">
        <p14:creationId xmlns:p14="http://schemas.microsoft.com/office/powerpoint/2010/main" val="37177827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365104"/>
            <a:ext cx="4320480"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The rating given to a country becomes the benchmark for ratings granted to other financial instruments like corporate bonds etc.</a:t>
            </a:r>
            <a:endParaRPr lang="en-US" b="1" dirty="0">
              <a:latin typeface="Arial" pitchFamily="34" charset="0"/>
              <a:cs typeface="Arial" pitchFamily="34" charset="0"/>
            </a:endParaRP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extLst>
      <p:ext uri="{BB962C8B-B14F-4D97-AF65-F5344CB8AC3E}">
        <p14:creationId xmlns:p14="http://schemas.microsoft.com/office/powerpoint/2010/main" val="1983202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6813226" cy="1338828"/>
          </a:xfrm>
          <a:prstGeom prst="rect">
            <a:avLst/>
          </a:prstGeom>
        </p:spPr>
        <p:txBody>
          <a:bodyPr wrap="square">
            <a:spAutoFit/>
          </a:bodyPr>
          <a:lstStyle/>
          <a:p>
            <a:pPr>
              <a:lnSpc>
                <a:spcPct val="150000"/>
              </a:lnSpc>
            </a:pPr>
            <a:r>
              <a:rPr lang="en-US" b="1" dirty="0">
                <a:latin typeface="Arial" pitchFamily="34" charset="0"/>
                <a:cs typeface="Arial" pitchFamily="34" charset="0"/>
              </a:rPr>
              <a:t>Since granting rating to a country has massive implications for the subject country, a large element of mature judgment is needed.</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extLst>
      <p:ext uri="{BB962C8B-B14F-4D97-AF65-F5344CB8AC3E}">
        <p14:creationId xmlns:p14="http://schemas.microsoft.com/office/powerpoint/2010/main" val="17713769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771800" y="1190943"/>
            <a:ext cx="4320480" cy="1661993"/>
          </a:xfrm>
          <a:prstGeom prst="rect">
            <a:avLst/>
          </a:prstGeom>
          <a:noFill/>
        </p:spPr>
        <p:txBody>
          <a:bodyPr wrap="square" rtlCol="0">
            <a:spAutoFit/>
          </a:bodyPr>
          <a:lstStyle/>
          <a:p>
            <a:pPr>
              <a:lnSpc>
                <a:spcPct val="150000"/>
              </a:lnSpc>
              <a:buFontTx/>
              <a:buNone/>
            </a:pPr>
            <a:r>
              <a:rPr lang="en-US" sz="1700" b="1" dirty="0">
                <a:latin typeface="Arial" pitchFamily="34" charset="0"/>
                <a:cs typeface="Arial" pitchFamily="34" charset="0"/>
              </a:rPr>
              <a:t>We hope you got some idea about sovereign rating from this presentation. We look forward to your feedback as it helps us improve our product offering.</a:t>
            </a:r>
            <a:endParaRPr lang="en-US" sz="1700" b="1" dirty="0">
              <a:latin typeface="Arial" pitchFamily="34" charset="0"/>
              <a:cs typeface="Arial" pitchFamily="34" charset="0"/>
            </a:endParaRP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SOVEREIGN RATING OF A COUNTRY</a:t>
            </a:r>
          </a:p>
        </p:txBody>
      </p:sp>
    </p:spTree>
    <p:extLst>
      <p:ext uri="{BB962C8B-B14F-4D97-AF65-F5344CB8AC3E}">
        <p14:creationId xmlns:p14="http://schemas.microsoft.com/office/powerpoint/2010/main" val="29029810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154251" y="1988840"/>
            <a:ext cx="3705781" cy="937757"/>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Do write to me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2173</TotalTime>
  <Words>668</Words>
  <Application>Microsoft Office PowerPoint</Application>
  <PresentationFormat>On-screen Show (4:3)</PresentationFormat>
  <Paragraphs>47</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241</cp:revision>
  <dcterms:created xsi:type="dcterms:W3CDTF">2013-10-22T09:41:31Z</dcterms:created>
  <dcterms:modified xsi:type="dcterms:W3CDTF">2014-03-05T06:00:41Z</dcterms:modified>
</cp:coreProperties>
</file>