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358" r:id="rId3"/>
    <p:sldId id="353" r:id="rId4"/>
    <p:sldId id="354" r:id="rId5"/>
    <p:sldId id="318" r:id="rId6"/>
    <p:sldId id="334" r:id="rId7"/>
    <p:sldId id="335" r:id="rId8"/>
    <p:sldId id="359" r:id="rId9"/>
    <p:sldId id="360" r:id="rId10"/>
    <p:sldId id="361" r:id="rId11"/>
    <p:sldId id="362" r:id="rId12"/>
    <p:sldId id="363" r:id="rId13"/>
    <p:sldId id="364" r:id="rId14"/>
    <p:sldId id="365" r:id="rId15"/>
    <p:sldId id="357" r:id="rId16"/>
    <p:sldId id="366" r:id="rId17"/>
    <p:sldId id="367" r:id="rId18"/>
    <p:sldId id="368" r:id="rId19"/>
    <p:sldId id="369" r:id="rId20"/>
    <p:sldId id="371" r:id="rId21"/>
    <p:sldId id="372" r:id="rId22"/>
    <p:sldId id="370" r:id="rId23"/>
    <p:sldId id="373" r:id="rId24"/>
    <p:sldId id="374" r:id="rId25"/>
    <p:sldId id="375" r:id="rId26"/>
    <p:sldId id="376" r:id="rId27"/>
    <p:sldId id="287" r:id="rId28"/>
    <p:sldId id="273"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3/4/2014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3/4/2014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3/4/2014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3/4/2014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3/4/2014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4085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187624" y="2348880"/>
            <a:ext cx="3816424" cy="436273"/>
          </a:xfrm>
          <a:prstGeom prst="rect">
            <a:avLst/>
          </a:prstGeom>
          <a:noFill/>
        </p:spPr>
        <p:txBody>
          <a:bodyPr wrap="square" rtlCol="0">
            <a:spAutoFit/>
          </a:bodyPr>
          <a:lstStyle/>
          <a:p>
            <a:pPr algn="ctr">
              <a:lnSpc>
                <a:spcPct val="150000"/>
              </a:lnSpc>
            </a:pPr>
            <a:r>
              <a:rPr lang="en-US" sz="1700" b="1" dirty="0">
                <a:latin typeface="Arial" pitchFamily="34" charset="0"/>
                <a:ea typeface="ＭＳ Ｐゴシック"/>
                <a:cs typeface="Arial" pitchFamily="34" charset="0"/>
              </a:rPr>
              <a:t>Understanding </a:t>
            </a:r>
            <a:r>
              <a:rPr lang="en-US" sz="1700" b="1" dirty="0" smtClean="0">
                <a:latin typeface="Arial" pitchFamily="34" charset="0"/>
                <a:ea typeface="ＭＳ Ｐゴシック"/>
                <a:cs typeface="Arial" pitchFamily="34" charset="0"/>
              </a:rPr>
              <a:t>Quantitative </a:t>
            </a:r>
            <a:r>
              <a:rPr lang="en-US" sz="1700" b="1" dirty="0">
                <a:latin typeface="Arial" pitchFamily="34" charset="0"/>
                <a:ea typeface="ＭＳ Ｐゴシック"/>
                <a:cs typeface="Arial" pitchFamily="34" charset="0"/>
              </a:rPr>
              <a:t>Easing</a:t>
            </a:r>
            <a:endParaRPr lang="en-US" sz="1700" b="1" baseline="70000"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3717032"/>
            <a:ext cx="4248472" cy="2585323"/>
          </a:xfrm>
          <a:prstGeom prst="rect">
            <a:avLst/>
          </a:prstGeom>
        </p:spPr>
        <p:txBody>
          <a:bodyPr wrap="square">
            <a:spAutoFit/>
          </a:bodyPr>
          <a:lstStyle/>
          <a:p>
            <a:pPr>
              <a:lnSpc>
                <a:spcPct val="150000"/>
              </a:lnSpc>
            </a:pPr>
            <a:r>
              <a:rPr lang="en-US" b="1" dirty="0">
                <a:latin typeface="Arial" pitchFamily="34" charset="0"/>
                <a:cs typeface="Arial" pitchFamily="34" charset="0"/>
              </a:rPr>
              <a:t>The word “Quantitative Easing” more commonly known as “QE” has been appearing in the media on </a:t>
            </a:r>
            <a:r>
              <a:rPr lang="en-US" b="1" dirty="0" smtClean="0">
                <a:latin typeface="Arial" pitchFamily="34" charset="0"/>
                <a:cs typeface="Arial" pitchFamily="34" charset="0"/>
              </a:rPr>
              <a:t>account</a:t>
            </a:r>
            <a:br>
              <a:rPr lang="en-US" b="1" dirty="0" smtClean="0">
                <a:latin typeface="Arial" pitchFamily="34" charset="0"/>
                <a:cs typeface="Arial" pitchFamily="34" charset="0"/>
              </a:rPr>
            </a:br>
            <a:r>
              <a:rPr lang="en-US" b="1" dirty="0" smtClean="0">
                <a:latin typeface="Arial" pitchFamily="34" charset="0"/>
                <a:cs typeface="Arial" pitchFamily="34" charset="0"/>
              </a:rPr>
              <a:t>of </a:t>
            </a:r>
            <a:r>
              <a:rPr lang="en-US" b="1" dirty="0">
                <a:latin typeface="Arial" pitchFamily="34" charset="0"/>
                <a:cs typeface="Arial" pitchFamily="34" charset="0"/>
              </a:rPr>
              <a:t>QE 1 and then the QE 2 by the Federal Reserve to revive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US </a:t>
            </a:r>
            <a:r>
              <a:rPr lang="en-US" b="1" dirty="0">
                <a:latin typeface="Arial" pitchFamily="34" charset="0"/>
                <a:cs typeface="Arial" pitchFamily="34" charset="0"/>
              </a:rPr>
              <a:t>economy.</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3275856" y="1413052"/>
            <a:ext cx="3816424" cy="1295868"/>
          </a:xfrm>
          <a:prstGeom prst="rect">
            <a:avLst/>
          </a:prstGeom>
          <a:noFill/>
        </p:spPr>
        <p:txBody>
          <a:bodyPr wrap="square" rtlCol="0">
            <a:spAutoFit/>
          </a:bodyPr>
          <a:lstStyle/>
          <a:p>
            <a:pPr>
              <a:lnSpc>
                <a:spcPct val="150000"/>
              </a:lnSpc>
            </a:pPr>
            <a:r>
              <a:rPr lang="en-US" b="1" i="1" dirty="0">
                <a:latin typeface="Arial" pitchFamily="34" charset="0"/>
                <a:cs typeface="Arial" pitchFamily="34" charset="0"/>
              </a:rPr>
              <a:t>What is this QE all about? </a:t>
            </a:r>
          </a:p>
          <a:p>
            <a:pPr>
              <a:lnSpc>
                <a:spcPct val="150000"/>
              </a:lnSpc>
            </a:pPr>
            <a:r>
              <a:rPr lang="en-US" b="1" dirty="0">
                <a:latin typeface="Arial" pitchFamily="34" charset="0"/>
                <a:cs typeface="Arial" pitchFamily="34" charset="0"/>
              </a:rPr>
              <a:t>To understand let's look at a simple story.</a:t>
            </a:r>
            <a:endParaRPr lang="en-US" b="1" dirty="0">
              <a:latin typeface="Arial" pitchFamily="34" charset="0"/>
              <a:cs typeface="Arial" pitchFamily="34" charset="0"/>
            </a:endParaRPr>
          </a:p>
        </p:txBody>
      </p:sp>
      <p:sp>
        <p:nvSpPr>
          <p:cNvPr id="6" name="TextBox 5"/>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4786366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242028" cy="1754326"/>
          </a:xfrm>
          <a:prstGeom prst="rect">
            <a:avLst/>
          </a:prstGeom>
          <a:noFill/>
        </p:spPr>
        <p:txBody>
          <a:bodyPr wrap="square" rtlCol="0">
            <a:spAutoFit/>
          </a:bodyPr>
          <a:lstStyle/>
          <a:p>
            <a:pPr algn="just">
              <a:lnSpc>
                <a:spcPct val="150000"/>
              </a:lnSpc>
            </a:pPr>
            <a:r>
              <a:rPr lang="en-US" b="1" dirty="0">
                <a:latin typeface="Arial" pitchFamily="34" charset="0"/>
                <a:cs typeface="Arial" pitchFamily="34" charset="0"/>
              </a:rPr>
              <a:t>Let's say there was a prosperous village - </a:t>
            </a:r>
            <a:r>
              <a:rPr lang="en-US" b="1" dirty="0" err="1">
                <a:latin typeface="Arial" pitchFamily="34" charset="0"/>
                <a:cs typeface="Arial" pitchFamily="34" charset="0"/>
              </a:rPr>
              <a:t>Sukhsagar</a:t>
            </a:r>
            <a:r>
              <a:rPr lang="en-US" b="1" dirty="0">
                <a:latin typeface="Arial" pitchFamily="34" charset="0"/>
                <a:cs typeface="Arial" pitchFamily="34" charset="0"/>
              </a:rPr>
              <a:t>. Most of the villagers were into agriculture. Their lands were fertile and the farmers were happy. The village had good schools, shops, entertainment hubs, hospitals, municipality etc. </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1063753"/>
            <a:ext cx="7632848" cy="1338828"/>
          </a:xfrm>
          <a:prstGeom prst="rect">
            <a:avLst/>
          </a:prstGeom>
        </p:spPr>
        <p:txBody>
          <a:bodyPr wrap="square">
            <a:spAutoFit/>
          </a:bodyPr>
          <a:lstStyle/>
          <a:p>
            <a:pPr>
              <a:lnSpc>
                <a:spcPct val="150000"/>
              </a:lnSpc>
            </a:pPr>
            <a:r>
              <a:rPr lang="en-US" b="1" dirty="0">
                <a:latin typeface="Arial" pitchFamily="34" charset="0"/>
                <a:cs typeface="Arial" pitchFamily="34" charset="0"/>
              </a:rPr>
              <a:t>Then one day, a pundit, who enjoyed the confidence of the villagers, visited the village. The villagers believe that the pundit was blessed with the knowledge of the future and could predict their future.</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1754326"/>
          </a:xfrm>
          <a:prstGeom prst="rect">
            <a:avLst/>
          </a:prstGeom>
        </p:spPr>
        <p:txBody>
          <a:bodyPr wrap="square">
            <a:spAutoFit/>
          </a:bodyPr>
          <a:lstStyle/>
          <a:p>
            <a:pPr>
              <a:lnSpc>
                <a:spcPct val="150000"/>
              </a:lnSpc>
            </a:pPr>
            <a:r>
              <a:rPr lang="en-US" b="1" dirty="0">
                <a:latin typeface="Arial" pitchFamily="34" charset="0"/>
                <a:cs typeface="Arial" pitchFamily="34" charset="0"/>
              </a:rPr>
              <a:t>One evening, the pundit called an urgent meeting of the villagers to tell them about their future. This kind of meeting had been a regular feature in the village and most people attended it because the pundit's prediction often was accurate.</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89290" cy="2585323"/>
          </a:xfrm>
          <a:prstGeom prst="rect">
            <a:avLst/>
          </a:prstGeom>
        </p:spPr>
        <p:txBody>
          <a:bodyPr wrap="square">
            <a:spAutoFit/>
          </a:bodyPr>
          <a:lstStyle/>
          <a:p>
            <a:pPr>
              <a:lnSpc>
                <a:spcPct val="150000"/>
              </a:lnSpc>
            </a:pPr>
            <a:r>
              <a:rPr lang="en-US" b="1" dirty="0">
                <a:latin typeface="Arial" pitchFamily="34" charset="0"/>
                <a:cs typeface="Arial" pitchFamily="34" charset="0"/>
              </a:rPr>
              <a:t>While addressing the villagers, the pundit dropped a bombshell. He told the villagers that the future appeared very </a:t>
            </a:r>
            <a:r>
              <a:rPr lang="en-US" b="1" dirty="0" smtClean="0">
                <a:latin typeface="Arial" pitchFamily="34" charset="0"/>
                <a:cs typeface="Arial" pitchFamily="34" charset="0"/>
              </a:rPr>
              <a:t>dark.</a:t>
            </a:r>
            <a:br>
              <a:rPr lang="en-US" b="1" dirty="0" smtClean="0">
                <a:latin typeface="Arial" pitchFamily="34" charset="0"/>
                <a:cs typeface="Arial" pitchFamily="34" charset="0"/>
              </a:rPr>
            </a:br>
            <a:r>
              <a:rPr lang="en-US" b="1" dirty="0" smtClean="0">
                <a:latin typeface="Arial" pitchFamily="34" charset="0"/>
                <a:cs typeface="Arial" pitchFamily="34" charset="0"/>
              </a:rPr>
              <a:t>He </a:t>
            </a:r>
            <a:r>
              <a:rPr lang="en-US" b="1" dirty="0">
                <a:latin typeface="Arial" pitchFamily="34" charset="0"/>
                <a:cs typeface="Arial" pitchFamily="34" charset="0"/>
              </a:rPr>
              <a:t>expected that the villagers would soon lose their jobs and source of livelihood. Their incomes would vanish. </a:t>
            </a:r>
            <a:r>
              <a:rPr lang="en-US" b="1" dirty="0" smtClean="0">
                <a:latin typeface="Arial" pitchFamily="34" charset="0"/>
                <a:cs typeface="Arial" pitchFamily="34" charset="0"/>
              </a:rPr>
              <a:t>Therefore,</a:t>
            </a:r>
            <a:br>
              <a:rPr lang="en-US" b="1" dirty="0" smtClean="0">
                <a:latin typeface="Arial" pitchFamily="34" charset="0"/>
                <a:cs typeface="Arial" pitchFamily="34" charset="0"/>
              </a:rPr>
            </a:br>
            <a:r>
              <a:rPr lang="en-US" b="1" dirty="0" smtClean="0">
                <a:latin typeface="Arial" pitchFamily="34" charset="0"/>
                <a:cs typeface="Arial" pitchFamily="34" charset="0"/>
              </a:rPr>
              <a:t>time </a:t>
            </a:r>
            <a:r>
              <a:rPr lang="en-US" b="1" dirty="0">
                <a:latin typeface="Arial" pitchFamily="34" charset="0"/>
                <a:cs typeface="Arial" pitchFamily="34" charset="0"/>
              </a:rPr>
              <a:t>had come for them to store all that they had so that they could overcome the bad times.</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4859455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101258" cy="2169825"/>
          </a:xfrm>
          <a:prstGeom prst="rect">
            <a:avLst/>
          </a:prstGeom>
        </p:spPr>
        <p:txBody>
          <a:bodyPr wrap="square">
            <a:spAutoFit/>
          </a:bodyPr>
          <a:lstStyle/>
          <a:p>
            <a:pPr>
              <a:lnSpc>
                <a:spcPct val="150000"/>
              </a:lnSpc>
            </a:pPr>
            <a:r>
              <a:rPr lang="en-US" b="1" dirty="0">
                <a:latin typeface="Arial" pitchFamily="34" charset="0"/>
                <a:cs typeface="Arial" pitchFamily="34" charset="0"/>
              </a:rPr>
              <a:t>The petrified villagers acted upon his instruction without any further delay. They began to save their money like there </a:t>
            </a:r>
            <a:r>
              <a:rPr lang="en-US" b="1" dirty="0" smtClean="0">
                <a:latin typeface="Arial" pitchFamily="34" charset="0"/>
                <a:cs typeface="Arial" pitchFamily="34" charset="0"/>
              </a:rPr>
              <a:t>was no </a:t>
            </a:r>
            <a:r>
              <a:rPr lang="en-US" b="1" dirty="0">
                <a:latin typeface="Arial" pitchFamily="34" charset="0"/>
                <a:cs typeface="Arial" pitchFamily="34" charset="0"/>
              </a:rPr>
              <a:t>tomorrow. The villagers were in a state of shock. It appeared like the smiles had been erased from their faces. People stopped spending money and just focused on saving.</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9256497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2169825"/>
          </a:xfrm>
          <a:prstGeom prst="rect">
            <a:avLst/>
          </a:prstGeom>
        </p:spPr>
        <p:txBody>
          <a:bodyPr wrap="square">
            <a:spAutoFit/>
          </a:bodyPr>
          <a:lstStyle/>
          <a:p>
            <a:pPr>
              <a:lnSpc>
                <a:spcPct val="150000"/>
              </a:lnSpc>
            </a:pPr>
            <a:r>
              <a:rPr lang="en-US" b="1" dirty="0">
                <a:latin typeface="Arial" pitchFamily="34" charset="0"/>
                <a:cs typeface="Arial" pitchFamily="34" charset="0"/>
              </a:rPr>
              <a:t>They were in no mood to visit the entertainment hub. Nobody visited the market to buy anything. Markets wore a deserted look. Even people stopped visiting the hospital except for emergencies. The fear of losing their jobs and source of income was sucking out every aspect of happiness from their lives.</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8827415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89290" cy="2169825"/>
          </a:xfrm>
          <a:prstGeom prst="rect">
            <a:avLst/>
          </a:prstGeom>
        </p:spPr>
        <p:txBody>
          <a:bodyPr wrap="square">
            <a:spAutoFit/>
          </a:bodyPr>
          <a:lstStyle/>
          <a:p>
            <a:pPr>
              <a:lnSpc>
                <a:spcPct val="150000"/>
              </a:lnSpc>
            </a:pPr>
            <a:r>
              <a:rPr lang="en-US" b="1" dirty="0">
                <a:latin typeface="Arial" pitchFamily="34" charset="0"/>
                <a:cs typeface="Arial" pitchFamily="34" charset="0"/>
              </a:rPr>
              <a:t>The demand for all goods and services nosedived. The producers of goods felt the pain and reduced prices to get some hold of their lives. But the demand simply did not lift up. Clearly, negative sentiments had come to enshroud the entire village and led to a standstill of economic activity.</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7177827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533306" cy="2585323"/>
          </a:xfrm>
          <a:prstGeom prst="rect">
            <a:avLst/>
          </a:prstGeom>
        </p:spPr>
        <p:txBody>
          <a:bodyPr wrap="square">
            <a:spAutoFit/>
          </a:bodyPr>
          <a:lstStyle/>
          <a:p>
            <a:pPr>
              <a:lnSpc>
                <a:spcPct val="150000"/>
              </a:lnSpc>
            </a:pPr>
            <a:r>
              <a:rPr lang="en-US" b="1" dirty="0">
                <a:latin typeface="Arial" pitchFamily="34" charset="0"/>
                <a:cs typeface="Arial" pitchFamily="34" charset="0"/>
              </a:rPr>
              <a:t>One day, a government official passed through the village and wondered to himself how </a:t>
            </a:r>
            <a:r>
              <a:rPr lang="en-US" b="1" dirty="0" err="1">
                <a:latin typeface="Arial" pitchFamily="34" charset="0"/>
                <a:cs typeface="Arial" pitchFamily="34" charset="0"/>
              </a:rPr>
              <a:t>Sukhsagar</a:t>
            </a:r>
            <a:r>
              <a:rPr lang="en-US" b="1" dirty="0">
                <a:latin typeface="Arial" pitchFamily="34" charset="0"/>
                <a:cs typeface="Arial" pitchFamily="34" charset="0"/>
              </a:rPr>
              <a:t> village turned into </a:t>
            </a:r>
            <a:r>
              <a:rPr lang="en-US" b="1" dirty="0" err="1">
                <a:latin typeface="Arial" pitchFamily="34" charset="0"/>
                <a:cs typeface="Arial" pitchFamily="34" charset="0"/>
              </a:rPr>
              <a:t>Dukhsagar</a:t>
            </a:r>
            <a:r>
              <a:rPr lang="en-US" b="1" dirty="0">
                <a:latin typeface="Arial" pitchFamily="34" charset="0"/>
                <a:cs typeface="Arial" pitchFamily="34" charset="0"/>
              </a:rPr>
              <a:t> village. He talked to the village elders to understand. After listening to them, he understood that the fear of the future had got to them. He made an attempt to dissuade their fears by informing them that there was no imminent danger of bad times befalling on them.</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7713769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245274" cy="2585323"/>
          </a:xfrm>
          <a:prstGeom prst="rect">
            <a:avLst/>
          </a:prstGeom>
        </p:spPr>
        <p:txBody>
          <a:bodyPr wrap="square">
            <a:spAutoFit/>
          </a:bodyPr>
          <a:lstStyle/>
          <a:p>
            <a:pPr>
              <a:lnSpc>
                <a:spcPct val="150000"/>
              </a:lnSpc>
            </a:pPr>
            <a:r>
              <a:rPr lang="en-US" b="1" dirty="0">
                <a:latin typeface="Arial" pitchFamily="34" charset="0"/>
                <a:cs typeface="Arial" pitchFamily="34" charset="0"/>
              </a:rPr>
              <a:t>But the villagers continued to embrace fear. After all they had more faith in the Pundit than the government official. The official had realized that the villagers themselves were making things bad. Seeing that his advice was falling on deaf ears, he invited another learned person to address the villagers. But all his efforts were in vain.</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98583518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461298" cy="2585323"/>
          </a:xfrm>
          <a:prstGeom prst="rect">
            <a:avLst/>
          </a:prstGeom>
        </p:spPr>
        <p:txBody>
          <a:bodyPr wrap="square">
            <a:spAutoFit/>
          </a:bodyPr>
          <a:lstStyle/>
          <a:p>
            <a:pPr>
              <a:lnSpc>
                <a:spcPct val="150000"/>
              </a:lnSpc>
            </a:pPr>
            <a:r>
              <a:rPr lang="en-US" b="1" dirty="0">
                <a:latin typeface="Arial" pitchFamily="34" charset="0"/>
                <a:cs typeface="Arial" pitchFamily="34" charset="0"/>
              </a:rPr>
              <a:t>Soon the villagers started suffering. Although they had money stocked up in their houses, it meant little. The producers of goods and services due to the demand slump had either closed shop or left the village. So now there was even a shortage of </a:t>
            </a:r>
            <a:r>
              <a:rPr lang="en-US" b="1" dirty="0" smtClean="0">
                <a:latin typeface="Arial" pitchFamily="34" charset="0"/>
                <a:cs typeface="Arial" pitchFamily="34" charset="0"/>
              </a:rPr>
              <a:t>goods.</a:t>
            </a:r>
            <a:br>
              <a:rPr lang="en-US" b="1" dirty="0" smtClean="0">
                <a:latin typeface="Arial" pitchFamily="34" charset="0"/>
                <a:cs typeface="Arial" pitchFamily="34" charset="0"/>
              </a:rPr>
            </a:br>
            <a:r>
              <a:rPr lang="en-US" b="1" dirty="0" smtClean="0">
                <a:latin typeface="Arial" pitchFamily="34" charset="0"/>
                <a:cs typeface="Arial" pitchFamily="34" charset="0"/>
              </a:rPr>
              <a:t>This </a:t>
            </a:r>
            <a:r>
              <a:rPr lang="en-US" b="1" dirty="0">
                <a:latin typeface="Arial" pitchFamily="34" charset="0"/>
                <a:cs typeface="Arial" pitchFamily="34" charset="0"/>
              </a:rPr>
              <a:t>meant that even though there was no demand, the </a:t>
            </a:r>
            <a:r>
              <a:rPr lang="en-US" b="1" dirty="0" smtClean="0">
                <a:latin typeface="Arial" pitchFamily="34" charset="0"/>
                <a:cs typeface="Arial" pitchFamily="34" charset="0"/>
              </a:rPr>
              <a:t>prices</a:t>
            </a:r>
            <a:br>
              <a:rPr lang="en-US" b="1" dirty="0" smtClean="0">
                <a:latin typeface="Arial" pitchFamily="34" charset="0"/>
                <a:cs typeface="Arial" pitchFamily="34" charset="0"/>
              </a:rPr>
            </a:br>
            <a:r>
              <a:rPr lang="en-US" b="1" dirty="0" smtClean="0">
                <a:latin typeface="Arial" pitchFamily="34" charset="0"/>
                <a:cs typeface="Arial" pitchFamily="34" charset="0"/>
              </a:rPr>
              <a:t>had </a:t>
            </a:r>
            <a:r>
              <a:rPr lang="en-US" b="1" dirty="0">
                <a:latin typeface="Arial" pitchFamily="34" charset="0"/>
                <a:cs typeface="Arial" pitchFamily="34" charset="0"/>
              </a:rPr>
              <a:t>stopped falling.</a:t>
            </a:r>
            <a:endParaRPr lang="en-US" b="1" u="sng"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41597163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3933056"/>
            <a:ext cx="4392488" cy="2126864"/>
          </a:xfrm>
          <a:prstGeom prst="rect">
            <a:avLst/>
          </a:prstGeom>
        </p:spPr>
        <p:txBody>
          <a:bodyPr wrap="square">
            <a:spAutoFit/>
          </a:bodyPr>
          <a:lstStyle/>
          <a:p>
            <a:pPr>
              <a:lnSpc>
                <a:spcPct val="150000"/>
              </a:lnSpc>
            </a:pPr>
            <a:r>
              <a:rPr lang="en-US" b="1" dirty="0">
                <a:latin typeface="Arial" pitchFamily="34" charset="0"/>
                <a:cs typeface="Arial" pitchFamily="34" charset="0"/>
              </a:rPr>
              <a:t>So while everyone had money in their homes, there was no economic activity. Without economic activity the markets had dried up just like a car would get stalled without petrol.</a:t>
            </a:r>
            <a:endParaRPr lang="en-US" b="1" u="sng" dirty="0">
              <a:latin typeface="Arial" pitchFamily="34" charset="0"/>
              <a:cs typeface="Arial" pitchFamily="34" charset="0"/>
            </a:endParaRPr>
          </a:p>
        </p:txBody>
      </p:sp>
      <p:sp>
        <p:nvSpPr>
          <p:cNvPr id="6" name="TextBox 5"/>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96689811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89290" cy="2169825"/>
          </a:xfrm>
          <a:prstGeom prst="rect">
            <a:avLst/>
          </a:prstGeom>
        </p:spPr>
        <p:txBody>
          <a:bodyPr wrap="square">
            <a:spAutoFit/>
          </a:bodyPr>
          <a:lstStyle/>
          <a:p>
            <a:pPr>
              <a:lnSpc>
                <a:spcPct val="150000"/>
              </a:lnSpc>
            </a:pPr>
            <a:r>
              <a:rPr lang="en-US" b="1" dirty="0">
                <a:latin typeface="Arial" pitchFamily="34" charset="0"/>
                <a:cs typeface="Arial" pitchFamily="34" charset="0"/>
              </a:rPr>
              <a:t>Just as the engine of the car can run dry and come to a standstill, so did the markets in the village in the absence of money that did not reach the markets even though there was plenty of money in the homes of the villagers. This is just like saying that there is a lot of petrol in the pump but not a drop in the car’s engine.</a:t>
            </a:r>
            <a:endParaRPr lang="en-US" b="1" u="sng"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4680842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89290" cy="2126864"/>
          </a:xfrm>
          <a:prstGeom prst="rect">
            <a:avLst/>
          </a:prstGeom>
        </p:spPr>
        <p:txBody>
          <a:bodyPr wrap="square">
            <a:spAutoFit/>
          </a:bodyPr>
          <a:lstStyle/>
          <a:p>
            <a:pPr>
              <a:lnSpc>
                <a:spcPct val="150000"/>
              </a:lnSpc>
            </a:pPr>
            <a:r>
              <a:rPr lang="en-US" b="1" dirty="0">
                <a:latin typeface="Arial" pitchFamily="34" charset="0"/>
                <a:cs typeface="Arial" pitchFamily="34" charset="0"/>
              </a:rPr>
              <a:t>There was only pain and misery left in the village. Although there was no external threat to their jobs but the peculiar behavior of the villagers to save money and stop buying goods and services was turning out to be the cause of job losses. So in a sense, the behavior of the villagers was making their nightmare come alive.</a:t>
            </a:r>
            <a:endParaRPr lang="en-US" b="1" dirty="0">
              <a:solidFill>
                <a:srgbClr val="000000"/>
              </a:solidFill>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6004914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89290" cy="2118529"/>
          </a:xfrm>
          <a:prstGeom prst="rect">
            <a:avLst/>
          </a:prstGeom>
        </p:spPr>
        <p:txBody>
          <a:bodyPr wrap="square">
            <a:spAutoFit/>
          </a:bodyPr>
          <a:lstStyle/>
          <a:p>
            <a:pPr>
              <a:lnSpc>
                <a:spcPct val="150000"/>
              </a:lnSpc>
              <a:tabLst>
                <a:tab pos="344488" algn="l"/>
              </a:tabLst>
            </a:pPr>
            <a:r>
              <a:rPr lang="en-US" b="1" dirty="0">
                <a:latin typeface="Arial" pitchFamily="34" charset="0"/>
                <a:cs typeface="Arial" pitchFamily="34" charset="0"/>
              </a:rPr>
              <a:t>The government official was afraid that the villagers would destroy themselves if they continued on this path. So he thought of an idea to release the village from this grip of </a:t>
            </a:r>
            <a:r>
              <a:rPr lang="en-US" b="1" dirty="0" smtClean="0">
                <a:latin typeface="Arial" pitchFamily="34" charset="0"/>
                <a:cs typeface="Arial" pitchFamily="34" charset="0"/>
              </a:rPr>
              <a:t>negativity.</a:t>
            </a:r>
            <a:br>
              <a:rPr lang="en-US" b="1" dirty="0" smtClean="0">
                <a:latin typeface="Arial" pitchFamily="34" charset="0"/>
                <a:cs typeface="Arial" pitchFamily="34" charset="0"/>
              </a:rPr>
            </a:br>
            <a:r>
              <a:rPr lang="en-US" b="1" dirty="0" smtClean="0">
                <a:latin typeface="Arial" pitchFamily="34" charset="0"/>
                <a:cs typeface="Arial" pitchFamily="34" charset="0"/>
              </a:rPr>
              <a:t>He </a:t>
            </a:r>
            <a:r>
              <a:rPr lang="en-US" b="1" dirty="0">
                <a:latin typeface="Arial" pitchFamily="34" charset="0"/>
                <a:cs typeface="Arial" pitchFamily="34" charset="0"/>
              </a:rPr>
              <a:t>made an unprecedented announcement to jolt the villagers into action.</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6240065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89290" cy="3373359"/>
          </a:xfrm>
          <a:prstGeom prst="rect">
            <a:avLst/>
          </a:prstGeom>
        </p:spPr>
        <p:txBody>
          <a:bodyPr wrap="square">
            <a:spAutoFit/>
          </a:bodyPr>
          <a:lstStyle/>
          <a:p>
            <a:pPr>
              <a:lnSpc>
                <a:spcPct val="150000"/>
              </a:lnSpc>
              <a:defRPr/>
            </a:pPr>
            <a:r>
              <a:rPr lang="en-US" b="1" dirty="0">
                <a:latin typeface="Arial" pitchFamily="34" charset="0"/>
                <a:ea typeface="ＭＳ Ｐゴシック" pitchFamily="34" charset="-128"/>
                <a:cs typeface="Arial" pitchFamily="34" charset="0"/>
              </a:rPr>
              <a:t>The key parts of his announcement were </a:t>
            </a:r>
            <a:br>
              <a:rPr lang="en-US" b="1" dirty="0">
                <a:latin typeface="Arial" pitchFamily="34" charset="0"/>
                <a:ea typeface="ＭＳ Ｐゴシック" pitchFamily="34" charset="-128"/>
                <a:cs typeface="Arial" pitchFamily="34" charset="0"/>
              </a:rPr>
            </a:br>
            <a:endParaRPr lang="en-US" b="1" dirty="0">
              <a:latin typeface="Arial" pitchFamily="34" charset="0"/>
              <a:ea typeface="ＭＳ Ｐゴシック" pitchFamily="34" charset="-128"/>
              <a:cs typeface="Arial" pitchFamily="34" charset="0"/>
            </a:endParaRPr>
          </a:p>
          <a:p>
            <a:pPr marL="457200" indent="-457200">
              <a:lnSpc>
                <a:spcPct val="150000"/>
              </a:lnSpc>
              <a:buFontTx/>
              <a:buAutoNum type="arabicParenR"/>
              <a:defRPr/>
            </a:pPr>
            <a:r>
              <a:rPr lang="en-US" b="1" dirty="0">
                <a:solidFill>
                  <a:srgbClr val="C00000"/>
                </a:solidFill>
                <a:latin typeface="Arial" pitchFamily="34" charset="0"/>
                <a:ea typeface="ＭＳ Ｐゴシック" pitchFamily="34" charset="-128"/>
                <a:cs typeface="Arial" pitchFamily="34" charset="0"/>
              </a:rPr>
              <a:t>Money would be made available to everybody at 0% interest. </a:t>
            </a:r>
          </a:p>
          <a:p>
            <a:pPr marL="457200" indent="-457200">
              <a:lnSpc>
                <a:spcPct val="150000"/>
              </a:lnSpc>
              <a:buFontTx/>
              <a:buAutoNum type="arabicParenR"/>
              <a:defRPr/>
            </a:pPr>
            <a:r>
              <a:rPr lang="en-US" b="1" dirty="0">
                <a:solidFill>
                  <a:srgbClr val="C00000"/>
                </a:solidFill>
                <a:latin typeface="Arial" pitchFamily="34" charset="0"/>
                <a:ea typeface="ＭＳ Ｐゴシック" pitchFamily="34" charset="-128"/>
                <a:cs typeface="Arial" pitchFamily="34" charset="0"/>
              </a:rPr>
              <a:t>As much money that would be needed would be provided.</a:t>
            </a:r>
          </a:p>
          <a:p>
            <a:pPr marL="457200" indent="-457200">
              <a:lnSpc>
                <a:spcPct val="150000"/>
              </a:lnSpc>
              <a:buFontTx/>
              <a:buAutoNum type="arabicParenR"/>
              <a:defRPr/>
            </a:pPr>
            <a:r>
              <a:rPr lang="en-US" b="1" dirty="0">
                <a:solidFill>
                  <a:srgbClr val="C00000"/>
                </a:solidFill>
                <a:latin typeface="Arial" pitchFamily="34" charset="0"/>
                <a:ea typeface="ＭＳ Ｐゴシック" pitchFamily="34" charset="-128"/>
                <a:cs typeface="Arial" pitchFamily="34" charset="0"/>
              </a:rPr>
              <a:t>The villagers could pay off their debts over time.</a:t>
            </a:r>
          </a:p>
          <a:p>
            <a:pPr marL="457200" indent="-457200">
              <a:lnSpc>
                <a:spcPct val="150000"/>
              </a:lnSpc>
              <a:buFontTx/>
              <a:buAutoNum type="arabicParenR"/>
              <a:defRPr/>
            </a:pPr>
            <a:r>
              <a:rPr lang="en-US" b="1" dirty="0">
                <a:solidFill>
                  <a:srgbClr val="C00000"/>
                </a:solidFill>
                <a:latin typeface="Arial" pitchFamily="34" charset="0"/>
                <a:ea typeface="ＭＳ Ｐゴシック" pitchFamily="34" charset="-128"/>
                <a:cs typeface="Arial" pitchFamily="34" charset="0"/>
              </a:rPr>
              <a:t>The government would buy off all the debt that others owed them which meant the villages would be only indebted to the government and no-one else going forward.</a:t>
            </a:r>
            <a:endParaRPr lang="en-US" b="1" dirty="0">
              <a:solidFill>
                <a:srgbClr val="000000"/>
              </a:solidFill>
              <a:latin typeface="Arial" pitchFamily="34" charset="0"/>
              <a:ea typeface="ＭＳ Ｐゴシック" pitchFamily="34" charset="-128"/>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9093775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1960" y="4850486"/>
            <a:ext cx="4104456" cy="872034"/>
          </a:xfrm>
          <a:prstGeom prst="rect">
            <a:avLst/>
          </a:prstGeom>
        </p:spPr>
        <p:txBody>
          <a:bodyPr wrap="square">
            <a:spAutoFit/>
          </a:bodyPr>
          <a:lstStyle/>
          <a:p>
            <a:pPr>
              <a:lnSpc>
                <a:spcPct val="150000"/>
              </a:lnSpc>
            </a:pPr>
            <a:r>
              <a:rPr lang="en-US" b="1" dirty="0">
                <a:latin typeface="Arial" pitchFamily="34" charset="0"/>
                <a:cs typeface="Arial" pitchFamily="34" charset="0"/>
              </a:rPr>
              <a:t>This announcement </a:t>
            </a:r>
            <a:r>
              <a:rPr lang="en-US" b="1" dirty="0" smtClean="0">
                <a:latin typeface="Arial" pitchFamily="34" charset="0"/>
                <a:cs typeface="Arial" pitchFamily="34" charset="0"/>
              </a:rPr>
              <a:t>worked like </a:t>
            </a:r>
            <a:r>
              <a:rPr lang="en-US" b="1" dirty="0">
                <a:latin typeface="Arial" pitchFamily="34" charset="0"/>
                <a:cs typeface="Arial" pitchFamily="34" charset="0"/>
              </a:rPr>
              <a:t>magic for the villagers.</a:t>
            </a:r>
            <a:endParaRPr lang="en-US" sz="1600" b="1" dirty="0">
              <a:latin typeface="Arial" pitchFamily="34" charset="0"/>
              <a:cs typeface="Arial" pitchFamily="34" charset="0"/>
            </a:endParaRP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3380625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10125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The assurance of easy money made them realize that it was futile to hoard money in their homes. The announcement encouraged them to buy goods and services from the market. This led to an increase in the demand for goods and services.</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8263839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89290" cy="3000821"/>
          </a:xfrm>
          <a:prstGeom prst="rect">
            <a:avLst/>
          </a:prstGeom>
        </p:spPr>
        <p:txBody>
          <a:bodyPr wrap="square">
            <a:spAutoFit/>
          </a:bodyPr>
          <a:lstStyle/>
          <a:p>
            <a:pPr>
              <a:lnSpc>
                <a:spcPct val="150000"/>
              </a:lnSpc>
            </a:pPr>
            <a:r>
              <a:rPr lang="en-US" b="1" dirty="0">
                <a:latin typeface="Arial" pitchFamily="34" charset="0"/>
                <a:cs typeface="Arial" pitchFamily="34" charset="0"/>
              </a:rPr>
              <a:t>Soon, the producers of other goods and services who </a:t>
            </a:r>
            <a:r>
              <a:rPr lang="en-US" b="1" dirty="0" smtClean="0">
                <a:latin typeface="Arial" pitchFamily="34" charset="0"/>
                <a:cs typeface="Arial" pitchFamily="34" charset="0"/>
              </a:rPr>
              <a:t>had</a:t>
            </a:r>
            <a:br>
              <a:rPr lang="en-US" b="1" dirty="0" smtClean="0">
                <a:latin typeface="Arial" pitchFamily="34" charset="0"/>
                <a:cs typeface="Arial" pitchFamily="34" charset="0"/>
              </a:rPr>
            </a:br>
            <a:r>
              <a:rPr lang="en-US" b="1" dirty="0" smtClean="0">
                <a:latin typeface="Arial" pitchFamily="34" charset="0"/>
                <a:cs typeface="Arial" pitchFamily="34" charset="0"/>
              </a:rPr>
              <a:t>fled </a:t>
            </a:r>
            <a:r>
              <a:rPr lang="en-US" b="1" dirty="0">
                <a:latin typeface="Arial" pitchFamily="34" charset="0"/>
                <a:cs typeface="Arial" pitchFamily="34" charset="0"/>
              </a:rPr>
              <a:t>from the village started to return in large </a:t>
            </a:r>
            <a:r>
              <a:rPr lang="en-US" b="1" dirty="0" smtClean="0">
                <a:latin typeface="Arial" pitchFamily="34" charset="0"/>
                <a:cs typeface="Arial" pitchFamily="34" charset="0"/>
              </a:rPr>
              <a:t>numbers.</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entertainment hub also sprung into action. The economic engine sputtered back  into action just as a car engine would when supply of fuel resumes. The sentiments of the </a:t>
            </a:r>
            <a:r>
              <a:rPr lang="en-US" b="1" dirty="0" smtClean="0">
                <a:latin typeface="Arial" pitchFamily="34" charset="0"/>
                <a:cs typeface="Arial" pitchFamily="34" charset="0"/>
              </a:rPr>
              <a:t>villagers</a:t>
            </a:r>
            <a:br>
              <a:rPr lang="en-US" b="1" dirty="0" smtClean="0">
                <a:latin typeface="Arial" pitchFamily="34" charset="0"/>
                <a:cs typeface="Arial" pitchFamily="34" charset="0"/>
              </a:rPr>
            </a:br>
            <a:r>
              <a:rPr lang="en-US" b="1" dirty="0" smtClean="0">
                <a:latin typeface="Arial" pitchFamily="34" charset="0"/>
                <a:cs typeface="Arial" pitchFamily="34" charset="0"/>
              </a:rPr>
              <a:t>took a U </a:t>
            </a:r>
            <a:r>
              <a:rPr lang="en-US" b="1" dirty="0">
                <a:latin typeface="Arial" pitchFamily="34" charset="0"/>
                <a:cs typeface="Arial" pitchFamily="34" charset="0"/>
              </a:rPr>
              <a:t>turn from negativity to positivity and </a:t>
            </a:r>
            <a:r>
              <a:rPr lang="en-US" b="1" dirty="0" err="1">
                <a:latin typeface="Arial" pitchFamily="34" charset="0"/>
                <a:cs typeface="Arial" pitchFamily="34" charset="0"/>
              </a:rPr>
              <a:t>Dukhsagar</a:t>
            </a:r>
            <a:r>
              <a:rPr lang="en-US" b="1" dirty="0">
                <a:latin typeface="Arial" pitchFamily="34" charset="0"/>
                <a:cs typeface="Arial" pitchFamily="34" charset="0"/>
              </a:rPr>
              <a:t> once again turned into </a:t>
            </a:r>
            <a:r>
              <a:rPr lang="en-US" b="1" dirty="0" err="1">
                <a:latin typeface="Arial" pitchFamily="34" charset="0"/>
                <a:cs typeface="Arial" pitchFamily="34" charset="0"/>
              </a:rPr>
              <a:t>Sukhsagar</a:t>
            </a:r>
            <a:r>
              <a:rPr lang="en-US" b="1" dirty="0">
                <a:latin typeface="Arial" pitchFamily="34" charset="0"/>
                <a:cs typeface="Arial" pitchFamily="34" charset="0"/>
              </a:rPr>
              <a:t>.</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7733372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89290" cy="2534027"/>
          </a:xfrm>
          <a:prstGeom prst="rect">
            <a:avLst/>
          </a:prstGeom>
        </p:spPr>
        <p:txBody>
          <a:bodyPr wrap="square">
            <a:spAutoFit/>
          </a:bodyPr>
          <a:lstStyle/>
          <a:p>
            <a:pPr>
              <a:lnSpc>
                <a:spcPct val="150000"/>
              </a:lnSpc>
            </a:pPr>
            <a:r>
              <a:rPr lang="en-US" b="1" dirty="0">
                <a:latin typeface="Arial" pitchFamily="34" charset="0"/>
                <a:cs typeface="Arial" pitchFamily="34" charset="0"/>
              </a:rPr>
              <a:t>This process of releasing money into the hands of people to revive sentiment and getting people to actively participate in economic activity is what is popularly known as, “Quantitative Easing”. Quantitative easing literally means easing (or increasing) the supply of money in the economy. This is done by printing additional currency.</a:t>
            </a:r>
            <a:endParaRPr lang="en-US" sz="1600"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05810458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389290" cy="2585323"/>
          </a:xfrm>
          <a:prstGeom prst="rect">
            <a:avLst/>
          </a:prstGeom>
        </p:spPr>
        <p:txBody>
          <a:bodyPr wrap="square">
            <a:spAutoFit/>
          </a:bodyPr>
          <a:lstStyle/>
          <a:p>
            <a:pPr>
              <a:lnSpc>
                <a:spcPct val="150000"/>
              </a:lnSpc>
            </a:pPr>
            <a:r>
              <a:rPr lang="en-US" b="1" dirty="0">
                <a:latin typeface="Arial" pitchFamily="34" charset="0"/>
                <a:cs typeface="Arial" pitchFamily="34" charset="0"/>
              </a:rPr>
              <a:t>The cheap money released becomes an incentive for </a:t>
            </a:r>
            <a:r>
              <a:rPr lang="en-US" b="1" dirty="0" smtClean="0">
                <a:latin typeface="Arial" pitchFamily="34" charset="0"/>
                <a:cs typeface="Arial" pitchFamily="34" charset="0"/>
              </a:rPr>
              <a:t>the</a:t>
            </a:r>
            <a:br>
              <a:rPr lang="en-US" b="1" dirty="0" smtClean="0">
                <a:latin typeface="Arial" pitchFamily="34" charset="0"/>
                <a:cs typeface="Arial" pitchFamily="34" charset="0"/>
              </a:rPr>
            </a:br>
            <a:r>
              <a:rPr lang="en-US" b="1" dirty="0" smtClean="0">
                <a:latin typeface="Arial" pitchFamily="34" charset="0"/>
                <a:cs typeface="Arial" pitchFamily="34" charset="0"/>
              </a:rPr>
              <a:t>people </a:t>
            </a:r>
            <a:r>
              <a:rPr lang="en-US" b="1" dirty="0">
                <a:latin typeface="Arial" pitchFamily="34" charset="0"/>
                <a:cs typeface="Arial" pitchFamily="34" charset="0"/>
              </a:rPr>
              <a:t>to consume and invest. While consumption </a:t>
            </a:r>
            <a:r>
              <a:rPr lang="en-US" b="1" dirty="0" smtClean="0">
                <a:latin typeface="Arial" pitchFamily="34" charset="0"/>
                <a:cs typeface="Arial" pitchFamily="34" charset="0"/>
              </a:rPr>
              <a:t>increases,</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demand for goods and services infuses life to the production process, investment provides the credit to build manufacturing capacity for goods and services so that the rise in demand does not lead to high inflation.</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9506361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716016" y="1556792"/>
            <a:ext cx="3600400" cy="4662815"/>
          </a:xfrm>
          <a:prstGeom prst="rect">
            <a:avLst/>
          </a:prstGeom>
        </p:spPr>
        <p:txBody>
          <a:bodyPr wrap="square">
            <a:spAutoFit/>
          </a:bodyPr>
          <a:lstStyle/>
          <a:p>
            <a:pPr>
              <a:lnSpc>
                <a:spcPct val="150000"/>
              </a:lnSpc>
            </a:pPr>
            <a:r>
              <a:rPr lang="en-US" b="1" dirty="0">
                <a:latin typeface="Arial" pitchFamily="34" charset="0"/>
                <a:cs typeface="Arial" pitchFamily="34" charset="0"/>
              </a:rPr>
              <a:t>Thus changing </a:t>
            </a:r>
            <a:r>
              <a:rPr lang="en-US" b="1" dirty="0" smtClean="0">
                <a:latin typeface="Arial" pitchFamily="34" charset="0"/>
                <a:cs typeface="Arial" pitchFamily="34" charset="0"/>
              </a:rPr>
              <a:t>sentiments</a:t>
            </a:r>
            <a:br>
              <a:rPr lang="en-US" b="1" dirty="0" smtClean="0">
                <a:latin typeface="Arial" pitchFamily="34" charset="0"/>
                <a:cs typeface="Arial" pitchFamily="34" charset="0"/>
              </a:rPr>
            </a:br>
            <a:r>
              <a:rPr lang="en-US" b="1" dirty="0" smtClean="0">
                <a:latin typeface="Arial" pitchFamily="34" charset="0"/>
                <a:cs typeface="Arial" pitchFamily="34" charset="0"/>
              </a:rPr>
              <a:t>is </a:t>
            </a:r>
            <a:r>
              <a:rPr lang="en-US" b="1" dirty="0">
                <a:latin typeface="Arial" pitchFamily="34" charset="0"/>
                <a:cs typeface="Arial" pitchFamily="34" charset="0"/>
              </a:rPr>
              <a:t>a self fulfilling prophecy that helps the economy to gain momentum and sustains itself. The moment sentiments change, people are inclined to hoard less and inject more money into the economy. </a:t>
            </a:r>
            <a:r>
              <a:rPr lang="en-US" b="1" dirty="0" smtClean="0">
                <a:latin typeface="Arial" pitchFamily="34" charset="0"/>
                <a:cs typeface="Arial" pitchFamily="34" charset="0"/>
              </a:rPr>
              <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infused money acts as the lubricant for the economy to chug along smoothly.</a:t>
            </a:r>
            <a:endParaRPr lang="en-US" b="1" dirty="0">
              <a:solidFill>
                <a:srgbClr val="000000"/>
              </a:solidFill>
              <a:latin typeface="Arial" pitchFamily="34" charset="0"/>
              <a:cs typeface="Arial" pitchFamily="34" charset="0"/>
            </a:endParaRP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9863493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771800" y="1556792"/>
            <a:ext cx="4176464" cy="923330"/>
          </a:xfrm>
          <a:prstGeom prst="rect">
            <a:avLst/>
          </a:prstGeom>
          <a:noFill/>
        </p:spPr>
        <p:txBody>
          <a:bodyPr wrap="square" rtlCol="0">
            <a:spAutoFit/>
          </a:bodyPr>
          <a:lstStyle/>
          <a:p>
            <a:pPr algn="ctr">
              <a:lnSpc>
                <a:spcPct val="150000"/>
              </a:lnSpc>
            </a:pPr>
            <a:r>
              <a:rPr lang="en-US" b="1" dirty="0">
                <a:latin typeface="Arial" pitchFamily="34" charset="0"/>
                <a:ea typeface="ＭＳ Ｐゴシック"/>
                <a:cs typeface="Arial" pitchFamily="34" charset="0"/>
              </a:rPr>
              <a:t>Hope this story has helped clarify </a:t>
            </a:r>
          </a:p>
          <a:p>
            <a:pPr algn="ctr">
              <a:lnSpc>
                <a:spcPct val="150000"/>
              </a:lnSpc>
            </a:pPr>
            <a:r>
              <a:rPr lang="en-US" b="1" dirty="0">
                <a:latin typeface="Arial" pitchFamily="34" charset="0"/>
                <a:ea typeface="ＭＳ Ｐゴシック"/>
                <a:cs typeface="Arial" pitchFamily="34" charset="0"/>
              </a:rPr>
              <a:t>QE (Quantitative Easing)</a:t>
            </a:r>
          </a:p>
        </p:txBody>
      </p:sp>
      <p:sp>
        <p:nvSpPr>
          <p:cNvPr id="4" name="TextBox 3"/>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ea typeface="ＭＳ Ｐゴシック"/>
                <a:cs typeface="Arial" pitchFamily="34" charset="0"/>
              </a:rPr>
              <a:t>QUANTITATIVE EASING</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66258587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154251" y="1988840"/>
            <a:ext cx="3705781" cy="927433"/>
          </a:xfrm>
          <a:prstGeom prst="rect">
            <a:avLst/>
          </a:prstGeom>
          <a:noFill/>
        </p:spPr>
        <p:txBody>
          <a:bodyPr wrap="square" rtlCol="0">
            <a:spAutoFit/>
          </a:bodyPr>
          <a:lstStyle/>
          <a:p>
            <a:pPr marL="342900" indent="-342900" algn="ctr">
              <a:lnSpc>
                <a:spcPct val="150000"/>
              </a:lnSpc>
              <a:spcBef>
                <a:spcPct val="20000"/>
              </a:spcBef>
            </a:pPr>
            <a:r>
              <a:rPr lang="en-US" b="1" dirty="0">
                <a:latin typeface="Arial" pitchFamily="34" charset="0"/>
                <a:cs typeface="Arial" pitchFamily="34" charset="0"/>
              </a:rPr>
              <a:t>Please give us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2140</TotalTime>
  <Words>1133</Words>
  <Application>Microsoft Office PowerPoint</Application>
  <PresentationFormat>On-screen Show (4:3)</PresentationFormat>
  <Paragraphs>62</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237</cp:revision>
  <dcterms:created xsi:type="dcterms:W3CDTF">2013-10-22T09:41:31Z</dcterms:created>
  <dcterms:modified xsi:type="dcterms:W3CDTF">2014-03-04T12:18:39Z</dcterms:modified>
</cp:coreProperties>
</file>