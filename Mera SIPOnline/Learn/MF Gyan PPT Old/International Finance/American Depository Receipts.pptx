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318" r:id="rId3"/>
    <p:sldId id="334" r:id="rId4"/>
    <p:sldId id="335" r:id="rId5"/>
    <p:sldId id="336" r:id="rId6"/>
    <p:sldId id="337" r:id="rId7"/>
    <p:sldId id="338" r:id="rId8"/>
    <p:sldId id="339" r:id="rId9"/>
    <p:sldId id="340" r:id="rId10"/>
    <p:sldId id="322" r:id="rId11"/>
    <p:sldId id="287" r:id="rId12"/>
    <p:sldId id="27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0" d="100"/>
          <a:sy n="40" d="100"/>
        </p:scale>
        <p:origin x="-120" y="-79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10-Sep-14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10-Sep-14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10-Sep-14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10-Sep-14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10-Sep-14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10-Sep-14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10-Sep-14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10-Sep-14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10-Sep-14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mailto:hmasurkar@tataamc.com"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08920"/>
            <a:ext cx="3957590" cy="436273"/>
          </a:xfrm>
          <a:prstGeom prst="rect">
            <a:avLst/>
          </a:prstGeom>
          <a:noFill/>
        </p:spPr>
        <p:txBody>
          <a:bodyPr wrap="square" rtlCol="0">
            <a:spAutoFit/>
          </a:bodyPr>
          <a:lstStyle/>
          <a:p>
            <a:pPr algn="ctr">
              <a:lnSpc>
                <a:spcPct val="150000"/>
              </a:lnSpc>
            </a:pPr>
            <a:r>
              <a:rPr lang="en-US" sz="1700" b="1" dirty="0" smtClean="0">
                <a:solidFill>
                  <a:schemeClr val="bg1"/>
                </a:solidFill>
                <a:latin typeface="Arial" pitchFamily="34" charset="0"/>
                <a:cs typeface="Arial" pitchFamily="34" charset="0"/>
              </a:rPr>
              <a:t>AMERICAN DEPOSITORY RECEIPTS</a:t>
            </a:r>
            <a:endParaRPr lang="en-US" sz="17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000108"/>
            <a:ext cx="8280920" cy="3970318"/>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ADR is a stock that trades in stock exchanges in </a:t>
            </a:r>
            <a:r>
              <a:rPr lang="en-US" b="1" dirty="0" smtClean="0">
                <a:latin typeface="Arial" pitchFamily="34" charset="0"/>
                <a:cs typeface="Arial" pitchFamily="34" charset="0"/>
              </a:rPr>
              <a:t>the United </a:t>
            </a:r>
            <a:r>
              <a:rPr lang="en-US" b="1" dirty="0">
                <a:latin typeface="Arial" pitchFamily="34" charset="0"/>
                <a:cs typeface="Arial" pitchFamily="34" charset="0"/>
              </a:rPr>
              <a:t>States. It is a dollar denominated form of </a:t>
            </a:r>
            <a:r>
              <a:rPr lang="en-US" b="1" dirty="0" smtClean="0">
                <a:latin typeface="Arial" pitchFamily="34" charset="0"/>
                <a:cs typeface="Arial" pitchFamily="34" charset="0"/>
              </a:rPr>
              <a:t>equity ownership </a:t>
            </a:r>
            <a:r>
              <a:rPr lang="en-US" b="1" dirty="0">
                <a:latin typeface="Arial" pitchFamily="34" charset="0"/>
                <a:cs typeface="Arial" pitchFamily="34" charset="0"/>
              </a:rPr>
              <a:t>in a non-US </a:t>
            </a:r>
            <a:r>
              <a:rPr lang="en-US" b="1" dirty="0" smtClean="0">
                <a:latin typeface="Arial" pitchFamily="34" charset="0"/>
                <a:cs typeface="Arial" pitchFamily="34" charset="0"/>
              </a:rPr>
              <a:t>company.</a:t>
            </a: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Each ADR represents a specific number of </a:t>
            </a:r>
            <a:r>
              <a:rPr lang="en-US" b="1" dirty="0" smtClean="0">
                <a:latin typeface="Arial" pitchFamily="34" charset="0"/>
                <a:cs typeface="Arial" pitchFamily="34" charset="0"/>
              </a:rPr>
              <a:t>shares (one </a:t>
            </a:r>
            <a:r>
              <a:rPr lang="en-US" b="1" dirty="0">
                <a:latin typeface="Arial" pitchFamily="34" charset="0"/>
                <a:cs typeface="Arial" pitchFamily="34" charset="0"/>
              </a:rPr>
              <a:t>or more) in a foreign corporation</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ADRs pay dividends in US dollars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ADRs are traded on NYSE, NASDAQ and AMEX </a:t>
            </a:r>
            <a:r>
              <a:rPr lang="en-US" b="1">
                <a:latin typeface="Arial" pitchFamily="34" charset="0"/>
                <a:cs typeface="Arial" pitchFamily="34" charset="0"/>
              </a:rPr>
              <a:t>in </a:t>
            </a:r>
            <a:r>
              <a:rPr lang="en-US" b="1" smtClean="0">
                <a:latin typeface="Arial" pitchFamily="34" charset="0"/>
                <a:cs typeface="Arial" pitchFamily="34" charset="0"/>
              </a:rPr>
              <a:t>the United </a:t>
            </a:r>
            <a:r>
              <a:rPr lang="en-US" b="1" dirty="0">
                <a:latin typeface="Arial" pitchFamily="34" charset="0"/>
                <a:cs typeface="Arial" pitchFamily="34" charset="0"/>
              </a:rPr>
              <a:t>States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ADRS were introduced in the financial markets in 1927</a:t>
            </a: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358114" cy="463075"/>
          </a:xfrm>
          <a:prstGeom prst="rect">
            <a:avLst/>
          </a:prstGeom>
          <a:noFill/>
        </p:spPr>
        <p:txBody>
          <a:bodyPr wrap="square" rtlCol="0">
            <a:spAutoFit/>
          </a:bodyPr>
          <a:lstStyle/>
          <a:p>
            <a:pPr marL="354013" indent="-354013" algn="ctr">
              <a:lnSpc>
                <a:spcPct val="150000"/>
              </a:lnSpc>
              <a:tabLst>
                <a:tab pos="354013" algn="l"/>
              </a:tabLst>
            </a:pPr>
            <a:r>
              <a:rPr lang="en-US" b="1" dirty="0">
                <a:latin typeface="Arial" pitchFamily="34" charset="0"/>
                <a:cs typeface="Arial" pitchFamily="34" charset="0"/>
              </a:rPr>
              <a:t>How did ADRs start…</a:t>
            </a:r>
            <a:endParaRPr lang="en-US" b="1" dirty="0" smtClean="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
        <p:nvSpPr>
          <p:cNvPr id="6" name="Rectangle 5"/>
          <p:cNvSpPr/>
          <p:nvPr/>
        </p:nvSpPr>
        <p:spPr>
          <a:xfrm>
            <a:off x="827584" y="1484784"/>
            <a:ext cx="7244878"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Due to complexities involved in buying shares in foreign countries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These complexities involved trading at different prices and differing currency values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So, US banks (acting as depositories) simply purchase a bulk lot of shares from the foreign company</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bulk lot is then bundled into groups and re-issued on NYSE, NASDAQ and AMEX.</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358114" cy="46307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Then…</a:t>
            </a:r>
            <a:endParaRPr lang="en-US" b="1" dirty="0" smtClean="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
        <p:nvSpPr>
          <p:cNvPr id="6" name="Rectangle 5"/>
          <p:cNvSpPr/>
          <p:nvPr/>
        </p:nvSpPr>
        <p:spPr>
          <a:xfrm>
            <a:off x="711102" y="1371540"/>
            <a:ext cx="7821338" cy="3785652"/>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In return, the foreign company provides detailed financial information to the sponsor or depository </a:t>
            </a:r>
            <a:r>
              <a:rPr lang="en-US" sz="1600" b="1" dirty="0" smtClean="0">
                <a:latin typeface="Arial" pitchFamily="34" charset="0"/>
                <a:cs typeface="Arial" pitchFamily="34" charset="0"/>
              </a:rPr>
              <a:t>bank</a:t>
            </a:r>
            <a:endParaRPr lang="en-US" sz="5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The depository bank sets the ratio of ADRs per </a:t>
            </a:r>
            <a:r>
              <a:rPr lang="en-US" sz="1600" b="1" u="sng" dirty="0">
                <a:latin typeface="Arial" pitchFamily="34" charset="0"/>
                <a:cs typeface="Arial" pitchFamily="34" charset="0"/>
              </a:rPr>
              <a:t>actual share</a:t>
            </a:r>
            <a:r>
              <a:rPr lang="en-US" sz="1600" b="1" dirty="0">
                <a:latin typeface="Arial" pitchFamily="34" charset="0"/>
                <a:cs typeface="Arial" pitchFamily="34" charset="0"/>
              </a:rPr>
              <a:t> of the foreign </a:t>
            </a:r>
            <a:r>
              <a:rPr lang="en-US" sz="1600" b="1" dirty="0" err="1">
                <a:latin typeface="Arial" pitchFamily="34" charset="0"/>
                <a:cs typeface="Arial" pitchFamily="34" charset="0"/>
              </a:rPr>
              <a:t>comopany</a:t>
            </a:r>
            <a:r>
              <a:rPr lang="en-US" sz="1600" b="1" dirty="0">
                <a:latin typeface="Arial" pitchFamily="34" charset="0"/>
                <a:cs typeface="Arial" pitchFamily="34" charset="0"/>
              </a:rPr>
              <a:t>. </a:t>
            </a:r>
            <a:endParaRPr lang="en-US" sz="500" b="1" dirty="0">
              <a:latin typeface="Arial" pitchFamily="34" charset="0"/>
              <a:cs typeface="Arial" pitchFamily="34" charset="0"/>
            </a:endParaRPr>
          </a:p>
          <a:p>
            <a:pPr marL="798513" lvl="1" indent="-798513">
              <a:lnSpc>
                <a:spcPct val="150000"/>
              </a:lnSpc>
              <a:tabLst>
                <a:tab pos="465138" algn="l"/>
                <a:tab pos="798513" algn="l"/>
              </a:tabLst>
            </a:pPr>
            <a:r>
              <a:rPr lang="en-US" sz="1600" b="1" dirty="0" smtClean="0">
                <a:latin typeface="Arial" pitchFamily="34" charset="0"/>
                <a:cs typeface="Arial" pitchFamily="34" charset="0"/>
              </a:rPr>
              <a:t>	-	For </a:t>
            </a:r>
            <a:r>
              <a:rPr lang="en-US" sz="1600" b="1" dirty="0" err="1">
                <a:latin typeface="Arial" pitchFamily="34" charset="0"/>
                <a:cs typeface="Arial" pitchFamily="34" charset="0"/>
              </a:rPr>
              <a:t>eg</a:t>
            </a:r>
            <a:r>
              <a:rPr lang="en-US" sz="1600" b="1" dirty="0">
                <a:latin typeface="Arial" pitchFamily="34" charset="0"/>
                <a:cs typeface="Arial" pitchFamily="34" charset="0"/>
              </a:rPr>
              <a:t>. 10 shares of the foreign company may be equal to 1 </a:t>
            </a:r>
            <a:r>
              <a:rPr lang="en-US" sz="1600" b="1" dirty="0" smtClean="0">
                <a:latin typeface="Arial" pitchFamily="34" charset="0"/>
                <a:cs typeface="Arial" pitchFamily="34" charset="0"/>
              </a:rPr>
              <a:t>ADR.</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So </a:t>
            </a:r>
            <a:r>
              <a:rPr lang="en-US" sz="1600" b="1" dirty="0">
                <a:latin typeface="Arial" pitchFamily="34" charset="0"/>
                <a:cs typeface="Arial" pitchFamily="34" charset="0"/>
              </a:rPr>
              <a:t>ratio is pegged at </a:t>
            </a:r>
            <a:r>
              <a:rPr lang="en-US" sz="1600" b="1" dirty="0" smtClean="0">
                <a:latin typeface="Arial" pitchFamily="34" charset="0"/>
                <a:cs typeface="Arial" pitchFamily="34" charset="0"/>
              </a:rPr>
              <a:t>10:1</a:t>
            </a:r>
            <a:endParaRPr lang="en-US" sz="500" b="1" dirty="0" smtClean="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smtClean="0">
                <a:latin typeface="Arial" pitchFamily="34" charset="0"/>
                <a:cs typeface="Arial" pitchFamily="34" charset="0"/>
              </a:rPr>
              <a:t>The </a:t>
            </a:r>
            <a:r>
              <a:rPr lang="en-US" sz="1600" b="1" dirty="0">
                <a:latin typeface="Arial" pitchFamily="34" charset="0"/>
                <a:cs typeface="Arial" pitchFamily="34" charset="0"/>
              </a:rPr>
              <a:t>ratio, </a:t>
            </a:r>
            <a:r>
              <a:rPr lang="en-US" sz="1600" b="1" dirty="0" err="1">
                <a:latin typeface="Arial" pitchFamily="34" charset="0"/>
                <a:cs typeface="Arial" pitchFamily="34" charset="0"/>
              </a:rPr>
              <a:t>trypcally</a:t>
            </a:r>
            <a:r>
              <a:rPr lang="en-US" sz="1600" b="1" dirty="0">
                <a:latin typeface="Arial" pitchFamily="34" charset="0"/>
                <a:cs typeface="Arial" pitchFamily="34" charset="0"/>
              </a:rPr>
              <a:t> called ‘ADR Ratio’ could be less than or greater than </a:t>
            </a:r>
            <a:r>
              <a:rPr lang="en-US" sz="1600" b="1" dirty="0" smtClean="0">
                <a:latin typeface="Arial" pitchFamily="34" charset="0"/>
                <a:cs typeface="Arial" pitchFamily="34" charset="0"/>
              </a:rPr>
              <a:t>1</a:t>
            </a:r>
            <a:endParaRPr lang="en-US" sz="500" b="1" dirty="0" smtClean="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smtClean="0">
                <a:latin typeface="Arial" pitchFamily="34" charset="0"/>
                <a:cs typeface="Arial" pitchFamily="34" charset="0"/>
              </a:rPr>
              <a:t>This </a:t>
            </a:r>
            <a:r>
              <a:rPr lang="en-US" sz="1600" b="1" dirty="0">
                <a:latin typeface="Arial" pitchFamily="34" charset="0"/>
                <a:cs typeface="Arial" pitchFamily="34" charset="0"/>
              </a:rPr>
              <a:t>ratio is set in such a way that an ADR’s price is high enough to show </a:t>
            </a:r>
            <a:r>
              <a:rPr lang="en-US" sz="1600" b="1" dirty="0" err="1">
                <a:latin typeface="Arial" pitchFamily="34" charset="0"/>
                <a:cs typeface="Arial" pitchFamily="34" charset="0"/>
              </a:rPr>
              <a:t>substnatial</a:t>
            </a:r>
            <a:r>
              <a:rPr lang="en-US" sz="1600" b="1" dirty="0">
                <a:latin typeface="Arial" pitchFamily="34" charset="0"/>
                <a:cs typeface="Arial" pitchFamily="34" charset="0"/>
              </a:rPr>
              <a:t> value, yet low enough to make it affordable for individual investors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949701"/>
            <a:ext cx="7358114" cy="46307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An example…</a:t>
            </a:r>
            <a:endParaRPr lang="en-US" b="1" dirty="0" smtClean="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
        <p:nvSpPr>
          <p:cNvPr id="6" name="Rectangle 5"/>
          <p:cNvSpPr/>
          <p:nvPr/>
        </p:nvSpPr>
        <p:spPr>
          <a:xfrm>
            <a:off x="686018" y="1412776"/>
            <a:ext cx="7702406" cy="399340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450" b="1" dirty="0">
                <a:latin typeface="Arial" pitchFamily="34" charset="0"/>
                <a:cs typeface="Arial" pitchFamily="34" charset="0"/>
              </a:rPr>
              <a:t>Most investors avoid investing in penny stocks or stocks trading at very low valuations; so…</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450" b="1" dirty="0">
                <a:latin typeface="Arial" pitchFamily="34" charset="0"/>
                <a:cs typeface="Arial" pitchFamily="34" charset="0"/>
              </a:rPr>
              <a:t>Say…a company share is trading at 50 Russian </a:t>
            </a:r>
            <a:r>
              <a:rPr lang="en-US" sz="1450" b="1" dirty="0" err="1">
                <a:latin typeface="Arial" pitchFamily="34" charset="0"/>
                <a:cs typeface="Arial" pitchFamily="34" charset="0"/>
              </a:rPr>
              <a:t>roubles</a:t>
            </a:r>
            <a:r>
              <a:rPr lang="en-US" sz="1450" b="1" dirty="0">
                <a:latin typeface="Arial" pitchFamily="34" charset="0"/>
                <a:cs typeface="Arial" pitchFamily="34" charset="0"/>
              </a:rPr>
              <a:t> per share, which is equivalent to US$ 1.50 per share</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450" b="1" dirty="0">
                <a:latin typeface="Arial" pitchFamily="34" charset="0"/>
                <a:cs typeface="Arial" pitchFamily="34" charset="0"/>
              </a:rPr>
              <a:t>This low price in US dollars may not reflect the company’s real valuation in the United States. It may appear like a low performing stock</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450" b="1" dirty="0">
                <a:latin typeface="Arial" pitchFamily="34" charset="0"/>
                <a:cs typeface="Arial" pitchFamily="34" charset="0"/>
              </a:rPr>
              <a:t>That is why, majority of ADRs range between $10 and $100 per share</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450" b="1" dirty="0">
                <a:latin typeface="Arial" pitchFamily="34" charset="0"/>
                <a:cs typeface="Arial" pitchFamily="34" charset="0"/>
              </a:rPr>
              <a:t>Thus, if in the home country - say Russia -  the share value is considerably less, then each ADR would be accordingly structured to include more </a:t>
            </a:r>
            <a:r>
              <a:rPr lang="en-US" sz="1450" b="1" dirty="0" smtClean="0">
                <a:latin typeface="Arial" pitchFamily="34" charset="0"/>
                <a:cs typeface="Arial" pitchFamily="34" charset="0"/>
              </a:rPr>
              <a:t>shares.</a:t>
            </a:r>
            <a:br>
              <a:rPr lang="en-US" sz="1450" b="1" dirty="0" smtClean="0">
                <a:latin typeface="Arial" pitchFamily="34" charset="0"/>
                <a:cs typeface="Arial" pitchFamily="34" charset="0"/>
              </a:rPr>
            </a:br>
            <a:r>
              <a:rPr lang="en-US" sz="1450" b="1" dirty="0" smtClean="0">
                <a:latin typeface="Arial" pitchFamily="34" charset="0"/>
                <a:cs typeface="Arial" pitchFamily="34" charset="0"/>
              </a:rPr>
              <a:t>This </a:t>
            </a:r>
            <a:r>
              <a:rPr lang="en-US" sz="1450" b="1" dirty="0">
                <a:latin typeface="Arial" pitchFamily="34" charset="0"/>
                <a:cs typeface="Arial" pitchFamily="34" charset="0"/>
              </a:rPr>
              <a:t>is to make the price of each ADR attractive to buyers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500990" cy="46307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How are ADRs priced?</a:t>
            </a:r>
            <a:endParaRPr lang="en-US" sz="1600" b="1" dirty="0" smtClean="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
        <p:nvSpPr>
          <p:cNvPr id="4" name="Rectangle 3"/>
          <p:cNvSpPr/>
          <p:nvPr/>
        </p:nvSpPr>
        <p:spPr>
          <a:xfrm>
            <a:off x="714348" y="1463183"/>
            <a:ext cx="7746084" cy="3862596"/>
          </a:xfrm>
          <a:prstGeom prst="rect">
            <a:avLst/>
          </a:prstGeom>
        </p:spPr>
        <p:txBody>
          <a:bodyPr wrap="square">
            <a:spAutoFit/>
          </a:bodyPr>
          <a:lstStyle/>
          <a:p>
            <a:pPr marL="465138" indent="-465138">
              <a:lnSpc>
                <a:spcPct val="150000"/>
              </a:lnSpc>
              <a:spcBef>
                <a:spcPct val="20000"/>
              </a:spcBef>
              <a:buFont typeface="Wingdings" pitchFamily="2" charset="2"/>
              <a:buChar char="q"/>
              <a:tabLst>
                <a:tab pos="465138" algn="l"/>
              </a:tabLst>
            </a:pPr>
            <a:r>
              <a:rPr lang="en-US" sz="1400" b="1" dirty="0">
                <a:latin typeface="Arial" pitchFamily="34" charset="0"/>
                <a:cs typeface="Arial" pitchFamily="34" charset="0"/>
              </a:rPr>
              <a:t>Let us assume that Russian Vodka Ltd, trades on a Russian stock </a:t>
            </a:r>
            <a:r>
              <a:rPr lang="en-US" sz="1400" b="1" dirty="0" smtClean="0">
                <a:latin typeface="Arial" pitchFamily="34" charset="0"/>
                <a:cs typeface="Arial" pitchFamily="34" charset="0"/>
              </a:rPr>
              <a:t>exchange</a:t>
            </a:r>
            <a:br>
              <a:rPr lang="en-US" sz="1400" b="1" dirty="0" smtClean="0">
                <a:latin typeface="Arial" pitchFamily="34" charset="0"/>
                <a:cs typeface="Arial" pitchFamily="34" charset="0"/>
              </a:rPr>
            </a:br>
            <a:r>
              <a:rPr lang="en-US" sz="1400" b="1" dirty="0" smtClean="0">
                <a:latin typeface="Arial" pitchFamily="34" charset="0"/>
                <a:cs typeface="Arial" pitchFamily="34" charset="0"/>
              </a:rPr>
              <a:t>at </a:t>
            </a:r>
            <a:r>
              <a:rPr lang="en-US" sz="1400" b="1" dirty="0">
                <a:latin typeface="Arial" pitchFamily="34" charset="0"/>
                <a:cs typeface="Arial" pitchFamily="34" charset="0"/>
              </a:rPr>
              <a:t>127 Russian </a:t>
            </a:r>
            <a:r>
              <a:rPr lang="en-US" sz="1400" b="1" dirty="0" err="1" smtClean="0">
                <a:latin typeface="Arial" pitchFamily="34" charset="0"/>
                <a:cs typeface="Arial" pitchFamily="34" charset="0"/>
              </a:rPr>
              <a:t>roubles</a:t>
            </a:r>
            <a:endParaRPr lang="en-US" sz="1400"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sz="1400" b="1" dirty="0">
                <a:latin typeface="Arial" pitchFamily="34" charset="0"/>
                <a:cs typeface="Arial" pitchFamily="34" charset="0"/>
              </a:rPr>
              <a:t>This is equivalent to US$4.58 – </a:t>
            </a:r>
            <a:r>
              <a:rPr lang="en-US" sz="1400" b="1" i="1" dirty="0">
                <a:latin typeface="Arial" pitchFamily="34" charset="0"/>
                <a:cs typeface="Arial" pitchFamily="34" charset="0"/>
              </a:rPr>
              <a:t>assume this for </a:t>
            </a:r>
            <a:r>
              <a:rPr lang="en-US" sz="1400" b="1" i="1" dirty="0" smtClean="0">
                <a:latin typeface="Arial" pitchFamily="34" charset="0"/>
                <a:cs typeface="Arial" pitchFamily="34" charset="0"/>
              </a:rPr>
              <a:t>simplicity</a:t>
            </a:r>
            <a:endParaRPr lang="en-US" sz="1400"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sz="1400" b="1" dirty="0">
                <a:latin typeface="Arial" pitchFamily="34" charset="0"/>
                <a:cs typeface="Arial" pitchFamily="34" charset="0"/>
              </a:rPr>
              <a:t>Now, a US bank purchases 30 million shares of Russian Vodka Ltd. and re-issues them in the US at a ratio of </a:t>
            </a:r>
            <a:r>
              <a:rPr lang="en-US" sz="1400" b="1" dirty="0" smtClean="0">
                <a:latin typeface="Arial" pitchFamily="34" charset="0"/>
                <a:cs typeface="Arial" pitchFamily="34" charset="0"/>
              </a:rPr>
              <a:t>10:1</a:t>
            </a:r>
            <a:endParaRPr lang="en-US" sz="1400"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sz="1400" b="1" dirty="0">
                <a:latin typeface="Arial" pitchFamily="34" charset="0"/>
                <a:cs typeface="Arial" pitchFamily="34" charset="0"/>
              </a:rPr>
              <a:t>This means that each ADR you purchase is worth 10 shares on the </a:t>
            </a:r>
            <a:r>
              <a:rPr lang="en-US" sz="1400" b="1" dirty="0" smtClean="0">
                <a:latin typeface="Arial" pitchFamily="34" charset="0"/>
                <a:cs typeface="Arial" pitchFamily="34" charset="0"/>
              </a:rPr>
              <a:t>Russian</a:t>
            </a:r>
            <a:br>
              <a:rPr lang="en-US" sz="1400" b="1" dirty="0" smtClean="0">
                <a:latin typeface="Arial" pitchFamily="34" charset="0"/>
                <a:cs typeface="Arial" pitchFamily="34" charset="0"/>
              </a:rPr>
            </a:br>
            <a:r>
              <a:rPr lang="en-US" sz="1400" b="1" dirty="0" smtClean="0">
                <a:latin typeface="Arial" pitchFamily="34" charset="0"/>
                <a:cs typeface="Arial" pitchFamily="34" charset="0"/>
              </a:rPr>
              <a:t>stock exchange</a:t>
            </a:r>
            <a:endParaRPr lang="en-US" sz="1400"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sz="1400" b="1" dirty="0">
                <a:latin typeface="Arial" pitchFamily="34" charset="0"/>
                <a:cs typeface="Arial" pitchFamily="34" charset="0"/>
              </a:rPr>
              <a:t>A quick calculation tells us that each ADR should have an issue price of US$45.80 (US$4.58 per share X 10 shares) – since 10 shares equal 1 </a:t>
            </a:r>
            <a:r>
              <a:rPr lang="en-US" sz="1400" b="1" dirty="0" smtClean="0">
                <a:latin typeface="Arial" pitchFamily="34" charset="0"/>
                <a:cs typeface="Arial" pitchFamily="34" charset="0"/>
              </a:rPr>
              <a:t>ADR</a:t>
            </a:r>
            <a:endParaRPr lang="en-US" sz="1400"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sz="1400" b="1" dirty="0">
                <a:latin typeface="Arial" pitchFamily="34" charset="0"/>
                <a:cs typeface="Arial" pitchFamily="34" charset="0"/>
              </a:rPr>
              <a:t>Once an ADR is priced and sold, its subsequent price is determined by </a:t>
            </a:r>
            <a:r>
              <a:rPr lang="en-US" sz="1400" b="1" dirty="0" smtClean="0">
                <a:latin typeface="Arial" pitchFamily="34" charset="0"/>
                <a:cs typeface="Arial" pitchFamily="34" charset="0"/>
              </a:rPr>
              <a:t>supply</a:t>
            </a:r>
            <a:br>
              <a:rPr lang="en-US" sz="1400" b="1" dirty="0" smtClean="0">
                <a:latin typeface="Arial" pitchFamily="34" charset="0"/>
                <a:cs typeface="Arial" pitchFamily="34" charset="0"/>
              </a:rPr>
            </a:br>
            <a:r>
              <a:rPr lang="en-US" sz="1400" b="1" dirty="0" smtClean="0">
                <a:latin typeface="Arial" pitchFamily="34" charset="0"/>
                <a:cs typeface="Arial" pitchFamily="34" charset="0"/>
              </a:rPr>
              <a:t>and </a:t>
            </a:r>
            <a:r>
              <a:rPr lang="en-US" sz="1400" b="1" dirty="0">
                <a:latin typeface="Arial" pitchFamily="34" charset="0"/>
                <a:cs typeface="Arial" pitchFamily="34" charset="0"/>
              </a:rPr>
              <a:t>demand factors, like any ordinary share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908720"/>
            <a:ext cx="7500990" cy="45653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Types of ADRs…</a:t>
            </a:r>
            <a:endParaRPr lang="en-US" sz="1600" b="1" dirty="0" smtClean="0">
              <a:latin typeface="Arial" pitchFamily="34" charset="0"/>
              <a:cs typeface="Arial" pitchFamily="34" charset="0"/>
            </a:endParaRPr>
          </a:p>
        </p:txBody>
      </p:sp>
      <p:sp>
        <p:nvSpPr>
          <p:cNvPr id="5" name="Rectangle 4"/>
          <p:cNvSpPr/>
          <p:nvPr/>
        </p:nvSpPr>
        <p:spPr>
          <a:xfrm>
            <a:off x="714348" y="1366024"/>
            <a:ext cx="7746084" cy="394146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425" b="1" dirty="0">
                <a:latin typeface="Arial" pitchFamily="34" charset="0"/>
                <a:cs typeface="Arial" pitchFamily="34" charset="0"/>
              </a:rPr>
              <a:t>Level 1 – This is the most basic ADR which is not normally listed on any US stock exchange. They are traded on the OTC (over-the-counter) market in the US. It is typically used as an indicator by foreign companies to determine interest levels for its stock in North </a:t>
            </a:r>
            <a:r>
              <a:rPr lang="en-US" sz="1425" b="1" dirty="0" smtClean="0">
                <a:latin typeface="Arial" pitchFamily="34" charset="0"/>
                <a:cs typeface="Arial" pitchFamily="34" charset="0"/>
              </a:rPr>
              <a:t>America</a:t>
            </a:r>
          </a:p>
          <a:p>
            <a:pPr marL="465138" indent="-465138">
              <a:lnSpc>
                <a:spcPct val="150000"/>
              </a:lnSpc>
              <a:buFont typeface="Wingdings" pitchFamily="2" charset="2"/>
              <a:buChar char="q"/>
              <a:tabLst>
                <a:tab pos="465138" algn="l"/>
              </a:tabLst>
            </a:pPr>
            <a:endParaRPr lang="en-US" sz="5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425" b="1" dirty="0">
                <a:latin typeface="Arial" pitchFamily="34" charset="0"/>
                <a:cs typeface="Arial" pitchFamily="34" charset="0"/>
              </a:rPr>
              <a:t>Level 2 -  This type of ADR is listed on a US stock exchange. They are subjected to stricter compliance, than Level 1 ADRs,  with regulations of Securities Exchange Commission, which is a securities market regulator in the United </a:t>
            </a:r>
            <a:r>
              <a:rPr lang="en-US" sz="1425" b="1" dirty="0" smtClean="0">
                <a:latin typeface="Arial" pitchFamily="34" charset="0"/>
                <a:cs typeface="Arial" pitchFamily="34" charset="0"/>
              </a:rPr>
              <a:t>States</a:t>
            </a:r>
          </a:p>
          <a:p>
            <a:pPr marL="465138" indent="-465138">
              <a:lnSpc>
                <a:spcPct val="150000"/>
              </a:lnSpc>
              <a:buFont typeface="Wingdings" pitchFamily="2" charset="2"/>
              <a:buChar char="q"/>
              <a:tabLst>
                <a:tab pos="465138" algn="l"/>
              </a:tabLst>
            </a:pPr>
            <a:endParaRPr lang="en-US" sz="5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425" b="1" dirty="0">
                <a:latin typeface="Arial" pitchFamily="34" charset="0"/>
                <a:cs typeface="Arial" pitchFamily="34" charset="0"/>
              </a:rPr>
              <a:t>Level 3 -  This is the most prestigious of the three types of ADRs. An ADR is considered Level 3, when the issuer floats a public offering of ADRs on a US Stock Exchange. Level 3 ADRs are able to raise capital and enjoy substantial visibility in the US financial markets</a:t>
            </a: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500990" cy="46307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Advantages of ADRs…</a:t>
            </a:r>
            <a:endParaRPr lang="en-US" sz="1600" b="1" dirty="0" smtClean="0">
              <a:latin typeface="Arial" pitchFamily="34" charset="0"/>
              <a:cs typeface="Arial" pitchFamily="34" charset="0"/>
            </a:endParaRPr>
          </a:p>
        </p:txBody>
      </p:sp>
      <p:sp>
        <p:nvSpPr>
          <p:cNvPr id="5" name="Rectangle 4"/>
          <p:cNvSpPr/>
          <p:nvPr/>
        </p:nvSpPr>
        <p:spPr>
          <a:xfrm>
            <a:off x="714348" y="1430598"/>
            <a:ext cx="7386044" cy="3942618"/>
          </a:xfrm>
          <a:prstGeom prst="rect">
            <a:avLst/>
          </a:prstGeom>
        </p:spPr>
        <p:txBody>
          <a:bodyPr wrap="square">
            <a:spAutoFit/>
          </a:bodyPr>
          <a:lstStyle/>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Cost-effective - ADRs are an easy and cost-effective way to buy shares in a foreign company. They save money by reducing administration costs and avoiding foreign taxes on each </a:t>
            </a:r>
            <a:r>
              <a:rPr lang="en-US" b="1" dirty="0" smtClean="0">
                <a:latin typeface="Arial" pitchFamily="34" charset="0"/>
                <a:cs typeface="Arial" pitchFamily="34" charset="0"/>
              </a:rPr>
              <a:t>transaction</a:t>
            </a:r>
            <a:endParaRPr lang="en-US"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Diversification -  Investor gains the potential to capitalize on emerging economies by investing in different </a:t>
            </a:r>
            <a:r>
              <a:rPr lang="en-US" b="1" dirty="0" smtClean="0">
                <a:latin typeface="Arial" pitchFamily="34" charset="0"/>
                <a:cs typeface="Arial" pitchFamily="34" charset="0"/>
              </a:rPr>
              <a:t>countries</a:t>
            </a:r>
            <a:endParaRPr lang="en-US"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More US exposure – Foreign entities </a:t>
            </a:r>
            <a:r>
              <a:rPr lang="en-US" b="1" dirty="0" err="1">
                <a:latin typeface="Arial" pitchFamily="34" charset="0"/>
                <a:cs typeface="Arial" pitchFamily="34" charset="0"/>
              </a:rPr>
              <a:t>favour</a:t>
            </a:r>
            <a:r>
              <a:rPr lang="en-US" b="1" dirty="0">
                <a:latin typeface="Arial" pitchFamily="34" charset="0"/>
                <a:cs typeface="Arial" pitchFamily="34" charset="0"/>
              </a:rPr>
              <a:t> ADRs because they get more US exposure, allowing them to tap into the wealthy North American equity markets</a:t>
            </a: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500990" cy="46307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Risks from ADRs…</a:t>
            </a:r>
            <a:endParaRPr lang="en-US" sz="1600" b="1" dirty="0" smtClean="0">
              <a:latin typeface="Arial" pitchFamily="34" charset="0"/>
              <a:cs typeface="Arial" pitchFamily="34" charset="0"/>
            </a:endParaRPr>
          </a:p>
        </p:txBody>
      </p:sp>
      <p:sp>
        <p:nvSpPr>
          <p:cNvPr id="5" name="Rectangle 4"/>
          <p:cNvSpPr/>
          <p:nvPr/>
        </p:nvSpPr>
        <p:spPr>
          <a:xfrm>
            <a:off x="714348" y="1571612"/>
            <a:ext cx="7818092" cy="3669466"/>
          </a:xfrm>
          <a:prstGeom prst="rect">
            <a:avLst/>
          </a:prstGeom>
        </p:spPr>
        <p:txBody>
          <a:bodyPr wrap="square">
            <a:spAutoFit/>
          </a:bodyPr>
          <a:lstStyle/>
          <a:p>
            <a:pPr marL="465138" indent="-465138">
              <a:lnSpc>
                <a:spcPct val="150000"/>
              </a:lnSpc>
              <a:spcBef>
                <a:spcPct val="20000"/>
              </a:spcBef>
              <a:buFont typeface="Wingdings" pitchFamily="2" charset="2"/>
              <a:buChar char="q"/>
              <a:tabLst>
                <a:tab pos="465138" algn="l"/>
              </a:tabLst>
            </a:pPr>
            <a:r>
              <a:rPr lang="en-US" sz="1550" b="1" dirty="0">
                <a:latin typeface="Arial" pitchFamily="34" charset="0"/>
                <a:cs typeface="Arial" pitchFamily="34" charset="0"/>
              </a:rPr>
              <a:t>Political Risk – Investors in ADRs need to ask themselves if the government of the home country (Russia, in previous example) is </a:t>
            </a:r>
            <a:r>
              <a:rPr lang="en-US" sz="1550" b="1" dirty="0" smtClean="0">
                <a:latin typeface="Arial" pitchFamily="34" charset="0"/>
                <a:cs typeface="Arial" pitchFamily="34" charset="0"/>
              </a:rPr>
              <a:t>stable</a:t>
            </a:r>
          </a:p>
          <a:p>
            <a:pPr marL="465138" indent="-465138">
              <a:lnSpc>
                <a:spcPct val="150000"/>
              </a:lnSpc>
              <a:spcBef>
                <a:spcPct val="20000"/>
              </a:spcBef>
              <a:buFont typeface="Wingdings" pitchFamily="2" charset="2"/>
              <a:buChar char="q"/>
              <a:tabLst>
                <a:tab pos="465138" algn="l"/>
              </a:tabLst>
            </a:pPr>
            <a:endParaRPr lang="en-US" sz="500"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sz="1550" b="1" dirty="0">
                <a:latin typeface="Arial" pitchFamily="34" charset="0"/>
                <a:cs typeface="Arial" pitchFamily="34" charset="0"/>
              </a:rPr>
              <a:t>Exchange Rate Risk – Stability of the home country’s currency (Russian </a:t>
            </a:r>
            <a:r>
              <a:rPr lang="en-US" sz="1550" b="1" dirty="0" err="1">
                <a:latin typeface="Arial" pitchFamily="34" charset="0"/>
                <a:cs typeface="Arial" pitchFamily="34" charset="0"/>
              </a:rPr>
              <a:t>roubles</a:t>
            </a:r>
            <a:r>
              <a:rPr lang="en-US" sz="1550" b="1" dirty="0">
                <a:latin typeface="Arial" pitchFamily="34" charset="0"/>
                <a:cs typeface="Arial" pitchFamily="34" charset="0"/>
              </a:rPr>
              <a:t>) needs to be assessed as well. If the Russian </a:t>
            </a:r>
            <a:r>
              <a:rPr lang="en-US" sz="1550" b="1" dirty="0" err="1">
                <a:latin typeface="Arial" pitchFamily="34" charset="0"/>
                <a:cs typeface="Arial" pitchFamily="34" charset="0"/>
              </a:rPr>
              <a:t>rouble</a:t>
            </a:r>
            <a:r>
              <a:rPr lang="en-US" sz="1550" b="1" dirty="0">
                <a:latin typeface="Arial" pitchFamily="34" charset="0"/>
                <a:cs typeface="Arial" pitchFamily="34" charset="0"/>
              </a:rPr>
              <a:t> gets devalued, the effects will be felt on the price of the ADR held by an investor. This can result in a big loss even if the company is doing well. </a:t>
            </a:r>
            <a:endParaRPr lang="en-US" sz="1550" b="1" dirty="0" smtClean="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endParaRPr lang="en-US" sz="500"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sz="1550" b="1" dirty="0">
                <a:latin typeface="Arial" pitchFamily="34" charset="0"/>
                <a:cs typeface="Arial" pitchFamily="34" charset="0"/>
              </a:rPr>
              <a:t>Inflationary Risk – Currency of a country with high inflation </a:t>
            </a:r>
            <a:r>
              <a:rPr lang="en-US" sz="1550" b="1" dirty="0" smtClean="0">
                <a:latin typeface="Arial" pitchFamily="34" charset="0"/>
                <a:cs typeface="Arial" pitchFamily="34" charset="0"/>
              </a:rPr>
              <a:t>becomes</a:t>
            </a:r>
            <a:br>
              <a:rPr lang="en-US" sz="1550" b="1" dirty="0" smtClean="0">
                <a:latin typeface="Arial" pitchFamily="34" charset="0"/>
                <a:cs typeface="Arial" pitchFamily="34" charset="0"/>
              </a:rPr>
            </a:br>
            <a:r>
              <a:rPr lang="en-US" sz="1550" b="1" dirty="0" smtClean="0">
                <a:latin typeface="Arial" pitchFamily="34" charset="0"/>
                <a:cs typeface="Arial" pitchFamily="34" charset="0"/>
              </a:rPr>
              <a:t>less </a:t>
            </a:r>
            <a:r>
              <a:rPr lang="en-US" sz="1550" b="1" dirty="0">
                <a:latin typeface="Arial" pitchFamily="34" charset="0"/>
                <a:cs typeface="Arial" pitchFamily="34" charset="0"/>
              </a:rPr>
              <a:t>and less valuable each day. This can be a big blow to a company’s business due to reduced purchasing power and will reflect on its share price</a:t>
            </a: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65004"/>
            <a:ext cx="4218262" cy="878574"/>
          </a:xfrm>
          <a:prstGeom prst="rect">
            <a:avLst/>
          </a:prstGeom>
        </p:spPr>
        <p:txBody>
          <a:bodyPr wrap="square">
            <a:spAutoFit/>
          </a:bodyPr>
          <a:lstStyle/>
          <a:p>
            <a:pPr>
              <a:lnSpc>
                <a:spcPct val="150000"/>
              </a:lnSpc>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of ADRs.</a:t>
            </a: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AMERICAN DEPOSITORY RECEIPTS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71538" y="1928802"/>
            <a:ext cx="3929090" cy="1338828"/>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In case of any query please email to </a:t>
            </a:r>
            <a:r>
              <a:rPr lang="en-US" b="1" dirty="0" smtClean="0">
                <a:latin typeface="Arial" pitchFamily="34" charset="0"/>
                <a:cs typeface="Arial" pitchFamily="34" charset="0"/>
                <a:hlinkClick r:id="rId4"/>
              </a:rPr>
              <a:t>hmasurkar@tataamc.com</a:t>
            </a:r>
            <a:endParaRPr lang="en-US" b="1" dirty="0" smtClean="0">
              <a:latin typeface="Arial" pitchFamily="34" charset="0"/>
              <a:cs typeface="Arial" pitchFamily="34" charset="0"/>
            </a:endParaRPr>
          </a:p>
          <a:p>
            <a:pPr algn="ctr">
              <a:lnSpc>
                <a:spcPct val="150000"/>
              </a:lnSpc>
            </a:pP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1730</TotalTime>
  <Words>857</Words>
  <Application>Microsoft Office PowerPoint</Application>
  <PresentationFormat>On-screen Show (4:3)</PresentationFormat>
  <Paragraphs>72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ddoctor</cp:lastModifiedBy>
  <cp:revision>204</cp:revision>
  <dcterms:created xsi:type="dcterms:W3CDTF">2013-10-22T09:41:31Z</dcterms:created>
  <dcterms:modified xsi:type="dcterms:W3CDTF">2014-09-10T08:10:28Z</dcterms:modified>
</cp:coreProperties>
</file>