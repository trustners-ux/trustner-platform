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343" r:id="rId3"/>
    <p:sldId id="471" r:id="rId4"/>
    <p:sldId id="412" r:id="rId5"/>
    <p:sldId id="441" r:id="rId6"/>
    <p:sldId id="472" r:id="rId7"/>
    <p:sldId id="474" r:id="rId8"/>
    <p:sldId id="440" r:id="rId9"/>
    <p:sldId id="443" r:id="rId10"/>
    <p:sldId id="444" r:id="rId11"/>
    <p:sldId id="442" r:id="rId12"/>
    <p:sldId id="475" r:id="rId13"/>
    <p:sldId id="445" r:id="rId14"/>
    <p:sldId id="476" r:id="rId15"/>
    <p:sldId id="477" r:id="rId16"/>
    <p:sldId id="478" r:id="rId17"/>
    <p:sldId id="409" r:id="rId18"/>
    <p:sldId id="479" r:id="rId19"/>
    <p:sldId id="480" r:id="rId20"/>
    <p:sldId id="287" r:id="rId21"/>
    <p:sldId id="273"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2/28/2014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2/28/2014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2/28/2014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2/28/2014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2/28/2014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2/28/2014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2/28/2014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2/28/2014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2/28/2014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2/28/2014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2/28/2014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2/28/2014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2/28/2014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mailto:professor@tataamc.com"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461646" cy="369332"/>
          </a:xfrm>
          <a:prstGeom prst="rect">
            <a:avLst/>
          </a:prstGeom>
          <a:noFill/>
        </p:spPr>
        <p:txBody>
          <a:bodyPr wrap="square" rtlCol="0">
            <a:spAutoFit/>
          </a:bodyPr>
          <a:lstStyle/>
          <a:p>
            <a:pPr algn="ctr"/>
            <a:r>
              <a:rPr lang="en-US" b="1" dirty="0" smtClean="0">
                <a:solidFill>
                  <a:schemeClr val="bg1"/>
                </a:solidFill>
                <a:latin typeface="Arial" pitchFamily="34" charset="0"/>
                <a:cs typeface="Arial" pitchFamily="34" charset="0"/>
              </a:rPr>
              <a:t>WHY ARE BONUS SHARES ISSUED?</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3" name="TextBox 2"/>
          <p:cNvSpPr txBox="1"/>
          <p:nvPr/>
        </p:nvSpPr>
        <p:spPr>
          <a:xfrm>
            <a:off x="1259632" y="2060848"/>
            <a:ext cx="3744416" cy="92333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Why Are Bonus Shares Issued? </a:t>
            </a:r>
            <a:br>
              <a:rPr lang="en-US" b="1" dirty="0">
                <a:latin typeface="Arial" pitchFamily="34" charset="0"/>
                <a:cs typeface="Arial" pitchFamily="34" charset="0"/>
              </a:rPr>
            </a:br>
            <a:r>
              <a:rPr lang="en-US" b="1" dirty="0">
                <a:latin typeface="Arial" pitchFamily="34" charset="0"/>
                <a:cs typeface="Arial" pitchFamily="34" charset="0"/>
              </a:rPr>
              <a:t>–  By Prof. </a:t>
            </a:r>
            <a:r>
              <a:rPr lang="en-US" b="1" i="1" dirty="0">
                <a:latin typeface="Arial" pitchFamily="34" charset="0"/>
                <a:cs typeface="Arial" pitchFamily="34" charset="0"/>
              </a:rPr>
              <a:t>Simply</a:t>
            </a:r>
            <a:r>
              <a:rPr lang="en-US" b="1" dirty="0">
                <a:latin typeface="Arial" pitchFamily="34" charset="0"/>
                <a:cs typeface="Arial" pitchFamily="34" charset="0"/>
              </a:rPr>
              <a:t> Simple </a:t>
            </a:r>
            <a:r>
              <a:rPr lang="en-US" b="1" baseline="70000" dirty="0">
                <a:latin typeface="Arial" pitchFamily="34" charset="0"/>
                <a:cs typeface="Arial" pitchFamily="34" charset="0"/>
              </a:rPr>
              <a:t>TM</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515449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
        <p:nvSpPr>
          <p:cNvPr id="4" name="Rectangle 3"/>
          <p:cNvSpPr/>
          <p:nvPr/>
        </p:nvSpPr>
        <p:spPr>
          <a:xfrm>
            <a:off x="4067944" y="4338970"/>
            <a:ext cx="4176464" cy="1754326"/>
          </a:xfrm>
          <a:prstGeom prst="rect">
            <a:avLst/>
          </a:prstGeom>
        </p:spPr>
        <p:txBody>
          <a:bodyPr wrap="square">
            <a:spAutoFit/>
          </a:bodyPr>
          <a:lstStyle/>
          <a:p>
            <a:pPr>
              <a:lnSpc>
                <a:spcPct val="150000"/>
              </a:lnSpc>
            </a:pPr>
            <a:r>
              <a:rPr lang="en-US" b="1" dirty="0">
                <a:latin typeface="Arial" pitchFamily="34" charset="0"/>
                <a:cs typeface="Arial" pitchFamily="34" charset="0"/>
              </a:rPr>
              <a:t>We all know that bonus shares </a:t>
            </a:r>
            <a:r>
              <a:rPr lang="en-US" b="1" dirty="0" smtClean="0">
                <a:latin typeface="Arial" pitchFamily="34" charset="0"/>
                <a:cs typeface="Arial" pitchFamily="34" charset="0"/>
              </a:rPr>
              <a:t>exist.</a:t>
            </a:r>
            <a:br>
              <a:rPr lang="en-US" b="1" dirty="0" smtClean="0">
                <a:latin typeface="Arial" pitchFamily="34" charset="0"/>
                <a:cs typeface="Arial" pitchFamily="34" charset="0"/>
              </a:rPr>
            </a:br>
            <a:r>
              <a:rPr lang="en-US" b="1" dirty="0" smtClean="0">
                <a:latin typeface="Arial" pitchFamily="34" charset="0"/>
                <a:cs typeface="Arial" pitchFamily="34" charset="0"/>
              </a:rPr>
              <a:t>But </a:t>
            </a:r>
            <a:r>
              <a:rPr lang="en-US" b="1" dirty="0">
                <a:latin typeface="Arial" pitchFamily="34" charset="0"/>
                <a:cs typeface="Arial" pitchFamily="34" charset="0"/>
              </a:rPr>
              <a:t>why are they issued in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first </a:t>
            </a:r>
            <a:r>
              <a:rPr lang="en-US" b="1" dirty="0">
                <a:latin typeface="Arial" pitchFamily="34" charset="0"/>
                <a:cs typeface="Arial" pitchFamily="34" charset="0"/>
              </a:rPr>
              <a:t>place?</a:t>
            </a:r>
          </a:p>
          <a:p>
            <a:pPr>
              <a:lnSpc>
                <a:spcPct val="150000"/>
              </a:lnSpc>
            </a:pPr>
            <a:r>
              <a:rPr lang="en-US" b="1" dirty="0" smtClean="0">
                <a:latin typeface="Arial" pitchFamily="34" charset="0"/>
                <a:cs typeface="Arial" pitchFamily="34" charset="0"/>
              </a:rPr>
              <a:t>Let </a:t>
            </a:r>
            <a:r>
              <a:rPr lang="en-US" b="1" dirty="0">
                <a:latin typeface="Arial" pitchFamily="34" charset="0"/>
                <a:cs typeface="Arial" pitchFamily="34" charset="0"/>
              </a:rPr>
              <a:t>me try &amp; simplify this for you…</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2623008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12115"/>
            <a:ext cx="7200800" cy="1712200"/>
          </a:xfrm>
          <a:prstGeom prst="rect">
            <a:avLst/>
          </a:prstGeom>
          <a:noFill/>
        </p:spPr>
        <p:txBody>
          <a:bodyPr wrap="square" rtlCol="0">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 Let’s say a company makes </a:t>
            </a:r>
            <a:r>
              <a:rPr lang="en-US" b="1" dirty="0" err="1">
                <a:latin typeface="Arial" pitchFamily="34" charset="0"/>
                <a:cs typeface="Arial" pitchFamily="34" charset="0"/>
              </a:rPr>
              <a:t>Rs</a:t>
            </a:r>
            <a:r>
              <a:rPr lang="en-US" b="1" dirty="0">
                <a:latin typeface="Arial" pitchFamily="34" charset="0"/>
                <a:cs typeface="Arial" pitchFamily="34" charset="0"/>
              </a:rPr>
              <a:t> 1000 as profit</a:t>
            </a: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Now suppose the company has 100 shares</a:t>
            </a: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Then earning per share is profit/no. of </a:t>
            </a:r>
            <a:r>
              <a:rPr lang="en-US" b="1" dirty="0" smtClean="0">
                <a:latin typeface="Arial" pitchFamily="34" charset="0"/>
                <a:cs typeface="Arial" pitchFamily="34" charset="0"/>
              </a:rPr>
              <a:t>shares</a:t>
            </a:r>
            <a:br>
              <a:rPr lang="en-US" b="1" dirty="0" smtClean="0">
                <a:latin typeface="Arial" pitchFamily="34" charset="0"/>
                <a:cs typeface="Arial" pitchFamily="34" charset="0"/>
              </a:rPr>
            </a:br>
            <a:r>
              <a:rPr lang="en-US" b="1" dirty="0" smtClean="0">
                <a:latin typeface="Arial" pitchFamily="34" charset="0"/>
                <a:cs typeface="Arial" pitchFamily="34" charset="0"/>
              </a:rPr>
              <a:t>= </a:t>
            </a:r>
            <a:r>
              <a:rPr lang="en-US" b="1" dirty="0" err="1">
                <a:latin typeface="Arial" pitchFamily="34" charset="0"/>
                <a:cs typeface="Arial" pitchFamily="34" charset="0"/>
              </a:rPr>
              <a:t>Rs</a:t>
            </a:r>
            <a:r>
              <a:rPr lang="en-US" b="1" dirty="0">
                <a:latin typeface="Arial" pitchFamily="34" charset="0"/>
                <a:cs typeface="Arial" pitchFamily="34" charset="0"/>
              </a:rPr>
              <a:t>. 1000/100 = </a:t>
            </a:r>
            <a:r>
              <a:rPr lang="en-US" b="1" dirty="0" err="1">
                <a:latin typeface="Arial" pitchFamily="34" charset="0"/>
                <a:cs typeface="Arial" pitchFamily="34" charset="0"/>
              </a:rPr>
              <a:t>Rs</a:t>
            </a:r>
            <a:r>
              <a:rPr lang="en-US" b="1" dirty="0">
                <a:latin typeface="Arial" pitchFamily="34" charset="0"/>
                <a:cs typeface="Arial" pitchFamily="34" charset="0"/>
              </a:rPr>
              <a:t>. 10</a:t>
            </a:r>
            <a:endParaRPr lang="en-US" b="1" dirty="0">
              <a:latin typeface="Arial" pitchFamily="34" charset="0"/>
              <a:cs typeface="Arial" pitchFamily="34" charset="0"/>
            </a:endParaRP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9696609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
        <p:nvSpPr>
          <p:cNvPr id="5" name="Rectangle 4"/>
          <p:cNvSpPr/>
          <p:nvPr/>
        </p:nvSpPr>
        <p:spPr>
          <a:xfrm>
            <a:off x="762336" y="1052736"/>
            <a:ext cx="7554080" cy="923330"/>
          </a:xfrm>
          <a:prstGeom prst="rect">
            <a:avLst/>
          </a:prstGeom>
        </p:spPr>
        <p:txBody>
          <a:bodyPr wrap="square">
            <a:spAutoFit/>
          </a:bodyPr>
          <a:lstStyle/>
          <a:p>
            <a:pPr>
              <a:lnSpc>
                <a:spcPct val="150000"/>
              </a:lnSpc>
            </a:pPr>
            <a:r>
              <a:rPr lang="en-US" b="1" dirty="0">
                <a:latin typeface="Arial" pitchFamily="34" charset="0"/>
                <a:cs typeface="Arial" pitchFamily="34" charset="0"/>
              </a:rPr>
              <a:t>Suppose there is a surge in the demand for company’s product causing its profits to go up from </a:t>
            </a:r>
            <a:r>
              <a:rPr lang="en-US" b="1" dirty="0" err="1">
                <a:latin typeface="Arial" pitchFamily="34" charset="0"/>
                <a:cs typeface="Arial" pitchFamily="34" charset="0"/>
              </a:rPr>
              <a:t>Rs</a:t>
            </a:r>
            <a:r>
              <a:rPr lang="en-US" b="1" dirty="0">
                <a:latin typeface="Arial" pitchFamily="34" charset="0"/>
                <a:cs typeface="Arial" pitchFamily="34" charset="0"/>
              </a:rPr>
              <a:t> 1,000 </a:t>
            </a:r>
            <a:r>
              <a:rPr lang="en-US" b="1" dirty="0" smtClean="0">
                <a:latin typeface="Arial" pitchFamily="34" charset="0"/>
                <a:cs typeface="Arial" pitchFamily="34" charset="0"/>
              </a:rPr>
              <a:t>to </a:t>
            </a:r>
            <a:r>
              <a:rPr lang="en-US" b="1" dirty="0" err="1" smtClean="0">
                <a:latin typeface="Arial" pitchFamily="34" charset="0"/>
                <a:cs typeface="Arial" pitchFamily="34" charset="0"/>
              </a:rPr>
              <a:t>Rs</a:t>
            </a:r>
            <a:r>
              <a:rPr lang="en-US" b="1" dirty="0" smtClean="0">
                <a:latin typeface="Arial" pitchFamily="34" charset="0"/>
                <a:cs typeface="Arial" pitchFamily="34" charset="0"/>
              </a:rPr>
              <a:t> </a:t>
            </a:r>
            <a:r>
              <a:rPr lang="en-US" b="1" dirty="0">
                <a:latin typeface="Arial" pitchFamily="34" charset="0"/>
                <a:cs typeface="Arial" pitchFamily="34" charset="0"/>
              </a:rPr>
              <a:t>10,000!</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4669052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TextBox 5"/>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
        <p:nvSpPr>
          <p:cNvPr id="4" name="TextBox 3"/>
          <p:cNvSpPr txBox="1"/>
          <p:nvPr/>
        </p:nvSpPr>
        <p:spPr>
          <a:xfrm>
            <a:off x="899592" y="1172681"/>
            <a:ext cx="6840760" cy="2169825"/>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One should observe is that while </a:t>
            </a:r>
            <a:r>
              <a:rPr lang="en-US" b="1" dirty="0" smtClean="0">
                <a:latin typeface="Arial" pitchFamily="34" charset="0"/>
                <a:cs typeface="Arial" pitchFamily="34" charset="0"/>
              </a:rPr>
              <a:t>the profit </a:t>
            </a:r>
            <a:r>
              <a:rPr lang="en-US" b="1" dirty="0">
                <a:latin typeface="Arial" pitchFamily="34" charset="0"/>
                <a:cs typeface="Arial" pitchFamily="34" charset="0"/>
              </a:rPr>
              <a:t>went up </a:t>
            </a:r>
            <a:r>
              <a:rPr lang="en-US" b="1" dirty="0" smtClean="0">
                <a:latin typeface="Arial" pitchFamily="34" charset="0"/>
                <a:cs typeface="Arial" pitchFamily="34" charset="0"/>
              </a:rPr>
              <a:t>from</a:t>
            </a:r>
            <a:br>
              <a:rPr lang="en-US" b="1" dirty="0" smtClean="0">
                <a:latin typeface="Arial" pitchFamily="34" charset="0"/>
                <a:cs typeface="Arial" pitchFamily="34" charset="0"/>
              </a:rPr>
            </a:br>
            <a:r>
              <a:rPr lang="en-US" b="1" dirty="0" err="1" smtClean="0">
                <a:latin typeface="Arial" pitchFamily="34" charset="0"/>
                <a:cs typeface="Arial" pitchFamily="34" charset="0"/>
              </a:rPr>
              <a:t>Rs</a:t>
            </a:r>
            <a:r>
              <a:rPr lang="en-US" b="1" dirty="0" smtClean="0">
                <a:latin typeface="Arial" pitchFamily="34" charset="0"/>
                <a:cs typeface="Arial" pitchFamily="34" charset="0"/>
              </a:rPr>
              <a:t> </a:t>
            </a:r>
            <a:r>
              <a:rPr lang="en-US" b="1" dirty="0">
                <a:latin typeface="Arial" pitchFamily="34" charset="0"/>
                <a:cs typeface="Arial" pitchFamily="34" charset="0"/>
              </a:rPr>
              <a:t>1000 to </a:t>
            </a:r>
            <a:r>
              <a:rPr lang="en-US" b="1" dirty="0" err="1">
                <a:latin typeface="Arial" pitchFamily="34" charset="0"/>
                <a:cs typeface="Arial" pitchFamily="34" charset="0"/>
              </a:rPr>
              <a:t>Rs</a:t>
            </a:r>
            <a:r>
              <a:rPr lang="en-US" b="1" dirty="0">
                <a:latin typeface="Arial" pitchFamily="34" charset="0"/>
                <a:cs typeface="Arial" pitchFamily="34" charset="0"/>
              </a:rPr>
              <a:t> 10,000 the number of shares remains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same </a:t>
            </a:r>
            <a:r>
              <a:rPr lang="en-US" b="1" dirty="0">
                <a:latin typeface="Arial" pitchFamily="34" charset="0"/>
                <a:cs typeface="Arial" pitchFamily="34" charset="0"/>
              </a:rPr>
              <a:t>at 100</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Hence, by definition, earnings per share would be 100.</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8731450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
        <p:nvSpPr>
          <p:cNvPr id="4" name="TextBox 3"/>
          <p:cNvSpPr txBox="1"/>
          <p:nvPr/>
        </p:nvSpPr>
        <p:spPr>
          <a:xfrm>
            <a:off x="3131840" y="1043151"/>
            <a:ext cx="3960440" cy="2169825"/>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Now, as we know that </a:t>
            </a:r>
          </a:p>
          <a:p>
            <a:pPr>
              <a:lnSpc>
                <a:spcPct val="150000"/>
              </a:lnSpc>
            </a:pPr>
            <a:r>
              <a:rPr lang="en-US" b="1" dirty="0">
                <a:latin typeface="Arial" pitchFamily="34" charset="0"/>
                <a:cs typeface="Arial" pitchFamily="34" charset="0"/>
              </a:rPr>
              <a:t>Market Price = EPS x P/E</a:t>
            </a:r>
          </a:p>
          <a:p>
            <a:pPr>
              <a:lnSpc>
                <a:spcPct val="150000"/>
              </a:lnSpc>
            </a:pPr>
            <a:r>
              <a:rPr lang="en-US" b="1" dirty="0" smtClean="0">
                <a:latin typeface="Arial" pitchFamily="34" charset="0"/>
                <a:cs typeface="Arial" pitchFamily="34" charset="0"/>
              </a:rPr>
              <a:t>If </a:t>
            </a:r>
            <a:r>
              <a:rPr lang="en-US" b="1" dirty="0">
                <a:latin typeface="Arial" pitchFamily="34" charset="0"/>
                <a:cs typeface="Arial" pitchFamily="34" charset="0"/>
              </a:rPr>
              <a:t>we were to assume a P/E of 10, the price per </a:t>
            </a:r>
            <a:r>
              <a:rPr lang="en-US" b="1" dirty="0" smtClean="0">
                <a:latin typeface="Arial" pitchFamily="34" charset="0"/>
                <a:cs typeface="Arial" pitchFamily="34" charset="0"/>
              </a:rPr>
              <a:t>share</a:t>
            </a:r>
            <a:br>
              <a:rPr lang="en-US" b="1" dirty="0" smtClean="0">
                <a:latin typeface="Arial" pitchFamily="34" charset="0"/>
                <a:cs typeface="Arial" pitchFamily="34" charset="0"/>
              </a:rPr>
            </a:br>
            <a:r>
              <a:rPr lang="en-US" b="1" dirty="0" smtClean="0">
                <a:latin typeface="Arial" pitchFamily="34" charset="0"/>
                <a:cs typeface="Arial" pitchFamily="34" charset="0"/>
              </a:rPr>
              <a:t>would </a:t>
            </a:r>
            <a:r>
              <a:rPr lang="en-US" b="1" dirty="0">
                <a:latin typeface="Arial" pitchFamily="34" charset="0"/>
                <a:cs typeface="Arial" pitchFamily="34" charset="0"/>
              </a:rPr>
              <a:t>become </a:t>
            </a:r>
            <a:r>
              <a:rPr lang="en-US" b="1" dirty="0" err="1">
                <a:latin typeface="Arial" pitchFamily="34" charset="0"/>
                <a:cs typeface="Arial" pitchFamily="34" charset="0"/>
              </a:rPr>
              <a:t>Rs</a:t>
            </a:r>
            <a:r>
              <a:rPr lang="en-US" b="1" dirty="0">
                <a:latin typeface="Arial" pitchFamily="34" charset="0"/>
                <a:cs typeface="Arial" pitchFamily="34" charset="0"/>
              </a:rPr>
              <a:t> 1000…</a:t>
            </a:r>
            <a:endParaRPr lang="en-US" b="1" dirty="0">
              <a:latin typeface="Arial" pitchFamily="34" charset="0"/>
              <a:cs typeface="Arial" pitchFamily="34" charset="0"/>
            </a:endParaRPr>
          </a:p>
        </p:txBody>
      </p:sp>
    </p:spTree>
    <p:extLst>
      <p:ext uri="{BB962C8B-B14F-4D97-AF65-F5344CB8AC3E}">
        <p14:creationId xmlns:p14="http://schemas.microsoft.com/office/powerpoint/2010/main" val="40561560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12115"/>
            <a:ext cx="7200800" cy="1297856"/>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At a price of </a:t>
            </a:r>
            <a:r>
              <a:rPr lang="en-US" b="1" dirty="0" err="1">
                <a:latin typeface="Arial" pitchFamily="34" charset="0"/>
                <a:cs typeface="Arial" pitchFamily="34" charset="0"/>
              </a:rPr>
              <a:t>Rs</a:t>
            </a:r>
            <a:r>
              <a:rPr lang="en-US" b="1" dirty="0">
                <a:latin typeface="Arial" pitchFamily="34" charset="0"/>
                <a:cs typeface="Arial" pitchFamily="34" charset="0"/>
              </a:rPr>
              <a:t> 1000, it would be very difficult to expect retail participation because  any investor would need a minimum of </a:t>
            </a:r>
            <a:r>
              <a:rPr lang="en-US" b="1" dirty="0" err="1">
                <a:latin typeface="Arial" pitchFamily="34" charset="0"/>
                <a:cs typeface="Arial" pitchFamily="34" charset="0"/>
              </a:rPr>
              <a:t>Rs</a:t>
            </a:r>
            <a:r>
              <a:rPr lang="en-US" b="1" dirty="0">
                <a:latin typeface="Arial" pitchFamily="34" charset="0"/>
                <a:cs typeface="Arial" pitchFamily="34" charset="0"/>
              </a:rPr>
              <a:t> 1000 to purchase a single stock!</a:t>
            </a:r>
            <a:endParaRPr lang="en-US" b="1" dirty="0">
              <a:latin typeface="Arial" pitchFamily="34" charset="0"/>
              <a:cs typeface="Arial" pitchFamily="34" charset="0"/>
            </a:endParaRPr>
          </a:p>
        </p:txBody>
      </p:sp>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5815242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
        <p:nvSpPr>
          <p:cNvPr id="6" name="Rectangle 5"/>
          <p:cNvSpPr/>
          <p:nvPr/>
        </p:nvSpPr>
        <p:spPr>
          <a:xfrm>
            <a:off x="762336" y="1052736"/>
            <a:ext cx="6978016" cy="3000821"/>
          </a:xfrm>
          <a:prstGeom prst="rect">
            <a:avLst/>
          </a:prstGeom>
        </p:spPr>
        <p:txBody>
          <a:bodyPr wrap="square">
            <a:spAutoFit/>
          </a:bodyPr>
          <a:lstStyle/>
          <a:p>
            <a:pPr>
              <a:lnSpc>
                <a:spcPct val="150000"/>
              </a:lnSpc>
            </a:pPr>
            <a:r>
              <a:rPr lang="en-US" b="1" dirty="0">
                <a:latin typeface="Arial" pitchFamily="34" charset="0"/>
                <a:cs typeface="Arial" pitchFamily="34" charset="0"/>
              </a:rPr>
              <a:t>But that’s quite a large amount. </a:t>
            </a:r>
          </a:p>
          <a:p>
            <a:pPr>
              <a:lnSpc>
                <a:spcPct val="150000"/>
              </a:lnSpc>
            </a:pPr>
            <a:r>
              <a:rPr lang="en-US" b="1" dirty="0">
                <a:latin typeface="Arial" pitchFamily="34" charset="0"/>
                <a:cs typeface="Arial" pitchFamily="34" charset="0"/>
              </a:rPr>
              <a:t>Say, an investor has only </a:t>
            </a:r>
            <a:r>
              <a:rPr lang="en-US" b="1" dirty="0" err="1">
                <a:latin typeface="Arial" pitchFamily="34" charset="0"/>
                <a:cs typeface="Arial" pitchFamily="34" charset="0"/>
              </a:rPr>
              <a:t>Rs</a:t>
            </a:r>
            <a:r>
              <a:rPr lang="en-US" b="1" dirty="0">
                <a:latin typeface="Arial" pitchFamily="34" charset="0"/>
                <a:cs typeface="Arial" pitchFamily="34" charset="0"/>
              </a:rPr>
              <a:t> 500 but wants to </a:t>
            </a:r>
            <a:r>
              <a:rPr lang="en-US" b="1" dirty="0" smtClean="0">
                <a:latin typeface="Arial" pitchFamily="34" charset="0"/>
                <a:cs typeface="Arial" pitchFamily="34" charset="0"/>
              </a:rPr>
              <a:t>invest</a:t>
            </a:r>
            <a:br>
              <a:rPr lang="en-US" b="1" dirty="0" smtClean="0">
                <a:latin typeface="Arial" pitchFamily="34" charset="0"/>
                <a:cs typeface="Arial" pitchFamily="34" charset="0"/>
              </a:rPr>
            </a:br>
            <a:r>
              <a:rPr lang="en-US" b="1" dirty="0" smtClean="0">
                <a:latin typeface="Arial" pitchFamily="34" charset="0"/>
                <a:cs typeface="Arial" pitchFamily="34" charset="0"/>
              </a:rPr>
              <a:t>in </a:t>
            </a:r>
            <a:r>
              <a:rPr lang="en-US" b="1" dirty="0">
                <a:latin typeface="Arial" pitchFamily="34" charset="0"/>
                <a:cs typeface="Arial" pitchFamily="34" charset="0"/>
              </a:rPr>
              <a:t>this </a:t>
            </a:r>
            <a:r>
              <a:rPr lang="en-US" b="1" dirty="0" smtClean="0">
                <a:latin typeface="Arial" pitchFamily="34" charset="0"/>
                <a:cs typeface="Arial" pitchFamily="34" charset="0"/>
              </a:rPr>
              <a:t>company.</a:t>
            </a:r>
          </a:p>
          <a:p>
            <a:pPr>
              <a:lnSpc>
                <a:spcPct val="150000"/>
              </a:lnSpc>
            </a:pPr>
            <a:endParaRPr lang="en-US" b="1" i="1" dirty="0">
              <a:latin typeface="Arial" pitchFamily="34" charset="0"/>
              <a:cs typeface="Arial" pitchFamily="34" charset="0"/>
            </a:endParaRPr>
          </a:p>
          <a:p>
            <a:pPr>
              <a:lnSpc>
                <a:spcPct val="150000"/>
              </a:lnSpc>
            </a:pPr>
            <a:r>
              <a:rPr lang="en-US" b="1" i="1" dirty="0" smtClean="0">
                <a:latin typeface="Arial" pitchFamily="34" charset="0"/>
                <a:cs typeface="Arial" pitchFamily="34" charset="0"/>
              </a:rPr>
              <a:t>What </a:t>
            </a:r>
            <a:r>
              <a:rPr lang="en-US" b="1" i="1" dirty="0">
                <a:latin typeface="Arial" pitchFamily="34" charset="0"/>
                <a:cs typeface="Arial" pitchFamily="34" charset="0"/>
              </a:rPr>
              <a:t>does he do??</a:t>
            </a:r>
          </a:p>
          <a:p>
            <a:pPr>
              <a:lnSpc>
                <a:spcPct val="150000"/>
              </a:lnSpc>
            </a:pPr>
            <a:r>
              <a:rPr lang="en-US" b="1" dirty="0">
                <a:latin typeface="Arial" pitchFamily="34" charset="0"/>
                <a:cs typeface="Arial" pitchFamily="34" charset="0"/>
              </a:rPr>
              <a:t>Despite having the desire to buy the stock, he will not be able to participate for want of money.</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8775390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
        <p:nvSpPr>
          <p:cNvPr id="5" name="Rectangle 4"/>
          <p:cNvSpPr/>
          <p:nvPr/>
        </p:nvSpPr>
        <p:spPr>
          <a:xfrm>
            <a:off x="762336" y="1125020"/>
            <a:ext cx="6906008" cy="1338828"/>
          </a:xfrm>
          <a:prstGeom prst="rect">
            <a:avLst/>
          </a:prstGeom>
        </p:spPr>
        <p:txBody>
          <a:bodyPr wrap="square">
            <a:spAutoFit/>
          </a:bodyPr>
          <a:lstStyle/>
          <a:p>
            <a:pPr>
              <a:lnSpc>
                <a:spcPct val="150000"/>
              </a:lnSpc>
            </a:pPr>
            <a:r>
              <a:rPr lang="en-US" b="1" dirty="0">
                <a:latin typeface="Arial" pitchFamily="34" charset="0"/>
                <a:cs typeface="Arial" pitchFamily="34" charset="0"/>
              </a:rPr>
              <a:t>It, therefore, becomes essential for the company to increase the number of shares, so that the price per share is within the reach of retail participants.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8673681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
        <p:nvSpPr>
          <p:cNvPr id="5" name="Rectangle 4"/>
          <p:cNvSpPr/>
          <p:nvPr/>
        </p:nvSpPr>
        <p:spPr>
          <a:xfrm>
            <a:off x="4355976" y="3645024"/>
            <a:ext cx="3816424" cy="2585323"/>
          </a:xfrm>
          <a:prstGeom prst="rect">
            <a:avLst/>
          </a:prstGeom>
        </p:spPr>
        <p:txBody>
          <a:bodyPr wrap="square">
            <a:spAutoFit/>
          </a:bodyPr>
          <a:lstStyle/>
          <a:p>
            <a:pPr>
              <a:lnSpc>
                <a:spcPct val="150000"/>
              </a:lnSpc>
            </a:pPr>
            <a:r>
              <a:rPr lang="en-US" b="1" dirty="0">
                <a:latin typeface="Arial" pitchFamily="34" charset="0"/>
                <a:cs typeface="Arial" pitchFamily="34" charset="0"/>
              </a:rPr>
              <a:t>Let’s say the company </a:t>
            </a:r>
            <a:r>
              <a:rPr lang="en-US" b="1" dirty="0" smtClean="0">
                <a:latin typeface="Arial" pitchFamily="34" charset="0"/>
                <a:cs typeface="Arial" pitchFamily="34" charset="0"/>
              </a:rPr>
              <a:t>declares </a:t>
            </a:r>
            <a:r>
              <a:rPr lang="en-US" b="1" dirty="0">
                <a:latin typeface="Arial" pitchFamily="34" charset="0"/>
                <a:cs typeface="Arial" pitchFamily="34" charset="0"/>
              </a:rPr>
              <a:t>a 1:4 bonus which essentially means that for every 1 share you get an additional 4 shares.</a:t>
            </a:r>
          </a:p>
          <a:p>
            <a:pPr>
              <a:lnSpc>
                <a:spcPct val="150000"/>
              </a:lnSpc>
            </a:pPr>
            <a:r>
              <a:rPr lang="en-US" b="1" dirty="0" smtClean="0">
                <a:latin typeface="Arial" pitchFamily="34" charset="0"/>
                <a:cs typeface="Arial" pitchFamily="34" charset="0"/>
              </a:rPr>
              <a:t>So</a:t>
            </a:r>
            <a:r>
              <a:rPr lang="en-US" b="1" dirty="0">
                <a:latin typeface="Arial" pitchFamily="34" charset="0"/>
                <a:cs typeface="Arial" pitchFamily="34" charset="0"/>
              </a:rPr>
              <a:t>, in effect, you get a total </a:t>
            </a:r>
            <a:r>
              <a:rPr lang="en-US" b="1" dirty="0" smtClean="0">
                <a:latin typeface="Arial" pitchFamily="34" charset="0"/>
                <a:cs typeface="Arial" pitchFamily="34" charset="0"/>
              </a:rPr>
              <a:t>of</a:t>
            </a:r>
            <a:br>
              <a:rPr lang="en-US" b="1" dirty="0" smtClean="0">
                <a:latin typeface="Arial" pitchFamily="34" charset="0"/>
                <a:cs typeface="Arial" pitchFamily="34" charset="0"/>
              </a:rPr>
            </a:br>
            <a:r>
              <a:rPr lang="en-US" b="1" dirty="0" smtClean="0">
                <a:latin typeface="Arial" pitchFamily="34" charset="0"/>
                <a:cs typeface="Arial" pitchFamily="34" charset="0"/>
              </a:rPr>
              <a:t>5 </a:t>
            </a:r>
            <a:r>
              <a:rPr lang="en-US" b="1" dirty="0">
                <a:latin typeface="Arial" pitchFamily="34" charset="0"/>
                <a:cs typeface="Arial" pitchFamily="34" charset="0"/>
              </a:rPr>
              <a:t>shares…</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5879696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3" name="TextBox 2"/>
          <p:cNvSpPr txBox="1"/>
          <p:nvPr/>
        </p:nvSpPr>
        <p:spPr>
          <a:xfrm>
            <a:off x="1547664" y="1628800"/>
            <a:ext cx="2808312" cy="1338828"/>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This would </a:t>
            </a:r>
            <a:r>
              <a:rPr lang="en-US" b="1" dirty="0" smtClean="0">
                <a:latin typeface="Arial" pitchFamily="34" charset="0"/>
                <a:cs typeface="Arial" pitchFamily="34" charset="0"/>
              </a:rPr>
              <a:t>increase</a:t>
            </a:r>
            <a:br>
              <a:rPr lang="en-US" b="1" dirty="0" smtClean="0">
                <a:latin typeface="Arial" pitchFamily="34" charset="0"/>
                <a:cs typeface="Arial" pitchFamily="34" charset="0"/>
              </a:rPr>
            </a:br>
            <a:r>
              <a:rPr lang="en-US" b="1" dirty="0" smtClean="0">
                <a:latin typeface="Arial" pitchFamily="34" charset="0"/>
                <a:cs typeface="Arial" pitchFamily="34" charset="0"/>
              </a:rPr>
              <a:t>the total </a:t>
            </a:r>
            <a:r>
              <a:rPr lang="en-US" b="1" dirty="0">
                <a:latin typeface="Arial" pitchFamily="34" charset="0"/>
                <a:cs typeface="Arial" pitchFamily="34" charset="0"/>
              </a:rPr>
              <a:t>number of </a:t>
            </a:r>
            <a:r>
              <a:rPr lang="en-US" b="1" dirty="0" smtClean="0">
                <a:latin typeface="Arial" pitchFamily="34" charset="0"/>
                <a:cs typeface="Arial" pitchFamily="34" charset="0"/>
              </a:rPr>
              <a:t>shares from </a:t>
            </a:r>
            <a:r>
              <a:rPr lang="en-US" b="1" dirty="0">
                <a:latin typeface="Arial" pitchFamily="34" charset="0"/>
                <a:cs typeface="Arial" pitchFamily="34" charset="0"/>
              </a:rPr>
              <a:t>100 to 500!</a:t>
            </a:r>
            <a:endParaRPr lang="en-US" b="1" dirty="0">
              <a:latin typeface="Arial" pitchFamily="34" charset="0"/>
              <a:cs typeface="Arial" pitchFamily="34" charset="0"/>
            </a:endParaRPr>
          </a:p>
        </p:txBody>
      </p:sp>
    </p:spTree>
    <p:extLst>
      <p:ext uri="{BB962C8B-B14F-4D97-AF65-F5344CB8AC3E}">
        <p14:creationId xmlns:p14="http://schemas.microsoft.com/office/powerpoint/2010/main" val="41477395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
        <p:nvSpPr>
          <p:cNvPr id="5" name="Rectangle 4"/>
          <p:cNvSpPr/>
          <p:nvPr/>
        </p:nvSpPr>
        <p:spPr>
          <a:xfrm>
            <a:off x="4211960" y="4338970"/>
            <a:ext cx="4248472"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The earnings per share </a:t>
            </a:r>
            <a:r>
              <a:rPr lang="en-US" b="1" dirty="0" smtClean="0">
                <a:latin typeface="Arial" pitchFamily="34" charset="0"/>
                <a:cs typeface="Arial" pitchFamily="34" charset="0"/>
              </a:rPr>
              <a:t>would</a:t>
            </a:r>
            <a:br>
              <a:rPr lang="en-US" b="1" dirty="0" smtClean="0">
                <a:latin typeface="Arial" pitchFamily="34" charset="0"/>
                <a:cs typeface="Arial" pitchFamily="34" charset="0"/>
              </a:rPr>
            </a:br>
            <a:r>
              <a:rPr lang="en-US" b="1" dirty="0" smtClean="0">
                <a:latin typeface="Arial" pitchFamily="34" charset="0"/>
                <a:cs typeface="Arial" pitchFamily="34" charset="0"/>
              </a:rPr>
              <a:t>now </a:t>
            </a:r>
            <a:r>
              <a:rPr lang="en-US" b="1" dirty="0">
                <a:latin typeface="Arial" pitchFamily="34" charset="0"/>
                <a:cs typeface="Arial" pitchFamily="34" charset="0"/>
              </a:rPr>
              <a:t>become</a:t>
            </a:r>
          </a:p>
          <a:p>
            <a:pPr>
              <a:lnSpc>
                <a:spcPct val="150000"/>
              </a:lnSpc>
            </a:pPr>
            <a:r>
              <a:rPr lang="en-US" b="1" dirty="0">
                <a:latin typeface="Arial" pitchFamily="34" charset="0"/>
                <a:cs typeface="Arial" pitchFamily="34" charset="0"/>
              </a:rPr>
              <a:t>EPS = Total Earnings/No. of Shares </a:t>
            </a:r>
          </a:p>
          <a:p>
            <a:pPr>
              <a:lnSpc>
                <a:spcPct val="150000"/>
              </a:lnSpc>
            </a:pPr>
            <a:r>
              <a:rPr lang="en-US" b="1" dirty="0">
                <a:latin typeface="Arial" pitchFamily="34" charset="0"/>
                <a:cs typeface="Arial" pitchFamily="34" charset="0"/>
              </a:rPr>
              <a:t>(</a:t>
            </a:r>
            <a:r>
              <a:rPr lang="en-US" b="1" dirty="0" smtClean="0">
                <a:latin typeface="Arial" pitchFamily="34" charset="0"/>
                <a:cs typeface="Arial" pitchFamily="34" charset="0"/>
              </a:rPr>
              <a:t>or) </a:t>
            </a:r>
            <a:r>
              <a:rPr lang="en-US" b="1" dirty="0" err="1" smtClean="0">
                <a:latin typeface="Arial" pitchFamily="34" charset="0"/>
                <a:cs typeface="Arial" pitchFamily="34" charset="0"/>
              </a:rPr>
              <a:t>Rs</a:t>
            </a:r>
            <a:r>
              <a:rPr lang="en-US" b="1" dirty="0" smtClean="0">
                <a:latin typeface="Arial" pitchFamily="34" charset="0"/>
                <a:cs typeface="Arial" pitchFamily="34" charset="0"/>
              </a:rPr>
              <a:t> </a:t>
            </a:r>
            <a:r>
              <a:rPr lang="en-US" b="1" dirty="0">
                <a:latin typeface="Arial" pitchFamily="34" charset="0"/>
                <a:cs typeface="Arial" pitchFamily="34" charset="0"/>
              </a:rPr>
              <a:t>(10,000/500 = </a:t>
            </a:r>
            <a:r>
              <a:rPr lang="en-US" b="1" dirty="0" err="1">
                <a:latin typeface="Arial" pitchFamily="34" charset="0"/>
                <a:cs typeface="Arial" pitchFamily="34" charset="0"/>
              </a:rPr>
              <a:t>Rs</a:t>
            </a:r>
            <a:r>
              <a:rPr lang="en-US" b="1" dirty="0">
                <a:latin typeface="Arial" pitchFamily="34" charset="0"/>
                <a:cs typeface="Arial" pitchFamily="34" charset="0"/>
              </a:rPr>
              <a:t> 20)</a:t>
            </a:r>
            <a:endParaRPr lang="en-US" b="1" dirty="0">
              <a:latin typeface="Arial" pitchFamily="34" charset="0"/>
              <a:cs typeface="Arial" pitchFamily="34" charset="0"/>
            </a:endParaRPr>
          </a:p>
        </p:txBody>
      </p:sp>
    </p:spTree>
    <p:extLst>
      <p:ext uri="{BB962C8B-B14F-4D97-AF65-F5344CB8AC3E}">
        <p14:creationId xmlns:p14="http://schemas.microsoft.com/office/powerpoint/2010/main" val="28093709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
        <p:nvSpPr>
          <p:cNvPr id="4" name="Rectangle 3"/>
          <p:cNvSpPr/>
          <p:nvPr/>
        </p:nvSpPr>
        <p:spPr>
          <a:xfrm>
            <a:off x="762336" y="1125020"/>
            <a:ext cx="6906008" cy="1297856"/>
          </a:xfrm>
          <a:prstGeom prst="rect">
            <a:avLst/>
          </a:prstGeom>
        </p:spPr>
        <p:txBody>
          <a:bodyPr wrap="square">
            <a:spAutoFit/>
          </a:bodyPr>
          <a:lstStyle/>
          <a:p>
            <a:pPr>
              <a:lnSpc>
                <a:spcPct val="150000"/>
              </a:lnSpc>
            </a:pPr>
            <a:r>
              <a:rPr lang="en-US" b="1" dirty="0">
                <a:latin typeface="Arial" pitchFamily="34" charset="0"/>
                <a:cs typeface="Arial" pitchFamily="34" charset="0"/>
              </a:rPr>
              <a:t>And that would bring down the price per share </a:t>
            </a:r>
            <a:r>
              <a:rPr lang="en-US" b="1" dirty="0" smtClean="0">
                <a:latin typeface="Arial" pitchFamily="34" charset="0"/>
                <a:cs typeface="Arial" pitchFamily="34" charset="0"/>
              </a:rPr>
              <a:t>from</a:t>
            </a:r>
            <a:br>
              <a:rPr lang="en-US" b="1" dirty="0" smtClean="0">
                <a:latin typeface="Arial" pitchFamily="34" charset="0"/>
                <a:cs typeface="Arial" pitchFamily="34" charset="0"/>
              </a:rPr>
            </a:br>
            <a:r>
              <a:rPr lang="en-US" b="1" dirty="0" smtClean="0">
                <a:latin typeface="Arial" pitchFamily="34" charset="0"/>
                <a:cs typeface="Arial" pitchFamily="34" charset="0"/>
              </a:rPr>
              <a:t>an </a:t>
            </a:r>
            <a:r>
              <a:rPr lang="en-US" b="1" dirty="0">
                <a:latin typeface="Arial" pitchFamily="34" charset="0"/>
                <a:cs typeface="Arial" pitchFamily="34" charset="0"/>
              </a:rPr>
              <a:t>unaffordable </a:t>
            </a:r>
            <a:r>
              <a:rPr lang="en-US" b="1" dirty="0" err="1">
                <a:latin typeface="Arial" pitchFamily="34" charset="0"/>
                <a:cs typeface="Arial" pitchFamily="34" charset="0"/>
              </a:rPr>
              <a:t>Rs</a:t>
            </a:r>
            <a:r>
              <a:rPr lang="en-US" b="1" dirty="0">
                <a:latin typeface="Arial" pitchFamily="34" charset="0"/>
                <a:cs typeface="Arial" pitchFamily="34" charset="0"/>
              </a:rPr>
              <a:t> 1000 to a more amenable </a:t>
            </a:r>
            <a:r>
              <a:rPr lang="en-US" b="1" dirty="0" err="1">
                <a:latin typeface="Arial" pitchFamily="34" charset="0"/>
                <a:cs typeface="Arial" pitchFamily="34" charset="0"/>
              </a:rPr>
              <a:t>Rs</a:t>
            </a:r>
            <a:r>
              <a:rPr lang="en-US" b="1" dirty="0">
                <a:latin typeface="Arial" pitchFamily="34" charset="0"/>
                <a:cs typeface="Arial" pitchFamily="34" charset="0"/>
              </a:rPr>
              <a:t> 200 </a:t>
            </a:r>
          </a:p>
          <a:p>
            <a:pPr>
              <a:lnSpc>
                <a:spcPct val="150000"/>
              </a:lnSpc>
            </a:pPr>
            <a:r>
              <a:rPr lang="en-US" b="1" dirty="0">
                <a:latin typeface="Arial" pitchFamily="34" charset="0"/>
                <a:cs typeface="Arial" pitchFamily="34" charset="0"/>
              </a:rPr>
              <a:t>(EPS x P/E = 20 x 10)</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7051581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
        <p:nvSpPr>
          <p:cNvPr id="4" name="Rectangle 3"/>
          <p:cNvSpPr/>
          <p:nvPr/>
        </p:nvSpPr>
        <p:spPr>
          <a:xfrm>
            <a:off x="762336" y="1125020"/>
            <a:ext cx="6906008" cy="872034"/>
          </a:xfrm>
          <a:prstGeom prst="rect">
            <a:avLst/>
          </a:prstGeom>
        </p:spPr>
        <p:txBody>
          <a:bodyPr wrap="square">
            <a:spAutoFit/>
          </a:bodyPr>
          <a:lstStyle/>
          <a:p>
            <a:pPr>
              <a:lnSpc>
                <a:spcPct val="150000"/>
              </a:lnSpc>
            </a:pPr>
            <a:r>
              <a:rPr lang="en-US" b="1" dirty="0">
                <a:latin typeface="Arial" pitchFamily="34" charset="0"/>
                <a:cs typeface="Arial" pitchFamily="34" charset="0"/>
              </a:rPr>
              <a:t>So in other words 100 shares x 1000 = </a:t>
            </a:r>
            <a:r>
              <a:rPr lang="en-US" b="1" dirty="0" err="1">
                <a:latin typeface="Arial" pitchFamily="34" charset="0"/>
                <a:cs typeface="Arial" pitchFamily="34" charset="0"/>
              </a:rPr>
              <a:t>Rs</a:t>
            </a:r>
            <a:r>
              <a:rPr lang="en-US" b="1" dirty="0">
                <a:latin typeface="Arial" pitchFamily="34" charset="0"/>
                <a:cs typeface="Arial" pitchFamily="34" charset="0"/>
              </a:rPr>
              <a:t> 10,000 is reconfigured as </a:t>
            </a:r>
            <a:r>
              <a:rPr lang="en-US" b="1" dirty="0" smtClean="0">
                <a:latin typeface="Arial" pitchFamily="34" charset="0"/>
                <a:cs typeface="Arial" pitchFamily="34" charset="0"/>
              </a:rPr>
              <a:t>500 </a:t>
            </a:r>
            <a:r>
              <a:rPr lang="en-US" b="1" dirty="0">
                <a:latin typeface="Arial" pitchFamily="34" charset="0"/>
                <a:cs typeface="Arial" pitchFamily="34" charset="0"/>
              </a:rPr>
              <a:t>shares x 200 = </a:t>
            </a:r>
            <a:r>
              <a:rPr lang="en-US" b="1" dirty="0" err="1">
                <a:latin typeface="Arial" pitchFamily="34" charset="0"/>
                <a:cs typeface="Arial" pitchFamily="34" charset="0"/>
              </a:rPr>
              <a:t>Rs</a:t>
            </a:r>
            <a:r>
              <a:rPr lang="en-US" b="1" dirty="0">
                <a:latin typeface="Arial" pitchFamily="34" charset="0"/>
                <a:cs typeface="Arial" pitchFamily="34" charset="0"/>
              </a:rPr>
              <a:t> 10,000.</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5316852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
        <p:nvSpPr>
          <p:cNvPr id="4" name="Rectangle 3"/>
          <p:cNvSpPr/>
          <p:nvPr/>
        </p:nvSpPr>
        <p:spPr>
          <a:xfrm>
            <a:off x="762336" y="1125020"/>
            <a:ext cx="7122032" cy="3416320"/>
          </a:xfrm>
          <a:prstGeom prst="rect">
            <a:avLst/>
          </a:prstGeom>
        </p:spPr>
        <p:txBody>
          <a:bodyPr wrap="square">
            <a:spAutoFit/>
          </a:bodyPr>
          <a:lstStyle/>
          <a:p>
            <a:pPr>
              <a:lnSpc>
                <a:spcPct val="150000"/>
              </a:lnSpc>
            </a:pPr>
            <a:r>
              <a:rPr lang="en-US" b="1" dirty="0">
                <a:latin typeface="Arial" pitchFamily="34" charset="0"/>
                <a:cs typeface="Arial" pitchFamily="34" charset="0"/>
              </a:rPr>
              <a:t>This division of shares thus increases retail participation and hence liquidity to the stock, making it easily tradable as more buyers and sellers are able to participate because of a lower unit value per share.</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And our friend is also in a better position &amp; can buy at </a:t>
            </a:r>
            <a:r>
              <a:rPr lang="en-US" b="1" dirty="0" smtClean="0">
                <a:latin typeface="Arial" pitchFamily="34" charset="0"/>
                <a:cs typeface="Arial" pitchFamily="34" charset="0"/>
              </a:rPr>
              <a:t>least</a:t>
            </a:r>
            <a:br>
              <a:rPr lang="en-US" b="1" dirty="0" smtClean="0">
                <a:latin typeface="Arial" pitchFamily="34" charset="0"/>
                <a:cs typeface="Arial" pitchFamily="34" charset="0"/>
              </a:rPr>
            </a:br>
            <a:r>
              <a:rPr lang="en-US" b="1" dirty="0" smtClean="0">
                <a:latin typeface="Arial" pitchFamily="34" charset="0"/>
                <a:cs typeface="Arial" pitchFamily="34" charset="0"/>
              </a:rPr>
              <a:t>two </a:t>
            </a:r>
            <a:r>
              <a:rPr lang="en-US" b="1" dirty="0">
                <a:latin typeface="Arial" pitchFamily="34" charset="0"/>
                <a:cs typeface="Arial" pitchFamily="34" charset="0"/>
              </a:rPr>
              <a:t>shares with his </a:t>
            </a:r>
            <a:r>
              <a:rPr lang="en-US" b="1" dirty="0" err="1">
                <a:latin typeface="Arial" pitchFamily="34" charset="0"/>
                <a:cs typeface="Arial" pitchFamily="34" charset="0"/>
              </a:rPr>
              <a:t>Rs</a:t>
            </a:r>
            <a:r>
              <a:rPr lang="en-US" b="1" dirty="0">
                <a:latin typeface="Arial" pitchFamily="34" charset="0"/>
                <a:cs typeface="Arial" pitchFamily="34" charset="0"/>
              </a:rPr>
              <a:t> 500 (2 x 200 = 400) &amp; he will be </a:t>
            </a:r>
            <a:r>
              <a:rPr lang="en-US" b="1" dirty="0" smtClean="0">
                <a:latin typeface="Arial" pitchFamily="34" charset="0"/>
                <a:cs typeface="Arial" pitchFamily="34" charset="0"/>
              </a:rPr>
              <a:t>left</a:t>
            </a:r>
            <a:br>
              <a:rPr lang="en-US" b="1" dirty="0" smtClean="0">
                <a:latin typeface="Arial" pitchFamily="34" charset="0"/>
                <a:cs typeface="Arial" pitchFamily="34" charset="0"/>
              </a:rPr>
            </a:br>
            <a:r>
              <a:rPr lang="en-US" b="1" dirty="0" smtClean="0">
                <a:latin typeface="Arial" pitchFamily="34" charset="0"/>
                <a:cs typeface="Arial" pitchFamily="34" charset="0"/>
              </a:rPr>
              <a:t>with </a:t>
            </a:r>
            <a:r>
              <a:rPr lang="en-US" b="1" dirty="0" err="1" smtClean="0">
                <a:latin typeface="Arial" pitchFamily="34" charset="0"/>
                <a:cs typeface="Arial" pitchFamily="34" charset="0"/>
              </a:rPr>
              <a:t>Rs</a:t>
            </a:r>
            <a:r>
              <a:rPr lang="en-US" b="1" dirty="0" smtClean="0">
                <a:latin typeface="Arial" pitchFamily="34" charset="0"/>
                <a:cs typeface="Arial" pitchFamily="34" charset="0"/>
              </a:rPr>
              <a:t> 100</a:t>
            </a:r>
            <a:r>
              <a:rPr lang="en-US" b="1" dirty="0">
                <a:latin typeface="Arial" pitchFamily="34" charset="0"/>
                <a:cs typeface="Arial" pitchFamily="34" charset="0"/>
              </a:rPr>
              <a:t>.</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477927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
        <p:nvSpPr>
          <p:cNvPr id="4" name="TextBox 3"/>
          <p:cNvSpPr txBox="1"/>
          <p:nvPr/>
        </p:nvSpPr>
        <p:spPr>
          <a:xfrm>
            <a:off x="4023702" y="3933056"/>
            <a:ext cx="4364722" cy="2169825"/>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Thus we have seen how and why ‘Bonus Shares’ are issued in the stock market. Also we have understood that the overall capital remains the same even if bonus shares are declared. </a:t>
            </a:r>
            <a:endParaRPr lang="en-US" b="1" dirty="0">
              <a:latin typeface="Arial" pitchFamily="34" charset="0"/>
              <a:cs typeface="Arial" pitchFamily="34" charset="0"/>
            </a:endParaRPr>
          </a:p>
        </p:txBody>
      </p:sp>
    </p:spTree>
    <p:extLst>
      <p:ext uri="{BB962C8B-B14F-4D97-AF65-F5344CB8AC3E}">
        <p14:creationId xmlns:p14="http://schemas.microsoft.com/office/powerpoint/2010/main" val="5501269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
        <p:nvSpPr>
          <p:cNvPr id="4" name="Rectangle 3"/>
          <p:cNvSpPr/>
          <p:nvPr/>
        </p:nvSpPr>
        <p:spPr>
          <a:xfrm>
            <a:off x="762336" y="1125020"/>
            <a:ext cx="7122032" cy="2128853"/>
          </a:xfrm>
          <a:prstGeom prst="rect">
            <a:avLst/>
          </a:prstGeom>
        </p:spPr>
        <p:txBody>
          <a:bodyPr wrap="square">
            <a:spAutoFit/>
          </a:bodyPr>
          <a:lstStyle/>
          <a:p>
            <a:pPr>
              <a:lnSpc>
                <a:spcPct val="150000"/>
              </a:lnSpc>
            </a:pPr>
            <a:r>
              <a:rPr lang="en-US" b="1" dirty="0">
                <a:latin typeface="Arial" pitchFamily="34" charset="0"/>
                <a:cs typeface="Arial" pitchFamily="34" charset="0"/>
              </a:rPr>
              <a:t>The only reason if at all for the stock price to go up would be because sentiments might turn positive by the news of bonus as it indicates that the company has earned good profit and hence could continue to do so and thereby attracting new investors and taking the price higher!</a:t>
            </a:r>
            <a:endParaRPr lang="en-US" b="1" dirty="0">
              <a:latin typeface="Arial" pitchFamily="34" charset="0"/>
              <a:cs typeface="Arial" pitchFamily="34" charset="0"/>
            </a:endParaRPr>
          </a:p>
        </p:txBody>
      </p:sp>
    </p:spTree>
    <p:extLst>
      <p:ext uri="{BB962C8B-B14F-4D97-AF65-F5344CB8AC3E}">
        <p14:creationId xmlns:p14="http://schemas.microsoft.com/office/powerpoint/2010/main" val="12907198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55576" y="476672"/>
            <a:ext cx="7128792"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WHY ARE BONUS SHARES ISSUED?</a:t>
            </a:r>
            <a:endParaRPr lang="en-US" sz="2000" b="1" dirty="0">
              <a:solidFill>
                <a:schemeClr val="bg1"/>
              </a:solidFill>
              <a:latin typeface="Arial" pitchFamily="34" charset="0"/>
              <a:cs typeface="Arial" pitchFamily="34" charset="0"/>
            </a:endParaRPr>
          </a:p>
        </p:txBody>
      </p:sp>
      <p:sp>
        <p:nvSpPr>
          <p:cNvPr id="4" name="Rectangle 3"/>
          <p:cNvSpPr/>
          <p:nvPr/>
        </p:nvSpPr>
        <p:spPr>
          <a:xfrm>
            <a:off x="762336" y="1125020"/>
            <a:ext cx="7122032" cy="2959849"/>
          </a:xfrm>
          <a:prstGeom prst="rect">
            <a:avLst/>
          </a:prstGeom>
        </p:spPr>
        <p:txBody>
          <a:bodyPr wrap="square">
            <a:spAutoFit/>
          </a:bodyPr>
          <a:lstStyle/>
          <a:p>
            <a:pPr>
              <a:lnSpc>
                <a:spcPct val="150000"/>
              </a:lnSpc>
            </a:pPr>
            <a:r>
              <a:rPr lang="en-US" b="1" dirty="0">
                <a:latin typeface="Arial" pitchFamily="34" charset="0"/>
                <a:cs typeface="Arial" pitchFamily="34" charset="0"/>
              </a:rPr>
              <a:t>I will be glad to receive your feedback on this lesson to understand if there any gaps.</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Your feedback will help me improve my lessons going forward.</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Also if you wish to demystify any other concepts, do write to me about them.</a:t>
            </a:r>
            <a:endParaRPr lang="en-US" b="1" dirty="0">
              <a:latin typeface="Arial" pitchFamily="34" charset="0"/>
              <a:cs typeface="Arial" pitchFamily="34" charset="0"/>
            </a:endParaRPr>
          </a:p>
        </p:txBody>
      </p:sp>
    </p:spTree>
    <p:extLst>
      <p:ext uri="{BB962C8B-B14F-4D97-AF65-F5344CB8AC3E}">
        <p14:creationId xmlns:p14="http://schemas.microsoft.com/office/powerpoint/2010/main" val="33546888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sp>
        <p:nvSpPr>
          <p:cNvPr id="11" name="TextBox 10"/>
          <p:cNvSpPr txBox="1"/>
          <p:nvPr/>
        </p:nvSpPr>
        <p:spPr>
          <a:xfrm>
            <a:off x="1475656" y="2132856"/>
            <a:ext cx="3240360" cy="830997"/>
          </a:xfrm>
          <a:prstGeom prst="rect">
            <a:avLst/>
          </a:prstGeom>
          <a:noFill/>
        </p:spPr>
        <p:txBody>
          <a:bodyPr wrap="square" rtlCol="0">
            <a:spAutoFit/>
          </a:bodyPr>
          <a:lstStyle/>
          <a:p>
            <a:pPr>
              <a:lnSpc>
                <a:spcPct val="150000"/>
              </a:lnSpc>
            </a:pPr>
            <a:r>
              <a:rPr lang="en-US" sz="1600" b="1" dirty="0">
                <a:latin typeface="Arial" pitchFamily="34" charset="0"/>
                <a:cs typeface="Arial" pitchFamily="34" charset="0"/>
              </a:rPr>
              <a:t>Please send your feedback to </a:t>
            </a:r>
            <a:r>
              <a:rPr lang="en-US" sz="1600" b="1" dirty="0">
                <a:latin typeface="Arial" pitchFamily="34" charset="0"/>
                <a:cs typeface="Arial" pitchFamily="34" charset="0"/>
                <a:hlinkClick r:id="rId3"/>
              </a:rPr>
              <a:t>professor@tataamc.com</a:t>
            </a:r>
            <a:endParaRPr lang="en-US" sz="1600"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2709</TotalTime>
  <Words>727</Words>
  <Application>Microsoft Office PowerPoint</Application>
  <PresentationFormat>On-screen Show (4:3)</PresentationFormat>
  <Paragraphs>61</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491</cp:revision>
  <dcterms:created xsi:type="dcterms:W3CDTF">2013-10-22T09:41:31Z</dcterms:created>
  <dcterms:modified xsi:type="dcterms:W3CDTF">2014-02-28T09:52:12Z</dcterms:modified>
</cp:coreProperties>
</file>