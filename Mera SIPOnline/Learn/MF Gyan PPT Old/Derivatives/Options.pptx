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343" r:id="rId3"/>
    <p:sldId id="324" r:id="rId4"/>
    <p:sldId id="348" r:id="rId5"/>
    <p:sldId id="332" r:id="rId6"/>
    <p:sldId id="352" r:id="rId7"/>
    <p:sldId id="349" r:id="rId8"/>
    <p:sldId id="350" r:id="rId9"/>
    <p:sldId id="325" r:id="rId10"/>
    <p:sldId id="344" r:id="rId11"/>
    <p:sldId id="345" r:id="rId12"/>
    <p:sldId id="353" r:id="rId13"/>
    <p:sldId id="354" r:id="rId14"/>
    <p:sldId id="355" r:id="rId15"/>
    <p:sldId id="356" r:id="rId16"/>
    <p:sldId id="357" r:id="rId17"/>
    <p:sldId id="358" r:id="rId18"/>
    <p:sldId id="359" r:id="rId19"/>
    <p:sldId id="334" r:id="rId20"/>
    <p:sldId id="351" r:id="rId21"/>
    <p:sldId id="360" r:id="rId22"/>
    <p:sldId id="287" r:id="rId23"/>
    <p:sldId id="273"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50" d="100"/>
          <a:sy n="50" d="100"/>
        </p:scale>
        <p:origin x="1195" y="29"/>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9/29/2014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9/29/2014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9/29/2014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9/29/2014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9/29/2014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43138"/>
            <a:ext cx="424847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OPTIONS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sp>
        <p:nvSpPr>
          <p:cNvPr id="3" name="TextBox 2"/>
          <p:cNvSpPr txBox="1"/>
          <p:nvPr/>
        </p:nvSpPr>
        <p:spPr>
          <a:xfrm>
            <a:off x="1785918" y="2214554"/>
            <a:ext cx="2643206" cy="507831"/>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Presenting “Options”</a:t>
            </a:r>
            <a:endParaRPr lang="en-US" b="1" baseline="70000" dirty="0">
              <a:latin typeface="Arial" pitchFamily="34" charset="0"/>
              <a:cs typeface="Arial" pitchFamily="34" charset="0"/>
            </a:endParaRPr>
          </a:p>
        </p:txBody>
      </p:sp>
    </p:spTree>
    <p:extLst>
      <p:ext uri="{BB962C8B-B14F-4D97-AF65-F5344CB8AC3E}">
        <p14:creationId xmlns:p14="http://schemas.microsoft.com/office/powerpoint/2010/main" val="15154499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980728"/>
            <a:ext cx="7488832" cy="456535"/>
          </a:xfrm>
          <a:prstGeom prst="rect">
            <a:avLst/>
          </a:prstGeom>
          <a:noFill/>
        </p:spPr>
        <p:txBody>
          <a:bodyPr wrap="square" rtlCol="0">
            <a:spAutoFit/>
          </a:bodyPr>
          <a:lstStyle/>
          <a:p>
            <a:pPr algn="ctr">
              <a:lnSpc>
                <a:spcPct val="150000"/>
              </a:lnSpc>
            </a:pPr>
            <a:r>
              <a:rPr lang="en-US" b="1" dirty="0" smtClean="0">
                <a:latin typeface="Arial" pitchFamily="34" charset="0"/>
                <a:cs typeface="Arial" pitchFamily="34" charset="0"/>
              </a:rPr>
              <a:t>Lets </a:t>
            </a:r>
            <a:r>
              <a:rPr lang="en-US" b="1" dirty="0" smtClean="0">
                <a:latin typeface="Arial" pitchFamily="34" charset="0"/>
                <a:cs typeface="Arial" pitchFamily="34" charset="0"/>
              </a:rPr>
              <a:t>say there’s a farmer who cultivates wheat</a:t>
            </a:r>
            <a:endParaRPr lang="en-US" b="1" dirty="0">
              <a:latin typeface="Arial" pitchFamily="34" charset="0"/>
              <a:cs typeface="Arial" pitchFamily="34" charset="0"/>
            </a:endParaRPr>
          </a:p>
        </p:txBody>
      </p:sp>
      <p:sp>
        <p:nvSpPr>
          <p:cNvPr id="5" name="TextBox 4"/>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OPTIONS</a:t>
            </a:r>
            <a:endParaRPr lang="en-US" sz="2000" b="1" dirty="0">
              <a:solidFill>
                <a:schemeClr val="bg1"/>
              </a:solidFill>
              <a:latin typeface="Arial" pitchFamily="34" charset="0"/>
              <a:cs typeface="Arial" pitchFamily="34" charset="0"/>
            </a:endParaRPr>
          </a:p>
        </p:txBody>
      </p:sp>
      <p:pic>
        <p:nvPicPr>
          <p:cNvPr id="6" name="Picture 4" descr="Farmer"/>
          <p:cNvPicPr>
            <a:picLocks noChangeAspect="1" noChangeArrowheads="1" noCrop="1"/>
          </p:cNvPicPr>
          <p:nvPr/>
        </p:nvPicPr>
        <p:blipFill>
          <a:blip r:embed="rId3"/>
          <a:srcRect/>
          <a:stretch>
            <a:fillRect/>
          </a:stretch>
        </p:blipFill>
        <p:spPr bwMode="auto">
          <a:xfrm>
            <a:off x="2428860" y="1571612"/>
            <a:ext cx="4880268" cy="4532323"/>
          </a:xfrm>
          <a:prstGeom prst="rect">
            <a:avLst/>
          </a:prstGeom>
          <a:noFill/>
          <a:effectLst>
            <a:outerShdw blurRad="165100" dist="76200" dir="15000000" sx="94000" sy="94000" kx="1200000" algn="br" rotWithShape="0">
              <a:prstClr val="black">
                <a:alpha val="20000"/>
              </a:prstClr>
            </a:outerShdw>
          </a:effectLst>
        </p:spPr>
      </p:pic>
    </p:spTree>
    <p:extLst>
      <p:ext uri="{BB962C8B-B14F-4D97-AF65-F5344CB8AC3E}">
        <p14:creationId xmlns:p14="http://schemas.microsoft.com/office/powerpoint/2010/main" val="32104835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980728"/>
            <a:ext cx="7888960" cy="923330"/>
          </a:xfrm>
          <a:prstGeom prst="rect">
            <a:avLst/>
          </a:prstGeom>
          <a:noFill/>
        </p:spPr>
        <p:txBody>
          <a:bodyPr wrap="square" rtlCol="0">
            <a:spAutoFit/>
          </a:bodyPr>
          <a:lstStyle/>
          <a:p>
            <a:pPr algn="ctr">
              <a:lnSpc>
                <a:spcPct val="150000"/>
              </a:lnSpc>
            </a:pPr>
            <a:r>
              <a:rPr lang="en-US" b="1" dirty="0" smtClean="0">
                <a:latin typeface="Arial" pitchFamily="34" charset="0"/>
                <a:cs typeface="Arial" pitchFamily="34" charset="0"/>
              </a:rPr>
              <a:t>And </a:t>
            </a:r>
            <a:r>
              <a:rPr lang="en-US" b="1" dirty="0" smtClean="0">
                <a:latin typeface="Arial" pitchFamily="34" charset="0"/>
                <a:cs typeface="Arial" pitchFamily="34" charset="0"/>
              </a:rPr>
              <a:t>a baker who </a:t>
            </a:r>
            <a:r>
              <a:rPr lang="en-US" b="1" dirty="0" smtClean="0">
                <a:latin typeface="Arial" pitchFamily="34" charset="0"/>
                <a:cs typeface="Arial" pitchFamily="34" charset="0"/>
              </a:rPr>
              <a:t>needs wheat</a:t>
            </a:r>
            <a:br>
              <a:rPr lang="en-US" b="1" dirty="0" smtClean="0">
                <a:latin typeface="Arial" pitchFamily="34" charset="0"/>
                <a:cs typeface="Arial" pitchFamily="34" charset="0"/>
              </a:rPr>
            </a:br>
            <a:r>
              <a:rPr lang="en-US" b="1" dirty="0" smtClean="0">
                <a:latin typeface="Arial" pitchFamily="34" charset="0"/>
                <a:cs typeface="Arial" pitchFamily="34" charset="0"/>
              </a:rPr>
              <a:t>as an input for making bread</a:t>
            </a:r>
            <a:endParaRPr lang="en-US" b="1" dirty="0">
              <a:latin typeface="Arial" pitchFamily="34" charset="0"/>
              <a:cs typeface="Arial" pitchFamily="34" charset="0"/>
            </a:endParaRPr>
          </a:p>
        </p:txBody>
      </p:sp>
      <p:sp>
        <p:nvSpPr>
          <p:cNvPr id="4" name="TextBox 3"/>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OPTIONS</a:t>
            </a:r>
            <a:endParaRPr lang="en-US" sz="2000" b="1" dirty="0">
              <a:solidFill>
                <a:schemeClr val="bg1"/>
              </a:solidFill>
              <a:latin typeface="Arial" pitchFamily="34" charset="0"/>
              <a:cs typeface="Arial" pitchFamily="34" charset="0"/>
            </a:endParaRPr>
          </a:p>
        </p:txBody>
      </p:sp>
      <p:pic>
        <p:nvPicPr>
          <p:cNvPr id="5" name="Picture 10" descr="MMj03158130000[1]"/>
          <p:cNvPicPr>
            <a:picLocks noChangeAspect="1" noChangeArrowheads="1" noCrop="1"/>
          </p:cNvPicPr>
          <p:nvPr/>
        </p:nvPicPr>
        <p:blipFill>
          <a:blip r:embed="rId3"/>
          <a:srcRect/>
          <a:stretch>
            <a:fillRect/>
          </a:stretch>
        </p:blipFill>
        <p:spPr bwMode="auto">
          <a:xfrm>
            <a:off x="2285984" y="2143116"/>
            <a:ext cx="3988052" cy="3988052"/>
          </a:xfrm>
          <a:prstGeom prst="rect">
            <a:avLst/>
          </a:prstGeom>
          <a:noFill/>
          <a:effectLst>
            <a:outerShdw blurRad="76200" dir="13500000" sy="23000" kx="1200000" algn="br" rotWithShape="0">
              <a:prstClr val="black">
                <a:alpha val="20000"/>
              </a:prstClr>
            </a:outerShdw>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TextBox 5"/>
          <p:cNvSpPr txBox="1"/>
          <p:nvPr/>
        </p:nvSpPr>
        <p:spPr>
          <a:xfrm>
            <a:off x="683568" y="1052736"/>
            <a:ext cx="7488832" cy="2741776"/>
          </a:xfrm>
          <a:prstGeom prst="rect">
            <a:avLst/>
          </a:prstGeom>
          <a:noFill/>
        </p:spPr>
        <p:txBody>
          <a:bodyPr wrap="square" rtlCol="0">
            <a:spAutoFit/>
          </a:bodyPr>
          <a:lstStyle/>
          <a:p>
            <a:pPr marL="354013" indent="-354013">
              <a:lnSpc>
                <a:spcPct val="250000"/>
              </a:lnSpc>
              <a:buFont typeface="Wingdings" pitchFamily="2" charset="2"/>
              <a:buChar char="q"/>
              <a:tabLst>
                <a:tab pos="354013" algn="l"/>
              </a:tabLst>
            </a:pPr>
            <a:r>
              <a:rPr lang="en-US" b="1" dirty="0" smtClean="0">
                <a:latin typeface="Arial" pitchFamily="34" charset="0"/>
                <a:cs typeface="Arial" pitchFamily="34" charset="0"/>
              </a:rPr>
              <a:t>The farmer thinks that the price of wheat which is currently trading at Rs. 100 could fall to Rs. 90 in 3 </a:t>
            </a:r>
            <a:r>
              <a:rPr lang="en-US" b="1" dirty="0" smtClean="0">
                <a:latin typeface="Arial" pitchFamily="34" charset="0"/>
                <a:cs typeface="Arial" pitchFamily="34" charset="0"/>
              </a:rPr>
              <a:t>months</a:t>
            </a:r>
            <a:endParaRPr lang="en-US" b="1" dirty="0" smtClean="0">
              <a:latin typeface="Arial" pitchFamily="34" charset="0"/>
              <a:cs typeface="Arial" pitchFamily="34" charset="0"/>
            </a:endParaRPr>
          </a:p>
          <a:p>
            <a:pPr marL="354013" indent="-354013">
              <a:lnSpc>
                <a:spcPct val="250000"/>
              </a:lnSpc>
              <a:buFont typeface="Wingdings" pitchFamily="2" charset="2"/>
              <a:buChar char="q"/>
              <a:tabLst>
                <a:tab pos="354013" algn="l"/>
              </a:tabLst>
            </a:pPr>
            <a:r>
              <a:rPr lang="en-US" b="1" dirty="0" smtClean="0">
                <a:latin typeface="Arial" pitchFamily="34" charset="0"/>
                <a:cs typeface="Arial" pitchFamily="34" charset="0"/>
              </a:rPr>
              <a:t>The </a:t>
            </a:r>
            <a:r>
              <a:rPr lang="en-US" b="1" dirty="0" smtClean="0">
                <a:latin typeface="Arial" pitchFamily="34" charset="0"/>
                <a:cs typeface="Arial" pitchFamily="34" charset="0"/>
              </a:rPr>
              <a:t>baker on </a:t>
            </a:r>
            <a:r>
              <a:rPr lang="en-US" b="1" dirty="0" smtClean="0">
                <a:latin typeface="Arial" pitchFamily="34" charset="0"/>
                <a:cs typeface="Arial" pitchFamily="34" charset="0"/>
              </a:rPr>
              <a:t>the other hand feels that the price of wheat on the other hand might become Rs. 120 in 3 months</a:t>
            </a:r>
            <a:endParaRPr lang="en-US" b="1" dirty="0">
              <a:latin typeface="Arial" pitchFamily="34" charset="0"/>
              <a:cs typeface="Arial" pitchFamily="34" charset="0"/>
            </a:endParaRPr>
          </a:p>
        </p:txBody>
      </p:sp>
      <p:sp>
        <p:nvSpPr>
          <p:cNvPr id="7" name="TextBox 6"/>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OPTIONS</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5565437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52736"/>
            <a:ext cx="7488832" cy="3416320"/>
          </a:xfrm>
          <a:prstGeom prst="rect">
            <a:avLst/>
          </a:prstGeom>
          <a:noFill/>
        </p:spPr>
        <p:txBody>
          <a:bodyPr wrap="square" rtlCol="0">
            <a:spAutoFit/>
          </a:bodyPr>
          <a:lstStyle/>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In such a case both of them get together and sign a contract which says that at the end of 3 months the farmer would sell wheat to the </a:t>
            </a:r>
            <a:r>
              <a:rPr lang="en-US" b="1" dirty="0" smtClean="0">
                <a:latin typeface="Arial" pitchFamily="34" charset="0"/>
                <a:cs typeface="Arial" pitchFamily="34" charset="0"/>
              </a:rPr>
              <a:t> at </a:t>
            </a:r>
            <a:r>
              <a:rPr lang="en-US" b="1" dirty="0" smtClean="0">
                <a:latin typeface="Arial" pitchFamily="34" charset="0"/>
                <a:cs typeface="Arial" pitchFamily="34" charset="0"/>
              </a:rPr>
              <a:t>Rs. 110</a:t>
            </a:r>
          </a:p>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Thus </a:t>
            </a:r>
            <a:r>
              <a:rPr lang="en-US" b="1" dirty="0" smtClean="0">
                <a:latin typeface="Arial" pitchFamily="34" charset="0"/>
                <a:cs typeface="Arial" pitchFamily="34" charset="0"/>
              </a:rPr>
              <a:t>the farmer is protected against possible fall in prices</a:t>
            </a:r>
          </a:p>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And the baker is </a:t>
            </a:r>
            <a:r>
              <a:rPr lang="en-US" b="1" dirty="0" smtClean="0">
                <a:latin typeface="Arial" pitchFamily="34" charset="0"/>
                <a:cs typeface="Arial" pitchFamily="34" charset="0"/>
              </a:rPr>
              <a:t>protected against the price of </a:t>
            </a:r>
            <a:r>
              <a:rPr lang="en-US" b="1" dirty="0" smtClean="0">
                <a:latin typeface="Arial" pitchFamily="34" charset="0"/>
                <a:cs typeface="Arial" pitchFamily="34" charset="0"/>
              </a:rPr>
              <a:t>wheat going beyond </a:t>
            </a:r>
            <a:r>
              <a:rPr lang="en-US" b="1" dirty="0" smtClean="0">
                <a:latin typeface="Arial" pitchFamily="34" charset="0"/>
                <a:cs typeface="Arial" pitchFamily="34" charset="0"/>
              </a:rPr>
              <a:t>Rs. 110</a:t>
            </a:r>
            <a:endParaRPr lang="en-US" b="1" dirty="0">
              <a:latin typeface="Arial" pitchFamily="34" charset="0"/>
              <a:cs typeface="Arial" pitchFamily="34" charset="0"/>
            </a:endParaRPr>
          </a:p>
        </p:txBody>
      </p:sp>
      <p:sp>
        <p:nvSpPr>
          <p:cNvPr id="4" name="TextBox 3"/>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OPTIONS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43372" y="4488903"/>
            <a:ext cx="3429024" cy="923330"/>
          </a:xfrm>
          <a:prstGeom prst="rect">
            <a:avLst/>
          </a:prstGeom>
        </p:spPr>
        <p:txBody>
          <a:bodyPr wrap="square">
            <a:spAutoFit/>
          </a:bodyPr>
          <a:lstStyle/>
          <a:p>
            <a:pPr>
              <a:lnSpc>
                <a:spcPct val="150000"/>
              </a:lnSpc>
            </a:pPr>
            <a:r>
              <a:rPr lang="en-US" b="1" dirty="0" smtClean="0">
                <a:latin typeface="Arial" pitchFamily="34" charset="0"/>
                <a:cs typeface="Arial" pitchFamily="34" charset="0"/>
              </a:rPr>
              <a:t>Such a contract is called a</a:t>
            </a:r>
            <a:br>
              <a:rPr lang="en-US" b="1" dirty="0" smtClean="0">
                <a:latin typeface="Arial" pitchFamily="34" charset="0"/>
                <a:cs typeface="Arial" pitchFamily="34" charset="0"/>
              </a:rPr>
            </a:br>
            <a:r>
              <a:rPr lang="en-US" b="1" dirty="0" smtClean="0">
                <a:latin typeface="Arial" pitchFamily="34" charset="0"/>
                <a:cs typeface="Arial" pitchFamily="34" charset="0"/>
              </a:rPr>
              <a:t>Futures </a:t>
            </a:r>
            <a:r>
              <a:rPr lang="en-US" b="1" dirty="0" smtClean="0">
                <a:latin typeface="Arial" pitchFamily="34" charset="0"/>
                <a:cs typeface="Arial" pitchFamily="34" charset="0"/>
              </a:rPr>
              <a:t>contract</a:t>
            </a:r>
            <a:endParaRPr lang="en-US" b="1" dirty="0">
              <a:latin typeface="Arial" pitchFamily="34" charset="0"/>
              <a:cs typeface="Arial" pitchFamily="34" charset="0"/>
            </a:endParaRPr>
          </a:p>
        </p:txBody>
      </p:sp>
      <p:sp>
        <p:nvSpPr>
          <p:cNvPr id="4" name="TextBox 3"/>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OPTIONS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857488" y="1142984"/>
            <a:ext cx="4143404" cy="1703030"/>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 In a Futures contract both parties are obliged to honor the contract and there is no escape route for either party</a:t>
            </a:r>
            <a:endParaRPr lang="en-US" b="1" dirty="0">
              <a:latin typeface="Arial" pitchFamily="34" charset="0"/>
              <a:cs typeface="Arial" pitchFamily="34" charset="0"/>
            </a:endParaRPr>
          </a:p>
        </p:txBody>
      </p:sp>
      <p:sp>
        <p:nvSpPr>
          <p:cNvPr id="4" name="TextBox 3"/>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OPTIONS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1124744"/>
            <a:ext cx="7200800" cy="3831818"/>
          </a:xfrm>
          <a:prstGeom prst="rect">
            <a:avLst/>
          </a:prstGeom>
          <a:noFill/>
        </p:spPr>
        <p:txBody>
          <a:bodyPr wrap="square" rtlCol="0">
            <a:spAutoFit/>
          </a:bodyPr>
          <a:lstStyle/>
          <a:p>
            <a:pPr marL="342900" indent="-342900">
              <a:lnSpc>
                <a:spcPct val="150000"/>
              </a:lnSpc>
            </a:pPr>
            <a:r>
              <a:rPr lang="en-US" b="1" dirty="0" smtClean="0">
                <a:latin typeface="Arial" pitchFamily="34" charset="0"/>
                <a:cs typeface="Arial" pitchFamily="34" charset="0"/>
              </a:rPr>
              <a:t>But what if the contract gives the farmer the “option” of either </a:t>
            </a:r>
          </a:p>
          <a:p>
            <a:pPr marL="530225" indent="-530225">
              <a:lnSpc>
                <a:spcPct val="150000"/>
              </a:lnSpc>
              <a:buFont typeface="Wingdings" pitchFamily="2" charset="2"/>
              <a:buChar char="q"/>
              <a:tabLst>
                <a:tab pos="530225" algn="l"/>
              </a:tabLst>
            </a:pPr>
            <a:r>
              <a:rPr lang="en-US" b="1" dirty="0" smtClean="0">
                <a:latin typeface="Arial" pitchFamily="34" charset="0"/>
                <a:cs typeface="Arial" pitchFamily="34" charset="0"/>
              </a:rPr>
              <a:t>Selling his produce to the </a:t>
            </a:r>
            <a:r>
              <a:rPr lang="en-US" b="1" dirty="0" smtClean="0">
                <a:latin typeface="Arial" pitchFamily="34" charset="0"/>
                <a:cs typeface="Arial" pitchFamily="34" charset="0"/>
              </a:rPr>
              <a:t>baker at </a:t>
            </a:r>
            <a:r>
              <a:rPr lang="en-US" b="1" dirty="0" smtClean="0">
                <a:latin typeface="Arial" pitchFamily="34" charset="0"/>
                <a:cs typeface="Arial" pitchFamily="34" charset="0"/>
              </a:rPr>
              <a:t>the</a:t>
            </a:r>
            <a:br>
              <a:rPr lang="en-US" b="1" dirty="0" smtClean="0">
                <a:latin typeface="Arial" pitchFamily="34" charset="0"/>
                <a:cs typeface="Arial" pitchFamily="34" charset="0"/>
              </a:rPr>
            </a:br>
            <a:r>
              <a:rPr lang="en-US" b="1" dirty="0" smtClean="0">
                <a:latin typeface="Arial" pitchFamily="34" charset="0"/>
                <a:cs typeface="Arial" pitchFamily="34" charset="0"/>
              </a:rPr>
              <a:t>pre-agreed price of  Rs 110 or </a:t>
            </a:r>
          </a:p>
          <a:p>
            <a:pPr marL="530225" indent="-530225">
              <a:lnSpc>
                <a:spcPct val="150000"/>
              </a:lnSpc>
              <a:buFont typeface="Wingdings" pitchFamily="2" charset="2"/>
              <a:buChar char="q"/>
              <a:tabLst>
                <a:tab pos="530225" algn="l"/>
              </a:tabLst>
            </a:pPr>
            <a:endParaRPr lang="en-US" b="1" dirty="0" smtClean="0">
              <a:latin typeface="Arial" pitchFamily="34" charset="0"/>
              <a:cs typeface="Arial" pitchFamily="34" charset="0"/>
            </a:endParaRPr>
          </a:p>
          <a:p>
            <a:pPr marL="530225" indent="-530225">
              <a:lnSpc>
                <a:spcPct val="150000"/>
              </a:lnSpc>
              <a:buFont typeface="Wingdings" pitchFamily="2" charset="2"/>
              <a:buChar char="q"/>
              <a:tabLst>
                <a:tab pos="530225" algn="l"/>
              </a:tabLst>
            </a:pPr>
            <a:r>
              <a:rPr lang="en-US" b="1" dirty="0" smtClean="0">
                <a:latin typeface="Arial" pitchFamily="34" charset="0"/>
                <a:cs typeface="Arial" pitchFamily="34" charset="0"/>
              </a:rPr>
              <a:t>Choosing to exit the contract and selling the produce in</a:t>
            </a:r>
            <a:br>
              <a:rPr lang="en-US" b="1" dirty="0" smtClean="0">
                <a:latin typeface="Arial" pitchFamily="34" charset="0"/>
                <a:cs typeface="Arial" pitchFamily="34" charset="0"/>
              </a:rPr>
            </a:br>
            <a:r>
              <a:rPr lang="en-US" b="1" dirty="0" smtClean="0">
                <a:latin typeface="Arial" pitchFamily="34" charset="0"/>
                <a:cs typeface="Arial" pitchFamily="34" charset="0"/>
              </a:rPr>
              <a:t>the open market or wherever he deems fit.</a:t>
            </a:r>
          </a:p>
          <a:p>
            <a:pPr marL="530225" indent="-530225">
              <a:lnSpc>
                <a:spcPct val="150000"/>
              </a:lnSpc>
              <a:buFont typeface="Wingdings" pitchFamily="2" charset="2"/>
              <a:buChar char="q"/>
              <a:tabLst>
                <a:tab pos="530225" algn="l"/>
              </a:tabLst>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Thus, he would not be obliged to honor the contract made with the </a:t>
            </a:r>
            <a:r>
              <a:rPr lang="en-US" b="1" dirty="0" smtClean="0">
                <a:latin typeface="Arial" pitchFamily="34" charset="0"/>
                <a:cs typeface="Arial" pitchFamily="34" charset="0"/>
              </a:rPr>
              <a:t>baker on </a:t>
            </a:r>
            <a:r>
              <a:rPr lang="en-US" b="1" dirty="0" smtClean="0">
                <a:latin typeface="Arial" pitchFamily="34" charset="0"/>
                <a:cs typeface="Arial" pitchFamily="34" charset="0"/>
              </a:rPr>
              <a:t>the date of settlement.  </a:t>
            </a:r>
            <a:endParaRPr lang="en-US" b="1" i="1" dirty="0">
              <a:latin typeface="Arial" pitchFamily="34" charset="0"/>
              <a:cs typeface="Arial" pitchFamily="34" charset="0"/>
            </a:endParaRPr>
          </a:p>
        </p:txBody>
      </p:sp>
      <p:sp>
        <p:nvSpPr>
          <p:cNvPr id="6" name="TextBox 5"/>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OPTIONS</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27512652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124744"/>
            <a:ext cx="7200800" cy="3330399"/>
          </a:xfrm>
          <a:prstGeom prst="rect">
            <a:avLst/>
          </a:prstGeom>
          <a:noFill/>
        </p:spPr>
        <p:txBody>
          <a:bodyPr wrap="square" rtlCol="0">
            <a:spAutoFit/>
          </a:bodyPr>
          <a:lstStyle/>
          <a:p>
            <a:pPr>
              <a:lnSpc>
                <a:spcPct val="200000"/>
              </a:lnSpc>
            </a:pPr>
            <a:r>
              <a:rPr lang="en-US" b="1" dirty="0" smtClean="0">
                <a:latin typeface="Arial" pitchFamily="34" charset="0"/>
                <a:cs typeface="Arial" pitchFamily="34" charset="0"/>
              </a:rPr>
              <a:t> </a:t>
            </a:r>
            <a:r>
              <a:rPr lang="en-US" b="1" i="1" dirty="0" smtClean="0">
                <a:solidFill>
                  <a:srgbClr val="0000CC"/>
                </a:solidFill>
                <a:latin typeface="Arial" pitchFamily="34" charset="0"/>
                <a:cs typeface="Arial" pitchFamily="34" charset="0"/>
              </a:rPr>
              <a:t>Such a contract which gives the farmer the option of either executing the contract or exiting it is known as an “Options” contract</a:t>
            </a:r>
          </a:p>
          <a:p>
            <a:pPr>
              <a:lnSpc>
                <a:spcPct val="200000"/>
              </a:lnSpc>
            </a:pPr>
            <a:endParaRPr lang="en-US" b="1" dirty="0" smtClean="0">
              <a:latin typeface="Arial" pitchFamily="34" charset="0"/>
              <a:cs typeface="Arial" pitchFamily="34" charset="0"/>
            </a:endParaRPr>
          </a:p>
          <a:p>
            <a:pPr>
              <a:lnSpc>
                <a:spcPct val="200000"/>
              </a:lnSpc>
            </a:pPr>
            <a:r>
              <a:rPr lang="en-US" b="1" dirty="0" smtClean="0">
                <a:latin typeface="Arial" pitchFamily="34" charset="0"/>
                <a:cs typeface="Arial" pitchFamily="34" charset="0"/>
              </a:rPr>
              <a:t>But the farmer obviously cannot get this privilege just like that. He obviously has to pay a premium for exercising this facility</a:t>
            </a:r>
            <a:endParaRPr lang="en-US" b="1" dirty="0">
              <a:latin typeface="Arial" pitchFamily="34" charset="0"/>
              <a:cs typeface="Arial" pitchFamily="34" charset="0"/>
            </a:endParaRPr>
          </a:p>
        </p:txBody>
      </p:sp>
      <p:sp>
        <p:nvSpPr>
          <p:cNvPr id="4" name="TextBox 3"/>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OPTIONS</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4750093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28786" y="1000108"/>
            <a:ext cx="7843742" cy="2585323"/>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Now, let’s say that after 3 months the price of wheat reaches Rs. 120</a:t>
            </a:r>
            <a:br>
              <a:rPr lang="en-US" b="1" dirty="0" smtClean="0">
                <a:latin typeface="Arial" pitchFamily="34" charset="0"/>
                <a:cs typeface="Arial" pitchFamily="34" charset="0"/>
              </a:rPr>
            </a:b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In this case the farmer quite obviously will want to exit the</a:t>
            </a:r>
            <a:br>
              <a:rPr lang="en-US" b="1" dirty="0" smtClean="0">
                <a:latin typeface="Arial" pitchFamily="34" charset="0"/>
                <a:cs typeface="Arial" pitchFamily="34" charset="0"/>
              </a:rPr>
            </a:br>
            <a:r>
              <a:rPr lang="en-US" b="1" dirty="0" smtClean="0">
                <a:latin typeface="Arial" pitchFamily="34" charset="0"/>
                <a:cs typeface="Arial" pitchFamily="34" charset="0"/>
              </a:rPr>
              <a:t>contract so that he is free to sell his produce in the open market for Rs. 120. Thus while the farmer gets away the </a:t>
            </a:r>
            <a:r>
              <a:rPr lang="en-US" b="1" dirty="0" smtClean="0">
                <a:latin typeface="Arial" pitchFamily="34" charset="0"/>
                <a:cs typeface="Arial" pitchFamily="34" charset="0"/>
              </a:rPr>
              <a:t>baker is </a:t>
            </a:r>
            <a:r>
              <a:rPr lang="en-US" b="1" dirty="0" smtClean="0">
                <a:latin typeface="Arial" pitchFamily="34" charset="0"/>
                <a:cs typeface="Arial" pitchFamily="34" charset="0"/>
              </a:rPr>
              <a:t>left high and dry and has no other option but to buy from the open market at Rs 120</a:t>
            </a:r>
            <a:endParaRPr lang="en-US" b="1" dirty="0">
              <a:latin typeface="Arial" pitchFamily="34" charset="0"/>
              <a:cs typeface="Arial" pitchFamily="34" charset="0"/>
            </a:endParaRPr>
          </a:p>
        </p:txBody>
      </p:sp>
      <p:sp>
        <p:nvSpPr>
          <p:cNvPr id="4" name="TextBox 3"/>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OPTIONS</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97737796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28786" y="1000108"/>
            <a:ext cx="7843742" cy="3693319"/>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But it is not such a bad situation for the </a:t>
            </a:r>
            <a:r>
              <a:rPr lang="en-US" b="1" dirty="0" smtClean="0">
                <a:latin typeface="Arial" pitchFamily="34" charset="0"/>
                <a:cs typeface="Arial" pitchFamily="34" charset="0"/>
              </a:rPr>
              <a:t>baker as </a:t>
            </a:r>
            <a:r>
              <a:rPr lang="en-US" b="1" dirty="0" smtClean="0">
                <a:latin typeface="Arial" pitchFamily="34" charset="0"/>
                <a:cs typeface="Arial" pitchFamily="34" charset="0"/>
              </a:rPr>
              <a:t>it appears as he gets compensated by the farmer for having been a party to the “Options” contract. </a:t>
            </a:r>
          </a:p>
          <a:p>
            <a:pPr>
              <a:lnSpc>
                <a:spcPct val="150000"/>
              </a:lnSpc>
            </a:pPr>
            <a:endParaRPr lang="en-US" sz="600"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This compensation * in the form of price is called the</a:t>
            </a:r>
            <a:br>
              <a:rPr lang="en-US" b="1" dirty="0" smtClean="0">
                <a:latin typeface="Arial" pitchFamily="34" charset="0"/>
                <a:cs typeface="Arial" pitchFamily="34" charset="0"/>
              </a:rPr>
            </a:br>
            <a:r>
              <a:rPr lang="en-US" b="1" dirty="0" smtClean="0">
                <a:latin typeface="Arial" pitchFamily="34" charset="0"/>
                <a:cs typeface="Arial" pitchFamily="34" charset="0"/>
              </a:rPr>
              <a:t>“Option premium” that the farmer has to pay for the Options</a:t>
            </a:r>
            <a:br>
              <a:rPr lang="en-US" b="1" dirty="0" smtClean="0">
                <a:latin typeface="Arial" pitchFamily="34" charset="0"/>
                <a:cs typeface="Arial" pitchFamily="34" charset="0"/>
              </a:rPr>
            </a:br>
            <a:r>
              <a:rPr lang="en-US" b="1" dirty="0" smtClean="0">
                <a:latin typeface="Arial" pitchFamily="34" charset="0"/>
                <a:cs typeface="Arial" pitchFamily="34" charset="0"/>
              </a:rPr>
              <a:t>contract and quite evidently it would be a small amount.</a:t>
            </a:r>
          </a:p>
          <a:p>
            <a:pPr>
              <a:lnSpc>
                <a:spcPct val="150000"/>
              </a:lnSpc>
            </a:pPr>
            <a:endParaRPr lang="en-US" sz="600"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Let’s say in our case the amount is Rs 2. So the farmer is obliged to pay the </a:t>
            </a:r>
            <a:r>
              <a:rPr lang="en-US" b="1" dirty="0" smtClean="0">
                <a:latin typeface="Arial" pitchFamily="34" charset="0"/>
                <a:cs typeface="Arial" pitchFamily="34" charset="0"/>
              </a:rPr>
              <a:t>baker </a:t>
            </a:r>
            <a:r>
              <a:rPr lang="en-US" b="1" dirty="0" err="1" smtClean="0">
                <a:latin typeface="Arial" pitchFamily="34" charset="0"/>
                <a:cs typeface="Arial" pitchFamily="34" charset="0"/>
              </a:rPr>
              <a:t>Rs</a:t>
            </a:r>
            <a:r>
              <a:rPr lang="en-US" b="1" dirty="0" smtClean="0">
                <a:latin typeface="Arial" pitchFamily="34" charset="0"/>
                <a:cs typeface="Arial" pitchFamily="34" charset="0"/>
              </a:rPr>
              <a:t> </a:t>
            </a:r>
            <a:r>
              <a:rPr lang="en-US" b="1" dirty="0" smtClean="0">
                <a:latin typeface="Arial" pitchFamily="34" charset="0"/>
                <a:cs typeface="Arial" pitchFamily="34" charset="0"/>
              </a:rPr>
              <a:t>2 as he has chosen to opt out of the contract.</a:t>
            </a:r>
            <a:endParaRPr lang="en-US" b="1" dirty="0">
              <a:latin typeface="Arial" pitchFamily="34" charset="0"/>
              <a:cs typeface="Arial" pitchFamily="34" charset="0"/>
            </a:endParaRPr>
          </a:p>
        </p:txBody>
      </p:sp>
      <p:sp>
        <p:nvSpPr>
          <p:cNvPr id="4" name="TextBox 3"/>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OPTIONS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28786" y="1000108"/>
            <a:ext cx="7415114" cy="3831818"/>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 Thus although the </a:t>
            </a:r>
            <a:r>
              <a:rPr lang="en-US" b="1" dirty="0" smtClean="0">
                <a:latin typeface="Arial" pitchFamily="34" charset="0"/>
                <a:cs typeface="Arial" pitchFamily="34" charset="0"/>
              </a:rPr>
              <a:t>baker has </a:t>
            </a:r>
            <a:r>
              <a:rPr lang="en-US" b="1" dirty="0" smtClean="0">
                <a:latin typeface="Arial" pitchFamily="34" charset="0"/>
                <a:cs typeface="Arial" pitchFamily="34" charset="0"/>
              </a:rPr>
              <a:t>no other option left but to go to the open market and purchase wheat at Rs. 120,</a:t>
            </a:r>
            <a:br>
              <a:rPr lang="en-US" b="1" dirty="0" smtClean="0">
                <a:latin typeface="Arial" pitchFamily="34" charset="0"/>
                <a:cs typeface="Arial" pitchFamily="34" charset="0"/>
              </a:rPr>
            </a:br>
            <a:r>
              <a:rPr lang="en-US" b="1" dirty="0" smtClean="0">
                <a:latin typeface="Arial" pitchFamily="34" charset="0"/>
                <a:cs typeface="Arial" pitchFamily="34" charset="0"/>
              </a:rPr>
              <a:t>he does get the benefit of  Rs 2 as compensation for being a</a:t>
            </a:r>
            <a:br>
              <a:rPr lang="en-US" b="1" dirty="0" smtClean="0">
                <a:latin typeface="Arial" pitchFamily="34" charset="0"/>
                <a:cs typeface="Arial" pitchFamily="34" charset="0"/>
              </a:rPr>
            </a:br>
            <a:r>
              <a:rPr lang="en-US" b="1" dirty="0" smtClean="0">
                <a:latin typeface="Arial" pitchFamily="34" charset="0"/>
                <a:cs typeface="Arial" pitchFamily="34" charset="0"/>
              </a:rPr>
              <a:t>party to the “Options” contract.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So even if the price is Rs. 120 in the open market, for him</a:t>
            </a:r>
            <a:br>
              <a:rPr lang="en-US" b="1" dirty="0" smtClean="0">
                <a:latin typeface="Arial" pitchFamily="34" charset="0"/>
                <a:cs typeface="Arial" pitchFamily="34" charset="0"/>
              </a:rPr>
            </a:br>
            <a:r>
              <a:rPr lang="en-US" b="1" dirty="0" smtClean="0">
                <a:latin typeface="Arial" pitchFamily="34" charset="0"/>
                <a:cs typeface="Arial" pitchFamily="34" charset="0"/>
              </a:rPr>
              <a:t>the effective price turns out to be Rs. (120 -2) = Rs 118. </a:t>
            </a:r>
          </a:p>
          <a:p>
            <a:pPr>
              <a:lnSpc>
                <a:spcPct val="150000"/>
              </a:lnSpc>
            </a:pPr>
            <a:r>
              <a:rPr lang="en-US" b="1" dirty="0" smtClean="0">
                <a:latin typeface="Arial" pitchFamily="34" charset="0"/>
                <a:cs typeface="Arial" pitchFamily="34" charset="0"/>
              </a:rPr>
              <a:t>So by simply participating in the contract he too stands </a:t>
            </a:r>
            <a:r>
              <a:rPr lang="en-US" b="1" dirty="0" err="1" smtClean="0">
                <a:latin typeface="Arial" pitchFamily="34" charset="0"/>
                <a:cs typeface="Arial" pitchFamily="34" charset="0"/>
              </a:rPr>
              <a:t>togain</a:t>
            </a:r>
            <a:r>
              <a:rPr lang="en-US" b="1" dirty="0" smtClean="0">
                <a:latin typeface="Arial" pitchFamily="34" charset="0"/>
                <a:cs typeface="Arial" pitchFamily="34" charset="0"/>
              </a:rPr>
              <a:t> something</a:t>
            </a:r>
            <a:endParaRPr lang="en-US" b="1" dirty="0">
              <a:latin typeface="Arial" pitchFamily="34" charset="0"/>
              <a:cs typeface="Arial" pitchFamily="34" charset="0"/>
            </a:endParaRPr>
          </a:p>
        </p:txBody>
      </p:sp>
      <p:sp>
        <p:nvSpPr>
          <p:cNvPr id="4" name="TextBox 3"/>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OPTIONS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28786" y="1000108"/>
            <a:ext cx="7415114" cy="3000821"/>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 As far as the farmer is concerned it is a win – win scenario for him by participating in the contract.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Had the prices fallen to Rs 90 as he had anticipated he would have executed the Options contract. But since prices rose to Rs 120 he chose to exit the contract. Thus he is blessed with the “Option”</a:t>
            </a:r>
            <a:br>
              <a:rPr lang="en-US" b="1" dirty="0" smtClean="0">
                <a:latin typeface="Arial" pitchFamily="34" charset="0"/>
                <a:cs typeface="Arial" pitchFamily="34" charset="0"/>
              </a:rPr>
            </a:br>
            <a:r>
              <a:rPr lang="en-US" b="1" dirty="0" smtClean="0">
                <a:latin typeface="Arial" pitchFamily="34" charset="0"/>
                <a:cs typeface="Arial" pitchFamily="34" charset="0"/>
              </a:rPr>
              <a:t>by signing such a contract.</a:t>
            </a:r>
            <a:endParaRPr lang="en-US" b="1" dirty="0">
              <a:latin typeface="Arial" pitchFamily="34" charset="0"/>
              <a:cs typeface="Arial" pitchFamily="34" charset="0"/>
            </a:endParaRPr>
          </a:p>
        </p:txBody>
      </p:sp>
      <p:sp>
        <p:nvSpPr>
          <p:cNvPr id="4" name="TextBox 3"/>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OPTIONS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28786" y="1000108"/>
            <a:ext cx="7415114" cy="4108817"/>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 It is important to understand that in an “Options” contract only one party gets the privilege to exercise the option while the other party is obliged to honor the option chosen. </a:t>
            </a:r>
          </a:p>
          <a:p>
            <a:pPr>
              <a:lnSpc>
                <a:spcPct val="150000"/>
              </a:lnSpc>
            </a:pPr>
            <a:endParaRPr lang="en-US" sz="600"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Thus in our case the farmer has the option to either execute or exit the contract whereas the </a:t>
            </a:r>
            <a:r>
              <a:rPr lang="en-US" b="1" dirty="0" smtClean="0">
                <a:latin typeface="Arial" pitchFamily="34" charset="0"/>
                <a:cs typeface="Arial" pitchFamily="34" charset="0"/>
              </a:rPr>
              <a:t>baker is </a:t>
            </a:r>
            <a:r>
              <a:rPr lang="en-US" b="1" dirty="0" smtClean="0">
                <a:latin typeface="Arial" pitchFamily="34" charset="0"/>
                <a:cs typeface="Arial" pitchFamily="34" charset="0"/>
              </a:rPr>
              <a:t>obliged to honor the decision of the farmer.</a:t>
            </a:r>
          </a:p>
          <a:p>
            <a:pPr>
              <a:lnSpc>
                <a:spcPct val="150000"/>
              </a:lnSpc>
            </a:pPr>
            <a:endParaRPr lang="en-US" sz="600"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 A contract such as this where only the seller of the commodity gets the option to either exercise or exit the contract is known as “Put” option.</a:t>
            </a:r>
            <a:endParaRPr lang="en-US" b="1" dirty="0">
              <a:latin typeface="Arial" pitchFamily="34" charset="0"/>
              <a:cs typeface="Arial" pitchFamily="34" charset="0"/>
            </a:endParaRPr>
          </a:p>
        </p:txBody>
      </p:sp>
      <p:sp>
        <p:nvSpPr>
          <p:cNvPr id="4" name="TextBox 3"/>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OPTIONS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3000364" y="1225904"/>
            <a:ext cx="3857652" cy="1754326"/>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There is another option which is called a “Call” option and we will explain that concept to you in our next lesson</a:t>
            </a:r>
            <a:endParaRPr lang="en-US" b="1" dirty="0">
              <a:latin typeface="Arial" pitchFamily="34" charset="0"/>
              <a:cs typeface="Arial" pitchFamily="34" charset="0"/>
            </a:endParaRPr>
          </a:p>
        </p:txBody>
      </p:sp>
      <p:sp>
        <p:nvSpPr>
          <p:cNvPr id="4" name="TextBox 3"/>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OPTIONS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28786" y="1000108"/>
            <a:ext cx="7415114" cy="3831818"/>
          </a:xfrm>
          <a:prstGeom prst="rect">
            <a:avLst/>
          </a:prstGeom>
          <a:noFill/>
        </p:spPr>
        <p:txBody>
          <a:bodyPr wrap="square" rtlCol="0">
            <a:spAutoFit/>
          </a:bodyPr>
          <a:lstStyle/>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Even in an Options contract both parties land up achieving their goals and their interest is protected</a:t>
            </a:r>
            <a:br>
              <a:rPr lang="en-US" b="1" dirty="0" smtClean="0">
                <a:latin typeface="Arial" pitchFamily="34" charset="0"/>
                <a:cs typeface="Arial" pitchFamily="34" charset="0"/>
              </a:rPr>
            </a:br>
            <a:endParaRPr lang="en-US" b="1" dirty="0" smtClean="0">
              <a:latin typeface="Arial" pitchFamily="34" charset="0"/>
              <a:cs typeface="Arial" pitchFamily="34" charset="0"/>
            </a:endParaRPr>
          </a:p>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The farmer stands to gain the most by getting to exercise a choice that benefits him the most</a:t>
            </a:r>
          </a:p>
          <a:p>
            <a:pPr marL="354013" indent="-354013">
              <a:lnSpc>
                <a:spcPct val="150000"/>
              </a:lnSpc>
              <a:buFont typeface="Wingdings" pitchFamily="2" charset="2"/>
              <a:buChar char="q"/>
              <a:tabLst>
                <a:tab pos="354013" algn="l"/>
              </a:tabLst>
            </a:pPr>
            <a:endParaRPr lang="en-US" b="1" dirty="0" smtClean="0">
              <a:latin typeface="Arial" pitchFamily="34" charset="0"/>
              <a:cs typeface="Arial" pitchFamily="34" charset="0"/>
            </a:endParaRPr>
          </a:p>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The </a:t>
            </a:r>
            <a:r>
              <a:rPr lang="en-US" b="1" dirty="0" smtClean="0">
                <a:latin typeface="Arial" pitchFamily="34" charset="0"/>
                <a:cs typeface="Arial" pitchFamily="34" charset="0"/>
              </a:rPr>
              <a:t>baker too </a:t>
            </a:r>
            <a:r>
              <a:rPr lang="en-US" b="1" dirty="0" smtClean="0">
                <a:latin typeface="Arial" pitchFamily="34" charset="0"/>
                <a:cs typeface="Arial" pitchFamily="34" charset="0"/>
              </a:rPr>
              <a:t>benefits by being a party to the contract due to the compensation he receives from the farmer for not honoring the contract.</a:t>
            </a:r>
            <a:endParaRPr lang="en-US" b="1" dirty="0">
              <a:latin typeface="Arial" pitchFamily="34" charset="0"/>
              <a:cs typeface="Arial" pitchFamily="34" charset="0"/>
            </a:endParaRPr>
          </a:p>
        </p:txBody>
      </p:sp>
      <p:sp>
        <p:nvSpPr>
          <p:cNvPr id="4" name="TextBox 3"/>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OPTIONS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28786" y="1116299"/>
            <a:ext cx="7057924" cy="2169825"/>
          </a:xfrm>
          <a:prstGeom prst="rect">
            <a:avLst/>
          </a:prstGeom>
          <a:noFill/>
        </p:spPr>
        <p:txBody>
          <a:bodyPr wrap="square" rtlCol="0">
            <a:spAutoFit/>
          </a:bodyPr>
          <a:lstStyle/>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The </a:t>
            </a:r>
            <a:r>
              <a:rPr lang="en-US" b="1" dirty="0" smtClean="0">
                <a:latin typeface="Arial" pitchFamily="34" charset="0"/>
                <a:cs typeface="Arial" pitchFamily="34" charset="0"/>
              </a:rPr>
              <a:t>baker due </a:t>
            </a:r>
            <a:r>
              <a:rPr lang="en-US" b="1" dirty="0" smtClean="0">
                <a:latin typeface="Arial" pitchFamily="34" charset="0"/>
                <a:cs typeface="Arial" pitchFamily="34" charset="0"/>
              </a:rPr>
              <a:t>to the compensation receives wheat from the open market at an effective price of Rs 118 </a:t>
            </a:r>
            <a:br>
              <a:rPr lang="en-US" b="1" dirty="0" smtClean="0">
                <a:latin typeface="Arial" pitchFamily="34" charset="0"/>
                <a:cs typeface="Arial" pitchFamily="34" charset="0"/>
              </a:rPr>
            </a:br>
            <a:endParaRPr lang="en-US" b="1" dirty="0" smtClean="0">
              <a:latin typeface="Arial" pitchFamily="34" charset="0"/>
              <a:cs typeface="Arial" pitchFamily="34" charset="0"/>
            </a:endParaRPr>
          </a:p>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And hence is better off than the ordinary or spot buyer who would have to pay Rs 120.</a:t>
            </a:r>
            <a:endParaRPr lang="en-US" b="1" dirty="0">
              <a:latin typeface="Arial" pitchFamily="34" charset="0"/>
              <a:cs typeface="Arial" pitchFamily="34" charset="0"/>
            </a:endParaRPr>
          </a:p>
        </p:txBody>
      </p:sp>
      <p:sp>
        <p:nvSpPr>
          <p:cNvPr id="4" name="TextBox 3"/>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OPTIONS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7" name="TextBox 6"/>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OPTIONS</a:t>
            </a:r>
            <a:endParaRPr lang="en-US" sz="2000" b="1" dirty="0">
              <a:solidFill>
                <a:schemeClr val="bg1"/>
              </a:solidFill>
              <a:latin typeface="Arial" pitchFamily="34" charset="0"/>
              <a:cs typeface="Arial" pitchFamily="34" charset="0"/>
            </a:endParaRPr>
          </a:p>
        </p:txBody>
      </p:sp>
      <p:sp>
        <p:nvSpPr>
          <p:cNvPr id="3" name="TextBox 2"/>
          <p:cNvSpPr txBox="1"/>
          <p:nvPr/>
        </p:nvSpPr>
        <p:spPr>
          <a:xfrm>
            <a:off x="4720732" y="2357430"/>
            <a:ext cx="3708920" cy="3831818"/>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 Thus in a sense both parties landed up getting some gains by being parties to the</a:t>
            </a:r>
            <a:br>
              <a:rPr lang="en-US" b="1" dirty="0" smtClean="0">
                <a:latin typeface="Arial" pitchFamily="34" charset="0"/>
                <a:cs typeface="Arial" pitchFamily="34" charset="0"/>
              </a:rPr>
            </a:br>
            <a:r>
              <a:rPr lang="en-US" b="1" dirty="0" smtClean="0">
                <a:latin typeface="Arial" pitchFamily="34" charset="0"/>
                <a:cs typeface="Arial" pitchFamily="34" charset="0"/>
              </a:rPr>
              <a:t>“options contract”.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However unlike in a “Futures” contract, in the “Options” contract one party gains more than the other party.</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95269318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TextBox 5"/>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OPTIONS</a:t>
            </a:r>
            <a:endParaRPr lang="en-US" sz="2000" b="1" dirty="0">
              <a:solidFill>
                <a:schemeClr val="bg1"/>
              </a:solidFill>
              <a:latin typeface="Arial" pitchFamily="34" charset="0"/>
              <a:cs typeface="Arial" pitchFamily="34" charset="0"/>
            </a:endParaRPr>
          </a:p>
        </p:txBody>
      </p:sp>
      <p:sp>
        <p:nvSpPr>
          <p:cNvPr id="3" name="TextBox 2"/>
          <p:cNvSpPr txBox="1"/>
          <p:nvPr/>
        </p:nvSpPr>
        <p:spPr>
          <a:xfrm>
            <a:off x="857224" y="1142984"/>
            <a:ext cx="7143800" cy="2534027"/>
          </a:xfrm>
          <a:prstGeom prst="rect">
            <a:avLst/>
          </a:prstGeom>
          <a:noFill/>
        </p:spPr>
        <p:txBody>
          <a:bodyPr wrap="square" rtlCol="0">
            <a:spAutoFit/>
          </a:bodyPr>
          <a:lstStyle/>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I hope I have been able to explain to you what ‘margin money’ is all about.</a:t>
            </a:r>
          </a:p>
          <a:p>
            <a:pPr marL="354013" indent="-354013">
              <a:lnSpc>
                <a:spcPct val="150000"/>
              </a:lnSpc>
              <a:buFont typeface="Wingdings" pitchFamily="2" charset="2"/>
              <a:buChar char="q"/>
              <a:tabLst>
                <a:tab pos="354013" algn="l"/>
              </a:tabLst>
            </a:pPr>
            <a:endParaRPr lang="en-US" b="1" dirty="0" smtClean="0">
              <a:latin typeface="Arial" pitchFamily="34" charset="0"/>
              <a:cs typeface="Arial" pitchFamily="34" charset="0"/>
            </a:endParaRPr>
          </a:p>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Do give me your feedback about my lessons so that I can work on them and improve them for your better comprehension.</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3071802" y="1071546"/>
            <a:ext cx="3857652" cy="2169825"/>
          </a:xfrm>
          <a:prstGeom prst="rect">
            <a:avLst/>
          </a:prstGeom>
          <a:noFill/>
        </p:spPr>
        <p:txBody>
          <a:bodyPr wrap="square" rtlCol="0">
            <a:spAutoFit/>
          </a:bodyPr>
          <a:lstStyle/>
          <a:p>
            <a:pPr>
              <a:lnSpc>
                <a:spcPct val="150000"/>
              </a:lnSpc>
              <a:buFontTx/>
              <a:buNone/>
            </a:pPr>
            <a:r>
              <a:rPr lang="en-US" b="1" dirty="0" smtClean="0">
                <a:latin typeface="Arial" pitchFamily="34" charset="0"/>
                <a:cs typeface="Arial" pitchFamily="34" charset="0"/>
              </a:rPr>
              <a:t>Please do let me know if I have managed to clear this concept</a:t>
            </a:r>
            <a:br>
              <a:rPr lang="en-US" b="1" dirty="0" smtClean="0">
                <a:latin typeface="Arial" pitchFamily="34" charset="0"/>
                <a:cs typeface="Arial" pitchFamily="34" charset="0"/>
              </a:rPr>
            </a:br>
            <a:r>
              <a:rPr lang="en-US" b="1" dirty="0" smtClean="0">
                <a:latin typeface="Arial" pitchFamily="34" charset="0"/>
                <a:cs typeface="Arial" pitchFamily="34" charset="0"/>
              </a:rPr>
              <a:t>for you. Your feedback is very important to me as it helps me plan my future lessons. </a:t>
            </a:r>
            <a:endParaRPr lang="en-US" b="1" dirty="0">
              <a:latin typeface="Arial" pitchFamily="34" charset="0"/>
              <a:cs typeface="Arial" pitchFamily="34" charset="0"/>
            </a:endParaRPr>
          </a:p>
        </p:txBody>
      </p:sp>
      <p:sp>
        <p:nvSpPr>
          <p:cNvPr id="4" name="TextBox 3"/>
          <p:cNvSpPr txBox="1"/>
          <p:nvPr/>
        </p:nvSpPr>
        <p:spPr>
          <a:xfrm>
            <a:off x="1619672" y="476672"/>
            <a:ext cx="568863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OPTIONS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214414" y="2021643"/>
            <a:ext cx="3643338" cy="935769"/>
          </a:xfrm>
          <a:prstGeom prst="rect">
            <a:avLst/>
          </a:prstGeom>
          <a:noFill/>
        </p:spPr>
        <p:txBody>
          <a:bodyPr wrap="square" rtlCol="0">
            <a:spAutoFit/>
          </a:bodyPr>
          <a:lstStyle/>
          <a:p>
            <a:pPr marL="342900" indent="-342900">
              <a:lnSpc>
                <a:spcPct val="150000"/>
              </a:lnSpc>
              <a:spcBef>
                <a:spcPct val="20000"/>
              </a:spcBef>
            </a:pPr>
            <a:r>
              <a:rPr lang="en-US" b="1" dirty="0" smtClean="0">
                <a:latin typeface="Arial" pitchFamily="34" charset="0"/>
                <a:cs typeface="Arial" pitchFamily="34" charset="0"/>
              </a:rPr>
              <a:t>Please give your feedback at </a:t>
            </a:r>
          </a:p>
          <a:p>
            <a:pPr marL="342900" indent="-342900">
              <a:lnSpc>
                <a:spcPct val="150000"/>
              </a:lnSpc>
              <a:spcBef>
                <a:spcPct val="20000"/>
              </a:spcBef>
            </a:pPr>
            <a:r>
              <a:rPr lang="en-US" b="1" dirty="0" smtClean="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2129</TotalTime>
  <Words>805</Words>
  <Application>Microsoft Office PowerPoint</Application>
  <PresentationFormat>On-screen Show (4:3)</PresentationFormat>
  <Paragraphs>78</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Savio Crasto</cp:lastModifiedBy>
  <cp:revision>235</cp:revision>
  <dcterms:created xsi:type="dcterms:W3CDTF">2013-10-22T09:41:31Z</dcterms:created>
  <dcterms:modified xsi:type="dcterms:W3CDTF">2014-09-29T05:21:05Z</dcterms:modified>
</cp:coreProperties>
</file>