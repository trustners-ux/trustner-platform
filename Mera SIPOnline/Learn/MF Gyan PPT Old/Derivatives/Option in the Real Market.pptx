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343" r:id="rId3"/>
    <p:sldId id="361" r:id="rId4"/>
    <p:sldId id="362" r:id="rId5"/>
    <p:sldId id="352" r:id="rId6"/>
    <p:sldId id="363" r:id="rId7"/>
    <p:sldId id="324" r:id="rId8"/>
    <p:sldId id="348" r:id="rId9"/>
    <p:sldId id="325" r:id="rId10"/>
    <p:sldId id="364" r:id="rId11"/>
    <p:sldId id="365" r:id="rId12"/>
    <p:sldId id="366" r:id="rId13"/>
    <p:sldId id="367" r:id="rId14"/>
    <p:sldId id="368" r:id="rId15"/>
    <p:sldId id="369" r:id="rId16"/>
    <p:sldId id="370" r:id="rId17"/>
    <p:sldId id="371" r:id="rId18"/>
    <p:sldId id="350" r:id="rId19"/>
    <p:sldId id="345" r:id="rId20"/>
    <p:sldId id="372" r:id="rId21"/>
    <p:sldId id="349" r:id="rId22"/>
    <p:sldId id="373" r:id="rId23"/>
    <p:sldId id="344" r:id="rId24"/>
    <p:sldId id="287" r:id="rId25"/>
    <p:sldId id="273"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49" d="100"/>
          <a:sy n="49" d="100"/>
        </p:scale>
        <p:origin x="-1214" y="-6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9/26/2014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248472" cy="400110"/>
          </a:xfrm>
          <a:prstGeom prst="rect">
            <a:avLst/>
          </a:prstGeom>
          <a:noFill/>
        </p:spPr>
        <p:txBody>
          <a:bodyPr wrap="square" rtlCol="0">
            <a:spAutoFit/>
          </a:bodyPr>
          <a:lstStyle/>
          <a:p>
            <a:pPr algn="ctr"/>
            <a:r>
              <a:rPr lang="en-IN" sz="2000" b="1" dirty="0" smtClean="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
        <p:nvSpPr>
          <p:cNvPr id="3" name="TextBox 2"/>
          <p:cNvSpPr txBox="1"/>
          <p:nvPr/>
        </p:nvSpPr>
        <p:spPr>
          <a:xfrm>
            <a:off x="1213274" y="1772816"/>
            <a:ext cx="3646758" cy="1269578"/>
          </a:xfrm>
          <a:prstGeom prst="rect">
            <a:avLst/>
          </a:prstGeom>
          <a:noFill/>
        </p:spPr>
        <p:txBody>
          <a:bodyPr wrap="square" rtlCol="0">
            <a:spAutoFit/>
          </a:bodyPr>
          <a:lstStyle/>
          <a:p>
            <a:pPr>
              <a:lnSpc>
                <a:spcPct val="150000"/>
              </a:lnSpc>
            </a:pPr>
            <a:r>
              <a:rPr lang="en-US" sz="1700" b="1" dirty="0">
                <a:latin typeface="Arial" pitchFamily="34" charset="0"/>
                <a:cs typeface="Arial" pitchFamily="34" charset="0"/>
              </a:rPr>
              <a:t>Understanding how a typical </a:t>
            </a:r>
          </a:p>
          <a:p>
            <a:pPr>
              <a:lnSpc>
                <a:spcPct val="150000"/>
              </a:lnSpc>
            </a:pPr>
            <a:r>
              <a:rPr lang="en-US" sz="1700" b="1" dirty="0">
                <a:latin typeface="Arial" pitchFamily="34" charset="0"/>
                <a:cs typeface="Arial" pitchFamily="34" charset="0"/>
              </a:rPr>
              <a:t>Option Deal is done in the market</a:t>
            </a:r>
          </a:p>
          <a:p>
            <a:pPr>
              <a:lnSpc>
                <a:spcPct val="150000"/>
              </a:lnSpc>
            </a:pPr>
            <a:r>
              <a:rPr lang="en-US" sz="1700" b="1" dirty="0" smtClean="0">
                <a:latin typeface="Arial" pitchFamily="34" charset="0"/>
                <a:cs typeface="Arial" pitchFamily="34" charset="0"/>
              </a:rPr>
              <a:t>–  </a:t>
            </a:r>
            <a:r>
              <a:rPr lang="en-US" sz="1700" b="1" dirty="0">
                <a:latin typeface="Arial" pitchFamily="34" charset="0"/>
                <a:cs typeface="Arial" pitchFamily="34" charset="0"/>
              </a:rPr>
              <a:t>By Prof. </a:t>
            </a:r>
            <a:r>
              <a:rPr lang="en-US" sz="1700" b="1" i="1" dirty="0">
                <a:latin typeface="Arial" pitchFamily="34" charset="0"/>
                <a:cs typeface="Arial" pitchFamily="34" charset="0"/>
              </a:rPr>
              <a:t>Simply</a:t>
            </a:r>
            <a:r>
              <a:rPr lang="en-US" sz="1700" b="1" dirty="0">
                <a:latin typeface="Arial" pitchFamily="34" charset="0"/>
                <a:cs typeface="Arial" pitchFamily="34" charset="0"/>
              </a:rPr>
              <a:t> Simple </a:t>
            </a:r>
            <a:r>
              <a:rPr lang="en-US" sz="1700" b="1" baseline="70000" dirty="0">
                <a:latin typeface="Arial" pitchFamily="34" charset="0"/>
                <a:cs typeface="Arial" pitchFamily="34" charset="0"/>
              </a:rPr>
              <a:t>TM</a:t>
            </a:r>
          </a:p>
        </p:txBody>
      </p:sp>
    </p:spTree>
    <p:extLst>
      <p:ext uri="{BB962C8B-B14F-4D97-AF65-F5344CB8AC3E}">
        <p14:creationId xmlns:p14="http://schemas.microsoft.com/office/powerpoint/2010/main" xmlns="" val="1515449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21494"/>
            <a:ext cx="7200800" cy="923330"/>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In the stock market there are several participants who </a:t>
            </a:r>
            <a:r>
              <a:rPr lang="en-US" b="1" dirty="0" smtClean="0">
                <a:latin typeface="Arial" pitchFamily="34" charset="0"/>
                <a:cs typeface="Arial" pitchFamily="34" charset="0"/>
              </a:rPr>
              <a:t>are</a:t>
            </a:r>
            <a:br>
              <a:rPr lang="en-US" b="1" dirty="0" smtClean="0">
                <a:latin typeface="Arial" pitchFamily="34" charset="0"/>
                <a:cs typeface="Arial" pitchFamily="34" charset="0"/>
              </a:rPr>
            </a:br>
            <a:r>
              <a:rPr lang="en-US" b="1" dirty="0" smtClean="0">
                <a:latin typeface="Arial" pitchFamily="34" charset="0"/>
                <a:cs typeface="Arial" pitchFamily="34" charset="0"/>
              </a:rPr>
              <a:t>both </a:t>
            </a:r>
            <a:r>
              <a:rPr lang="en-US" b="1" dirty="0">
                <a:latin typeface="Arial" pitchFamily="34" charset="0"/>
                <a:cs typeface="Arial" pitchFamily="34" charset="0"/>
              </a:rPr>
              <a:t>buyers and sellers…</a:t>
            </a:r>
          </a:p>
        </p:txBody>
      </p:sp>
      <p:pic>
        <p:nvPicPr>
          <p:cNvPr id="5" name="Picture 39" descr="People_"/>
          <p:cNvPicPr>
            <a:picLocks noChangeAspect="1" noChangeArrowheads="1"/>
          </p:cNvPicPr>
          <p:nvPr/>
        </p:nvPicPr>
        <p:blipFill>
          <a:blip r:embed="rId3" cstate="print"/>
          <a:srcRect l="4225" t="7779" b="12828"/>
          <a:stretch>
            <a:fillRect/>
          </a:stretch>
        </p:blipFill>
        <p:spPr bwMode="auto">
          <a:xfrm>
            <a:off x="2123728" y="1916832"/>
            <a:ext cx="4607957" cy="3849686"/>
          </a:xfrm>
          <a:prstGeom prst="rect">
            <a:avLst/>
          </a:prstGeom>
          <a:noFill/>
          <a:ln>
            <a:solidFill>
              <a:srgbClr val="FF0000"/>
            </a:solidFill>
          </a:ln>
          <a:effectLst>
            <a:outerShdw blurRad="152400" dir="10800000" sx="104000" sy="104000" algn="r" rotWithShape="0">
              <a:prstClr val="black">
                <a:alpha val="40000"/>
              </a:prstClr>
            </a:outerShdw>
          </a:effectLst>
        </p:spPr>
      </p:pic>
      <p:sp>
        <p:nvSpPr>
          <p:cNvPr id="6" name="TextBox 5"/>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00108"/>
            <a:ext cx="7488832" cy="872034"/>
          </a:xfrm>
          <a:prstGeom prst="rect">
            <a:avLst/>
          </a:prstGeom>
          <a:noFill/>
        </p:spPr>
        <p:txBody>
          <a:bodyPr wrap="square" rtlCol="0">
            <a:spAutoFit/>
          </a:bodyPr>
          <a:lstStyle/>
          <a:p>
            <a:pPr algn="ctr">
              <a:lnSpc>
                <a:spcPct val="150000"/>
              </a:lnSpc>
            </a:pPr>
            <a:r>
              <a:rPr lang="en-US" b="1" dirty="0" smtClean="0">
                <a:latin typeface="Arial" pitchFamily="34" charset="0"/>
                <a:cs typeface="Arial" pitchFamily="34" charset="0"/>
              </a:rPr>
              <a:t>A </a:t>
            </a:r>
            <a:r>
              <a:rPr lang="en-US" b="1" dirty="0" smtClean="0">
                <a:solidFill>
                  <a:srgbClr val="0000CC"/>
                </a:solidFill>
                <a:latin typeface="Arial" pitchFamily="34" charset="0"/>
                <a:cs typeface="Arial" pitchFamily="34" charset="0"/>
              </a:rPr>
              <a:t>stock market</a:t>
            </a:r>
            <a:r>
              <a:rPr lang="en-US" b="1" dirty="0" smtClean="0">
                <a:latin typeface="Arial" pitchFamily="34" charset="0"/>
                <a:cs typeface="Arial" pitchFamily="34" charset="0"/>
              </a:rPr>
              <a:t> is a platform</a:t>
            </a:r>
            <a:br>
              <a:rPr lang="en-US" b="1" dirty="0" smtClean="0">
                <a:latin typeface="Arial" pitchFamily="34" charset="0"/>
                <a:cs typeface="Arial" pitchFamily="34" charset="0"/>
              </a:rPr>
            </a:br>
            <a:r>
              <a:rPr lang="en-US" b="1" dirty="0" smtClean="0">
                <a:latin typeface="Arial" pitchFamily="34" charset="0"/>
                <a:cs typeface="Arial" pitchFamily="34" charset="0"/>
              </a:rPr>
              <a:t>where this is free flow of information…</a:t>
            </a:r>
            <a:endParaRPr lang="en-US" b="1" dirty="0">
              <a:latin typeface="Arial" pitchFamily="34" charset="0"/>
              <a:cs typeface="Arial" pitchFamily="34" charset="0"/>
            </a:endParaRPr>
          </a:p>
        </p:txBody>
      </p:sp>
      <p:pic>
        <p:nvPicPr>
          <p:cNvPr id="6" name="Picture 13" descr="india-stock-market1"/>
          <p:cNvPicPr>
            <a:picLocks noChangeAspect="1" noChangeArrowheads="1"/>
          </p:cNvPicPr>
          <p:nvPr/>
        </p:nvPicPr>
        <p:blipFill>
          <a:blip r:embed="rId3" cstate="print"/>
          <a:srcRect/>
          <a:stretch>
            <a:fillRect/>
          </a:stretch>
        </p:blipFill>
        <p:spPr bwMode="auto">
          <a:xfrm>
            <a:off x="2786050" y="2071678"/>
            <a:ext cx="3143272" cy="4191029"/>
          </a:xfrm>
          <a:prstGeom prst="rect">
            <a:avLst/>
          </a:prstGeom>
          <a:noFill/>
          <a:ln>
            <a:solidFill>
              <a:srgbClr val="FFFF00"/>
            </a:solidFill>
          </a:ln>
          <a:effectLst>
            <a:glow rad="101600">
              <a:schemeClr val="accent4">
                <a:satMod val="175000"/>
                <a:alpha val="40000"/>
              </a:schemeClr>
            </a:glow>
          </a:effectLst>
        </p:spPr>
      </p:pic>
      <p:sp>
        <p:nvSpPr>
          <p:cNvPr id="7" name="TextBox 6"/>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52736"/>
            <a:ext cx="7488832" cy="2544094"/>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This is so that the current stock price is known to every participant (buyers and sellers) Any participant trying to extract a higher price will not be able to do so because of the free flow of information which prevents any sort of price arbitrage.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This is what we call ‘Price Discovery’.</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4410978"/>
            <a:ext cx="4320480" cy="1754326"/>
          </a:xfrm>
          <a:prstGeom prst="rect">
            <a:avLst/>
          </a:prstGeom>
        </p:spPr>
        <p:txBody>
          <a:bodyPr wrap="square">
            <a:spAutoFit/>
          </a:bodyPr>
          <a:lstStyle/>
          <a:p>
            <a:pPr>
              <a:lnSpc>
                <a:spcPct val="150000"/>
              </a:lnSpc>
            </a:pPr>
            <a:r>
              <a:rPr lang="en-US" b="1" dirty="0">
                <a:latin typeface="Arial" pitchFamily="34" charset="0"/>
                <a:cs typeface="Arial" pitchFamily="34" charset="0"/>
              </a:rPr>
              <a:t>Now lets say there is a stock option on stock A, which is currently quoting at Rs.100. And let’s say the option expires after 5 days…</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19463685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57991"/>
            <a:ext cx="7200800" cy="3000821"/>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Now let’s say there are two participants “Ram” &amp; “Sam” </a:t>
            </a:r>
            <a:r>
              <a:rPr lang="en-US" b="1" dirty="0" smtClean="0">
                <a:latin typeface="Arial" pitchFamily="34" charset="0"/>
                <a:cs typeface="Arial" pitchFamily="34" charset="0"/>
              </a:rPr>
              <a:t>in</a:t>
            </a:r>
            <a:br>
              <a:rPr lang="en-US" b="1" dirty="0" smtClean="0">
                <a:latin typeface="Arial" pitchFamily="34" charset="0"/>
                <a:cs typeface="Arial" pitchFamily="34" charset="0"/>
              </a:rPr>
            </a:br>
            <a:r>
              <a:rPr lang="en-US" b="1" dirty="0" smtClean="0">
                <a:latin typeface="Arial" pitchFamily="34" charset="0"/>
                <a:cs typeface="Arial" pitchFamily="34" charset="0"/>
              </a:rPr>
              <a:t>this </a:t>
            </a:r>
            <a:r>
              <a:rPr lang="en-US" b="1" dirty="0">
                <a:latin typeface="Arial" pitchFamily="34" charset="0"/>
                <a:cs typeface="Arial" pitchFamily="34" charset="0"/>
              </a:rPr>
              <a:t>market</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Ram is of the view that the stock prices would go up in near future and he could make profit by buying stock ‘A’ at </a:t>
            </a:r>
            <a:r>
              <a:rPr lang="en-US" b="1" dirty="0" err="1">
                <a:latin typeface="Arial" pitchFamily="34" charset="0"/>
                <a:cs typeface="Arial" pitchFamily="34" charset="0"/>
              </a:rPr>
              <a:t>Rs</a:t>
            </a:r>
            <a:r>
              <a:rPr lang="en-US" b="1" dirty="0">
                <a:latin typeface="Arial" pitchFamily="34" charset="0"/>
                <a:cs typeface="Arial" pitchFamily="34" charset="0"/>
              </a:rPr>
              <a:t>. 120  today. But Ram does not want to take downside risk to an unmeasured extent (i.e. in case the price falls below </a:t>
            </a:r>
            <a:r>
              <a:rPr lang="en-US" b="1" dirty="0" err="1">
                <a:latin typeface="Arial" pitchFamily="34" charset="0"/>
                <a:cs typeface="Arial" pitchFamily="34" charset="0"/>
              </a:rPr>
              <a:t>Rs</a:t>
            </a:r>
            <a:r>
              <a:rPr lang="en-US" b="1" dirty="0">
                <a:latin typeface="Arial" pitchFamily="34" charset="0"/>
                <a:cs typeface="Arial" pitchFamily="34" charset="0"/>
              </a:rPr>
              <a:t> 120).</a:t>
            </a:r>
            <a:r>
              <a:rPr lang="en-US" b="1" dirty="0">
                <a:solidFill>
                  <a:srgbClr val="009900"/>
                </a:solidFill>
                <a:latin typeface="Arial" pitchFamily="34" charset="0"/>
                <a:cs typeface="Arial" pitchFamily="34" charset="0"/>
              </a:rPr>
              <a:t> </a:t>
            </a:r>
          </a:p>
        </p:txBody>
      </p:sp>
      <p:sp>
        <p:nvSpPr>
          <p:cNvPr id="6" name="TextBox 5"/>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2104835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01266"/>
            <a:ext cx="7416824" cy="2534027"/>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Hence he chooses to buy a call option which protects him against any downside risk. For getting this service he would have to pay a premium to the seller of the option. The seller of the option, Sam, on the other hand has a view that the price of the stock will fall, in which case, he knows that the buyer will NOT exercise his option so that he can earn the premium of </a:t>
            </a:r>
            <a:r>
              <a:rPr lang="en-US" b="1" dirty="0" smtClean="0">
                <a:latin typeface="Arial" pitchFamily="34" charset="0"/>
                <a:cs typeface="Arial" pitchFamily="34" charset="0"/>
              </a:rPr>
              <a:t>let’s </a:t>
            </a:r>
            <a:r>
              <a:rPr lang="en-US" b="1" dirty="0">
                <a:latin typeface="Arial" pitchFamily="34" charset="0"/>
                <a:cs typeface="Arial" pitchFamily="34" charset="0"/>
              </a:rPr>
              <a:t>say </a:t>
            </a:r>
            <a:r>
              <a:rPr lang="en-US" b="1" dirty="0" err="1">
                <a:latin typeface="Arial" pitchFamily="34" charset="0"/>
                <a:cs typeface="Arial" pitchFamily="34" charset="0"/>
              </a:rPr>
              <a:t>Rs</a:t>
            </a:r>
            <a:r>
              <a:rPr lang="en-US" b="1" dirty="0">
                <a:latin typeface="Arial" pitchFamily="34" charset="0"/>
                <a:cs typeface="Arial" pitchFamily="34" charset="0"/>
              </a:rPr>
              <a:t> 2.</a:t>
            </a: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1124744"/>
            <a:ext cx="7344816" cy="3000821"/>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 To understand this better let’s assume that Ram has bought a call option at the strike price of </a:t>
            </a:r>
            <a:r>
              <a:rPr lang="en-US" b="1" dirty="0" err="1">
                <a:latin typeface="Arial" pitchFamily="34" charset="0"/>
                <a:cs typeface="Arial" pitchFamily="34" charset="0"/>
              </a:rPr>
              <a:t>Rs</a:t>
            </a:r>
            <a:r>
              <a:rPr lang="en-US" b="1" dirty="0">
                <a:latin typeface="Arial" pitchFamily="34" charset="0"/>
                <a:cs typeface="Arial" pitchFamily="34" charset="0"/>
              </a:rPr>
              <a:t>. 120 (i.e. the price at which he gets a right to buy the stock “A” in future from the seller of the call option). </a:t>
            </a:r>
            <a:endParaRPr lang="en-US" b="1" dirty="0" smtClean="0">
              <a:latin typeface="Arial" pitchFamily="34" charset="0"/>
              <a:cs typeface="Arial" pitchFamily="34" charset="0"/>
            </a:endParaRP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Now, look at how the prices move in these 5 days and what implications it has for Ram &amp; Sam…</a:t>
            </a:r>
          </a:p>
        </p:txBody>
      </p:sp>
      <p:sp>
        <p:nvSpPr>
          <p:cNvPr id="7" name="TextBox 6"/>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27512652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08720"/>
            <a:ext cx="7704856" cy="1938992"/>
          </a:xfrm>
          <a:prstGeom prst="rect">
            <a:avLst/>
          </a:prstGeom>
          <a:noFill/>
        </p:spPr>
        <p:txBody>
          <a:bodyPr wrap="square" rtlCol="0">
            <a:spAutoFit/>
          </a:bodyPr>
          <a:lstStyle/>
          <a:p>
            <a:pPr>
              <a:lnSpc>
                <a:spcPct val="150000"/>
              </a:lnSpc>
            </a:pPr>
            <a:r>
              <a:rPr lang="en-US" sz="1600" b="1" dirty="0">
                <a:latin typeface="Arial" pitchFamily="34" charset="0"/>
                <a:cs typeface="Arial" pitchFamily="34" charset="0"/>
              </a:rPr>
              <a:t>It is important to understand that this trade starts with a debit balance </a:t>
            </a:r>
            <a:r>
              <a:rPr lang="en-US" sz="1600" b="1" dirty="0" smtClean="0">
                <a:latin typeface="Arial" pitchFamily="34" charset="0"/>
                <a:cs typeface="Arial" pitchFamily="34" charset="0"/>
              </a:rPr>
              <a:t>of</a:t>
            </a:r>
            <a:br>
              <a:rPr lang="en-US" sz="1600" b="1" dirty="0" smtClean="0">
                <a:latin typeface="Arial" pitchFamily="34" charset="0"/>
                <a:cs typeface="Arial" pitchFamily="34" charset="0"/>
              </a:rPr>
            </a:br>
            <a:r>
              <a:rPr lang="en-US" sz="1600" b="1" dirty="0" err="1" smtClean="0">
                <a:latin typeface="Arial" pitchFamily="34" charset="0"/>
                <a:cs typeface="Arial" pitchFamily="34" charset="0"/>
              </a:rPr>
              <a:t>Rs</a:t>
            </a:r>
            <a:r>
              <a:rPr lang="en-US" sz="1600" b="1" dirty="0" smtClean="0">
                <a:latin typeface="Arial" pitchFamily="34" charset="0"/>
                <a:cs typeface="Arial" pitchFamily="34" charset="0"/>
              </a:rPr>
              <a:t> </a:t>
            </a:r>
            <a:r>
              <a:rPr lang="en-US" sz="1600" b="1" dirty="0">
                <a:latin typeface="Arial" pitchFamily="34" charset="0"/>
                <a:cs typeface="Arial" pitchFamily="34" charset="0"/>
              </a:rPr>
              <a:t>2 ( the premium) in the buyer’s (Ram) account while the seller’s account would show a credit balance of the same amount </a:t>
            </a:r>
            <a:r>
              <a:rPr lang="en-US" sz="1600" b="1" dirty="0" smtClean="0">
                <a:latin typeface="Arial" pitchFamily="34" charset="0"/>
                <a:cs typeface="Arial" pitchFamily="34" charset="0"/>
              </a:rPr>
              <a:t>(</a:t>
            </a:r>
            <a:r>
              <a:rPr lang="en-US" sz="1600" b="1" dirty="0" err="1" smtClean="0">
                <a:latin typeface="Arial" pitchFamily="34" charset="0"/>
                <a:cs typeface="Arial" pitchFamily="34" charset="0"/>
              </a:rPr>
              <a:t>Rs</a:t>
            </a:r>
            <a:r>
              <a:rPr lang="en-US" sz="1600" b="1" dirty="0" smtClean="0">
                <a:latin typeface="Arial" pitchFamily="34" charset="0"/>
                <a:cs typeface="Arial" pitchFamily="34" charset="0"/>
              </a:rPr>
              <a:t> </a:t>
            </a:r>
            <a:r>
              <a:rPr lang="en-US" sz="1600" b="1" dirty="0">
                <a:latin typeface="Arial" pitchFamily="34" charset="0"/>
                <a:cs typeface="Arial" pitchFamily="34" charset="0"/>
              </a:rPr>
              <a:t>2 – Premium amount). Further, it is imperative to know that </a:t>
            </a:r>
            <a:r>
              <a:rPr lang="en-US" sz="1600" b="1" dirty="0" err="1">
                <a:latin typeface="Arial" pitchFamily="34" charset="0"/>
                <a:cs typeface="Arial" pitchFamily="34" charset="0"/>
              </a:rPr>
              <a:t>Rs</a:t>
            </a:r>
            <a:r>
              <a:rPr lang="en-US" sz="1600" b="1" dirty="0">
                <a:latin typeface="Arial" pitchFamily="34" charset="0"/>
                <a:cs typeface="Arial" pitchFamily="34" charset="0"/>
              </a:rPr>
              <a:t>. 2 is the maximum debit and credit which can occur in Ram’s and Sam’s account respectively.</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xmlns="" val="1079678647"/>
              </p:ext>
            </p:extLst>
          </p:nvPr>
        </p:nvGraphicFramePr>
        <p:xfrm>
          <a:off x="755575" y="2996952"/>
          <a:ext cx="3500388" cy="2280159"/>
        </p:xfrm>
        <a:graphic>
          <a:graphicData uri="http://schemas.openxmlformats.org/drawingml/2006/table">
            <a:tbl>
              <a:tblPr firstRow="1" bandRow="1">
                <a:tableStyleId>{5C22544A-7EE6-4342-B048-85BDC9FD1C3A}</a:tableStyleId>
              </a:tblPr>
              <a:tblGrid>
                <a:gridCol w="1166796"/>
                <a:gridCol w="1166796"/>
                <a:gridCol w="1166796"/>
              </a:tblGrid>
              <a:tr h="9361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bg1"/>
                          </a:solidFill>
                          <a:effectLst/>
                          <a:latin typeface="Arial" charset="0"/>
                        </a:rPr>
                        <a:t>Ram Seller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 Premium </a:t>
                      </a: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txBody>
                  <a:tcPr marL="84667" marR="84667" marT="42333" marB="42333"/>
                </a:tc>
              </a:tr>
              <a:tr h="600067">
                <a:tc>
                  <a:txBody>
                    <a:bodyPr/>
                    <a:lstStyle/>
                    <a:p>
                      <a:endParaRPr lang="en-US" sz="1600" dirty="0"/>
                    </a:p>
                  </a:txBody>
                  <a:tcPr marL="84667" marR="84667" marT="42333" marB="42333"/>
                </a:tc>
                <a:tc>
                  <a:txBody>
                    <a:bodyPr/>
                    <a:lstStyle/>
                    <a:p>
                      <a:endParaRPr lang="en-US" sz="1600" dirty="0"/>
                    </a:p>
                  </a:txBody>
                  <a:tcPr marL="84667" marR="84667" marT="42333" marB="42333"/>
                </a:tc>
                <a:tc>
                  <a:txBody>
                    <a:bodyPr/>
                    <a:lstStyle/>
                    <a:p>
                      <a:endParaRPr lang="en-US" sz="1600" dirty="0"/>
                    </a:p>
                  </a:txBody>
                  <a:tcPr marL="84667" marR="84667" marT="42333" marB="42333"/>
                </a:tc>
              </a:tr>
              <a:tr h="743988">
                <a:tc>
                  <a:txBody>
                    <a:bodyPr/>
                    <a:lstStyle/>
                    <a:p>
                      <a:endParaRPr lang="en-US" sz="1600"/>
                    </a:p>
                  </a:txBody>
                  <a:tcPr marL="84667" marR="84667" marT="42333" marB="42333"/>
                </a:tc>
                <a:tc>
                  <a:txBody>
                    <a:bodyPr/>
                    <a:lstStyle/>
                    <a:p>
                      <a:endParaRPr lang="en-US" sz="1600" dirty="0"/>
                    </a:p>
                  </a:txBody>
                  <a:tcPr marL="84667" marR="84667" marT="42333" marB="42333"/>
                </a:tc>
                <a:tc>
                  <a:txBody>
                    <a:bodyPr/>
                    <a:lstStyle/>
                    <a:p>
                      <a:endParaRPr lang="en-US" sz="1600" dirty="0"/>
                    </a:p>
                  </a:txBody>
                  <a:tcPr marL="84667" marR="84667" marT="42333" marB="42333"/>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xmlns="" val="4185186051"/>
              </p:ext>
            </p:extLst>
          </p:nvPr>
        </p:nvGraphicFramePr>
        <p:xfrm>
          <a:off x="4680012" y="2996953"/>
          <a:ext cx="3500388" cy="2232247"/>
        </p:xfrm>
        <a:graphic>
          <a:graphicData uri="http://schemas.openxmlformats.org/drawingml/2006/table">
            <a:tbl>
              <a:tblPr firstRow="1" bandRow="1">
                <a:tableStyleId>{5C22544A-7EE6-4342-B048-85BDC9FD1C3A}</a:tableStyleId>
              </a:tblPr>
              <a:tblGrid>
                <a:gridCol w="1166796"/>
                <a:gridCol w="1166796"/>
                <a:gridCol w="1166796"/>
              </a:tblGrid>
              <a:tr h="6000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Sam Seller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Premium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r>
              <a:tr h="600067">
                <a:tc>
                  <a:txBody>
                    <a:bodyPr/>
                    <a:lstStyle/>
                    <a:p>
                      <a:endParaRPr lang="en-US" sz="1600"/>
                    </a:p>
                  </a:txBody>
                  <a:tcPr marL="84667" marR="84667" marT="42333" marB="42333"/>
                </a:tc>
                <a:tc>
                  <a:txBody>
                    <a:bodyPr/>
                    <a:lstStyle/>
                    <a:p>
                      <a:endParaRPr lang="en-US" sz="1600" dirty="0"/>
                    </a:p>
                  </a:txBody>
                  <a:tcPr marL="84667" marR="84667" marT="42333" marB="42333"/>
                </a:tc>
                <a:tc>
                  <a:txBody>
                    <a:bodyPr/>
                    <a:lstStyle/>
                    <a:p>
                      <a:endParaRPr lang="en-US" sz="1600" dirty="0"/>
                    </a:p>
                  </a:txBody>
                  <a:tcPr marL="84667" marR="84667" marT="42333" marB="42333"/>
                </a:tc>
              </a:tr>
              <a:tr h="718458">
                <a:tc>
                  <a:txBody>
                    <a:bodyPr/>
                    <a:lstStyle/>
                    <a:p>
                      <a:endParaRPr lang="en-US" sz="1600"/>
                    </a:p>
                  </a:txBody>
                  <a:tcPr marL="84667" marR="84667" marT="42333" marB="42333"/>
                </a:tc>
                <a:tc>
                  <a:txBody>
                    <a:bodyPr/>
                    <a:lstStyle/>
                    <a:p>
                      <a:endParaRPr lang="en-US" sz="1600" dirty="0"/>
                    </a:p>
                  </a:txBody>
                  <a:tcPr marL="84667" marR="84667" marT="42333" marB="42333"/>
                </a:tc>
                <a:tc>
                  <a:txBody>
                    <a:bodyPr/>
                    <a:lstStyle/>
                    <a:p>
                      <a:endParaRPr lang="en-US" sz="1600" dirty="0"/>
                    </a:p>
                  </a:txBody>
                  <a:tcPr marL="84667" marR="84667" marT="42333" marB="42333"/>
                </a:tc>
              </a:tr>
            </a:tbl>
          </a:graphicData>
        </a:graphic>
      </p:graphicFrame>
      <p:sp>
        <p:nvSpPr>
          <p:cNvPr id="8" name="Rectangle 7"/>
          <p:cNvSpPr/>
          <p:nvPr/>
        </p:nvSpPr>
        <p:spPr>
          <a:xfrm>
            <a:off x="755576" y="122729"/>
            <a:ext cx="800219" cy="369332"/>
          </a:xfrm>
          <a:prstGeom prst="rect">
            <a:avLst/>
          </a:prstGeom>
        </p:spPr>
        <p:txBody>
          <a:bodyPr wrap="none">
            <a:spAutoFit/>
          </a:bodyPr>
          <a:lstStyle/>
          <a:p>
            <a:pPr>
              <a:spcBef>
                <a:spcPct val="50000"/>
              </a:spcBef>
            </a:pPr>
            <a:r>
              <a:rPr lang="en-US" b="1" dirty="0">
                <a:latin typeface="Arial" pitchFamily="34" charset="0"/>
                <a:cs typeface="Arial" pitchFamily="34" charset="0"/>
              </a:rPr>
              <a:t>Day 1</a:t>
            </a:r>
          </a:p>
        </p:txBody>
      </p:sp>
    </p:spTree>
    <p:extLst>
      <p:ext uri="{BB962C8B-B14F-4D97-AF65-F5344CB8AC3E}">
        <p14:creationId xmlns:p14="http://schemas.microsoft.com/office/powerpoint/2010/main" xmlns="" val="39707372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08720"/>
            <a:ext cx="7704856" cy="2308324"/>
          </a:xfrm>
          <a:prstGeom prst="rect">
            <a:avLst/>
          </a:prstGeom>
          <a:noFill/>
        </p:spPr>
        <p:txBody>
          <a:bodyPr wrap="square" rtlCol="0">
            <a:spAutoFit/>
          </a:bodyPr>
          <a:lstStyle/>
          <a:p>
            <a:pPr>
              <a:lnSpc>
                <a:spcPct val="150000"/>
              </a:lnSpc>
            </a:pPr>
            <a:r>
              <a:rPr lang="en-US" sz="1600" b="1" dirty="0">
                <a:latin typeface="Arial" pitchFamily="34" charset="0"/>
                <a:cs typeface="Arial" pitchFamily="34" charset="0"/>
              </a:rPr>
              <a:t>Ram’s buying price of the Options on  day “One” – 120</a:t>
            </a:r>
          </a:p>
          <a:p>
            <a:pPr>
              <a:lnSpc>
                <a:spcPct val="150000"/>
              </a:lnSpc>
            </a:pPr>
            <a:r>
              <a:rPr lang="en-US" sz="1600" b="1" dirty="0">
                <a:latin typeface="Arial" pitchFamily="34" charset="0"/>
                <a:cs typeface="Arial" pitchFamily="34" charset="0"/>
              </a:rPr>
              <a:t>Closing Price on day “One” – 122</a:t>
            </a:r>
          </a:p>
          <a:p>
            <a:pPr>
              <a:lnSpc>
                <a:spcPct val="150000"/>
              </a:lnSpc>
            </a:pPr>
            <a:r>
              <a:rPr lang="en-US" sz="1600" b="1" dirty="0">
                <a:latin typeface="Arial" pitchFamily="34" charset="0"/>
                <a:cs typeface="Arial" pitchFamily="34" charset="0"/>
              </a:rPr>
              <a:t>His notional profit at the end of day “One” – </a:t>
            </a:r>
            <a:r>
              <a:rPr lang="en-US" sz="1600" b="1" dirty="0" err="1">
                <a:latin typeface="Arial" pitchFamily="34" charset="0"/>
                <a:cs typeface="Arial" pitchFamily="34" charset="0"/>
              </a:rPr>
              <a:t>Rs</a:t>
            </a:r>
            <a:r>
              <a:rPr lang="en-US" sz="1600" b="1" dirty="0">
                <a:latin typeface="Arial" pitchFamily="34" charset="0"/>
                <a:cs typeface="Arial" pitchFamily="34" charset="0"/>
              </a:rPr>
              <a:t>. 2</a:t>
            </a:r>
          </a:p>
          <a:p>
            <a:pPr>
              <a:lnSpc>
                <a:spcPct val="150000"/>
              </a:lnSpc>
            </a:pPr>
            <a:r>
              <a:rPr lang="en-US" sz="1600" b="1" dirty="0">
                <a:latin typeface="Arial" pitchFamily="34" charset="0"/>
                <a:cs typeface="Arial" pitchFamily="34" charset="0"/>
              </a:rPr>
              <a:t>But, unlike futures, Ram’s account will not be credited by this profit </a:t>
            </a:r>
            <a:r>
              <a:rPr lang="en-US" sz="1600" b="1" dirty="0" smtClean="0">
                <a:latin typeface="Arial" pitchFamily="34" charset="0"/>
                <a:cs typeface="Arial" pitchFamily="34" charset="0"/>
              </a:rPr>
              <a:t>till</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he </a:t>
            </a:r>
            <a:r>
              <a:rPr lang="en-US" sz="1600" b="1" dirty="0">
                <a:latin typeface="Arial" pitchFamily="34" charset="0"/>
                <a:cs typeface="Arial" pitchFamily="34" charset="0"/>
              </a:rPr>
              <a:t>settles or squares off his contract. However, Sam’s account would be debited by </a:t>
            </a:r>
            <a:r>
              <a:rPr lang="en-US" sz="1600" b="1" dirty="0" err="1">
                <a:latin typeface="Arial" pitchFamily="34" charset="0"/>
                <a:cs typeface="Arial" pitchFamily="34" charset="0"/>
              </a:rPr>
              <a:t>Rs</a:t>
            </a:r>
            <a:r>
              <a:rPr lang="en-US" sz="1600" b="1" dirty="0">
                <a:latin typeface="Arial" pitchFamily="34" charset="0"/>
                <a:cs typeface="Arial" pitchFamily="34" charset="0"/>
              </a:rPr>
              <a:t> 2 since he is obliged to honor the contract. </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xmlns="" val="831422953"/>
              </p:ext>
            </p:extLst>
          </p:nvPr>
        </p:nvGraphicFramePr>
        <p:xfrm>
          <a:off x="755575" y="3212976"/>
          <a:ext cx="3500388" cy="1996130"/>
        </p:xfrm>
        <a:graphic>
          <a:graphicData uri="http://schemas.openxmlformats.org/drawingml/2006/table">
            <a:tbl>
              <a:tblPr firstRow="1" bandRow="1">
                <a:tableStyleId>{5C22544A-7EE6-4342-B048-85BDC9FD1C3A}</a:tableStyleId>
              </a:tblPr>
              <a:tblGrid>
                <a:gridCol w="1166796"/>
                <a:gridCol w="1166796"/>
                <a:gridCol w="1166796"/>
              </a:tblGrid>
              <a:tr h="93610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Ram Buyer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 Premium </a:t>
                      </a: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txBody>
                  <a:tcPr marL="84667" marR="84667" marT="42333" marB="42333"/>
                </a:tc>
              </a:tr>
              <a:tr h="600067">
                <a:tc>
                  <a:txBody>
                    <a:bodyPr/>
                    <a:lstStyle/>
                    <a:p>
                      <a:r>
                        <a:rPr kumimoji="0" lang="en-US" sz="1600" b="1" i="0" u="none" strike="noStrike" cap="none" normalizeH="0" baseline="0" dirty="0" smtClean="0">
                          <a:ln>
                            <a:noFill/>
                          </a:ln>
                          <a:solidFill>
                            <a:schemeClr val="tx1"/>
                          </a:solidFill>
                          <a:effectLst/>
                          <a:latin typeface="Arial" charset="0"/>
                        </a:rPr>
                        <a:t>Day 1 (notional profit</a:t>
                      </a:r>
                      <a:br>
                        <a:rPr kumimoji="0" lang="en-US" sz="1600" b="1" i="0" u="none" strike="noStrike" cap="none" normalizeH="0" baseline="0" dirty="0" smtClean="0">
                          <a:ln>
                            <a:noFill/>
                          </a:ln>
                          <a:solidFill>
                            <a:schemeClr val="tx1"/>
                          </a:solidFill>
                          <a:effectLst/>
                          <a:latin typeface="Arial" charset="0"/>
                        </a:rPr>
                      </a:b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2)</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xmlns="" val="663674423"/>
              </p:ext>
            </p:extLst>
          </p:nvPr>
        </p:nvGraphicFramePr>
        <p:xfrm>
          <a:off x="4680012" y="3212977"/>
          <a:ext cx="3500388" cy="2016223"/>
        </p:xfrm>
        <a:graphic>
          <a:graphicData uri="http://schemas.openxmlformats.org/drawingml/2006/table">
            <a:tbl>
              <a:tblPr firstRow="1" bandRow="1">
                <a:tableStyleId>{5C22544A-7EE6-4342-B048-85BDC9FD1C3A}</a:tableStyleId>
              </a:tblPr>
              <a:tblGrid>
                <a:gridCol w="1166796"/>
                <a:gridCol w="1166796"/>
                <a:gridCol w="1166796"/>
              </a:tblGrid>
              <a:tr h="6000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Sam Seller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Premium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r>
              <a:tr h="11025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1</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2</a:t>
                      </a:r>
                    </a:p>
                  </a:txBody>
                  <a:tcPr marL="84667" marR="84667" marT="42333" marB="42333"/>
                </a:tc>
                <a:tc>
                  <a:txBody>
                    <a:bodyPr/>
                    <a:lstStyle/>
                    <a:p>
                      <a:endParaRPr lang="en-US" sz="1600" dirty="0"/>
                    </a:p>
                  </a:txBody>
                  <a:tcPr marL="84667" marR="84667" marT="42333" marB="42333"/>
                </a:tc>
              </a:tr>
            </a:tbl>
          </a:graphicData>
        </a:graphic>
      </p:graphicFrame>
      <p:sp>
        <p:nvSpPr>
          <p:cNvPr id="7" name="Rectangle 6"/>
          <p:cNvSpPr/>
          <p:nvPr/>
        </p:nvSpPr>
        <p:spPr>
          <a:xfrm>
            <a:off x="755576" y="134944"/>
            <a:ext cx="800219" cy="369332"/>
          </a:xfrm>
          <a:prstGeom prst="rect">
            <a:avLst/>
          </a:prstGeom>
        </p:spPr>
        <p:txBody>
          <a:bodyPr wrap="none">
            <a:spAutoFit/>
          </a:bodyPr>
          <a:lstStyle/>
          <a:p>
            <a:pPr>
              <a:spcBef>
                <a:spcPct val="50000"/>
              </a:spcBef>
            </a:pPr>
            <a:r>
              <a:rPr lang="en-US" b="1" dirty="0">
                <a:latin typeface="Arial" pitchFamily="34" charset="0"/>
                <a:cs typeface="Arial" pitchFamily="34" charset="0"/>
              </a:rPr>
              <a:t>Day 1</a:t>
            </a:r>
          </a:p>
        </p:txBody>
      </p:sp>
    </p:spTree>
    <p:extLst>
      <p:ext uri="{BB962C8B-B14F-4D97-AF65-F5344CB8AC3E}">
        <p14:creationId xmlns:p14="http://schemas.microsoft.com/office/powerpoint/2010/main" xmlns="" val="37706302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08720"/>
            <a:ext cx="7416824" cy="1569660"/>
          </a:xfrm>
          <a:prstGeom prst="rect">
            <a:avLst/>
          </a:prstGeom>
          <a:noFill/>
        </p:spPr>
        <p:txBody>
          <a:bodyPr wrap="square" rtlCol="0">
            <a:spAutoFit/>
          </a:bodyPr>
          <a:lstStyle/>
          <a:p>
            <a:pPr>
              <a:lnSpc>
                <a:spcPct val="150000"/>
              </a:lnSpc>
            </a:pPr>
            <a:r>
              <a:rPr lang="en-US" sz="1600" b="1" dirty="0">
                <a:latin typeface="Arial" pitchFamily="34" charset="0"/>
                <a:cs typeface="Arial" pitchFamily="34" charset="0"/>
              </a:rPr>
              <a:t>Closing Price on day “two” – 125</a:t>
            </a:r>
          </a:p>
          <a:p>
            <a:pPr>
              <a:lnSpc>
                <a:spcPct val="150000"/>
              </a:lnSpc>
            </a:pPr>
            <a:r>
              <a:rPr lang="en-US" sz="1600" b="1" dirty="0">
                <a:latin typeface="Arial" pitchFamily="34" charset="0"/>
                <a:cs typeface="Arial" pitchFamily="34" charset="0"/>
              </a:rPr>
              <a:t>Ram’s  gross notional profit now is </a:t>
            </a:r>
            <a:r>
              <a:rPr lang="en-US" sz="1600" b="1" dirty="0" err="1">
                <a:latin typeface="Arial" pitchFamily="34" charset="0"/>
                <a:cs typeface="Arial" pitchFamily="34" charset="0"/>
              </a:rPr>
              <a:t>Rs</a:t>
            </a:r>
            <a:r>
              <a:rPr lang="en-US" sz="1600" b="1" dirty="0">
                <a:latin typeface="Arial" pitchFamily="34" charset="0"/>
                <a:cs typeface="Arial" pitchFamily="34" charset="0"/>
              </a:rPr>
              <a:t>. 5 and Sam’s loss compared to the previous closing price is </a:t>
            </a:r>
            <a:r>
              <a:rPr lang="en-US" sz="1600" b="1" dirty="0" err="1">
                <a:latin typeface="Arial" pitchFamily="34" charset="0"/>
                <a:cs typeface="Arial" pitchFamily="34" charset="0"/>
              </a:rPr>
              <a:t>Rs</a:t>
            </a:r>
            <a:r>
              <a:rPr lang="en-US" sz="1600" b="1" dirty="0">
                <a:latin typeface="Arial" pitchFamily="34" charset="0"/>
                <a:cs typeface="Arial" pitchFamily="34" charset="0"/>
              </a:rPr>
              <a:t>. 3. So, in the end, Sam’s account gets debited by </a:t>
            </a:r>
            <a:r>
              <a:rPr lang="en-US" sz="1600" b="1" dirty="0" err="1">
                <a:latin typeface="Arial" pitchFamily="34" charset="0"/>
                <a:cs typeface="Arial" pitchFamily="34" charset="0"/>
              </a:rPr>
              <a:t>Rs</a:t>
            </a:r>
            <a:r>
              <a:rPr lang="en-US" sz="1600" b="1" dirty="0">
                <a:latin typeface="Arial" pitchFamily="34" charset="0"/>
                <a:cs typeface="Arial" pitchFamily="34" charset="0"/>
              </a:rPr>
              <a:t> 3 as shown in the tables below.</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xmlns="" val="4055883743"/>
              </p:ext>
            </p:extLst>
          </p:nvPr>
        </p:nvGraphicFramePr>
        <p:xfrm>
          <a:off x="755575" y="2636912"/>
          <a:ext cx="3500388" cy="2428178"/>
        </p:xfrm>
        <a:graphic>
          <a:graphicData uri="http://schemas.openxmlformats.org/drawingml/2006/table">
            <a:tbl>
              <a:tblPr firstRow="1" bandRow="1">
                <a:tableStyleId>{5C22544A-7EE6-4342-B048-85BDC9FD1C3A}</a:tableStyleId>
              </a:tblPr>
              <a:tblGrid>
                <a:gridCol w="1166796"/>
                <a:gridCol w="1166796"/>
                <a:gridCol w="1166796"/>
              </a:tblGrid>
              <a:tr h="93610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Ram Buyer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 Premium </a:t>
                      </a: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txBody>
                  <a:tcPr marL="84667" marR="84667" marT="42333" marB="42333"/>
                </a:tc>
              </a:tr>
              <a:tr h="432048">
                <a:tc>
                  <a:txBody>
                    <a:bodyPr/>
                    <a:lstStyle/>
                    <a:p>
                      <a:r>
                        <a:rPr kumimoji="0" lang="en-US" sz="1600" b="1" i="0" u="none" strike="noStrike" cap="none" normalizeH="0" baseline="0" dirty="0" smtClean="0">
                          <a:ln>
                            <a:noFill/>
                          </a:ln>
                          <a:solidFill>
                            <a:schemeClr val="tx1"/>
                          </a:solidFill>
                          <a:effectLst/>
                          <a:latin typeface="Arial" charset="0"/>
                        </a:rPr>
                        <a:t>Day 1</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600067">
                <a:tc>
                  <a:txBody>
                    <a:bodyPr/>
                    <a:lstStyle/>
                    <a:p>
                      <a:r>
                        <a:rPr kumimoji="0" lang="en-US" sz="1600" b="1" i="0" u="none" strike="noStrike" cap="none" normalizeH="0" baseline="0" dirty="0" smtClean="0">
                          <a:ln>
                            <a:noFill/>
                          </a:ln>
                          <a:solidFill>
                            <a:schemeClr val="tx1"/>
                          </a:solidFill>
                          <a:effectLst/>
                          <a:latin typeface="Arial" charset="0"/>
                        </a:rPr>
                        <a:t>Day 2 (notional profit</a:t>
                      </a:r>
                      <a:br>
                        <a:rPr kumimoji="0" lang="en-US" sz="1600" b="1" i="0" u="none" strike="noStrike" cap="none" normalizeH="0" baseline="0" dirty="0" smtClean="0">
                          <a:ln>
                            <a:noFill/>
                          </a:ln>
                          <a:solidFill>
                            <a:schemeClr val="tx1"/>
                          </a:solidFill>
                          <a:effectLst/>
                          <a:latin typeface="Arial" charset="0"/>
                        </a:rPr>
                      </a:b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5)</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xmlns="" val="2810458103"/>
              </p:ext>
            </p:extLst>
          </p:nvPr>
        </p:nvGraphicFramePr>
        <p:xfrm>
          <a:off x="4680012" y="2636913"/>
          <a:ext cx="3500388" cy="1800199"/>
        </p:xfrm>
        <a:graphic>
          <a:graphicData uri="http://schemas.openxmlformats.org/drawingml/2006/table">
            <a:tbl>
              <a:tblPr firstRow="1" bandRow="1">
                <a:tableStyleId>{5C22544A-7EE6-4342-B048-85BDC9FD1C3A}</a:tableStyleId>
              </a:tblPr>
              <a:tblGrid>
                <a:gridCol w="1166796"/>
                <a:gridCol w="1166796"/>
                <a:gridCol w="1166796"/>
              </a:tblGrid>
              <a:tr h="6000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Sam Seller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Premium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r>
              <a:tr h="4544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1</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2</a:t>
                      </a:r>
                    </a:p>
                  </a:txBody>
                  <a:tcPr marL="84667" marR="84667" marT="42333" marB="42333"/>
                </a:tc>
                <a:tc>
                  <a:txBody>
                    <a:bodyPr/>
                    <a:lstStyle/>
                    <a:p>
                      <a:endParaRPr lang="en-US" sz="1600" dirty="0"/>
                    </a:p>
                  </a:txBody>
                  <a:tcPr marL="84667" marR="84667" marT="42333" marB="42333"/>
                </a:tc>
              </a:tr>
              <a:tr h="432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2</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3</a:t>
                      </a:r>
                    </a:p>
                  </a:txBody>
                  <a:tcPr marL="84667" marR="84667" marT="42333" marB="42333"/>
                </a:tc>
                <a:tc>
                  <a:txBody>
                    <a:bodyPr/>
                    <a:lstStyle/>
                    <a:p>
                      <a:endParaRPr lang="en-US" sz="1600" dirty="0"/>
                    </a:p>
                  </a:txBody>
                  <a:tcPr marL="84667" marR="84667" marT="42333" marB="42333"/>
                </a:tc>
              </a:tr>
            </a:tbl>
          </a:graphicData>
        </a:graphic>
      </p:graphicFrame>
      <p:sp>
        <p:nvSpPr>
          <p:cNvPr id="7" name="Rectangle 6"/>
          <p:cNvSpPr/>
          <p:nvPr/>
        </p:nvSpPr>
        <p:spPr>
          <a:xfrm>
            <a:off x="755576" y="122729"/>
            <a:ext cx="800219" cy="369332"/>
          </a:xfrm>
          <a:prstGeom prst="rect">
            <a:avLst/>
          </a:prstGeom>
        </p:spPr>
        <p:txBody>
          <a:bodyPr wrap="none">
            <a:spAutoFit/>
          </a:bodyPr>
          <a:lstStyle/>
          <a:p>
            <a:pPr>
              <a:spcBef>
                <a:spcPct val="50000"/>
              </a:spcBef>
            </a:pPr>
            <a:r>
              <a:rPr lang="en-US" b="1" dirty="0">
                <a:latin typeface="Arial" pitchFamily="34" charset="0"/>
                <a:cs typeface="Arial" pitchFamily="34" charset="0"/>
              </a:rPr>
              <a:t>Day </a:t>
            </a:r>
            <a:r>
              <a:rPr lang="en-US" b="1" dirty="0" smtClean="0">
                <a:latin typeface="Arial" pitchFamily="34" charset="0"/>
                <a:cs typeface="Arial" pitchFamily="34" charset="0"/>
              </a:rPr>
              <a:t>2</a:t>
            </a:r>
            <a:endParaRPr lang="en-US" b="1" dirty="0">
              <a:latin typeface="Arial" pitchFamily="34" charset="0"/>
              <a:cs typeface="Arial" pitchFamily="34" charset="0"/>
            </a:endParaRPr>
          </a:p>
        </p:txBody>
      </p:sp>
      <p:sp>
        <p:nvSpPr>
          <p:cNvPr id="8" name="Rectangle 7"/>
          <p:cNvSpPr/>
          <p:nvPr/>
        </p:nvSpPr>
        <p:spPr>
          <a:xfrm>
            <a:off x="2105980" y="5283205"/>
            <a:ext cx="6138428" cy="954107"/>
          </a:xfrm>
          <a:prstGeom prst="rect">
            <a:avLst/>
          </a:prstGeom>
        </p:spPr>
        <p:txBody>
          <a:bodyPr wrap="square">
            <a:spAutoFit/>
          </a:bodyPr>
          <a:lstStyle/>
          <a:p>
            <a:pPr>
              <a:spcBef>
                <a:spcPct val="20000"/>
              </a:spcBef>
            </a:pPr>
            <a:r>
              <a:rPr lang="en-US" sz="1400" b="1" dirty="0">
                <a:latin typeface="Arial" pitchFamily="34" charset="0"/>
                <a:cs typeface="Arial" pitchFamily="34" charset="0"/>
              </a:rPr>
              <a:t>Ram can cash out his notional profit today by assigning his call option to Sam. Sam cannot exit the contract; however; he can pass on his probable future obligation to some other participants by honoring the losses till date. </a:t>
            </a:r>
            <a:endParaRPr lang="en-IN" sz="1400" b="1" dirty="0">
              <a:latin typeface="Arial" pitchFamily="34" charset="0"/>
              <a:cs typeface="Arial" pitchFamily="34" charset="0"/>
            </a:endParaRPr>
          </a:p>
        </p:txBody>
      </p:sp>
    </p:spTree>
    <p:extLst>
      <p:ext uri="{BB962C8B-B14F-4D97-AF65-F5344CB8AC3E}">
        <p14:creationId xmlns:p14="http://schemas.microsoft.com/office/powerpoint/2010/main" xmlns="" val="27348147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08720"/>
            <a:ext cx="7416824" cy="1200329"/>
          </a:xfrm>
          <a:prstGeom prst="rect">
            <a:avLst/>
          </a:prstGeom>
          <a:noFill/>
        </p:spPr>
        <p:txBody>
          <a:bodyPr wrap="square" rtlCol="0">
            <a:spAutoFit/>
          </a:bodyPr>
          <a:lstStyle/>
          <a:p>
            <a:pPr>
              <a:lnSpc>
                <a:spcPct val="150000"/>
              </a:lnSpc>
            </a:pPr>
            <a:r>
              <a:rPr lang="en-US" sz="1600" b="1" dirty="0">
                <a:latin typeface="Arial" pitchFamily="34" charset="0"/>
                <a:cs typeface="Arial" pitchFamily="34" charset="0"/>
              </a:rPr>
              <a:t>Closing Price on day “Three” – 124</a:t>
            </a:r>
          </a:p>
          <a:p>
            <a:pPr>
              <a:lnSpc>
                <a:spcPct val="150000"/>
              </a:lnSpc>
            </a:pPr>
            <a:r>
              <a:rPr lang="en-US" sz="1600" b="1" dirty="0">
                <a:latin typeface="Arial" pitchFamily="34" charset="0"/>
                <a:cs typeface="Arial" pitchFamily="34" charset="0"/>
              </a:rPr>
              <a:t>Ram’s notional profit comes down to </a:t>
            </a:r>
            <a:r>
              <a:rPr lang="en-US" sz="1600" b="1" dirty="0" err="1">
                <a:latin typeface="Arial" pitchFamily="34" charset="0"/>
                <a:cs typeface="Arial" pitchFamily="34" charset="0"/>
              </a:rPr>
              <a:t>Rs</a:t>
            </a:r>
            <a:r>
              <a:rPr lang="en-US" sz="1600" b="1" dirty="0">
                <a:latin typeface="Arial" pitchFamily="34" charset="0"/>
                <a:cs typeface="Arial" pitchFamily="34" charset="0"/>
              </a:rPr>
              <a:t>. 4 and Sam’s </a:t>
            </a:r>
            <a:r>
              <a:rPr lang="en-US" sz="1600" b="1" dirty="0" smtClean="0">
                <a:latin typeface="Arial" pitchFamily="34" charset="0"/>
                <a:cs typeface="Arial" pitchFamily="34" charset="0"/>
              </a:rPr>
              <a:t>account</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would </a:t>
            </a:r>
            <a:r>
              <a:rPr lang="en-US" sz="1600" b="1" dirty="0">
                <a:latin typeface="Arial" pitchFamily="34" charset="0"/>
                <a:cs typeface="Arial" pitchFamily="34" charset="0"/>
              </a:rPr>
              <a:t>get credited by </a:t>
            </a:r>
            <a:r>
              <a:rPr lang="en-US" sz="1600" b="1" dirty="0" err="1">
                <a:latin typeface="Arial" pitchFamily="34" charset="0"/>
                <a:cs typeface="Arial" pitchFamily="34" charset="0"/>
              </a:rPr>
              <a:t>Rs</a:t>
            </a:r>
            <a:r>
              <a:rPr lang="en-US" sz="1600" b="1" dirty="0">
                <a:latin typeface="Arial" pitchFamily="34" charset="0"/>
                <a:cs typeface="Arial" pitchFamily="34" charset="0"/>
              </a:rPr>
              <a:t> 1.</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xmlns="" val="2582529858"/>
              </p:ext>
            </p:extLst>
          </p:nvPr>
        </p:nvGraphicFramePr>
        <p:xfrm>
          <a:off x="755575" y="2193673"/>
          <a:ext cx="3500388" cy="2799409"/>
        </p:xfrm>
        <a:graphic>
          <a:graphicData uri="http://schemas.openxmlformats.org/drawingml/2006/table">
            <a:tbl>
              <a:tblPr firstRow="1" bandRow="1">
                <a:tableStyleId>{5C22544A-7EE6-4342-B048-85BDC9FD1C3A}</a:tableStyleId>
              </a:tblPr>
              <a:tblGrid>
                <a:gridCol w="1166796"/>
                <a:gridCol w="1166796"/>
                <a:gridCol w="1166796"/>
              </a:tblGrid>
              <a:tr h="93610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Ram Buyer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 Premium </a:t>
                      </a: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txBody>
                  <a:tcPr marL="84667" marR="84667" marT="42333" marB="42333"/>
                </a:tc>
              </a:tr>
              <a:tr h="432048">
                <a:tc>
                  <a:txBody>
                    <a:bodyPr/>
                    <a:lstStyle/>
                    <a:p>
                      <a:r>
                        <a:rPr kumimoji="0" lang="en-US" sz="1600" b="1" i="0" u="none" strike="noStrike" cap="none" normalizeH="0" baseline="0" dirty="0" smtClean="0">
                          <a:ln>
                            <a:noFill/>
                          </a:ln>
                          <a:solidFill>
                            <a:schemeClr val="tx1"/>
                          </a:solidFill>
                          <a:effectLst/>
                          <a:latin typeface="Arial" charset="0"/>
                        </a:rPr>
                        <a:t>Day 1</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371231">
                <a:tc>
                  <a:txBody>
                    <a:bodyPr/>
                    <a:lstStyle/>
                    <a:p>
                      <a:r>
                        <a:rPr kumimoji="0" lang="en-US" sz="1600" b="1" i="0" u="none" strike="noStrike" cap="none" normalizeH="0" baseline="0" dirty="0" smtClean="0">
                          <a:ln>
                            <a:noFill/>
                          </a:ln>
                          <a:solidFill>
                            <a:schemeClr val="tx1"/>
                          </a:solidFill>
                          <a:effectLst/>
                          <a:latin typeface="Arial" charset="0"/>
                        </a:rPr>
                        <a:t>Day 2</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600067">
                <a:tc>
                  <a:txBody>
                    <a:bodyPr/>
                    <a:lstStyle/>
                    <a:p>
                      <a:r>
                        <a:rPr kumimoji="0" lang="en-US" sz="1600" b="1" i="0" u="none" strike="noStrike" cap="none" normalizeH="0" baseline="0" dirty="0" smtClean="0">
                          <a:ln>
                            <a:noFill/>
                          </a:ln>
                          <a:solidFill>
                            <a:schemeClr val="tx1"/>
                          </a:solidFill>
                          <a:effectLst/>
                          <a:latin typeface="Arial" charset="0"/>
                        </a:rPr>
                        <a:t>Day 3 (notional profit</a:t>
                      </a:r>
                      <a:br>
                        <a:rPr kumimoji="0" lang="en-US" sz="1600" b="1" i="0" u="none" strike="noStrike" cap="none" normalizeH="0" baseline="0" dirty="0" smtClean="0">
                          <a:ln>
                            <a:noFill/>
                          </a:ln>
                          <a:solidFill>
                            <a:schemeClr val="tx1"/>
                          </a:solidFill>
                          <a:effectLst/>
                          <a:latin typeface="Arial" charset="0"/>
                        </a:rPr>
                      </a:b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4)</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xmlns="" val="1097339575"/>
              </p:ext>
            </p:extLst>
          </p:nvPr>
        </p:nvGraphicFramePr>
        <p:xfrm>
          <a:off x="4680012" y="2193674"/>
          <a:ext cx="3500388" cy="2171430"/>
        </p:xfrm>
        <a:graphic>
          <a:graphicData uri="http://schemas.openxmlformats.org/drawingml/2006/table">
            <a:tbl>
              <a:tblPr firstRow="1" bandRow="1">
                <a:tableStyleId>{5C22544A-7EE6-4342-B048-85BDC9FD1C3A}</a:tableStyleId>
              </a:tblPr>
              <a:tblGrid>
                <a:gridCol w="1166796"/>
                <a:gridCol w="1166796"/>
                <a:gridCol w="1166796"/>
              </a:tblGrid>
              <a:tr h="6000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Sam Seller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Premium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r>
              <a:tr h="4544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1</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2</a:t>
                      </a:r>
                    </a:p>
                  </a:txBody>
                  <a:tcPr marL="84667" marR="84667" marT="42333" marB="42333"/>
                </a:tc>
                <a:tc>
                  <a:txBody>
                    <a:bodyPr/>
                    <a:lstStyle/>
                    <a:p>
                      <a:endParaRPr lang="en-US" sz="1600" dirty="0"/>
                    </a:p>
                  </a:txBody>
                  <a:tcPr marL="84667" marR="84667" marT="42333" marB="42333"/>
                </a:tc>
              </a:tr>
              <a:tr h="3712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2</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3</a:t>
                      </a:r>
                    </a:p>
                  </a:txBody>
                  <a:tcPr marL="84667" marR="84667" marT="42333" marB="42333"/>
                </a:tc>
                <a:tc>
                  <a:txBody>
                    <a:bodyPr/>
                    <a:lstStyle/>
                    <a:p>
                      <a:endParaRPr lang="en-US" sz="1600" dirty="0"/>
                    </a:p>
                  </a:txBody>
                  <a:tcPr marL="84667" marR="84667" marT="42333" marB="42333"/>
                </a:tc>
              </a:tr>
              <a:tr h="432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3</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1</a:t>
                      </a:r>
                    </a:p>
                  </a:txBody>
                  <a:tcPr marL="84667" marR="84667" marT="42333" marB="42333"/>
                </a:tc>
              </a:tr>
            </a:tbl>
          </a:graphicData>
        </a:graphic>
      </p:graphicFrame>
      <p:sp>
        <p:nvSpPr>
          <p:cNvPr id="7" name="Rectangle 6"/>
          <p:cNvSpPr/>
          <p:nvPr/>
        </p:nvSpPr>
        <p:spPr>
          <a:xfrm>
            <a:off x="755576" y="134944"/>
            <a:ext cx="800219" cy="369332"/>
          </a:xfrm>
          <a:prstGeom prst="rect">
            <a:avLst/>
          </a:prstGeom>
        </p:spPr>
        <p:txBody>
          <a:bodyPr wrap="none">
            <a:spAutoFit/>
          </a:bodyPr>
          <a:lstStyle/>
          <a:p>
            <a:pPr>
              <a:spcBef>
                <a:spcPct val="50000"/>
              </a:spcBef>
            </a:pPr>
            <a:r>
              <a:rPr lang="en-US" b="1" dirty="0">
                <a:latin typeface="Arial" pitchFamily="34" charset="0"/>
                <a:cs typeface="Arial" pitchFamily="34" charset="0"/>
              </a:rPr>
              <a:t>Day </a:t>
            </a:r>
            <a:r>
              <a:rPr lang="en-US" b="1" dirty="0" smtClean="0">
                <a:latin typeface="Arial" pitchFamily="34" charset="0"/>
                <a:cs typeface="Arial" pitchFamily="34" charset="0"/>
              </a:rPr>
              <a:t>3</a:t>
            </a:r>
            <a:endParaRPr lang="en-US" b="1" dirty="0">
              <a:latin typeface="Arial" pitchFamily="34" charset="0"/>
              <a:cs typeface="Arial" pitchFamily="34" charset="0"/>
            </a:endParaRPr>
          </a:p>
        </p:txBody>
      </p:sp>
      <p:sp>
        <p:nvSpPr>
          <p:cNvPr id="8" name="Rectangle 7"/>
          <p:cNvSpPr/>
          <p:nvPr/>
        </p:nvSpPr>
        <p:spPr>
          <a:xfrm>
            <a:off x="2105980" y="5283205"/>
            <a:ext cx="6138428" cy="954107"/>
          </a:xfrm>
          <a:prstGeom prst="rect">
            <a:avLst/>
          </a:prstGeom>
        </p:spPr>
        <p:txBody>
          <a:bodyPr wrap="square">
            <a:spAutoFit/>
          </a:bodyPr>
          <a:lstStyle/>
          <a:p>
            <a:r>
              <a:rPr lang="en-US" sz="1400" b="1" dirty="0">
                <a:latin typeface="Arial" pitchFamily="34" charset="0"/>
                <a:cs typeface="Arial" pitchFamily="34" charset="0"/>
              </a:rPr>
              <a:t>Ram can cash out his notional profit today by assigning his call option to Sam. Sam cannot exit the contract; however, he can pass on his probable future obligation to some other participants by honoring the losses till date.</a:t>
            </a:r>
          </a:p>
        </p:txBody>
      </p:sp>
    </p:spTree>
    <p:extLst>
      <p:ext uri="{BB962C8B-B14F-4D97-AF65-F5344CB8AC3E}">
        <p14:creationId xmlns:p14="http://schemas.microsoft.com/office/powerpoint/2010/main" xmlns="" val="18897921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836712"/>
            <a:ext cx="7416824" cy="1200329"/>
          </a:xfrm>
          <a:prstGeom prst="rect">
            <a:avLst/>
          </a:prstGeom>
          <a:noFill/>
        </p:spPr>
        <p:txBody>
          <a:bodyPr wrap="square" rtlCol="0">
            <a:spAutoFit/>
          </a:bodyPr>
          <a:lstStyle/>
          <a:p>
            <a:pPr>
              <a:lnSpc>
                <a:spcPct val="150000"/>
              </a:lnSpc>
            </a:pPr>
            <a:r>
              <a:rPr lang="en-US" sz="1600" b="1" dirty="0">
                <a:latin typeface="Arial" pitchFamily="34" charset="0"/>
                <a:cs typeface="Arial" pitchFamily="34" charset="0"/>
              </a:rPr>
              <a:t>Closing Price on day “Four” – 123</a:t>
            </a:r>
          </a:p>
          <a:p>
            <a:pPr>
              <a:lnSpc>
                <a:spcPct val="150000"/>
              </a:lnSpc>
            </a:pPr>
            <a:r>
              <a:rPr lang="en-US" sz="1600" b="1" dirty="0">
                <a:latin typeface="Arial" pitchFamily="34" charset="0"/>
                <a:cs typeface="Arial" pitchFamily="34" charset="0"/>
              </a:rPr>
              <a:t>Ram’s notional profit will come down to </a:t>
            </a:r>
            <a:r>
              <a:rPr lang="en-US" sz="1600" b="1" dirty="0" err="1">
                <a:latin typeface="Arial" pitchFamily="34" charset="0"/>
                <a:cs typeface="Arial" pitchFamily="34" charset="0"/>
              </a:rPr>
              <a:t>Rs</a:t>
            </a:r>
            <a:r>
              <a:rPr lang="en-US" sz="1600" b="1" dirty="0">
                <a:latin typeface="Arial" pitchFamily="34" charset="0"/>
                <a:cs typeface="Arial" pitchFamily="34" charset="0"/>
              </a:rPr>
              <a:t>. 3 and Sam’s </a:t>
            </a:r>
            <a:r>
              <a:rPr lang="en-US" sz="1600" b="1" dirty="0" smtClean="0">
                <a:latin typeface="Arial" pitchFamily="34" charset="0"/>
                <a:cs typeface="Arial" pitchFamily="34" charset="0"/>
              </a:rPr>
              <a:t>account</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would </a:t>
            </a:r>
            <a:r>
              <a:rPr lang="en-US" sz="1600" b="1" dirty="0">
                <a:latin typeface="Arial" pitchFamily="34" charset="0"/>
                <a:cs typeface="Arial" pitchFamily="34" charset="0"/>
              </a:rPr>
              <a:t>get credited by </a:t>
            </a:r>
            <a:r>
              <a:rPr lang="en-US" sz="1600" b="1" dirty="0" err="1">
                <a:latin typeface="Arial" pitchFamily="34" charset="0"/>
                <a:cs typeface="Arial" pitchFamily="34" charset="0"/>
              </a:rPr>
              <a:t>Rs</a:t>
            </a:r>
            <a:r>
              <a:rPr lang="en-US" sz="1600" b="1" dirty="0">
                <a:latin typeface="Arial" pitchFamily="34" charset="0"/>
                <a:cs typeface="Arial" pitchFamily="34" charset="0"/>
              </a:rPr>
              <a:t> 1.</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xmlns="" val="2033702946"/>
              </p:ext>
            </p:extLst>
          </p:nvPr>
        </p:nvGraphicFramePr>
        <p:xfrm>
          <a:off x="755575" y="2060848"/>
          <a:ext cx="3500388" cy="3159449"/>
        </p:xfrm>
        <a:graphic>
          <a:graphicData uri="http://schemas.openxmlformats.org/drawingml/2006/table">
            <a:tbl>
              <a:tblPr firstRow="1" bandRow="1">
                <a:tableStyleId>{5C22544A-7EE6-4342-B048-85BDC9FD1C3A}</a:tableStyleId>
              </a:tblPr>
              <a:tblGrid>
                <a:gridCol w="1166796"/>
                <a:gridCol w="1166796"/>
                <a:gridCol w="1166796"/>
              </a:tblGrid>
              <a:tr h="93610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Ram Buyer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 Premium </a:t>
                      </a: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txBody>
                  <a:tcPr marL="84667" marR="84667" marT="42333" marB="42333"/>
                </a:tc>
              </a:tr>
              <a:tr h="432048">
                <a:tc>
                  <a:txBody>
                    <a:bodyPr/>
                    <a:lstStyle/>
                    <a:p>
                      <a:r>
                        <a:rPr kumimoji="0" lang="en-US" sz="1600" b="1" i="0" u="none" strike="noStrike" cap="none" normalizeH="0" baseline="0" dirty="0" smtClean="0">
                          <a:ln>
                            <a:noFill/>
                          </a:ln>
                          <a:solidFill>
                            <a:schemeClr val="tx1"/>
                          </a:solidFill>
                          <a:effectLst/>
                          <a:latin typeface="Arial" charset="0"/>
                        </a:rPr>
                        <a:t>Day 1</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371231">
                <a:tc>
                  <a:txBody>
                    <a:bodyPr/>
                    <a:lstStyle/>
                    <a:p>
                      <a:r>
                        <a:rPr kumimoji="0" lang="en-US" sz="1600" b="1" i="0" u="none" strike="noStrike" cap="none" normalizeH="0" baseline="0" dirty="0" smtClean="0">
                          <a:ln>
                            <a:noFill/>
                          </a:ln>
                          <a:solidFill>
                            <a:schemeClr val="tx1"/>
                          </a:solidFill>
                          <a:effectLst/>
                          <a:latin typeface="Arial" charset="0"/>
                        </a:rPr>
                        <a:t>Day 2</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360040">
                <a:tc>
                  <a:txBody>
                    <a:bodyPr/>
                    <a:lstStyle/>
                    <a:p>
                      <a:r>
                        <a:rPr kumimoji="0" lang="en-US" sz="1600" b="1" i="0" u="none" strike="noStrike" cap="none" normalizeH="0" baseline="0" dirty="0" smtClean="0">
                          <a:ln>
                            <a:noFill/>
                          </a:ln>
                          <a:solidFill>
                            <a:schemeClr val="tx1"/>
                          </a:solidFill>
                          <a:effectLst/>
                          <a:latin typeface="Arial" charset="0"/>
                        </a:rPr>
                        <a:t>Day 3</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600067">
                <a:tc>
                  <a:txBody>
                    <a:bodyPr/>
                    <a:lstStyle/>
                    <a:p>
                      <a:r>
                        <a:rPr kumimoji="0" lang="en-US" sz="1600" b="1" i="0" u="none" strike="noStrike" cap="none" normalizeH="0" baseline="0" dirty="0" smtClean="0">
                          <a:ln>
                            <a:noFill/>
                          </a:ln>
                          <a:solidFill>
                            <a:schemeClr val="tx1"/>
                          </a:solidFill>
                          <a:effectLst/>
                          <a:latin typeface="Arial" charset="0"/>
                        </a:rPr>
                        <a:t>Day 4 (notional profit</a:t>
                      </a:r>
                      <a:br>
                        <a:rPr kumimoji="0" lang="en-US" sz="1600" b="1" i="0" u="none" strike="noStrike" cap="none" normalizeH="0" baseline="0" dirty="0" smtClean="0">
                          <a:ln>
                            <a:noFill/>
                          </a:ln>
                          <a:solidFill>
                            <a:schemeClr val="tx1"/>
                          </a:solidFill>
                          <a:effectLst/>
                          <a:latin typeface="Arial" charset="0"/>
                        </a:rPr>
                      </a:b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3)</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xmlns="" val="3135383366"/>
              </p:ext>
            </p:extLst>
          </p:nvPr>
        </p:nvGraphicFramePr>
        <p:xfrm>
          <a:off x="4680012" y="2060849"/>
          <a:ext cx="3500388" cy="2603478"/>
        </p:xfrm>
        <a:graphic>
          <a:graphicData uri="http://schemas.openxmlformats.org/drawingml/2006/table">
            <a:tbl>
              <a:tblPr firstRow="1" bandRow="1">
                <a:tableStyleId>{5C22544A-7EE6-4342-B048-85BDC9FD1C3A}</a:tableStyleId>
              </a:tblPr>
              <a:tblGrid>
                <a:gridCol w="1166796"/>
                <a:gridCol w="1166796"/>
                <a:gridCol w="1166796"/>
              </a:tblGrid>
              <a:tr h="6000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Sam Seller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Premium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r>
              <a:tr h="4544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1</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2</a:t>
                      </a:r>
                    </a:p>
                  </a:txBody>
                  <a:tcPr marL="84667" marR="84667" marT="42333" marB="42333"/>
                </a:tc>
                <a:tc>
                  <a:txBody>
                    <a:bodyPr/>
                    <a:lstStyle/>
                    <a:p>
                      <a:endParaRPr lang="en-US" sz="1600" dirty="0"/>
                    </a:p>
                  </a:txBody>
                  <a:tcPr marL="84667" marR="84667" marT="42333" marB="42333"/>
                </a:tc>
              </a:tr>
              <a:tr h="3712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2</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3</a:t>
                      </a:r>
                    </a:p>
                  </a:txBody>
                  <a:tcPr marL="84667" marR="84667" marT="42333" marB="42333"/>
                </a:tc>
                <a:tc>
                  <a:txBody>
                    <a:bodyPr/>
                    <a:lstStyle/>
                    <a:p>
                      <a:endParaRPr lang="en-US" sz="1600" dirty="0"/>
                    </a:p>
                  </a:txBody>
                  <a:tcPr marL="84667" marR="84667" marT="42333" marB="42333"/>
                </a:tc>
              </a:tr>
              <a:tr h="432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3</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1</a:t>
                      </a:r>
                    </a:p>
                  </a:txBody>
                  <a:tcPr marL="84667" marR="84667" marT="42333" marB="42333"/>
                </a:tc>
              </a:tr>
              <a:tr h="432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4</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1</a:t>
                      </a:r>
                    </a:p>
                  </a:txBody>
                  <a:tcPr marL="84667" marR="84667" marT="42333" marB="42333"/>
                </a:tc>
              </a:tr>
            </a:tbl>
          </a:graphicData>
        </a:graphic>
      </p:graphicFrame>
      <p:sp>
        <p:nvSpPr>
          <p:cNvPr id="7" name="Rectangle 6"/>
          <p:cNvSpPr/>
          <p:nvPr/>
        </p:nvSpPr>
        <p:spPr>
          <a:xfrm>
            <a:off x="755576" y="122729"/>
            <a:ext cx="800219" cy="369332"/>
          </a:xfrm>
          <a:prstGeom prst="rect">
            <a:avLst/>
          </a:prstGeom>
        </p:spPr>
        <p:txBody>
          <a:bodyPr wrap="none">
            <a:spAutoFit/>
          </a:bodyPr>
          <a:lstStyle/>
          <a:p>
            <a:pPr>
              <a:spcBef>
                <a:spcPct val="50000"/>
              </a:spcBef>
            </a:pPr>
            <a:r>
              <a:rPr lang="en-US" b="1" dirty="0">
                <a:latin typeface="Arial" pitchFamily="34" charset="0"/>
                <a:cs typeface="Arial" pitchFamily="34" charset="0"/>
              </a:rPr>
              <a:t>Day </a:t>
            </a:r>
            <a:r>
              <a:rPr lang="en-US" b="1" dirty="0" smtClean="0">
                <a:latin typeface="Arial" pitchFamily="34" charset="0"/>
                <a:cs typeface="Arial" pitchFamily="34" charset="0"/>
              </a:rPr>
              <a:t>4</a:t>
            </a:r>
            <a:endParaRPr lang="en-US" b="1" dirty="0">
              <a:latin typeface="Arial" pitchFamily="34" charset="0"/>
              <a:cs typeface="Arial" pitchFamily="34" charset="0"/>
            </a:endParaRPr>
          </a:p>
        </p:txBody>
      </p:sp>
      <p:sp>
        <p:nvSpPr>
          <p:cNvPr id="8" name="Rectangle 7"/>
          <p:cNvSpPr/>
          <p:nvPr/>
        </p:nvSpPr>
        <p:spPr>
          <a:xfrm>
            <a:off x="2105980" y="5283205"/>
            <a:ext cx="6138428" cy="954107"/>
          </a:xfrm>
          <a:prstGeom prst="rect">
            <a:avLst/>
          </a:prstGeom>
        </p:spPr>
        <p:txBody>
          <a:bodyPr wrap="square">
            <a:spAutoFit/>
          </a:bodyPr>
          <a:lstStyle/>
          <a:p>
            <a:pPr>
              <a:spcBef>
                <a:spcPct val="20000"/>
              </a:spcBef>
            </a:pPr>
            <a:r>
              <a:rPr lang="en-US" sz="1400" b="1" dirty="0">
                <a:latin typeface="Arial" pitchFamily="34" charset="0"/>
                <a:cs typeface="Arial" pitchFamily="34" charset="0"/>
              </a:rPr>
              <a:t>Ram can cash out his notional profit today by assigning his call option to Sam. Sam cannot exit the contract; however; he can pass on his probable future obligation to some other participants by honoring the losses till date. </a:t>
            </a:r>
            <a:endParaRPr lang="en-IN" sz="1400" b="1" dirty="0">
              <a:latin typeface="Arial" pitchFamily="34" charset="0"/>
              <a:cs typeface="Arial" pitchFamily="34" charset="0"/>
            </a:endParaRPr>
          </a:p>
        </p:txBody>
      </p:sp>
    </p:spTree>
    <p:extLst>
      <p:ext uri="{BB962C8B-B14F-4D97-AF65-F5344CB8AC3E}">
        <p14:creationId xmlns:p14="http://schemas.microsoft.com/office/powerpoint/2010/main" xmlns="" val="35525874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80728"/>
            <a:ext cx="7560840" cy="1077218"/>
          </a:xfrm>
          <a:prstGeom prst="rect">
            <a:avLst/>
          </a:prstGeom>
          <a:noFill/>
        </p:spPr>
        <p:txBody>
          <a:bodyPr wrap="square" rtlCol="0">
            <a:spAutoFit/>
          </a:bodyPr>
          <a:lstStyle/>
          <a:p>
            <a:r>
              <a:rPr lang="en-US" sz="1600" b="1" dirty="0">
                <a:latin typeface="Arial" pitchFamily="34" charset="0"/>
                <a:cs typeface="Arial" pitchFamily="34" charset="0"/>
              </a:rPr>
              <a:t>Closing Price on day “Five” – 127</a:t>
            </a:r>
          </a:p>
          <a:p>
            <a:r>
              <a:rPr lang="en-US" sz="1600" b="1" dirty="0">
                <a:latin typeface="Arial" pitchFamily="34" charset="0"/>
                <a:cs typeface="Arial" pitchFamily="34" charset="0"/>
              </a:rPr>
              <a:t>Ram’s notional profit would increase to Rs.7. So at the end of day 5 (settlement day), Ram’s account with his broker would get credited by </a:t>
            </a:r>
            <a:r>
              <a:rPr lang="en-US" sz="1600" b="1" dirty="0" err="1">
                <a:latin typeface="Arial" pitchFamily="34" charset="0"/>
                <a:cs typeface="Arial" pitchFamily="34" charset="0"/>
              </a:rPr>
              <a:t>Rs</a:t>
            </a:r>
            <a:r>
              <a:rPr lang="en-US" sz="1600" b="1" dirty="0">
                <a:latin typeface="Arial" pitchFamily="34" charset="0"/>
                <a:cs typeface="Arial" pitchFamily="34" charset="0"/>
              </a:rPr>
              <a:t> 7 while Sam’s account would get debited by </a:t>
            </a:r>
            <a:r>
              <a:rPr lang="en-US" sz="1600" b="1" dirty="0" err="1">
                <a:latin typeface="Arial" pitchFamily="34" charset="0"/>
                <a:cs typeface="Arial" pitchFamily="34" charset="0"/>
              </a:rPr>
              <a:t>Rs</a:t>
            </a:r>
            <a:r>
              <a:rPr lang="en-US" sz="1600" b="1" dirty="0">
                <a:latin typeface="Arial" pitchFamily="34" charset="0"/>
                <a:cs typeface="Arial" pitchFamily="34" charset="0"/>
              </a:rPr>
              <a:t>. 4.</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xmlns="" val="1945761623"/>
              </p:ext>
            </p:extLst>
          </p:nvPr>
        </p:nvGraphicFramePr>
        <p:xfrm>
          <a:off x="755576" y="2216054"/>
          <a:ext cx="3500388" cy="3000238"/>
        </p:xfrm>
        <a:graphic>
          <a:graphicData uri="http://schemas.openxmlformats.org/drawingml/2006/table">
            <a:tbl>
              <a:tblPr firstRow="1" bandRow="1">
                <a:tableStyleId>{5C22544A-7EE6-4342-B048-85BDC9FD1C3A}</a:tableStyleId>
              </a:tblPr>
              <a:tblGrid>
                <a:gridCol w="1166796"/>
                <a:gridCol w="1166796"/>
                <a:gridCol w="1166796"/>
              </a:tblGrid>
              <a:tr h="93610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Ram Buyer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 Premium </a:t>
                      </a: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txBody>
                  <a:tcPr marL="84667" marR="84667" marT="42333" marB="42333"/>
                </a:tc>
              </a:tr>
              <a:tr h="432048">
                <a:tc>
                  <a:txBody>
                    <a:bodyPr/>
                    <a:lstStyle/>
                    <a:p>
                      <a:r>
                        <a:rPr kumimoji="0" lang="en-US" sz="1600" b="1" i="0" u="none" strike="noStrike" cap="none" normalizeH="0" baseline="0" dirty="0" smtClean="0">
                          <a:ln>
                            <a:noFill/>
                          </a:ln>
                          <a:solidFill>
                            <a:schemeClr val="tx1"/>
                          </a:solidFill>
                          <a:effectLst/>
                          <a:latin typeface="Arial" charset="0"/>
                        </a:rPr>
                        <a:t>Day 1</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371231">
                <a:tc>
                  <a:txBody>
                    <a:bodyPr/>
                    <a:lstStyle/>
                    <a:p>
                      <a:r>
                        <a:rPr kumimoji="0" lang="en-US" sz="1600" b="1" i="0" u="none" strike="noStrike" cap="none" normalizeH="0" baseline="0" dirty="0" smtClean="0">
                          <a:ln>
                            <a:noFill/>
                          </a:ln>
                          <a:solidFill>
                            <a:schemeClr val="tx1"/>
                          </a:solidFill>
                          <a:effectLst/>
                          <a:latin typeface="Arial" charset="0"/>
                        </a:rPr>
                        <a:t>Day 2</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420857">
                <a:tc>
                  <a:txBody>
                    <a:bodyPr/>
                    <a:lstStyle/>
                    <a:p>
                      <a:r>
                        <a:rPr kumimoji="0" lang="en-US" sz="1600" b="1" i="0" u="none" strike="noStrike" cap="none" normalizeH="0" baseline="0" dirty="0" smtClean="0">
                          <a:ln>
                            <a:noFill/>
                          </a:ln>
                          <a:solidFill>
                            <a:schemeClr val="tx1"/>
                          </a:solidFill>
                          <a:effectLst/>
                          <a:latin typeface="Arial" charset="0"/>
                        </a:rPr>
                        <a:t>Day 3</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432048">
                <a:tc>
                  <a:txBody>
                    <a:bodyPr/>
                    <a:lstStyle/>
                    <a:p>
                      <a:r>
                        <a:rPr kumimoji="0" lang="en-US" sz="1600" b="1" i="0" u="none" strike="noStrike" cap="none" normalizeH="0" baseline="0" dirty="0" smtClean="0">
                          <a:ln>
                            <a:noFill/>
                          </a:ln>
                          <a:solidFill>
                            <a:schemeClr val="tx1"/>
                          </a:solidFill>
                          <a:effectLst/>
                          <a:latin typeface="Arial" charset="0"/>
                        </a:rPr>
                        <a:t>Day 4</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407950">
                <a:tc>
                  <a:txBody>
                    <a:bodyPr/>
                    <a:lstStyle/>
                    <a:p>
                      <a:r>
                        <a:rPr kumimoji="0" lang="en-US" sz="1600" b="1" i="0" u="none" strike="noStrike" cap="none" normalizeH="0" baseline="0" dirty="0" smtClean="0">
                          <a:ln>
                            <a:noFill/>
                          </a:ln>
                          <a:solidFill>
                            <a:schemeClr val="tx1"/>
                          </a:solidFill>
                          <a:effectLst/>
                          <a:latin typeface="Arial" charset="0"/>
                        </a:rPr>
                        <a:t>Day 5</a:t>
                      </a:r>
                      <a:endParaRPr lang="en-US" sz="1600" dirty="0">
                        <a:solidFill>
                          <a:schemeClr val="tx1"/>
                        </a:solidFill>
                      </a:endParaRPr>
                    </a:p>
                  </a:txBody>
                  <a:tcPr marL="84667" marR="84667" marT="42333" marB="42333"/>
                </a:tc>
                <a:tc>
                  <a:txBody>
                    <a:bodyPr/>
                    <a:lstStyle/>
                    <a:p>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RS 7</a:t>
                      </a:r>
                      <a:endParaRPr lang="en-US" sz="1600" dirty="0"/>
                    </a:p>
                  </a:txBody>
                  <a:tcPr marL="84667" marR="84667" marT="42333" marB="42333"/>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xmlns="" val="4480958"/>
              </p:ext>
            </p:extLst>
          </p:nvPr>
        </p:nvGraphicFramePr>
        <p:xfrm>
          <a:off x="4680012" y="2204864"/>
          <a:ext cx="3500388" cy="3035526"/>
        </p:xfrm>
        <a:graphic>
          <a:graphicData uri="http://schemas.openxmlformats.org/drawingml/2006/table">
            <a:tbl>
              <a:tblPr firstRow="1" bandRow="1">
                <a:tableStyleId>{5C22544A-7EE6-4342-B048-85BDC9FD1C3A}</a:tableStyleId>
              </a:tblPr>
              <a:tblGrid>
                <a:gridCol w="1166796"/>
                <a:gridCol w="1166796"/>
                <a:gridCol w="1166796"/>
              </a:tblGrid>
              <a:tr h="80327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Sam Seller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Premium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r>
              <a:tr h="4544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1</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2</a:t>
                      </a:r>
                    </a:p>
                  </a:txBody>
                  <a:tcPr marL="84667" marR="84667" marT="42333" marB="42333"/>
                </a:tc>
                <a:tc>
                  <a:txBody>
                    <a:bodyPr/>
                    <a:lstStyle/>
                    <a:p>
                      <a:endParaRPr lang="en-US" sz="1600" dirty="0"/>
                    </a:p>
                  </a:txBody>
                  <a:tcPr marL="84667" marR="84667" marT="42333" marB="42333"/>
                </a:tc>
              </a:tr>
              <a:tr h="3712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2</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3</a:t>
                      </a:r>
                    </a:p>
                  </a:txBody>
                  <a:tcPr marL="84667" marR="84667" marT="42333" marB="42333"/>
                </a:tc>
                <a:tc>
                  <a:txBody>
                    <a:bodyPr/>
                    <a:lstStyle/>
                    <a:p>
                      <a:endParaRPr lang="en-US" sz="1600" dirty="0"/>
                    </a:p>
                  </a:txBody>
                  <a:tcPr marL="84667" marR="84667" marT="42333" marB="42333"/>
                </a:tc>
              </a:tr>
              <a:tr h="432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3</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1</a:t>
                      </a:r>
                    </a:p>
                  </a:txBody>
                  <a:tcPr marL="84667" marR="84667" marT="42333" marB="42333"/>
                </a:tc>
              </a:tr>
              <a:tr h="432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4</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1</a:t>
                      </a:r>
                    </a:p>
                  </a:txBody>
                  <a:tcPr marL="84667" marR="84667" marT="42333" marB="42333"/>
                </a:tc>
              </a:tr>
              <a:tr h="432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5</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4</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r>
            </a:tbl>
          </a:graphicData>
        </a:graphic>
      </p:graphicFrame>
      <p:sp>
        <p:nvSpPr>
          <p:cNvPr id="7" name="Rectangle 6"/>
          <p:cNvSpPr/>
          <p:nvPr/>
        </p:nvSpPr>
        <p:spPr>
          <a:xfrm>
            <a:off x="755576" y="116632"/>
            <a:ext cx="2800767" cy="369332"/>
          </a:xfrm>
          <a:prstGeom prst="rect">
            <a:avLst/>
          </a:prstGeom>
        </p:spPr>
        <p:txBody>
          <a:bodyPr wrap="none">
            <a:spAutoFit/>
          </a:bodyPr>
          <a:lstStyle/>
          <a:p>
            <a:pPr>
              <a:spcBef>
                <a:spcPct val="50000"/>
              </a:spcBef>
            </a:pPr>
            <a:r>
              <a:rPr lang="en-US" b="1" dirty="0">
                <a:latin typeface="Arial" pitchFamily="34" charset="0"/>
                <a:cs typeface="Arial" pitchFamily="34" charset="0"/>
              </a:rPr>
              <a:t>Day 5 – Settlement Date</a:t>
            </a:r>
          </a:p>
        </p:txBody>
      </p:sp>
    </p:spTree>
    <p:extLst>
      <p:ext uri="{BB962C8B-B14F-4D97-AF65-F5344CB8AC3E}">
        <p14:creationId xmlns:p14="http://schemas.microsoft.com/office/powerpoint/2010/main" xmlns="" val="3523203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80728"/>
            <a:ext cx="7560840"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Closing Price on day “Five” – 127</a:t>
            </a:r>
          </a:p>
          <a:p>
            <a:pPr>
              <a:lnSpc>
                <a:spcPct val="150000"/>
              </a:lnSpc>
            </a:pPr>
            <a:r>
              <a:rPr lang="en-US" b="1" dirty="0">
                <a:latin typeface="Arial" pitchFamily="34" charset="0"/>
                <a:cs typeface="Arial" pitchFamily="34" charset="0"/>
              </a:rPr>
              <a:t>Ram’s notional profit would increase to Rs.7. So at the end of day 5 (settlement day), Ram’s account with his broker would get credited by </a:t>
            </a:r>
            <a:r>
              <a:rPr lang="en-US" b="1" dirty="0" err="1">
                <a:latin typeface="Arial" pitchFamily="34" charset="0"/>
                <a:cs typeface="Arial" pitchFamily="34" charset="0"/>
              </a:rPr>
              <a:t>Rs</a:t>
            </a:r>
            <a:r>
              <a:rPr lang="en-US" b="1" dirty="0">
                <a:latin typeface="Arial" pitchFamily="34" charset="0"/>
                <a:cs typeface="Arial" pitchFamily="34" charset="0"/>
              </a:rPr>
              <a:t> 7 while Sam’s account would get debited by </a:t>
            </a:r>
            <a:r>
              <a:rPr lang="en-US" b="1" dirty="0" err="1">
                <a:latin typeface="Arial" pitchFamily="34" charset="0"/>
                <a:cs typeface="Arial" pitchFamily="34" charset="0"/>
              </a:rPr>
              <a:t>Rs</a:t>
            </a:r>
            <a:r>
              <a:rPr lang="en-US" b="1" dirty="0">
                <a:latin typeface="Arial" pitchFamily="34" charset="0"/>
                <a:cs typeface="Arial" pitchFamily="34" charset="0"/>
              </a:rPr>
              <a:t>. 4.</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xmlns="" val="3315716620"/>
              </p:ext>
            </p:extLst>
          </p:nvPr>
        </p:nvGraphicFramePr>
        <p:xfrm>
          <a:off x="755576" y="2936134"/>
          <a:ext cx="3500388" cy="3335434"/>
        </p:xfrm>
        <a:graphic>
          <a:graphicData uri="http://schemas.openxmlformats.org/drawingml/2006/table">
            <a:tbl>
              <a:tblPr firstRow="1" bandRow="1">
                <a:tableStyleId>{5C22544A-7EE6-4342-B048-85BDC9FD1C3A}</a:tableStyleId>
              </a:tblPr>
              <a:tblGrid>
                <a:gridCol w="1166796"/>
                <a:gridCol w="1166796"/>
                <a:gridCol w="1166796"/>
              </a:tblGrid>
              <a:tr h="93610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Ram Buyer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 Premium </a:t>
                      </a: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txBody>
                  <a:tcPr marL="84667" marR="84667" marT="42333" marB="42333"/>
                </a:tc>
              </a:tr>
              <a:tr h="348850">
                <a:tc>
                  <a:txBody>
                    <a:bodyPr/>
                    <a:lstStyle/>
                    <a:p>
                      <a:r>
                        <a:rPr kumimoji="0" lang="en-US" sz="1600" b="1" i="0" u="none" strike="noStrike" cap="none" normalizeH="0" baseline="0" dirty="0" smtClean="0">
                          <a:ln>
                            <a:noFill/>
                          </a:ln>
                          <a:solidFill>
                            <a:schemeClr val="tx1"/>
                          </a:solidFill>
                          <a:effectLst/>
                          <a:latin typeface="Arial" charset="0"/>
                        </a:rPr>
                        <a:t>Day 1</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288032">
                <a:tc>
                  <a:txBody>
                    <a:bodyPr/>
                    <a:lstStyle/>
                    <a:p>
                      <a:r>
                        <a:rPr kumimoji="0" lang="en-US" sz="1600" b="1" i="0" u="none" strike="noStrike" cap="none" normalizeH="0" baseline="0" dirty="0" smtClean="0">
                          <a:ln>
                            <a:noFill/>
                          </a:ln>
                          <a:solidFill>
                            <a:schemeClr val="tx1"/>
                          </a:solidFill>
                          <a:effectLst/>
                          <a:latin typeface="Arial" charset="0"/>
                        </a:rPr>
                        <a:t>Day 2</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319566">
                <a:tc>
                  <a:txBody>
                    <a:bodyPr/>
                    <a:lstStyle/>
                    <a:p>
                      <a:r>
                        <a:rPr kumimoji="0" lang="en-US" sz="1600" b="1" i="0" u="none" strike="noStrike" cap="none" normalizeH="0" baseline="0" dirty="0" smtClean="0">
                          <a:ln>
                            <a:noFill/>
                          </a:ln>
                          <a:solidFill>
                            <a:schemeClr val="tx1"/>
                          </a:solidFill>
                          <a:effectLst/>
                          <a:latin typeface="Arial" charset="0"/>
                        </a:rPr>
                        <a:t>Day 3</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279092">
                <a:tc>
                  <a:txBody>
                    <a:bodyPr/>
                    <a:lstStyle/>
                    <a:p>
                      <a:r>
                        <a:rPr kumimoji="0" lang="en-US" sz="1600" b="1" i="0" u="none" strike="noStrike" cap="none" normalizeH="0" baseline="0" dirty="0" smtClean="0">
                          <a:ln>
                            <a:noFill/>
                          </a:ln>
                          <a:solidFill>
                            <a:schemeClr val="tx1"/>
                          </a:solidFill>
                          <a:effectLst/>
                          <a:latin typeface="Arial" charset="0"/>
                        </a:rPr>
                        <a:t>Day 4</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310626">
                <a:tc>
                  <a:txBody>
                    <a:bodyPr/>
                    <a:lstStyle/>
                    <a:p>
                      <a:r>
                        <a:rPr kumimoji="0" lang="en-US" sz="1600" b="1" i="0" u="none" strike="noStrike" cap="none" normalizeH="0" baseline="0" dirty="0" smtClean="0">
                          <a:ln>
                            <a:noFill/>
                          </a:ln>
                          <a:solidFill>
                            <a:schemeClr val="tx1"/>
                          </a:solidFill>
                          <a:effectLst/>
                          <a:latin typeface="Arial" charset="0"/>
                        </a:rPr>
                        <a:t>Day 5</a:t>
                      </a:r>
                      <a:endParaRPr lang="en-US" sz="1600" dirty="0">
                        <a:solidFill>
                          <a:schemeClr val="tx1"/>
                        </a:solidFill>
                      </a:endParaRPr>
                    </a:p>
                  </a:txBody>
                  <a:tcPr marL="84667" marR="84667" marT="42333" marB="42333"/>
                </a:tc>
                <a:tc>
                  <a:txBody>
                    <a:bodyPr/>
                    <a:lstStyle/>
                    <a:p>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RS 7</a:t>
                      </a:r>
                      <a:endParaRPr lang="en-US" sz="1600" dirty="0"/>
                    </a:p>
                  </a:txBody>
                  <a:tcPr marL="84667" marR="84667" marT="42333" marB="42333"/>
                </a:tc>
              </a:tr>
              <a:tr h="270152">
                <a:tc>
                  <a:txBody>
                    <a:bodyPr/>
                    <a:lstStyle/>
                    <a:p>
                      <a:r>
                        <a:rPr kumimoji="0" lang="en-US" sz="1600" b="1" i="0" u="none" strike="noStrike" cap="none" normalizeH="0" baseline="0" dirty="0" smtClean="0">
                          <a:ln>
                            <a:noFill/>
                          </a:ln>
                          <a:solidFill>
                            <a:schemeClr val="tx1"/>
                          </a:solidFill>
                          <a:effectLst/>
                          <a:latin typeface="Arial" charset="0"/>
                        </a:rPr>
                        <a:t>Total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RS 2</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RS 7</a:t>
                      </a:r>
                      <a:endParaRPr lang="en-US" sz="1600" dirty="0"/>
                    </a:p>
                  </a:txBody>
                  <a:tcPr marL="84667" marR="84667" marT="42333" marB="42333"/>
                </a:tc>
              </a:tr>
              <a:tr h="407950">
                <a:tc>
                  <a:txBody>
                    <a:bodyPr/>
                    <a:lstStyle/>
                    <a:p>
                      <a:r>
                        <a:rPr kumimoji="0" lang="en-US" sz="1600" b="1" i="0" u="none" strike="noStrike" cap="none" normalizeH="0" baseline="0" dirty="0" smtClean="0">
                          <a:ln>
                            <a:noFill/>
                          </a:ln>
                          <a:solidFill>
                            <a:schemeClr val="tx1"/>
                          </a:solidFill>
                          <a:effectLst/>
                          <a:latin typeface="Arial" charset="0"/>
                        </a:rPr>
                        <a:t>Net gain</a:t>
                      </a:r>
                      <a:endParaRPr lang="en-US" sz="1600" dirty="0">
                        <a:solidFill>
                          <a:schemeClr val="tx1"/>
                        </a:solidFill>
                      </a:endParaRPr>
                    </a:p>
                  </a:txBody>
                  <a:tcPr marL="84667" marR="84667" marT="42333" marB="42333"/>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RS 5</a:t>
                      </a:r>
                      <a:endParaRPr lang="en-US" sz="1600" dirty="0" smtClean="0">
                        <a:solidFill>
                          <a:schemeClr val="tx1"/>
                        </a:solidFill>
                      </a:endParaRPr>
                    </a:p>
                  </a:txBody>
                  <a:tcPr marL="84667" marR="84667" marT="42333" marB="42333"/>
                </a:tc>
                <a:tc hMerge="1">
                  <a:txBody>
                    <a:bodyPr/>
                    <a:lstStyle/>
                    <a:p>
                      <a:endParaRPr lang="en-US" sz="1600" dirty="0"/>
                    </a:p>
                  </a:txBody>
                  <a:tcPr marL="84667" marR="84667" marT="42333" marB="42333"/>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xmlns="" val="2780447027"/>
              </p:ext>
            </p:extLst>
          </p:nvPr>
        </p:nvGraphicFramePr>
        <p:xfrm>
          <a:off x="4680012" y="2924944"/>
          <a:ext cx="3500388" cy="3370722"/>
        </p:xfrm>
        <a:graphic>
          <a:graphicData uri="http://schemas.openxmlformats.org/drawingml/2006/table">
            <a:tbl>
              <a:tblPr firstRow="1" bandRow="1">
                <a:tableStyleId>{5C22544A-7EE6-4342-B048-85BDC9FD1C3A}</a:tableStyleId>
              </a:tblPr>
              <a:tblGrid>
                <a:gridCol w="1166796"/>
                <a:gridCol w="1166796"/>
                <a:gridCol w="1166796"/>
              </a:tblGrid>
              <a:tr h="80327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Sam Seller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Premium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r>
              <a:tr h="3824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1</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2</a:t>
                      </a:r>
                    </a:p>
                  </a:txBody>
                  <a:tcPr marL="84667" marR="84667" marT="42333" marB="42333"/>
                </a:tc>
                <a:tc>
                  <a:txBody>
                    <a:bodyPr/>
                    <a:lstStyle/>
                    <a:p>
                      <a:endParaRPr lang="en-US" sz="1600" dirty="0"/>
                    </a:p>
                  </a:txBody>
                  <a:tcPr marL="84667" marR="84667" marT="42333" marB="42333"/>
                </a:tc>
              </a:tr>
              <a:tr h="288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2</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3</a:t>
                      </a:r>
                    </a:p>
                  </a:txBody>
                  <a:tcPr marL="84667" marR="84667" marT="42333" marB="42333"/>
                </a:tc>
                <a:tc>
                  <a:txBody>
                    <a:bodyPr/>
                    <a:lstStyle/>
                    <a:p>
                      <a:endParaRPr lang="en-US" sz="1600" dirty="0"/>
                    </a:p>
                  </a:txBody>
                  <a:tcPr marL="84667" marR="84667" marT="42333" marB="42333"/>
                </a:tc>
              </a:tr>
              <a:tr h="175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3</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1</a:t>
                      </a:r>
                    </a:p>
                  </a:txBody>
                  <a:tcPr marL="84667" marR="84667" marT="42333" marB="42333"/>
                </a:tc>
              </a:tr>
              <a:tr h="279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4</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1</a:t>
                      </a:r>
                    </a:p>
                  </a:txBody>
                  <a:tcPr marL="84667" marR="84667" marT="42333" marB="42333"/>
                </a:tc>
              </a:tr>
              <a:tr h="2386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5</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4</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r>
              <a:tr h="2701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Total</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9</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RS 4</a:t>
                      </a:r>
                    </a:p>
                  </a:txBody>
                  <a:tcPr marL="84667" marR="84667" marT="42333" marB="42333"/>
                </a:tc>
              </a:tr>
              <a:tr h="432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Net Loss</a:t>
                      </a:r>
                    </a:p>
                  </a:txBody>
                  <a:tcPr marL="84667" marR="84667" marT="42333" marB="42333"/>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5</a:t>
                      </a:r>
                    </a:p>
                  </a:txBody>
                  <a:tcPr marL="84667" marR="84667" marT="42333" marB="42333"/>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r>
            </a:tbl>
          </a:graphicData>
        </a:graphic>
      </p:graphicFrame>
      <p:sp>
        <p:nvSpPr>
          <p:cNvPr id="7" name="Rectangle 6"/>
          <p:cNvSpPr/>
          <p:nvPr/>
        </p:nvSpPr>
        <p:spPr>
          <a:xfrm>
            <a:off x="755576" y="116632"/>
            <a:ext cx="2800767" cy="369332"/>
          </a:xfrm>
          <a:prstGeom prst="rect">
            <a:avLst/>
          </a:prstGeom>
        </p:spPr>
        <p:txBody>
          <a:bodyPr wrap="none">
            <a:spAutoFit/>
          </a:bodyPr>
          <a:lstStyle/>
          <a:p>
            <a:pPr>
              <a:spcBef>
                <a:spcPct val="50000"/>
              </a:spcBef>
            </a:pPr>
            <a:r>
              <a:rPr lang="en-US" b="1" dirty="0">
                <a:latin typeface="Arial" pitchFamily="34" charset="0"/>
                <a:cs typeface="Arial" pitchFamily="34" charset="0"/>
              </a:rPr>
              <a:t>Day 5 – Settlement Date</a:t>
            </a:r>
          </a:p>
        </p:txBody>
      </p:sp>
    </p:spTree>
    <p:extLst>
      <p:ext uri="{BB962C8B-B14F-4D97-AF65-F5344CB8AC3E}">
        <p14:creationId xmlns:p14="http://schemas.microsoft.com/office/powerpoint/2010/main" xmlns="" val="1184317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80728"/>
            <a:ext cx="7560840" cy="830997"/>
          </a:xfrm>
          <a:prstGeom prst="rect">
            <a:avLst/>
          </a:prstGeom>
          <a:noFill/>
        </p:spPr>
        <p:txBody>
          <a:bodyPr wrap="square" rtlCol="0">
            <a:spAutoFit/>
          </a:bodyPr>
          <a:lstStyle/>
          <a:p>
            <a:pPr>
              <a:lnSpc>
                <a:spcPct val="150000"/>
              </a:lnSpc>
            </a:pPr>
            <a:r>
              <a:rPr lang="en-US" sz="1600" b="1" dirty="0">
                <a:latin typeface="Arial" pitchFamily="34" charset="0"/>
                <a:cs typeface="Arial" pitchFamily="34" charset="0"/>
              </a:rPr>
              <a:t>In this case, the Call Option buyer has a net gain of </a:t>
            </a:r>
            <a:r>
              <a:rPr lang="en-US" sz="1600" b="1" dirty="0" err="1">
                <a:latin typeface="Arial" pitchFamily="34" charset="0"/>
                <a:cs typeface="Arial" pitchFamily="34" charset="0"/>
              </a:rPr>
              <a:t>Rs</a:t>
            </a:r>
            <a:r>
              <a:rPr lang="en-US" sz="1600" b="1" dirty="0">
                <a:latin typeface="Arial" pitchFamily="34" charset="0"/>
                <a:cs typeface="Arial" pitchFamily="34" charset="0"/>
              </a:rPr>
              <a:t> 5 while </a:t>
            </a:r>
            <a:r>
              <a:rPr lang="en-US" sz="1600" b="1" dirty="0" smtClean="0">
                <a:latin typeface="Arial" pitchFamily="34" charset="0"/>
                <a:cs typeface="Arial" pitchFamily="34" charset="0"/>
              </a:rPr>
              <a:t>the</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Call </a:t>
            </a:r>
            <a:r>
              <a:rPr lang="en-US" sz="1600" b="1" dirty="0">
                <a:latin typeface="Arial" pitchFamily="34" charset="0"/>
                <a:cs typeface="Arial" pitchFamily="34" charset="0"/>
              </a:rPr>
              <a:t>Option seller has a net loss of </a:t>
            </a:r>
            <a:r>
              <a:rPr lang="en-US" sz="1600" b="1" dirty="0" err="1">
                <a:latin typeface="Arial" pitchFamily="34" charset="0"/>
                <a:cs typeface="Arial" pitchFamily="34" charset="0"/>
              </a:rPr>
              <a:t>Rs</a:t>
            </a:r>
            <a:r>
              <a:rPr lang="en-US" sz="1600" b="1" dirty="0">
                <a:latin typeface="Arial" pitchFamily="34" charset="0"/>
                <a:cs typeface="Arial" pitchFamily="34" charset="0"/>
              </a:rPr>
              <a:t> 5</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xmlns="" val="2828731677"/>
              </p:ext>
            </p:extLst>
          </p:nvPr>
        </p:nvGraphicFramePr>
        <p:xfrm>
          <a:off x="755576" y="1856014"/>
          <a:ext cx="3500388" cy="3335434"/>
        </p:xfrm>
        <a:graphic>
          <a:graphicData uri="http://schemas.openxmlformats.org/drawingml/2006/table">
            <a:tbl>
              <a:tblPr firstRow="1" bandRow="1">
                <a:tableStyleId>{5C22544A-7EE6-4342-B048-85BDC9FD1C3A}</a:tableStyleId>
              </a:tblPr>
              <a:tblGrid>
                <a:gridCol w="1166796"/>
                <a:gridCol w="1166796"/>
                <a:gridCol w="1166796"/>
              </a:tblGrid>
              <a:tr h="93610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Ram Buyer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 Premium </a:t>
                      </a: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txBody>
                  <a:tcPr marL="84667" marR="84667" marT="42333" marB="42333"/>
                </a:tc>
              </a:tr>
              <a:tr h="348850">
                <a:tc>
                  <a:txBody>
                    <a:bodyPr/>
                    <a:lstStyle/>
                    <a:p>
                      <a:r>
                        <a:rPr kumimoji="0" lang="en-US" sz="1600" b="1" i="0" u="none" strike="noStrike" cap="none" normalizeH="0" baseline="0" dirty="0" smtClean="0">
                          <a:ln>
                            <a:noFill/>
                          </a:ln>
                          <a:solidFill>
                            <a:schemeClr val="tx1"/>
                          </a:solidFill>
                          <a:effectLst/>
                          <a:latin typeface="Arial" charset="0"/>
                        </a:rPr>
                        <a:t>Day 1</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288032">
                <a:tc>
                  <a:txBody>
                    <a:bodyPr/>
                    <a:lstStyle/>
                    <a:p>
                      <a:r>
                        <a:rPr kumimoji="0" lang="en-US" sz="1600" b="1" i="0" u="none" strike="noStrike" cap="none" normalizeH="0" baseline="0" dirty="0" smtClean="0">
                          <a:ln>
                            <a:noFill/>
                          </a:ln>
                          <a:solidFill>
                            <a:schemeClr val="tx1"/>
                          </a:solidFill>
                          <a:effectLst/>
                          <a:latin typeface="Arial" charset="0"/>
                        </a:rPr>
                        <a:t>Day 2</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319566">
                <a:tc>
                  <a:txBody>
                    <a:bodyPr/>
                    <a:lstStyle/>
                    <a:p>
                      <a:r>
                        <a:rPr kumimoji="0" lang="en-US" sz="1600" b="1" i="0" u="none" strike="noStrike" cap="none" normalizeH="0" baseline="0" dirty="0" smtClean="0">
                          <a:ln>
                            <a:noFill/>
                          </a:ln>
                          <a:solidFill>
                            <a:schemeClr val="tx1"/>
                          </a:solidFill>
                          <a:effectLst/>
                          <a:latin typeface="Arial" charset="0"/>
                        </a:rPr>
                        <a:t>Day 3</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279092">
                <a:tc>
                  <a:txBody>
                    <a:bodyPr/>
                    <a:lstStyle/>
                    <a:p>
                      <a:r>
                        <a:rPr kumimoji="0" lang="en-US" sz="1600" b="1" i="0" u="none" strike="noStrike" cap="none" normalizeH="0" baseline="0" dirty="0" smtClean="0">
                          <a:ln>
                            <a:noFill/>
                          </a:ln>
                          <a:solidFill>
                            <a:schemeClr val="tx1"/>
                          </a:solidFill>
                          <a:effectLst/>
                          <a:latin typeface="Arial" charset="0"/>
                        </a:rPr>
                        <a:t>Day 4</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310626">
                <a:tc>
                  <a:txBody>
                    <a:bodyPr/>
                    <a:lstStyle/>
                    <a:p>
                      <a:r>
                        <a:rPr kumimoji="0" lang="en-US" sz="1600" b="1" i="0" u="none" strike="noStrike" cap="none" normalizeH="0" baseline="0" dirty="0" smtClean="0">
                          <a:ln>
                            <a:noFill/>
                          </a:ln>
                          <a:solidFill>
                            <a:schemeClr val="tx1"/>
                          </a:solidFill>
                          <a:effectLst/>
                          <a:latin typeface="Arial" charset="0"/>
                        </a:rPr>
                        <a:t>Day 5</a:t>
                      </a:r>
                      <a:endParaRPr lang="en-US" sz="1600" dirty="0">
                        <a:solidFill>
                          <a:schemeClr val="tx1"/>
                        </a:solidFill>
                      </a:endParaRPr>
                    </a:p>
                  </a:txBody>
                  <a:tcPr marL="84667" marR="84667" marT="42333" marB="42333"/>
                </a:tc>
                <a:tc>
                  <a:txBody>
                    <a:bodyPr/>
                    <a:lstStyle/>
                    <a:p>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RS 7</a:t>
                      </a:r>
                      <a:endParaRPr lang="en-US" sz="1600" dirty="0"/>
                    </a:p>
                  </a:txBody>
                  <a:tcPr marL="84667" marR="84667" marT="42333" marB="42333"/>
                </a:tc>
              </a:tr>
              <a:tr h="270152">
                <a:tc>
                  <a:txBody>
                    <a:bodyPr/>
                    <a:lstStyle/>
                    <a:p>
                      <a:r>
                        <a:rPr kumimoji="0" lang="en-US" sz="1600" b="1" i="0" u="none" strike="noStrike" cap="none" normalizeH="0" baseline="0" dirty="0" smtClean="0">
                          <a:ln>
                            <a:noFill/>
                          </a:ln>
                          <a:solidFill>
                            <a:schemeClr val="tx1"/>
                          </a:solidFill>
                          <a:effectLst/>
                          <a:latin typeface="Arial" charset="0"/>
                        </a:rPr>
                        <a:t>Total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RS 2</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RS 7</a:t>
                      </a:r>
                      <a:endParaRPr lang="en-US" sz="1600" dirty="0"/>
                    </a:p>
                  </a:txBody>
                  <a:tcPr marL="84667" marR="84667" marT="42333" marB="42333"/>
                </a:tc>
              </a:tr>
              <a:tr h="407950">
                <a:tc>
                  <a:txBody>
                    <a:bodyPr/>
                    <a:lstStyle/>
                    <a:p>
                      <a:r>
                        <a:rPr kumimoji="0" lang="en-US" sz="1600" b="1" i="0" u="none" strike="noStrike" cap="none" normalizeH="0" baseline="0" dirty="0" smtClean="0">
                          <a:ln>
                            <a:noFill/>
                          </a:ln>
                          <a:solidFill>
                            <a:schemeClr val="tx1"/>
                          </a:solidFill>
                          <a:effectLst/>
                          <a:latin typeface="Arial" charset="0"/>
                        </a:rPr>
                        <a:t>Net gain</a:t>
                      </a:r>
                      <a:endParaRPr lang="en-US" sz="1600" dirty="0">
                        <a:solidFill>
                          <a:schemeClr val="tx1"/>
                        </a:solidFill>
                      </a:endParaRPr>
                    </a:p>
                  </a:txBody>
                  <a:tcPr marL="84667" marR="84667" marT="42333" marB="42333"/>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RS 5</a:t>
                      </a:r>
                      <a:endParaRPr lang="en-US" sz="1600" dirty="0" smtClean="0">
                        <a:solidFill>
                          <a:schemeClr val="tx1"/>
                        </a:solidFill>
                      </a:endParaRPr>
                    </a:p>
                  </a:txBody>
                  <a:tcPr marL="84667" marR="84667" marT="42333" marB="42333"/>
                </a:tc>
                <a:tc hMerge="1">
                  <a:txBody>
                    <a:bodyPr/>
                    <a:lstStyle/>
                    <a:p>
                      <a:endParaRPr lang="en-US" sz="1600" dirty="0"/>
                    </a:p>
                  </a:txBody>
                  <a:tcPr marL="84667" marR="84667" marT="42333" marB="42333"/>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xmlns="" val="2324744720"/>
              </p:ext>
            </p:extLst>
          </p:nvPr>
        </p:nvGraphicFramePr>
        <p:xfrm>
          <a:off x="4680012" y="1844824"/>
          <a:ext cx="3500388" cy="3370722"/>
        </p:xfrm>
        <a:graphic>
          <a:graphicData uri="http://schemas.openxmlformats.org/drawingml/2006/table">
            <a:tbl>
              <a:tblPr firstRow="1" bandRow="1">
                <a:tableStyleId>{5C22544A-7EE6-4342-B048-85BDC9FD1C3A}</a:tableStyleId>
              </a:tblPr>
              <a:tblGrid>
                <a:gridCol w="1166796"/>
                <a:gridCol w="1166796"/>
                <a:gridCol w="1166796"/>
              </a:tblGrid>
              <a:tr h="80327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Sam Seller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Premium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r>
              <a:tr h="3824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1</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2</a:t>
                      </a:r>
                    </a:p>
                  </a:txBody>
                  <a:tcPr marL="84667" marR="84667" marT="42333" marB="42333"/>
                </a:tc>
                <a:tc>
                  <a:txBody>
                    <a:bodyPr/>
                    <a:lstStyle/>
                    <a:p>
                      <a:endParaRPr lang="en-US" sz="1600" dirty="0"/>
                    </a:p>
                  </a:txBody>
                  <a:tcPr marL="84667" marR="84667" marT="42333" marB="42333"/>
                </a:tc>
              </a:tr>
              <a:tr h="288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2</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3</a:t>
                      </a:r>
                    </a:p>
                  </a:txBody>
                  <a:tcPr marL="84667" marR="84667" marT="42333" marB="42333"/>
                </a:tc>
                <a:tc>
                  <a:txBody>
                    <a:bodyPr/>
                    <a:lstStyle/>
                    <a:p>
                      <a:endParaRPr lang="en-US" sz="1600" dirty="0"/>
                    </a:p>
                  </a:txBody>
                  <a:tcPr marL="84667" marR="84667" marT="42333" marB="42333"/>
                </a:tc>
              </a:tr>
              <a:tr h="175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3</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1</a:t>
                      </a:r>
                    </a:p>
                  </a:txBody>
                  <a:tcPr marL="84667" marR="84667" marT="42333" marB="42333"/>
                </a:tc>
              </a:tr>
              <a:tr h="279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4</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1</a:t>
                      </a:r>
                    </a:p>
                  </a:txBody>
                  <a:tcPr marL="84667" marR="84667" marT="42333" marB="42333"/>
                </a:tc>
              </a:tr>
              <a:tr h="2386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5</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4</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r>
              <a:tr h="2701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Total</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9</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RS 4</a:t>
                      </a:r>
                    </a:p>
                  </a:txBody>
                  <a:tcPr marL="84667" marR="84667" marT="42333" marB="42333"/>
                </a:tc>
              </a:tr>
              <a:tr h="432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Net Loss</a:t>
                      </a:r>
                    </a:p>
                  </a:txBody>
                  <a:tcPr marL="84667" marR="84667" marT="42333" marB="42333"/>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5</a:t>
                      </a:r>
                    </a:p>
                  </a:txBody>
                  <a:tcPr marL="84667" marR="84667" marT="42333" marB="42333"/>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r>
            </a:tbl>
          </a:graphicData>
        </a:graphic>
      </p:graphicFrame>
      <p:sp>
        <p:nvSpPr>
          <p:cNvPr id="7" name="Rectangle 6"/>
          <p:cNvSpPr/>
          <p:nvPr/>
        </p:nvSpPr>
        <p:spPr>
          <a:xfrm>
            <a:off x="755576" y="116632"/>
            <a:ext cx="2800767" cy="369332"/>
          </a:xfrm>
          <a:prstGeom prst="rect">
            <a:avLst/>
          </a:prstGeom>
        </p:spPr>
        <p:txBody>
          <a:bodyPr wrap="none">
            <a:spAutoFit/>
          </a:bodyPr>
          <a:lstStyle/>
          <a:p>
            <a:pPr>
              <a:spcBef>
                <a:spcPct val="50000"/>
              </a:spcBef>
            </a:pPr>
            <a:r>
              <a:rPr lang="en-US" b="1" dirty="0">
                <a:latin typeface="Arial" pitchFamily="34" charset="0"/>
                <a:cs typeface="Arial" pitchFamily="34" charset="0"/>
              </a:rPr>
              <a:t>Day 5 – Settlement Date</a:t>
            </a:r>
          </a:p>
        </p:txBody>
      </p:sp>
    </p:spTree>
    <p:extLst>
      <p:ext uri="{BB962C8B-B14F-4D97-AF65-F5344CB8AC3E}">
        <p14:creationId xmlns:p14="http://schemas.microsoft.com/office/powerpoint/2010/main" xmlns="" val="10420710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857488" y="1142984"/>
            <a:ext cx="4143404" cy="1713354"/>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But what would have happened if on the last day instead of the price rising by </a:t>
            </a:r>
            <a:r>
              <a:rPr lang="en-US" b="1" dirty="0" err="1">
                <a:latin typeface="Arial" pitchFamily="34" charset="0"/>
                <a:cs typeface="Arial" pitchFamily="34" charset="0"/>
              </a:rPr>
              <a:t>Rs</a:t>
            </a:r>
            <a:r>
              <a:rPr lang="en-US" b="1" dirty="0">
                <a:latin typeface="Arial" pitchFamily="34" charset="0"/>
                <a:cs typeface="Arial" pitchFamily="34" charset="0"/>
              </a:rPr>
              <a:t> 4, it had fallen by </a:t>
            </a:r>
            <a:r>
              <a:rPr lang="en-US" b="1" dirty="0" err="1">
                <a:latin typeface="Arial" pitchFamily="34" charset="0"/>
                <a:cs typeface="Arial" pitchFamily="34" charset="0"/>
              </a:rPr>
              <a:t>Rs</a:t>
            </a:r>
            <a:r>
              <a:rPr lang="en-US" b="1" dirty="0">
                <a:latin typeface="Arial" pitchFamily="34" charset="0"/>
                <a:cs typeface="Arial" pitchFamily="34" charset="0"/>
              </a:rPr>
              <a:t> 7 to </a:t>
            </a:r>
            <a:r>
              <a:rPr lang="en-US" b="1" dirty="0" err="1">
                <a:latin typeface="Arial" pitchFamily="34" charset="0"/>
                <a:cs typeface="Arial" pitchFamily="34" charset="0"/>
              </a:rPr>
              <a:t>Rs</a:t>
            </a:r>
            <a:r>
              <a:rPr lang="en-US" b="1" dirty="0">
                <a:latin typeface="Arial" pitchFamily="34" charset="0"/>
                <a:cs typeface="Arial" pitchFamily="34" charset="0"/>
              </a:rPr>
              <a:t>. 116? </a:t>
            </a: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908720"/>
            <a:ext cx="7843742" cy="2677656"/>
          </a:xfrm>
          <a:prstGeom prst="rect">
            <a:avLst/>
          </a:prstGeom>
          <a:noFill/>
        </p:spPr>
        <p:txBody>
          <a:bodyPr wrap="square" rtlCol="0">
            <a:spAutoFit/>
          </a:bodyPr>
          <a:lstStyle/>
          <a:p>
            <a:pPr>
              <a:lnSpc>
                <a:spcPct val="150000"/>
              </a:lnSpc>
            </a:pPr>
            <a:r>
              <a:rPr lang="en-US" sz="1600" b="1" dirty="0">
                <a:latin typeface="Arial" pitchFamily="34" charset="0"/>
                <a:cs typeface="Arial" pitchFamily="34" charset="0"/>
              </a:rPr>
              <a:t>As seen in the table if the prices had fallen on the 5</a:t>
            </a:r>
            <a:r>
              <a:rPr lang="en-US" sz="1600" b="1" baseline="30000" dirty="0">
                <a:latin typeface="Arial" pitchFamily="34" charset="0"/>
                <a:cs typeface="Arial" pitchFamily="34" charset="0"/>
              </a:rPr>
              <a:t>th</a:t>
            </a:r>
            <a:r>
              <a:rPr lang="en-US" sz="1600" b="1" dirty="0">
                <a:latin typeface="Arial" pitchFamily="34" charset="0"/>
                <a:cs typeface="Arial" pitchFamily="34" charset="0"/>
              </a:rPr>
              <a:t> day, the “Call Option” buyer’s account ( Ram’s Account) would not be debited by any </a:t>
            </a:r>
            <a:r>
              <a:rPr lang="en-US" sz="1600" b="1" dirty="0" smtClean="0">
                <a:latin typeface="Arial" pitchFamily="34" charset="0"/>
                <a:cs typeface="Arial" pitchFamily="34" charset="0"/>
              </a:rPr>
              <a:t>amount.</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But </a:t>
            </a:r>
            <a:r>
              <a:rPr lang="en-US" sz="1600" b="1" dirty="0">
                <a:latin typeface="Arial" pitchFamily="34" charset="0"/>
                <a:cs typeface="Arial" pitchFamily="34" charset="0"/>
              </a:rPr>
              <a:t>his notional profits will wipe out and he will not lose any thing </a:t>
            </a:r>
            <a:r>
              <a:rPr lang="en-US" sz="1600" b="1" dirty="0" smtClean="0">
                <a:latin typeface="Arial" pitchFamily="34" charset="0"/>
                <a:cs typeface="Arial" pitchFamily="34" charset="0"/>
              </a:rPr>
              <a:t>beyond</a:t>
            </a:r>
            <a:br>
              <a:rPr lang="en-US" sz="1600" b="1" dirty="0" smtClean="0">
                <a:latin typeface="Arial" pitchFamily="34" charset="0"/>
                <a:cs typeface="Arial" pitchFamily="34" charset="0"/>
              </a:rPr>
            </a:br>
            <a:r>
              <a:rPr lang="en-US" sz="1600" b="1" dirty="0" err="1" smtClean="0">
                <a:latin typeface="Arial" pitchFamily="34" charset="0"/>
                <a:cs typeface="Arial" pitchFamily="34" charset="0"/>
              </a:rPr>
              <a:t>Rs</a:t>
            </a:r>
            <a:r>
              <a:rPr lang="en-US" sz="1600" b="1" dirty="0">
                <a:latin typeface="Arial" pitchFamily="34" charset="0"/>
                <a:cs typeface="Arial" pitchFamily="34" charset="0"/>
              </a:rPr>
              <a:t>. 2 paid towards buying the call option. In the case of Sam, apart from initial premium, his account will be credited to the maximum extent of his previous net debits. So, if price of the stock comes down to </a:t>
            </a:r>
            <a:r>
              <a:rPr lang="en-US" sz="1600" b="1" dirty="0" err="1">
                <a:latin typeface="Arial" pitchFamily="34" charset="0"/>
                <a:cs typeface="Arial" pitchFamily="34" charset="0"/>
              </a:rPr>
              <a:t>Rs</a:t>
            </a:r>
            <a:r>
              <a:rPr lang="en-US" sz="1600" b="1" dirty="0">
                <a:latin typeface="Arial" pitchFamily="34" charset="0"/>
                <a:cs typeface="Arial" pitchFamily="34" charset="0"/>
              </a:rPr>
              <a:t>. 116, seller’s account (Sam’s account) would get credited to the maximum of </a:t>
            </a:r>
            <a:r>
              <a:rPr lang="en-US" sz="1600" b="1" dirty="0" err="1">
                <a:latin typeface="Arial" pitchFamily="34" charset="0"/>
                <a:cs typeface="Arial" pitchFamily="34" charset="0"/>
              </a:rPr>
              <a:t>Rs</a:t>
            </a:r>
            <a:r>
              <a:rPr lang="en-US" sz="1600" b="1" dirty="0">
                <a:latin typeface="Arial" pitchFamily="34" charset="0"/>
                <a:cs typeface="Arial" pitchFamily="34" charset="0"/>
              </a:rPr>
              <a:t>. 3. </a:t>
            </a: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xmlns="" val="4232942774"/>
              </p:ext>
            </p:extLst>
          </p:nvPr>
        </p:nvGraphicFramePr>
        <p:xfrm>
          <a:off x="819584" y="3638334"/>
          <a:ext cx="3500388" cy="2598978"/>
        </p:xfrm>
        <a:graphic>
          <a:graphicData uri="http://schemas.openxmlformats.org/drawingml/2006/table">
            <a:tbl>
              <a:tblPr firstRow="1" bandRow="1">
                <a:tableStyleId>{5C22544A-7EE6-4342-B048-85BDC9FD1C3A}</a:tableStyleId>
              </a:tblPr>
              <a:tblGrid>
                <a:gridCol w="1166796"/>
                <a:gridCol w="1166796"/>
                <a:gridCol w="1166796"/>
              </a:tblGrid>
              <a:tr h="93610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Ram Buyer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 Premium </a:t>
                      </a: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txBody>
                  <a:tcPr marL="84667" marR="84667" marT="42333" marB="42333"/>
                </a:tc>
              </a:tr>
              <a:tr h="348850">
                <a:tc>
                  <a:txBody>
                    <a:bodyPr/>
                    <a:lstStyle/>
                    <a:p>
                      <a:r>
                        <a:rPr kumimoji="0" lang="en-US" sz="1600" b="1" i="0" u="none" strike="noStrike" cap="none" normalizeH="0" baseline="0" dirty="0" smtClean="0">
                          <a:ln>
                            <a:noFill/>
                          </a:ln>
                          <a:solidFill>
                            <a:schemeClr val="tx1"/>
                          </a:solidFill>
                          <a:effectLst/>
                          <a:latin typeface="Arial" charset="0"/>
                        </a:rPr>
                        <a:t>Day 1</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288032">
                <a:tc>
                  <a:txBody>
                    <a:bodyPr/>
                    <a:lstStyle/>
                    <a:p>
                      <a:r>
                        <a:rPr kumimoji="0" lang="en-US" sz="1600" b="1" i="0" u="none" strike="noStrike" cap="none" normalizeH="0" baseline="0" dirty="0" smtClean="0">
                          <a:ln>
                            <a:noFill/>
                          </a:ln>
                          <a:solidFill>
                            <a:schemeClr val="tx1"/>
                          </a:solidFill>
                          <a:effectLst/>
                          <a:latin typeface="Arial" charset="0"/>
                        </a:rPr>
                        <a:t>Day 2</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319566">
                <a:tc>
                  <a:txBody>
                    <a:bodyPr/>
                    <a:lstStyle/>
                    <a:p>
                      <a:r>
                        <a:rPr kumimoji="0" lang="en-US" sz="1600" b="1" i="0" u="none" strike="noStrike" cap="none" normalizeH="0" baseline="0" dirty="0" smtClean="0">
                          <a:ln>
                            <a:noFill/>
                          </a:ln>
                          <a:solidFill>
                            <a:schemeClr val="tx1"/>
                          </a:solidFill>
                          <a:effectLst/>
                          <a:latin typeface="Arial" charset="0"/>
                        </a:rPr>
                        <a:t>Day 3</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279092">
                <a:tc>
                  <a:txBody>
                    <a:bodyPr/>
                    <a:lstStyle/>
                    <a:p>
                      <a:r>
                        <a:rPr kumimoji="0" lang="en-US" sz="1600" b="1" i="0" u="none" strike="noStrike" cap="none" normalizeH="0" baseline="0" dirty="0" smtClean="0">
                          <a:ln>
                            <a:noFill/>
                          </a:ln>
                          <a:solidFill>
                            <a:schemeClr val="tx1"/>
                          </a:solidFill>
                          <a:effectLst/>
                          <a:latin typeface="Arial" charset="0"/>
                        </a:rPr>
                        <a:t>Day 4</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310626">
                <a:tc>
                  <a:txBody>
                    <a:bodyPr/>
                    <a:lstStyle/>
                    <a:p>
                      <a:r>
                        <a:rPr kumimoji="0" lang="en-US" sz="1600" b="1" i="0" u="none" strike="noStrike" cap="none" normalizeH="0" baseline="0" dirty="0" smtClean="0">
                          <a:ln>
                            <a:noFill/>
                          </a:ln>
                          <a:solidFill>
                            <a:schemeClr val="tx1"/>
                          </a:solidFill>
                          <a:effectLst/>
                          <a:latin typeface="Arial" charset="0"/>
                        </a:rPr>
                        <a:t>Day 5</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xmlns="" val="500235551"/>
              </p:ext>
            </p:extLst>
          </p:nvPr>
        </p:nvGraphicFramePr>
        <p:xfrm>
          <a:off x="4744020" y="3627144"/>
          <a:ext cx="3500388" cy="2610168"/>
        </p:xfrm>
        <a:graphic>
          <a:graphicData uri="http://schemas.openxmlformats.org/drawingml/2006/table">
            <a:tbl>
              <a:tblPr firstRow="1" bandRow="1">
                <a:tableStyleId>{5C22544A-7EE6-4342-B048-85BDC9FD1C3A}</a:tableStyleId>
              </a:tblPr>
              <a:tblGrid>
                <a:gridCol w="1166796"/>
                <a:gridCol w="1166796"/>
                <a:gridCol w="1166796"/>
              </a:tblGrid>
              <a:tr h="80327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Sam Seller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Premium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r>
              <a:tr h="3824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1</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2</a:t>
                      </a:r>
                    </a:p>
                  </a:txBody>
                  <a:tcPr marL="84667" marR="84667" marT="42333" marB="42333"/>
                </a:tc>
                <a:tc>
                  <a:txBody>
                    <a:bodyPr/>
                    <a:lstStyle/>
                    <a:p>
                      <a:endParaRPr lang="en-US" sz="1600" dirty="0"/>
                    </a:p>
                  </a:txBody>
                  <a:tcPr marL="84667" marR="84667" marT="42333" marB="42333"/>
                </a:tc>
              </a:tr>
              <a:tr h="288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2</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3</a:t>
                      </a:r>
                    </a:p>
                  </a:txBody>
                  <a:tcPr marL="84667" marR="84667" marT="42333" marB="42333"/>
                </a:tc>
                <a:tc>
                  <a:txBody>
                    <a:bodyPr/>
                    <a:lstStyle/>
                    <a:p>
                      <a:endParaRPr lang="en-US" sz="1600" dirty="0"/>
                    </a:p>
                  </a:txBody>
                  <a:tcPr marL="84667" marR="84667" marT="42333" marB="42333"/>
                </a:tc>
              </a:tr>
              <a:tr h="175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3</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1</a:t>
                      </a:r>
                    </a:p>
                  </a:txBody>
                  <a:tcPr marL="84667" marR="84667" marT="42333" marB="42333"/>
                </a:tc>
              </a:tr>
              <a:tr h="279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4</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1</a:t>
                      </a:r>
                    </a:p>
                  </a:txBody>
                  <a:tcPr marL="84667" marR="84667" marT="42333" marB="42333"/>
                </a:tc>
              </a:tr>
              <a:tr h="2386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5</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3</a:t>
                      </a:r>
                    </a:p>
                  </a:txBody>
                  <a:tcPr marL="84667" marR="84667" marT="42333" marB="42333"/>
                </a:tc>
              </a:tr>
            </a:tbl>
          </a:graphicData>
        </a:graphic>
      </p:graphicFrame>
    </p:spTree>
    <p:extLst>
      <p:ext uri="{BB962C8B-B14F-4D97-AF65-F5344CB8AC3E}">
        <p14:creationId xmlns:p14="http://schemas.microsoft.com/office/powerpoint/2010/main" xmlns="" val="19773779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80728"/>
            <a:ext cx="7560840" cy="507831"/>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The final reconciliation in this case would be somewhat like this…</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xmlns="" val="956794408"/>
              </p:ext>
            </p:extLst>
          </p:nvPr>
        </p:nvGraphicFramePr>
        <p:xfrm>
          <a:off x="755576" y="1856014"/>
          <a:ext cx="3500388" cy="3335434"/>
        </p:xfrm>
        <a:graphic>
          <a:graphicData uri="http://schemas.openxmlformats.org/drawingml/2006/table">
            <a:tbl>
              <a:tblPr firstRow="1" bandRow="1">
                <a:tableStyleId>{5C22544A-7EE6-4342-B048-85BDC9FD1C3A}</a:tableStyleId>
              </a:tblPr>
              <a:tblGrid>
                <a:gridCol w="1166796"/>
                <a:gridCol w="1166796"/>
                <a:gridCol w="1166796"/>
              </a:tblGrid>
              <a:tr h="93610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Ram Buyer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 Premium </a:t>
                      </a: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txBody>
                  <a:tcPr marL="84667" marR="84667" marT="42333" marB="42333"/>
                </a:tc>
              </a:tr>
              <a:tr h="348850">
                <a:tc>
                  <a:txBody>
                    <a:bodyPr/>
                    <a:lstStyle/>
                    <a:p>
                      <a:r>
                        <a:rPr kumimoji="0" lang="en-US" sz="1600" b="1" i="0" u="none" strike="noStrike" cap="none" normalizeH="0" baseline="0" dirty="0" smtClean="0">
                          <a:ln>
                            <a:noFill/>
                          </a:ln>
                          <a:solidFill>
                            <a:schemeClr val="tx1"/>
                          </a:solidFill>
                          <a:effectLst/>
                          <a:latin typeface="Arial" charset="0"/>
                        </a:rPr>
                        <a:t>Day 1</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288032">
                <a:tc>
                  <a:txBody>
                    <a:bodyPr/>
                    <a:lstStyle/>
                    <a:p>
                      <a:r>
                        <a:rPr kumimoji="0" lang="en-US" sz="1600" b="1" i="0" u="none" strike="noStrike" cap="none" normalizeH="0" baseline="0" dirty="0" smtClean="0">
                          <a:ln>
                            <a:noFill/>
                          </a:ln>
                          <a:solidFill>
                            <a:schemeClr val="tx1"/>
                          </a:solidFill>
                          <a:effectLst/>
                          <a:latin typeface="Arial" charset="0"/>
                        </a:rPr>
                        <a:t>Day 2</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319566">
                <a:tc>
                  <a:txBody>
                    <a:bodyPr/>
                    <a:lstStyle/>
                    <a:p>
                      <a:r>
                        <a:rPr kumimoji="0" lang="en-US" sz="1600" b="1" i="0" u="none" strike="noStrike" cap="none" normalizeH="0" baseline="0" dirty="0" smtClean="0">
                          <a:ln>
                            <a:noFill/>
                          </a:ln>
                          <a:solidFill>
                            <a:schemeClr val="tx1"/>
                          </a:solidFill>
                          <a:effectLst/>
                          <a:latin typeface="Arial" charset="0"/>
                        </a:rPr>
                        <a:t>Day 3</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279092">
                <a:tc>
                  <a:txBody>
                    <a:bodyPr/>
                    <a:lstStyle/>
                    <a:p>
                      <a:r>
                        <a:rPr kumimoji="0" lang="en-US" sz="1600" b="1" i="0" u="none" strike="noStrike" cap="none" normalizeH="0" baseline="0" dirty="0" smtClean="0">
                          <a:ln>
                            <a:noFill/>
                          </a:ln>
                          <a:solidFill>
                            <a:schemeClr val="tx1"/>
                          </a:solidFill>
                          <a:effectLst/>
                          <a:latin typeface="Arial" charset="0"/>
                        </a:rPr>
                        <a:t>Day 4</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NIL</a:t>
                      </a:r>
                      <a:endParaRPr lang="en-US" sz="1600" dirty="0"/>
                    </a:p>
                  </a:txBody>
                  <a:tcPr marL="84667" marR="84667" marT="42333" marB="42333"/>
                </a:tc>
              </a:tr>
              <a:tr h="310626">
                <a:tc>
                  <a:txBody>
                    <a:bodyPr/>
                    <a:lstStyle/>
                    <a:p>
                      <a:r>
                        <a:rPr kumimoji="0" lang="en-US" sz="1600" b="1" i="0" u="none" strike="noStrike" cap="none" normalizeH="0" baseline="0" dirty="0" smtClean="0">
                          <a:ln>
                            <a:noFill/>
                          </a:ln>
                          <a:solidFill>
                            <a:schemeClr val="tx1"/>
                          </a:solidFill>
                          <a:effectLst/>
                          <a:latin typeface="Arial" charset="0"/>
                        </a:rPr>
                        <a:t>Day 5</a:t>
                      </a:r>
                      <a:endParaRPr lang="en-US" sz="1600" dirty="0">
                        <a:solidFill>
                          <a:schemeClr val="tx1"/>
                        </a:solidFill>
                      </a:endParaRPr>
                    </a:p>
                  </a:txBody>
                  <a:tcPr marL="84667" marR="84667" marT="42333" marB="4233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NIL</a:t>
                      </a:r>
                      <a:endParaRPr lang="en-US" sz="1600" dirty="0" smtClean="0"/>
                    </a:p>
                  </a:txBody>
                  <a:tcPr marL="84667" marR="84667" marT="42333" marB="4233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NIL</a:t>
                      </a:r>
                      <a:endParaRPr lang="en-US" sz="1600" dirty="0" smtClean="0"/>
                    </a:p>
                  </a:txBody>
                  <a:tcPr marL="84667" marR="84667" marT="42333" marB="42333"/>
                </a:tc>
              </a:tr>
              <a:tr h="270152">
                <a:tc>
                  <a:txBody>
                    <a:bodyPr/>
                    <a:lstStyle/>
                    <a:p>
                      <a:r>
                        <a:rPr kumimoji="0" lang="en-US" sz="1600" b="1" i="0" u="none" strike="noStrike" cap="none" normalizeH="0" baseline="0" dirty="0" smtClean="0">
                          <a:ln>
                            <a:noFill/>
                          </a:ln>
                          <a:solidFill>
                            <a:schemeClr val="tx1"/>
                          </a:solidFill>
                          <a:effectLst/>
                          <a:latin typeface="Arial" charset="0"/>
                        </a:rPr>
                        <a:t>Total</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RS 2</a:t>
                      </a:r>
                      <a:endParaRPr lang="en-US" sz="1600" dirty="0">
                        <a:solidFill>
                          <a:schemeClr val="tx1"/>
                        </a:solidFill>
                      </a:endParaRPr>
                    </a:p>
                  </a:txBody>
                  <a:tcPr marL="84667" marR="84667" marT="42333" marB="42333"/>
                </a:tc>
                <a:tc>
                  <a:txBody>
                    <a:bodyPr/>
                    <a:lstStyle/>
                    <a:p>
                      <a:r>
                        <a:rPr kumimoji="0" lang="en-US" sz="1600" b="1" i="0" u="none" strike="noStrike" cap="none" normalizeH="0" baseline="0" dirty="0" smtClean="0">
                          <a:ln>
                            <a:noFill/>
                          </a:ln>
                          <a:solidFill>
                            <a:schemeClr val="tx1"/>
                          </a:solidFill>
                          <a:effectLst/>
                          <a:latin typeface="Arial" charset="0"/>
                        </a:rPr>
                        <a:t>RS 0</a:t>
                      </a:r>
                      <a:endParaRPr lang="en-US" sz="1600" dirty="0"/>
                    </a:p>
                  </a:txBody>
                  <a:tcPr marL="84667" marR="84667" marT="42333" marB="42333"/>
                </a:tc>
              </a:tr>
              <a:tr h="407950">
                <a:tc>
                  <a:txBody>
                    <a:bodyPr/>
                    <a:lstStyle/>
                    <a:p>
                      <a:r>
                        <a:rPr kumimoji="0" lang="en-US" sz="1600" b="1" i="0" u="none" strike="noStrike" cap="none" normalizeH="0" baseline="0" dirty="0" smtClean="0">
                          <a:ln>
                            <a:noFill/>
                          </a:ln>
                          <a:solidFill>
                            <a:schemeClr val="tx1"/>
                          </a:solidFill>
                          <a:effectLst/>
                          <a:latin typeface="Arial" charset="0"/>
                        </a:rPr>
                        <a:t>Net Loss</a:t>
                      </a:r>
                      <a:endParaRPr lang="en-US" sz="1600" dirty="0">
                        <a:solidFill>
                          <a:schemeClr val="tx1"/>
                        </a:solidFill>
                      </a:endParaRPr>
                    </a:p>
                  </a:txBody>
                  <a:tcPr marL="84667" marR="84667" marT="42333" marB="42333"/>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RS 2</a:t>
                      </a:r>
                      <a:endParaRPr lang="en-US" sz="1600" dirty="0" smtClean="0">
                        <a:solidFill>
                          <a:schemeClr val="tx1"/>
                        </a:solidFill>
                      </a:endParaRPr>
                    </a:p>
                  </a:txBody>
                  <a:tcPr marL="84667" marR="84667" marT="42333" marB="42333"/>
                </a:tc>
                <a:tc hMerge="1">
                  <a:txBody>
                    <a:bodyPr/>
                    <a:lstStyle/>
                    <a:p>
                      <a:endParaRPr lang="en-US" sz="1600" dirty="0"/>
                    </a:p>
                  </a:txBody>
                  <a:tcPr marL="84667" marR="84667" marT="42333" marB="42333"/>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xmlns="" val="2277604722"/>
              </p:ext>
            </p:extLst>
          </p:nvPr>
        </p:nvGraphicFramePr>
        <p:xfrm>
          <a:off x="4680012" y="1844824"/>
          <a:ext cx="3500388" cy="3370722"/>
        </p:xfrm>
        <a:graphic>
          <a:graphicData uri="http://schemas.openxmlformats.org/drawingml/2006/table">
            <a:tbl>
              <a:tblPr firstRow="1" bandRow="1">
                <a:tableStyleId>{5C22544A-7EE6-4342-B048-85BDC9FD1C3A}</a:tableStyleId>
              </a:tblPr>
              <a:tblGrid>
                <a:gridCol w="1166796"/>
                <a:gridCol w="1166796"/>
                <a:gridCol w="1166796"/>
              </a:tblGrid>
              <a:tr h="80327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Sam Seller</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Debit</a:t>
                      </a:r>
                    </a:p>
                  </a:txBody>
                  <a:tcPr marL="84667" marR="84667" marT="42333" marB="42333"/>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Credit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smtClean="0">
                          <a:ln>
                            <a:noFill/>
                          </a:ln>
                          <a:solidFill>
                            <a:schemeClr val="bg1"/>
                          </a:solidFill>
                          <a:effectLst/>
                          <a:latin typeface="Arial" charset="0"/>
                        </a:rPr>
                        <a:t>Premium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smtClean="0">
                          <a:ln>
                            <a:noFill/>
                          </a:ln>
                          <a:solidFill>
                            <a:schemeClr val="bg1"/>
                          </a:solidFill>
                          <a:effectLst/>
                          <a:latin typeface="Arial" charset="0"/>
                        </a:rPr>
                        <a:t>Rs</a:t>
                      </a:r>
                      <a:r>
                        <a:rPr kumimoji="0" lang="en-US" sz="1600" b="1" i="0" u="none" strike="noStrike" cap="none" normalizeH="0" baseline="0" dirty="0" smtClean="0">
                          <a:ln>
                            <a:noFill/>
                          </a:ln>
                          <a:solidFill>
                            <a:schemeClr val="bg1"/>
                          </a:solidFill>
                          <a:effectLst/>
                          <a:latin typeface="Arial" charset="0"/>
                        </a:rPr>
                        <a:t>. 2</a:t>
                      </a:r>
                    </a:p>
                  </a:txBody>
                  <a:tcPr marL="84667" marR="84667" marT="42333" marB="42333"/>
                </a:tc>
              </a:tr>
              <a:tr h="3824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1</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2</a:t>
                      </a:r>
                    </a:p>
                  </a:txBody>
                  <a:tcPr marL="84667" marR="84667" marT="42333" marB="42333"/>
                </a:tc>
                <a:tc>
                  <a:txBody>
                    <a:bodyPr/>
                    <a:lstStyle/>
                    <a:p>
                      <a:endParaRPr lang="en-US" sz="1600" dirty="0"/>
                    </a:p>
                  </a:txBody>
                  <a:tcPr marL="84667" marR="84667" marT="42333" marB="42333"/>
                </a:tc>
              </a:tr>
              <a:tr h="288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2</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3</a:t>
                      </a:r>
                    </a:p>
                  </a:txBody>
                  <a:tcPr marL="84667" marR="84667" marT="42333" marB="42333"/>
                </a:tc>
                <a:tc>
                  <a:txBody>
                    <a:bodyPr/>
                    <a:lstStyle/>
                    <a:p>
                      <a:endParaRPr lang="en-US" sz="1600" dirty="0"/>
                    </a:p>
                  </a:txBody>
                  <a:tcPr marL="84667" marR="84667" marT="42333" marB="42333"/>
                </a:tc>
              </a:tr>
              <a:tr h="175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3</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1</a:t>
                      </a:r>
                    </a:p>
                  </a:txBody>
                  <a:tcPr marL="84667" marR="84667" marT="42333" marB="42333"/>
                </a:tc>
              </a:tr>
              <a:tr h="279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4</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1</a:t>
                      </a:r>
                    </a:p>
                  </a:txBody>
                  <a:tcPr marL="84667" marR="84667" marT="42333" marB="42333"/>
                </a:tc>
              </a:tr>
              <a:tr h="2386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Day 5</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3</a:t>
                      </a:r>
                    </a:p>
                  </a:txBody>
                  <a:tcPr marL="84667" marR="84667" marT="42333" marB="42333"/>
                </a:tc>
              </a:tr>
              <a:tr h="2701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Total</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5</a:t>
                      </a:r>
                    </a:p>
                  </a:txBody>
                  <a:tcPr marL="84667" marR="84667" marT="42333" marB="423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RS 7</a:t>
                      </a:r>
                    </a:p>
                  </a:txBody>
                  <a:tcPr marL="84667" marR="84667" marT="42333" marB="42333"/>
                </a:tc>
              </a:tr>
              <a:tr h="432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smtClean="0">
                          <a:ln>
                            <a:noFill/>
                          </a:ln>
                          <a:solidFill>
                            <a:schemeClr val="tx1"/>
                          </a:solidFill>
                          <a:effectLst/>
                          <a:latin typeface="Arial" charset="0"/>
                        </a:rPr>
                        <a:t>Net Gain</a:t>
                      </a:r>
                    </a:p>
                  </a:txBody>
                  <a:tcPr marL="84667" marR="84667" marT="42333" marB="42333"/>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err="1" smtClean="0">
                          <a:ln>
                            <a:noFill/>
                          </a:ln>
                          <a:solidFill>
                            <a:schemeClr val="tx1"/>
                          </a:solidFill>
                          <a:effectLst/>
                          <a:latin typeface="Arial" charset="0"/>
                        </a:rPr>
                        <a:t>Rs</a:t>
                      </a:r>
                      <a:r>
                        <a:rPr kumimoji="0" lang="en-US" sz="1600" b="1" i="0" u="none" strike="noStrike" cap="none" normalizeH="0" baseline="0" dirty="0" smtClean="0">
                          <a:ln>
                            <a:noFill/>
                          </a:ln>
                          <a:solidFill>
                            <a:schemeClr val="tx1"/>
                          </a:solidFill>
                          <a:effectLst/>
                          <a:latin typeface="Arial" charset="0"/>
                        </a:rPr>
                        <a:t> 2</a:t>
                      </a:r>
                    </a:p>
                  </a:txBody>
                  <a:tcPr marL="84667" marR="84667" marT="42333" marB="42333"/>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cap="none" normalizeH="0" baseline="0" dirty="0" smtClean="0">
                        <a:ln>
                          <a:noFill/>
                        </a:ln>
                        <a:solidFill>
                          <a:schemeClr val="tx1"/>
                        </a:solidFill>
                        <a:effectLst/>
                        <a:latin typeface="Arial" charset="0"/>
                      </a:endParaRPr>
                    </a:p>
                  </a:txBody>
                  <a:tcPr marL="84667" marR="84667" marT="42333" marB="42333"/>
                </a:tc>
              </a:tr>
            </a:tbl>
          </a:graphicData>
        </a:graphic>
      </p:graphicFrame>
    </p:spTree>
    <p:extLst>
      <p:ext uri="{BB962C8B-B14F-4D97-AF65-F5344CB8AC3E}">
        <p14:creationId xmlns:p14="http://schemas.microsoft.com/office/powerpoint/2010/main" xmlns="" val="12084855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594266" y="1196752"/>
            <a:ext cx="3866165" cy="5078313"/>
          </a:xfrm>
          <a:prstGeom prst="rect">
            <a:avLst/>
          </a:prstGeom>
        </p:spPr>
        <p:txBody>
          <a:bodyPr wrap="square">
            <a:spAutoFit/>
          </a:bodyPr>
          <a:lstStyle/>
          <a:p>
            <a:pPr>
              <a:lnSpc>
                <a:spcPct val="150000"/>
              </a:lnSpc>
            </a:pPr>
            <a:r>
              <a:rPr lang="en-US" b="1" dirty="0">
                <a:latin typeface="Arial" pitchFamily="34" charset="0"/>
                <a:cs typeface="Arial" pitchFamily="34" charset="0"/>
              </a:rPr>
              <a:t>Thus, we see that Ram has unlimited “upside” gain but limited “downside” liability while Sam on the other hand has unlimited “downside” liability but a limited “upside” gain to the tune of the premium amount only.</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Thus the ‘Call Option” buyer has limited risk while the “Call Option” seller takes a much larger risk!</a:t>
            </a: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857488" y="1022439"/>
            <a:ext cx="4143404" cy="2169825"/>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Phew! That was quite a tough </a:t>
            </a:r>
            <a:r>
              <a:rPr lang="en-US" b="1" dirty="0" smtClean="0">
                <a:latin typeface="Arial" pitchFamily="34" charset="0"/>
                <a:cs typeface="Arial" pitchFamily="34" charset="0"/>
              </a:rPr>
              <a:t>one.</a:t>
            </a:r>
            <a:br>
              <a:rPr lang="en-US" b="1" dirty="0" smtClean="0">
                <a:latin typeface="Arial" pitchFamily="34" charset="0"/>
                <a:cs typeface="Arial" pitchFamily="34" charset="0"/>
              </a:rPr>
            </a:br>
            <a:r>
              <a:rPr lang="en-US" b="1" dirty="0" smtClean="0">
                <a:latin typeface="Arial" pitchFamily="34" charset="0"/>
                <a:cs typeface="Arial" pitchFamily="34" charset="0"/>
              </a:rPr>
              <a:t>I </a:t>
            </a:r>
            <a:r>
              <a:rPr lang="en-US" b="1" dirty="0">
                <a:latin typeface="Arial" pitchFamily="34" charset="0"/>
                <a:cs typeface="Arial" pitchFamily="34" charset="0"/>
              </a:rPr>
              <a:t>hope you have got some understanding of this esoteric concept which dodges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brightest </a:t>
            </a:r>
            <a:r>
              <a:rPr lang="en-US" b="1" dirty="0">
                <a:latin typeface="Arial" pitchFamily="34" charset="0"/>
                <a:cs typeface="Arial" pitchFamily="34" charset="0"/>
              </a:rPr>
              <a:t>brains many a times. </a:t>
            </a: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62058286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124744"/>
            <a:ext cx="7200800" cy="1295611"/>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Please do let me know if I have managed to clear this concept for you. Your feedback is very important to me as it helps me plan my future lessons.</a:t>
            </a: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147500937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214414" y="2021643"/>
            <a:ext cx="3643338" cy="927433"/>
          </a:xfrm>
          <a:prstGeom prst="rect">
            <a:avLst/>
          </a:prstGeom>
          <a:noFill/>
        </p:spPr>
        <p:txBody>
          <a:bodyPr wrap="square" rtlCol="0">
            <a:spAutoFit/>
          </a:bodyPr>
          <a:lstStyle/>
          <a:p>
            <a:pPr marL="342900" indent="-342900" algn="ctr">
              <a:lnSpc>
                <a:spcPct val="150000"/>
              </a:lnSpc>
              <a:spcBef>
                <a:spcPct val="20000"/>
              </a:spcBef>
            </a:pPr>
            <a:r>
              <a:rPr lang="en-US" b="1" dirty="0">
                <a:latin typeface="Arial" pitchFamily="34" charset="0"/>
                <a:cs typeface="Arial" pitchFamily="34" charset="0"/>
              </a:rPr>
              <a:t>Please give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2232</TotalTime>
  <Words>1700</Words>
  <Application>Microsoft Office PowerPoint</Application>
  <PresentationFormat>On-screen Show (4:3)</PresentationFormat>
  <Paragraphs>361</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261</cp:revision>
  <dcterms:created xsi:type="dcterms:W3CDTF">2013-10-22T09:41:31Z</dcterms:created>
  <dcterms:modified xsi:type="dcterms:W3CDTF">2014-09-26T10:34:09Z</dcterms:modified>
</cp:coreProperties>
</file>