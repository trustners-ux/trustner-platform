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43" r:id="rId3"/>
    <p:sldId id="316" r:id="rId4"/>
    <p:sldId id="347" r:id="rId5"/>
    <p:sldId id="324" r:id="rId6"/>
    <p:sldId id="348" r:id="rId7"/>
    <p:sldId id="349" r:id="rId8"/>
    <p:sldId id="332" r:id="rId9"/>
    <p:sldId id="350" r:id="rId10"/>
    <p:sldId id="325" r:id="rId11"/>
    <p:sldId id="344" r:id="rId12"/>
    <p:sldId id="345" r:id="rId13"/>
    <p:sldId id="334" r:id="rId14"/>
    <p:sldId id="351" r:id="rId15"/>
    <p:sldId id="341"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248472"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MARGIN MONEY IN DERIVATIVES</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285852" y="1571612"/>
            <a:ext cx="3668988" cy="1287532"/>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“Margin Money” in derivatives</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 </a:t>
            </a:r>
            <a:r>
              <a:rPr lang="en-US" b="1" baseline="70000" dirty="0" smtClean="0">
                <a:latin typeface="Arial" pitchFamily="34" charset="0"/>
                <a:cs typeface="Arial" pitchFamily="34" charset="0"/>
              </a:rPr>
              <a:t>TM</a:t>
            </a:r>
            <a:endParaRPr lang="en-US" b="1" baseline="70000" dirty="0">
              <a:latin typeface="Arial" pitchFamily="34" charset="0"/>
              <a:cs typeface="Arial" pitchFamily="34" charset="0"/>
            </a:endParaRPr>
          </a:p>
        </p:txBody>
      </p:sp>
    </p:spTree>
    <p:extLst>
      <p:ext uri="{BB962C8B-B14F-4D97-AF65-F5344CB8AC3E}">
        <p14:creationId xmlns="" xmlns:p14="http://schemas.microsoft.com/office/powerpoint/2010/main"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25144"/>
            <a:ext cx="3897564" cy="877163"/>
          </a:xfrm>
          <a:prstGeom prst="rect">
            <a:avLst/>
          </a:prstGeom>
        </p:spPr>
        <p:txBody>
          <a:bodyPr wrap="square">
            <a:spAutoFit/>
          </a:bodyPr>
          <a:lstStyle/>
          <a:p>
            <a:pPr>
              <a:lnSpc>
                <a:spcPct val="150000"/>
              </a:lnSpc>
            </a:pPr>
            <a:r>
              <a:rPr lang="en-US" sz="1700" b="1" dirty="0" smtClean="0">
                <a:latin typeface="Arial" pitchFamily="34" charset="0"/>
                <a:cs typeface="Arial" pitchFamily="34" charset="0"/>
              </a:rPr>
              <a:t>Let me clarify </a:t>
            </a:r>
            <a:r>
              <a:rPr lang="en-US" sz="1700" b="1" dirty="0" smtClean="0">
                <a:latin typeface="Arial" pitchFamily="34" charset="0"/>
                <a:cs typeface="Arial" pitchFamily="34" charset="0"/>
              </a:rPr>
              <a:t>‘Margin Money’ in</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derivatives to you in this lesson. </a:t>
            </a:r>
            <a:endParaRPr lang="en-US" sz="1700"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93532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357554" y="1120676"/>
            <a:ext cx="3429024"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‘Margin Money’ is a term associated with derivative instrument transactions…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what’s margin money?</a:t>
            </a:r>
          </a:p>
        </p:txBody>
      </p:sp>
      <p:sp>
        <p:nvSpPr>
          <p:cNvPr id="5" name="TextBox 4"/>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488832" cy="420634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Let’s say there are three parties A (Buyer), B (Seller) and C (Broker)</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 is interested in buying a futures contract for Rs 100 as he thinks its price would go up by the settlement date</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 on the other hand, wants to sell the futures contract for Rs 100 as he thinks its price will go down by the settlement date</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C is the broker who will be executing the deal on behalf of investors A &amp; B</a:t>
            </a:r>
            <a:endParaRPr lang="en-US" b="1" dirty="0">
              <a:latin typeface="Arial" pitchFamily="34" charset="0"/>
              <a:cs typeface="Arial" pitchFamily="34" charset="0"/>
            </a:endParaRPr>
          </a:p>
        </p:txBody>
      </p:sp>
      <p:sp>
        <p:nvSpPr>
          <p:cNvPr id="5" name="TextBox 4"/>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2104835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888960" cy="3416320"/>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Now, </a:t>
            </a:r>
            <a:r>
              <a:rPr lang="en-US" b="1" dirty="0" smtClean="0">
                <a:latin typeface="Arial" pitchFamily="34" charset="0"/>
                <a:cs typeface="Arial" pitchFamily="34" charset="0"/>
              </a:rPr>
              <a:t>derivative trading </a:t>
            </a:r>
            <a:r>
              <a:rPr lang="en-US" b="1" dirty="0" smtClean="0">
                <a:latin typeface="Arial" pitchFamily="34" charset="0"/>
                <a:cs typeface="Arial" pitchFamily="34" charset="0"/>
              </a:rPr>
              <a:t>is about taking a ‘call’ on the upward and </a:t>
            </a:r>
            <a:r>
              <a:rPr lang="en-US" b="1" dirty="0" smtClean="0">
                <a:latin typeface="Arial" pitchFamily="34" charset="0"/>
                <a:cs typeface="Arial" pitchFamily="34" charset="0"/>
              </a:rPr>
              <a:t>downward movement </a:t>
            </a:r>
            <a:r>
              <a:rPr lang="en-US" b="1" dirty="0" smtClean="0">
                <a:latin typeface="Arial" pitchFamily="34" charset="0"/>
                <a:cs typeface="Arial" pitchFamily="34" charset="0"/>
              </a:rPr>
              <a:t>of the scrip. </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Hence the subject in question is the movement of price</a:t>
            </a:r>
            <a:br>
              <a:rPr lang="en-US" b="1" dirty="0" smtClean="0">
                <a:latin typeface="Arial" pitchFamily="34" charset="0"/>
                <a:cs typeface="Arial" pitchFamily="34" charset="0"/>
              </a:rPr>
            </a:br>
            <a:r>
              <a:rPr lang="en-US" b="1" dirty="0" smtClean="0">
                <a:latin typeface="Arial" pitchFamily="34" charset="0"/>
                <a:cs typeface="Arial" pitchFamily="34" charset="0"/>
              </a:rPr>
              <a:t>(upward or down ward) and not the absolute or actual price</a:t>
            </a:r>
            <a:br>
              <a:rPr lang="en-US" b="1" dirty="0" smtClean="0">
                <a:latin typeface="Arial" pitchFamily="34" charset="0"/>
                <a:cs typeface="Arial" pitchFamily="34" charset="0"/>
              </a:rPr>
            </a:br>
            <a:r>
              <a:rPr lang="en-US" b="1" dirty="0" smtClean="0">
                <a:latin typeface="Arial" pitchFamily="34" charset="0"/>
                <a:cs typeface="Arial" pitchFamily="34" charset="0"/>
              </a:rPr>
              <a:t>of the total contract.</a:t>
            </a:r>
            <a:r>
              <a:rPr lang="en-US" b="1" dirty="0" smtClean="0">
                <a:solidFill>
                  <a:srgbClr val="FF0000"/>
                </a:solidFill>
                <a:latin typeface="Arial" pitchFamily="34" charset="0"/>
                <a:cs typeface="Arial" pitchFamily="34" charset="0"/>
              </a:rPr>
              <a:t> </a:t>
            </a:r>
            <a:endParaRPr lang="en-US" b="1" dirty="0">
              <a:solidFill>
                <a:srgbClr val="FF0000"/>
              </a:solidFill>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3816733"/>
            <a:ext cx="4214842" cy="2398349"/>
          </a:xfrm>
          <a:prstGeom prst="rect">
            <a:avLst/>
          </a:prstGeom>
        </p:spPr>
        <p:txBody>
          <a:bodyPr wrap="square">
            <a:spAutoFit/>
          </a:bodyPr>
          <a:lstStyle/>
          <a:p>
            <a:pPr>
              <a:lnSpc>
                <a:spcPct val="150000"/>
              </a:lnSpc>
            </a:pPr>
            <a:r>
              <a:rPr lang="en-US" sz="1700" b="1" dirty="0" smtClean="0">
                <a:latin typeface="Arial" pitchFamily="34" charset="0"/>
                <a:cs typeface="Arial" pitchFamily="34" charset="0"/>
              </a:rPr>
              <a:t>Therefore, the Stock Exchange has to be hedged by investors (A &amp; B) to the extent of the expected margin of loss that the investor might incur. Thus, the Broker acts as a mediator between the Exchange &amp; the Investors.</a:t>
            </a:r>
            <a:endParaRPr lang="en-US" sz="1700"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683568" y="1052736"/>
            <a:ext cx="7488832" cy="337534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For example in our case, where the cost of futures is Rs 100, in all likelihood its value would go up or down by say Rs 10 either way by the settlement date based on expected volatility which is calculated mathematically.</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the margin money sought by the Exchange through the broker from either party would be 10% of the total value (Rs.10 in the given example). </a:t>
            </a:r>
            <a:endParaRPr lang="en-US" b="1" dirty="0">
              <a:latin typeface="Arial" pitchFamily="34" charset="0"/>
              <a:cs typeface="Arial" pitchFamily="34" charset="0"/>
            </a:endParaRPr>
          </a:p>
        </p:txBody>
      </p:sp>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5565437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57488" y="1357298"/>
            <a:ext cx="4143404"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Please note that irrespective of price movement, both the investors need to maintain 10% of the margin.</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1124744"/>
            <a:ext cx="7200800" cy="420634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Now let’s say by the settlement date, the scrip would be valued at Rs. 108.</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means ‘A’ would have made a profit of Rs 8 while ‘B’ would have incurred a loss of Rs. 8.</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broker hence credits the investor ‘A’s  account by Rs 8 along with the margin money of Rs 10.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in total ‘A’ receives Rs 18.</a:t>
            </a:r>
            <a:endParaRPr lang="en-US" b="1" dirty="0">
              <a:latin typeface="Arial" pitchFamily="34" charset="0"/>
              <a:cs typeface="Arial" pitchFamily="34" charset="0"/>
            </a:endParaRP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27512652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124744"/>
            <a:ext cx="7200800" cy="1754326"/>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On the other hand ‘B’ who has incurred a loss will debit</a:t>
            </a:r>
            <a:br>
              <a:rPr lang="en-US" b="1" dirty="0" smtClean="0">
                <a:latin typeface="Arial" pitchFamily="34" charset="0"/>
                <a:cs typeface="Arial" pitchFamily="34" charset="0"/>
              </a:rPr>
            </a:br>
            <a:r>
              <a:rPr lang="en-US" b="1" dirty="0" smtClean="0">
                <a:latin typeface="Arial" pitchFamily="34" charset="0"/>
                <a:cs typeface="Arial" pitchFamily="34" charset="0"/>
              </a:rPr>
              <a:t>Rs. 8 from his margin money which was with the broker and</a:t>
            </a:r>
            <a:br>
              <a:rPr lang="en-US" b="1" dirty="0" smtClean="0">
                <a:latin typeface="Arial" pitchFamily="34" charset="0"/>
                <a:cs typeface="Arial" pitchFamily="34" charset="0"/>
              </a:rPr>
            </a:br>
            <a:r>
              <a:rPr lang="en-US" b="1" dirty="0" smtClean="0">
                <a:latin typeface="Arial" pitchFamily="34" charset="0"/>
                <a:cs typeface="Arial" pitchFamily="34" charset="0"/>
              </a:rPr>
              <a:t>the remaining Rs. 2 will be transferred to the investor’s account.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4750093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200800" cy="3970318"/>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 Therefore the “funding” that goes to the broker to execute derivative deals is called “Margin Funding” or “Margin Money”.</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Just to appreciate that in case of buy/sell of actual stocks</a:t>
            </a:r>
            <a:br>
              <a:rPr lang="en-US" b="1" dirty="0" smtClean="0">
                <a:latin typeface="Arial" pitchFamily="34" charset="0"/>
                <a:cs typeface="Arial" pitchFamily="34" charset="0"/>
              </a:rPr>
            </a:br>
            <a:r>
              <a:rPr lang="en-US" b="1" dirty="0" smtClean="0">
                <a:latin typeface="Arial" pitchFamily="34" charset="0"/>
                <a:cs typeface="Arial" pitchFamily="34" charset="0"/>
              </a:rPr>
              <a:t>(spot trading) instead of derivatives trading, the broker would have needed enough funds to cover the entire cost of the scrip in order to execute a spot deal.</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77377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
        <p:nvSpPr>
          <p:cNvPr id="3" name="TextBox 2"/>
          <p:cNvSpPr txBox="1"/>
          <p:nvPr/>
        </p:nvSpPr>
        <p:spPr>
          <a:xfrm>
            <a:off x="4214810" y="4572008"/>
            <a:ext cx="3708920" cy="129785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 the case of derivative trading, he only needs funds to cover up the margin movements.</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526931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
        <p:nvSpPr>
          <p:cNvPr id="3" name="TextBox 2"/>
          <p:cNvSpPr txBox="1"/>
          <p:nvPr/>
        </p:nvSpPr>
        <p:spPr>
          <a:xfrm>
            <a:off x="857224" y="1142984"/>
            <a:ext cx="7143800"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 hope I have been able to explain to you what ‘margin money’ is all about.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Do give me your feedback about my lessons so that I can work on them and improve them for your better comprehension.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MARGIN MONEY IN DERIVATIVES</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4143372" y="4786322"/>
            <a:ext cx="4176464" cy="1295611"/>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Hope this story succeeded in clarifying the concept of</a:t>
            </a:r>
            <a:br>
              <a:rPr lang="en-US" b="1" dirty="0" smtClean="0">
                <a:latin typeface="Arial" pitchFamily="34" charset="0"/>
                <a:cs typeface="Arial" pitchFamily="34" charset="0"/>
              </a:rPr>
            </a:br>
            <a:r>
              <a:rPr lang="en-US" b="1" dirty="0" smtClean="0">
                <a:latin typeface="Arial" pitchFamily="34" charset="0"/>
                <a:cs typeface="Arial" pitchFamily="34" charset="0"/>
              </a:rPr>
              <a:t>‘Margin Money / Margin Funding’.</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6646930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2021643"/>
            <a:ext cx="3643338" cy="978729"/>
          </a:xfrm>
          <a:prstGeom prst="rect">
            <a:avLst/>
          </a:prstGeom>
          <a:noFill/>
        </p:spPr>
        <p:txBody>
          <a:bodyPr wrap="square" rtlCol="0">
            <a:spAutoFit/>
          </a:bodyPr>
          <a:lstStyle/>
          <a:p>
            <a:pPr marL="342900" indent="-342900">
              <a:lnSpc>
                <a:spcPct val="150000"/>
              </a:lnSpc>
              <a:spcBef>
                <a:spcPct val="20000"/>
              </a:spcBef>
            </a:pPr>
            <a:r>
              <a:rPr lang="en-US" b="1" dirty="0" smtClean="0">
                <a:latin typeface="Arial" pitchFamily="34" charset="0"/>
                <a:cs typeface="Arial" pitchFamily="34" charset="0"/>
              </a:rPr>
              <a:t>Please give us your feedback at </a:t>
            </a:r>
          </a:p>
          <a:p>
            <a:pPr marL="342900" indent="-342900">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2026</TotalTime>
  <Words>655</Words>
  <Application>Microsoft Office PowerPoint</Application>
  <PresentationFormat>On-screen Show (4:3)</PresentationFormat>
  <Paragraphs>53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215</cp:revision>
  <dcterms:created xsi:type="dcterms:W3CDTF">2013-10-22T09:41:31Z</dcterms:created>
  <dcterms:modified xsi:type="dcterms:W3CDTF">2014-09-26T10:28:21Z</dcterms:modified>
</cp:coreProperties>
</file>