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343" r:id="rId3"/>
    <p:sldId id="361" r:id="rId4"/>
    <p:sldId id="362" r:id="rId5"/>
    <p:sldId id="352" r:id="rId6"/>
    <p:sldId id="347" r:id="rId7"/>
    <p:sldId id="324" r:id="rId8"/>
    <p:sldId id="348" r:id="rId9"/>
    <p:sldId id="325" r:id="rId10"/>
    <p:sldId id="349" r:id="rId11"/>
    <p:sldId id="350" r:id="rId12"/>
    <p:sldId id="344" r:id="rId13"/>
    <p:sldId id="345" r:id="rId14"/>
    <p:sldId id="353" r:id="rId15"/>
    <p:sldId id="354" r:id="rId16"/>
    <p:sldId id="355" r:id="rId17"/>
    <p:sldId id="356" r:id="rId18"/>
    <p:sldId id="357" r:id="rId19"/>
    <p:sldId id="358" r:id="rId20"/>
    <p:sldId id="359" r:id="rId21"/>
    <p:sldId id="334" r:id="rId22"/>
    <p:sldId id="351" r:id="rId23"/>
    <p:sldId id="360" r:id="rId24"/>
    <p:sldId id="287"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1" autoAdjust="0"/>
    <p:restoredTop sz="94595" autoAdjust="0"/>
  </p:normalViewPr>
  <p:slideViewPr>
    <p:cSldViewPr>
      <p:cViewPr varScale="1">
        <p:scale>
          <a:sx n="52" d="100"/>
          <a:sy n="52" d="100"/>
        </p:scale>
        <p:origin x="-1651"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33191"/>
            <a:ext cx="4248472" cy="307777"/>
          </a:xfrm>
          <a:prstGeom prst="rect">
            <a:avLst/>
          </a:prstGeom>
          <a:noFill/>
        </p:spPr>
        <p:txBody>
          <a:bodyPr wrap="square" rtlCol="0">
            <a:spAutoFit/>
          </a:bodyPr>
          <a:lstStyle/>
          <a:p>
            <a:pPr algn="ctr"/>
            <a:r>
              <a:rPr lang="en-IN" sz="1400" b="1" dirty="0" smtClean="0">
                <a:solidFill>
                  <a:schemeClr val="bg1"/>
                </a:solidFill>
                <a:latin typeface="Arial" pitchFamily="34" charset="0"/>
                <a:cs typeface="Arial" pitchFamily="34" charset="0"/>
              </a:rPr>
              <a:t>OPTION IN THE REAL MARKET – PUT OPTION</a:t>
            </a:r>
            <a:endParaRPr lang="en-US" sz="14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357290" y="1317484"/>
            <a:ext cx="3429024"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 how a typical </a:t>
            </a:r>
          </a:p>
          <a:p>
            <a:pPr>
              <a:lnSpc>
                <a:spcPct val="150000"/>
              </a:lnSpc>
            </a:pPr>
            <a:r>
              <a:rPr lang="en-US" b="1" dirty="0" smtClean="0">
                <a:latin typeface="Arial" pitchFamily="34" charset="0"/>
                <a:cs typeface="Arial" pitchFamily="34" charset="0"/>
              </a:rPr>
              <a:t>Option Deal is done in the market – </a:t>
            </a:r>
            <a:r>
              <a:rPr lang="en-US" b="1" i="1" dirty="0" smtClean="0">
                <a:latin typeface="Arial" pitchFamily="34" charset="0"/>
                <a:cs typeface="Arial" pitchFamily="34" charset="0"/>
              </a:rPr>
              <a:t>Put Option</a:t>
            </a:r>
          </a:p>
          <a:p>
            <a:pPr>
              <a:lnSpc>
                <a:spcPct val="150000"/>
              </a:lnSpc>
            </a:pPr>
            <a:r>
              <a:rPr lang="en-US" b="1" dirty="0" smtClean="0">
                <a:latin typeface="Arial" pitchFamily="34" charset="0"/>
                <a:cs typeface="Arial" pitchFamily="34" charset="0"/>
              </a:rPr>
              <a:t>–  By Prof. </a:t>
            </a:r>
            <a:r>
              <a:rPr lang="en-US" b="1" i="1" dirty="0" smtClean="0">
                <a:latin typeface="Arial" pitchFamily="34" charset="0"/>
                <a:cs typeface="Arial" pitchFamily="34" charset="0"/>
              </a:rPr>
              <a:t>Simply</a:t>
            </a:r>
            <a:r>
              <a:rPr lang="en-US" b="1" dirty="0" smtClean="0">
                <a:latin typeface="Arial" pitchFamily="34" charset="0"/>
                <a:cs typeface="Arial" pitchFamily="34" charset="0"/>
              </a:rPr>
              <a:t> Simple </a:t>
            </a:r>
            <a:r>
              <a:rPr lang="en-US" b="1" baseline="70000" dirty="0" smtClean="0">
                <a:latin typeface="Arial" pitchFamily="34" charset="0"/>
                <a:cs typeface="Arial" pitchFamily="34" charset="0"/>
              </a:rPr>
              <a:t>TM</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488832" cy="87203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 the stock market there are several participants who are both buyers and sellers…</a:t>
            </a:r>
            <a:endParaRPr lang="en-US" b="1" dirty="0">
              <a:latin typeface="Arial" pitchFamily="34" charset="0"/>
              <a:cs typeface="Arial" pitchFamily="34" charset="0"/>
            </a:endParaRPr>
          </a:p>
        </p:txBody>
      </p:sp>
      <p:pic>
        <p:nvPicPr>
          <p:cNvPr id="5" name="Picture 39" descr="People_"/>
          <p:cNvPicPr>
            <a:picLocks noChangeAspect="1" noChangeArrowheads="1"/>
          </p:cNvPicPr>
          <p:nvPr/>
        </p:nvPicPr>
        <p:blipFill>
          <a:blip r:embed="rId3" cstate="print"/>
          <a:srcRect l="4225" t="7779" b="12828"/>
          <a:stretch>
            <a:fillRect/>
          </a:stretch>
        </p:blipFill>
        <p:spPr bwMode="auto">
          <a:xfrm>
            <a:off x="2357422" y="2043114"/>
            <a:ext cx="4395155" cy="3671902"/>
          </a:xfrm>
          <a:prstGeom prst="rect">
            <a:avLst/>
          </a:prstGeom>
          <a:noFill/>
          <a:ln>
            <a:solidFill>
              <a:srgbClr val="FF0000"/>
            </a:solidFill>
          </a:ln>
          <a:effectLst>
            <a:outerShdw blurRad="152400" dir="10800000" sx="104000" sy="104000" algn="r" rotWithShape="0">
              <a:prstClr val="black">
                <a:alpha val="40000"/>
              </a:prstClr>
            </a:outerShdw>
          </a:effectLst>
          <a:scene3d>
            <a:camera prst="orthographicFront"/>
            <a:lightRig rig="threePt" dir="t"/>
          </a:scene3d>
          <a:sp3d>
            <a:bevelT prst="angle"/>
          </a:sp3d>
        </p:spPr>
      </p:pic>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0108"/>
            <a:ext cx="7488832" cy="872034"/>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A </a:t>
            </a:r>
            <a:r>
              <a:rPr lang="en-US" b="1" dirty="0" smtClean="0">
                <a:solidFill>
                  <a:srgbClr val="0000CC"/>
                </a:solidFill>
                <a:latin typeface="Arial" pitchFamily="34" charset="0"/>
                <a:cs typeface="Arial" pitchFamily="34" charset="0"/>
              </a:rPr>
              <a:t>stock market</a:t>
            </a:r>
            <a:r>
              <a:rPr lang="en-US" b="1" dirty="0" smtClean="0">
                <a:latin typeface="Arial" pitchFamily="34" charset="0"/>
                <a:cs typeface="Arial" pitchFamily="34" charset="0"/>
              </a:rPr>
              <a:t> is a platform</a:t>
            </a:r>
            <a:br>
              <a:rPr lang="en-US" b="1" dirty="0" smtClean="0">
                <a:latin typeface="Arial" pitchFamily="34" charset="0"/>
                <a:cs typeface="Arial" pitchFamily="34" charset="0"/>
              </a:rPr>
            </a:br>
            <a:r>
              <a:rPr lang="en-US" b="1" dirty="0" smtClean="0">
                <a:latin typeface="Arial" pitchFamily="34" charset="0"/>
                <a:cs typeface="Arial" pitchFamily="34" charset="0"/>
              </a:rPr>
              <a:t>where this is free flow of information…</a:t>
            </a:r>
            <a:endParaRPr lang="en-US" b="1" dirty="0">
              <a:latin typeface="Arial" pitchFamily="34" charset="0"/>
              <a:cs typeface="Arial" pitchFamily="34" charset="0"/>
            </a:endParaRPr>
          </a:p>
        </p:txBody>
      </p:sp>
      <p:pic>
        <p:nvPicPr>
          <p:cNvPr id="6" name="Picture 13" descr="india-stock-market1"/>
          <p:cNvPicPr>
            <a:picLocks noChangeAspect="1" noChangeArrowheads="1"/>
          </p:cNvPicPr>
          <p:nvPr/>
        </p:nvPicPr>
        <p:blipFill>
          <a:blip r:embed="rId3" cstate="print"/>
          <a:srcRect/>
          <a:stretch>
            <a:fillRect/>
          </a:stretch>
        </p:blipFill>
        <p:spPr bwMode="auto">
          <a:xfrm>
            <a:off x="2786050" y="2071678"/>
            <a:ext cx="3143272" cy="4191029"/>
          </a:xfrm>
          <a:prstGeom prst="rect">
            <a:avLst/>
          </a:prstGeom>
          <a:noFill/>
          <a:ln>
            <a:solidFill>
              <a:srgbClr val="FFFF00"/>
            </a:solidFill>
          </a:ln>
          <a:effectLst>
            <a:glow rad="101600">
              <a:schemeClr val="accent4">
                <a:satMod val="175000"/>
                <a:alpha val="40000"/>
              </a:schemeClr>
            </a:glow>
          </a:effectLst>
        </p:spPr>
      </p:pic>
      <p:sp>
        <p:nvSpPr>
          <p:cNvPr id="7" name="TextBox 6"/>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2736"/>
            <a:ext cx="7488832" cy="2544094"/>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This is so that the current stock price is known to every participant (buyers and sellers) Any participant trying to extract a higher price will not be able to do so because of the free flow of information which prevents any sort of price arbitrage.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is what we call ‘Price Discovery’.</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2714612" y="1214422"/>
            <a:ext cx="4429156"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Now lets say there is a stock option</a:t>
            </a:r>
            <a:br>
              <a:rPr lang="en-US" b="1" dirty="0" smtClean="0">
                <a:latin typeface="Arial" pitchFamily="34" charset="0"/>
                <a:cs typeface="Arial" pitchFamily="34" charset="0"/>
              </a:rPr>
            </a:br>
            <a:r>
              <a:rPr lang="en-US" b="1" dirty="0" smtClean="0">
                <a:latin typeface="Arial" pitchFamily="34" charset="0"/>
                <a:cs typeface="Arial" pitchFamily="34" charset="0"/>
              </a:rPr>
              <a:t>on stock A, which is currently quoting at Rs.100. And let’s say the option expires after 5 days…</a:t>
            </a:r>
            <a:endParaRPr lang="en-US" b="1" dirty="0">
              <a:latin typeface="Arial" pitchFamily="34" charset="0"/>
              <a:cs typeface="Arial" pitchFamily="34" charset="0"/>
            </a:endParaRP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57991"/>
            <a:ext cx="7488832"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Now let’s say there are two participants “Ram” &amp; “</a:t>
            </a:r>
            <a:r>
              <a:rPr lang="en-US" b="1" dirty="0" err="1" smtClean="0">
                <a:latin typeface="Arial" pitchFamily="34" charset="0"/>
                <a:cs typeface="Arial" pitchFamily="34" charset="0"/>
              </a:rPr>
              <a:t>Shyam</a:t>
            </a:r>
            <a:r>
              <a:rPr lang="en-US" b="1" dirty="0" smtClean="0">
                <a:latin typeface="Arial" pitchFamily="34" charset="0"/>
                <a:cs typeface="Arial" pitchFamily="34" charset="0"/>
              </a:rPr>
              <a:t>”</a:t>
            </a:r>
            <a:br>
              <a:rPr lang="en-US" b="1" dirty="0" smtClean="0">
                <a:latin typeface="Arial" pitchFamily="34" charset="0"/>
                <a:cs typeface="Arial" pitchFamily="34" charset="0"/>
              </a:rPr>
            </a:br>
            <a:r>
              <a:rPr lang="en-US" b="1" dirty="0" smtClean="0">
                <a:latin typeface="Arial" pitchFamily="34" charset="0"/>
                <a:cs typeface="Arial" pitchFamily="34" charset="0"/>
              </a:rPr>
              <a:t>in this market.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Ram is of the view that the stock prices would fall to Rs. 80 in the near future. But Ram does not want to take a risk (i.e. in case the price rises to Rs 120).</a:t>
            </a:r>
            <a:r>
              <a:rPr lang="en-US" b="1" dirty="0" smtClean="0">
                <a:solidFill>
                  <a:srgbClr val="009900"/>
                </a:solidFill>
                <a:latin typeface="Arial" pitchFamily="34" charset="0"/>
                <a:cs typeface="Arial" pitchFamily="34" charset="0"/>
              </a:rPr>
              <a:t> </a:t>
            </a:r>
            <a:endParaRPr lang="en-US" b="1" dirty="0">
              <a:solidFill>
                <a:srgbClr val="009900"/>
              </a:solidFill>
              <a:latin typeface="Arial" pitchFamily="34" charset="0"/>
              <a:cs typeface="Arial" pitchFamily="34" charset="0"/>
            </a:endParaRP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32104835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01266"/>
            <a:ext cx="7888960"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Hence he chooses to ‘buy’ a put option which protects him against any rise in price. For getting this service, he would have to pay a premium to the seller of the option. The seller of the option,</a:t>
            </a:r>
            <a:br>
              <a:rPr lang="en-US" b="1" dirty="0" smtClean="0">
                <a:latin typeface="Arial" pitchFamily="34" charset="0"/>
                <a:cs typeface="Arial" pitchFamily="34" charset="0"/>
              </a:rPr>
            </a:br>
            <a:r>
              <a:rPr lang="en-US" b="1" dirty="0" err="1" smtClean="0">
                <a:latin typeface="Arial" pitchFamily="34" charset="0"/>
                <a:cs typeface="Arial" pitchFamily="34" charset="0"/>
              </a:rPr>
              <a:t>Shyam</a:t>
            </a:r>
            <a:r>
              <a:rPr lang="en-US" b="1" dirty="0" smtClean="0">
                <a:latin typeface="Arial" pitchFamily="34" charset="0"/>
                <a:cs typeface="Arial" pitchFamily="34" charset="0"/>
              </a:rPr>
              <a:t>, on the other hand has a view that the price of the</a:t>
            </a:r>
            <a:br>
              <a:rPr lang="en-US" b="1" dirty="0" smtClean="0">
                <a:latin typeface="Arial" pitchFamily="34" charset="0"/>
                <a:cs typeface="Arial" pitchFamily="34" charset="0"/>
              </a:rPr>
            </a:br>
            <a:r>
              <a:rPr lang="en-US" b="1" dirty="0" smtClean="0">
                <a:latin typeface="Arial" pitchFamily="34" charset="0"/>
                <a:cs typeface="Arial" pitchFamily="34" charset="0"/>
              </a:rPr>
              <a:t>stock will rise.</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1124744"/>
            <a:ext cx="7531770" cy="341632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But what if the contract gives Ram the “option” of (either) </a:t>
            </a:r>
          </a:p>
          <a:p>
            <a:pPr marL="354013" lvl="1" indent="-354013">
              <a:lnSpc>
                <a:spcPct val="150000"/>
              </a:lnSpc>
              <a:buFont typeface="Wingdings" pitchFamily="2" charset="2"/>
              <a:buChar char="§"/>
              <a:tabLst>
                <a:tab pos="354013" algn="l"/>
              </a:tabLst>
            </a:pPr>
            <a:r>
              <a:rPr lang="en-US" b="1" dirty="0" smtClean="0">
                <a:latin typeface="Arial" pitchFamily="34" charset="0"/>
                <a:cs typeface="Arial" pitchFamily="34" charset="0"/>
              </a:rPr>
              <a:t>Selling the stock to </a:t>
            </a:r>
            <a:r>
              <a:rPr lang="en-US" b="1" dirty="0" err="1" smtClean="0">
                <a:latin typeface="Arial" pitchFamily="34" charset="0"/>
                <a:cs typeface="Arial" pitchFamily="34" charset="0"/>
              </a:rPr>
              <a:t>Shyam</a:t>
            </a:r>
            <a:r>
              <a:rPr lang="en-US" b="1" dirty="0" smtClean="0">
                <a:latin typeface="Arial" pitchFamily="34" charset="0"/>
                <a:cs typeface="Arial" pitchFamily="34" charset="0"/>
              </a:rPr>
              <a:t> at the pre-agreed price of </a:t>
            </a:r>
            <a:br>
              <a:rPr lang="en-US" b="1" dirty="0" smtClean="0">
                <a:latin typeface="Arial" pitchFamily="34" charset="0"/>
                <a:cs typeface="Arial" pitchFamily="34" charset="0"/>
              </a:rPr>
            </a:br>
            <a:r>
              <a:rPr lang="en-US" b="1" dirty="0" smtClean="0">
                <a:latin typeface="Arial" pitchFamily="34" charset="0"/>
                <a:cs typeface="Arial" pitchFamily="34" charset="0"/>
              </a:rPr>
              <a:t>Rs 100  (or)</a:t>
            </a:r>
          </a:p>
          <a:p>
            <a:pPr marL="354013" lvl="1" indent="-354013">
              <a:lnSpc>
                <a:spcPct val="150000"/>
              </a:lnSpc>
              <a:buFont typeface="Wingdings" pitchFamily="2" charset="2"/>
              <a:buChar char="§"/>
              <a:tabLst>
                <a:tab pos="354013" algn="l"/>
              </a:tabLst>
            </a:pPr>
            <a:endParaRPr lang="en-US" b="1" dirty="0" smtClean="0">
              <a:latin typeface="Arial" pitchFamily="34" charset="0"/>
              <a:cs typeface="Arial" pitchFamily="34" charset="0"/>
            </a:endParaRPr>
          </a:p>
          <a:p>
            <a:pPr marL="354013" lvl="1" indent="-354013">
              <a:lnSpc>
                <a:spcPct val="150000"/>
              </a:lnSpc>
              <a:buFont typeface="Wingdings" pitchFamily="2" charset="2"/>
              <a:buChar char="§"/>
              <a:tabLst>
                <a:tab pos="354013" algn="l"/>
              </a:tabLst>
            </a:pPr>
            <a:r>
              <a:rPr lang="en-US" b="1" dirty="0" smtClean="0">
                <a:latin typeface="Arial" pitchFamily="34" charset="0"/>
                <a:cs typeface="Arial" pitchFamily="34" charset="0"/>
              </a:rPr>
              <a:t>Choosing to exit the contract </a:t>
            </a:r>
          </a:p>
          <a:p>
            <a:pPr marL="0" lvl="1">
              <a:lnSpc>
                <a:spcPct val="150000"/>
              </a:lnSpc>
              <a:buFontTx/>
              <a:buNone/>
            </a:pPr>
            <a:endParaRPr lang="en-US" b="1" dirty="0" smtClean="0">
              <a:latin typeface="Arial" pitchFamily="34" charset="0"/>
              <a:cs typeface="Arial" pitchFamily="34" charset="0"/>
            </a:endParaRPr>
          </a:p>
          <a:p>
            <a:pPr marL="354013" lvl="1" indent="-354013">
              <a:lnSpc>
                <a:spcPct val="150000"/>
              </a:lnSpc>
              <a:buFontTx/>
              <a:buNone/>
              <a:tabLst>
                <a:tab pos="354013" algn="l"/>
              </a:tabLst>
            </a:pPr>
            <a:r>
              <a:rPr lang="en-US" b="1" dirty="0" smtClean="0">
                <a:latin typeface="Arial" pitchFamily="34" charset="0"/>
                <a:cs typeface="Arial" pitchFamily="34" charset="0"/>
              </a:rPr>
              <a:t>	In other words, Ram is given the option of not honoring the contract made with </a:t>
            </a:r>
            <a:r>
              <a:rPr lang="en-US" b="1" dirty="0" err="1" smtClean="0">
                <a:latin typeface="Arial" pitchFamily="34" charset="0"/>
                <a:cs typeface="Arial" pitchFamily="34" charset="0"/>
              </a:rPr>
              <a:t>Shyam</a:t>
            </a:r>
            <a:r>
              <a:rPr lang="en-US" b="1" dirty="0" smtClean="0">
                <a:latin typeface="Arial" pitchFamily="34" charset="0"/>
                <a:cs typeface="Arial" pitchFamily="34" charset="0"/>
              </a:rPr>
              <a:t> on the date of settlement.  </a:t>
            </a:r>
            <a:endParaRPr lang="en-US" b="1" dirty="0">
              <a:latin typeface="Arial" pitchFamily="34" charset="0"/>
              <a:cs typeface="Arial" pitchFamily="34" charset="0"/>
            </a:endParaRPr>
          </a:p>
        </p:txBody>
      </p:sp>
      <p:sp>
        <p:nvSpPr>
          <p:cNvPr id="7" name="TextBox 6"/>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27512652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488903"/>
            <a:ext cx="3429024"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Such a contract is called a</a:t>
            </a:r>
            <a:br>
              <a:rPr lang="en-US" b="1" dirty="0" smtClean="0">
                <a:latin typeface="Arial" pitchFamily="34" charset="0"/>
                <a:cs typeface="Arial" pitchFamily="34" charset="0"/>
              </a:rPr>
            </a:br>
            <a:r>
              <a:rPr lang="en-US" b="1" dirty="0" smtClean="0">
                <a:latin typeface="Arial" pitchFamily="34" charset="0"/>
                <a:cs typeface="Arial" pitchFamily="34" charset="0"/>
              </a:rPr>
              <a:t>Futures </a:t>
            </a:r>
            <a:r>
              <a:rPr lang="en-US" b="1" dirty="0" smtClean="0">
                <a:latin typeface="Arial" pitchFamily="34" charset="0"/>
                <a:cs typeface="Arial" pitchFamily="34" charset="0"/>
              </a:rPr>
              <a:t>contract.</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857488" y="1142984"/>
            <a:ext cx="4143404" cy="17030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In a Futures contract both parties are obliged to honor the contract and there is no escape route for either party</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124744"/>
            <a:ext cx="7200800" cy="3330399"/>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 </a:t>
            </a:r>
            <a:r>
              <a:rPr lang="en-US" b="1" i="1" dirty="0" smtClean="0">
                <a:solidFill>
                  <a:srgbClr val="0000CC"/>
                </a:solidFill>
                <a:latin typeface="Arial" pitchFamily="34" charset="0"/>
                <a:cs typeface="Arial" pitchFamily="34" charset="0"/>
              </a:rPr>
              <a:t>Such a contract which gives the farmer the option of either executing the contract or exiting it is known as an “Options” contract</a:t>
            </a:r>
          </a:p>
          <a:p>
            <a:pPr>
              <a:lnSpc>
                <a:spcPct val="200000"/>
              </a:lnSpc>
            </a:pPr>
            <a:endParaRPr lang="en-US" b="1" dirty="0" smtClean="0">
              <a:latin typeface="Arial" pitchFamily="34" charset="0"/>
              <a:cs typeface="Arial" pitchFamily="34" charset="0"/>
            </a:endParaRPr>
          </a:p>
          <a:p>
            <a:pPr>
              <a:lnSpc>
                <a:spcPct val="200000"/>
              </a:lnSpc>
            </a:pPr>
            <a:r>
              <a:rPr lang="en-US" b="1" dirty="0" smtClean="0">
                <a:latin typeface="Arial" pitchFamily="34" charset="0"/>
                <a:cs typeface="Arial" pitchFamily="34" charset="0"/>
              </a:rPr>
              <a:t>But the farmer obviously cannot get this privilege just like that. He obviously has to pay a premium for exercising this facility</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475009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843742"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Now, let’s say that after 3 months the price of wheat reaches Rs. 120</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In this case the farmer quite obviously will want to exit the</a:t>
            </a:r>
            <a:br>
              <a:rPr lang="en-US" b="1" dirty="0" smtClean="0">
                <a:latin typeface="Arial" pitchFamily="34" charset="0"/>
                <a:cs typeface="Arial" pitchFamily="34" charset="0"/>
              </a:rPr>
            </a:br>
            <a:r>
              <a:rPr lang="en-US" b="1" dirty="0" smtClean="0">
                <a:latin typeface="Arial" pitchFamily="34" charset="0"/>
                <a:cs typeface="Arial" pitchFamily="34" charset="0"/>
              </a:rPr>
              <a:t>contract so that he is free to sell his produce in the open market for Rs. 120. Thus while the farmer gets away the bread manufacturer is left high and dry and has no other option but to buy from the open market at Rs 120</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19773779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843742" cy="4108817"/>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But it is not such a bad situation for the bread manufacturer as it appears as he gets compensated by the farmer for having been a party to the “Options” contract. </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compensation * in the form of price is called the</a:t>
            </a:r>
            <a:br>
              <a:rPr lang="en-US" b="1" dirty="0" smtClean="0">
                <a:latin typeface="Arial" pitchFamily="34" charset="0"/>
                <a:cs typeface="Arial" pitchFamily="34" charset="0"/>
              </a:rPr>
            </a:br>
            <a:r>
              <a:rPr lang="en-US" b="1" dirty="0" smtClean="0">
                <a:latin typeface="Arial" pitchFamily="34" charset="0"/>
                <a:cs typeface="Arial" pitchFamily="34" charset="0"/>
              </a:rPr>
              <a:t>“Option premium” that the farmer has to pay for the Options</a:t>
            </a:r>
            <a:br>
              <a:rPr lang="en-US" b="1" dirty="0" smtClean="0">
                <a:latin typeface="Arial" pitchFamily="34" charset="0"/>
                <a:cs typeface="Arial" pitchFamily="34" charset="0"/>
              </a:rPr>
            </a:br>
            <a:r>
              <a:rPr lang="en-US" b="1" dirty="0" smtClean="0">
                <a:latin typeface="Arial" pitchFamily="34" charset="0"/>
                <a:cs typeface="Arial" pitchFamily="34" charset="0"/>
              </a:rPr>
              <a:t>contract and quite evidently it would be a small amount.</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say in our case the amount is Rs 2. So the farmer is obliged to pay the bread manufacturer Rs 2 as he has chosen to opt out of the contract.</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83181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Thus although the bread manufacturer has no other option left but to go to the open market and purchase wheat at Rs. 120,</a:t>
            </a:r>
            <a:br>
              <a:rPr lang="en-US" b="1" dirty="0" smtClean="0">
                <a:latin typeface="Arial" pitchFamily="34" charset="0"/>
                <a:cs typeface="Arial" pitchFamily="34" charset="0"/>
              </a:rPr>
            </a:br>
            <a:r>
              <a:rPr lang="en-US" b="1" dirty="0" smtClean="0">
                <a:latin typeface="Arial" pitchFamily="34" charset="0"/>
                <a:cs typeface="Arial" pitchFamily="34" charset="0"/>
              </a:rPr>
              <a:t>he does get the benefit of  Rs 2 as compensation for being a</a:t>
            </a:r>
            <a:br>
              <a:rPr lang="en-US" b="1" dirty="0" smtClean="0">
                <a:latin typeface="Arial" pitchFamily="34" charset="0"/>
                <a:cs typeface="Arial" pitchFamily="34" charset="0"/>
              </a:rPr>
            </a:br>
            <a:r>
              <a:rPr lang="en-US" b="1" dirty="0" smtClean="0">
                <a:latin typeface="Arial" pitchFamily="34" charset="0"/>
                <a:cs typeface="Arial" pitchFamily="34" charset="0"/>
              </a:rPr>
              <a:t>party to the “Options”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So even if the price is Rs. 120 in the open market, for him</a:t>
            </a:r>
            <a:br>
              <a:rPr lang="en-US" b="1" dirty="0" smtClean="0">
                <a:latin typeface="Arial" pitchFamily="34" charset="0"/>
                <a:cs typeface="Arial" pitchFamily="34" charset="0"/>
              </a:rPr>
            </a:br>
            <a:r>
              <a:rPr lang="en-US" b="1" dirty="0" smtClean="0">
                <a:latin typeface="Arial" pitchFamily="34" charset="0"/>
                <a:cs typeface="Arial" pitchFamily="34" charset="0"/>
              </a:rPr>
              <a:t>the effective price turns out to be Rs. (120 -2) = Rs 118. </a:t>
            </a:r>
          </a:p>
          <a:p>
            <a:pPr>
              <a:lnSpc>
                <a:spcPct val="150000"/>
              </a:lnSpc>
            </a:pPr>
            <a:r>
              <a:rPr lang="en-US" b="1" dirty="0" smtClean="0">
                <a:latin typeface="Arial" pitchFamily="34" charset="0"/>
                <a:cs typeface="Arial" pitchFamily="34" charset="0"/>
              </a:rPr>
              <a:t>So by simply participating in the contract he too stands </a:t>
            </a:r>
            <a:r>
              <a:rPr lang="en-US" b="1" dirty="0" err="1" smtClean="0">
                <a:latin typeface="Arial" pitchFamily="34" charset="0"/>
                <a:cs typeface="Arial" pitchFamily="34" charset="0"/>
              </a:rPr>
              <a:t>togain</a:t>
            </a:r>
            <a:r>
              <a:rPr lang="en-US" b="1" dirty="0" smtClean="0">
                <a:latin typeface="Arial" pitchFamily="34" charset="0"/>
                <a:cs typeface="Arial" pitchFamily="34" charset="0"/>
              </a:rPr>
              <a:t> something</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As far as the farmer is concerned it is a win – win scenario for him by participating in the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Had the prices fallen to Rs 90 as he had anticipated he would have executed the Options contract. But since prices rose to Rs 120 he chose to exit the contract. Thus he is blessed with the “Option”</a:t>
            </a:r>
            <a:br>
              <a:rPr lang="en-US" b="1" dirty="0" smtClean="0">
                <a:latin typeface="Arial" pitchFamily="34" charset="0"/>
                <a:cs typeface="Arial" pitchFamily="34" charset="0"/>
              </a:rPr>
            </a:br>
            <a:r>
              <a:rPr lang="en-US" b="1" dirty="0" smtClean="0">
                <a:latin typeface="Arial" pitchFamily="34" charset="0"/>
                <a:cs typeface="Arial" pitchFamily="34" charset="0"/>
              </a:rPr>
              <a:t>by signing such a contract.</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4108817"/>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It is important to understand that in an “Options” contract only one party gets the privilege to exercise the option while the other party is obliged to honor the option chosen. </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Thus in our case the farmer has the option to either execute or exit the contract whereas the bread manufacturer is obliged to honor the decision of the farmer.</a:t>
            </a:r>
          </a:p>
          <a:p>
            <a:pPr>
              <a:lnSpc>
                <a:spcPct val="150000"/>
              </a:lnSpc>
            </a:pPr>
            <a:endParaRPr lang="en-US" sz="600"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 A contract such as this where only the seller of the commodity gets the option to either exercise or exit the contract is known as “Put” option.</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00364" y="1225904"/>
            <a:ext cx="3857652"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There is another option which is called a “Call” </a:t>
            </a:r>
            <a:r>
              <a:rPr lang="en-US" b="1" dirty="0" smtClean="0">
                <a:latin typeface="Arial" pitchFamily="34" charset="0"/>
                <a:cs typeface="Arial" pitchFamily="34" charset="0"/>
              </a:rPr>
              <a:t>option</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000108"/>
            <a:ext cx="7415114" cy="3780522"/>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Even in an Options contract both parties land up achieving their goals and their interest is protected</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farmer stands to gain the most by getting to exercise a choice that benefits him the most</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bread manufacturer too benefits by being a party to the contract due to the compensation he receives from the farmer for not honoring the contract.</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28786" y="1116299"/>
            <a:ext cx="7057924" cy="2169825"/>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The bread manufacturer due to the compensation receives wheat from the open market at an effective price of Rs 118 </a:t>
            </a:r>
            <a:br>
              <a:rPr lang="en-US" b="1" dirty="0" smtClean="0">
                <a:latin typeface="Arial" pitchFamily="34" charset="0"/>
                <a:cs typeface="Arial" pitchFamily="34" charset="0"/>
              </a:rPr>
            </a:b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And hence is better off than the ordinary or spot buyer who would have to pay Rs 120.</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4720732" y="2357430"/>
            <a:ext cx="3708920" cy="3831818"/>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 Thus in a sense both parties landed up getting some gains by being parties to the</a:t>
            </a:r>
            <a:br>
              <a:rPr lang="en-US" b="1" dirty="0" smtClean="0">
                <a:latin typeface="Arial" pitchFamily="34" charset="0"/>
                <a:cs typeface="Arial" pitchFamily="34" charset="0"/>
              </a:rPr>
            </a:br>
            <a:r>
              <a:rPr lang="en-US" b="1" dirty="0" smtClean="0">
                <a:latin typeface="Arial" pitchFamily="34" charset="0"/>
                <a:cs typeface="Arial" pitchFamily="34" charset="0"/>
              </a:rPr>
              <a:t>“options contract”. </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However unlike in a “Futures” contract, in the “Options” contract one party gains more than the other party.</a:t>
            </a:r>
            <a:endParaRPr lang="en-US" b="1" dirty="0">
              <a:latin typeface="Arial" pitchFamily="34" charset="0"/>
              <a:cs typeface="Arial" pitchFamily="34" charset="0"/>
            </a:endParaRPr>
          </a:p>
        </p:txBody>
      </p:sp>
      <p:sp>
        <p:nvSpPr>
          <p:cNvPr id="6" name="TextBox 5"/>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xmlns="" val="29526931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143800" cy="2534027"/>
          </a:xfrm>
          <a:prstGeom prst="rect">
            <a:avLst/>
          </a:prstGeom>
          <a:noFill/>
        </p:spPr>
        <p:txBody>
          <a:bodyPr wrap="square" rtlCol="0">
            <a:spAutoFit/>
          </a:bodyPr>
          <a:lstStyle/>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I hope I have been able to explain to you what ‘margin money’ is all about.</a:t>
            </a:r>
          </a:p>
          <a:p>
            <a:pPr marL="354013" indent="-354013">
              <a:lnSpc>
                <a:spcPct val="150000"/>
              </a:lnSpc>
              <a:buFont typeface="Wingdings" pitchFamily="2" charset="2"/>
              <a:buChar char="q"/>
              <a:tabLst>
                <a:tab pos="354013" algn="l"/>
              </a:tabLst>
            </a:pPr>
            <a:endParaRPr lang="en-US" b="1" dirty="0" smtClean="0">
              <a:latin typeface="Arial" pitchFamily="34" charset="0"/>
              <a:cs typeface="Arial" pitchFamily="34" charset="0"/>
            </a:endParaRPr>
          </a:p>
          <a:p>
            <a:pPr marL="354013" indent="-354013">
              <a:lnSpc>
                <a:spcPct val="150000"/>
              </a:lnSpc>
              <a:buFont typeface="Wingdings" pitchFamily="2" charset="2"/>
              <a:buChar char="q"/>
              <a:tabLst>
                <a:tab pos="354013" algn="l"/>
              </a:tabLst>
            </a:pPr>
            <a:r>
              <a:rPr lang="en-US" b="1" dirty="0" smtClean="0">
                <a:latin typeface="Arial" pitchFamily="34" charset="0"/>
                <a:cs typeface="Arial" pitchFamily="34" charset="0"/>
              </a:rPr>
              <a:t>Do give me your feedback about my lessons so that I can work on them and improve them for your better comprehension.</a:t>
            </a:r>
            <a:endParaRPr lang="en-US" b="1" dirty="0">
              <a:latin typeface="Arial" pitchFamily="34" charset="0"/>
              <a:cs typeface="Arial" pitchFamily="34" charset="0"/>
            </a:endParaRPr>
          </a:p>
        </p:txBody>
      </p:sp>
      <p:sp>
        <p:nvSpPr>
          <p:cNvPr id="7" name="TextBox 6"/>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3071802" y="1071546"/>
            <a:ext cx="3857652" cy="2169825"/>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Please do let me know if I have managed to clear this concept</a:t>
            </a:r>
            <a:br>
              <a:rPr lang="en-US" b="1" dirty="0" smtClean="0">
                <a:latin typeface="Arial" pitchFamily="34" charset="0"/>
                <a:cs typeface="Arial" pitchFamily="34" charset="0"/>
              </a:rPr>
            </a:br>
            <a:r>
              <a:rPr lang="en-US" b="1" dirty="0" smtClean="0">
                <a:latin typeface="Arial" pitchFamily="34" charset="0"/>
                <a:cs typeface="Arial" pitchFamily="34" charset="0"/>
              </a:rPr>
              <a:t>for you. Your feedback is very important to me as it helps me plan my future lessons. </a:t>
            </a:r>
            <a:endParaRPr lang="en-US" b="1" dirty="0">
              <a:latin typeface="Arial" pitchFamily="34" charset="0"/>
              <a:cs typeface="Arial" pitchFamily="34" charset="0"/>
            </a:endParaRPr>
          </a:p>
        </p:txBody>
      </p:sp>
      <p:sp>
        <p:nvSpPr>
          <p:cNvPr id="5" name="TextBox 4"/>
          <p:cNvSpPr txBox="1"/>
          <p:nvPr/>
        </p:nvSpPr>
        <p:spPr>
          <a:xfrm>
            <a:off x="755576" y="476672"/>
            <a:ext cx="7128792" cy="400110"/>
          </a:xfrm>
          <a:prstGeom prst="rect">
            <a:avLst/>
          </a:prstGeom>
          <a:noFill/>
        </p:spPr>
        <p:txBody>
          <a:bodyPr wrap="square" rtlCol="0">
            <a:spAutoFit/>
          </a:bodyPr>
          <a:lstStyle/>
          <a:p>
            <a:pPr algn="ctr"/>
            <a:r>
              <a:rPr lang="en-IN" sz="2000" b="1" dirty="0">
                <a:solidFill>
                  <a:schemeClr val="bg1"/>
                </a:solidFill>
                <a:latin typeface="Arial" pitchFamily="34" charset="0"/>
                <a:cs typeface="Arial" pitchFamily="34" charset="0"/>
              </a:rPr>
              <a:t>OPTION IN THE REAL MARKET – PUT OPTION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14414" y="2021643"/>
            <a:ext cx="3643338" cy="935769"/>
          </a:xfrm>
          <a:prstGeom prst="rect">
            <a:avLst/>
          </a:prstGeom>
          <a:noFill/>
        </p:spPr>
        <p:txBody>
          <a:bodyPr wrap="square" rtlCol="0">
            <a:spAutoFit/>
          </a:bodyPr>
          <a:lstStyle/>
          <a:p>
            <a:pPr marL="342900" indent="-342900">
              <a:lnSpc>
                <a:spcPct val="150000"/>
              </a:lnSpc>
              <a:spcBef>
                <a:spcPct val="20000"/>
              </a:spcBef>
            </a:pPr>
            <a:r>
              <a:rPr lang="en-US" b="1" dirty="0" smtClean="0">
                <a:latin typeface="Arial" pitchFamily="34" charset="0"/>
                <a:cs typeface="Arial" pitchFamily="34" charset="0"/>
              </a:rPr>
              <a:t>Please give your feedback at </a:t>
            </a:r>
          </a:p>
          <a:p>
            <a:pPr marL="342900" indent="-342900">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2172</TotalTime>
  <Words>996</Words>
  <Application>Microsoft Office PowerPoint</Application>
  <PresentationFormat>On-screen Show (4:3)</PresentationFormat>
  <Paragraphs>85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245</cp:revision>
  <dcterms:created xsi:type="dcterms:W3CDTF">2013-10-22T09:41:31Z</dcterms:created>
  <dcterms:modified xsi:type="dcterms:W3CDTF">2014-09-26T10:31:33Z</dcterms:modified>
</cp:coreProperties>
</file>