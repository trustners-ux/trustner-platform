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94" r:id="rId3"/>
    <p:sldId id="336" r:id="rId4"/>
    <p:sldId id="324" r:id="rId5"/>
    <p:sldId id="340" r:id="rId6"/>
    <p:sldId id="323" r:id="rId7"/>
    <p:sldId id="341" r:id="rId8"/>
    <p:sldId id="316" r:id="rId9"/>
    <p:sldId id="332" r:id="rId10"/>
    <p:sldId id="335" r:id="rId11"/>
    <p:sldId id="326" r:id="rId12"/>
    <p:sldId id="343" r:id="rId13"/>
    <p:sldId id="344" r:id="rId14"/>
    <p:sldId id="325" r:id="rId15"/>
    <p:sldId id="327" r:id="rId16"/>
    <p:sldId id="334" r:id="rId17"/>
    <p:sldId id="287"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91" autoAdjust="0"/>
    <p:restoredTop sz="94595" autoAdjust="0"/>
  </p:normalViewPr>
  <p:slideViewPr>
    <p:cSldViewPr>
      <p:cViewPr>
        <p:scale>
          <a:sx n="50" d="100"/>
          <a:sy n="50" d="100"/>
        </p:scale>
        <p:origin x="-1699" y="-12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FUTURES CONTRACT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619672" y="2420888"/>
            <a:ext cx="2520280" cy="452432"/>
          </a:xfrm>
          <a:prstGeom prst="rect">
            <a:avLst/>
          </a:prstGeom>
          <a:noFill/>
        </p:spPr>
        <p:txBody>
          <a:bodyPr wrap="square" rtlCol="0">
            <a:spAutoFit/>
          </a:bodyPr>
          <a:lstStyle/>
          <a:p>
            <a:pPr>
              <a:lnSpc>
                <a:spcPct val="130000"/>
              </a:lnSpc>
            </a:pPr>
            <a:r>
              <a:rPr lang="en-US" b="1" dirty="0">
                <a:latin typeface="Arial" pitchFamily="34" charset="0"/>
                <a:cs typeface="Arial" pitchFamily="34" charset="0"/>
              </a:rPr>
              <a:t>Presenting “Futures”</a:t>
            </a:r>
            <a:endParaRPr lang="en-US" b="1" baseline="70000" dirty="0">
              <a:latin typeface="Arial" pitchFamily="34" charset="0"/>
              <a:cs typeface="Arial" pitchFamily="34" charset="0"/>
            </a:endParaRPr>
          </a:p>
        </p:txBody>
      </p:sp>
    </p:spTree>
    <p:extLst>
      <p:ext uri="{BB962C8B-B14F-4D97-AF65-F5344CB8AC3E}">
        <p14:creationId xmlns="" xmlns:p14="http://schemas.microsoft.com/office/powerpoint/2010/main"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3062682" y="1628800"/>
            <a:ext cx="3741566" cy="615553"/>
          </a:xfrm>
          <a:prstGeom prst="rect">
            <a:avLst/>
          </a:prstGeom>
          <a:noFill/>
        </p:spPr>
        <p:txBody>
          <a:bodyPr wrap="square" rtlCol="0">
            <a:spAutoFit/>
          </a:bodyPr>
          <a:lstStyle/>
          <a:p>
            <a:r>
              <a:rPr lang="en-US" sz="1700" b="1" dirty="0">
                <a:latin typeface="Arial" pitchFamily="34" charset="0"/>
                <a:cs typeface="Arial" pitchFamily="34" charset="0"/>
              </a:rPr>
              <a:t>One of the most exotic terms in trading is “Futures”. </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spTree>
    <p:extLst>
      <p:ext uri="{BB962C8B-B14F-4D97-AF65-F5344CB8AC3E}">
        <p14:creationId xmlns="" xmlns:p14="http://schemas.microsoft.com/office/powerpoint/2010/main" val="28844991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12115"/>
            <a:ext cx="7416824" cy="369332"/>
          </a:xfrm>
          <a:prstGeom prst="rect">
            <a:avLst/>
          </a:prstGeom>
          <a:noFill/>
        </p:spPr>
        <p:txBody>
          <a:bodyPr wrap="square" rtlCol="0">
            <a:spAutoFit/>
          </a:bodyPr>
          <a:lstStyle/>
          <a:p>
            <a:pPr algn="ctr"/>
            <a:r>
              <a:rPr lang="en-US" b="1" dirty="0">
                <a:latin typeface="Arial" pitchFamily="34" charset="0"/>
                <a:cs typeface="Arial" pitchFamily="34" charset="0"/>
              </a:rPr>
              <a:t>Let’s say there’s is a farmer who cultivates wheat</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pic>
        <p:nvPicPr>
          <p:cNvPr id="5" name="Picture 4" descr="Farmer"/>
          <p:cNvPicPr>
            <a:picLocks noChangeAspect="1" noChangeArrowheads="1" noCrop="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577480" y="1856769"/>
            <a:ext cx="4648200" cy="4316413"/>
          </a:xfrm>
          <a:prstGeom prst="rect">
            <a:avLst/>
          </a:prstGeom>
          <a:noFill/>
          <a:effectLst>
            <a:outerShdw blurRad="76200" dir="13500000" sx="97000" sy="97000" kx="1200000" algn="br" rotWithShape="0">
              <a:prstClr val="black">
                <a:alpha val="20000"/>
              </a:prstClr>
            </a:outerShdw>
          </a:effectLst>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2104835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12115"/>
            <a:ext cx="7416824" cy="923330"/>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And a </a:t>
            </a:r>
            <a:r>
              <a:rPr lang="en-US" b="1" dirty="0" smtClean="0">
                <a:latin typeface="Arial" pitchFamily="34" charset="0"/>
                <a:cs typeface="Arial" pitchFamily="34" charset="0"/>
              </a:rPr>
              <a:t>baker who needs</a:t>
            </a:r>
            <a:br>
              <a:rPr lang="en-US" b="1" dirty="0" smtClean="0">
                <a:latin typeface="Arial" pitchFamily="34" charset="0"/>
                <a:cs typeface="Arial" pitchFamily="34" charset="0"/>
              </a:rPr>
            </a:br>
            <a:r>
              <a:rPr lang="en-US" b="1" dirty="0" smtClean="0">
                <a:latin typeface="Arial" pitchFamily="34" charset="0"/>
                <a:cs typeface="Arial" pitchFamily="34" charset="0"/>
              </a:rPr>
              <a:t>wheat </a:t>
            </a:r>
            <a:r>
              <a:rPr lang="en-US" b="1" dirty="0">
                <a:latin typeface="Arial" pitchFamily="34" charset="0"/>
                <a:cs typeface="Arial" pitchFamily="34" charset="0"/>
              </a:rPr>
              <a:t>as an input for making bread</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pic>
        <p:nvPicPr>
          <p:cNvPr id="6" name="Picture 4" descr="Baker"/>
          <p:cNvPicPr>
            <a:picLocks noChangeAspect="1" noChangeArrowheads="1"/>
          </p:cNvPicPr>
          <p:nvPr/>
        </p:nvPicPr>
        <p:blipFill>
          <a:blip r:embed="rId3" cstate="print">
            <a:extLst>
              <a:ext uri="{28A0092B-C50C-407E-A947-70E740481C1C}">
                <a14:useLocalDpi xmlns="" xmlns:a14="http://schemas.microsoft.com/office/drawing/2010/main" val="0"/>
              </a:ext>
            </a:extLst>
          </a:blip>
          <a:srcRect b="48099"/>
          <a:stretch>
            <a:fillRect/>
          </a:stretch>
        </p:blipFill>
        <p:spPr bwMode="auto">
          <a:xfrm>
            <a:off x="2125153" y="1988841"/>
            <a:ext cx="4533654" cy="3330428"/>
          </a:xfrm>
          <a:prstGeom prst="rect">
            <a:avLst/>
          </a:prstGeom>
          <a:noFill/>
          <a:effectLst>
            <a:reflection blurRad="6350" stA="52000" endA="300" endPos="35000" dir="5400000" sy="-100000" algn="bl" rotWithShape="0"/>
          </a:effectLst>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1132758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sp>
        <p:nvSpPr>
          <p:cNvPr id="5" name="Rectangle 4"/>
          <p:cNvSpPr/>
          <p:nvPr/>
        </p:nvSpPr>
        <p:spPr>
          <a:xfrm>
            <a:off x="755576" y="1052736"/>
            <a:ext cx="7272808" cy="2308324"/>
          </a:xfrm>
          <a:prstGeom prst="rect">
            <a:avLst/>
          </a:prstGeom>
        </p:spPr>
        <p:txBody>
          <a:bodyPr wrap="square">
            <a:spAutoFit/>
          </a:bodyPr>
          <a:lstStyle/>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The farmer thinks that the price of wheat which is currently trading at </a:t>
            </a:r>
            <a:r>
              <a:rPr lang="en-US" b="1" dirty="0" err="1">
                <a:latin typeface="Arial" pitchFamily="34" charset="0"/>
                <a:cs typeface="Arial" pitchFamily="34" charset="0"/>
              </a:rPr>
              <a:t>Rs</a:t>
            </a:r>
            <a:r>
              <a:rPr lang="en-US" b="1" dirty="0">
                <a:latin typeface="Arial" pitchFamily="34" charset="0"/>
                <a:cs typeface="Arial" pitchFamily="34" charset="0"/>
              </a:rPr>
              <a:t>. 100 could fall to </a:t>
            </a:r>
            <a:r>
              <a:rPr lang="en-US" b="1" dirty="0" err="1">
                <a:latin typeface="Arial" pitchFamily="34" charset="0"/>
                <a:cs typeface="Arial" pitchFamily="34" charset="0"/>
              </a:rPr>
              <a:t>Rs</a:t>
            </a:r>
            <a:r>
              <a:rPr lang="en-US" b="1" dirty="0">
                <a:latin typeface="Arial" pitchFamily="34" charset="0"/>
                <a:cs typeface="Arial" pitchFamily="34" charset="0"/>
              </a:rPr>
              <a:t>. 90 in 3 months</a:t>
            </a:r>
            <a:r>
              <a:rPr lang="en-US"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The </a:t>
            </a:r>
            <a:r>
              <a:rPr lang="en-US" b="1" dirty="0" smtClean="0">
                <a:latin typeface="Arial" pitchFamily="34" charset="0"/>
                <a:cs typeface="Arial" pitchFamily="34" charset="0"/>
              </a:rPr>
              <a:t>baker </a:t>
            </a:r>
            <a:r>
              <a:rPr lang="en-US" b="1" dirty="0" smtClean="0">
                <a:latin typeface="Arial" pitchFamily="34" charset="0"/>
                <a:cs typeface="Arial" pitchFamily="34" charset="0"/>
              </a:rPr>
              <a:t>on the other hand feels that the price of wheat on the other hand might become Rs. </a:t>
            </a:r>
            <a:r>
              <a:rPr lang="en-US" b="1" dirty="0" smtClean="0">
                <a:latin typeface="Arial" pitchFamily="34" charset="0"/>
                <a:cs typeface="Arial" pitchFamily="34" charset="0"/>
              </a:rPr>
              <a:t>120 in </a:t>
            </a:r>
            <a:r>
              <a:rPr lang="en-US" b="1" dirty="0" smtClean="0">
                <a:latin typeface="Arial" pitchFamily="34" charset="0"/>
                <a:cs typeface="Arial" pitchFamily="34" charset="0"/>
              </a:rPr>
              <a:t>3 months.</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4186780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sp>
        <p:nvSpPr>
          <p:cNvPr id="4" name="Rectangle 3"/>
          <p:cNvSpPr/>
          <p:nvPr/>
        </p:nvSpPr>
        <p:spPr>
          <a:xfrm>
            <a:off x="755576" y="1052736"/>
            <a:ext cx="7272808" cy="3416320"/>
          </a:xfrm>
          <a:prstGeom prst="rect">
            <a:avLst/>
          </a:prstGeom>
        </p:spPr>
        <p:txBody>
          <a:bodyPr wrap="square">
            <a:spAutoFit/>
          </a:bodyPr>
          <a:lstStyle/>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In such a case both get together and sign a contract which says that at the end of 3 months the farmer would sell wheat to the </a:t>
            </a:r>
            <a:r>
              <a:rPr lang="en-US" b="1" dirty="0" smtClean="0">
                <a:latin typeface="Arial" pitchFamily="34" charset="0"/>
                <a:cs typeface="Arial" pitchFamily="34" charset="0"/>
              </a:rPr>
              <a:t>baker </a:t>
            </a:r>
            <a:r>
              <a:rPr lang="en-US" b="1" dirty="0">
                <a:latin typeface="Arial" pitchFamily="34" charset="0"/>
                <a:cs typeface="Arial" pitchFamily="34" charset="0"/>
              </a:rPr>
              <a:t>at Rs. 110.</a:t>
            </a:r>
            <a:br>
              <a:rPr lang="en-US" b="1" dirty="0">
                <a:latin typeface="Arial" pitchFamily="34" charset="0"/>
                <a:cs typeface="Arial" pitchFamily="34" charset="0"/>
              </a:rPr>
            </a:br>
            <a:r>
              <a:rPr lang="en-US" b="1" dirty="0" smtClean="0">
                <a:latin typeface="Arial" pitchFamily="34" charset="0"/>
                <a:cs typeface="Arial" pitchFamily="34" charset="0"/>
              </a:rPr>
              <a:t>Thus </a:t>
            </a:r>
            <a:r>
              <a:rPr lang="en-US" b="1" dirty="0">
                <a:latin typeface="Arial" pitchFamily="34" charset="0"/>
                <a:cs typeface="Arial" pitchFamily="34" charset="0"/>
              </a:rPr>
              <a:t>the farmer is protected against possible fall in prices</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And </a:t>
            </a:r>
            <a:r>
              <a:rPr lang="en-US" b="1" dirty="0">
                <a:latin typeface="Arial" pitchFamily="34" charset="0"/>
                <a:cs typeface="Arial" pitchFamily="34" charset="0"/>
              </a:rPr>
              <a:t>the </a:t>
            </a:r>
            <a:r>
              <a:rPr lang="en-US" b="1" dirty="0" smtClean="0">
                <a:latin typeface="Arial" pitchFamily="34" charset="0"/>
                <a:cs typeface="Arial" pitchFamily="34" charset="0"/>
              </a:rPr>
              <a:t>baker </a:t>
            </a:r>
            <a:r>
              <a:rPr lang="en-US" b="1" dirty="0">
                <a:latin typeface="Arial" pitchFamily="34" charset="0"/>
                <a:cs typeface="Arial" pitchFamily="34" charset="0"/>
              </a:rPr>
              <a:t>is protected against the price of his input going up beyond Rs. 110</a:t>
            </a:r>
          </a:p>
        </p:txBody>
      </p:sp>
    </p:spTree>
    <p:extLst>
      <p:ext uri="{BB962C8B-B14F-4D97-AF65-F5344CB8AC3E}">
        <p14:creationId xmlns="" xmlns:p14="http://schemas.microsoft.com/office/powerpoint/2010/main" val="41765246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779912" y="4869160"/>
            <a:ext cx="4752528" cy="133882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Such </a:t>
            </a:r>
            <a:r>
              <a:rPr lang="en-US" b="1" dirty="0">
                <a:latin typeface="Arial" pitchFamily="34" charset="0"/>
                <a:cs typeface="Arial" pitchFamily="34" charset="0"/>
              </a:rPr>
              <a:t>a contract is called </a:t>
            </a:r>
            <a:r>
              <a:rPr lang="en-US" b="1" dirty="0" smtClean="0">
                <a:latin typeface="Arial" pitchFamily="34" charset="0"/>
                <a:cs typeface="Arial" pitchFamily="34" charset="0"/>
              </a:rPr>
              <a:t>a “Futures</a:t>
            </a:r>
            <a:r>
              <a:rPr lang="en-US" b="1" dirty="0">
                <a:latin typeface="Arial" pitchFamily="34" charset="0"/>
                <a:cs typeface="Arial" pitchFamily="34" charset="0"/>
              </a:rPr>
              <a:t>” contract because it is a contract </a:t>
            </a:r>
            <a:r>
              <a:rPr lang="en-US" b="1" dirty="0" smtClean="0">
                <a:latin typeface="Arial" pitchFamily="34" charset="0"/>
                <a:cs typeface="Arial" pitchFamily="34" charset="0"/>
              </a:rPr>
              <a:t>that</a:t>
            </a:r>
            <a:br>
              <a:rPr lang="en-US" b="1" dirty="0" smtClean="0">
                <a:latin typeface="Arial" pitchFamily="34" charset="0"/>
                <a:cs typeface="Arial" pitchFamily="34" charset="0"/>
              </a:rPr>
            </a:br>
            <a:r>
              <a:rPr lang="en-US" b="1" dirty="0" smtClean="0">
                <a:latin typeface="Arial" pitchFamily="34" charset="0"/>
                <a:cs typeface="Arial" pitchFamily="34" charset="0"/>
              </a:rPr>
              <a:t>has </a:t>
            </a:r>
            <a:r>
              <a:rPr lang="en-US" b="1" dirty="0">
                <a:latin typeface="Arial" pitchFamily="34" charset="0"/>
                <a:cs typeface="Arial" pitchFamily="34" charset="0"/>
              </a:rPr>
              <a:t>to be </a:t>
            </a:r>
            <a:r>
              <a:rPr lang="en-US" b="1" dirty="0" smtClean="0">
                <a:latin typeface="Arial" pitchFamily="34" charset="0"/>
                <a:cs typeface="Arial" pitchFamily="34" charset="0"/>
              </a:rPr>
              <a:t>executed at </a:t>
            </a:r>
            <a:r>
              <a:rPr lang="en-US" b="1" dirty="0">
                <a:latin typeface="Arial" pitchFamily="34" charset="0"/>
                <a:cs typeface="Arial" pitchFamily="34" charset="0"/>
              </a:rPr>
              <a:t>some future date</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spTree>
    <p:extLst>
      <p:ext uri="{BB962C8B-B14F-4D97-AF65-F5344CB8AC3E}">
        <p14:creationId xmlns="" xmlns:p14="http://schemas.microsoft.com/office/powerpoint/2010/main" val="935328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sp>
        <p:nvSpPr>
          <p:cNvPr id="4" name="Rectangle 3"/>
          <p:cNvSpPr/>
          <p:nvPr/>
        </p:nvSpPr>
        <p:spPr>
          <a:xfrm>
            <a:off x="755576" y="1052736"/>
            <a:ext cx="7272808" cy="3046988"/>
          </a:xfrm>
          <a:prstGeom prst="rect">
            <a:avLst/>
          </a:prstGeom>
        </p:spPr>
        <p:txBody>
          <a:bodyPr wrap="square">
            <a:spAutoFit/>
          </a:bodyPr>
          <a:lstStyle/>
          <a:p>
            <a:pPr>
              <a:lnSpc>
                <a:spcPct val="150000"/>
              </a:lnSpc>
            </a:pPr>
            <a:r>
              <a:rPr lang="en-US" sz="2000" b="1" dirty="0" smtClean="0">
                <a:latin typeface="Arial" pitchFamily="34" charset="0"/>
                <a:cs typeface="Arial" pitchFamily="34" charset="0"/>
              </a:rPr>
              <a:t>Thus </a:t>
            </a:r>
            <a:r>
              <a:rPr lang="en-US" sz="2000" b="1" dirty="0">
                <a:latin typeface="Arial" pitchFamily="34" charset="0"/>
                <a:cs typeface="Arial" pitchFamily="34" charset="0"/>
              </a:rPr>
              <a:t>“</a:t>
            </a:r>
            <a:r>
              <a:rPr lang="en-US" b="1" dirty="0">
                <a:latin typeface="Arial" pitchFamily="34" charset="0"/>
                <a:cs typeface="Arial" pitchFamily="34" charset="0"/>
              </a:rPr>
              <a:t>Futures Trading” is nothing but having a point of view about the  direction of the future price of a </a:t>
            </a:r>
            <a:r>
              <a:rPr lang="en-US" b="1" dirty="0" smtClean="0">
                <a:latin typeface="Arial" pitchFamily="34" charset="0"/>
                <a:cs typeface="Arial" pitchFamily="34" charset="0"/>
              </a:rPr>
              <a:t>commodity/stocks/currency</a:t>
            </a:r>
            <a:r>
              <a:rPr lang="en-US" b="1" dirty="0">
                <a:latin typeface="Arial" pitchFamily="34" charset="0"/>
                <a:cs typeface="Arial" pitchFamily="34" charset="0"/>
              </a:rPr>
              <a:t>.</a:t>
            </a:r>
            <a:br>
              <a:rPr lang="en-US" b="1" dirty="0">
                <a:latin typeface="Arial" pitchFamily="34" charset="0"/>
                <a:cs typeface="Arial" pitchFamily="34" charset="0"/>
              </a:rPr>
            </a:b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And when two parties have opposite views about </a:t>
            </a:r>
            <a:r>
              <a:rPr lang="en-US" b="1" dirty="0" smtClean="0">
                <a:latin typeface="Arial" pitchFamily="34" charset="0"/>
                <a:cs typeface="Arial" pitchFamily="34" charset="0"/>
              </a:rPr>
              <a:t>future</a:t>
            </a:r>
            <a:br>
              <a:rPr lang="en-US" b="1" dirty="0" smtClean="0">
                <a:latin typeface="Arial" pitchFamily="34" charset="0"/>
                <a:cs typeface="Arial" pitchFamily="34" charset="0"/>
              </a:rPr>
            </a:br>
            <a:r>
              <a:rPr lang="en-US" b="1" dirty="0" smtClean="0">
                <a:latin typeface="Arial" pitchFamily="34" charset="0"/>
                <a:cs typeface="Arial" pitchFamily="34" charset="0"/>
              </a:rPr>
              <a:t>price </a:t>
            </a:r>
            <a:r>
              <a:rPr lang="en-US" b="1" dirty="0">
                <a:latin typeface="Arial" pitchFamily="34" charset="0"/>
                <a:cs typeface="Arial" pitchFamily="34" charset="0"/>
              </a:rPr>
              <a:t>movements they obviously are open to sign a </a:t>
            </a:r>
            <a:r>
              <a:rPr lang="en-US" b="1" dirty="0" smtClean="0">
                <a:latin typeface="Arial" pitchFamily="34" charset="0"/>
                <a:cs typeface="Arial" pitchFamily="34" charset="0"/>
              </a:rPr>
              <a:t>mutually</a:t>
            </a:r>
            <a:br>
              <a:rPr lang="en-US" b="1" dirty="0" smtClean="0">
                <a:latin typeface="Arial" pitchFamily="34" charset="0"/>
                <a:cs typeface="Arial" pitchFamily="34" charset="0"/>
              </a:rPr>
            </a:br>
            <a:r>
              <a:rPr lang="en-US" b="1" dirty="0" smtClean="0">
                <a:latin typeface="Arial" pitchFamily="34" charset="0"/>
                <a:cs typeface="Arial" pitchFamily="34" charset="0"/>
              </a:rPr>
              <a:t>beneficial </a:t>
            </a:r>
            <a:r>
              <a:rPr lang="en-US" b="1" dirty="0">
                <a:latin typeface="Arial" pitchFamily="34" charset="0"/>
                <a:cs typeface="Arial" pitchFamily="34" charset="0"/>
              </a:rPr>
              <a:t>deal like the farmer and the </a:t>
            </a:r>
            <a:r>
              <a:rPr lang="en-US" b="1" dirty="0" smtClean="0">
                <a:latin typeface="Arial" pitchFamily="34" charset="0"/>
                <a:cs typeface="Arial" pitchFamily="34" charset="0"/>
              </a:rPr>
              <a:t>baker did in </a:t>
            </a:r>
            <a:r>
              <a:rPr lang="en-US" b="1" dirty="0">
                <a:latin typeface="Arial" pitchFamily="34" charset="0"/>
                <a:cs typeface="Arial" pitchFamily="34" charset="0"/>
              </a:rPr>
              <a:t>our example</a:t>
            </a:r>
          </a:p>
        </p:txBody>
      </p:sp>
    </p:spTree>
    <p:extLst>
      <p:ext uri="{BB962C8B-B14F-4D97-AF65-F5344CB8AC3E}">
        <p14:creationId xmlns="" xmlns:p14="http://schemas.microsoft.com/office/powerpoint/2010/main" val="4816058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50049" y="3861048"/>
            <a:ext cx="4392488" cy="2308324"/>
          </a:xfrm>
          <a:prstGeom prst="rect">
            <a:avLst/>
          </a:prstGeom>
        </p:spPr>
        <p:txBody>
          <a:bodyPr wrap="square">
            <a:spAutoFit/>
          </a:bodyPr>
          <a:lstStyle/>
          <a:p>
            <a:r>
              <a:rPr lang="en-US" b="1" dirty="0" smtClean="0">
                <a:latin typeface="Arial" pitchFamily="34" charset="0"/>
                <a:cs typeface="Arial" pitchFamily="34" charset="0"/>
              </a:rPr>
              <a:t>Now</a:t>
            </a:r>
            <a:r>
              <a:rPr lang="en-US" b="1" dirty="0">
                <a:latin typeface="Arial" pitchFamily="34" charset="0"/>
                <a:cs typeface="Arial" pitchFamily="34" charset="0"/>
              </a:rPr>
              <a:t>, let’s say that after 3 months the price of wheat reaches </a:t>
            </a:r>
            <a:r>
              <a:rPr lang="en-US" b="1" dirty="0" err="1">
                <a:latin typeface="Arial" pitchFamily="34" charset="0"/>
                <a:cs typeface="Arial" pitchFamily="34" charset="0"/>
              </a:rPr>
              <a:t>Rs</a:t>
            </a:r>
            <a:r>
              <a:rPr lang="en-US" b="1" dirty="0">
                <a:latin typeface="Arial" pitchFamily="34" charset="0"/>
                <a:cs typeface="Arial" pitchFamily="34" charset="0"/>
              </a:rPr>
              <a:t> 120</a:t>
            </a:r>
            <a:br>
              <a:rPr lang="en-US" b="1" dirty="0">
                <a:latin typeface="Arial" pitchFamily="34" charset="0"/>
                <a:cs typeface="Arial" pitchFamily="34" charset="0"/>
              </a:rPr>
            </a:br>
            <a:endParaRPr lang="en-US" b="1" dirty="0">
              <a:latin typeface="Arial" pitchFamily="34" charset="0"/>
              <a:cs typeface="Arial" pitchFamily="34" charset="0"/>
            </a:endParaRPr>
          </a:p>
          <a:p>
            <a:r>
              <a:rPr lang="en-US" b="1" dirty="0" smtClean="0">
                <a:latin typeface="Arial" pitchFamily="34" charset="0"/>
                <a:cs typeface="Arial" pitchFamily="34" charset="0"/>
              </a:rPr>
              <a:t>In </a:t>
            </a:r>
            <a:r>
              <a:rPr lang="en-US" b="1" dirty="0">
                <a:latin typeface="Arial" pitchFamily="34" charset="0"/>
                <a:cs typeface="Arial" pitchFamily="34" charset="0"/>
              </a:rPr>
              <a:t>this case the farmer will have </a:t>
            </a:r>
            <a:r>
              <a:rPr lang="en-US" b="1" dirty="0" smtClean="0">
                <a:latin typeface="Arial" pitchFamily="34" charset="0"/>
                <a:cs typeface="Arial" pitchFamily="34" charset="0"/>
              </a:rPr>
              <a:t>to</a:t>
            </a:r>
            <a:br>
              <a:rPr lang="en-US" b="1" dirty="0" smtClean="0">
                <a:latin typeface="Arial" pitchFamily="34" charset="0"/>
                <a:cs typeface="Arial" pitchFamily="34" charset="0"/>
              </a:rPr>
            </a:br>
            <a:r>
              <a:rPr lang="en-US" b="1" dirty="0" smtClean="0">
                <a:latin typeface="Arial" pitchFamily="34" charset="0"/>
                <a:cs typeface="Arial" pitchFamily="34" charset="0"/>
              </a:rPr>
              <a:t>sell </a:t>
            </a:r>
            <a:r>
              <a:rPr lang="en-US" b="1" dirty="0">
                <a:latin typeface="Arial" pitchFamily="34" charset="0"/>
                <a:cs typeface="Arial" pitchFamily="34" charset="0"/>
              </a:rPr>
              <a:t>for Rs.110 as per the contract and undertake a opportunity loss of </a:t>
            </a:r>
            <a:r>
              <a:rPr lang="en-US" b="1" dirty="0" err="1">
                <a:latin typeface="Arial" pitchFamily="34" charset="0"/>
                <a:cs typeface="Arial" pitchFamily="34" charset="0"/>
              </a:rPr>
              <a:t>Rs</a:t>
            </a:r>
            <a:r>
              <a:rPr lang="en-US" b="1" dirty="0">
                <a:latin typeface="Arial" pitchFamily="34" charset="0"/>
                <a:cs typeface="Arial" pitchFamily="34" charset="0"/>
              </a:rPr>
              <a:t>. 10 as his call that prices would go down was not correct.</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spTree>
    <p:extLst>
      <p:ext uri="{BB962C8B-B14F-4D97-AF65-F5344CB8AC3E}">
        <p14:creationId xmlns="" xmlns:p14="http://schemas.microsoft.com/office/powerpoint/2010/main" val="31696730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11560" y="1022439"/>
            <a:ext cx="7488832" cy="2585323"/>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The </a:t>
            </a:r>
            <a:r>
              <a:rPr lang="en-US" b="1" dirty="0" smtClean="0">
                <a:latin typeface="Arial" pitchFamily="34" charset="0"/>
                <a:cs typeface="Arial" pitchFamily="34" charset="0"/>
              </a:rPr>
              <a:t>baker on </a:t>
            </a:r>
            <a:r>
              <a:rPr lang="en-US" b="1" dirty="0">
                <a:latin typeface="Arial" pitchFamily="34" charset="0"/>
                <a:cs typeface="Arial" pitchFamily="34" charset="0"/>
              </a:rPr>
              <a:t>the other hand would be happy to receive wheat at Rs 110 due to the “Futures Contract” at a time when the prevailing market price is Rs 120. </a:t>
            </a:r>
            <a:br>
              <a:rPr lang="en-US" b="1" dirty="0">
                <a:latin typeface="Arial" pitchFamily="34" charset="0"/>
                <a:cs typeface="Arial" pitchFamily="34" charset="0"/>
              </a:rPr>
            </a:b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Thus he clearly makes a profit of </a:t>
            </a:r>
            <a:r>
              <a:rPr lang="en-US" b="1" dirty="0" err="1">
                <a:latin typeface="Arial" pitchFamily="34" charset="0"/>
                <a:cs typeface="Arial" pitchFamily="34" charset="0"/>
              </a:rPr>
              <a:t>Rs</a:t>
            </a:r>
            <a:r>
              <a:rPr lang="en-US" b="1" dirty="0">
                <a:latin typeface="Arial" pitchFamily="34" charset="0"/>
                <a:cs typeface="Arial" pitchFamily="34" charset="0"/>
              </a:rPr>
              <a:t> 10 because his </a:t>
            </a:r>
            <a:r>
              <a:rPr lang="en-US" b="1" dirty="0" smtClean="0">
                <a:latin typeface="Arial" pitchFamily="34" charset="0"/>
                <a:cs typeface="Arial" pitchFamily="34" charset="0"/>
              </a:rPr>
              <a:t>expectation</a:t>
            </a:r>
            <a:br>
              <a:rPr lang="en-US" b="1" dirty="0" smtClean="0">
                <a:latin typeface="Arial" pitchFamily="34" charset="0"/>
                <a:cs typeface="Arial" pitchFamily="34" charset="0"/>
              </a:rPr>
            </a:br>
            <a:r>
              <a:rPr lang="en-US" b="1" dirty="0" smtClean="0">
                <a:latin typeface="Arial" pitchFamily="34" charset="0"/>
                <a:cs typeface="Arial" pitchFamily="34" charset="0"/>
              </a:rPr>
              <a:t>on </a:t>
            </a:r>
            <a:r>
              <a:rPr lang="en-US" b="1" dirty="0">
                <a:latin typeface="Arial" pitchFamily="34" charset="0"/>
                <a:cs typeface="Arial" pitchFamily="34" charset="0"/>
              </a:rPr>
              <a:t>price movement turned out to be correct.</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spTree>
    <p:extLst>
      <p:ext uri="{BB962C8B-B14F-4D97-AF65-F5344CB8AC3E}">
        <p14:creationId xmlns="" xmlns:p14="http://schemas.microsoft.com/office/powerpoint/2010/main" val="31159162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11560" y="1022439"/>
            <a:ext cx="7704856" cy="3330399"/>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However </a:t>
            </a:r>
            <a:r>
              <a:rPr lang="en-US" b="1" dirty="0">
                <a:latin typeface="Arial" pitchFamily="34" charset="0"/>
                <a:cs typeface="Arial" pitchFamily="34" charset="0"/>
              </a:rPr>
              <a:t>at the end of the period both parties achieve their goals of protecting their interests</a:t>
            </a:r>
            <a:r>
              <a:rPr lang="en-US" b="1" dirty="0" smtClean="0">
                <a:latin typeface="Arial" pitchFamily="34" charset="0"/>
                <a:cs typeface="Arial" pitchFamily="34" charset="0"/>
              </a:rPr>
              <a:t>.</a:t>
            </a:r>
            <a:endParaRPr lang="en-US" b="1" dirty="0">
              <a:latin typeface="Arial" pitchFamily="34" charset="0"/>
              <a:cs typeface="Arial" pitchFamily="34" charset="0"/>
            </a:endParaRPr>
          </a:p>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While there may be an opportunity loss of the farmer </a:t>
            </a:r>
            <a:r>
              <a:rPr lang="en-US" b="1" dirty="0" smtClean="0">
                <a:latin typeface="Arial" pitchFamily="34" charset="0"/>
                <a:cs typeface="Arial" pitchFamily="34" charset="0"/>
              </a:rPr>
              <a:t>but</a:t>
            </a:r>
            <a:br>
              <a:rPr lang="en-US" b="1" dirty="0" smtClean="0">
                <a:latin typeface="Arial" pitchFamily="34" charset="0"/>
                <a:cs typeface="Arial" pitchFamily="34" charset="0"/>
              </a:rPr>
            </a:br>
            <a:r>
              <a:rPr lang="en-US" b="1" dirty="0" smtClean="0">
                <a:latin typeface="Arial" pitchFamily="34" charset="0"/>
                <a:cs typeface="Arial" pitchFamily="34" charset="0"/>
              </a:rPr>
              <a:t>still </a:t>
            </a:r>
            <a:r>
              <a:rPr lang="en-US" b="1" dirty="0">
                <a:latin typeface="Arial" pitchFamily="34" charset="0"/>
                <a:cs typeface="Arial" pitchFamily="34" charset="0"/>
              </a:rPr>
              <a:t>he lands up making a profit of </a:t>
            </a:r>
            <a:r>
              <a:rPr lang="en-US" b="1" dirty="0" err="1">
                <a:latin typeface="Arial" pitchFamily="34" charset="0"/>
                <a:cs typeface="Arial" pitchFamily="34" charset="0"/>
              </a:rPr>
              <a:t>Rs</a:t>
            </a:r>
            <a:r>
              <a:rPr lang="en-US" b="1" dirty="0">
                <a:latin typeface="Arial" pitchFamily="34" charset="0"/>
                <a:cs typeface="Arial" pitchFamily="34" charset="0"/>
              </a:rPr>
              <a:t>. 10. </a:t>
            </a:r>
          </a:p>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At least he would have been at peace for the period </a:t>
            </a:r>
            <a:r>
              <a:rPr lang="en-US" b="1" dirty="0" smtClean="0">
                <a:latin typeface="Arial" pitchFamily="34" charset="0"/>
                <a:cs typeface="Arial" pitchFamily="34" charset="0"/>
              </a:rPr>
              <a:t>of 3 </a:t>
            </a:r>
            <a:r>
              <a:rPr lang="en-US" b="1" dirty="0">
                <a:latin typeface="Arial" pitchFamily="34" charset="0"/>
                <a:cs typeface="Arial" pitchFamily="34" charset="0"/>
              </a:rPr>
              <a:t>months since he remained protected against any price fall or loss</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spTree>
    <p:extLst>
      <p:ext uri="{BB962C8B-B14F-4D97-AF65-F5344CB8AC3E}">
        <p14:creationId xmlns="" xmlns:p14="http://schemas.microsoft.com/office/powerpoint/2010/main" val="42146955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11560" y="1022439"/>
            <a:ext cx="7704856" cy="3884397"/>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The </a:t>
            </a:r>
            <a:r>
              <a:rPr lang="en-US" b="1" dirty="0" smtClean="0">
                <a:latin typeface="Arial" pitchFamily="34" charset="0"/>
                <a:cs typeface="Arial" pitchFamily="34" charset="0"/>
              </a:rPr>
              <a:t>baker on </a:t>
            </a:r>
            <a:r>
              <a:rPr lang="en-US" b="1" dirty="0">
                <a:latin typeface="Arial" pitchFamily="34" charset="0"/>
                <a:cs typeface="Arial" pitchFamily="34" charset="0"/>
              </a:rPr>
              <a:t>the other hand gets wheat </a:t>
            </a:r>
            <a:r>
              <a:rPr lang="en-US" b="1" dirty="0" smtClean="0">
                <a:latin typeface="Arial" pitchFamily="34" charset="0"/>
                <a:cs typeface="Arial" pitchFamily="34" charset="0"/>
              </a:rPr>
              <a:t>at Rs </a:t>
            </a:r>
            <a:r>
              <a:rPr lang="en-US" b="1" dirty="0">
                <a:latin typeface="Arial" pitchFamily="34" charset="0"/>
                <a:cs typeface="Arial" pitchFamily="34" charset="0"/>
              </a:rPr>
              <a:t>110 and makes a clear gain of Rs 10</a:t>
            </a:r>
            <a:r>
              <a:rPr lang="en-US"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He can now plan his manufacture more profitably than</a:t>
            </a:r>
            <a:br>
              <a:rPr lang="en-US" b="1" dirty="0" smtClean="0">
                <a:latin typeface="Arial" pitchFamily="34" charset="0"/>
                <a:cs typeface="Arial" pitchFamily="34" charset="0"/>
              </a:rPr>
            </a:br>
            <a:r>
              <a:rPr lang="en-US" b="1" dirty="0" smtClean="0">
                <a:latin typeface="Arial" pitchFamily="34" charset="0"/>
                <a:cs typeface="Arial" pitchFamily="34" charset="0"/>
              </a:rPr>
              <a:t>his competitors who would by in the market at the spot</a:t>
            </a:r>
            <a:br>
              <a:rPr lang="en-US" b="1" dirty="0" smtClean="0">
                <a:latin typeface="Arial" pitchFamily="34" charset="0"/>
                <a:cs typeface="Arial" pitchFamily="34" charset="0"/>
              </a:rPr>
            </a:br>
            <a:r>
              <a:rPr lang="en-US" b="1" dirty="0" smtClean="0">
                <a:latin typeface="Arial" pitchFamily="34" charset="0"/>
                <a:cs typeface="Arial" pitchFamily="34" charset="0"/>
              </a:rPr>
              <a:t>price of Rs 120</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Since </a:t>
            </a:r>
            <a:r>
              <a:rPr lang="en-US" b="1" dirty="0">
                <a:latin typeface="Arial" pitchFamily="34" charset="0"/>
                <a:cs typeface="Arial" pitchFamily="34" charset="0"/>
              </a:rPr>
              <a:t>his call was right about the price </a:t>
            </a:r>
            <a:r>
              <a:rPr lang="en-US" b="1" dirty="0" smtClean="0">
                <a:latin typeface="Arial" pitchFamily="34" charset="0"/>
                <a:cs typeface="Arial" pitchFamily="34" charset="0"/>
              </a:rPr>
              <a:t>movement</a:t>
            </a:r>
            <a:r>
              <a:rPr lang="en-US" b="1" dirty="0" smtClean="0">
                <a:latin typeface="Arial" pitchFamily="34" charset="0"/>
                <a:cs typeface="Arial" pitchFamily="34" charset="0"/>
              </a:rPr>
              <a:t>, he </a:t>
            </a:r>
            <a:r>
              <a:rPr lang="en-US" b="1" dirty="0">
                <a:latin typeface="Arial" pitchFamily="34" charset="0"/>
                <a:cs typeface="Arial" pitchFamily="34" charset="0"/>
              </a:rPr>
              <a:t>landed up making the gain of Rs 10 due to </a:t>
            </a:r>
            <a:r>
              <a:rPr lang="en-US" b="1" dirty="0" smtClean="0">
                <a:latin typeface="Arial" pitchFamily="34" charset="0"/>
                <a:cs typeface="Arial" pitchFamily="34" charset="0"/>
              </a:rPr>
              <a:t>the futures </a:t>
            </a:r>
            <a:r>
              <a:rPr lang="en-US" b="1" dirty="0">
                <a:latin typeface="Arial" pitchFamily="34" charset="0"/>
                <a:cs typeface="Arial" pitchFamily="34" charset="0"/>
              </a:rPr>
              <a:t>contract.</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spTree>
    <p:extLst>
      <p:ext uri="{BB962C8B-B14F-4D97-AF65-F5344CB8AC3E}">
        <p14:creationId xmlns="" xmlns:p14="http://schemas.microsoft.com/office/powerpoint/2010/main" val="27110893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9" name="TextBox 8"/>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sp>
        <p:nvSpPr>
          <p:cNvPr id="5" name="TextBox 4"/>
          <p:cNvSpPr txBox="1"/>
          <p:nvPr/>
        </p:nvSpPr>
        <p:spPr>
          <a:xfrm>
            <a:off x="3995936" y="3717032"/>
            <a:ext cx="4464496" cy="2585323"/>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 Thus in a sense both parties landed up meeting their business objectives and the “futures contract” helped them plan their business well by protecting their interests against </a:t>
            </a:r>
            <a:r>
              <a:rPr lang="en-US" b="1" dirty="0" smtClean="0">
                <a:latin typeface="Arial" pitchFamily="34" charset="0"/>
                <a:cs typeface="Arial" pitchFamily="34" charset="0"/>
              </a:rPr>
              <a:t>unpleasant</a:t>
            </a:r>
            <a:br>
              <a:rPr lang="en-US" b="1" dirty="0" smtClean="0">
                <a:latin typeface="Arial" pitchFamily="34" charset="0"/>
                <a:cs typeface="Arial" pitchFamily="34" charset="0"/>
              </a:rPr>
            </a:br>
            <a:r>
              <a:rPr lang="en-US" b="1" dirty="0" smtClean="0">
                <a:latin typeface="Arial" pitchFamily="34" charset="0"/>
                <a:cs typeface="Arial" pitchFamily="34" charset="0"/>
              </a:rPr>
              <a:t>price </a:t>
            </a:r>
            <a:r>
              <a:rPr lang="en-US" b="1" dirty="0">
                <a:latin typeface="Arial" pitchFamily="34" charset="0"/>
                <a:cs typeface="Arial" pitchFamily="34" charset="0"/>
              </a:rPr>
              <a:t>fluctuations.</a:t>
            </a:r>
          </a:p>
        </p:txBody>
      </p:sp>
    </p:spTree>
    <p:extLst>
      <p:ext uri="{BB962C8B-B14F-4D97-AF65-F5344CB8AC3E}">
        <p14:creationId xmlns="" xmlns:p14="http://schemas.microsoft.com/office/powerpoint/2010/main" val="27512652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11560" y="971143"/>
            <a:ext cx="7488832" cy="3884397"/>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I </a:t>
            </a:r>
            <a:r>
              <a:rPr lang="en-US" b="1" dirty="0">
                <a:latin typeface="Arial" pitchFamily="34" charset="0"/>
                <a:cs typeface="Arial" pitchFamily="34" charset="0"/>
              </a:rPr>
              <a:t>hope I have been able to explain to you the so called exotic product which as you can see is a very logical protection tool for a buyer and seller of the “Futures Contract” having different views about price movements and both being </a:t>
            </a:r>
            <a:r>
              <a:rPr lang="en-US" b="1" dirty="0" smtClean="0">
                <a:latin typeface="Arial" pitchFamily="34" charset="0"/>
                <a:cs typeface="Arial" pitchFamily="34" charset="0"/>
              </a:rPr>
              <a:t>keen</a:t>
            </a:r>
            <a:br>
              <a:rPr lang="en-US" b="1" dirty="0" smtClean="0">
                <a:latin typeface="Arial" pitchFamily="34" charset="0"/>
                <a:cs typeface="Arial" pitchFamily="34" charset="0"/>
              </a:rPr>
            </a:br>
            <a:r>
              <a:rPr lang="en-US" b="1" dirty="0" smtClean="0">
                <a:latin typeface="Arial" pitchFamily="34" charset="0"/>
                <a:cs typeface="Arial" pitchFamily="34" charset="0"/>
              </a:rPr>
              <a:t>to </a:t>
            </a:r>
            <a:r>
              <a:rPr lang="en-US" b="1" dirty="0">
                <a:latin typeface="Arial" pitchFamily="34" charset="0"/>
                <a:cs typeface="Arial" pitchFamily="34" charset="0"/>
              </a:rPr>
              <a:t>reduce their losses.</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Thus </a:t>
            </a:r>
            <a:r>
              <a:rPr lang="en-US" b="1" dirty="0">
                <a:latin typeface="Arial" pitchFamily="34" charset="0"/>
                <a:cs typeface="Arial" pitchFamily="34" charset="0"/>
              </a:rPr>
              <a:t>at the end one gains more and one gains less but both are happy that they could plan their business well</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spTree>
    <p:extLst>
      <p:ext uri="{BB962C8B-B14F-4D97-AF65-F5344CB8AC3E}">
        <p14:creationId xmlns="" xmlns:p14="http://schemas.microsoft.com/office/powerpoint/2010/main" val="6781085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941168"/>
            <a:ext cx="4095722" cy="923330"/>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this story succeeded in clarifying the concept of “Futures”</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FUTURES CONTRACT</a:t>
            </a:r>
          </a:p>
        </p:txBody>
      </p:sp>
    </p:spTree>
    <p:extLst>
      <p:ext uri="{BB962C8B-B14F-4D97-AF65-F5344CB8AC3E}">
        <p14:creationId xmlns="" xmlns:p14="http://schemas.microsoft.com/office/powerpoint/2010/main" val="27637988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259632" y="2092565"/>
            <a:ext cx="3672408" cy="701731"/>
          </a:xfrm>
          <a:prstGeom prst="rect">
            <a:avLst/>
          </a:prstGeom>
          <a:noFill/>
        </p:spPr>
        <p:txBody>
          <a:bodyPr wrap="square" rtlCol="0">
            <a:spAutoFit/>
          </a:bodyPr>
          <a:lstStyle/>
          <a:p>
            <a:pPr marL="342900" indent="-342900" algn="ctr">
              <a:spcBef>
                <a:spcPct val="20000"/>
              </a:spcBef>
            </a:pPr>
            <a:r>
              <a:rPr lang="en-US" b="1" dirty="0">
                <a:latin typeface="Arial" pitchFamily="34" charset="0"/>
                <a:cs typeface="Arial" pitchFamily="34" charset="0"/>
              </a:rPr>
              <a:t>Please give us your feedback at </a:t>
            </a:r>
          </a:p>
          <a:p>
            <a:pPr marL="342900" indent="-342900" algn="ctr">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2146</TotalTime>
  <Words>565</Words>
  <Application>Microsoft Office PowerPoint</Application>
  <PresentationFormat>On-screen Show (4:3)</PresentationFormat>
  <Paragraphs>46</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226</cp:revision>
  <dcterms:created xsi:type="dcterms:W3CDTF">2013-10-22T09:41:31Z</dcterms:created>
  <dcterms:modified xsi:type="dcterms:W3CDTF">2014-09-26T10:24:21Z</dcterms:modified>
</cp:coreProperties>
</file>