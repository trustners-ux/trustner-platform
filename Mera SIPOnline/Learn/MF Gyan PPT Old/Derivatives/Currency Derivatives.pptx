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94" r:id="rId3"/>
    <p:sldId id="322" r:id="rId4"/>
    <p:sldId id="323" r:id="rId5"/>
    <p:sldId id="317" r:id="rId6"/>
    <p:sldId id="324" r:id="rId7"/>
    <p:sldId id="318" r:id="rId8"/>
    <p:sldId id="319" r:id="rId9"/>
    <p:sldId id="320" r:id="rId10"/>
    <p:sldId id="316" r:id="rId11"/>
    <p:sldId id="321" r:id="rId12"/>
    <p:sldId id="325" r:id="rId13"/>
    <p:sldId id="326" r:id="rId14"/>
    <p:sldId id="327" r:id="rId15"/>
    <p:sldId id="328" r:id="rId16"/>
    <p:sldId id="329" r:id="rId17"/>
    <p:sldId id="287"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6" d="100"/>
          <a:sy n="46" d="100"/>
        </p:scale>
        <p:origin x="1315" y="3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57290" y="1714488"/>
            <a:ext cx="3286148"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‘Currency Derivatives’</a:t>
            </a:r>
            <a:br>
              <a:rPr lang="en-US" b="1" dirty="0" smtClean="0">
                <a:latin typeface="Arial" pitchFamily="34" charset="0"/>
                <a:cs typeface="Arial" pitchFamily="34" charset="0"/>
              </a:rPr>
            </a:b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 </a:t>
            </a:r>
            <a:r>
              <a:rPr lang="en-US" b="1" baseline="70000" dirty="0" smtClean="0">
                <a:latin typeface="Arial" pitchFamily="34" charset="0"/>
                <a:cs typeface="Arial" pitchFamily="34" charset="0"/>
              </a:rPr>
              <a:t>TM</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3203848" y="1353455"/>
            <a:ext cx="3429024" cy="1287532"/>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One </a:t>
            </a:r>
            <a:r>
              <a:rPr lang="en-US" b="1" dirty="0" smtClean="0">
                <a:latin typeface="Arial" pitchFamily="34" charset="0"/>
                <a:cs typeface="Arial" pitchFamily="34" charset="0"/>
              </a:rPr>
              <a:t>of the most exotic terms in derivative trading is ‘Currency Derivatives’.</a:t>
            </a:r>
            <a:endParaRPr lang="en-US" b="1" dirty="0">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00496" y="4357694"/>
            <a:ext cx="4432576" cy="1477328"/>
          </a:xfrm>
          <a:prstGeom prst="rect">
            <a:avLst/>
          </a:prstGeom>
        </p:spPr>
        <p:txBody>
          <a:bodyPr wrap="square">
            <a:spAutoFit/>
          </a:bodyPr>
          <a:lstStyle/>
          <a:p>
            <a:r>
              <a:rPr lang="en-US" b="1" dirty="0" smtClean="0">
                <a:latin typeface="Arial" pitchFamily="34" charset="0"/>
                <a:cs typeface="Arial" pitchFamily="34" charset="0"/>
              </a:rPr>
              <a:t>But what are currency derivatives? And how are they transacted?</a:t>
            </a:r>
          </a:p>
          <a:p>
            <a:endParaRPr lang="en-US" b="1" dirty="0" smtClean="0">
              <a:latin typeface="Arial" pitchFamily="34" charset="0"/>
              <a:cs typeface="Arial" pitchFamily="34" charset="0"/>
            </a:endParaRPr>
          </a:p>
          <a:p>
            <a:r>
              <a:rPr lang="en-US" b="1" dirty="0" smtClean="0">
                <a:latin typeface="Arial" pitchFamily="34" charset="0"/>
                <a:cs typeface="Arial" pitchFamily="34" charset="0"/>
              </a:rPr>
              <a:t>Let me try &amp; simplify the term for you over the next few slides…</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92976"/>
            <a:ext cx="5766410" cy="9233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Let’s say there is a farmer who grows tea in India,</a:t>
            </a:r>
            <a:br>
              <a:rPr lang="en-US" b="1" dirty="0" smtClean="0">
                <a:latin typeface="Arial" pitchFamily="34" charset="0"/>
                <a:cs typeface="Arial" pitchFamily="34" charset="0"/>
              </a:rPr>
            </a:br>
            <a:r>
              <a:rPr lang="en-US" b="1" dirty="0" smtClean="0">
                <a:latin typeface="Arial" pitchFamily="34" charset="0"/>
                <a:cs typeface="Arial" pitchFamily="34" charset="0"/>
              </a:rPr>
              <a:t>which is exported to the USA.</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pic>
        <p:nvPicPr>
          <p:cNvPr id="5" name="Picture 8" descr="tea_farmer"/>
          <p:cNvPicPr>
            <a:picLocks noChangeAspect="1" noChangeArrowheads="1"/>
          </p:cNvPicPr>
          <p:nvPr/>
        </p:nvPicPr>
        <p:blipFill>
          <a:blip r:embed="rId3"/>
          <a:srcRect/>
          <a:stretch>
            <a:fillRect/>
          </a:stretch>
        </p:blipFill>
        <p:spPr bwMode="auto">
          <a:xfrm>
            <a:off x="4000496" y="2000240"/>
            <a:ext cx="3886200" cy="4419600"/>
          </a:xfrm>
          <a:prstGeom prst="rect">
            <a:avLst/>
          </a:prstGeom>
          <a:noFill/>
          <a:effectLst>
            <a:outerShdw blurRad="76200" dir="18900000" sy="23000" kx="-1200000" algn="bl" rotWithShape="0">
              <a:prstClr val="black">
                <a:alpha val="20000"/>
              </a:prstClr>
            </a:outerShdw>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92976"/>
            <a:ext cx="7552360" cy="369332"/>
          </a:xfrm>
          <a:prstGeom prst="rect">
            <a:avLst/>
          </a:prstGeom>
          <a:noFill/>
        </p:spPr>
        <p:txBody>
          <a:bodyPr wrap="square" rtlCol="0">
            <a:spAutoFit/>
          </a:bodyPr>
          <a:lstStyle/>
          <a:p>
            <a:pPr algn="ctr"/>
            <a:r>
              <a:rPr lang="en-US" b="1" dirty="0" smtClean="0">
                <a:latin typeface="Arial" pitchFamily="34" charset="0"/>
                <a:cs typeface="Arial" pitchFamily="34" charset="0"/>
              </a:rPr>
              <a:t>And there is an importer of tea in the USA.</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
        <p:nvSpPr>
          <p:cNvPr id="5" name="TextBox 4"/>
          <p:cNvSpPr txBox="1"/>
          <p:nvPr/>
        </p:nvSpPr>
        <p:spPr>
          <a:xfrm>
            <a:off x="571472" y="2000240"/>
            <a:ext cx="7552360" cy="369332"/>
          </a:xfrm>
          <a:prstGeom prst="rect">
            <a:avLst/>
          </a:prstGeom>
          <a:noFill/>
        </p:spPr>
        <p:txBody>
          <a:bodyPr wrap="square" rtlCol="0">
            <a:spAutoFit/>
          </a:bodyPr>
          <a:lstStyle/>
          <a:p>
            <a:pPr algn="ctr"/>
            <a:r>
              <a:rPr lang="en-US" b="1" dirty="0" smtClean="0">
                <a:latin typeface="Arial" pitchFamily="34" charset="0"/>
                <a:cs typeface="Arial" pitchFamily="34" charset="0"/>
              </a:rPr>
              <a:t>Let’s assume the current rate of exchange is Rs. 45 for 1 USD.</a:t>
            </a:r>
            <a:endParaRPr lang="en-US" b="1" dirty="0">
              <a:latin typeface="Arial" pitchFamily="34" charset="0"/>
              <a:cs typeface="Arial" pitchFamily="34" charset="0"/>
            </a:endParaRPr>
          </a:p>
        </p:txBody>
      </p:sp>
      <p:pic>
        <p:nvPicPr>
          <p:cNvPr id="6" name="Picture 8" descr="6037-Grumpy-Old-Businessman-Interviewing-Someone-Clipart-Picture"/>
          <p:cNvPicPr>
            <a:picLocks noChangeAspect="1" noChangeArrowheads="1"/>
          </p:cNvPicPr>
          <p:nvPr/>
        </p:nvPicPr>
        <p:blipFill>
          <a:blip r:embed="rId3"/>
          <a:srcRect/>
          <a:stretch>
            <a:fillRect/>
          </a:stretch>
        </p:blipFill>
        <p:spPr bwMode="auto">
          <a:xfrm>
            <a:off x="2643174" y="2500306"/>
            <a:ext cx="3657600" cy="3349625"/>
          </a:xfrm>
          <a:prstGeom prst="rect">
            <a:avLst/>
          </a:prstGeom>
          <a:noFill/>
          <a:effectLst>
            <a:outerShdw blurRad="317500" dir="5100000" sx="104000" sy="104000" algn="t" rotWithShape="0">
              <a:prstClr val="black">
                <a:alpha val="45000"/>
              </a:prst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00108"/>
            <a:ext cx="7940330" cy="3970318"/>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Assume </a:t>
            </a:r>
            <a:r>
              <a:rPr lang="en-US" b="1" dirty="0" smtClean="0">
                <a:latin typeface="Arial" pitchFamily="34" charset="0"/>
                <a:cs typeface="Arial" pitchFamily="34" charset="0"/>
              </a:rPr>
              <a:t>that the tea grower agrees to supply 10 </a:t>
            </a:r>
            <a:r>
              <a:rPr lang="en-US" b="1" dirty="0" smtClean="0">
                <a:latin typeface="Arial" pitchFamily="34" charset="0"/>
                <a:cs typeface="Arial" pitchFamily="34" charset="0"/>
              </a:rPr>
              <a:t>quintals of </a:t>
            </a:r>
            <a:r>
              <a:rPr lang="en-US" b="1" dirty="0" smtClean="0">
                <a:latin typeface="Arial" pitchFamily="34" charset="0"/>
                <a:cs typeface="Arial" pitchFamily="34" charset="0"/>
              </a:rPr>
              <a:t>tea to the importer at 10 dollars a quintal three months down </a:t>
            </a:r>
            <a:r>
              <a:rPr lang="en-US" b="1" dirty="0" smtClean="0">
                <a:latin typeface="Arial" pitchFamily="34" charset="0"/>
                <a:cs typeface="Arial" pitchFamily="34" charset="0"/>
              </a:rPr>
              <a:t>the line </a:t>
            </a:r>
            <a:r>
              <a:rPr lang="en-US" b="1" dirty="0" smtClean="0">
                <a:latin typeface="Arial" pitchFamily="34" charset="0"/>
                <a:cs typeface="Arial" pitchFamily="34" charset="0"/>
              </a:rPr>
              <a:t>upon harvesting.</a:t>
            </a:r>
          </a:p>
          <a:p>
            <a:pPr>
              <a:lnSpc>
                <a:spcPct val="200000"/>
              </a:lnSpc>
            </a:pPr>
            <a:r>
              <a:rPr lang="en-US" b="1" dirty="0" smtClean="0">
                <a:latin typeface="Arial" pitchFamily="34" charset="0"/>
                <a:cs typeface="Arial" pitchFamily="34" charset="0"/>
              </a:rPr>
              <a:t> (1 Quintal = 100 </a:t>
            </a:r>
            <a:r>
              <a:rPr lang="en-US" b="1" dirty="0" err="1" smtClean="0">
                <a:latin typeface="Arial" pitchFamily="34" charset="0"/>
                <a:cs typeface="Arial" pitchFamily="34" charset="0"/>
              </a:rPr>
              <a:t>kgs</a:t>
            </a:r>
            <a:r>
              <a:rPr lang="en-US" b="1" dirty="0" smtClean="0">
                <a:latin typeface="Arial" pitchFamily="34" charset="0"/>
                <a:cs typeface="Arial" pitchFamily="34" charset="0"/>
              </a:rPr>
              <a:t>) </a:t>
            </a:r>
          </a:p>
          <a:p>
            <a:pPr>
              <a:lnSpc>
                <a:spcPct val="200000"/>
              </a:lnSpc>
            </a:pPr>
            <a:endParaRPr lang="en-US" b="1" dirty="0" smtClean="0">
              <a:latin typeface="Arial" pitchFamily="34" charset="0"/>
              <a:cs typeface="Arial" pitchFamily="34" charset="0"/>
            </a:endParaRPr>
          </a:p>
          <a:p>
            <a:pPr>
              <a:lnSpc>
                <a:spcPct val="200000"/>
              </a:lnSpc>
            </a:pPr>
            <a:r>
              <a:rPr lang="en-US" b="1" dirty="0" smtClean="0">
                <a:latin typeface="Arial" pitchFamily="34" charset="0"/>
                <a:cs typeface="Arial" pitchFamily="34" charset="0"/>
              </a:rPr>
              <a:t> It is important to understand that the importer buys tea at 10 dollars a quintal, no matter what the exchange rate is. </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992670"/>
            <a:ext cx="7980988" cy="3416320"/>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The tea grower thinks that the rate of exchange</a:t>
            </a:r>
            <a:r>
              <a:rPr lang="en-US" b="1" dirty="0" smtClean="0">
                <a:latin typeface="Arial" pitchFamily="34" charset="0"/>
                <a:cs typeface="Arial" pitchFamily="34" charset="0"/>
              </a:rPr>
              <a:t>, which </a:t>
            </a:r>
            <a:r>
              <a:rPr lang="en-US" b="1" dirty="0" smtClean="0">
                <a:latin typeface="Arial" pitchFamily="34" charset="0"/>
                <a:cs typeface="Arial" pitchFamily="34" charset="0"/>
              </a:rPr>
              <a:t>is currently trading at Rs. 45 to a US dollar</a:t>
            </a:r>
            <a:r>
              <a:rPr lang="en-US" b="1" dirty="0" smtClean="0">
                <a:latin typeface="Arial" pitchFamily="34" charset="0"/>
                <a:cs typeface="Arial" pitchFamily="34" charset="0"/>
              </a:rPr>
              <a:t>, could </a:t>
            </a:r>
            <a:r>
              <a:rPr lang="en-US" b="1" dirty="0" smtClean="0">
                <a:latin typeface="Arial" pitchFamily="34" charset="0"/>
                <a:cs typeface="Arial" pitchFamily="34" charset="0"/>
              </a:rPr>
              <a:t>fall to Rs. 44 in 3 months</a:t>
            </a:r>
            <a:r>
              <a:rPr lang="en-US" b="1" dirty="0" smtClean="0">
                <a:latin typeface="Arial" pitchFamily="34" charset="0"/>
                <a:cs typeface="Arial" pitchFamily="34" charset="0"/>
              </a:rPr>
              <a:t>.</a:t>
            </a:r>
            <a:endParaRPr lang="en-US" b="1" dirty="0" smtClean="0">
              <a:latin typeface="Arial" pitchFamily="34" charset="0"/>
              <a:cs typeface="Arial" pitchFamily="34" charset="0"/>
            </a:endParaRP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This </a:t>
            </a:r>
            <a:r>
              <a:rPr lang="en-US" b="1" dirty="0" smtClean="0">
                <a:latin typeface="Arial" pitchFamily="34" charset="0"/>
                <a:cs typeface="Arial" pitchFamily="34" charset="0"/>
              </a:rPr>
              <a:t>means </a:t>
            </a:r>
            <a:r>
              <a:rPr lang="en-US" b="1" dirty="0" smtClean="0">
                <a:latin typeface="Arial" pitchFamily="34" charset="0"/>
                <a:cs typeface="Arial" pitchFamily="34" charset="0"/>
              </a:rPr>
              <a:t>that while the importer would pay her 100 dollars</a:t>
            </a:r>
            <a:br>
              <a:rPr lang="en-US" b="1" dirty="0" smtClean="0">
                <a:latin typeface="Arial" pitchFamily="34" charset="0"/>
                <a:cs typeface="Arial" pitchFamily="34" charset="0"/>
              </a:rPr>
            </a:br>
            <a:r>
              <a:rPr lang="en-US" b="1" dirty="0" smtClean="0">
                <a:latin typeface="Arial" pitchFamily="34" charset="0"/>
                <a:cs typeface="Arial" pitchFamily="34" charset="0"/>
              </a:rPr>
              <a:t>( $10 per quintal x 10 quintals = $ 100</a:t>
            </a:r>
            <a:r>
              <a:rPr lang="en-US" b="1" dirty="0" smtClean="0">
                <a:latin typeface="Arial" pitchFamily="34" charset="0"/>
                <a:cs typeface="Arial" pitchFamily="34" charset="0"/>
              </a:rPr>
              <a:t>), </a:t>
            </a:r>
            <a:r>
              <a:rPr lang="en-US" b="1" dirty="0" smtClean="0">
                <a:latin typeface="Arial" pitchFamily="34" charset="0"/>
                <a:cs typeface="Arial" pitchFamily="34" charset="0"/>
              </a:rPr>
              <a:t>she would earn only Rs. 4400 ( $100 x Rs 44 per dollar) instead </a:t>
            </a:r>
            <a:r>
              <a:rPr lang="en-US" b="1" dirty="0" smtClean="0">
                <a:latin typeface="Arial" pitchFamily="34" charset="0"/>
                <a:cs typeface="Arial" pitchFamily="34" charset="0"/>
              </a:rPr>
              <a:t>of </a:t>
            </a: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smtClean="0">
                <a:latin typeface="Arial" pitchFamily="34" charset="0"/>
                <a:cs typeface="Arial" pitchFamily="34" charset="0"/>
              </a:rPr>
              <a:t>4500 ( $100 x Rs 45 per dollar) thus incurring a loss of Rs. 100</a:t>
            </a:r>
            <a:r>
              <a:rPr lang="en-US" b="1" dirty="0" smtClean="0">
                <a:latin typeface="Arial" pitchFamily="34" charset="0"/>
                <a:cs typeface="Arial" pitchFamily="34" charset="0"/>
              </a:rPr>
              <a:t>. ( </a:t>
            </a:r>
            <a:r>
              <a:rPr lang="en-US" b="1" dirty="0" smtClean="0">
                <a:latin typeface="Arial" pitchFamily="34" charset="0"/>
                <a:cs typeface="Arial" pitchFamily="34" charset="0"/>
              </a:rPr>
              <a:t>Rs 4500 –Rs 4400)</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91540" y="1050979"/>
            <a:ext cx="7623798" cy="3884397"/>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So </a:t>
            </a:r>
            <a:r>
              <a:rPr lang="en-US" b="1" dirty="0" smtClean="0">
                <a:latin typeface="Arial" pitchFamily="34" charset="0"/>
                <a:cs typeface="Arial" pitchFamily="34" charset="0"/>
              </a:rPr>
              <a:t>the tea grower goes to a currency trader and signs a ‘forward contract’ which says that at the end of 3 months the currency trader would hedge her against a possible decrease in exchange rates.</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This </a:t>
            </a:r>
            <a:r>
              <a:rPr lang="en-US" b="1" dirty="0" smtClean="0">
                <a:latin typeface="Arial" pitchFamily="34" charset="0"/>
                <a:cs typeface="Arial" pitchFamily="34" charset="0"/>
              </a:rPr>
              <a:t>means that, at the end of 3 months, the currency trader would pay her Rs. 4500 for her 100 USD, no matter what the prevailing exchange rate.</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00496" y="4143380"/>
            <a:ext cx="4357718" cy="1754326"/>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Such a contract is called a ‘Currency Derivatives’ contract because it is a currency contract that has to be executed at some future date.</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935328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66914"/>
            <a:ext cx="7838112" cy="341632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Now, let’s look at 3 different scenarios:</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Say that after 3 months the rate of exchange remains Rs. 45 to a USD.</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this case the farmer will take the 100 USD she has received from the importer &amp; go to the currency trader.</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trader will pay her Rs. 4500, as per the contract.</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So the tea grower makes Rs. 4500 in all.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66914"/>
            <a:ext cx="7838112" cy="387798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Now, let’s look at the 2</a:t>
            </a:r>
            <a:r>
              <a:rPr lang="en-US" b="1" baseline="30000" dirty="0" smtClean="0">
                <a:latin typeface="Arial" pitchFamily="34" charset="0"/>
                <a:cs typeface="Arial" pitchFamily="34" charset="0"/>
              </a:rPr>
              <a:t>nd</a:t>
            </a:r>
            <a:r>
              <a:rPr lang="en-US" b="1" dirty="0" smtClean="0">
                <a:latin typeface="Arial" pitchFamily="34" charset="0"/>
                <a:cs typeface="Arial" pitchFamily="34" charset="0"/>
              </a:rPr>
              <a:t> scenario:</a:t>
            </a:r>
          </a:p>
          <a:p>
            <a:pPr>
              <a:lnSpc>
                <a:spcPct val="150000"/>
              </a:lnSpc>
            </a:pPr>
            <a:r>
              <a:rPr lang="en-US" b="1" dirty="0" smtClean="0">
                <a:latin typeface="Arial" pitchFamily="34" charset="0"/>
                <a:cs typeface="Arial" pitchFamily="34" charset="0"/>
              </a:rPr>
              <a:t>Say that after 3 months the rate of exchange reaches Rs. 46 to a USD</a:t>
            </a:r>
          </a:p>
          <a:p>
            <a:pPr>
              <a:lnSpc>
                <a:spcPct val="150000"/>
              </a:lnSpc>
            </a:pPr>
            <a:r>
              <a:rPr lang="en-US" b="1" dirty="0" smtClean="0">
                <a:latin typeface="Arial" pitchFamily="34" charset="0"/>
                <a:cs typeface="Arial" pitchFamily="34" charset="0"/>
              </a:rPr>
              <a:t>(i.e. $100 = Rs 4600)</a:t>
            </a:r>
          </a:p>
          <a:p>
            <a:pPr>
              <a:lnSpc>
                <a:spcPct val="150000"/>
              </a:lnSpc>
            </a:pPr>
            <a:endParaRPr lang="en-US" sz="10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this case the farmer’s call was wrong. She will take the 100 USD she has received from the importer &amp; go to the currency trader.</a:t>
            </a:r>
          </a:p>
          <a:p>
            <a:pPr>
              <a:lnSpc>
                <a:spcPct val="150000"/>
              </a:lnSpc>
            </a:pPr>
            <a:endParaRPr lang="en-US" sz="10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trader will pay her Rs. 4500, as per the contract and would</a:t>
            </a:r>
            <a:br>
              <a:rPr lang="en-US" b="1" dirty="0" smtClean="0">
                <a:latin typeface="Arial" pitchFamily="34" charset="0"/>
                <a:cs typeface="Arial" pitchFamily="34" charset="0"/>
              </a:rPr>
            </a:br>
            <a:r>
              <a:rPr lang="en-US" b="1" dirty="0" smtClean="0">
                <a:latin typeface="Arial" pitchFamily="34" charset="0"/>
                <a:cs typeface="Arial" pitchFamily="34" charset="0"/>
              </a:rPr>
              <a:t>sell off the 100 USD in the market for Rs. 4600, thus making</a:t>
            </a:r>
            <a:br>
              <a:rPr lang="en-US" b="1" dirty="0" smtClean="0">
                <a:latin typeface="Arial" pitchFamily="34" charset="0"/>
                <a:cs typeface="Arial" pitchFamily="34" charset="0"/>
              </a:rPr>
            </a:br>
            <a:r>
              <a:rPr lang="en-US" b="1" dirty="0" smtClean="0">
                <a:latin typeface="Arial" pitchFamily="34" charset="0"/>
                <a:cs typeface="Arial" pitchFamily="34" charset="0"/>
              </a:rPr>
              <a:t>a profit of Rs. 100.</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66914"/>
            <a:ext cx="7838112" cy="346248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Now, let’s look at the 3</a:t>
            </a:r>
            <a:r>
              <a:rPr lang="en-US" b="1" baseline="30000" dirty="0" smtClean="0">
                <a:latin typeface="Arial" pitchFamily="34" charset="0"/>
                <a:cs typeface="Arial" pitchFamily="34" charset="0"/>
              </a:rPr>
              <a:t>rd</a:t>
            </a:r>
            <a:r>
              <a:rPr lang="en-US" b="1" dirty="0" smtClean="0">
                <a:latin typeface="Arial" pitchFamily="34" charset="0"/>
                <a:cs typeface="Arial" pitchFamily="34" charset="0"/>
              </a:rPr>
              <a:t> scenario:</a:t>
            </a:r>
          </a:p>
          <a:p>
            <a:pPr>
              <a:lnSpc>
                <a:spcPct val="150000"/>
              </a:lnSpc>
            </a:pPr>
            <a:r>
              <a:rPr lang="en-US" b="1" dirty="0" smtClean="0">
                <a:latin typeface="Arial" pitchFamily="34" charset="0"/>
                <a:cs typeface="Arial" pitchFamily="34" charset="0"/>
              </a:rPr>
              <a:t>Say that after 3 months the rate of exchange drops to Rs. 44 to a USD.</a:t>
            </a:r>
          </a:p>
          <a:p>
            <a:pPr>
              <a:lnSpc>
                <a:spcPct val="150000"/>
              </a:lnSpc>
            </a:pPr>
            <a:r>
              <a:rPr lang="en-US" b="1" dirty="0" smtClean="0">
                <a:latin typeface="Arial" pitchFamily="34" charset="0"/>
                <a:cs typeface="Arial" pitchFamily="34" charset="0"/>
              </a:rPr>
              <a:t>($100 = Rs 4400)</a:t>
            </a:r>
          </a:p>
          <a:p>
            <a:pPr>
              <a:lnSpc>
                <a:spcPct val="150000"/>
              </a:lnSpc>
            </a:pPr>
            <a:endParaRPr lang="en-US" sz="10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this case the farmer’s call was right. She will take the 100 USD she has received from the importer &amp; go to the currency trader.</a:t>
            </a:r>
          </a:p>
          <a:p>
            <a:pPr>
              <a:lnSpc>
                <a:spcPct val="150000"/>
              </a:lnSpc>
            </a:pPr>
            <a:endParaRPr lang="en-US" sz="10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trader will pay her Rs. 4500, as per the contract thus incurring a loss of Rs. 100.</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66914"/>
            <a:ext cx="7838112" cy="2534027"/>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Thus, while the tea grower may not make any profit if the rupee becomes weaker against the dollar, she will definitely profit if the rupee appreciates &amp; drops below Rs. 45.</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But at least she would have been at peace for the period of 3 months since she remained protected against any kind of fall in the rupee.</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4810" y="4143380"/>
            <a:ext cx="3500462"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 Hope you have now clearly understood the meaning of</a:t>
            </a:r>
            <a:br>
              <a:rPr lang="en-US" b="1" dirty="0" smtClean="0">
                <a:latin typeface="Arial" pitchFamily="34" charset="0"/>
                <a:cs typeface="Arial" pitchFamily="34" charset="0"/>
              </a:rPr>
            </a:br>
            <a:r>
              <a:rPr lang="en-US" b="1" dirty="0" smtClean="0">
                <a:latin typeface="Arial" pitchFamily="34" charset="0"/>
                <a:cs typeface="Arial" pitchFamily="34" charset="0"/>
              </a:rPr>
              <a:t>‘currency derivatives’ and</a:t>
            </a:r>
            <a:br>
              <a:rPr lang="en-US" b="1" dirty="0" smtClean="0">
                <a:latin typeface="Arial" pitchFamily="34" charset="0"/>
                <a:cs typeface="Arial" pitchFamily="34" charset="0"/>
              </a:rPr>
            </a:br>
            <a:r>
              <a:rPr lang="en-US" b="1" dirty="0" smtClean="0">
                <a:latin typeface="Arial" pitchFamily="34" charset="0"/>
                <a:cs typeface="Arial" pitchFamily="34" charset="0"/>
              </a:rPr>
              <a:t>its practical application.</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6248" y="4641798"/>
            <a:ext cx="3500462" cy="1287532"/>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this story succeeded in clarifying the concept of ‘Currency Derivatives’</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CURRENCY DERIVATIVES</a:t>
            </a:r>
            <a:endParaRPr lang="en-US" sz="2000" b="1" dirty="0">
              <a:solidFill>
                <a:schemeClr val="bg1"/>
              </a:solidFill>
              <a:latin typeface="Arial" pitchFamily="34" charset="0"/>
              <a:cs typeface="Arial"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0"/>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14414" y="1500174"/>
            <a:ext cx="3429024" cy="1342932"/>
          </a:xfrm>
          <a:prstGeom prst="rect">
            <a:avLst/>
          </a:prstGeom>
          <a:noFill/>
        </p:spPr>
        <p:txBody>
          <a:bodyPr wrap="square" rtlCol="0">
            <a:spAutoFit/>
          </a:bodyPr>
          <a:lstStyle/>
          <a:p>
            <a:pPr marL="342900" indent="-342900" algn="ctr">
              <a:lnSpc>
                <a:spcPct val="150000"/>
              </a:lnSpc>
              <a:spcBef>
                <a:spcPct val="20000"/>
              </a:spcBef>
            </a:pPr>
            <a:r>
              <a:rPr lang="en-US" b="1" dirty="0" smtClean="0">
                <a:latin typeface="Arial" pitchFamily="34" charset="0"/>
                <a:cs typeface="Arial" pitchFamily="34" charset="0"/>
              </a:rPr>
              <a:t>Please give us your feedback at</a:t>
            </a:r>
            <a:r>
              <a:rPr lang="en-US" b="1" dirty="0" smtClean="0">
                <a:solidFill>
                  <a:schemeClr val="bg1"/>
                </a:solidFill>
                <a:latin typeface="Arial" pitchFamily="34" charset="0"/>
                <a:cs typeface="Arial" pitchFamily="34" charset="0"/>
              </a:rPr>
              <a:t> </a:t>
            </a:r>
          </a:p>
          <a:p>
            <a:pPr marL="342900" indent="-342900" algn="ctr">
              <a:lnSpc>
                <a:spcPct val="150000"/>
              </a:lnSpc>
              <a:spcBef>
                <a:spcPct val="20000"/>
              </a:spcBef>
            </a:pPr>
            <a:r>
              <a:rPr lang="en-US" b="1" dirty="0" smtClean="0">
                <a:solidFill>
                  <a:schemeClr val="bg1"/>
                </a:solidFill>
                <a:latin typeface="Arial" pitchFamily="34" charset="0"/>
                <a:cs typeface="Arial" pitchFamily="34" charset="0"/>
                <a:hlinkClick r:id="rId4"/>
              </a:rPr>
              <a:t>professor@tataamc.com</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1674</TotalTime>
  <Words>822</Words>
  <Application>Microsoft Office PowerPoint</Application>
  <PresentationFormat>On-screen Show (4:3)</PresentationFormat>
  <Paragraphs>66</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 Crasto</cp:lastModifiedBy>
  <cp:revision>186</cp:revision>
  <dcterms:created xsi:type="dcterms:W3CDTF">2013-10-22T09:41:31Z</dcterms:created>
  <dcterms:modified xsi:type="dcterms:W3CDTF">2014-09-26T09:09:45Z</dcterms:modified>
</cp:coreProperties>
</file>