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94" r:id="rId3"/>
    <p:sldId id="323" r:id="rId4"/>
    <p:sldId id="332" r:id="rId5"/>
    <p:sldId id="325" r:id="rId6"/>
    <p:sldId id="326" r:id="rId7"/>
    <p:sldId id="327" r:id="rId8"/>
    <p:sldId id="333" r:id="rId9"/>
    <p:sldId id="328" r:id="rId10"/>
    <p:sldId id="316" r:id="rId11"/>
    <p:sldId id="287" r:id="rId12"/>
    <p:sldId id="27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46" d="100"/>
          <a:sy n="46" d="100"/>
        </p:scale>
        <p:origin x="1315" y="3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9/26/2014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9/26/2014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9/26/2014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9/26/2014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9/26/2014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9/26/2014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9/26/2014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1115616" y="2755060"/>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DERIVATIVE MARKET</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340768"/>
            <a:ext cx="3426744" cy="1754326"/>
          </a:xfrm>
          <a:prstGeom prst="rect">
            <a:avLst/>
          </a:prstGeom>
          <a:noFill/>
        </p:spPr>
        <p:txBody>
          <a:bodyPr wrap="square" rtlCol="0">
            <a:spAutoFit/>
          </a:bodyPr>
          <a:lstStyle/>
          <a:p>
            <a:pPr algn="ctr">
              <a:lnSpc>
                <a:spcPct val="150000"/>
              </a:lnSpc>
            </a:pPr>
            <a:r>
              <a:rPr lang="en-US" b="1" dirty="0">
                <a:latin typeface="Arial" pitchFamily="34" charset="0"/>
                <a:cs typeface="Arial" pitchFamily="34" charset="0"/>
              </a:rPr>
              <a:t>Simplifying how derivative </a:t>
            </a:r>
            <a:r>
              <a:rPr lang="en-US" b="1" dirty="0" smtClean="0">
                <a:latin typeface="Arial" pitchFamily="34" charset="0"/>
                <a:cs typeface="Arial" pitchFamily="34" charset="0"/>
              </a:rPr>
              <a:t>products operate</a:t>
            </a:r>
            <a:br>
              <a:rPr lang="en-US" b="1" dirty="0" smtClean="0">
                <a:latin typeface="Arial" pitchFamily="34" charset="0"/>
                <a:cs typeface="Arial" pitchFamily="34" charset="0"/>
              </a:rPr>
            </a:br>
            <a:r>
              <a:rPr lang="en-US" b="1" dirty="0" smtClean="0">
                <a:latin typeface="Arial" pitchFamily="34" charset="0"/>
                <a:cs typeface="Arial" pitchFamily="34" charset="0"/>
              </a:rPr>
              <a:t>in </a:t>
            </a:r>
            <a:r>
              <a:rPr lang="en-US" b="1" dirty="0">
                <a:latin typeface="Arial" pitchFamily="34" charset="0"/>
                <a:cs typeface="Arial" pitchFamily="34" charset="0"/>
              </a:rPr>
              <a:t>the stock market</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 </a:t>
            </a:r>
            <a:r>
              <a:rPr lang="en-US" b="1" baseline="70000" dirty="0">
                <a:latin typeface="Arial" pitchFamily="34" charset="0"/>
                <a:cs typeface="Arial" pitchFamily="34" charset="0"/>
              </a:rPr>
              <a:t>TM</a:t>
            </a:r>
          </a:p>
        </p:txBody>
      </p:sp>
    </p:spTree>
    <p:extLst>
      <p:ext uri="{BB962C8B-B14F-4D97-AF65-F5344CB8AC3E}">
        <p14:creationId xmlns:p14="http://schemas.microsoft.com/office/powerpoint/2010/main" val="14917799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 MARKET</a:t>
            </a:r>
          </a:p>
        </p:txBody>
      </p:sp>
      <p:sp>
        <p:nvSpPr>
          <p:cNvPr id="5" name="Rectangle 4"/>
          <p:cNvSpPr/>
          <p:nvPr/>
        </p:nvSpPr>
        <p:spPr>
          <a:xfrm>
            <a:off x="755576" y="1052736"/>
            <a:ext cx="7128792" cy="1287532"/>
          </a:xfrm>
          <a:prstGeom prst="rect">
            <a:avLst/>
          </a:prstGeom>
        </p:spPr>
        <p:txBody>
          <a:bodyPr wrap="square">
            <a:spAutoFit/>
          </a:bodyPr>
          <a:lstStyle/>
          <a:p>
            <a:pPr>
              <a:lnSpc>
                <a:spcPct val="150000"/>
              </a:lnSpc>
            </a:pPr>
            <a:r>
              <a:rPr lang="en-US" b="1" dirty="0">
                <a:latin typeface="Arial" pitchFamily="34" charset="0"/>
                <a:cs typeface="Arial" pitchFamily="34" charset="0"/>
              </a:rPr>
              <a:t>Imagine there </a:t>
            </a:r>
            <a:r>
              <a:rPr lang="en-US" b="1" dirty="0" smtClean="0">
                <a:latin typeface="Arial" pitchFamily="34" charset="0"/>
                <a:cs typeface="Arial" pitchFamily="34" charset="0"/>
              </a:rPr>
              <a:t>are </a:t>
            </a:r>
            <a:r>
              <a:rPr lang="en-US" b="1" dirty="0">
                <a:latin typeface="Arial" pitchFamily="34" charset="0"/>
                <a:cs typeface="Arial" pitchFamily="34" charset="0"/>
              </a:rPr>
              <a:t>several farmers in </a:t>
            </a:r>
            <a:r>
              <a:rPr lang="en-US" b="1" dirty="0" smtClean="0">
                <a:latin typeface="Arial" pitchFamily="34" charset="0"/>
                <a:cs typeface="Arial" pitchFamily="34" charset="0"/>
              </a:rPr>
              <a:t>a market</a:t>
            </a:r>
            <a:r>
              <a:rPr lang="en-US" b="1" dirty="0">
                <a:latin typeface="Arial" pitchFamily="34" charset="0"/>
                <a:cs typeface="Arial" pitchFamily="34" charset="0"/>
              </a:rPr>
              <a:t>. </a:t>
            </a:r>
            <a:r>
              <a:rPr lang="en-US" b="1" dirty="0" smtClean="0">
                <a:latin typeface="Arial" pitchFamily="34" charset="0"/>
                <a:cs typeface="Arial" pitchFamily="34" charset="0"/>
              </a:rPr>
              <a:t>Some have a </a:t>
            </a:r>
            <a:r>
              <a:rPr lang="en-US" b="1" dirty="0">
                <a:latin typeface="Arial" pitchFamily="34" charset="0"/>
                <a:cs typeface="Arial" pitchFamily="34" charset="0"/>
              </a:rPr>
              <a:t>view that </a:t>
            </a:r>
            <a:r>
              <a:rPr lang="en-US" b="1" dirty="0" smtClean="0">
                <a:latin typeface="Arial" pitchFamily="34" charset="0"/>
                <a:cs typeface="Arial" pitchFamily="34" charset="0"/>
              </a:rPr>
              <a:t>the price </a:t>
            </a:r>
            <a:r>
              <a:rPr lang="en-US" b="1" dirty="0">
                <a:latin typeface="Arial" pitchFamily="34" charset="0"/>
                <a:cs typeface="Arial" pitchFamily="34" charset="0"/>
              </a:rPr>
              <a:t>of </a:t>
            </a:r>
            <a:r>
              <a:rPr lang="en-US" b="1" dirty="0" smtClean="0">
                <a:latin typeface="Arial" pitchFamily="34" charset="0"/>
                <a:cs typeface="Arial" pitchFamily="34" charset="0"/>
              </a:rPr>
              <a:t>Wheat </a:t>
            </a:r>
            <a:r>
              <a:rPr lang="en-US" b="1" dirty="0">
                <a:latin typeface="Arial" pitchFamily="34" charset="0"/>
                <a:cs typeface="Arial" pitchFamily="34" charset="0"/>
              </a:rPr>
              <a:t>is going to </a:t>
            </a:r>
            <a:r>
              <a:rPr lang="en-US" b="1" dirty="0" smtClean="0">
                <a:latin typeface="Arial" pitchFamily="34" charset="0"/>
                <a:cs typeface="Arial" pitchFamily="34" charset="0"/>
              </a:rPr>
              <a:t>fall in the near </a:t>
            </a:r>
            <a:r>
              <a:rPr lang="en-US" b="1" dirty="0">
                <a:latin typeface="Arial" pitchFamily="34" charset="0"/>
                <a:cs typeface="Arial" pitchFamily="34" charset="0"/>
              </a:rPr>
              <a:t>future (bearish participants)</a:t>
            </a:r>
          </a:p>
        </p:txBody>
      </p:sp>
      <p:pic>
        <p:nvPicPr>
          <p:cNvPr id="6"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5576" y="2708920"/>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7"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40782" y="2409707"/>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8"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22970" y="3761093"/>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9"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87824" y="3414642"/>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0"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21421" y="4871423"/>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1"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4227" y="5157192"/>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2"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04048" y="5397509"/>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3"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13366" y="5157191"/>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4"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40352" y="4460493"/>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5"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05582" y="4131297"/>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6"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0659" y="3934406"/>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7"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5865" y="3235006"/>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8"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2317" y="2935793"/>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9"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20659" y="2409707"/>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0"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98097" y="1830060"/>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21" name="Picture 4" descr="Farme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80204" y="2356146"/>
            <a:ext cx="1132806" cy="1052173"/>
          </a:xfrm>
          <a:prstGeom prst="rect">
            <a:avLst/>
          </a:prstGeom>
          <a:noFill/>
          <a:effectLst>
            <a:outerShdw blurRad="76200" dir="18900000" sy="23000" kx="-1200000" algn="bl" rotWithShape="0">
              <a:prstClr val="black">
                <a:alpha val="2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86780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 MARKET</a:t>
            </a:r>
          </a:p>
        </p:txBody>
      </p:sp>
      <p:sp>
        <p:nvSpPr>
          <p:cNvPr id="4" name="Rectangle 3"/>
          <p:cNvSpPr/>
          <p:nvPr/>
        </p:nvSpPr>
        <p:spPr>
          <a:xfrm>
            <a:off x="755576" y="1052736"/>
            <a:ext cx="7488832" cy="872034"/>
          </a:xfrm>
          <a:prstGeom prst="rect">
            <a:avLst/>
          </a:prstGeom>
        </p:spPr>
        <p:txBody>
          <a:bodyPr wrap="square">
            <a:spAutoFit/>
          </a:bodyPr>
          <a:lstStyle/>
          <a:p>
            <a:pPr>
              <a:lnSpc>
                <a:spcPct val="150000"/>
              </a:lnSpc>
            </a:pPr>
            <a:r>
              <a:rPr lang="en-US" b="1" dirty="0" smtClean="0">
                <a:latin typeface="Arial" pitchFamily="34" charset="0"/>
                <a:cs typeface="Arial" pitchFamily="34" charset="0"/>
              </a:rPr>
              <a:t>Also some bakers have a </a:t>
            </a:r>
            <a:r>
              <a:rPr lang="en-US" b="1" dirty="0">
                <a:latin typeface="Arial" pitchFamily="34" charset="0"/>
                <a:cs typeface="Arial" pitchFamily="34" charset="0"/>
              </a:rPr>
              <a:t>view that </a:t>
            </a:r>
            <a:r>
              <a:rPr lang="en-US" b="1" dirty="0" smtClean="0">
                <a:latin typeface="Arial" pitchFamily="34" charset="0"/>
                <a:cs typeface="Arial" pitchFamily="34" charset="0"/>
              </a:rPr>
              <a:t>the price </a:t>
            </a:r>
            <a:r>
              <a:rPr lang="en-US" b="1" dirty="0">
                <a:latin typeface="Arial" pitchFamily="34" charset="0"/>
                <a:cs typeface="Arial" pitchFamily="34" charset="0"/>
              </a:rPr>
              <a:t>of </a:t>
            </a:r>
            <a:r>
              <a:rPr lang="en-US" b="1" dirty="0" smtClean="0">
                <a:latin typeface="Arial" pitchFamily="34" charset="0"/>
                <a:cs typeface="Arial" pitchFamily="34" charset="0"/>
              </a:rPr>
              <a:t>wheat </a:t>
            </a:r>
            <a:r>
              <a:rPr lang="en-US" b="1" dirty="0">
                <a:latin typeface="Arial" pitchFamily="34" charset="0"/>
                <a:cs typeface="Arial" pitchFamily="34" charset="0"/>
              </a:rPr>
              <a:t>is going to rise in the near future (bullish participants)</a:t>
            </a:r>
          </a:p>
        </p:txBody>
      </p:sp>
      <p:pic>
        <p:nvPicPr>
          <p:cNvPr id="5" name="Picture 20" descr="MMj0315813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27809" y="2286000"/>
            <a:ext cx="1359024" cy="1359024"/>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6" name="Picture 20" descr="MMj0315813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2749488"/>
            <a:ext cx="1359024" cy="1359024"/>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7" name="Picture 20" descr="MMj0315813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1255665" y="3933056"/>
            <a:ext cx="1359024" cy="1359024"/>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8" name="Picture 20" descr="MMj0315813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767089" y="5085184"/>
            <a:ext cx="1359024" cy="1359024"/>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9" name="Picture 20" descr="MMj0315813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851581" y="5101997"/>
            <a:ext cx="1359024" cy="1359024"/>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0" name="Picture 20" descr="MMj0315813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513366" y="4332875"/>
            <a:ext cx="1359024" cy="1359024"/>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1" name="Picture 20" descr="MMj0315813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7192878" y="2574032"/>
            <a:ext cx="1359024" cy="1359024"/>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2" name="Picture 20" descr="MMj0315813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149080" y="3611578"/>
            <a:ext cx="1359024" cy="1359024"/>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3" name="Picture 20" descr="MMj0315813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508104" y="2286000"/>
            <a:ext cx="1359024" cy="1359024"/>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pic>
        <p:nvPicPr>
          <p:cNvPr id="14" name="Picture 20" descr="MMj03158130000[1]"/>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3820480" y="2069976"/>
            <a:ext cx="1359024" cy="1359024"/>
          </a:xfrm>
          <a:prstGeom prst="rect">
            <a:avLst/>
          </a:prstGeom>
          <a:noFill/>
          <a:effectLst>
            <a:outerShdw blurRad="76200" dir="13500000" sy="23000" kx="1200000" algn="br" rotWithShape="0">
              <a:prstClr val="black">
                <a:alpha val="2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6058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 MARKET</a:t>
            </a:r>
          </a:p>
        </p:txBody>
      </p:sp>
      <p:sp>
        <p:nvSpPr>
          <p:cNvPr id="5" name="TextBox 4"/>
          <p:cNvSpPr txBox="1"/>
          <p:nvPr/>
        </p:nvSpPr>
        <p:spPr>
          <a:xfrm>
            <a:off x="683568" y="954594"/>
            <a:ext cx="7416824" cy="1754326"/>
          </a:xfrm>
          <a:prstGeom prst="rect">
            <a:avLst/>
          </a:prstGeom>
          <a:noFill/>
        </p:spPr>
        <p:txBody>
          <a:bodyPr wrap="square" rtlCol="0">
            <a:spAutoFit/>
          </a:bodyPr>
          <a:lstStyle/>
          <a:p>
            <a:pPr>
              <a:lnSpc>
                <a:spcPct val="150000"/>
              </a:lnSpc>
            </a:pPr>
            <a:r>
              <a:rPr lang="en-US" b="1" dirty="0" smtClean="0">
                <a:latin typeface="Arial" pitchFamily="34" charset="0"/>
                <a:cs typeface="Arial" pitchFamily="34" charset="0"/>
              </a:rPr>
              <a:t>The market place has free </a:t>
            </a:r>
            <a:r>
              <a:rPr lang="en-US" b="1" dirty="0">
                <a:latin typeface="Arial" pitchFamily="34" charset="0"/>
                <a:cs typeface="Arial" pitchFamily="34" charset="0"/>
              </a:rPr>
              <a:t>flow of </a:t>
            </a:r>
            <a:r>
              <a:rPr lang="en-US" b="1" dirty="0" smtClean="0">
                <a:latin typeface="Arial" pitchFamily="34" charset="0"/>
                <a:cs typeface="Arial" pitchFamily="34" charset="0"/>
              </a:rPr>
              <a:t>information</a:t>
            </a:r>
            <a:r>
              <a:rPr lang="en-US" b="1" dirty="0" smtClean="0">
                <a:latin typeface="Arial" pitchFamily="34" charset="0"/>
                <a:cs typeface="Arial" pitchFamily="34" charset="0"/>
              </a:rPr>
              <a:t>. It </a:t>
            </a:r>
            <a:r>
              <a:rPr lang="en-US" b="1" dirty="0">
                <a:latin typeface="Arial" pitchFamily="34" charset="0"/>
                <a:cs typeface="Arial" pitchFamily="34" charset="0"/>
              </a:rPr>
              <a:t>provides a platform to both bullish &amp; bearish participants to execute their trades without even knowing each other </a:t>
            </a:r>
            <a:r>
              <a:rPr lang="en-US" b="1" dirty="0" smtClean="0">
                <a:latin typeface="Arial" pitchFamily="34" charset="0"/>
                <a:cs typeface="Arial" pitchFamily="34" charset="0"/>
              </a:rPr>
              <a:t>or hunting </a:t>
            </a:r>
            <a:r>
              <a:rPr lang="en-US" b="1" dirty="0">
                <a:latin typeface="Arial" pitchFamily="34" charset="0"/>
                <a:cs typeface="Arial" pitchFamily="34" charset="0"/>
              </a:rPr>
              <a:t>for </a:t>
            </a:r>
            <a:r>
              <a:rPr lang="en-US" b="1" dirty="0" smtClean="0">
                <a:latin typeface="Arial" pitchFamily="34" charset="0"/>
                <a:cs typeface="Arial" pitchFamily="34" charset="0"/>
              </a:rPr>
              <a:t>counterparties</a:t>
            </a:r>
            <a:r>
              <a:rPr lang="en-US" b="1" dirty="0">
                <a:latin typeface="Arial" pitchFamily="34" charset="0"/>
                <a:cs typeface="Arial" pitchFamily="34" charset="0"/>
              </a:rPr>
              <a:t>. </a:t>
            </a:r>
          </a:p>
        </p:txBody>
      </p:sp>
      <p:pic>
        <p:nvPicPr>
          <p:cNvPr id="6" name="Picture 13" descr="india-stock-market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3529" y="2721987"/>
            <a:ext cx="3494895" cy="3587333"/>
          </a:xfrm>
          <a:prstGeom prst="rect">
            <a:avLst/>
          </a:prstGeom>
          <a:noFill/>
          <a:effectLst>
            <a:outerShdw blurRad="203200" dir="12240000" sx="105000" sy="105000" algn="r" rotWithShape="0">
              <a:prstClr val="black">
                <a:alpha val="33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2652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539552" y="971143"/>
            <a:ext cx="7560840" cy="2776401"/>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So the expected future </a:t>
            </a:r>
            <a:r>
              <a:rPr lang="en-US" b="1" dirty="0" smtClean="0">
                <a:latin typeface="Arial" pitchFamily="34" charset="0"/>
                <a:cs typeface="Arial" pitchFamily="34" charset="0"/>
              </a:rPr>
              <a:t>price </a:t>
            </a:r>
            <a:r>
              <a:rPr lang="en-US" b="1" dirty="0">
                <a:latin typeface="Arial" pitchFamily="34" charset="0"/>
                <a:cs typeface="Arial" pitchFamily="34" charset="0"/>
              </a:rPr>
              <a:t>(price of </a:t>
            </a:r>
            <a:r>
              <a:rPr lang="en-US" b="1" dirty="0" smtClean="0">
                <a:latin typeface="Arial" pitchFamily="34" charset="0"/>
                <a:cs typeface="Arial" pitchFamily="34" charset="0"/>
              </a:rPr>
              <a:t>wheat) </a:t>
            </a:r>
            <a:r>
              <a:rPr lang="en-US" b="1" dirty="0">
                <a:latin typeface="Arial" pitchFamily="34" charset="0"/>
                <a:cs typeface="Arial" pitchFamily="34" charset="0"/>
              </a:rPr>
              <a:t>is known to every farmer and bread manufacturer. </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Any </a:t>
            </a:r>
            <a:r>
              <a:rPr lang="en-US" b="1" dirty="0">
                <a:latin typeface="Arial" pitchFamily="34" charset="0"/>
                <a:cs typeface="Arial" pitchFamily="34" charset="0"/>
              </a:rPr>
              <a:t>farmer trying to extract a higher price will not be able to do so because for the bread manufacturer there are several other farmers to buy from and vice versa.</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 MARKET</a:t>
            </a:r>
          </a:p>
        </p:txBody>
      </p:sp>
    </p:spTree>
    <p:extLst>
      <p:ext uri="{BB962C8B-B14F-4D97-AF65-F5344CB8AC3E}">
        <p14:creationId xmlns:p14="http://schemas.microsoft.com/office/powerpoint/2010/main" val="31159162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11560" y="971143"/>
            <a:ext cx="7488832" cy="3330399"/>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Since the price is universally known and there are several farmers and bread manufacturers, there is no need to get into individual contracts. </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There </a:t>
            </a:r>
            <a:r>
              <a:rPr lang="en-US" b="1" dirty="0">
                <a:latin typeface="Arial" pitchFamily="34" charset="0"/>
                <a:cs typeface="Arial" pitchFamily="34" charset="0"/>
              </a:rPr>
              <a:t>is no need to know who the options/futures buyer is and who the options/futures seller is for it does not make any difference for either party. </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 MARKET</a:t>
            </a:r>
          </a:p>
        </p:txBody>
      </p:sp>
    </p:spTree>
    <p:extLst>
      <p:ext uri="{BB962C8B-B14F-4D97-AF65-F5344CB8AC3E}">
        <p14:creationId xmlns:p14="http://schemas.microsoft.com/office/powerpoint/2010/main" val="6781085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611560" y="836712"/>
            <a:ext cx="7488832" cy="4438395"/>
          </a:xfrm>
          <a:prstGeom prst="rect">
            <a:avLst/>
          </a:prstGeom>
          <a:noFill/>
        </p:spPr>
        <p:txBody>
          <a:bodyPr wrap="square" rtlCol="0">
            <a:spAutoFit/>
          </a:bodyPr>
          <a:lstStyle/>
          <a:p>
            <a:pPr marL="465138" indent="-465138">
              <a:lnSpc>
                <a:spcPct val="200000"/>
              </a:lnSpc>
              <a:buFont typeface="Wingdings" pitchFamily="2" charset="2"/>
              <a:buChar char="q"/>
              <a:tabLst>
                <a:tab pos="465138" algn="l"/>
              </a:tabLst>
            </a:pPr>
            <a:r>
              <a:rPr lang="en-US" b="1" dirty="0">
                <a:latin typeface="Arial" pitchFamily="34" charset="0"/>
                <a:cs typeface="Arial" pitchFamily="34" charset="0"/>
              </a:rPr>
              <a:t>The markets also make it possible for either party to deal with several counter parties at the same time. </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The </a:t>
            </a:r>
            <a:r>
              <a:rPr lang="en-US" b="1" dirty="0">
                <a:latin typeface="Arial" pitchFamily="34" charset="0"/>
                <a:cs typeface="Arial" pitchFamily="34" charset="0"/>
              </a:rPr>
              <a:t>market thus makes it possible to keep identities of parties to remain confidential with respect to the respective counter parties.</a:t>
            </a:r>
          </a:p>
          <a:p>
            <a:pPr marL="465138" indent="-465138">
              <a:lnSpc>
                <a:spcPct val="200000"/>
              </a:lnSpc>
              <a:buFont typeface="Wingdings" pitchFamily="2" charset="2"/>
              <a:buChar char="q"/>
              <a:tabLst>
                <a:tab pos="465138" algn="l"/>
              </a:tabLst>
            </a:pPr>
            <a:r>
              <a:rPr lang="en-US" b="1" dirty="0" smtClean="0">
                <a:latin typeface="Arial" pitchFamily="34" charset="0"/>
                <a:cs typeface="Arial" pitchFamily="34" charset="0"/>
              </a:rPr>
              <a:t>If </a:t>
            </a:r>
            <a:r>
              <a:rPr lang="en-US" b="1" dirty="0">
                <a:latin typeface="Arial" pitchFamily="34" charset="0"/>
                <a:cs typeface="Arial" pitchFamily="34" charset="0"/>
              </a:rPr>
              <a:t>one were to replace the farmer and bread manufacturer by normal people who have opposite views about the future prices of stocks, what we have is a typical Derivatives Market.</a:t>
            </a: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 MARKET</a:t>
            </a:r>
          </a:p>
        </p:txBody>
      </p:sp>
    </p:spTree>
    <p:extLst>
      <p:ext uri="{BB962C8B-B14F-4D97-AF65-F5344CB8AC3E}">
        <p14:creationId xmlns:p14="http://schemas.microsoft.com/office/powerpoint/2010/main" val="9164306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 MARKET</a:t>
            </a:r>
          </a:p>
        </p:txBody>
      </p:sp>
      <p:sp>
        <p:nvSpPr>
          <p:cNvPr id="7" name="Rectangle 6"/>
          <p:cNvSpPr/>
          <p:nvPr/>
        </p:nvSpPr>
        <p:spPr>
          <a:xfrm>
            <a:off x="755576" y="980728"/>
            <a:ext cx="7272808" cy="369332"/>
          </a:xfrm>
          <a:prstGeom prst="rect">
            <a:avLst/>
          </a:prstGeom>
        </p:spPr>
        <p:txBody>
          <a:bodyPr wrap="square">
            <a:spAutoFit/>
          </a:bodyPr>
          <a:lstStyle/>
          <a:p>
            <a:pPr algn="ctr"/>
            <a:r>
              <a:rPr lang="en-US" b="1" dirty="0">
                <a:latin typeface="Arial" pitchFamily="34" charset="0"/>
                <a:cs typeface="Arial" pitchFamily="34" charset="0"/>
              </a:rPr>
              <a:t> So in a nutshell…</a:t>
            </a:r>
          </a:p>
        </p:txBody>
      </p:sp>
      <p:sp>
        <p:nvSpPr>
          <p:cNvPr id="4" name="Rectangle 3"/>
          <p:cNvSpPr/>
          <p:nvPr/>
        </p:nvSpPr>
        <p:spPr>
          <a:xfrm>
            <a:off x="727808" y="1340768"/>
            <a:ext cx="7588608" cy="3231654"/>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sz="1700" b="1" dirty="0" smtClean="0">
                <a:latin typeface="Arial" pitchFamily="34" charset="0"/>
                <a:cs typeface="Arial" pitchFamily="34" charset="0"/>
              </a:rPr>
              <a:t>The market </a:t>
            </a:r>
            <a:r>
              <a:rPr lang="en-US" sz="1700" b="1" dirty="0">
                <a:latin typeface="Arial" pitchFamily="34" charset="0"/>
                <a:cs typeface="Arial" pitchFamily="34" charset="0"/>
              </a:rPr>
              <a:t>provides a platform for several parties and counter parties to come together to trade over stocks about which information is free </a:t>
            </a:r>
            <a:r>
              <a:rPr lang="en-US" sz="1700" b="1" dirty="0" smtClean="0">
                <a:latin typeface="Arial" pitchFamily="34" charset="0"/>
                <a:cs typeface="Arial" pitchFamily="34" charset="0"/>
              </a:rPr>
              <a:t>flowing) </a:t>
            </a:r>
            <a:endParaRPr lang="en-US" sz="1700"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This leads to a single future price for all participants, thereby rendering irrelevant the need to know who the buyer for the seller and vice versa </a:t>
            </a:r>
          </a:p>
          <a:p>
            <a:pPr marL="465138" indent="-465138">
              <a:lnSpc>
                <a:spcPct val="150000"/>
              </a:lnSpc>
              <a:buFont typeface="Wingdings" pitchFamily="2" charset="2"/>
              <a:buChar char="q"/>
              <a:tabLst>
                <a:tab pos="465138" algn="l"/>
              </a:tabLst>
            </a:pPr>
            <a:r>
              <a:rPr lang="en-US" sz="1700" b="1" dirty="0">
                <a:latin typeface="Arial" pitchFamily="34" charset="0"/>
                <a:cs typeface="Arial" pitchFamily="34" charset="0"/>
              </a:rPr>
              <a:t>Despite all of the above, the market system independently has all the necessary information about the market participants.</a:t>
            </a:r>
          </a:p>
        </p:txBody>
      </p:sp>
    </p:spTree>
    <p:extLst>
      <p:ext uri="{BB962C8B-B14F-4D97-AF65-F5344CB8AC3E}">
        <p14:creationId xmlns:p14="http://schemas.microsoft.com/office/powerpoint/2010/main" val="41830583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213943" y="4486057"/>
            <a:ext cx="4150951" cy="1319207"/>
          </a:xfrm>
          <a:prstGeom prst="rect">
            <a:avLst/>
          </a:prstGeom>
        </p:spPr>
        <p:txBody>
          <a:bodyPr wrap="square">
            <a:spAutoFit/>
          </a:bodyPr>
          <a:lstStyle/>
          <a:p>
            <a:pPr>
              <a:lnSpc>
                <a:spcPct val="120000"/>
              </a:lnSpc>
            </a:pPr>
            <a:r>
              <a:rPr lang="en-US" sz="1700" b="1" dirty="0">
                <a:latin typeface="Arial" pitchFamily="34" charset="0"/>
                <a:cs typeface="Arial" pitchFamily="34" charset="0"/>
              </a:rPr>
              <a:t>I hope </a:t>
            </a:r>
            <a:r>
              <a:rPr lang="en-US" sz="1700" b="1" dirty="0" smtClean="0">
                <a:latin typeface="Arial" pitchFamily="34" charset="0"/>
                <a:cs typeface="Arial" pitchFamily="34" charset="0"/>
              </a:rPr>
              <a:t>you understood the </a:t>
            </a:r>
            <a:r>
              <a:rPr lang="en-US" sz="1700" b="1" dirty="0">
                <a:latin typeface="Arial" pitchFamily="34" charset="0"/>
                <a:cs typeface="Arial" pitchFamily="34" charset="0"/>
              </a:rPr>
              <a:t>derivative market dynamics and why there is no need to know the names of counter </a:t>
            </a:r>
            <a:r>
              <a:rPr lang="en-US" sz="1700" b="1" dirty="0" smtClean="0">
                <a:latin typeface="Arial" pitchFamily="34" charset="0"/>
                <a:cs typeface="Arial" pitchFamily="34" charset="0"/>
              </a:rPr>
              <a:t>parties.</a:t>
            </a:r>
            <a:endParaRPr lang="en-US" sz="1700" b="1" dirty="0">
              <a:latin typeface="Arial" pitchFamily="34" charset="0"/>
              <a:cs typeface="Arial" pitchFamily="34" charset="0"/>
            </a:endParaRPr>
          </a:p>
        </p:txBody>
      </p:sp>
      <p:sp>
        <p:nvSpPr>
          <p:cNvPr id="4" name="TextBox 3"/>
          <p:cNvSpPr txBox="1"/>
          <p:nvPr/>
        </p:nvSpPr>
        <p:spPr>
          <a:xfrm>
            <a:off x="2555776" y="476672"/>
            <a:ext cx="3957590"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DERIVATIVE MARKET</a:t>
            </a:r>
          </a:p>
        </p:txBody>
      </p:sp>
    </p:spTree>
    <p:extLst>
      <p:ext uri="{BB962C8B-B14F-4D97-AF65-F5344CB8AC3E}">
        <p14:creationId xmlns:p14="http://schemas.microsoft.com/office/powerpoint/2010/main" val="9353280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536958" y="1268760"/>
            <a:ext cx="3024337" cy="1394228"/>
          </a:xfrm>
          <a:prstGeom prst="rect">
            <a:avLst/>
          </a:prstGeom>
          <a:noFill/>
        </p:spPr>
        <p:txBody>
          <a:bodyPr wrap="square" rtlCol="0">
            <a:spAutoFit/>
          </a:bodyPr>
          <a:lstStyle/>
          <a:p>
            <a:pPr>
              <a:lnSpc>
                <a:spcPct val="150000"/>
              </a:lnSpc>
              <a:spcBef>
                <a:spcPct val="20000"/>
              </a:spcBef>
            </a:pPr>
            <a:r>
              <a:rPr lang="en-US" b="1" dirty="0" smtClean="0">
                <a:latin typeface="Arial" pitchFamily="34" charset="0"/>
                <a:cs typeface="Arial" pitchFamily="34" charset="0"/>
              </a:rPr>
              <a:t>Please </a:t>
            </a:r>
            <a:r>
              <a:rPr lang="en-US" b="1" dirty="0">
                <a:latin typeface="Arial" pitchFamily="34" charset="0"/>
                <a:cs typeface="Arial" pitchFamily="34" charset="0"/>
              </a:rPr>
              <a:t>give your </a:t>
            </a:r>
            <a:r>
              <a:rPr lang="en-US" b="1" dirty="0" smtClean="0">
                <a:latin typeface="Arial" pitchFamily="34" charset="0"/>
                <a:cs typeface="Arial" pitchFamily="34" charset="0"/>
              </a:rPr>
              <a:t>feedback </a:t>
            </a:r>
            <a:r>
              <a:rPr lang="en-US" b="1" dirty="0">
                <a:latin typeface="Arial" pitchFamily="34" charset="0"/>
                <a:cs typeface="Arial" pitchFamily="34" charset="0"/>
              </a:rPr>
              <a:t>at </a:t>
            </a:r>
          </a:p>
          <a:p>
            <a:pP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1880</TotalTime>
  <Words>572</Words>
  <Application>Microsoft Office PowerPoint</Application>
  <PresentationFormat>On-screen Show (4:3)</PresentationFormat>
  <Paragraphs>31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Savio Crasto</cp:lastModifiedBy>
  <cp:revision>197</cp:revision>
  <dcterms:created xsi:type="dcterms:W3CDTF">2013-10-22T09:41:31Z</dcterms:created>
  <dcterms:modified xsi:type="dcterms:W3CDTF">2014-09-26T09:20:03Z</dcterms:modified>
</cp:coreProperties>
</file>