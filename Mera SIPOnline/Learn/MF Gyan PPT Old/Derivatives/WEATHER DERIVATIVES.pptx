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43" r:id="rId3"/>
    <p:sldId id="316" r:id="rId4"/>
    <p:sldId id="347" r:id="rId5"/>
    <p:sldId id="374" r:id="rId6"/>
    <p:sldId id="363" r:id="rId7"/>
    <p:sldId id="379" r:id="rId8"/>
    <p:sldId id="362" r:id="rId9"/>
    <p:sldId id="375" r:id="rId10"/>
    <p:sldId id="352" r:id="rId11"/>
    <p:sldId id="376" r:id="rId12"/>
    <p:sldId id="324" r:id="rId13"/>
    <p:sldId id="348" r:id="rId14"/>
    <p:sldId id="325" r:id="rId15"/>
    <p:sldId id="378" r:id="rId16"/>
    <p:sldId id="380" r:id="rId17"/>
    <p:sldId id="384" r:id="rId18"/>
    <p:sldId id="385" r:id="rId19"/>
    <p:sldId id="386" r:id="rId20"/>
    <p:sldId id="387" r:id="rId21"/>
    <p:sldId id="388" r:id="rId22"/>
    <p:sldId id="389" r:id="rId23"/>
    <p:sldId id="390" r:id="rId24"/>
    <p:sldId id="391" r:id="rId25"/>
    <p:sldId id="392" r:id="rId26"/>
    <p:sldId id="393" r:id="rId27"/>
    <p:sldId id="394" r:id="rId28"/>
    <p:sldId id="395" r:id="rId29"/>
    <p:sldId id="396" r:id="rId30"/>
    <p:sldId id="397" r:id="rId31"/>
    <p:sldId id="398" r:id="rId32"/>
    <p:sldId id="273"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50" d="100"/>
          <a:sy n="50" d="100"/>
        </p:scale>
        <p:origin x="1195" y="29"/>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461646"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WEATHER DERIVATIVES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1429298" y="1700808"/>
            <a:ext cx="3286718" cy="1200329"/>
          </a:xfrm>
          <a:prstGeom prst="rect">
            <a:avLst/>
          </a:prstGeom>
          <a:noFill/>
        </p:spPr>
        <p:txBody>
          <a:bodyPr wrap="square" rtlCol="0">
            <a:spAutoFit/>
          </a:bodyPr>
          <a:lstStyle/>
          <a:p>
            <a:pPr>
              <a:lnSpc>
                <a:spcPct val="150000"/>
              </a:lnSpc>
            </a:pPr>
            <a:r>
              <a:rPr lang="en-US" sz="1600" b="1" dirty="0" smtClean="0">
                <a:latin typeface="Arial" pitchFamily="34" charset="0"/>
                <a:cs typeface="Arial" pitchFamily="34" charset="0"/>
              </a:rPr>
              <a:t>Understanding</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‘Weather </a:t>
            </a:r>
            <a:r>
              <a:rPr lang="en-US" sz="1600" b="1" dirty="0">
                <a:latin typeface="Arial" pitchFamily="34" charset="0"/>
                <a:cs typeface="Arial" pitchFamily="34" charset="0"/>
              </a:rPr>
              <a:t>Derivatives’ </a:t>
            </a:r>
            <a:br>
              <a:rPr lang="en-US" sz="1600" b="1" dirty="0">
                <a:latin typeface="Arial" pitchFamily="34" charset="0"/>
                <a:cs typeface="Arial" pitchFamily="34" charset="0"/>
              </a:rPr>
            </a:br>
            <a:r>
              <a:rPr lang="en-US" sz="1600" b="1" dirty="0" smtClean="0">
                <a:latin typeface="Arial" pitchFamily="34" charset="0"/>
                <a:cs typeface="Arial" pitchFamily="34" charset="0"/>
              </a:rPr>
              <a:t>–  </a:t>
            </a:r>
            <a:r>
              <a:rPr lang="en-US" sz="1400" b="1" dirty="0">
                <a:latin typeface="Arial" pitchFamily="34" charset="0"/>
                <a:cs typeface="Arial" pitchFamily="34" charset="0"/>
              </a:rPr>
              <a:t>By Prof. </a:t>
            </a:r>
            <a:r>
              <a:rPr lang="en-US" sz="1400" b="1" i="1" dirty="0">
                <a:latin typeface="Arial" pitchFamily="34" charset="0"/>
                <a:cs typeface="Arial" pitchFamily="34" charset="0"/>
              </a:rPr>
              <a:t>Simply</a:t>
            </a:r>
            <a:r>
              <a:rPr lang="en-US" sz="1400" b="1" dirty="0">
                <a:latin typeface="Arial" pitchFamily="34" charset="0"/>
                <a:cs typeface="Arial" pitchFamily="34" charset="0"/>
              </a:rPr>
              <a:t> Simple </a:t>
            </a:r>
            <a:r>
              <a:rPr lang="en-US" sz="1600" b="1" baseline="70000" dirty="0">
                <a:latin typeface="Arial" pitchFamily="34" charset="0"/>
                <a:cs typeface="Arial" pitchFamily="34" charset="0"/>
              </a:rPr>
              <a:t>TM</a:t>
            </a:r>
          </a:p>
        </p:txBody>
      </p:sp>
    </p:spTree>
    <p:extLst>
      <p:ext uri="{BB962C8B-B14F-4D97-AF65-F5344CB8AC3E}">
        <p14:creationId xmlns:p14="http://schemas.microsoft.com/office/powerpoint/2010/main" val="1515449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3856980"/>
            <a:ext cx="4214842" cy="2308324"/>
          </a:xfrm>
          <a:prstGeom prst="rect">
            <a:avLst/>
          </a:prstGeom>
        </p:spPr>
        <p:txBody>
          <a:bodyPr wrap="square">
            <a:spAutoFit/>
          </a:bodyPr>
          <a:lstStyle/>
          <a:p>
            <a:pPr>
              <a:lnSpc>
                <a:spcPct val="150000"/>
              </a:lnSpc>
            </a:pPr>
            <a:r>
              <a:rPr lang="en-US" b="1" dirty="0">
                <a:latin typeface="Arial" pitchFamily="34" charset="0"/>
                <a:cs typeface="Arial" pitchFamily="34" charset="0"/>
              </a:rPr>
              <a:t>In the last few years, the monsoons have played truant </a:t>
            </a:r>
            <a:r>
              <a:rPr lang="en-US" b="1" dirty="0" smtClean="0">
                <a:latin typeface="Arial" pitchFamily="34" charset="0"/>
                <a:cs typeface="Arial" pitchFamily="34" charset="0"/>
              </a:rPr>
              <a:t>on </a:t>
            </a:r>
            <a:r>
              <a:rPr lang="en-US" b="1" dirty="0">
                <a:latin typeface="Arial" pitchFamily="34" charset="0"/>
                <a:cs typeface="Arial" pitchFamily="34" charset="0"/>
              </a:rPr>
              <a:t>more than one occasion. </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But what if your </a:t>
            </a:r>
            <a:r>
              <a:rPr lang="en-US" b="1" dirty="0" smtClean="0">
                <a:latin typeface="Arial" pitchFamily="34" charset="0"/>
                <a:cs typeface="Arial" pitchFamily="34" charset="0"/>
              </a:rPr>
              <a:t>business depended </a:t>
            </a:r>
            <a:r>
              <a:rPr lang="en-US" b="1" dirty="0">
                <a:latin typeface="Arial" pitchFamily="34" charset="0"/>
                <a:cs typeface="Arial" pitchFamily="34" charset="0"/>
              </a:rPr>
              <a:t>on a good and timely monsoon?</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spTree>
    <p:extLst>
      <p:ext uri="{BB962C8B-B14F-4D97-AF65-F5344CB8AC3E}">
        <p14:creationId xmlns:p14="http://schemas.microsoft.com/office/powerpoint/2010/main" val="935328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3059832" y="1149906"/>
            <a:ext cx="3456384" cy="2169825"/>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Lets understand how “Weather </a:t>
            </a:r>
            <a:r>
              <a:rPr lang="en-US" b="1" dirty="0">
                <a:latin typeface="Arial" pitchFamily="34" charset="0"/>
                <a:cs typeface="Arial" pitchFamily="34" charset="0"/>
              </a:rPr>
              <a:t>Derivatives</a:t>
            </a:r>
            <a:r>
              <a:rPr lang="en-US" b="1" dirty="0" smtClean="0">
                <a:latin typeface="Arial" pitchFamily="34" charset="0"/>
                <a:cs typeface="Arial" pitchFamily="34" charset="0"/>
              </a:rPr>
              <a:t>” provide </a:t>
            </a:r>
            <a:r>
              <a:rPr lang="en-US" b="1" dirty="0">
                <a:latin typeface="Arial" pitchFamily="34" charset="0"/>
                <a:cs typeface="Arial" pitchFamily="34" charset="0"/>
              </a:rPr>
              <a:t>protection against the uncertainties of the weather. </a:t>
            </a:r>
          </a:p>
        </p:txBody>
      </p:sp>
      <p:sp>
        <p:nvSpPr>
          <p:cNvPr id="6" name="TextBox 5"/>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21494"/>
            <a:ext cx="7848872"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Any derivative product derives its value from some underlying asset.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Weather derivatives use weather conditions—such as city temperature, rainfall and wind speed and so on—to create different kinds of derivative instruments. </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spTree>
    <p:extLst>
      <p:ext uri="{BB962C8B-B14F-4D97-AF65-F5344CB8AC3E}">
        <p14:creationId xmlns:p14="http://schemas.microsoft.com/office/powerpoint/2010/main" val="8762587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680012" y="2276872"/>
            <a:ext cx="3780420" cy="3970318"/>
          </a:xfrm>
          <a:prstGeom prst="rect">
            <a:avLst/>
          </a:prstGeom>
        </p:spPr>
        <p:txBody>
          <a:bodyPr wrap="square">
            <a:spAutoFit/>
          </a:bodyPr>
          <a:lstStyle/>
          <a:p>
            <a:pPr>
              <a:lnSpc>
                <a:spcPct val="150000"/>
              </a:lnSpc>
            </a:pPr>
            <a:r>
              <a:rPr lang="en-US" b="1" dirty="0">
                <a:latin typeface="Arial" pitchFamily="34" charset="0"/>
                <a:cs typeface="Arial" pitchFamily="34" charset="0"/>
              </a:rPr>
              <a:t>Although you can’t put a price tag on rainfall or temperature, weather conditions do fluctuate like the price of your stocks and bonds. </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That’s what enables the creation of weather derivatives, which work just like any other derivative.</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spTree>
    <p:extLst>
      <p:ext uri="{BB962C8B-B14F-4D97-AF65-F5344CB8AC3E}">
        <p14:creationId xmlns:p14="http://schemas.microsoft.com/office/powerpoint/2010/main" val="19463685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1213274" y="1844824"/>
            <a:ext cx="3646758" cy="1200329"/>
          </a:xfrm>
          <a:prstGeom prst="rect">
            <a:avLst/>
          </a:prstGeom>
          <a:noFill/>
        </p:spPr>
        <p:txBody>
          <a:bodyPr wrap="square" rtlCol="0">
            <a:spAutoFit/>
          </a:bodyPr>
          <a:lstStyle/>
          <a:p>
            <a:pPr>
              <a:lnSpc>
                <a:spcPct val="150000"/>
              </a:lnSpc>
            </a:pPr>
            <a:r>
              <a:rPr lang="en-US" sz="1600" b="1" dirty="0" smtClean="0">
                <a:latin typeface="Arial" pitchFamily="34" charset="0"/>
                <a:cs typeface="Arial" pitchFamily="34" charset="0"/>
              </a:rPr>
              <a:t>Sounds </a:t>
            </a:r>
            <a:r>
              <a:rPr lang="en-US" sz="1600" b="1" dirty="0">
                <a:latin typeface="Arial" pitchFamily="34" charset="0"/>
                <a:cs typeface="Arial" pitchFamily="34" charset="0"/>
              </a:rPr>
              <a:t>quite intriguing, doesn’t it?</a:t>
            </a:r>
          </a:p>
          <a:p>
            <a:pPr>
              <a:lnSpc>
                <a:spcPct val="150000"/>
              </a:lnSpc>
            </a:pPr>
            <a:r>
              <a:rPr lang="en-US" sz="1600" b="1" dirty="0">
                <a:latin typeface="Arial" pitchFamily="34" charset="0"/>
                <a:cs typeface="Arial" pitchFamily="34" charset="0"/>
              </a:rPr>
              <a:t>Now let’s understand better through the following example…</a:t>
            </a:r>
            <a:endParaRPr lang="en-US" sz="1600" b="1" baseline="70000" dirty="0">
              <a:latin typeface="Arial" pitchFamily="34" charset="0"/>
              <a:cs typeface="Arial" pitchFamily="34" charset="0"/>
            </a:endParaRPr>
          </a:p>
        </p:txBody>
      </p:sp>
    </p:spTree>
    <p:extLst>
      <p:ext uri="{BB962C8B-B14F-4D97-AF65-F5344CB8AC3E}">
        <p14:creationId xmlns:p14="http://schemas.microsoft.com/office/powerpoint/2010/main" val="18763993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0108"/>
            <a:ext cx="7488832" cy="1338828"/>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Let’s say Mr. </a:t>
            </a:r>
            <a:r>
              <a:rPr lang="en-US" b="1" dirty="0" err="1" smtClean="0">
                <a:latin typeface="Arial" pitchFamily="34" charset="0"/>
                <a:cs typeface="Arial" pitchFamily="34" charset="0"/>
              </a:rPr>
              <a:t>Kisan</a:t>
            </a:r>
            <a:r>
              <a:rPr lang="en-US" b="1" dirty="0" smtClean="0">
                <a:latin typeface="Arial" pitchFamily="34" charset="0"/>
                <a:cs typeface="Arial" pitchFamily="34" charset="0"/>
              </a:rPr>
              <a:t> </a:t>
            </a:r>
            <a:r>
              <a:rPr lang="en-US" b="1" dirty="0">
                <a:latin typeface="Arial" pitchFamily="34" charset="0"/>
                <a:cs typeface="Arial" pitchFamily="34" charset="0"/>
              </a:rPr>
              <a:t>is a farmer whose fortunes depend on the arrival of timely monsoons. Also, lets assume that </a:t>
            </a:r>
            <a:r>
              <a:rPr lang="en-US" b="1" dirty="0" err="1">
                <a:latin typeface="Arial" pitchFamily="34" charset="0"/>
                <a:cs typeface="Arial" pitchFamily="34" charset="0"/>
              </a:rPr>
              <a:t>Rs</a:t>
            </a:r>
            <a:r>
              <a:rPr lang="en-US" b="1" dirty="0">
                <a:latin typeface="Arial" pitchFamily="34" charset="0"/>
                <a:cs typeface="Arial" pitchFamily="34" charset="0"/>
              </a:rPr>
              <a:t>. 600 is his overall cost for plowing, sowing wheat etc.</a:t>
            </a:r>
          </a:p>
        </p:txBody>
      </p:sp>
      <p:sp>
        <p:nvSpPr>
          <p:cNvPr id="7" name="TextBox 6"/>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pic>
        <p:nvPicPr>
          <p:cNvPr id="13" name="Picture 4" descr="Farme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2288451"/>
            <a:ext cx="4419600" cy="4103687"/>
          </a:xfrm>
          <a:prstGeom prst="rect">
            <a:avLst/>
          </a:prstGeom>
          <a:noFill/>
          <a:effectLst>
            <a:outerShdw blurRad="76200" dir="13500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0108"/>
            <a:ext cx="7560840" cy="2543197"/>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If the monsoons are on time he earns, say, </a:t>
            </a:r>
            <a:r>
              <a:rPr lang="en-US" b="1" dirty="0" err="1">
                <a:latin typeface="Arial" pitchFamily="34" charset="0"/>
                <a:cs typeface="Arial" pitchFamily="34" charset="0"/>
              </a:rPr>
              <a:t>Rs</a:t>
            </a:r>
            <a:r>
              <a:rPr lang="en-US" b="1" dirty="0">
                <a:latin typeface="Arial" pitchFamily="34" charset="0"/>
                <a:cs typeface="Arial" pitchFamily="34" charset="0"/>
              </a:rPr>
              <a:t>. 1000 &amp; makes a profit of </a:t>
            </a:r>
            <a:r>
              <a:rPr lang="en-US" b="1" dirty="0" err="1">
                <a:latin typeface="Arial" pitchFamily="34" charset="0"/>
                <a:cs typeface="Arial" pitchFamily="34" charset="0"/>
              </a:rPr>
              <a:t>Rs</a:t>
            </a:r>
            <a:r>
              <a:rPr lang="en-US" b="1" dirty="0">
                <a:latin typeface="Arial" pitchFamily="34" charset="0"/>
                <a:cs typeface="Arial" pitchFamily="34" charset="0"/>
              </a:rPr>
              <a:t>. 400 (</a:t>
            </a:r>
            <a:r>
              <a:rPr lang="en-US" b="1" dirty="0" err="1">
                <a:latin typeface="Arial" pitchFamily="34" charset="0"/>
                <a:cs typeface="Arial" pitchFamily="34" charset="0"/>
              </a:rPr>
              <a:t>Rs</a:t>
            </a:r>
            <a:r>
              <a:rPr lang="en-US" b="1" dirty="0">
                <a:latin typeface="Arial" pitchFamily="34" charset="0"/>
                <a:cs typeface="Arial" pitchFamily="34" charset="0"/>
              </a:rPr>
              <a:t>. 1000 – </a:t>
            </a:r>
            <a:r>
              <a:rPr lang="en-US" b="1" dirty="0" err="1">
                <a:latin typeface="Arial" pitchFamily="34" charset="0"/>
                <a:cs typeface="Arial" pitchFamily="34" charset="0"/>
              </a:rPr>
              <a:t>Rs</a:t>
            </a:r>
            <a:r>
              <a:rPr lang="en-US" b="1" dirty="0">
                <a:latin typeface="Arial" pitchFamily="34" charset="0"/>
                <a:cs typeface="Arial" pitchFamily="34" charset="0"/>
              </a:rPr>
              <a:t>. 600).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But if they are delayed, his earnings could reduce to </a:t>
            </a:r>
            <a:r>
              <a:rPr lang="en-US" b="1" dirty="0" err="1">
                <a:latin typeface="Arial" pitchFamily="34" charset="0"/>
                <a:cs typeface="Arial" pitchFamily="34" charset="0"/>
              </a:rPr>
              <a:t>Rs</a:t>
            </a:r>
            <a:r>
              <a:rPr lang="en-US" b="1" dirty="0">
                <a:latin typeface="Arial" pitchFamily="34" charset="0"/>
                <a:cs typeface="Arial" pitchFamily="34" charset="0"/>
              </a:rPr>
              <a:t> 500.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In this case, he will not be able to even recover his cost of </a:t>
            </a:r>
            <a:r>
              <a:rPr lang="en-US" b="1" dirty="0" err="1">
                <a:latin typeface="Arial" pitchFamily="34" charset="0"/>
                <a:cs typeface="Arial" pitchFamily="34" charset="0"/>
              </a:rPr>
              <a:t>Rs</a:t>
            </a:r>
            <a:r>
              <a:rPr lang="en-US" b="1" dirty="0">
                <a:latin typeface="Arial" pitchFamily="34" charset="0"/>
                <a:cs typeface="Arial" pitchFamily="34" charset="0"/>
              </a:rPr>
              <a:t>. 600.</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spTree>
    <p:extLst>
      <p:ext uri="{BB962C8B-B14F-4D97-AF65-F5344CB8AC3E}">
        <p14:creationId xmlns:p14="http://schemas.microsoft.com/office/powerpoint/2010/main" val="7823761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2736"/>
            <a:ext cx="7848872"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Therefore</a:t>
            </a:r>
            <a:r>
              <a:rPr lang="en-US" b="1" dirty="0">
                <a:latin typeface="Arial" pitchFamily="34" charset="0"/>
                <a:cs typeface="Arial" pitchFamily="34" charset="0"/>
              </a:rPr>
              <a:t>, he is willing to spend some money if someone can ensure that he makes some profit </a:t>
            </a:r>
            <a:r>
              <a:rPr lang="en-US" b="1" dirty="0" smtClean="0">
                <a:latin typeface="Arial" pitchFamily="34" charset="0"/>
                <a:cs typeface="Arial" pitchFamily="34" charset="0"/>
              </a:rPr>
              <a:t>irrespective of </a:t>
            </a:r>
            <a:r>
              <a:rPr lang="en-US" b="1" dirty="0">
                <a:latin typeface="Arial" pitchFamily="34" charset="0"/>
                <a:cs typeface="Arial" pitchFamily="34" charset="0"/>
              </a:rPr>
              <a:t>whether the monsoon is on time or not.</a:t>
            </a: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1432813" y="1772816"/>
            <a:ext cx="3214710" cy="1154675"/>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This need for protection gives rise to “Weather Derivative Contracts”.</a:t>
            </a:r>
          </a:p>
        </p:txBody>
      </p:sp>
    </p:spTree>
    <p:extLst>
      <p:ext uri="{BB962C8B-B14F-4D97-AF65-F5344CB8AC3E}">
        <p14:creationId xmlns:p14="http://schemas.microsoft.com/office/powerpoint/2010/main" val="31524960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7991"/>
            <a:ext cx="3636404" cy="300082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So </a:t>
            </a:r>
            <a:r>
              <a:rPr lang="en-US" b="1" dirty="0" err="1" smtClean="0">
                <a:latin typeface="Arial" pitchFamily="34" charset="0"/>
                <a:cs typeface="Arial" pitchFamily="34" charset="0"/>
              </a:rPr>
              <a:t>Mr</a:t>
            </a:r>
            <a:r>
              <a:rPr lang="en-US" b="1" dirty="0" smtClean="0">
                <a:latin typeface="Arial" pitchFamily="34" charset="0"/>
                <a:cs typeface="Arial" pitchFamily="34" charset="0"/>
              </a:rPr>
              <a:t> </a:t>
            </a:r>
            <a:r>
              <a:rPr lang="en-US" b="1" dirty="0" err="1" smtClean="0">
                <a:latin typeface="Arial" pitchFamily="34" charset="0"/>
                <a:cs typeface="Arial" pitchFamily="34" charset="0"/>
              </a:rPr>
              <a:t>Kisan</a:t>
            </a:r>
            <a:r>
              <a:rPr lang="en-US" b="1" dirty="0" smtClean="0">
                <a:latin typeface="Arial" pitchFamily="34" charset="0"/>
                <a:cs typeface="Arial" pitchFamily="34" charset="0"/>
              </a:rPr>
              <a:t> heads </a:t>
            </a:r>
            <a:r>
              <a:rPr lang="en-US" b="1" dirty="0">
                <a:latin typeface="Arial" pitchFamily="34" charset="0"/>
                <a:cs typeface="Arial" pitchFamily="34" charset="0"/>
              </a:rPr>
              <a:t>to </a:t>
            </a:r>
            <a:r>
              <a:rPr lang="en-US" b="1" dirty="0" smtClean="0">
                <a:latin typeface="Arial" pitchFamily="34" charset="0"/>
                <a:cs typeface="Arial" pitchFamily="34" charset="0"/>
              </a:rPr>
              <a:t>a </a:t>
            </a:r>
            <a:r>
              <a:rPr lang="en-US" b="1" dirty="0">
                <a:latin typeface="Arial" pitchFamily="34" charset="0"/>
                <a:cs typeface="Arial" pitchFamily="34" charset="0"/>
              </a:rPr>
              <a:t>bank which offers him a weather derivative contract and is willing to stand guarantee for the same for a cost of </a:t>
            </a:r>
            <a:r>
              <a:rPr lang="en-US" b="1" dirty="0" err="1">
                <a:latin typeface="Arial" pitchFamily="34" charset="0"/>
                <a:cs typeface="Arial" pitchFamily="34" charset="0"/>
              </a:rPr>
              <a:t>Rs</a:t>
            </a:r>
            <a:r>
              <a:rPr lang="en-US" b="1" dirty="0">
                <a:latin typeface="Arial" pitchFamily="34" charset="0"/>
                <a:cs typeface="Arial" pitchFamily="34" charset="0"/>
              </a:rPr>
              <a:t> 200 which is also known as the ‘premium’.</a:t>
            </a:r>
          </a:p>
        </p:txBody>
      </p:sp>
      <p:sp>
        <p:nvSpPr>
          <p:cNvPr id="6" name="TextBox 5"/>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6386" y="1087248"/>
            <a:ext cx="3568700" cy="3581400"/>
          </a:xfrm>
          <a:prstGeom prst="rect">
            <a:avLst/>
          </a:prstGeom>
          <a:noFill/>
          <a:ln>
            <a:solidFill>
              <a:srgbClr val="FF0000"/>
            </a:solidFill>
          </a:ln>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4835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1266"/>
            <a:ext cx="7416824"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Thus if monsoons are on time, he is able to earn </a:t>
            </a:r>
            <a:r>
              <a:rPr lang="en-US" b="1" dirty="0" err="1">
                <a:latin typeface="Arial" pitchFamily="34" charset="0"/>
                <a:cs typeface="Arial" pitchFamily="34" charset="0"/>
              </a:rPr>
              <a:t>Rs</a:t>
            </a:r>
            <a:r>
              <a:rPr lang="en-US" b="1" dirty="0">
                <a:latin typeface="Arial" pitchFamily="34" charset="0"/>
                <a:cs typeface="Arial" pitchFamily="34" charset="0"/>
              </a:rPr>
              <a:t>. 1000 out which he pays </a:t>
            </a:r>
            <a:r>
              <a:rPr lang="en-US" b="1" dirty="0" err="1">
                <a:latin typeface="Arial" pitchFamily="34" charset="0"/>
                <a:cs typeface="Arial" pitchFamily="34" charset="0"/>
              </a:rPr>
              <a:t>Rs</a:t>
            </a:r>
            <a:r>
              <a:rPr lang="en-US" b="1" dirty="0">
                <a:latin typeface="Arial" pitchFamily="34" charset="0"/>
                <a:cs typeface="Arial" pitchFamily="34" charset="0"/>
              </a:rPr>
              <a:t> 200 as premium for the derivative contract.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Thus he still earns </a:t>
            </a:r>
            <a:r>
              <a:rPr lang="en-US" b="1" dirty="0" err="1">
                <a:latin typeface="Arial" pitchFamily="34" charset="0"/>
                <a:cs typeface="Arial" pitchFamily="34" charset="0"/>
              </a:rPr>
              <a:t>Rs</a:t>
            </a:r>
            <a:r>
              <a:rPr lang="en-US" b="1" dirty="0">
                <a:latin typeface="Arial" pitchFamily="34" charset="0"/>
                <a:cs typeface="Arial" pitchFamily="34" charset="0"/>
              </a:rPr>
              <a:t> 800 ( </a:t>
            </a:r>
            <a:r>
              <a:rPr lang="en-US" b="1" dirty="0" err="1">
                <a:latin typeface="Arial" pitchFamily="34" charset="0"/>
                <a:cs typeface="Arial" pitchFamily="34" charset="0"/>
              </a:rPr>
              <a:t>Rs</a:t>
            </a:r>
            <a:r>
              <a:rPr lang="en-US" b="1" dirty="0">
                <a:latin typeface="Arial" pitchFamily="34" charset="0"/>
                <a:cs typeface="Arial" pitchFamily="34" charset="0"/>
              </a:rPr>
              <a:t> 1000 – </a:t>
            </a:r>
            <a:r>
              <a:rPr lang="en-US" b="1" dirty="0" err="1">
                <a:latin typeface="Arial" pitchFamily="34" charset="0"/>
                <a:cs typeface="Arial" pitchFamily="34" charset="0"/>
              </a:rPr>
              <a:t>Rs</a:t>
            </a:r>
            <a:r>
              <a:rPr lang="en-US" b="1" dirty="0">
                <a:latin typeface="Arial" pitchFamily="34" charset="0"/>
                <a:cs typeface="Arial" pitchFamily="34" charset="0"/>
              </a:rPr>
              <a:t> 800</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0" name="TextBox 9"/>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sp>
        <p:nvSpPr>
          <p:cNvPr id="5" name="TextBox 4"/>
          <p:cNvSpPr txBox="1"/>
          <p:nvPr/>
        </p:nvSpPr>
        <p:spPr>
          <a:xfrm>
            <a:off x="4327725" y="3487125"/>
            <a:ext cx="4104456" cy="2862322"/>
          </a:xfrm>
          <a:prstGeom prst="rect">
            <a:avLst/>
          </a:prstGeom>
          <a:noFill/>
        </p:spPr>
        <p:txBody>
          <a:bodyPr wrap="square" rtlCol="0">
            <a:spAutoFit/>
          </a:bodyPr>
          <a:lstStyle/>
          <a:p>
            <a:r>
              <a:rPr lang="en-US" b="1" dirty="0">
                <a:latin typeface="Arial" pitchFamily="34" charset="0"/>
                <a:cs typeface="Arial" pitchFamily="34" charset="0"/>
              </a:rPr>
              <a:t>However if the monsoons are not on time, he still receives </a:t>
            </a:r>
            <a:r>
              <a:rPr lang="en-US" b="1" dirty="0" err="1">
                <a:latin typeface="Arial" pitchFamily="34" charset="0"/>
                <a:cs typeface="Arial" pitchFamily="34" charset="0"/>
              </a:rPr>
              <a:t>Rs</a:t>
            </a:r>
            <a:r>
              <a:rPr lang="en-US" b="1" dirty="0">
                <a:latin typeface="Arial" pitchFamily="34" charset="0"/>
                <a:cs typeface="Arial" pitchFamily="34" charset="0"/>
              </a:rPr>
              <a:t> 1000 as his earnings due to the weather derivative contract drawn between him &amp; the bank.</a:t>
            </a:r>
          </a:p>
          <a:p>
            <a:endParaRPr lang="en-US" b="1" dirty="0">
              <a:latin typeface="Arial" pitchFamily="34" charset="0"/>
              <a:cs typeface="Arial" pitchFamily="34" charset="0"/>
            </a:endParaRPr>
          </a:p>
          <a:p>
            <a:r>
              <a:rPr lang="en-US" b="1" dirty="0">
                <a:latin typeface="Arial" pitchFamily="34" charset="0"/>
                <a:cs typeface="Arial" pitchFamily="34" charset="0"/>
              </a:rPr>
              <a:t>The bank thus acts as an intermediary, which hedges or protects Mr. </a:t>
            </a:r>
            <a:r>
              <a:rPr lang="en-US" b="1" dirty="0" err="1">
                <a:latin typeface="Arial" pitchFamily="34" charset="0"/>
                <a:cs typeface="Arial" pitchFamily="34" charset="0"/>
              </a:rPr>
              <a:t>Kissan</a:t>
            </a:r>
            <a:r>
              <a:rPr lang="en-US" b="1" dirty="0">
                <a:latin typeface="Arial" pitchFamily="34" charset="0"/>
                <a:cs typeface="Arial" pitchFamily="34" charset="0"/>
              </a:rPr>
              <a:t> from an unpredictable monsoon.</a:t>
            </a:r>
          </a:p>
        </p:txBody>
      </p:sp>
    </p:spTree>
    <p:extLst>
      <p:ext uri="{BB962C8B-B14F-4D97-AF65-F5344CB8AC3E}">
        <p14:creationId xmlns:p14="http://schemas.microsoft.com/office/powerpoint/2010/main" val="27512652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843808" y="980728"/>
            <a:ext cx="4320480"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In ‘Weather Derivatives’ two parties have differing points of view on the weather just as in Futures Trading two parties have different points of view on the future price of a stock.</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spTree>
    <p:extLst>
      <p:ext uri="{BB962C8B-B14F-4D97-AF65-F5344CB8AC3E}">
        <p14:creationId xmlns:p14="http://schemas.microsoft.com/office/powerpoint/2010/main" val="11196213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1266"/>
            <a:ext cx="7848872" cy="3970318"/>
          </a:xfrm>
          <a:prstGeom prst="rect">
            <a:avLst/>
          </a:prstGeom>
          <a:noFill/>
        </p:spPr>
        <p:txBody>
          <a:bodyPr wrap="square" rtlCol="0">
            <a:spAutoFit/>
          </a:bodyPr>
          <a:lstStyle/>
          <a:p>
            <a:r>
              <a:rPr lang="en-US" b="1" dirty="0">
                <a:latin typeface="Arial" pitchFamily="34" charset="0"/>
                <a:cs typeface="Arial" pitchFamily="34" charset="0"/>
              </a:rPr>
              <a:t>In Weather Derivatives both parties achieve their goals of protecting their interests.</a:t>
            </a:r>
            <a:br>
              <a:rPr lang="en-US" b="1" dirty="0">
                <a:latin typeface="Arial" pitchFamily="34" charset="0"/>
                <a:cs typeface="Arial" pitchFamily="34" charset="0"/>
              </a:rPr>
            </a:br>
            <a:endParaRPr lang="en-US" b="1" dirty="0">
              <a:latin typeface="Arial" pitchFamily="34" charset="0"/>
              <a:cs typeface="Arial" pitchFamily="34" charset="0"/>
            </a:endParaRPr>
          </a:p>
          <a:p>
            <a:r>
              <a:rPr lang="en-US" b="1" dirty="0">
                <a:latin typeface="Arial" pitchFamily="34" charset="0"/>
                <a:cs typeface="Arial" pitchFamily="34" charset="0"/>
              </a:rPr>
              <a:t>While there may be an opportunity loss for Mr. </a:t>
            </a:r>
            <a:r>
              <a:rPr lang="en-US" b="1" dirty="0" err="1">
                <a:latin typeface="Arial" pitchFamily="34" charset="0"/>
                <a:cs typeface="Arial" pitchFamily="34" charset="0"/>
              </a:rPr>
              <a:t>Kissan</a:t>
            </a:r>
            <a:r>
              <a:rPr lang="en-US" b="1" dirty="0">
                <a:latin typeface="Arial" pitchFamily="34" charset="0"/>
                <a:cs typeface="Arial" pitchFamily="34" charset="0"/>
              </a:rPr>
              <a:t>, he still lands up making a profit of </a:t>
            </a:r>
            <a:r>
              <a:rPr lang="en-US" b="1" dirty="0" err="1">
                <a:latin typeface="Arial" pitchFamily="34" charset="0"/>
                <a:cs typeface="Arial" pitchFamily="34" charset="0"/>
              </a:rPr>
              <a:t>Rs</a:t>
            </a:r>
            <a:r>
              <a:rPr lang="en-US" b="1" dirty="0">
                <a:latin typeface="Arial" pitchFamily="34" charset="0"/>
                <a:cs typeface="Arial" pitchFamily="34" charset="0"/>
              </a:rPr>
              <a:t>. 200. </a:t>
            </a:r>
          </a:p>
          <a:p>
            <a:endParaRPr lang="en-US" b="1" dirty="0">
              <a:latin typeface="Arial" pitchFamily="34" charset="0"/>
              <a:cs typeface="Arial" pitchFamily="34" charset="0"/>
            </a:endParaRPr>
          </a:p>
          <a:p>
            <a:r>
              <a:rPr lang="en-US" b="1" dirty="0">
                <a:latin typeface="Arial" pitchFamily="34" charset="0"/>
                <a:cs typeface="Arial" pitchFamily="34" charset="0"/>
              </a:rPr>
              <a:t>At least he would have been at peace for the period before the monsoon since he remained protected against any kind of weather fluctuation.</a:t>
            </a:r>
          </a:p>
          <a:p>
            <a:endParaRPr lang="en-US" b="1" dirty="0">
              <a:latin typeface="Arial" pitchFamily="34" charset="0"/>
              <a:cs typeface="Arial" pitchFamily="34" charset="0"/>
            </a:endParaRPr>
          </a:p>
          <a:p>
            <a:r>
              <a:rPr lang="en-US" b="1" dirty="0">
                <a:latin typeface="Arial" pitchFamily="34" charset="0"/>
                <a:cs typeface="Arial" pitchFamily="34" charset="0"/>
              </a:rPr>
              <a:t>The bank, on the other hand, charges </a:t>
            </a:r>
            <a:r>
              <a:rPr lang="en-US" b="1" dirty="0" err="1">
                <a:latin typeface="Arial" pitchFamily="34" charset="0"/>
                <a:cs typeface="Arial" pitchFamily="34" charset="0"/>
              </a:rPr>
              <a:t>Rs</a:t>
            </a:r>
            <a:r>
              <a:rPr lang="en-US" b="1" dirty="0">
                <a:latin typeface="Arial" pitchFamily="34" charset="0"/>
                <a:cs typeface="Arial" pitchFamily="34" charset="0"/>
              </a:rPr>
              <a:t> 200 as risk premium. </a:t>
            </a:r>
            <a:br>
              <a:rPr lang="en-US" b="1" dirty="0">
                <a:latin typeface="Arial" pitchFamily="34" charset="0"/>
                <a:cs typeface="Arial" pitchFamily="34" charset="0"/>
              </a:rPr>
            </a:br>
            <a:endParaRPr lang="en-US" b="1" dirty="0">
              <a:latin typeface="Arial" pitchFamily="34" charset="0"/>
              <a:cs typeface="Arial" pitchFamily="34" charset="0"/>
            </a:endParaRPr>
          </a:p>
          <a:p>
            <a:r>
              <a:rPr lang="en-US" b="1" dirty="0">
                <a:latin typeface="Arial" pitchFamily="34" charset="0"/>
                <a:cs typeface="Arial" pitchFamily="34" charset="0"/>
              </a:rPr>
              <a:t>It earns this money if the weather turns out as per its expectation but in case the weather fails, it would lose </a:t>
            </a:r>
            <a:r>
              <a:rPr lang="en-US" b="1" dirty="0" err="1">
                <a:latin typeface="Arial" pitchFamily="34" charset="0"/>
                <a:cs typeface="Arial" pitchFamily="34" charset="0"/>
              </a:rPr>
              <a:t>Rs</a:t>
            </a:r>
            <a:r>
              <a:rPr lang="en-US" b="1" dirty="0">
                <a:latin typeface="Arial" pitchFamily="34" charset="0"/>
                <a:cs typeface="Arial" pitchFamily="34" charset="0"/>
              </a:rPr>
              <a:t> 800  (</a:t>
            </a:r>
            <a:r>
              <a:rPr lang="en-US" b="1" dirty="0" err="1">
                <a:latin typeface="Arial" pitchFamily="34" charset="0"/>
                <a:cs typeface="Arial" pitchFamily="34" charset="0"/>
              </a:rPr>
              <a:t>Rs</a:t>
            </a:r>
            <a:r>
              <a:rPr lang="en-US" b="1" dirty="0">
                <a:latin typeface="Arial" pitchFamily="34" charset="0"/>
                <a:cs typeface="Arial" pitchFamily="34" charset="0"/>
              </a:rPr>
              <a:t> 1000 – </a:t>
            </a:r>
            <a:r>
              <a:rPr lang="en-US" b="1" dirty="0" err="1">
                <a:latin typeface="Arial" pitchFamily="34" charset="0"/>
                <a:cs typeface="Arial" pitchFamily="34" charset="0"/>
              </a:rPr>
              <a:t>Rs</a:t>
            </a:r>
            <a:r>
              <a:rPr lang="en-US" b="1" dirty="0">
                <a:latin typeface="Arial" pitchFamily="34" charset="0"/>
                <a:cs typeface="Arial" pitchFamily="34" charset="0"/>
              </a:rPr>
              <a:t> 200).</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a:t>
            </a:r>
          </a:p>
        </p:txBody>
      </p:sp>
    </p:spTree>
    <p:extLst>
      <p:ext uri="{BB962C8B-B14F-4D97-AF65-F5344CB8AC3E}">
        <p14:creationId xmlns:p14="http://schemas.microsoft.com/office/powerpoint/2010/main" val="104657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3203848" y="1103613"/>
            <a:ext cx="3456384" cy="1893339"/>
          </a:xfrm>
          <a:prstGeom prst="rect">
            <a:avLst/>
          </a:prstGeom>
          <a:noFill/>
        </p:spPr>
        <p:txBody>
          <a:bodyPr wrap="square" rtlCol="0">
            <a:spAutoFit/>
          </a:bodyPr>
          <a:lstStyle/>
          <a:p>
            <a:pPr>
              <a:lnSpc>
                <a:spcPct val="150000"/>
              </a:lnSpc>
            </a:pPr>
            <a:r>
              <a:rPr lang="en-US" sz="1600" b="1" dirty="0" smtClean="0">
                <a:latin typeface="Arial" pitchFamily="34" charset="0"/>
                <a:cs typeface="Arial" pitchFamily="34" charset="0"/>
              </a:rPr>
              <a:t>However </a:t>
            </a:r>
            <a:r>
              <a:rPr lang="en-US" sz="1600" b="1" dirty="0">
                <a:latin typeface="Arial" pitchFamily="34" charset="0"/>
                <a:cs typeface="Arial" pitchFamily="34" charset="0"/>
              </a:rPr>
              <a:t>we need to understand that the bank too hedges its risk by selling these products to different people having exactly the opposite view as well.</a:t>
            </a:r>
          </a:p>
        </p:txBody>
      </p:sp>
      <p:sp>
        <p:nvSpPr>
          <p:cNvPr id="6" name="TextBox 5"/>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029557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21494"/>
            <a:ext cx="7200800" cy="872034"/>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In the real world, imagine there are several farmers in the market who want the monsoon to come on time.</a:t>
            </a:r>
          </a:p>
        </p:txBody>
      </p:sp>
      <p:sp>
        <p:nvSpPr>
          <p:cNvPr id="6" name="TextBox 5"/>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pic>
        <p:nvPicPr>
          <p:cNvPr id="7"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576" y="2132856"/>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8"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1266" y="2557512"/>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9"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6866" y="3284984"/>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0"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666" y="4345993"/>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1"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1961" y="3649081"/>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2"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9976" y="4650793"/>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3"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4376" y="5500105"/>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4"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6361" y="4498393"/>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5"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1576" y="3431302"/>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6"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1576" y="2276872"/>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7"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9972" y="1793528"/>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8"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4800" y="3126184"/>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9"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5976" y="4282711"/>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0"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0623" y="5490329"/>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1"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7172" y="4923049"/>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2"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9572" y="370964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3"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81972" y="262605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4"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9030" y="170820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5"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6372" y="3006646"/>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6"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43972" y="4134296"/>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7"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315" y="532740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8"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3344" y="5834817"/>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9"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4716" y="5752056"/>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30"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1545" y="4773565"/>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31"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0061" y="3707795"/>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32"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4693" y="258199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33"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3238" y="3729767"/>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34"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24461" y="5132023"/>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35"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4716" y="162880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36"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84368" y="2149761"/>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53683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21494"/>
            <a:ext cx="7200800" cy="872034"/>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So they buy ‘Weather Derivative’ products as a hedge and pay a premium to the bank.</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pic>
        <p:nvPicPr>
          <p:cNvPr id="5"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576" y="2132856"/>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6"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1266" y="2557512"/>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7"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6866" y="3284984"/>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8"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666" y="4345993"/>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9"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1961" y="3649081"/>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0"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9976" y="4650793"/>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1"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4376" y="5500105"/>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2"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6361" y="4498393"/>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3"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1576" y="3431302"/>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4"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1576" y="2276872"/>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5"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9972" y="1793528"/>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6"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4800" y="3126184"/>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7"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5976" y="4282711"/>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8"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0623" y="5490329"/>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9"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7172" y="4923049"/>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0"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9572" y="370964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1"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81972" y="262605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2"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9030" y="170820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3"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6372" y="3006646"/>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4"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43972" y="4134296"/>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5"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315" y="532740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6"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1545" y="4773565"/>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7"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0061" y="3707795"/>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8"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4693" y="258199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9"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3238" y="3729767"/>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30"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24461" y="5132023"/>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31"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4716" y="1628800"/>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32"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84368" y="2149761"/>
            <a:ext cx="914400" cy="849312"/>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9200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0108"/>
            <a:ext cx="7488832" cy="1287532"/>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Similarly there are other people like ice cream sellers who actually do not want the rains to come on time. A delay in monsoon extends their selling season and consequently sales and profits!</a:t>
            </a:r>
          </a:p>
        </p:txBody>
      </p:sp>
      <p:sp>
        <p:nvSpPr>
          <p:cNvPr id="7" name="TextBox 6"/>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pic>
        <p:nvPicPr>
          <p:cNvPr id="8" name="Picture 20" descr="voice_bloomberg_fin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3608" y="2552700"/>
            <a:ext cx="1641475" cy="1752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0" descr="voice_bloomberg_fin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9234" y="2552700"/>
            <a:ext cx="1641475" cy="17526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0" descr="voice_bloomberg_fin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2552700"/>
            <a:ext cx="1641475" cy="17526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0" descr="voice_bloomberg_fin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83768" y="4725144"/>
            <a:ext cx="1641475" cy="17526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0" descr="voice_bloomberg_fin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0709" y="4725144"/>
            <a:ext cx="1641475"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3245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0108"/>
            <a:ext cx="7560840" cy="1338828"/>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So the ice cream maker too buys weather derivative products from the bank to hedge himself from early monsoon season. Thus, if the monsoons arrive early the bank protects him against losses.</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pic>
        <p:nvPicPr>
          <p:cNvPr id="5" name="Picture 20" descr="voice_bloomberg_fin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4619" y="2551753"/>
            <a:ext cx="3085193" cy="3294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084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2736"/>
            <a:ext cx="7848872" cy="2585323"/>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Let’s say the ice cream seller earns </a:t>
            </a:r>
            <a:r>
              <a:rPr lang="en-US" b="1" dirty="0" err="1">
                <a:latin typeface="Arial" pitchFamily="34" charset="0"/>
                <a:cs typeface="Arial" pitchFamily="34" charset="0"/>
              </a:rPr>
              <a:t>Rs</a:t>
            </a:r>
            <a:r>
              <a:rPr lang="en-US" b="1" dirty="0">
                <a:latin typeface="Arial" pitchFamily="34" charset="0"/>
                <a:cs typeface="Arial" pitchFamily="34" charset="0"/>
              </a:rPr>
              <a:t> 1000 as profit in a good season and </a:t>
            </a:r>
            <a:r>
              <a:rPr lang="en-US" b="1" dirty="0" err="1">
                <a:latin typeface="Arial" pitchFamily="34" charset="0"/>
                <a:cs typeface="Arial" pitchFamily="34" charset="0"/>
              </a:rPr>
              <a:t>Rs</a:t>
            </a:r>
            <a:r>
              <a:rPr lang="en-US" b="1" dirty="0">
                <a:latin typeface="Arial" pitchFamily="34" charset="0"/>
                <a:cs typeface="Arial" pitchFamily="34" charset="0"/>
              </a:rPr>
              <a:t> 500 as profit during the monsoons.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Since he wants to hedge himself against early monsoons &amp; not lose out on the remaining </a:t>
            </a:r>
            <a:r>
              <a:rPr lang="en-US" b="1" dirty="0" err="1">
                <a:latin typeface="Arial" pitchFamily="34" charset="0"/>
                <a:cs typeface="Arial" pitchFamily="34" charset="0"/>
              </a:rPr>
              <a:t>Rs</a:t>
            </a:r>
            <a:r>
              <a:rPr lang="en-US" b="1" dirty="0">
                <a:latin typeface="Arial" pitchFamily="34" charset="0"/>
                <a:cs typeface="Arial" pitchFamily="34" charset="0"/>
              </a:rPr>
              <a:t>. 500, he buys the weather derivative products at, say, </a:t>
            </a:r>
            <a:r>
              <a:rPr lang="en-US" b="1" dirty="0" err="1">
                <a:latin typeface="Arial" pitchFamily="34" charset="0"/>
                <a:cs typeface="Arial" pitchFamily="34" charset="0"/>
              </a:rPr>
              <a:t>Rs</a:t>
            </a:r>
            <a:r>
              <a:rPr lang="en-US" b="1" dirty="0">
                <a:latin typeface="Arial" pitchFamily="34" charset="0"/>
                <a:cs typeface="Arial" pitchFamily="34" charset="0"/>
              </a:rPr>
              <a:t> 300 to hedge him against losing the remaining </a:t>
            </a:r>
            <a:r>
              <a:rPr lang="en-US" b="1" dirty="0" err="1">
                <a:latin typeface="Arial" pitchFamily="34" charset="0"/>
                <a:cs typeface="Arial" pitchFamily="34" charset="0"/>
              </a:rPr>
              <a:t>Rs</a:t>
            </a:r>
            <a:r>
              <a:rPr lang="en-US" b="1" dirty="0">
                <a:latin typeface="Arial" pitchFamily="34" charset="0"/>
                <a:cs typeface="Arial" pitchFamily="34" charset="0"/>
              </a:rPr>
              <a:t>. 500.</a:t>
            </a: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9739998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1432813" y="2161359"/>
            <a:ext cx="3214710" cy="830997"/>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Now let’s look </a:t>
            </a:r>
            <a:r>
              <a:rPr lang="en-US" sz="1600" b="1" dirty="0" smtClean="0">
                <a:latin typeface="Arial" pitchFamily="34" charset="0"/>
                <a:cs typeface="Arial" pitchFamily="34" charset="0"/>
              </a:rPr>
              <a:t>at</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two </a:t>
            </a:r>
            <a:r>
              <a:rPr lang="en-US" sz="1600" b="1" dirty="0">
                <a:latin typeface="Arial" pitchFamily="34" charset="0"/>
                <a:cs typeface="Arial" pitchFamily="34" charset="0"/>
              </a:rPr>
              <a:t>different scenarios</a:t>
            </a:r>
            <a:r>
              <a:rPr lang="en-US" sz="1600" b="1" dirty="0" smtClean="0">
                <a:latin typeface="Arial" pitchFamily="34" charset="0"/>
                <a:cs typeface="Arial" pitchFamily="34" charset="0"/>
              </a:rPr>
              <a:t>…</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15728817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7991"/>
            <a:ext cx="7200800" cy="3780522"/>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Scenario A: The monsoons come early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In this case, he makes only </a:t>
            </a:r>
            <a:r>
              <a:rPr lang="en-US" b="1" dirty="0" err="1">
                <a:latin typeface="Arial" pitchFamily="34" charset="0"/>
                <a:cs typeface="Arial" pitchFamily="34" charset="0"/>
              </a:rPr>
              <a:t>Rs</a:t>
            </a:r>
            <a:r>
              <a:rPr lang="en-US" b="1" dirty="0">
                <a:latin typeface="Arial" pitchFamily="34" charset="0"/>
                <a:cs typeface="Arial" pitchFamily="34" charset="0"/>
              </a:rPr>
              <a:t>. 500. But as he gets </a:t>
            </a:r>
            <a:r>
              <a:rPr lang="en-US" b="1" dirty="0" smtClean="0">
                <a:latin typeface="Arial" pitchFamily="34" charset="0"/>
                <a:cs typeface="Arial" pitchFamily="34" charset="0"/>
              </a:rPr>
              <a:t>protected</a:t>
            </a:r>
            <a:br>
              <a:rPr lang="en-US" b="1" dirty="0" smtClean="0">
                <a:latin typeface="Arial" pitchFamily="34" charset="0"/>
                <a:cs typeface="Arial" pitchFamily="34" charset="0"/>
              </a:rPr>
            </a:br>
            <a:r>
              <a:rPr lang="en-US" b="1" dirty="0" smtClean="0">
                <a:latin typeface="Arial" pitchFamily="34" charset="0"/>
                <a:cs typeface="Arial" pitchFamily="34" charset="0"/>
              </a:rPr>
              <a:t>by </a:t>
            </a:r>
            <a:r>
              <a:rPr lang="en-US" b="1" dirty="0">
                <a:latin typeface="Arial" pitchFamily="34" charset="0"/>
                <a:cs typeface="Arial" pitchFamily="34" charset="0"/>
              </a:rPr>
              <a:t>the derivative product for the remaining </a:t>
            </a:r>
            <a:r>
              <a:rPr lang="en-US" b="1" dirty="0" err="1">
                <a:latin typeface="Arial" pitchFamily="34" charset="0"/>
                <a:cs typeface="Arial" pitchFamily="34" charset="0"/>
              </a:rPr>
              <a:t>Rs</a:t>
            </a:r>
            <a:r>
              <a:rPr lang="en-US" b="1" dirty="0">
                <a:latin typeface="Arial" pitchFamily="34" charset="0"/>
                <a:cs typeface="Arial" pitchFamily="34" charset="0"/>
              </a:rPr>
              <a:t>. 500, he </a:t>
            </a:r>
            <a:r>
              <a:rPr lang="en-US" b="1" dirty="0" smtClean="0">
                <a:latin typeface="Arial" pitchFamily="34" charset="0"/>
                <a:cs typeface="Arial" pitchFamily="34" charset="0"/>
              </a:rPr>
              <a:t>earns</a:t>
            </a:r>
            <a:br>
              <a:rPr lang="en-US" b="1" dirty="0" smtClean="0">
                <a:latin typeface="Arial" pitchFamily="34" charset="0"/>
                <a:cs typeface="Arial" pitchFamily="34" charset="0"/>
              </a:rPr>
            </a:b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a:latin typeface="Arial" pitchFamily="34" charset="0"/>
                <a:cs typeface="Arial" pitchFamily="34" charset="0"/>
              </a:rPr>
              <a:t>1000 in total.</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However since he has paid </a:t>
            </a:r>
            <a:r>
              <a:rPr lang="en-US" b="1" dirty="0" err="1">
                <a:latin typeface="Arial" pitchFamily="34" charset="0"/>
                <a:cs typeface="Arial" pitchFamily="34" charset="0"/>
              </a:rPr>
              <a:t>Rs</a:t>
            </a:r>
            <a:r>
              <a:rPr lang="en-US" b="1" dirty="0">
                <a:latin typeface="Arial" pitchFamily="34" charset="0"/>
                <a:cs typeface="Arial" pitchFamily="34" charset="0"/>
              </a:rPr>
              <a:t> 300 for the derivative </a:t>
            </a:r>
            <a:r>
              <a:rPr lang="en-US" b="1" dirty="0" smtClean="0">
                <a:latin typeface="Arial" pitchFamily="34" charset="0"/>
                <a:cs typeface="Arial" pitchFamily="34" charset="0"/>
              </a:rPr>
              <a:t>product,</a:t>
            </a:r>
            <a:br>
              <a:rPr lang="en-US" b="1" dirty="0" smtClean="0">
                <a:latin typeface="Arial" pitchFamily="34" charset="0"/>
                <a:cs typeface="Arial" pitchFamily="34" charset="0"/>
              </a:rPr>
            </a:br>
            <a:r>
              <a:rPr lang="en-US" b="1" dirty="0" smtClean="0">
                <a:latin typeface="Arial" pitchFamily="34" charset="0"/>
                <a:cs typeface="Arial" pitchFamily="34" charset="0"/>
              </a:rPr>
              <a:t>his </a:t>
            </a:r>
            <a:r>
              <a:rPr lang="en-US" b="1" dirty="0">
                <a:latin typeface="Arial" pitchFamily="34" charset="0"/>
                <a:cs typeface="Arial" pitchFamily="34" charset="0"/>
              </a:rPr>
              <a:t>net earning is </a:t>
            </a:r>
            <a:r>
              <a:rPr lang="en-US" b="1" dirty="0" err="1">
                <a:latin typeface="Arial" pitchFamily="34" charset="0"/>
                <a:cs typeface="Arial" pitchFamily="34" charset="0"/>
              </a:rPr>
              <a:t>Rs</a:t>
            </a:r>
            <a:r>
              <a:rPr lang="en-US" b="1" dirty="0">
                <a:latin typeface="Arial" pitchFamily="34" charset="0"/>
                <a:cs typeface="Arial" pitchFamily="34" charset="0"/>
              </a:rPr>
              <a:t> 700 which is still better than the </a:t>
            </a:r>
          </a:p>
          <a:p>
            <a:pPr>
              <a:lnSpc>
                <a:spcPct val="150000"/>
              </a:lnSpc>
            </a:pPr>
            <a:r>
              <a:rPr lang="en-US" b="1" dirty="0" err="1">
                <a:latin typeface="Arial" pitchFamily="34" charset="0"/>
                <a:cs typeface="Arial" pitchFamily="34" charset="0"/>
              </a:rPr>
              <a:t>Rs</a:t>
            </a:r>
            <a:r>
              <a:rPr lang="en-US" b="1" dirty="0">
                <a:latin typeface="Arial" pitchFamily="34" charset="0"/>
                <a:cs typeface="Arial" pitchFamily="34" charset="0"/>
              </a:rPr>
              <a:t> 500 which he would have otherwise made.</a:t>
            </a:r>
          </a:p>
        </p:txBody>
      </p:sp>
      <p:sp>
        <p:nvSpPr>
          <p:cNvPr id="6" name="TextBox 5"/>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8337128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0108"/>
            <a:ext cx="8064896" cy="18928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Scenario B: The monsoon arrives on time (and not early) </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In this case, while he makes </a:t>
            </a:r>
            <a:r>
              <a:rPr lang="en-US" b="1" dirty="0" err="1">
                <a:latin typeface="Arial" pitchFamily="34" charset="0"/>
                <a:cs typeface="Arial" pitchFamily="34" charset="0"/>
              </a:rPr>
              <a:t>Rs</a:t>
            </a:r>
            <a:r>
              <a:rPr lang="en-US" b="1" dirty="0">
                <a:latin typeface="Arial" pitchFamily="34" charset="0"/>
                <a:cs typeface="Arial" pitchFamily="34" charset="0"/>
              </a:rPr>
              <a:t>. 1000 as his normal profit, he </a:t>
            </a:r>
            <a:r>
              <a:rPr lang="en-US" b="1" dirty="0" smtClean="0">
                <a:latin typeface="Arial" pitchFamily="34" charset="0"/>
                <a:cs typeface="Arial" pitchFamily="34" charset="0"/>
              </a:rPr>
              <a:t>stands</a:t>
            </a:r>
            <a:br>
              <a:rPr lang="en-US" b="1" dirty="0" smtClean="0">
                <a:latin typeface="Arial" pitchFamily="34" charset="0"/>
                <a:cs typeface="Arial" pitchFamily="34" charset="0"/>
              </a:rPr>
            </a:br>
            <a:r>
              <a:rPr lang="en-US" b="1" dirty="0" smtClean="0">
                <a:latin typeface="Arial" pitchFamily="34" charset="0"/>
                <a:cs typeface="Arial" pitchFamily="34" charset="0"/>
              </a:rPr>
              <a:t>to </a:t>
            </a:r>
            <a:r>
              <a:rPr lang="en-US" b="1" dirty="0">
                <a:latin typeface="Arial" pitchFamily="34" charset="0"/>
                <a:cs typeface="Arial" pitchFamily="34" charset="0"/>
              </a:rPr>
              <a:t>lose his premium of </a:t>
            </a:r>
            <a:r>
              <a:rPr lang="en-US" b="1" dirty="0" err="1">
                <a:latin typeface="Arial" pitchFamily="34" charset="0"/>
                <a:cs typeface="Arial" pitchFamily="34" charset="0"/>
              </a:rPr>
              <a:t>Rs</a:t>
            </a:r>
            <a:r>
              <a:rPr lang="en-US" b="1" dirty="0">
                <a:latin typeface="Arial" pitchFamily="34" charset="0"/>
                <a:cs typeface="Arial" pitchFamily="34" charset="0"/>
              </a:rPr>
              <a:t> 300 but again makes a net profit of </a:t>
            </a:r>
            <a:r>
              <a:rPr lang="en-US" b="1" dirty="0" err="1">
                <a:latin typeface="Arial" pitchFamily="34" charset="0"/>
                <a:cs typeface="Arial" pitchFamily="34" charset="0"/>
              </a:rPr>
              <a:t>Rs</a:t>
            </a:r>
            <a:r>
              <a:rPr lang="en-US" b="1" dirty="0">
                <a:latin typeface="Arial" pitchFamily="34" charset="0"/>
                <a:cs typeface="Arial" pitchFamily="34" charset="0"/>
              </a:rPr>
              <a:t> 700 </a:t>
            </a:r>
          </a:p>
          <a:p>
            <a:pPr>
              <a:lnSpc>
                <a:spcPct val="150000"/>
              </a:lnSpc>
            </a:pPr>
            <a:r>
              <a:rPr lang="en-US" b="1" dirty="0">
                <a:latin typeface="Arial" pitchFamily="34" charset="0"/>
                <a:cs typeface="Arial" pitchFamily="34" charset="0"/>
              </a:rPr>
              <a:t>(</a:t>
            </a:r>
            <a:r>
              <a:rPr lang="en-US" b="1" dirty="0" err="1">
                <a:latin typeface="Arial" pitchFamily="34" charset="0"/>
                <a:cs typeface="Arial" pitchFamily="34" charset="0"/>
              </a:rPr>
              <a:t>Rs</a:t>
            </a:r>
            <a:r>
              <a:rPr lang="en-US" b="1" dirty="0">
                <a:latin typeface="Arial" pitchFamily="34" charset="0"/>
                <a:cs typeface="Arial" pitchFamily="34" charset="0"/>
              </a:rPr>
              <a:t> 1000 – </a:t>
            </a:r>
            <a:r>
              <a:rPr lang="en-US" b="1" dirty="0" err="1">
                <a:latin typeface="Arial" pitchFamily="34" charset="0"/>
                <a:cs typeface="Arial" pitchFamily="34" charset="0"/>
              </a:rPr>
              <a:t>Rs</a:t>
            </a:r>
            <a:r>
              <a:rPr lang="en-US" b="1" dirty="0">
                <a:latin typeface="Arial" pitchFamily="34" charset="0"/>
                <a:cs typeface="Arial" pitchFamily="34" charset="0"/>
              </a:rPr>
              <a:t> 300)</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pic>
        <p:nvPicPr>
          <p:cNvPr id="5" name="Picture 20" descr="voice_bloomberg_fin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4619" y="2943257"/>
            <a:ext cx="3085193" cy="3294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8936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410978"/>
            <a:ext cx="4320480" cy="1713354"/>
          </a:xfrm>
          <a:prstGeom prst="rect">
            <a:avLst/>
          </a:prstGeom>
        </p:spPr>
        <p:txBody>
          <a:bodyPr wrap="square">
            <a:spAutoFit/>
          </a:bodyPr>
          <a:lstStyle/>
          <a:p>
            <a:pPr>
              <a:lnSpc>
                <a:spcPct val="150000"/>
              </a:lnSpc>
            </a:pPr>
            <a:r>
              <a:rPr lang="en-US" b="1" dirty="0">
                <a:latin typeface="Arial" pitchFamily="34" charset="0"/>
                <a:cs typeface="Arial" pitchFamily="34" charset="0"/>
              </a:rPr>
              <a:t>In this way the ice-cream seller also hedges (protects ) his interests from the vagaries of the weather by way of weather derivative products</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887998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1266"/>
            <a:ext cx="7416824" cy="3375348"/>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Having people with opposite expectations helps the bank hedge their risks as well.</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If rains get delayed, the bank loses out on the farmers but gains from the ice-cream sellers.</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Conversely if the rains come early, the bank loses out on the ice-cream sellers but gains from the farmers.</a:t>
            </a: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7206920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0" name="TextBox 9"/>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a:t>
            </a:r>
            <a:r>
              <a:rPr lang="en-US" sz="2000" b="1" dirty="0" smtClean="0">
                <a:solidFill>
                  <a:schemeClr val="bg1"/>
                </a:solidFill>
                <a:latin typeface="Arial" pitchFamily="34" charset="0"/>
                <a:cs typeface="Arial" pitchFamily="34" charset="0"/>
              </a:rPr>
              <a:t>DERIVATIVES</a:t>
            </a:r>
            <a:endParaRPr lang="en-US" sz="2000" b="1" dirty="0">
              <a:solidFill>
                <a:schemeClr val="bg1"/>
              </a:solidFill>
              <a:latin typeface="Arial" pitchFamily="34" charset="0"/>
              <a:cs typeface="Arial" pitchFamily="34" charset="0"/>
            </a:endParaRPr>
          </a:p>
        </p:txBody>
      </p:sp>
      <p:sp>
        <p:nvSpPr>
          <p:cNvPr id="5" name="TextBox 4"/>
          <p:cNvSpPr txBox="1"/>
          <p:nvPr/>
        </p:nvSpPr>
        <p:spPr>
          <a:xfrm>
            <a:off x="4211960" y="4365104"/>
            <a:ext cx="4104456"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Thus we have seen how weather derivatives are used by different types of people with different expectations for their benefits!</a:t>
            </a:r>
          </a:p>
        </p:txBody>
      </p:sp>
    </p:spTree>
    <p:extLst>
      <p:ext uri="{BB962C8B-B14F-4D97-AF65-F5344CB8AC3E}">
        <p14:creationId xmlns:p14="http://schemas.microsoft.com/office/powerpoint/2010/main" val="40523515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3059832" y="1442100"/>
            <a:ext cx="3816424" cy="1338828"/>
          </a:xfrm>
          <a:prstGeom prst="rect">
            <a:avLst/>
          </a:prstGeom>
          <a:noFill/>
        </p:spPr>
        <p:txBody>
          <a:bodyPr wrap="square" rtlCol="0">
            <a:spAutoFit/>
          </a:bodyPr>
          <a:lstStyle/>
          <a:p>
            <a:pPr>
              <a:lnSpc>
                <a:spcPct val="150000"/>
              </a:lnSpc>
              <a:buFontTx/>
              <a:buNone/>
            </a:pPr>
            <a:r>
              <a:rPr lang="en-US" b="1" dirty="0">
                <a:latin typeface="Arial" pitchFamily="34" charset="0"/>
                <a:cs typeface="Arial" pitchFamily="34" charset="0"/>
              </a:rPr>
              <a:t>Hope this lesson has succeeded in further clarifying the concept of ‘Weather Derivatives’</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WEATHER DERIVATIVES’ (EXTENDED VERSION)</a:t>
            </a:r>
          </a:p>
        </p:txBody>
      </p:sp>
    </p:spTree>
    <p:extLst>
      <p:ext uri="{BB962C8B-B14F-4D97-AF65-F5344CB8AC3E}">
        <p14:creationId xmlns:p14="http://schemas.microsoft.com/office/powerpoint/2010/main" val="12482778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14414" y="2021643"/>
            <a:ext cx="3643338" cy="927433"/>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extLst>
      <p:ext uri="{BB962C8B-B14F-4D97-AF65-F5344CB8AC3E}">
        <p14:creationId xmlns:p14="http://schemas.microsoft.com/office/powerpoint/2010/main" val="9477547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402865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2284</TotalTime>
  <Words>1250</Words>
  <Application>Microsoft Office PowerPoint</Application>
  <PresentationFormat>On-screen Show (4:3)</PresentationFormat>
  <Paragraphs>97</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 Crasto</cp:lastModifiedBy>
  <cp:revision>300</cp:revision>
  <dcterms:created xsi:type="dcterms:W3CDTF">2013-10-22T09:41:31Z</dcterms:created>
  <dcterms:modified xsi:type="dcterms:W3CDTF">2014-09-29T05:41:44Z</dcterms:modified>
</cp:coreProperties>
</file>