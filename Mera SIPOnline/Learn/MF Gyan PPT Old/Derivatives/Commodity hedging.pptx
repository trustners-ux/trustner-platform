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94" r:id="rId3"/>
    <p:sldId id="317" r:id="rId4"/>
    <p:sldId id="318" r:id="rId5"/>
    <p:sldId id="319" r:id="rId6"/>
    <p:sldId id="320" r:id="rId7"/>
    <p:sldId id="321" r:id="rId8"/>
    <p:sldId id="316" r:id="rId9"/>
    <p:sldId id="287" r:id="rId10"/>
    <p:sldId id="273"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46" d="100"/>
          <a:sy n="46" d="100"/>
        </p:scale>
        <p:origin x="1315" y="3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9/26/2014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9/26/2014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9/26/2014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9/26/2014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9/26/2014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1115616" y="2755060"/>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COMMODITY HEDGING</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142976" y="1934166"/>
            <a:ext cx="3857652" cy="923330"/>
          </a:xfrm>
          <a:prstGeom prst="rect">
            <a:avLst/>
          </a:prstGeom>
          <a:noFill/>
        </p:spPr>
        <p:txBody>
          <a:bodyPr wrap="square" rtlCol="0">
            <a:spAutoFit/>
          </a:bodyPr>
          <a:lstStyle/>
          <a:p>
            <a:pPr>
              <a:lnSpc>
                <a:spcPct val="150000"/>
              </a:lnSpc>
              <a:spcBef>
                <a:spcPct val="20000"/>
              </a:spcBef>
            </a:pPr>
            <a:r>
              <a:rPr lang="en-US" b="1" dirty="0" smtClean="0">
                <a:latin typeface="Arial" pitchFamily="34" charset="0"/>
                <a:cs typeface="Arial" pitchFamily="34" charset="0"/>
              </a:rPr>
              <a:t>Hedging in commodities markets –  By Prof. Simply Simple</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4917799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20102" y="908720"/>
            <a:ext cx="7940330" cy="3970318"/>
          </a:xfrm>
          <a:prstGeom prst="rect">
            <a:avLst/>
          </a:prstGeom>
          <a:noFill/>
        </p:spPr>
        <p:txBody>
          <a:bodyPr wrap="square" rtlCol="0">
            <a:spAutoFit/>
          </a:bodyPr>
          <a:lstStyle/>
          <a:p>
            <a:pPr marL="354013" indent="-354013">
              <a:lnSpc>
                <a:spcPct val="200000"/>
              </a:lnSpc>
              <a:buFont typeface="Wingdings" pitchFamily="2" charset="2"/>
              <a:buChar char="q"/>
              <a:tabLst>
                <a:tab pos="354013" algn="l"/>
              </a:tabLst>
            </a:pPr>
            <a:r>
              <a:rPr lang="en-US" b="1" dirty="0" smtClean="0">
                <a:latin typeface="Arial" pitchFamily="34" charset="0"/>
                <a:cs typeface="Arial" pitchFamily="34" charset="0"/>
              </a:rPr>
              <a:t>Commodity hedging means reducing or controlling risk arising out of fluctuation in raw-material prices</a:t>
            </a:r>
          </a:p>
          <a:p>
            <a:pPr marL="354013" indent="-354013">
              <a:lnSpc>
                <a:spcPct val="200000"/>
              </a:lnSpc>
              <a:buFont typeface="Wingdings" pitchFamily="2" charset="2"/>
              <a:buChar char="q"/>
              <a:tabLst>
                <a:tab pos="354013" algn="l"/>
              </a:tabLst>
            </a:pPr>
            <a:r>
              <a:rPr lang="en-US" b="1" dirty="0" smtClean="0">
                <a:latin typeface="Arial" pitchFamily="34" charset="0"/>
                <a:cs typeface="Arial" pitchFamily="34" charset="0"/>
              </a:rPr>
              <a:t>Commodity hedging is done by taking a position in the futures market that is opposite to the position in physical market</a:t>
            </a:r>
          </a:p>
          <a:p>
            <a:pPr marL="354013" indent="-354013">
              <a:lnSpc>
                <a:spcPct val="200000"/>
              </a:lnSpc>
              <a:buFont typeface="Wingdings" pitchFamily="2" charset="2"/>
              <a:buChar char="q"/>
              <a:tabLst>
                <a:tab pos="354013" algn="l"/>
              </a:tabLst>
            </a:pPr>
            <a:r>
              <a:rPr lang="en-US" b="1" dirty="0" smtClean="0">
                <a:latin typeface="Arial" pitchFamily="34" charset="0"/>
                <a:cs typeface="Arial" pitchFamily="34" charset="0"/>
              </a:rPr>
              <a:t>Any buyer or seller facing the risk of volatile commodity prices can do commodity hedging after compliance with regulatory requirements. </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COMMODITY HEDGING</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20102" y="1000108"/>
            <a:ext cx="7940330" cy="3884397"/>
          </a:xfrm>
          <a:prstGeom prst="rect">
            <a:avLst/>
          </a:prstGeom>
          <a:noFill/>
        </p:spPr>
        <p:txBody>
          <a:bodyPr wrap="square" rtlCol="0">
            <a:spAutoFit/>
          </a:bodyPr>
          <a:lstStyle/>
          <a:p>
            <a:pPr>
              <a:lnSpc>
                <a:spcPct val="200000"/>
              </a:lnSpc>
            </a:pPr>
            <a:r>
              <a:rPr lang="en-US" b="1" dirty="0" smtClean="0">
                <a:latin typeface="Arial" pitchFamily="34" charset="0"/>
                <a:cs typeface="Arial" pitchFamily="34" charset="0"/>
              </a:rPr>
              <a:t>Hedging is a two-step process. </a:t>
            </a:r>
            <a:r>
              <a:rPr lang="en-US" b="1" dirty="0" smtClean="0">
                <a:latin typeface="Arial" pitchFamily="34" charset="0"/>
                <a:cs typeface="Arial" pitchFamily="34" charset="0"/>
              </a:rPr>
              <a:t/>
            </a:r>
            <a:br>
              <a:rPr lang="en-US" b="1" dirty="0" smtClean="0">
                <a:latin typeface="Arial" pitchFamily="34" charset="0"/>
                <a:cs typeface="Arial" pitchFamily="34" charset="0"/>
              </a:rPr>
            </a:br>
            <a:r>
              <a:rPr lang="en-US" b="1" i="1" dirty="0" smtClean="0">
                <a:latin typeface="Arial" pitchFamily="34" charset="0"/>
                <a:cs typeface="Arial" pitchFamily="34" charset="0"/>
              </a:rPr>
              <a:t>For </a:t>
            </a:r>
            <a:r>
              <a:rPr lang="en-US" b="1" i="1" dirty="0" smtClean="0">
                <a:latin typeface="Arial" pitchFamily="34" charset="0"/>
                <a:cs typeface="Arial" pitchFamily="34" charset="0"/>
              </a:rPr>
              <a:t>instance, a wheat farmer can sell wheat futures at current prices to protect the value of his crop prior to harvest</a:t>
            </a:r>
          </a:p>
          <a:p>
            <a:pPr marL="442913" lvl="1" indent="-442913">
              <a:lnSpc>
                <a:spcPct val="200000"/>
              </a:lnSpc>
              <a:buFont typeface="Wingdings" pitchFamily="2" charset="2"/>
              <a:buChar char="§"/>
              <a:tabLst>
                <a:tab pos="354013" algn="l"/>
              </a:tabLst>
            </a:pPr>
            <a:r>
              <a:rPr lang="en-US" b="1" i="1" dirty="0" smtClean="0">
                <a:latin typeface="Arial" pitchFamily="34" charset="0"/>
                <a:cs typeface="Arial" pitchFamily="34" charset="0"/>
              </a:rPr>
              <a:t>If there is a fall in price, the loss in the cash market position will be countered by a gain in the futures position</a:t>
            </a:r>
            <a:r>
              <a:rPr lang="en-US" b="1" dirty="0" smtClean="0">
                <a:latin typeface="Arial" pitchFamily="34" charset="0"/>
                <a:cs typeface="Arial" pitchFamily="34" charset="0"/>
              </a:rPr>
              <a:t>   </a:t>
            </a:r>
          </a:p>
          <a:p>
            <a:pPr marL="442913" lvl="1" indent="-442913">
              <a:lnSpc>
                <a:spcPct val="200000"/>
              </a:lnSpc>
              <a:buFont typeface="Wingdings" pitchFamily="2" charset="2"/>
              <a:buChar char="§"/>
              <a:tabLst>
                <a:tab pos="354013" algn="l"/>
              </a:tabLst>
            </a:pPr>
            <a:r>
              <a:rPr lang="en-US" b="1" i="1" dirty="0" smtClean="0">
                <a:latin typeface="Arial" pitchFamily="34" charset="0"/>
                <a:cs typeface="Arial" pitchFamily="34" charset="0"/>
              </a:rPr>
              <a:t>Thus, the farmer meets his objective of ensuring certainty in his revenue</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COMMODITY HEDGING</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20102" y="764704"/>
            <a:ext cx="8195302" cy="4201150"/>
          </a:xfrm>
          <a:prstGeom prst="rect">
            <a:avLst/>
          </a:prstGeom>
          <a:noFill/>
        </p:spPr>
        <p:txBody>
          <a:bodyPr wrap="square" rtlCol="0">
            <a:spAutoFit/>
          </a:bodyPr>
          <a:lstStyle/>
          <a:p>
            <a:pPr marL="354013" indent="-354013" algn="ctr">
              <a:lnSpc>
                <a:spcPct val="200000"/>
              </a:lnSpc>
              <a:tabLst>
                <a:tab pos="354013" algn="l"/>
              </a:tabLst>
            </a:pPr>
            <a:r>
              <a:rPr lang="en-US" b="1" dirty="0" smtClean="0">
                <a:latin typeface="Arial" pitchFamily="34" charset="0"/>
                <a:cs typeface="Arial" pitchFamily="34" charset="0"/>
              </a:rPr>
              <a:t>Example…</a:t>
            </a:r>
          </a:p>
          <a:p>
            <a:pPr marL="354013" indent="-354013">
              <a:lnSpc>
                <a:spcPct val="200000"/>
              </a:lnSpc>
              <a:buFont typeface="Wingdings" pitchFamily="2" charset="2"/>
              <a:buChar char="q"/>
              <a:tabLst>
                <a:tab pos="354013" algn="l"/>
              </a:tabLst>
            </a:pPr>
            <a:r>
              <a:rPr lang="en-US" sz="1650" b="1" dirty="0" smtClean="0">
                <a:latin typeface="Arial" pitchFamily="34" charset="0"/>
                <a:cs typeface="Arial" pitchFamily="34" charset="0"/>
              </a:rPr>
              <a:t>Assume it is the month of July </a:t>
            </a:r>
            <a:r>
              <a:rPr lang="en-US" sz="1650" b="1" dirty="0" smtClean="0">
                <a:latin typeface="Arial" pitchFamily="34" charset="0"/>
                <a:cs typeface="Arial" pitchFamily="34" charset="0"/>
              </a:rPr>
              <a:t>and </a:t>
            </a:r>
            <a:r>
              <a:rPr lang="en-US" sz="1650" b="1" dirty="0" smtClean="0">
                <a:latin typeface="Arial" pitchFamily="34" charset="0"/>
                <a:cs typeface="Arial" pitchFamily="34" charset="0"/>
              </a:rPr>
              <a:t>the farmer </a:t>
            </a:r>
            <a:r>
              <a:rPr lang="en-US" sz="1650" b="1" dirty="0" smtClean="0">
                <a:latin typeface="Arial" pitchFamily="34" charset="0"/>
                <a:cs typeface="Arial" pitchFamily="34" charset="0"/>
              </a:rPr>
              <a:t>expects </a:t>
            </a:r>
            <a:r>
              <a:rPr lang="en-US" sz="1650" b="1" dirty="0" smtClean="0">
                <a:latin typeface="Arial" pitchFamily="34" charset="0"/>
                <a:cs typeface="Arial" pitchFamily="34" charset="0"/>
              </a:rPr>
              <a:t>a drop </a:t>
            </a:r>
            <a:r>
              <a:rPr lang="en-US" sz="1650" b="1" dirty="0" smtClean="0">
                <a:latin typeface="Arial" pitchFamily="34" charset="0"/>
                <a:cs typeface="Arial" pitchFamily="34" charset="0"/>
              </a:rPr>
              <a:t>in the selling price of corn</a:t>
            </a:r>
          </a:p>
          <a:p>
            <a:pPr marL="354013" indent="-354013">
              <a:lnSpc>
                <a:spcPct val="200000"/>
              </a:lnSpc>
              <a:buFont typeface="Wingdings" pitchFamily="2" charset="2"/>
              <a:buChar char="q"/>
              <a:tabLst>
                <a:tab pos="354013" algn="l"/>
              </a:tabLst>
            </a:pPr>
            <a:r>
              <a:rPr lang="en-US" sz="1650" b="1" dirty="0" smtClean="0">
                <a:latin typeface="Arial" pitchFamily="34" charset="0"/>
                <a:cs typeface="Arial" pitchFamily="34" charset="0"/>
              </a:rPr>
              <a:t>His corn production of 15000 </a:t>
            </a:r>
            <a:r>
              <a:rPr lang="en-US" sz="1650" b="1" dirty="0" smtClean="0">
                <a:latin typeface="Arial" pitchFamily="34" charset="0"/>
                <a:cs typeface="Arial" pitchFamily="34" charset="0"/>
              </a:rPr>
              <a:t>baskets </a:t>
            </a:r>
            <a:r>
              <a:rPr lang="en-US" sz="1650" b="1" dirty="0" smtClean="0">
                <a:latin typeface="Arial" pitchFamily="34" charset="0"/>
                <a:cs typeface="Arial" pitchFamily="34" charset="0"/>
              </a:rPr>
              <a:t>is likely to be ready in </a:t>
            </a:r>
            <a:r>
              <a:rPr lang="en-US" sz="1650" b="1" dirty="0" smtClean="0">
                <a:latin typeface="Arial" pitchFamily="34" charset="0"/>
                <a:cs typeface="Arial" pitchFamily="34" charset="0"/>
              </a:rPr>
              <a:t>September</a:t>
            </a:r>
          </a:p>
          <a:p>
            <a:pPr marL="354013" indent="-354013">
              <a:lnSpc>
                <a:spcPct val="200000"/>
              </a:lnSpc>
              <a:buFont typeface="Wingdings" pitchFamily="2" charset="2"/>
              <a:buChar char="q"/>
              <a:tabLst>
                <a:tab pos="354013" algn="l"/>
              </a:tabLst>
            </a:pPr>
            <a:r>
              <a:rPr lang="en-US" sz="1650" b="1" dirty="0" smtClean="0">
                <a:latin typeface="Arial" pitchFamily="34" charset="0"/>
                <a:cs typeface="Arial" pitchFamily="34" charset="0"/>
              </a:rPr>
              <a:t>The </a:t>
            </a:r>
            <a:r>
              <a:rPr lang="en-US" sz="1650" b="1" dirty="0" smtClean="0">
                <a:latin typeface="Arial" pitchFamily="34" charset="0"/>
                <a:cs typeface="Arial" pitchFamily="34" charset="0"/>
              </a:rPr>
              <a:t>current price </a:t>
            </a:r>
            <a:r>
              <a:rPr lang="en-US" sz="1650" b="1" dirty="0" smtClean="0">
                <a:latin typeface="Arial" pitchFamily="34" charset="0"/>
                <a:cs typeface="Arial" pitchFamily="34" charset="0"/>
              </a:rPr>
              <a:t>(July) </a:t>
            </a:r>
            <a:r>
              <a:rPr lang="en-US" sz="1650" b="1" dirty="0" smtClean="0">
                <a:latin typeface="Arial" pitchFamily="34" charset="0"/>
                <a:cs typeface="Arial" pitchFamily="34" charset="0"/>
              </a:rPr>
              <a:t>is $4.50 per basket</a:t>
            </a:r>
          </a:p>
          <a:p>
            <a:pPr marL="354013" indent="-354013">
              <a:lnSpc>
                <a:spcPct val="200000"/>
              </a:lnSpc>
              <a:buFont typeface="Wingdings" pitchFamily="2" charset="2"/>
              <a:buChar char="q"/>
              <a:tabLst>
                <a:tab pos="354013" algn="l"/>
              </a:tabLst>
            </a:pPr>
            <a:r>
              <a:rPr lang="en-US" sz="1650" b="1" dirty="0" smtClean="0">
                <a:latin typeface="Arial" pitchFamily="34" charset="0"/>
                <a:cs typeface="Arial" pitchFamily="34" charset="0"/>
              </a:rPr>
              <a:t>To </a:t>
            </a:r>
            <a:r>
              <a:rPr lang="en-US" sz="1650" b="1" dirty="0" smtClean="0">
                <a:latin typeface="Arial" pitchFamily="34" charset="0"/>
                <a:cs typeface="Arial" pitchFamily="34" charset="0"/>
              </a:rPr>
              <a:t>hedge his </a:t>
            </a:r>
            <a:r>
              <a:rPr lang="en-US" sz="1650" b="1" dirty="0" smtClean="0">
                <a:latin typeface="Arial" pitchFamily="34" charset="0"/>
                <a:cs typeface="Arial" pitchFamily="34" charset="0"/>
              </a:rPr>
              <a:t>risk, </a:t>
            </a:r>
            <a:r>
              <a:rPr lang="en-US" sz="1650" b="1" dirty="0" smtClean="0">
                <a:latin typeface="Arial" pitchFamily="34" charset="0"/>
                <a:cs typeface="Arial" pitchFamily="34" charset="0"/>
              </a:rPr>
              <a:t>he sells three 5000 basket </a:t>
            </a:r>
            <a:r>
              <a:rPr lang="en-US" sz="1650" b="1" u="sng" dirty="0" smtClean="0">
                <a:latin typeface="Arial" pitchFamily="34" charset="0"/>
                <a:cs typeface="Arial" pitchFamily="34" charset="0"/>
              </a:rPr>
              <a:t>futures contracts</a:t>
            </a:r>
            <a:r>
              <a:rPr lang="en-US" sz="1650" b="1" dirty="0" smtClean="0">
                <a:latin typeface="Arial" pitchFamily="34" charset="0"/>
                <a:cs typeface="Arial" pitchFamily="34" charset="0"/>
              </a:rPr>
              <a:t> on October corn for more than the current price...</a:t>
            </a:r>
            <a:r>
              <a:rPr lang="en-US" sz="1650" b="1" dirty="0" smtClean="0">
                <a:latin typeface="Arial" pitchFamily="34" charset="0"/>
                <a:cs typeface="Arial" pitchFamily="34" charset="0"/>
              </a:rPr>
              <a:t>say $</a:t>
            </a:r>
            <a:r>
              <a:rPr lang="en-US" sz="1650" b="1" dirty="0" smtClean="0">
                <a:latin typeface="Arial" pitchFamily="34" charset="0"/>
                <a:cs typeface="Arial" pitchFamily="34" charset="0"/>
              </a:rPr>
              <a:t>5 per basket</a:t>
            </a:r>
          </a:p>
          <a:p>
            <a:pPr marL="354013" indent="-354013">
              <a:lnSpc>
                <a:spcPct val="200000"/>
              </a:lnSpc>
              <a:buFont typeface="Wingdings" pitchFamily="2" charset="2"/>
              <a:buChar char="q"/>
              <a:tabLst>
                <a:tab pos="354013" algn="l"/>
              </a:tabLst>
            </a:pPr>
            <a:r>
              <a:rPr lang="en-US" sz="1650" b="1" dirty="0" smtClean="0">
                <a:latin typeface="Arial" pitchFamily="34" charset="0"/>
                <a:cs typeface="Arial" pitchFamily="34" charset="0"/>
              </a:rPr>
              <a:t>When </a:t>
            </a:r>
            <a:r>
              <a:rPr lang="en-US" sz="1650" b="1" dirty="0" smtClean="0">
                <a:latin typeface="Arial" pitchFamily="34" charset="0"/>
                <a:cs typeface="Arial" pitchFamily="34" charset="0"/>
              </a:rPr>
              <a:t>September arrives, prices have </a:t>
            </a:r>
            <a:r>
              <a:rPr lang="en-US" sz="1650" b="1" dirty="0" smtClean="0">
                <a:latin typeface="Arial" pitchFamily="34" charset="0"/>
                <a:cs typeface="Arial" pitchFamily="34" charset="0"/>
              </a:rPr>
              <a:t>fallen </a:t>
            </a:r>
            <a:r>
              <a:rPr lang="en-US" sz="1650" b="1" dirty="0" smtClean="0">
                <a:latin typeface="Arial" pitchFamily="34" charset="0"/>
                <a:cs typeface="Arial" pitchFamily="34" charset="0"/>
              </a:rPr>
              <a:t>down to $3.90 a basket</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COMMODITY HEDGING</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20102" y="928670"/>
            <a:ext cx="8195302" cy="4989058"/>
          </a:xfrm>
          <a:prstGeom prst="rect">
            <a:avLst/>
          </a:prstGeom>
          <a:noFill/>
        </p:spPr>
        <p:txBody>
          <a:bodyPr wrap="square" rtlCol="0">
            <a:spAutoFit/>
          </a:bodyPr>
          <a:lstStyle/>
          <a:p>
            <a:pPr marL="342900" indent="-342900">
              <a:lnSpc>
                <a:spcPct val="200000"/>
              </a:lnSpc>
              <a:spcBef>
                <a:spcPct val="20000"/>
              </a:spcBef>
              <a:buFont typeface="Wingdings" pitchFamily="2" charset="2"/>
              <a:buChar char="q"/>
            </a:pPr>
            <a:r>
              <a:rPr lang="en-US" sz="1700" b="1" dirty="0" smtClean="0">
                <a:latin typeface="Arial" pitchFamily="34" charset="0"/>
                <a:cs typeface="Arial" pitchFamily="34" charset="0"/>
              </a:rPr>
              <a:t>So</a:t>
            </a:r>
            <a:r>
              <a:rPr lang="en-US" sz="1700" b="1" dirty="0" smtClean="0">
                <a:latin typeface="Arial" pitchFamily="34" charset="0"/>
                <a:cs typeface="Arial" pitchFamily="34" charset="0"/>
              </a:rPr>
              <a:t>, he is now going to receive a much lower price on his corn</a:t>
            </a:r>
          </a:p>
          <a:p>
            <a:pPr marL="342900" indent="-342900">
              <a:lnSpc>
                <a:spcPct val="200000"/>
              </a:lnSpc>
              <a:spcBef>
                <a:spcPct val="20000"/>
              </a:spcBef>
              <a:buFont typeface="Wingdings" pitchFamily="2" charset="2"/>
              <a:buChar char="q"/>
            </a:pPr>
            <a:r>
              <a:rPr lang="en-US" sz="1700" b="1" dirty="0" smtClean="0">
                <a:latin typeface="Arial" pitchFamily="34" charset="0"/>
                <a:cs typeface="Arial" pitchFamily="34" charset="0"/>
              </a:rPr>
              <a:t>To </a:t>
            </a:r>
            <a:r>
              <a:rPr lang="en-US" sz="1700" b="1" dirty="0" smtClean="0">
                <a:latin typeface="Arial" pitchFamily="34" charset="0"/>
                <a:cs typeface="Arial" pitchFamily="34" charset="0"/>
              </a:rPr>
              <a:t>offset this potential loss, he buys corn </a:t>
            </a:r>
            <a:r>
              <a:rPr lang="en-US" sz="1700" b="1" dirty="0" smtClean="0">
                <a:latin typeface="Arial" pitchFamily="34" charset="0"/>
                <a:cs typeface="Arial" pitchFamily="34" charset="0"/>
              </a:rPr>
              <a:t>futures </a:t>
            </a:r>
            <a:r>
              <a:rPr lang="en-US" sz="1700" b="1" dirty="0" smtClean="0">
                <a:latin typeface="Arial" pitchFamily="34" charset="0"/>
                <a:cs typeface="Arial" pitchFamily="34" charset="0"/>
              </a:rPr>
              <a:t>for $4.60 per basket</a:t>
            </a:r>
          </a:p>
          <a:p>
            <a:pPr marL="342900" indent="-342900">
              <a:lnSpc>
                <a:spcPct val="200000"/>
              </a:lnSpc>
              <a:spcBef>
                <a:spcPct val="20000"/>
              </a:spcBef>
              <a:buFont typeface="Wingdings" pitchFamily="2" charset="2"/>
              <a:buChar char="q"/>
            </a:pPr>
            <a:r>
              <a:rPr lang="en-US" sz="1700" b="1" dirty="0" smtClean="0">
                <a:latin typeface="Arial" pitchFamily="34" charset="0"/>
                <a:cs typeface="Arial" pitchFamily="34" charset="0"/>
              </a:rPr>
              <a:t>If </a:t>
            </a:r>
            <a:r>
              <a:rPr lang="en-US" sz="1700" b="1" dirty="0" smtClean="0">
                <a:latin typeface="Arial" pitchFamily="34" charset="0"/>
                <a:cs typeface="Arial" pitchFamily="34" charset="0"/>
              </a:rPr>
              <a:t>you remember, he had sold corn futures at </a:t>
            </a:r>
            <a:r>
              <a:rPr lang="en-US" sz="1700" b="1" dirty="0" smtClean="0">
                <a:latin typeface="Arial" pitchFamily="34" charset="0"/>
                <a:cs typeface="Arial" pitchFamily="34" charset="0"/>
              </a:rPr>
              <a:t>a price </a:t>
            </a:r>
            <a:r>
              <a:rPr lang="en-US" sz="1700" b="1" dirty="0" smtClean="0">
                <a:latin typeface="Arial" pitchFamily="34" charset="0"/>
                <a:cs typeface="Arial" pitchFamily="34" charset="0"/>
              </a:rPr>
              <a:t>of $5 and he is buying it back at the lower price of $4.60. This is </a:t>
            </a:r>
            <a:r>
              <a:rPr lang="en-US" sz="1700" b="1" dirty="0" smtClean="0">
                <a:latin typeface="Arial" pitchFamily="34" charset="0"/>
                <a:cs typeface="Arial" pitchFamily="34" charset="0"/>
              </a:rPr>
              <a:t>because the </a:t>
            </a:r>
            <a:r>
              <a:rPr lang="en-US" sz="1700" b="1" dirty="0" smtClean="0">
                <a:latin typeface="Arial" pitchFamily="34" charset="0"/>
                <a:cs typeface="Arial" pitchFamily="34" charset="0"/>
              </a:rPr>
              <a:t>price of corn futures has also now come down with the fall in price of corn</a:t>
            </a:r>
          </a:p>
          <a:p>
            <a:pPr marL="342900" indent="-342900">
              <a:lnSpc>
                <a:spcPct val="200000"/>
              </a:lnSpc>
              <a:spcBef>
                <a:spcPct val="20000"/>
              </a:spcBef>
              <a:buFont typeface="Wingdings" pitchFamily="2" charset="2"/>
              <a:buChar char="q"/>
            </a:pPr>
            <a:r>
              <a:rPr lang="en-US" sz="1700" b="1" dirty="0" smtClean="0">
                <a:latin typeface="Arial" pitchFamily="34" charset="0"/>
                <a:cs typeface="Arial" pitchFamily="34" charset="0"/>
              </a:rPr>
              <a:t>So</a:t>
            </a:r>
            <a:r>
              <a:rPr lang="en-US" sz="1700" b="1" dirty="0" smtClean="0">
                <a:latin typeface="Arial" pitchFamily="34" charset="0"/>
                <a:cs typeface="Arial" pitchFamily="34" charset="0"/>
              </a:rPr>
              <a:t>, in </a:t>
            </a:r>
            <a:r>
              <a:rPr lang="en-US" sz="1700" b="1" dirty="0" smtClean="0">
                <a:latin typeface="Arial" pitchFamily="34" charset="0"/>
                <a:cs typeface="Arial" pitchFamily="34" charset="0"/>
              </a:rPr>
              <a:t>the futures </a:t>
            </a:r>
            <a:r>
              <a:rPr lang="en-US" sz="1700" b="1" dirty="0" smtClean="0">
                <a:latin typeface="Arial" pitchFamily="34" charset="0"/>
                <a:cs typeface="Arial" pitchFamily="34" charset="0"/>
              </a:rPr>
              <a:t>markets, he has earned a profit of $0.40 due to the difference in his selling and buying prices ($5 sale price - $ 4.60</a:t>
            </a:r>
            <a:br>
              <a:rPr lang="en-US" sz="1700" b="1" dirty="0" smtClean="0">
                <a:latin typeface="Arial" pitchFamily="34" charset="0"/>
                <a:cs typeface="Arial" pitchFamily="34" charset="0"/>
              </a:rPr>
            </a:br>
            <a:r>
              <a:rPr lang="en-US" sz="1700" b="1" dirty="0" smtClean="0">
                <a:latin typeface="Arial" pitchFamily="34" charset="0"/>
                <a:cs typeface="Arial" pitchFamily="34" charset="0"/>
              </a:rPr>
              <a:t>buying price = $0.40 gain)</a:t>
            </a:r>
          </a:p>
          <a:p>
            <a:pPr marL="354013" indent="-354013">
              <a:lnSpc>
                <a:spcPct val="200000"/>
              </a:lnSpc>
              <a:tabLst>
                <a:tab pos="354013" algn="l"/>
              </a:tabLst>
            </a:pPr>
            <a:endParaRPr lang="en-US" b="1" dirty="0" smtClean="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COMMODITY HEDGING</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20102" y="928670"/>
            <a:ext cx="7838112" cy="4179606"/>
          </a:xfrm>
          <a:prstGeom prst="rect">
            <a:avLst/>
          </a:prstGeom>
          <a:noFill/>
        </p:spPr>
        <p:txBody>
          <a:bodyPr wrap="square" rtlCol="0">
            <a:spAutoFit/>
          </a:bodyPr>
          <a:lstStyle/>
          <a:p>
            <a:pPr marL="342900" indent="-342900">
              <a:lnSpc>
                <a:spcPct val="200000"/>
              </a:lnSpc>
              <a:spcBef>
                <a:spcPct val="20000"/>
              </a:spcBef>
              <a:buFont typeface="Wingdings" pitchFamily="2" charset="2"/>
              <a:buChar char="q"/>
              <a:tabLst>
                <a:tab pos="354013" algn="l"/>
              </a:tabLst>
            </a:pPr>
            <a:r>
              <a:rPr lang="en-US" sz="1600" b="1" dirty="0" smtClean="0">
                <a:latin typeface="Arial" pitchFamily="34" charset="0"/>
                <a:cs typeface="Arial" pitchFamily="34" charset="0"/>
              </a:rPr>
              <a:t>Though</a:t>
            </a:r>
            <a:r>
              <a:rPr lang="en-US" sz="1600" b="1" dirty="0" smtClean="0">
                <a:latin typeface="Arial" pitchFamily="34" charset="0"/>
                <a:cs typeface="Arial" pitchFamily="34" charset="0"/>
              </a:rPr>
              <a:t>, he is forced to sell the corn at </a:t>
            </a:r>
            <a:r>
              <a:rPr lang="en-US" sz="1600" b="1" dirty="0" smtClean="0">
                <a:latin typeface="Arial" pitchFamily="34" charset="0"/>
                <a:cs typeface="Arial" pitchFamily="34" charset="0"/>
              </a:rPr>
              <a:t>a </a:t>
            </a:r>
            <a:r>
              <a:rPr lang="en-US" sz="1600" b="1" dirty="0" smtClean="0">
                <a:latin typeface="Arial" pitchFamily="34" charset="0"/>
                <a:cs typeface="Arial" pitchFamily="34" charset="0"/>
              </a:rPr>
              <a:t>reduced price of $3.90 per basket, his </a:t>
            </a:r>
            <a:r>
              <a:rPr lang="en-US" sz="1600" b="1" u="sng" dirty="0" smtClean="0">
                <a:latin typeface="Arial" pitchFamily="34" charset="0"/>
                <a:cs typeface="Arial" pitchFamily="34" charset="0"/>
              </a:rPr>
              <a:t>effective selling price</a:t>
            </a:r>
            <a:r>
              <a:rPr lang="en-US" sz="1600" b="1" dirty="0" smtClean="0">
                <a:latin typeface="Arial" pitchFamily="34" charset="0"/>
                <a:cs typeface="Arial" pitchFamily="34" charset="0"/>
              </a:rPr>
              <a:t> </a:t>
            </a:r>
            <a:r>
              <a:rPr lang="en-US" sz="1600" b="1" u="sng" dirty="0" smtClean="0">
                <a:latin typeface="Arial" pitchFamily="34" charset="0"/>
                <a:cs typeface="Arial" pitchFamily="34" charset="0"/>
              </a:rPr>
              <a:t>works out $4.30 per basket</a:t>
            </a:r>
            <a:br>
              <a:rPr lang="en-US" sz="1600" b="1" u="sng" dirty="0" smtClean="0">
                <a:latin typeface="Arial" pitchFamily="34" charset="0"/>
                <a:cs typeface="Arial" pitchFamily="34" charset="0"/>
              </a:rPr>
            </a:br>
            <a:r>
              <a:rPr lang="en-US" sz="1600" b="1" dirty="0" smtClean="0">
                <a:latin typeface="Arial" pitchFamily="34" charset="0"/>
                <a:cs typeface="Arial" pitchFamily="34" charset="0"/>
              </a:rPr>
              <a:t>($3.90 + $0.40 profit from futures)</a:t>
            </a:r>
          </a:p>
          <a:p>
            <a:pPr marL="342900" indent="-342900">
              <a:lnSpc>
                <a:spcPct val="200000"/>
              </a:lnSpc>
              <a:spcBef>
                <a:spcPct val="20000"/>
              </a:spcBef>
              <a:buFont typeface="Wingdings" pitchFamily="2" charset="2"/>
              <a:buChar char="q"/>
              <a:tabLst>
                <a:tab pos="354013" algn="l"/>
              </a:tabLst>
            </a:pPr>
            <a:r>
              <a:rPr lang="en-US" sz="1600" b="1" dirty="0" smtClean="0">
                <a:latin typeface="Arial" pitchFamily="34" charset="0"/>
                <a:cs typeface="Arial" pitchFamily="34" charset="0"/>
              </a:rPr>
              <a:t>So</a:t>
            </a:r>
            <a:r>
              <a:rPr lang="en-US" sz="1600" b="1" dirty="0" smtClean="0">
                <a:latin typeface="Arial" pitchFamily="34" charset="0"/>
                <a:cs typeface="Arial" pitchFamily="34" charset="0"/>
              </a:rPr>
              <a:t>, his </a:t>
            </a:r>
            <a:r>
              <a:rPr lang="en-US" sz="1600" b="1" dirty="0" smtClean="0">
                <a:latin typeface="Arial" pitchFamily="34" charset="0"/>
                <a:cs typeface="Arial" pitchFamily="34" charset="0"/>
              </a:rPr>
              <a:t>sales </a:t>
            </a:r>
            <a:r>
              <a:rPr lang="en-US" sz="1600" b="1" dirty="0" smtClean="0">
                <a:latin typeface="Arial" pitchFamily="34" charset="0"/>
                <a:cs typeface="Arial" pitchFamily="34" charset="0"/>
              </a:rPr>
              <a:t>revenue comes to $64500 ($4.30 X 15000 baskets)</a:t>
            </a:r>
          </a:p>
          <a:p>
            <a:pPr marL="342900" indent="-342900">
              <a:lnSpc>
                <a:spcPct val="200000"/>
              </a:lnSpc>
              <a:spcBef>
                <a:spcPct val="20000"/>
              </a:spcBef>
              <a:buFont typeface="Wingdings" pitchFamily="2" charset="2"/>
              <a:buChar char="q"/>
              <a:tabLst>
                <a:tab pos="354013" algn="l"/>
              </a:tabLst>
            </a:pPr>
            <a:r>
              <a:rPr lang="en-US" sz="1600" b="1" dirty="0" smtClean="0">
                <a:latin typeface="Arial" pitchFamily="34" charset="0"/>
                <a:cs typeface="Arial" pitchFamily="34" charset="0"/>
              </a:rPr>
              <a:t> </a:t>
            </a:r>
            <a:r>
              <a:rPr lang="en-US" sz="1600" b="1" dirty="0" smtClean="0">
                <a:latin typeface="Arial" pitchFamily="34" charset="0"/>
                <a:cs typeface="Arial" pitchFamily="34" charset="0"/>
              </a:rPr>
              <a:t>He would have lost $6000, if he had not hedged i.e. profit from futures ($0.40 X 15000 = $6000)</a:t>
            </a:r>
          </a:p>
          <a:p>
            <a:pPr marL="342900" indent="-342900">
              <a:lnSpc>
                <a:spcPct val="200000"/>
              </a:lnSpc>
              <a:spcBef>
                <a:spcPct val="20000"/>
              </a:spcBef>
              <a:buFont typeface="Wingdings" pitchFamily="2" charset="2"/>
              <a:buChar char="q"/>
              <a:tabLst>
                <a:tab pos="354013" algn="l"/>
              </a:tabLst>
            </a:pPr>
            <a:r>
              <a:rPr lang="en-US" sz="1600" b="1" dirty="0" smtClean="0">
                <a:latin typeface="Arial" pitchFamily="34" charset="0"/>
                <a:cs typeface="Arial" pitchFamily="34" charset="0"/>
              </a:rPr>
              <a:t>So</a:t>
            </a:r>
            <a:r>
              <a:rPr lang="en-US" sz="1600" b="1" dirty="0" smtClean="0">
                <a:latin typeface="Arial" pitchFamily="34" charset="0"/>
                <a:cs typeface="Arial" pitchFamily="34" charset="0"/>
              </a:rPr>
              <a:t>, between his cash and futures positions, he has effectively reduced his losses from the price decline</a:t>
            </a:r>
            <a:endParaRPr lang="en-US" b="1" dirty="0" smtClean="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COMMODITY HEDGING</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39952" y="4797152"/>
            <a:ext cx="3816424" cy="1338828"/>
          </a:xfrm>
          <a:prstGeom prst="rect">
            <a:avLst/>
          </a:prstGeom>
        </p:spPr>
        <p:txBody>
          <a:bodyPr wrap="square">
            <a:spAutoFit/>
          </a:bodyPr>
          <a:lstStyle/>
          <a:p>
            <a:pPr>
              <a:lnSpc>
                <a:spcPct val="150000"/>
              </a:lnSpc>
              <a:buFontTx/>
              <a:buNone/>
            </a:pPr>
            <a:r>
              <a:rPr lang="en-US" b="1" dirty="0" smtClean="0">
                <a:latin typeface="Arial" pitchFamily="34" charset="0"/>
                <a:cs typeface="Arial" pitchFamily="34" charset="0"/>
              </a:rPr>
              <a:t>Hope you have now</a:t>
            </a:r>
            <a:br>
              <a:rPr lang="en-US" b="1" dirty="0" smtClean="0">
                <a:latin typeface="Arial" pitchFamily="34" charset="0"/>
                <a:cs typeface="Arial" pitchFamily="34" charset="0"/>
              </a:rPr>
            </a:br>
            <a:r>
              <a:rPr lang="en-US" b="1" dirty="0" smtClean="0">
                <a:latin typeface="Arial" pitchFamily="34" charset="0"/>
                <a:cs typeface="Arial" pitchFamily="34" charset="0"/>
              </a:rPr>
              <a:t>understood the concept of commodity hedging.</a:t>
            </a:r>
            <a:endParaRPr lang="en-US"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COMMODITY HEDGING</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9353280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536958" y="1268760"/>
            <a:ext cx="3024337" cy="1809726"/>
          </a:xfrm>
          <a:prstGeom prst="rect">
            <a:avLst/>
          </a:prstGeom>
          <a:noFill/>
        </p:spPr>
        <p:txBody>
          <a:bodyPr wrap="square" rtlCol="0">
            <a:spAutoFit/>
          </a:bodyPr>
          <a:lstStyle/>
          <a:p>
            <a:pPr>
              <a:lnSpc>
                <a:spcPct val="150000"/>
              </a:lnSpc>
              <a:spcBef>
                <a:spcPct val="20000"/>
              </a:spcBef>
            </a:pPr>
            <a:r>
              <a:rPr lang="en-US" b="1" dirty="0" smtClean="0">
                <a:latin typeface="Arial" pitchFamily="34" charset="0"/>
                <a:cs typeface="Arial" pitchFamily="34" charset="0"/>
              </a:rPr>
              <a:t>In case of any query please email </a:t>
            </a:r>
            <a:r>
              <a:rPr lang="en-US" b="1" dirty="0" smtClean="0">
                <a:latin typeface="Arial" pitchFamily="34" charset="0"/>
                <a:cs typeface="Arial" pitchFamily="34" charset="0"/>
              </a:rPr>
              <a:t>: professor@tataamc.com</a:t>
            </a:r>
            <a:endParaRPr lang="en-US" b="1" dirty="0" smtClean="0">
              <a:latin typeface="Arial" pitchFamily="34" charset="0"/>
              <a:cs typeface="Arial" pitchFamily="34" charset="0"/>
            </a:endParaRPr>
          </a:p>
          <a:p>
            <a:pPr>
              <a:lnSpc>
                <a:spcPct val="150000"/>
              </a:lnSpc>
              <a:spcBef>
                <a:spcPct val="20000"/>
              </a:spcBef>
            </a:pPr>
            <a:endParaRPr lang="en-US" b="1" dirty="0" smtClean="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1639</TotalTime>
  <Words>502</Words>
  <Application>Microsoft Office PowerPoint</Application>
  <PresentationFormat>On-screen Show (4:3)</PresentationFormat>
  <Paragraphs>34</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Savio Crasto</cp:lastModifiedBy>
  <cp:revision>175</cp:revision>
  <dcterms:created xsi:type="dcterms:W3CDTF">2013-10-22T09:41:31Z</dcterms:created>
  <dcterms:modified xsi:type="dcterms:W3CDTF">2014-09-26T08:58:25Z</dcterms:modified>
</cp:coreProperties>
</file>