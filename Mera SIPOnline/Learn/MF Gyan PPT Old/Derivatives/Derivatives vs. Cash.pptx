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94" r:id="rId3"/>
    <p:sldId id="316" r:id="rId4"/>
    <p:sldId id="324" r:id="rId5"/>
    <p:sldId id="335" r:id="rId6"/>
    <p:sldId id="323" r:id="rId7"/>
    <p:sldId id="332" r:id="rId8"/>
    <p:sldId id="325" r:id="rId9"/>
    <p:sldId id="326" r:id="rId10"/>
    <p:sldId id="327" r:id="rId11"/>
    <p:sldId id="336" r:id="rId12"/>
    <p:sldId id="333" r:id="rId13"/>
    <p:sldId id="337" r:id="rId14"/>
    <p:sldId id="338" r:id="rId15"/>
    <p:sldId id="328" r:id="rId16"/>
    <p:sldId id="339" r:id="rId17"/>
    <p:sldId id="334" r:id="rId18"/>
    <p:sldId id="287" r:id="rId19"/>
    <p:sldId id="273"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46" d="100"/>
          <a:sy n="46" d="100"/>
        </p:scale>
        <p:origin x="1315" y="3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9/26/2014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A204C8-0732-4ACB-BFB7-2799F61E2A0A}" type="slidenum">
              <a:rPr lang="en-IN" smtClean="0"/>
              <a:pPr/>
              <a:t>12</a:t>
            </a:fld>
            <a:endParaRPr lang="en-IN"/>
          </a:p>
        </p:txBody>
      </p:sp>
    </p:spTree>
    <p:extLst>
      <p:ext uri="{BB962C8B-B14F-4D97-AF65-F5344CB8AC3E}">
        <p14:creationId xmlns:p14="http://schemas.microsoft.com/office/powerpoint/2010/main" val="1175261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55060"/>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DERIVATIVES</a:t>
            </a:r>
            <a:r>
              <a:rPr lang="en-US" sz="2000" dirty="0" smtClean="0">
                <a:solidFill>
                  <a:schemeClr val="bg1"/>
                </a:solidFill>
                <a:latin typeface="Arial" pitchFamily="34" charset="0"/>
                <a:cs typeface="Arial" pitchFamily="34" charset="0"/>
              </a:rPr>
              <a:t> </a:t>
            </a:r>
            <a:r>
              <a:rPr lang="en-US" sz="2000" b="1" dirty="0" smtClean="0">
                <a:solidFill>
                  <a:schemeClr val="bg1"/>
                </a:solidFill>
                <a:latin typeface="Arial" pitchFamily="34" charset="0"/>
                <a:cs typeface="Arial" pitchFamily="34" charset="0"/>
              </a:rPr>
              <a:t>VS. CASH</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31640" y="1772816"/>
            <a:ext cx="3426744" cy="1132618"/>
          </a:xfrm>
          <a:prstGeom prst="rect">
            <a:avLst/>
          </a:prstGeom>
          <a:noFill/>
        </p:spPr>
        <p:txBody>
          <a:bodyPr wrap="square" rtlCol="0">
            <a:spAutoFit/>
          </a:bodyPr>
          <a:lstStyle/>
          <a:p>
            <a:pPr>
              <a:lnSpc>
                <a:spcPct val="130000"/>
              </a:lnSpc>
            </a:pPr>
            <a:r>
              <a:rPr lang="en-US" b="1" dirty="0" smtClean="0">
                <a:latin typeface="Arial" pitchFamily="34" charset="0"/>
                <a:cs typeface="Arial" pitchFamily="34" charset="0"/>
              </a:rPr>
              <a:t>Understanding</a:t>
            </a:r>
            <a:br>
              <a:rPr lang="en-US" b="1" dirty="0" smtClean="0">
                <a:latin typeface="Arial" pitchFamily="34" charset="0"/>
                <a:cs typeface="Arial" pitchFamily="34" charset="0"/>
              </a:rPr>
            </a:br>
            <a:r>
              <a:rPr lang="en-US" b="1" dirty="0" smtClean="0">
                <a:latin typeface="Arial" pitchFamily="34" charset="0"/>
                <a:cs typeface="Arial" pitchFamily="34" charset="0"/>
              </a:rPr>
              <a:t>‘Derivatives </a:t>
            </a:r>
            <a:r>
              <a:rPr lang="en-US" b="1" dirty="0">
                <a:latin typeface="Arial" pitchFamily="34" charset="0"/>
                <a:cs typeface="Arial" pitchFamily="34" charset="0"/>
              </a:rPr>
              <a:t>vs. Cash’ </a:t>
            </a:r>
          </a:p>
          <a:p>
            <a:pPr>
              <a:lnSpc>
                <a:spcPct val="130000"/>
              </a:lnSpc>
            </a:pPr>
            <a:r>
              <a:rPr lang="en-US" b="1" dirty="0">
                <a:latin typeface="Arial" pitchFamily="34" charset="0"/>
                <a:cs typeface="Arial" pitchFamily="34" charset="0"/>
              </a:rPr>
              <a:t>– By Prof. </a:t>
            </a:r>
            <a:r>
              <a:rPr lang="en-US" b="1" i="1" dirty="0">
                <a:latin typeface="Arial" pitchFamily="34" charset="0"/>
                <a:cs typeface="Arial" pitchFamily="34" charset="0"/>
              </a:rPr>
              <a:t>Simply</a:t>
            </a:r>
            <a:r>
              <a:rPr lang="en-US" b="1" dirty="0">
                <a:latin typeface="Arial" pitchFamily="34" charset="0"/>
                <a:cs typeface="Arial" pitchFamily="34" charset="0"/>
              </a:rPr>
              <a:t> Simple </a:t>
            </a:r>
            <a:r>
              <a:rPr lang="en-US" b="1" baseline="70000" dirty="0">
                <a:latin typeface="Arial" pitchFamily="34" charset="0"/>
                <a:cs typeface="Arial" pitchFamily="34" charset="0"/>
              </a:rPr>
              <a:t>TM</a:t>
            </a:r>
          </a:p>
        </p:txBody>
      </p:sp>
    </p:spTree>
    <p:extLst>
      <p:ext uri="{BB962C8B-B14F-4D97-AF65-F5344CB8AC3E}">
        <p14:creationId xmlns:p14="http://schemas.microsoft.com/office/powerpoint/2010/main" val="1491779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4797152"/>
            <a:ext cx="4150951" cy="1338828"/>
          </a:xfrm>
          <a:prstGeom prst="rect">
            <a:avLst/>
          </a:prstGeom>
        </p:spPr>
        <p:txBody>
          <a:bodyPr wrap="square">
            <a:spAutoFit/>
          </a:bodyPr>
          <a:lstStyle/>
          <a:p>
            <a:pPr>
              <a:lnSpc>
                <a:spcPct val="150000"/>
              </a:lnSpc>
            </a:pPr>
            <a:r>
              <a:rPr lang="en-US" b="1" dirty="0">
                <a:latin typeface="Arial" pitchFamily="34" charset="0"/>
                <a:cs typeface="Arial" pitchFamily="34" charset="0"/>
              </a:rPr>
              <a:t>Why is ‘derivative trading’ </a:t>
            </a:r>
            <a:r>
              <a:rPr lang="en-US" b="1" dirty="0" smtClean="0">
                <a:latin typeface="Arial" pitchFamily="34" charset="0"/>
                <a:cs typeface="Arial" pitchFamily="34" charset="0"/>
              </a:rPr>
              <a:t>a</a:t>
            </a:r>
            <a:br>
              <a:rPr lang="en-US" b="1" dirty="0" smtClean="0">
                <a:latin typeface="Arial" pitchFamily="34" charset="0"/>
                <a:cs typeface="Arial" pitchFamily="34" charset="0"/>
              </a:rPr>
            </a:br>
            <a:r>
              <a:rPr lang="en-US" b="1" dirty="0" smtClean="0">
                <a:latin typeface="Arial" pitchFamily="34" charset="0"/>
                <a:cs typeface="Arial" pitchFamily="34" charset="0"/>
              </a:rPr>
              <a:t>form </a:t>
            </a:r>
            <a:r>
              <a:rPr lang="en-US" b="1" dirty="0">
                <a:latin typeface="Arial" pitchFamily="34" charset="0"/>
                <a:cs typeface="Arial" pitchFamily="34" charset="0"/>
              </a:rPr>
              <a:t>of high gain - high </a:t>
            </a:r>
            <a:r>
              <a:rPr lang="en-US" b="1" dirty="0" smtClean="0">
                <a:latin typeface="Arial" pitchFamily="34" charset="0"/>
                <a:cs typeface="Arial" pitchFamily="34" charset="0"/>
              </a:rPr>
              <a:t>loss</a:t>
            </a:r>
            <a:br>
              <a:rPr lang="en-US" b="1" dirty="0" smtClean="0">
                <a:latin typeface="Arial" pitchFamily="34" charset="0"/>
                <a:cs typeface="Arial" pitchFamily="34" charset="0"/>
              </a:rPr>
            </a:br>
            <a:r>
              <a:rPr lang="en-US" b="1" dirty="0" smtClean="0">
                <a:latin typeface="Arial" pitchFamily="34" charset="0"/>
                <a:cs typeface="Arial" pitchFamily="34" charset="0"/>
              </a:rPr>
              <a:t>trading </a:t>
            </a:r>
            <a:r>
              <a:rPr lang="en-US" b="1" dirty="0">
                <a:latin typeface="Arial" pitchFamily="34" charset="0"/>
                <a:cs typeface="Arial" pitchFamily="34" charset="0"/>
              </a:rPr>
              <a:t>with minimum investment ?</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DERIVATIVES</a:t>
            </a:r>
            <a:r>
              <a:rPr lang="en-US" sz="2000" dirty="0">
                <a:solidFill>
                  <a:schemeClr val="bg1"/>
                </a:solidFill>
                <a:latin typeface="Arial" pitchFamily="34" charset="0"/>
                <a:cs typeface="Arial" pitchFamily="34" charset="0"/>
              </a:rPr>
              <a:t> </a:t>
            </a:r>
            <a:r>
              <a:rPr lang="en-US" sz="2000" b="1" dirty="0">
                <a:solidFill>
                  <a:schemeClr val="bg1"/>
                </a:solidFill>
                <a:latin typeface="Arial" pitchFamily="34" charset="0"/>
                <a:cs typeface="Arial" pitchFamily="34" charset="0"/>
              </a:rPr>
              <a:t>VS. CASH</a:t>
            </a:r>
          </a:p>
        </p:txBody>
      </p:sp>
    </p:spTree>
    <p:extLst>
      <p:ext uri="{BB962C8B-B14F-4D97-AF65-F5344CB8AC3E}">
        <p14:creationId xmlns:p14="http://schemas.microsoft.com/office/powerpoint/2010/main" val="935328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12115"/>
            <a:ext cx="7416824" cy="2169825"/>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For </a:t>
            </a:r>
            <a:r>
              <a:rPr lang="en-US" b="1" dirty="0">
                <a:latin typeface="Arial" pitchFamily="34" charset="0"/>
                <a:cs typeface="Arial" pitchFamily="34" charset="0"/>
              </a:rPr>
              <a:t>the sake of understanding, you may replace “futures” with price of share</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So </a:t>
            </a:r>
            <a:r>
              <a:rPr lang="en-US" b="1" dirty="0" smtClean="0">
                <a:latin typeface="Arial" pitchFamily="34" charset="0"/>
                <a:cs typeface="Arial" pitchFamily="34" charset="0"/>
              </a:rPr>
              <a:t>one </a:t>
            </a:r>
            <a:r>
              <a:rPr lang="en-US" b="1" dirty="0">
                <a:latin typeface="Arial" pitchFamily="34" charset="0"/>
                <a:cs typeface="Arial" pitchFamily="34" charset="0"/>
              </a:rPr>
              <a:t>has to take a bet on the movement of </a:t>
            </a:r>
            <a:r>
              <a:rPr lang="en-US" b="1" dirty="0" smtClean="0">
                <a:latin typeface="Arial" pitchFamily="34" charset="0"/>
                <a:cs typeface="Arial" pitchFamily="34" charset="0"/>
              </a:rPr>
              <a:t>the share </a:t>
            </a:r>
            <a:r>
              <a:rPr lang="en-US" b="1" dirty="0">
                <a:latin typeface="Arial" pitchFamily="34" charset="0"/>
                <a:cs typeface="Arial" pitchFamily="34" charset="0"/>
              </a:rPr>
              <a:t>price at the end of the period.</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DERIVATIVES</a:t>
            </a:r>
            <a:r>
              <a:rPr lang="en-US" sz="2000" dirty="0">
                <a:solidFill>
                  <a:schemeClr val="bg1"/>
                </a:solidFill>
                <a:latin typeface="Arial" pitchFamily="34" charset="0"/>
                <a:cs typeface="Arial" pitchFamily="34" charset="0"/>
              </a:rPr>
              <a:t> </a:t>
            </a:r>
            <a:r>
              <a:rPr lang="en-US" sz="2000" b="1" dirty="0">
                <a:solidFill>
                  <a:schemeClr val="bg1"/>
                </a:solidFill>
                <a:latin typeface="Arial" pitchFamily="34" charset="0"/>
                <a:cs typeface="Arial" pitchFamily="34" charset="0"/>
              </a:rPr>
              <a:t>VS. CASH</a:t>
            </a:r>
          </a:p>
        </p:txBody>
      </p:sp>
    </p:spTree>
    <p:extLst>
      <p:ext uri="{BB962C8B-B14F-4D97-AF65-F5344CB8AC3E}">
        <p14:creationId xmlns:p14="http://schemas.microsoft.com/office/powerpoint/2010/main" val="32104835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50049" y="4077072"/>
            <a:ext cx="4392488" cy="2169825"/>
          </a:xfrm>
          <a:prstGeom prst="rect">
            <a:avLst/>
          </a:prstGeom>
        </p:spPr>
        <p:txBody>
          <a:bodyPr wrap="square">
            <a:spAutoFit/>
          </a:bodyPr>
          <a:lstStyle/>
          <a:p>
            <a:pPr>
              <a:lnSpc>
                <a:spcPct val="150000"/>
              </a:lnSpc>
            </a:pPr>
            <a:r>
              <a:rPr lang="en-US" b="1" dirty="0">
                <a:latin typeface="Arial" pitchFamily="34" charset="0"/>
                <a:cs typeface="Arial" pitchFamily="34" charset="0"/>
              </a:rPr>
              <a:t>Since one is looking at price movements, one may </a:t>
            </a:r>
            <a:r>
              <a:rPr lang="en-US" b="1" dirty="0" smtClean="0">
                <a:latin typeface="Arial" pitchFamily="34" charset="0"/>
                <a:cs typeface="Arial" pitchFamily="34" charset="0"/>
              </a:rPr>
              <a:t>presume</a:t>
            </a:r>
            <a:br>
              <a:rPr lang="en-US" b="1" dirty="0" smtClean="0">
                <a:latin typeface="Arial" pitchFamily="34" charset="0"/>
                <a:cs typeface="Arial" pitchFamily="34" charset="0"/>
              </a:rPr>
            </a:br>
            <a:r>
              <a:rPr lang="en-US" b="1" dirty="0" smtClean="0">
                <a:latin typeface="Arial" pitchFamily="34" charset="0"/>
                <a:cs typeface="Arial" pitchFamily="34" charset="0"/>
              </a:rPr>
              <a:t>that </a:t>
            </a:r>
            <a:r>
              <a:rPr lang="en-US" b="1" dirty="0">
                <a:latin typeface="Arial" pitchFamily="34" charset="0"/>
                <a:cs typeface="Arial" pitchFamily="34" charset="0"/>
              </a:rPr>
              <a:t>the share price would </a:t>
            </a:r>
            <a:r>
              <a:rPr lang="en-US" b="1" dirty="0" smtClean="0">
                <a:latin typeface="Arial" pitchFamily="34" charset="0"/>
                <a:cs typeface="Arial" pitchFamily="34" charset="0"/>
              </a:rPr>
              <a:t>perhaps</a:t>
            </a:r>
            <a:br>
              <a:rPr lang="en-US" b="1" dirty="0" smtClean="0">
                <a:latin typeface="Arial" pitchFamily="34" charset="0"/>
                <a:cs typeface="Arial" pitchFamily="34" charset="0"/>
              </a:rPr>
            </a:br>
            <a:r>
              <a:rPr lang="en-US" b="1" dirty="0" smtClean="0">
                <a:latin typeface="Arial" pitchFamily="34" charset="0"/>
                <a:cs typeface="Arial" pitchFamily="34" charset="0"/>
              </a:rPr>
              <a:t>go </a:t>
            </a:r>
            <a:r>
              <a:rPr lang="en-US" b="1" dirty="0">
                <a:latin typeface="Arial" pitchFamily="34" charset="0"/>
                <a:cs typeface="Arial" pitchFamily="34" charset="0"/>
              </a:rPr>
              <a:t>up or down by a maximum of </a:t>
            </a: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10</a:t>
            </a:r>
            <a:r>
              <a:rPr lang="en-US" b="1" dirty="0">
                <a:latin typeface="Arial" pitchFamily="34" charset="0"/>
                <a:cs typeface="Arial" pitchFamily="34" charset="0"/>
              </a:rPr>
              <a:t>% in this period.</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DERIVATIVES</a:t>
            </a:r>
            <a:r>
              <a:rPr lang="en-US" sz="2000" dirty="0">
                <a:solidFill>
                  <a:schemeClr val="bg1"/>
                </a:solidFill>
                <a:latin typeface="Arial" pitchFamily="34" charset="0"/>
                <a:cs typeface="Arial" pitchFamily="34" charset="0"/>
              </a:rPr>
              <a:t> </a:t>
            </a:r>
            <a:r>
              <a:rPr lang="en-US" sz="2000" b="1" dirty="0">
                <a:solidFill>
                  <a:schemeClr val="bg1"/>
                </a:solidFill>
                <a:latin typeface="Arial" pitchFamily="34" charset="0"/>
                <a:cs typeface="Arial" pitchFamily="34" charset="0"/>
              </a:rPr>
              <a:t>VS. CASH</a:t>
            </a:r>
          </a:p>
        </p:txBody>
      </p:sp>
    </p:spTree>
    <p:extLst>
      <p:ext uri="{BB962C8B-B14F-4D97-AF65-F5344CB8AC3E}">
        <p14:creationId xmlns:p14="http://schemas.microsoft.com/office/powerpoint/2010/main" val="31696730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DERIVATIVES</a:t>
            </a:r>
            <a:r>
              <a:rPr lang="en-US" sz="2000" dirty="0">
                <a:solidFill>
                  <a:schemeClr val="bg1"/>
                </a:solidFill>
                <a:latin typeface="Arial" pitchFamily="34" charset="0"/>
                <a:cs typeface="Arial" pitchFamily="34" charset="0"/>
              </a:rPr>
              <a:t> </a:t>
            </a:r>
            <a:r>
              <a:rPr lang="en-US" sz="2000" b="1" dirty="0">
                <a:solidFill>
                  <a:schemeClr val="bg1"/>
                </a:solidFill>
                <a:latin typeface="Arial" pitchFamily="34" charset="0"/>
                <a:cs typeface="Arial" pitchFamily="34" charset="0"/>
              </a:rPr>
              <a:t>VS. CASH</a:t>
            </a:r>
          </a:p>
        </p:txBody>
      </p:sp>
      <p:sp>
        <p:nvSpPr>
          <p:cNvPr id="5" name="Rectangle 4"/>
          <p:cNvSpPr/>
          <p:nvPr/>
        </p:nvSpPr>
        <p:spPr>
          <a:xfrm>
            <a:off x="755576" y="1052736"/>
            <a:ext cx="7272808" cy="341632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 </a:t>
            </a:r>
            <a:r>
              <a:rPr lang="en-US" b="1" dirty="0">
                <a:latin typeface="Arial" pitchFamily="34" charset="0"/>
                <a:cs typeface="Arial" pitchFamily="34" charset="0"/>
              </a:rPr>
              <a:t>margin money required to take a bet on price movements would be 10</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Let’s </a:t>
            </a:r>
            <a:r>
              <a:rPr lang="en-US" b="1" dirty="0">
                <a:latin typeface="Arial" pitchFamily="34" charset="0"/>
                <a:cs typeface="Arial" pitchFamily="34" charset="0"/>
              </a:rPr>
              <a:t>say the price of the share is </a:t>
            </a:r>
            <a:r>
              <a:rPr lang="en-US" b="1" dirty="0" err="1">
                <a:latin typeface="Arial" pitchFamily="34" charset="0"/>
                <a:cs typeface="Arial" pitchFamily="34" charset="0"/>
              </a:rPr>
              <a:t>Rs</a:t>
            </a:r>
            <a:r>
              <a:rPr lang="en-US" b="1" dirty="0">
                <a:latin typeface="Arial" pitchFamily="34" charset="0"/>
                <a:cs typeface="Arial" pitchFamily="34" charset="0"/>
              </a:rPr>
              <a:t> 100.</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Hence</a:t>
            </a:r>
            <a:r>
              <a:rPr lang="en-US" b="1" dirty="0">
                <a:latin typeface="Arial" pitchFamily="34" charset="0"/>
                <a:cs typeface="Arial" pitchFamily="34" charset="0"/>
              </a:rPr>
              <a:t>, if you want to take a bet on the price movement at the end of </a:t>
            </a:r>
            <a:r>
              <a:rPr lang="en-US" b="1" dirty="0" smtClean="0">
                <a:latin typeface="Arial" pitchFamily="34" charset="0"/>
                <a:cs typeface="Arial" pitchFamily="34" charset="0"/>
              </a:rPr>
              <a:t>say </a:t>
            </a:r>
            <a:r>
              <a:rPr lang="en-US" b="1" dirty="0">
                <a:latin typeface="Arial" pitchFamily="34" charset="0"/>
                <a:cs typeface="Arial" pitchFamily="34" charset="0"/>
              </a:rPr>
              <a:t>20 days, you will need to deposit margin money of </a:t>
            </a:r>
            <a:r>
              <a:rPr lang="en-US" b="1" dirty="0" err="1">
                <a:latin typeface="Arial" pitchFamily="34" charset="0"/>
                <a:cs typeface="Arial" pitchFamily="34" charset="0"/>
              </a:rPr>
              <a:t>Rs</a:t>
            </a:r>
            <a:r>
              <a:rPr lang="en-US" b="1" dirty="0">
                <a:latin typeface="Arial" pitchFamily="34" charset="0"/>
                <a:cs typeface="Arial" pitchFamily="34" charset="0"/>
              </a:rPr>
              <a:t> 10 for a share of </a:t>
            </a:r>
            <a:r>
              <a:rPr lang="en-US" b="1" dirty="0" err="1">
                <a:latin typeface="Arial" pitchFamily="34" charset="0"/>
                <a:cs typeface="Arial" pitchFamily="34" charset="0"/>
              </a:rPr>
              <a:t>Rs</a:t>
            </a:r>
            <a:r>
              <a:rPr lang="en-US" b="1" dirty="0">
                <a:latin typeface="Arial" pitchFamily="34" charset="0"/>
                <a:cs typeface="Arial" pitchFamily="34" charset="0"/>
              </a:rPr>
              <a:t> 100.</a:t>
            </a:r>
          </a:p>
        </p:txBody>
      </p:sp>
    </p:spTree>
    <p:extLst>
      <p:ext uri="{BB962C8B-B14F-4D97-AF65-F5344CB8AC3E}">
        <p14:creationId xmlns:p14="http://schemas.microsoft.com/office/powerpoint/2010/main" val="24186780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DERIVATIVES</a:t>
            </a:r>
            <a:r>
              <a:rPr lang="en-US" sz="2000" dirty="0">
                <a:solidFill>
                  <a:schemeClr val="bg1"/>
                </a:solidFill>
                <a:latin typeface="Arial" pitchFamily="34" charset="0"/>
                <a:cs typeface="Arial" pitchFamily="34" charset="0"/>
              </a:rPr>
              <a:t> </a:t>
            </a:r>
            <a:r>
              <a:rPr lang="en-US" sz="2000" b="1" dirty="0">
                <a:solidFill>
                  <a:schemeClr val="bg1"/>
                </a:solidFill>
                <a:latin typeface="Arial" pitchFamily="34" charset="0"/>
                <a:cs typeface="Arial" pitchFamily="34" charset="0"/>
              </a:rPr>
              <a:t>VS. CASH</a:t>
            </a:r>
          </a:p>
        </p:txBody>
      </p:sp>
      <p:sp>
        <p:nvSpPr>
          <p:cNvPr id="4" name="Rectangle 3"/>
          <p:cNvSpPr/>
          <p:nvPr/>
        </p:nvSpPr>
        <p:spPr>
          <a:xfrm>
            <a:off x="755576" y="1052736"/>
            <a:ext cx="7272808" cy="3416320"/>
          </a:xfrm>
          <a:prstGeom prst="rect">
            <a:avLst/>
          </a:prstGeom>
        </p:spPr>
        <p:txBody>
          <a:bodyPr wrap="square">
            <a:spAutoFit/>
          </a:bodyPr>
          <a:lstStyle/>
          <a:p>
            <a:pPr>
              <a:lnSpc>
                <a:spcPct val="150000"/>
              </a:lnSpc>
            </a:pPr>
            <a:r>
              <a:rPr lang="en-US" b="1" dirty="0">
                <a:latin typeface="Arial" pitchFamily="34" charset="0"/>
                <a:cs typeface="Arial" pitchFamily="34" charset="0"/>
              </a:rPr>
              <a:t>Let’s say after 20 days, the share value goes up to </a:t>
            </a:r>
            <a:r>
              <a:rPr lang="en-US" b="1" dirty="0" err="1">
                <a:latin typeface="Arial" pitchFamily="34" charset="0"/>
                <a:cs typeface="Arial" pitchFamily="34" charset="0"/>
              </a:rPr>
              <a:t>Rs</a:t>
            </a:r>
            <a:r>
              <a:rPr lang="en-US" b="1" dirty="0">
                <a:latin typeface="Arial" pitchFamily="34" charset="0"/>
                <a:cs typeface="Arial" pitchFamily="34" charset="0"/>
              </a:rPr>
              <a:t> 120</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a:t>
            </a:r>
            <a:r>
              <a:rPr lang="en-US" b="1" i="1" dirty="0">
                <a:latin typeface="Arial" pitchFamily="34" charset="0"/>
                <a:cs typeface="Arial" pitchFamily="34" charset="0"/>
              </a:rPr>
              <a:t>For the sake of understanding, we are ignoring the mark to market impact where daily debit / credit entries are </a:t>
            </a:r>
            <a:r>
              <a:rPr lang="en-US" b="1" i="1" dirty="0" smtClean="0">
                <a:latin typeface="Arial" pitchFamily="34" charset="0"/>
                <a:cs typeface="Arial" pitchFamily="34" charset="0"/>
              </a:rPr>
              <a:t>made</a:t>
            </a:r>
            <a:r>
              <a:rPr lang="en-US" b="1" dirty="0" smtClean="0">
                <a:latin typeface="Arial" pitchFamily="34" charset="0"/>
                <a:cs typeface="Arial" pitchFamily="34" charset="0"/>
              </a:rPr>
              <a:t>)</a:t>
            </a:r>
            <a:endParaRPr lang="en-US" b="1" dirty="0">
              <a:latin typeface="Arial" pitchFamily="34" charset="0"/>
              <a:cs typeface="Arial" pitchFamily="34" charset="0"/>
            </a:endParaRPr>
          </a:p>
          <a:p>
            <a:pPr>
              <a:lnSpc>
                <a:spcPct val="150000"/>
              </a:lnSpc>
            </a:pPr>
            <a:endParaRPr lang="en-US"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The </a:t>
            </a:r>
            <a:r>
              <a:rPr lang="en-US" b="1" dirty="0">
                <a:latin typeface="Arial" pitchFamily="34" charset="0"/>
                <a:cs typeface="Arial" pitchFamily="34" charset="0"/>
              </a:rPr>
              <a:t>buyer of the future makes </a:t>
            </a:r>
            <a:r>
              <a:rPr lang="en-US" b="1" dirty="0" err="1">
                <a:latin typeface="Arial" pitchFamily="34" charset="0"/>
                <a:cs typeface="Arial" pitchFamily="34" charset="0"/>
              </a:rPr>
              <a:t>Rs</a:t>
            </a:r>
            <a:r>
              <a:rPr lang="en-US" b="1" dirty="0">
                <a:latin typeface="Arial" pitchFamily="34" charset="0"/>
                <a:cs typeface="Arial" pitchFamily="34" charset="0"/>
              </a:rPr>
              <a:t> 10 </a:t>
            </a: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a:t>
            </a:r>
            <a:r>
              <a:rPr lang="en-US" b="1" dirty="0" err="1">
                <a:latin typeface="Arial" pitchFamily="34" charset="0"/>
                <a:cs typeface="Arial" pitchFamily="34" charset="0"/>
              </a:rPr>
              <a:t>Rs</a:t>
            </a:r>
            <a:r>
              <a:rPr lang="en-US" b="1" dirty="0">
                <a:latin typeface="Arial" pitchFamily="34" charset="0"/>
                <a:cs typeface="Arial" pitchFamily="34" charset="0"/>
              </a:rPr>
              <a:t>. 120 – margin Rs.10 </a:t>
            </a:r>
            <a:r>
              <a:rPr lang="en-US" b="1" dirty="0">
                <a:latin typeface="Arial" pitchFamily="34" charset="0"/>
                <a:cs typeface="Arial" pitchFamily="34" charset="0"/>
              </a:rPr>
              <a:t>– </a:t>
            </a:r>
            <a:r>
              <a:rPr lang="en-US" b="1" dirty="0" smtClean="0">
                <a:latin typeface="Arial" pitchFamily="34" charset="0"/>
                <a:cs typeface="Arial" pitchFamily="34" charset="0"/>
              </a:rPr>
              <a:t> </a:t>
            </a:r>
            <a:r>
              <a:rPr lang="en-US" b="1" dirty="0" err="1" smtClean="0">
                <a:latin typeface="Arial" pitchFamily="34" charset="0"/>
                <a:cs typeface="Arial" pitchFamily="34" charset="0"/>
              </a:rPr>
              <a:t>orignianl</a:t>
            </a:r>
            <a:r>
              <a:rPr lang="en-US" b="1" dirty="0" smtClean="0">
                <a:latin typeface="Arial" pitchFamily="34" charset="0"/>
                <a:cs typeface="Arial" pitchFamily="34" charset="0"/>
              </a:rPr>
              <a:t> price of </a:t>
            </a:r>
            <a:r>
              <a:rPr lang="en-US" b="1" dirty="0" err="1" smtClean="0">
                <a:latin typeface="Arial" pitchFamily="34" charset="0"/>
                <a:cs typeface="Arial" pitchFamily="34" charset="0"/>
              </a:rPr>
              <a:t>Rs</a:t>
            </a:r>
            <a:r>
              <a:rPr lang="en-US" b="1" dirty="0" smtClean="0">
                <a:latin typeface="Arial" pitchFamily="34" charset="0"/>
                <a:cs typeface="Arial" pitchFamily="34" charset="0"/>
              </a:rPr>
              <a:t> 100 </a:t>
            </a:r>
            <a:r>
              <a:rPr lang="en-US" b="1" dirty="0" smtClean="0">
                <a:latin typeface="Arial" pitchFamily="34" charset="0"/>
                <a:cs typeface="Arial" pitchFamily="34" charset="0"/>
              </a:rPr>
              <a:t>= </a:t>
            </a:r>
            <a:r>
              <a:rPr lang="en-US" b="1" dirty="0">
                <a:latin typeface="Arial" pitchFamily="34" charset="0"/>
                <a:cs typeface="Arial" pitchFamily="34" charset="0"/>
              </a:rPr>
              <a:t>Rs.10) as net profit per share. </a:t>
            </a:r>
          </a:p>
        </p:txBody>
      </p:sp>
    </p:spTree>
    <p:extLst>
      <p:ext uri="{BB962C8B-B14F-4D97-AF65-F5344CB8AC3E}">
        <p14:creationId xmlns:p14="http://schemas.microsoft.com/office/powerpoint/2010/main" val="4816058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9" name="TextBox 8"/>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DERIVATIVES</a:t>
            </a:r>
            <a:r>
              <a:rPr lang="en-US" sz="2000" dirty="0">
                <a:solidFill>
                  <a:schemeClr val="bg1"/>
                </a:solidFill>
                <a:latin typeface="Arial" pitchFamily="34" charset="0"/>
                <a:cs typeface="Arial" pitchFamily="34" charset="0"/>
              </a:rPr>
              <a:t> </a:t>
            </a:r>
            <a:r>
              <a:rPr lang="en-US" sz="2000" b="1" dirty="0">
                <a:solidFill>
                  <a:schemeClr val="bg1"/>
                </a:solidFill>
                <a:latin typeface="Arial" pitchFamily="34" charset="0"/>
                <a:cs typeface="Arial" pitchFamily="34" charset="0"/>
              </a:rPr>
              <a:t>VS. CASH</a:t>
            </a:r>
          </a:p>
        </p:txBody>
      </p:sp>
      <p:sp>
        <p:nvSpPr>
          <p:cNvPr id="5" name="TextBox 4"/>
          <p:cNvSpPr txBox="1"/>
          <p:nvPr/>
        </p:nvSpPr>
        <p:spPr>
          <a:xfrm>
            <a:off x="4109662" y="4005064"/>
            <a:ext cx="4176464"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He thus makes a profit of </a:t>
            </a:r>
            <a:r>
              <a:rPr lang="en-US" b="1" dirty="0" err="1">
                <a:latin typeface="Arial" pitchFamily="34" charset="0"/>
                <a:cs typeface="Arial" pitchFamily="34" charset="0"/>
              </a:rPr>
              <a:t>Rs</a:t>
            </a:r>
            <a:r>
              <a:rPr lang="en-US" b="1" dirty="0">
                <a:latin typeface="Arial" pitchFamily="34" charset="0"/>
                <a:cs typeface="Arial" pitchFamily="34" charset="0"/>
              </a:rPr>
              <a:t> 10 on an investment </a:t>
            </a:r>
            <a:r>
              <a:rPr lang="en-US" b="1" dirty="0" smtClean="0">
                <a:latin typeface="Arial" pitchFamily="34" charset="0"/>
                <a:cs typeface="Arial" pitchFamily="34" charset="0"/>
              </a:rPr>
              <a:t>of </a:t>
            </a:r>
            <a:r>
              <a:rPr lang="en-US" b="1" dirty="0" err="1" smtClean="0">
                <a:latin typeface="Arial" pitchFamily="34" charset="0"/>
                <a:cs typeface="Arial" pitchFamily="34" charset="0"/>
              </a:rPr>
              <a:t>Rs</a:t>
            </a:r>
            <a:r>
              <a:rPr lang="en-US" b="1" dirty="0" smtClean="0">
                <a:latin typeface="Arial" pitchFamily="34" charset="0"/>
                <a:cs typeface="Arial" pitchFamily="34" charset="0"/>
              </a:rPr>
              <a:t> </a:t>
            </a:r>
            <a:r>
              <a:rPr lang="en-US" b="1" dirty="0">
                <a:latin typeface="Arial" pitchFamily="34" charset="0"/>
                <a:cs typeface="Arial" pitchFamily="34" charset="0"/>
              </a:rPr>
              <a:t>10 which means that the return on investment </a:t>
            </a:r>
            <a:r>
              <a:rPr lang="en-US" b="1" dirty="0" smtClean="0">
                <a:latin typeface="Arial" pitchFamily="34" charset="0"/>
                <a:cs typeface="Arial" pitchFamily="34" charset="0"/>
              </a:rPr>
              <a:t>is 100%.</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7512652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39552" y="1022439"/>
            <a:ext cx="7560840" cy="2169825"/>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However</a:t>
            </a:r>
            <a:r>
              <a:rPr lang="en-US" b="1" dirty="0">
                <a:latin typeface="Arial" pitchFamily="34" charset="0"/>
                <a:cs typeface="Arial" pitchFamily="34" charset="0"/>
              </a:rPr>
              <a:t>, please bear in mind that while you can invest in a single share of a company in the spot or cash market, the requirement in the derivative markets is to invest in a diverse basket or lots of the same shares . For example, a basket (which is generally termed used lot size) of say stock “A” would contain 10 stocks per lot.</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DERIVATIVES</a:t>
            </a:r>
            <a:r>
              <a:rPr lang="en-US" sz="2000" dirty="0">
                <a:solidFill>
                  <a:schemeClr val="bg1"/>
                </a:solidFill>
                <a:latin typeface="Arial" pitchFamily="34" charset="0"/>
                <a:cs typeface="Arial" pitchFamily="34" charset="0"/>
              </a:rPr>
              <a:t> </a:t>
            </a:r>
            <a:r>
              <a:rPr lang="en-US" sz="2000" b="1" dirty="0">
                <a:solidFill>
                  <a:schemeClr val="bg1"/>
                </a:solidFill>
                <a:latin typeface="Arial" pitchFamily="34" charset="0"/>
                <a:cs typeface="Arial" pitchFamily="34" charset="0"/>
              </a:rPr>
              <a:t>VS. CASH</a:t>
            </a:r>
          </a:p>
        </p:txBody>
      </p:sp>
    </p:spTree>
    <p:extLst>
      <p:ext uri="{BB962C8B-B14F-4D97-AF65-F5344CB8AC3E}">
        <p14:creationId xmlns:p14="http://schemas.microsoft.com/office/powerpoint/2010/main" val="31159162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11560" y="971143"/>
            <a:ext cx="7488832" cy="2542106"/>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Lets </a:t>
            </a:r>
            <a:r>
              <a:rPr lang="en-US" b="1" dirty="0">
                <a:latin typeface="Arial" pitchFamily="34" charset="0"/>
                <a:cs typeface="Arial" pitchFamily="34" charset="0"/>
              </a:rPr>
              <a:t>say the cost of “A” in the spot market is  </a:t>
            </a:r>
            <a:r>
              <a:rPr lang="en-US" b="1" dirty="0" err="1">
                <a:latin typeface="Arial" pitchFamily="34" charset="0"/>
                <a:cs typeface="Arial" pitchFamily="34" charset="0"/>
              </a:rPr>
              <a:t>Rs</a:t>
            </a:r>
            <a:r>
              <a:rPr lang="en-US" b="1" dirty="0">
                <a:latin typeface="Arial" pitchFamily="34" charset="0"/>
                <a:cs typeface="Arial" pitchFamily="34" charset="0"/>
              </a:rPr>
              <a:t>. </a:t>
            </a:r>
            <a:r>
              <a:rPr lang="en-US" b="1" dirty="0" smtClean="0">
                <a:latin typeface="Arial" pitchFamily="34" charset="0"/>
                <a:cs typeface="Arial" pitchFamily="34" charset="0"/>
              </a:rPr>
              <a:t>100;</a:t>
            </a:r>
            <a:br>
              <a:rPr lang="en-US" b="1" dirty="0" smtClean="0">
                <a:latin typeface="Arial" pitchFamily="34" charset="0"/>
                <a:cs typeface="Arial" pitchFamily="34" charset="0"/>
              </a:rPr>
            </a:br>
            <a:r>
              <a:rPr lang="en-US" b="1" dirty="0" smtClean="0">
                <a:latin typeface="Arial" pitchFamily="34" charset="0"/>
                <a:cs typeface="Arial" pitchFamily="34" charset="0"/>
              </a:rPr>
              <a:t>your </a:t>
            </a:r>
            <a:r>
              <a:rPr lang="en-US" b="1" dirty="0">
                <a:latin typeface="Arial" pitchFamily="34" charset="0"/>
                <a:cs typeface="Arial" pitchFamily="34" charset="0"/>
              </a:rPr>
              <a:t>investment too would be </a:t>
            </a:r>
            <a:r>
              <a:rPr lang="en-US" b="1" dirty="0" err="1">
                <a:latin typeface="Arial" pitchFamily="34" charset="0"/>
                <a:cs typeface="Arial" pitchFamily="34" charset="0"/>
              </a:rPr>
              <a:t>Rs</a:t>
            </a:r>
            <a:r>
              <a:rPr lang="en-US" b="1" dirty="0">
                <a:latin typeface="Arial" pitchFamily="34" charset="0"/>
                <a:cs typeface="Arial" pitchFamily="34" charset="0"/>
              </a:rPr>
              <a:t> 100 in the spot market whereas </a:t>
            </a:r>
          </a:p>
          <a:p>
            <a:pPr>
              <a:lnSpc>
                <a:spcPct val="150000"/>
              </a:lnSpc>
            </a:pPr>
            <a:r>
              <a:rPr lang="en-US" b="1" dirty="0">
                <a:latin typeface="Arial" pitchFamily="34" charset="0"/>
                <a:cs typeface="Arial" pitchFamily="34" charset="0"/>
              </a:rPr>
              <a:t>in the derivatives market, you would have to invest in a group of say 10 shares which would be valued at </a:t>
            </a:r>
            <a:r>
              <a:rPr lang="en-US" b="1" dirty="0" err="1">
                <a:latin typeface="Arial" pitchFamily="34" charset="0"/>
                <a:cs typeface="Arial" pitchFamily="34" charset="0"/>
              </a:rPr>
              <a:t>Rs</a:t>
            </a:r>
            <a:r>
              <a:rPr lang="en-US" b="1" dirty="0">
                <a:latin typeface="Arial" pitchFamily="34" charset="0"/>
                <a:cs typeface="Arial" pitchFamily="34" charset="0"/>
              </a:rPr>
              <a:t> 1000 but since you only need to invest the margin money of say 10,% your investment would be the same </a:t>
            </a:r>
            <a:r>
              <a:rPr lang="en-US" b="1" dirty="0" err="1">
                <a:latin typeface="Arial" pitchFamily="34" charset="0"/>
                <a:cs typeface="Arial" pitchFamily="34" charset="0"/>
              </a:rPr>
              <a:t>Rs</a:t>
            </a:r>
            <a:r>
              <a:rPr lang="en-US" b="1" dirty="0">
                <a:latin typeface="Arial" pitchFamily="34" charset="0"/>
                <a:cs typeface="Arial" pitchFamily="34" charset="0"/>
              </a:rPr>
              <a:t> 100. </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DERIVATIVES</a:t>
            </a:r>
            <a:r>
              <a:rPr lang="en-US" sz="2000" dirty="0">
                <a:solidFill>
                  <a:schemeClr val="bg1"/>
                </a:solidFill>
                <a:latin typeface="Arial" pitchFamily="34" charset="0"/>
                <a:cs typeface="Arial" pitchFamily="34" charset="0"/>
              </a:rPr>
              <a:t> </a:t>
            </a:r>
            <a:r>
              <a:rPr lang="en-US" sz="2000" b="1" dirty="0">
                <a:solidFill>
                  <a:schemeClr val="bg1"/>
                </a:solidFill>
                <a:latin typeface="Arial" pitchFamily="34" charset="0"/>
                <a:cs typeface="Arial" pitchFamily="34" charset="0"/>
              </a:rPr>
              <a:t>VS. CASH</a:t>
            </a:r>
          </a:p>
        </p:txBody>
      </p:sp>
    </p:spTree>
    <p:extLst>
      <p:ext uri="{BB962C8B-B14F-4D97-AF65-F5344CB8AC3E}">
        <p14:creationId xmlns:p14="http://schemas.microsoft.com/office/powerpoint/2010/main" val="6781085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915816" y="1124744"/>
            <a:ext cx="4032448"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However, in this case, you get the opportunity to take a bet on the price movement of 10 shares valued at </a:t>
            </a:r>
            <a:r>
              <a:rPr lang="en-US" b="1" dirty="0" err="1">
                <a:latin typeface="Arial" pitchFamily="34" charset="0"/>
                <a:cs typeface="Arial" pitchFamily="34" charset="0"/>
              </a:rPr>
              <a:t>Rs</a:t>
            </a:r>
            <a:r>
              <a:rPr lang="en-US" b="1" dirty="0">
                <a:latin typeface="Arial" pitchFamily="34" charset="0"/>
                <a:cs typeface="Arial" pitchFamily="34" charset="0"/>
              </a:rPr>
              <a:t> 100.</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DERIVATIVES</a:t>
            </a:r>
            <a:r>
              <a:rPr lang="en-US" sz="2000" dirty="0">
                <a:solidFill>
                  <a:schemeClr val="bg1"/>
                </a:solidFill>
                <a:latin typeface="Arial" pitchFamily="34" charset="0"/>
                <a:cs typeface="Arial" pitchFamily="34" charset="0"/>
              </a:rPr>
              <a:t> </a:t>
            </a:r>
            <a:r>
              <a:rPr lang="en-US" sz="2000" b="1" dirty="0">
                <a:solidFill>
                  <a:schemeClr val="bg1"/>
                </a:solidFill>
                <a:latin typeface="Arial" pitchFamily="34" charset="0"/>
                <a:cs typeface="Arial" pitchFamily="34" charset="0"/>
              </a:rPr>
              <a:t>VS. CASH</a:t>
            </a:r>
          </a:p>
        </p:txBody>
      </p:sp>
    </p:spTree>
    <p:extLst>
      <p:ext uri="{BB962C8B-B14F-4D97-AF65-F5344CB8AC3E}">
        <p14:creationId xmlns:p14="http://schemas.microsoft.com/office/powerpoint/2010/main" val="28844991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 descr="C:\Users\Ramiz\Desktop\From Rajni\Jpegs_blank\PSS_LESSONS_PG6.jpg"/>
          <p:cNvPicPr>
            <a:picLocks noChangeAspect="1" noChangeArrowheads="1"/>
          </p:cNvPicPr>
          <p:nvPr/>
        </p:nvPicPr>
        <p:blipFill>
          <a:blip r:embed="rId3" cstate="print"/>
          <a:srcRect/>
          <a:stretch>
            <a:fillRect/>
          </a:stretch>
        </p:blipFill>
        <p:spPr bwMode="auto">
          <a:xfrm>
            <a:off x="0" y="0"/>
            <a:ext cx="9144000" cy="6858000"/>
          </a:xfrm>
          <a:prstGeom prst="rect">
            <a:avLst/>
          </a:prstGeom>
          <a:noFill/>
        </p:spPr>
      </p:pic>
      <p:sp>
        <p:nvSpPr>
          <p:cNvPr id="3" name="TextBox 2"/>
          <p:cNvSpPr txBox="1"/>
          <p:nvPr/>
        </p:nvSpPr>
        <p:spPr>
          <a:xfrm>
            <a:off x="5420997" y="1069799"/>
            <a:ext cx="1671283" cy="414985"/>
          </a:xfrm>
          <a:prstGeom prst="rect">
            <a:avLst/>
          </a:prstGeom>
          <a:noFill/>
        </p:spPr>
        <p:txBody>
          <a:bodyPr wrap="square" rtlCol="0">
            <a:spAutoFit/>
          </a:bodyPr>
          <a:lstStyle/>
          <a:p>
            <a:pPr algn="ctr">
              <a:lnSpc>
                <a:spcPct val="130000"/>
              </a:lnSpc>
            </a:pPr>
            <a:r>
              <a:rPr lang="en-US" b="1" dirty="0" smtClean="0">
                <a:latin typeface="Arial" pitchFamily="34" charset="0"/>
                <a:cs typeface="Arial" pitchFamily="34" charset="0"/>
              </a:rPr>
              <a:t>Thus…</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DERIVATIVES</a:t>
            </a:r>
            <a:r>
              <a:rPr lang="en-US" sz="2000" dirty="0">
                <a:solidFill>
                  <a:schemeClr val="bg1"/>
                </a:solidFill>
                <a:latin typeface="Arial" pitchFamily="34" charset="0"/>
                <a:cs typeface="Arial" pitchFamily="34" charset="0"/>
              </a:rPr>
              <a:t> </a:t>
            </a:r>
            <a:r>
              <a:rPr lang="en-US" sz="2000" b="1" dirty="0">
                <a:solidFill>
                  <a:schemeClr val="bg1"/>
                </a:solidFill>
                <a:latin typeface="Arial" pitchFamily="34" charset="0"/>
                <a:cs typeface="Arial" pitchFamily="34" charset="0"/>
              </a:rPr>
              <a:t>VS. CASH</a:t>
            </a:r>
          </a:p>
        </p:txBody>
      </p:sp>
      <p:sp>
        <p:nvSpPr>
          <p:cNvPr id="8" name="TextBox 7"/>
          <p:cNvSpPr txBox="1"/>
          <p:nvPr/>
        </p:nvSpPr>
        <p:spPr>
          <a:xfrm>
            <a:off x="5004048" y="1628800"/>
            <a:ext cx="3168352" cy="646331"/>
          </a:xfrm>
          <a:prstGeom prst="rect">
            <a:avLst/>
          </a:prstGeom>
          <a:noFill/>
        </p:spPr>
        <p:txBody>
          <a:bodyPr wrap="square" rtlCol="0">
            <a:spAutoFit/>
          </a:bodyPr>
          <a:lstStyle/>
          <a:p>
            <a:pPr>
              <a:spcBef>
                <a:spcPct val="50000"/>
              </a:spcBef>
            </a:pPr>
            <a:r>
              <a:rPr lang="en-US" b="1" dirty="0">
                <a:latin typeface="Arial" pitchFamily="34" charset="0"/>
                <a:cs typeface="Arial" pitchFamily="34" charset="0"/>
              </a:rPr>
              <a:t>Investment of single share in spot market</a:t>
            </a:r>
          </a:p>
        </p:txBody>
      </p:sp>
      <p:sp>
        <p:nvSpPr>
          <p:cNvPr id="9" name="Rectangle 8"/>
          <p:cNvSpPr/>
          <p:nvPr/>
        </p:nvSpPr>
        <p:spPr>
          <a:xfrm>
            <a:off x="5347383" y="3212976"/>
            <a:ext cx="2262158" cy="369332"/>
          </a:xfrm>
          <a:prstGeom prst="rect">
            <a:avLst/>
          </a:prstGeom>
        </p:spPr>
        <p:txBody>
          <a:bodyPr wrap="none">
            <a:spAutoFit/>
          </a:bodyPr>
          <a:lstStyle/>
          <a:p>
            <a:pPr>
              <a:spcBef>
                <a:spcPct val="50000"/>
              </a:spcBef>
            </a:pPr>
            <a:r>
              <a:rPr lang="en-US" b="1" dirty="0">
                <a:latin typeface="Arial" pitchFamily="34" charset="0"/>
                <a:cs typeface="Arial" pitchFamily="34" charset="0"/>
              </a:rPr>
              <a:t>Spot / Cash Market</a:t>
            </a:r>
          </a:p>
        </p:txBody>
      </p:sp>
      <p:sp>
        <p:nvSpPr>
          <p:cNvPr id="10" name="Rectangle 9"/>
          <p:cNvSpPr/>
          <p:nvPr/>
        </p:nvSpPr>
        <p:spPr>
          <a:xfrm>
            <a:off x="5220072" y="3717032"/>
            <a:ext cx="2586990" cy="369332"/>
          </a:xfrm>
          <a:prstGeom prst="rect">
            <a:avLst/>
          </a:prstGeom>
        </p:spPr>
        <p:txBody>
          <a:bodyPr wrap="none">
            <a:spAutoFit/>
          </a:bodyPr>
          <a:lstStyle/>
          <a:p>
            <a:pPr>
              <a:spcBef>
                <a:spcPct val="50000"/>
              </a:spcBef>
            </a:pPr>
            <a:r>
              <a:rPr lang="en-US" b="1" dirty="0">
                <a:latin typeface="Arial" pitchFamily="34" charset="0"/>
                <a:cs typeface="Arial" pitchFamily="34" charset="0"/>
              </a:rPr>
              <a:t>Future lot of Shares A</a:t>
            </a:r>
          </a:p>
        </p:txBody>
      </p:sp>
      <p:sp>
        <p:nvSpPr>
          <p:cNvPr id="11" name="Rectangle 10"/>
          <p:cNvSpPr/>
          <p:nvPr/>
        </p:nvSpPr>
        <p:spPr>
          <a:xfrm>
            <a:off x="2230315" y="5085184"/>
            <a:ext cx="2304256" cy="923330"/>
          </a:xfrm>
          <a:prstGeom prst="rect">
            <a:avLst/>
          </a:prstGeom>
        </p:spPr>
        <p:txBody>
          <a:bodyPr wrap="square">
            <a:spAutoFit/>
          </a:bodyPr>
          <a:lstStyle/>
          <a:p>
            <a:pPr>
              <a:spcBef>
                <a:spcPct val="50000"/>
              </a:spcBef>
            </a:pPr>
            <a:r>
              <a:rPr lang="en-US" b="1" dirty="0">
                <a:latin typeface="Arial" pitchFamily="34" charset="0"/>
                <a:cs typeface="Arial" pitchFamily="34" charset="0"/>
              </a:rPr>
              <a:t>Investment in a group of shares in derivative market</a:t>
            </a:r>
          </a:p>
        </p:txBody>
      </p:sp>
      <p:sp>
        <p:nvSpPr>
          <p:cNvPr id="12" name="Rectangle 11"/>
          <p:cNvSpPr/>
          <p:nvPr/>
        </p:nvSpPr>
        <p:spPr>
          <a:xfrm>
            <a:off x="4799488" y="6011996"/>
            <a:ext cx="3300904" cy="369332"/>
          </a:xfrm>
          <a:prstGeom prst="rect">
            <a:avLst/>
          </a:prstGeom>
        </p:spPr>
        <p:txBody>
          <a:bodyPr wrap="none">
            <a:spAutoFit/>
          </a:bodyPr>
          <a:lstStyle/>
          <a:p>
            <a:pPr>
              <a:spcBef>
                <a:spcPct val="50000"/>
              </a:spcBef>
            </a:pPr>
            <a:r>
              <a:rPr lang="en-US" b="1" dirty="0">
                <a:latin typeface="Arial" pitchFamily="34" charset="0"/>
                <a:cs typeface="Arial" pitchFamily="34" charset="0"/>
              </a:rPr>
              <a:t>Futures or Derivative Market</a:t>
            </a:r>
          </a:p>
        </p:txBody>
      </p:sp>
      <p:pic>
        <p:nvPicPr>
          <p:cNvPr id="13" name="Picture 4" descr="Basket"/>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6024697" y="2276872"/>
            <a:ext cx="923567" cy="936104"/>
          </a:xfrm>
          <a:prstGeom prst="rect">
            <a:avLst/>
          </a:prstGeom>
          <a:noFill/>
          <a:extLst>
            <a:ext uri="{909E8E84-426E-40DD-AFC4-6F175D3DCCD1}">
              <a14:hiddenFill xmlns:a14="http://schemas.microsoft.com/office/drawing/2010/main">
                <a:solidFill>
                  <a:schemeClr val="tx2"/>
                </a:solidFill>
              </a14:hiddenFill>
            </a:ext>
          </a:extLst>
        </p:spPr>
      </p:pic>
      <p:grpSp>
        <p:nvGrpSpPr>
          <p:cNvPr id="18" name="Group 17"/>
          <p:cNvGrpSpPr/>
          <p:nvPr/>
        </p:nvGrpSpPr>
        <p:grpSpPr>
          <a:xfrm>
            <a:off x="4881969" y="4224913"/>
            <a:ext cx="3220869" cy="193252"/>
            <a:chOff x="4953000" y="3657600"/>
            <a:chExt cx="3810000" cy="228600"/>
          </a:xfrm>
        </p:grpSpPr>
        <p:sp>
          <p:nvSpPr>
            <p:cNvPr id="14" name="Line 21"/>
            <p:cNvSpPr>
              <a:spLocks noChangeShapeType="1"/>
            </p:cNvSpPr>
            <p:nvPr/>
          </p:nvSpPr>
          <p:spPr bwMode="auto">
            <a:xfrm>
              <a:off x="4953000" y="3657600"/>
              <a:ext cx="3810000" cy="0"/>
            </a:xfrm>
            <a:prstGeom prst="line">
              <a:avLst/>
            </a:prstGeom>
            <a:noFill/>
            <a:ln w="9525">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22"/>
            <p:cNvSpPr>
              <a:spLocks noChangeShapeType="1"/>
            </p:cNvSpPr>
            <p:nvPr/>
          </p:nvSpPr>
          <p:spPr bwMode="auto">
            <a:xfrm>
              <a:off x="4953000" y="3657600"/>
              <a:ext cx="0" cy="228600"/>
            </a:xfrm>
            <a:prstGeom prst="line">
              <a:avLst/>
            </a:prstGeom>
            <a:noFill/>
            <a:ln w="9525">
              <a:solidFill>
                <a:srgbClr val="00206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23"/>
            <p:cNvSpPr>
              <a:spLocks noChangeShapeType="1"/>
            </p:cNvSpPr>
            <p:nvPr/>
          </p:nvSpPr>
          <p:spPr bwMode="auto">
            <a:xfrm>
              <a:off x="8763000" y="3657600"/>
              <a:ext cx="0" cy="228600"/>
            </a:xfrm>
            <a:prstGeom prst="line">
              <a:avLst/>
            </a:prstGeom>
            <a:noFill/>
            <a:ln w="9525">
              <a:solidFill>
                <a:srgbClr val="00206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0" name="Group 29"/>
          <p:cNvGrpSpPr/>
          <p:nvPr/>
        </p:nvGrpSpPr>
        <p:grpSpPr>
          <a:xfrm>
            <a:off x="4638475" y="4503766"/>
            <a:ext cx="3749949" cy="1445514"/>
            <a:chOff x="4427984" y="3501008"/>
            <a:chExt cx="4435855" cy="1709914"/>
          </a:xfrm>
        </p:grpSpPr>
        <p:pic>
          <p:nvPicPr>
            <p:cNvPr id="19" name="Picture 4" descr="Basket"/>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4427984"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20" name="Picture 4" descr="Basket"/>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5364088"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21" name="Picture 4" descr="Basket"/>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6228184"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22" name="Picture 4" descr="Basket"/>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7164288"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23" name="Picture 4" descr="Basket"/>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8100392"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24" name="Picture 4" descr="Basket"/>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4427984" y="4437112"/>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25" name="Picture 4" descr="Basket"/>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5364088" y="4437112"/>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26" name="Picture 4" descr="Basket"/>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6228184" y="4437112"/>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27" name="Picture 4" descr="Basket"/>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7164288" y="4437112"/>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28" name="Picture 4" descr="Basket"/>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8100392" y="4437112"/>
              <a:ext cx="763447" cy="773810"/>
            </a:xfrm>
            <a:prstGeom prst="rect">
              <a:avLst/>
            </a:prstGeom>
            <a:noFill/>
            <a:extLst>
              <a:ext uri="{909E8E84-426E-40DD-AFC4-6F175D3DCCD1}">
                <a14:hiddenFill xmlns:a14="http://schemas.microsoft.com/office/drawing/2010/main">
                  <a:solidFill>
                    <a:schemeClr val="tx2"/>
                  </a:solidFill>
                </a14:hiddenFill>
              </a:ext>
            </a:extLst>
          </p:spPr>
        </p:pic>
      </p:grpSp>
    </p:spTree>
    <p:extLst>
      <p:ext uri="{BB962C8B-B14F-4D97-AF65-F5344CB8AC3E}">
        <p14:creationId xmlns:p14="http://schemas.microsoft.com/office/powerpoint/2010/main" val="9164306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28" name="Oval 27"/>
          <p:cNvSpPr/>
          <p:nvPr/>
        </p:nvSpPr>
        <p:spPr>
          <a:xfrm>
            <a:off x="395536" y="1844824"/>
            <a:ext cx="3600400" cy="1598692"/>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755576" y="971436"/>
            <a:ext cx="7200799" cy="338554"/>
          </a:xfrm>
          <a:prstGeom prst="rect">
            <a:avLst/>
          </a:prstGeom>
          <a:noFill/>
        </p:spPr>
        <p:txBody>
          <a:bodyPr wrap="square" rtlCol="0">
            <a:spAutoFit/>
          </a:bodyPr>
          <a:lstStyle/>
          <a:p>
            <a:pPr algn="ctr"/>
            <a:r>
              <a:rPr lang="en-US" sz="1600" b="1" dirty="0">
                <a:latin typeface="Arial" pitchFamily="34" charset="0"/>
                <a:cs typeface="Arial" pitchFamily="34" charset="0"/>
              </a:rPr>
              <a:t>Now…</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DERIVATIVES</a:t>
            </a:r>
            <a:r>
              <a:rPr lang="en-US" sz="2000" dirty="0">
                <a:solidFill>
                  <a:schemeClr val="bg1"/>
                </a:solidFill>
                <a:latin typeface="Arial" pitchFamily="34" charset="0"/>
                <a:cs typeface="Arial" pitchFamily="34" charset="0"/>
              </a:rPr>
              <a:t> </a:t>
            </a:r>
            <a:r>
              <a:rPr lang="en-US" sz="2000" b="1" dirty="0">
                <a:solidFill>
                  <a:schemeClr val="bg1"/>
                </a:solidFill>
                <a:latin typeface="Arial" pitchFamily="34" charset="0"/>
                <a:cs typeface="Arial" pitchFamily="34" charset="0"/>
              </a:rPr>
              <a:t>VS. CASH</a:t>
            </a:r>
          </a:p>
        </p:txBody>
      </p:sp>
      <p:sp>
        <p:nvSpPr>
          <p:cNvPr id="5" name="TextBox 4"/>
          <p:cNvSpPr txBox="1"/>
          <p:nvPr/>
        </p:nvSpPr>
        <p:spPr>
          <a:xfrm>
            <a:off x="1043608" y="1403484"/>
            <a:ext cx="6696744" cy="338554"/>
          </a:xfrm>
          <a:prstGeom prst="rect">
            <a:avLst/>
          </a:prstGeom>
          <a:noFill/>
        </p:spPr>
        <p:txBody>
          <a:bodyPr wrap="square" rtlCol="0">
            <a:spAutoFit/>
          </a:bodyPr>
          <a:lstStyle/>
          <a:p>
            <a:pPr>
              <a:spcBef>
                <a:spcPct val="50000"/>
              </a:spcBef>
            </a:pPr>
            <a:r>
              <a:rPr lang="en-US" sz="1600" b="1" dirty="0">
                <a:latin typeface="Arial" pitchFamily="34" charset="0"/>
                <a:cs typeface="Arial" pitchFamily="34" charset="0"/>
              </a:rPr>
              <a:t>Cost of investment is equal to market price of share in spot market</a:t>
            </a:r>
          </a:p>
        </p:txBody>
      </p:sp>
      <p:sp>
        <p:nvSpPr>
          <p:cNvPr id="6" name="Rectangle 5"/>
          <p:cNvSpPr/>
          <p:nvPr/>
        </p:nvSpPr>
        <p:spPr>
          <a:xfrm>
            <a:off x="5930184" y="2636912"/>
            <a:ext cx="2202847" cy="338554"/>
          </a:xfrm>
          <a:prstGeom prst="rect">
            <a:avLst/>
          </a:prstGeom>
        </p:spPr>
        <p:txBody>
          <a:bodyPr wrap="none">
            <a:spAutoFit/>
          </a:bodyPr>
          <a:lstStyle/>
          <a:p>
            <a:pPr>
              <a:spcBef>
                <a:spcPct val="50000"/>
              </a:spcBef>
            </a:pPr>
            <a:r>
              <a:rPr lang="en-US" sz="1600" b="1" dirty="0">
                <a:latin typeface="Arial" pitchFamily="34" charset="0"/>
                <a:cs typeface="Arial" pitchFamily="34" charset="0"/>
              </a:rPr>
              <a:t>Rs.100 for one share</a:t>
            </a:r>
          </a:p>
        </p:txBody>
      </p:sp>
      <p:sp>
        <p:nvSpPr>
          <p:cNvPr id="7" name="Rectangle 6"/>
          <p:cNvSpPr/>
          <p:nvPr/>
        </p:nvSpPr>
        <p:spPr>
          <a:xfrm>
            <a:off x="4679527" y="3501008"/>
            <a:ext cx="3780905" cy="584775"/>
          </a:xfrm>
          <a:prstGeom prst="rect">
            <a:avLst/>
          </a:prstGeom>
        </p:spPr>
        <p:txBody>
          <a:bodyPr wrap="square">
            <a:spAutoFit/>
          </a:bodyPr>
          <a:lstStyle/>
          <a:p>
            <a:pPr>
              <a:spcBef>
                <a:spcPct val="50000"/>
              </a:spcBef>
            </a:pPr>
            <a:r>
              <a:rPr lang="en-US" sz="1600" b="1" dirty="0">
                <a:latin typeface="Arial" pitchFamily="34" charset="0"/>
                <a:cs typeface="Arial" pitchFamily="34" charset="0"/>
              </a:rPr>
              <a:t>Hence for a </a:t>
            </a:r>
            <a:r>
              <a:rPr lang="en-US" sz="1600" b="1" dirty="0" err="1">
                <a:latin typeface="Arial" pitchFamily="34" charset="0"/>
                <a:cs typeface="Arial" pitchFamily="34" charset="0"/>
              </a:rPr>
              <a:t>Rs</a:t>
            </a:r>
            <a:r>
              <a:rPr lang="en-US" sz="1600" b="1" dirty="0">
                <a:latin typeface="Arial" pitchFamily="34" charset="0"/>
                <a:cs typeface="Arial" pitchFamily="34" charset="0"/>
              </a:rPr>
              <a:t> 100 stock the cost of investment is </a:t>
            </a:r>
            <a:r>
              <a:rPr lang="en-US" sz="1600" b="1" dirty="0" err="1">
                <a:latin typeface="Arial" pitchFamily="34" charset="0"/>
                <a:cs typeface="Arial" pitchFamily="34" charset="0"/>
              </a:rPr>
              <a:t>Rs</a:t>
            </a:r>
            <a:r>
              <a:rPr lang="en-US" sz="1600" b="1" dirty="0">
                <a:latin typeface="Arial" pitchFamily="34" charset="0"/>
                <a:cs typeface="Arial" pitchFamily="34" charset="0"/>
              </a:rPr>
              <a:t> 100 in spot market</a:t>
            </a:r>
          </a:p>
        </p:txBody>
      </p:sp>
      <p:sp>
        <p:nvSpPr>
          <p:cNvPr id="8" name="Rectangle 7"/>
          <p:cNvSpPr/>
          <p:nvPr/>
        </p:nvSpPr>
        <p:spPr>
          <a:xfrm>
            <a:off x="336622" y="3587532"/>
            <a:ext cx="3659314" cy="1569660"/>
          </a:xfrm>
          <a:prstGeom prst="rect">
            <a:avLst/>
          </a:prstGeom>
        </p:spPr>
        <p:txBody>
          <a:bodyPr wrap="square">
            <a:spAutoFit/>
          </a:bodyPr>
          <a:lstStyle/>
          <a:p>
            <a:pPr>
              <a:spcBef>
                <a:spcPct val="50000"/>
              </a:spcBef>
            </a:pPr>
            <a:r>
              <a:rPr lang="en-US" sz="1600" b="1" dirty="0">
                <a:latin typeface="Arial" pitchFamily="34" charset="0"/>
                <a:cs typeface="Arial" pitchFamily="34" charset="0"/>
              </a:rPr>
              <a:t>At </a:t>
            </a:r>
            <a:r>
              <a:rPr lang="en-US" sz="1600" b="1" dirty="0" err="1">
                <a:latin typeface="Arial" pitchFamily="34" charset="0"/>
                <a:cs typeface="Arial" pitchFamily="34" charset="0"/>
              </a:rPr>
              <a:t>Rs</a:t>
            </a:r>
            <a:r>
              <a:rPr lang="en-US" sz="1600" b="1" dirty="0">
                <a:latin typeface="Arial" pitchFamily="34" charset="0"/>
                <a:cs typeface="Arial" pitchFamily="34" charset="0"/>
              </a:rPr>
              <a:t> 100 per share the cost of the group would be </a:t>
            </a:r>
            <a:r>
              <a:rPr lang="en-US" sz="1600" b="1" dirty="0" err="1">
                <a:latin typeface="Arial" pitchFamily="34" charset="0"/>
                <a:cs typeface="Arial" pitchFamily="34" charset="0"/>
              </a:rPr>
              <a:t>Rs</a:t>
            </a:r>
            <a:r>
              <a:rPr lang="en-US" sz="1600" b="1" dirty="0">
                <a:latin typeface="Arial" pitchFamily="34" charset="0"/>
                <a:cs typeface="Arial" pitchFamily="34" charset="0"/>
              </a:rPr>
              <a:t> 1000 but since cost of investment is equal to margin money, which are assuming to be 10%, then cost of investment is </a:t>
            </a:r>
            <a:r>
              <a:rPr lang="en-US" sz="1600" b="1" dirty="0" err="1">
                <a:latin typeface="Arial" pitchFamily="34" charset="0"/>
                <a:cs typeface="Arial" pitchFamily="34" charset="0"/>
              </a:rPr>
              <a:t>Rs</a:t>
            </a:r>
            <a:r>
              <a:rPr lang="en-US" sz="1600" b="1" dirty="0">
                <a:latin typeface="Arial" pitchFamily="34" charset="0"/>
                <a:cs typeface="Arial" pitchFamily="34" charset="0"/>
              </a:rPr>
              <a:t> 100 in derivatives market</a:t>
            </a:r>
          </a:p>
        </p:txBody>
      </p:sp>
      <p:sp>
        <p:nvSpPr>
          <p:cNvPr id="9" name="Rectangle 8"/>
          <p:cNvSpPr/>
          <p:nvPr/>
        </p:nvSpPr>
        <p:spPr>
          <a:xfrm>
            <a:off x="4799488" y="6093296"/>
            <a:ext cx="3583032" cy="369332"/>
          </a:xfrm>
          <a:prstGeom prst="rect">
            <a:avLst/>
          </a:prstGeom>
        </p:spPr>
        <p:txBody>
          <a:bodyPr wrap="none">
            <a:spAutoFit/>
          </a:bodyPr>
          <a:lstStyle/>
          <a:p>
            <a:pPr>
              <a:spcBef>
                <a:spcPct val="50000"/>
              </a:spcBef>
            </a:pPr>
            <a:r>
              <a:rPr lang="en-US" b="1" dirty="0">
                <a:latin typeface="Arial" pitchFamily="34" charset="0"/>
                <a:cs typeface="Arial" pitchFamily="34" charset="0"/>
              </a:rPr>
              <a:t>Rs.100 as margin for 10 shares</a:t>
            </a:r>
          </a:p>
        </p:txBody>
      </p:sp>
      <p:pic>
        <p:nvPicPr>
          <p:cNvPr id="10" name="Picture 4" descr="Basket"/>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4799488" y="2276872"/>
            <a:ext cx="923567" cy="936104"/>
          </a:xfrm>
          <a:prstGeom prst="rect">
            <a:avLst/>
          </a:prstGeom>
          <a:noFill/>
          <a:extLst>
            <a:ext uri="{909E8E84-426E-40DD-AFC4-6F175D3DCCD1}">
              <a14:hiddenFill xmlns:a14="http://schemas.microsoft.com/office/drawing/2010/main">
                <a:solidFill>
                  <a:schemeClr val="tx2"/>
                </a:solidFill>
              </a14:hiddenFill>
            </a:ext>
          </a:extLst>
        </p:spPr>
      </p:pic>
      <p:grpSp>
        <p:nvGrpSpPr>
          <p:cNvPr id="15" name="Group 14"/>
          <p:cNvGrpSpPr/>
          <p:nvPr/>
        </p:nvGrpSpPr>
        <p:grpSpPr>
          <a:xfrm>
            <a:off x="4638475" y="4509120"/>
            <a:ext cx="3749949" cy="1445514"/>
            <a:chOff x="4427984" y="3501008"/>
            <a:chExt cx="4435855" cy="1709914"/>
          </a:xfrm>
        </p:grpSpPr>
        <p:pic>
          <p:nvPicPr>
            <p:cNvPr id="16"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4427984"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7"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5364088"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8"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6228184"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9"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7164288"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20"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8100392"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21"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4427984" y="4437112"/>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22"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5364088" y="4437112"/>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23"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6228184" y="4437112"/>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24"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7164288" y="4437112"/>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25"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8100392" y="4437112"/>
              <a:ext cx="763447" cy="773810"/>
            </a:xfrm>
            <a:prstGeom prst="rect">
              <a:avLst/>
            </a:prstGeom>
            <a:noFill/>
            <a:extLst>
              <a:ext uri="{909E8E84-426E-40DD-AFC4-6F175D3DCCD1}">
                <a14:hiddenFill xmlns:a14="http://schemas.microsoft.com/office/drawing/2010/main">
                  <a:solidFill>
                    <a:schemeClr val="tx2"/>
                  </a:solidFill>
                </a14:hiddenFill>
              </a:ext>
            </a:extLst>
          </p:spPr>
        </p:pic>
      </p:grpSp>
      <p:sp>
        <p:nvSpPr>
          <p:cNvPr id="27" name="Rectangle 26"/>
          <p:cNvSpPr/>
          <p:nvPr/>
        </p:nvSpPr>
        <p:spPr>
          <a:xfrm>
            <a:off x="827585" y="2135758"/>
            <a:ext cx="2808311" cy="1077218"/>
          </a:xfrm>
          <a:prstGeom prst="rect">
            <a:avLst/>
          </a:prstGeom>
        </p:spPr>
        <p:txBody>
          <a:bodyPr wrap="square">
            <a:spAutoFit/>
          </a:bodyPr>
          <a:lstStyle/>
          <a:p>
            <a:pPr>
              <a:spcBef>
                <a:spcPct val="50000"/>
              </a:spcBef>
            </a:pPr>
            <a:r>
              <a:rPr lang="en-US" sz="1600" b="1" dirty="0">
                <a:latin typeface="Arial" pitchFamily="34" charset="0"/>
                <a:cs typeface="Arial" pitchFamily="34" charset="0"/>
              </a:rPr>
              <a:t>Cost of investment in spot or cash market = margin money for the lot size in derivative market. </a:t>
            </a:r>
          </a:p>
        </p:txBody>
      </p:sp>
    </p:spTree>
    <p:extLst>
      <p:ext uri="{BB962C8B-B14F-4D97-AF65-F5344CB8AC3E}">
        <p14:creationId xmlns:p14="http://schemas.microsoft.com/office/powerpoint/2010/main" val="28040806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420997" y="1187460"/>
            <a:ext cx="735179" cy="369332"/>
          </a:xfrm>
          <a:prstGeom prst="rect">
            <a:avLst/>
          </a:prstGeom>
          <a:noFill/>
        </p:spPr>
        <p:txBody>
          <a:bodyPr wrap="square" rtlCol="0">
            <a:spAutoFit/>
          </a:bodyPr>
          <a:lstStyle/>
          <a:p>
            <a:r>
              <a:rPr lang="en-US" b="1" dirty="0">
                <a:latin typeface="Arial" pitchFamily="34" charset="0"/>
                <a:cs typeface="Arial" pitchFamily="34" charset="0"/>
              </a:rPr>
              <a:t>So…</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DERIVATIVES</a:t>
            </a:r>
            <a:r>
              <a:rPr lang="en-US" sz="2000" dirty="0">
                <a:solidFill>
                  <a:schemeClr val="bg1"/>
                </a:solidFill>
                <a:latin typeface="Arial" pitchFamily="34" charset="0"/>
                <a:cs typeface="Arial" pitchFamily="34" charset="0"/>
              </a:rPr>
              <a:t> </a:t>
            </a:r>
            <a:r>
              <a:rPr lang="en-US" sz="2000" b="1" dirty="0">
                <a:solidFill>
                  <a:schemeClr val="bg1"/>
                </a:solidFill>
                <a:latin typeface="Arial" pitchFamily="34" charset="0"/>
                <a:cs typeface="Arial" pitchFamily="34" charset="0"/>
              </a:rPr>
              <a:t>VS. CASH</a:t>
            </a:r>
          </a:p>
        </p:txBody>
      </p:sp>
      <p:sp>
        <p:nvSpPr>
          <p:cNvPr id="5" name="Rectangle 4"/>
          <p:cNvSpPr/>
          <p:nvPr/>
        </p:nvSpPr>
        <p:spPr>
          <a:xfrm>
            <a:off x="4716015" y="2742019"/>
            <a:ext cx="3672409" cy="830997"/>
          </a:xfrm>
          <a:prstGeom prst="rect">
            <a:avLst/>
          </a:prstGeom>
        </p:spPr>
        <p:txBody>
          <a:bodyPr wrap="square">
            <a:spAutoFit/>
          </a:bodyPr>
          <a:lstStyle/>
          <a:p>
            <a:pPr>
              <a:spcBef>
                <a:spcPct val="50000"/>
              </a:spcBef>
            </a:pPr>
            <a:r>
              <a:rPr lang="en-US" sz="1600" b="1" dirty="0">
                <a:latin typeface="Arial" pitchFamily="34" charset="0"/>
                <a:cs typeface="Arial" pitchFamily="34" charset="0"/>
              </a:rPr>
              <a:t>In spot market if price </a:t>
            </a:r>
            <a:r>
              <a:rPr lang="en-US" sz="1600" b="1" dirty="0" smtClean="0">
                <a:latin typeface="Arial" pitchFamily="34" charset="0"/>
                <a:cs typeface="Arial" pitchFamily="34" charset="0"/>
              </a:rPr>
              <a:t>rises by </a:t>
            </a:r>
            <a:r>
              <a:rPr lang="en-US" sz="1600" b="1" dirty="0">
                <a:latin typeface="Arial" pitchFamily="34" charset="0"/>
                <a:cs typeface="Arial" pitchFamily="34" charset="0"/>
              </a:rPr>
              <a:t>10% you make 10% </a:t>
            </a:r>
            <a:r>
              <a:rPr lang="en-US" sz="1600" b="1" dirty="0" smtClean="0">
                <a:latin typeface="Arial" pitchFamily="34" charset="0"/>
                <a:cs typeface="Arial" pitchFamily="34" charset="0"/>
              </a:rPr>
              <a:t>profit (</a:t>
            </a:r>
            <a:r>
              <a:rPr lang="en-US" sz="1600" b="1" dirty="0" err="1" smtClean="0">
                <a:latin typeface="Arial" pitchFamily="34" charset="0"/>
                <a:cs typeface="Arial" pitchFamily="34" charset="0"/>
              </a:rPr>
              <a:t>Rs</a:t>
            </a:r>
            <a:r>
              <a:rPr lang="en-US" sz="1600" b="1" dirty="0" smtClean="0">
                <a:latin typeface="Arial" pitchFamily="34" charset="0"/>
                <a:cs typeface="Arial" pitchFamily="34" charset="0"/>
              </a:rPr>
              <a:t> </a:t>
            </a:r>
            <a:r>
              <a:rPr lang="en-US" sz="1600" b="1" dirty="0">
                <a:latin typeface="Arial" pitchFamily="34" charset="0"/>
                <a:cs typeface="Arial" pitchFamily="34" charset="0"/>
              </a:rPr>
              <a:t>10 on an </a:t>
            </a:r>
            <a:r>
              <a:rPr lang="en-US" sz="1600" b="1" dirty="0" smtClean="0">
                <a:latin typeface="Arial" pitchFamily="34" charset="0"/>
                <a:cs typeface="Arial" pitchFamily="34" charset="0"/>
              </a:rPr>
              <a:t>investment of </a:t>
            </a:r>
            <a:r>
              <a:rPr lang="en-US" sz="1600" b="1" dirty="0" err="1">
                <a:latin typeface="Arial" pitchFamily="34" charset="0"/>
                <a:cs typeface="Arial" pitchFamily="34" charset="0"/>
              </a:rPr>
              <a:t>Rs</a:t>
            </a:r>
            <a:r>
              <a:rPr lang="en-US" sz="1600" b="1" dirty="0">
                <a:latin typeface="Arial" pitchFamily="34" charset="0"/>
                <a:cs typeface="Arial" pitchFamily="34" charset="0"/>
              </a:rPr>
              <a:t> 100) </a:t>
            </a:r>
          </a:p>
        </p:txBody>
      </p:sp>
      <p:sp>
        <p:nvSpPr>
          <p:cNvPr id="6" name="Rectangle 5"/>
          <p:cNvSpPr/>
          <p:nvPr/>
        </p:nvSpPr>
        <p:spPr>
          <a:xfrm>
            <a:off x="2267744" y="5406315"/>
            <a:ext cx="6120679" cy="830997"/>
          </a:xfrm>
          <a:prstGeom prst="rect">
            <a:avLst/>
          </a:prstGeom>
        </p:spPr>
        <p:txBody>
          <a:bodyPr wrap="square">
            <a:spAutoFit/>
          </a:bodyPr>
          <a:lstStyle/>
          <a:p>
            <a:pPr>
              <a:spcBef>
                <a:spcPct val="50000"/>
              </a:spcBef>
            </a:pPr>
            <a:r>
              <a:rPr lang="en-US" sz="1600" b="1" dirty="0">
                <a:latin typeface="Arial" pitchFamily="34" charset="0"/>
                <a:cs typeface="Arial" pitchFamily="34" charset="0"/>
              </a:rPr>
              <a:t>In derivative market if price rises by 10% you </a:t>
            </a:r>
            <a:r>
              <a:rPr lang="en-US" sz="1600" b="1" dirty="0" err="1">
                <a:latin typeface="Arial" pitchFamily="34" charset="0"/>
                <a:cs typeface="Arial" pitchFamily="34" charset="0"/>
              </a:rPr>
              <a:t>maket</a:t>
            </a:r>
            <a:r>
              <a:rPr lang="en-US" sz="1600" b="1" dirty="0">
                <a:latin typeface="Arial" pitchFamily="34" charset="0"/>
                <a:cs typeface="Arial" pitchFamily="34" charset="0"/>
              </a:rPr>
              <a:t> a profit </a:t>
            </a:r>
            <a:r>
              <a:rPr lang="en-US" sz="1600" b="1" dirty="0" smtClean="0">
                <a:latin typeface="Arial" pitchFamily="34" charset="0"/>
                <a:cs typeface="Arial" pitchFamily="34" charset="0"/>
              </a:rPr>
              <a:t>of </a:t>
            </a:r>
            <a:r>
              <a:rPr lang="en-US" sz="1600" b="1" dirty="0" err="1" smtClean="0">
                <a:latin typeface="Arial" pitchFamily="34" charset="0"/>
                <a:cs typeface="Arial" pitchFamily="34" charset="0"/>
              </a:rPr>
              <a:t>Rs</a:t>
            </a:r>
            <a:r>
              <a:rPr lang="en-US" sz="1600" b="1" dirty="0" smtClean="0">
                <a:latin typeface="Arial" pitchFamily="34" charset="0"/>
                <a:cs typeface="Arial" pitchFamily="34" charset="0"/>
              </a:rPr>
              <a:t> </a:t>
            </a:r>
            <a:r>
              <a:rPr lang="en-US" sz="1600" b="1" dirty="0">
                <a:latin typeface="Arial" pitchFamily="34" charset="0"/>
                <a:cs typeface="Arial" pitchFamily="34" charset="0"/>
              </a:rPr>
              <a:t>100 on the entire group for your investment of </a:t>
            </a:r>
            <a:r>
              <a:rPr lang="en-US" sz="1600" b="1" dirty="0" err="1">
                <a:latin typeface="Arial" pitchFamily="34" charset="0"/>
                <a:cs typeface="Arial" pitchFamily="34" charset="0"/>
              </a:rPr>
              <a:t>Rs</a:t>
            </a:r>
            <a:r>
              <a:rPr lang="en-US" sz="1600" b="1" dirty="0">
                <a:latin typeface="Arial" pitchFamily="34" charset="0"/>
                <a:cs typeface="Arial" pitchFamily="34" charset="0"/>
              </a:rPr>
              <a:t> </a:t>
            </a:r>
            <a:r>
              <a:rPr lang="en-US" sz="1600" b="1" dirty="0" smtClean="0">
                <a:latin typeface="Arial" pitchFamily="34" charset="0"/>
                <a:cs typeface="Arial" pitchFamily="34" charset="0"/>
              </a:rPr>
              <a:t>100.</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Thus </a:t>
            </a:r>
            <a:r>
              <a:rPr lang="en-US" sz="1600" b="1" dirty="0">
                <a:latin typeface="Arial" pitchFamily="34" charset="0"/>
                <a:cs typeface="Arial" pitchFamily="34" charset="0"/>
              </a:rPr>
              <a:t>you make a 100% profit</a:t>
            </a:r>
          </a:p>
        </p:txBody>
      </p:sp>
      <p:grpSp>
        <p:nvGrpSpPr>
          <p:cNvPr id="8" name="Group 7"/>
          <p:cNvGrpSpPr/>
          <p:nvPr/>
        </p:nvGrpSpPr>
        <p:grpSpPr>
          <a:xfrm>
            <a:off x="4638475" y="3783686"/>
            <a:ext cx="3749949" cy="1445514"/>
            <a:chOff x="4427984" y="3501008"/>
            <a:chExt cx="4435855" cy="1709914"/>
          </a:xfrm>
        </p:grpSpPr>
        <p:pic>
          <p:nvPicPr>
            <p:cNvPr id="9"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4427984"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0"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5364088"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1"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6228184"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2"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7164288"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3"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8100392"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4"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4427984" y="4437112"/>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5"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5364088" y="4437112"/>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6"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6228184" y="4437112"/>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7"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7164288" y="4437112"/>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8"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8100392" y="4437112"/>
              <a:ext cx="763447" cy="773810"/>
            </a:xfrm>
            <a:prstGeom prst="rect">
              <a:avLst/>
            </a:prstGeom>
            <a:noFill/>
            <a:extLst>
              <a:ext uri="{909E8E84-426E-40DD-AFC4-6F175D3DCCD1}">
                <a14:hiddenFill xmlns:a14="http://schemas.microsoft.com/office/drawing/2010/main">
                  <a:solidFill>
                    <a:schemeClr val="tx2"/>
                  </a:solidFill>
                </a14:hiddenFill>
              </a:ext>
            </a:extLst>
          </p:spPr>
        </p:pic>
      </p:grpSp>
      <p:pic>
        <p:nvPicPr>
          <p:cNvPr id="19" name="Picture 4" descr="Basket"/>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6024697" y="1628800"/>
            <a:ext cx="923567" cy="936104"/>
          </a:xfrm>
          <a:prstGeom prst="rect">
            <a:avLst/>
          </a:prstGeom>
          <a:noFill/>
          <a:extLst>
            <a:ext uri="{909E8E84-426E-40DD-AFC4-6F175D3DCCD1}">
              <a14:hiddenFill xmlns:a14="http://schemas.microsoft.com/office/drawing/2010/main">
                <a:solidFill>
                  <a:schemeClr val="tx2"/>
                </a:solidFill>
              </a14:hiddenFill>
            </a:ext>
          </a:extLst>
        </p:spPr>
      </p:pic>
    </p:spTree>
    <p:extLst>
      <p:ext uri="{BB962C8B-B14F-4D97-AF65-F5344CB8AC3E}">
        <p14:creationId xmlns:p14="http://schemas.microsoft.com/office/powerpoint/2010/main" val="7553742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DERIVATIVES</a:t>
            </a:r>
            <a:r>
              <a:rPr lang="en-US" sz="2000" dirty="0">
                <a:solidFill>
                  <a:schemeClr val="bg1"/>
                </a:solidFill>
                <a:latin typeface="Arial" pitchFamily="34" charset="0"/>
                <a:cs typeface="Arial" pitchFamily="34" charset="0"/>
              </a:rPr>
              <a:t> </a:t>
            </a:r>
            <a:r>
              <a:rPr lang="en-US" sz="2000" b="1" dirty="0">
                <a:solidFill>
                  <a:schemeClr val="bg1"/>
                </a:solidFill>
                <a:latin typeface="Arial" pitchFamily="34" charset="0"/>
                <a:cs typeface="Arial" pitchFamily="34" charset="0"/>
              </a:rPr>
              <a:t>VS. CASH</a:t>
            </a:r>
          </a:p>
        </p:txBody>
      </p:sp>
      <p:sp>
        <p:nvSpPr>
          <p:cNvPr id="7" name="Rectangle 6"/>
          <p:cNvSpPr/>
          <p:nvPr/>
        </p:nvSpPr>
        <p:spPr>
          <a:xfrm>
            <a:off x="755576" y="908720"/>
            <a:ext cx="7272808" cy="880113"/>
          </a:xfrm>
          <a:prstGeom prst="rect">
            <a:avLst/>
          </a:prstGeom>
        </p:spPr>
        <p:txBody>
          <a:bodyPr wrap="square">
            <a:spAutoFit/>
          </a:bodyPr>
          <a:lstStyle/>
          <a:p>
            <a:pPr>
              <a:lnSpc>
                <a:spcPct val="150000"/>
              </a:lnSpc>
            </a:pPr>
            <a:r>
              <a:rPr lang="en-US" b="1" dirty="0">
                <a:latin typeface="Arial" pitchFamily="34" charset="0"/>
                <a:cs typeface="Arial" pitchFamily="34" charset="0"/>
              </a:rPr>
              <a:t> However in case of a loss, you get badly hit in </a:t>
            </a:r>
            <a:r>
              <a:rPr lang="en-US" b="1" dirty="0" smtClean="0">
                <a:latin typeface="Arial" pitchFamily="34" charset="0"/>
                <a:cs typeface="Arial" pitchFamily="34" charset="0"/>
              </a:rPr>
              <a:t>derivative</a:t>
            </a:r>
            <a:br>
              <a:rPr lang="en-US" b="1" dirty="0" smtClean="0">
                <a:latin typeface="Arial" pitchFamily="34" charset="0"/>
                <a:cs typeface="Arial" pitchFamily="34" charset="0"/>
              </a:rPr>
            </a:br>
            <a:r>
              <a:rPr lang="en-US" b="1" dirty="0" smtClean="0">
                <a:latin typeface="Arial" pitchFamily="34" charset="0"/>
                <a:cs typeface="Arial" pitchFamily="34" charset="0"/>
              </a:rPr>
              <a:t>trading </a:t>
            </a:r>
            <a:r>
              <a:rPr lang="en-US" b="1" dirty="0">
                <a:latin typeface="Arial" pitchFamily="34" charset="0"/>
                <a:cs typeface="Arial" pitchFamily="34" charset="0"/>
              </a:rPr>
              <a:t>as seen below…</a:t>
            </a:r>
          </a:p>
        </p:txBody>
      </p:sp>
      <p:sp>
        <p:nvSpPr>
          <p:cNvPr id="5" name="Rectangle 4"/>
          <p:cNvSpPr/>
          <p:nvPr/>
        </p:nvSpPr>
        <p:spPr>
          <a:xfrm>
            <a:off x="755576" y="2145630"/>
            <a:ext cx="5757790" cy="923330"/>
          </a:xfrm>
          <a:prstGeom prst="rect">
            <a:avLst/>
          </a:prstGeom>
        </p:spPr>
        <p:txBody>
          <a:bodyPr wrap="square">
            <a:spAutoFit/>
          </a:bodyPr>
          <a:lstStyle/>
          <a:p>
            <a:pPr>
              <a:lnSpc>
                <a:spcPct val="150000"/>
              </a:lnSpc>
              <a:spcBef>
                <a:spcPct val="50000"/>
              </a:spcBef>
            </a:pPr>
            <a:r>
              <a:rPr lang="en-US" b="1" dirty="0">
                <a:latin typeface="Arial" pitchFamily="34" charset="0"/>
                <a:cs typeface="Arial" pitchFamily="34" charset="0"/>
              </a:rPr>
              <a:t>In spot market if price falls by 10% </a:t>
            </a:r>
            <a:r>
              <a:rPr lang="en-US" b="1" dirty="0" smtClean="0">
                <a:latin typeface="Arial" pitchFamily="34" charset="0"/>
                <a:cs typeface="Arial" pitchFamily="34" charset="0"/>
              </a:rPr>
              <a:t>to </a:t>
            </a:r>
            <a:r>
              <a:rPr lang="en-US" b="1" dirty="0" err="1" smtClean="0">
                <a:latin typeface="Arial" pitchFamily="34" charset="0"/>
                <a:cs typeface="Arial" pitchFamily="34" charset="0"/>
              </a:rPr>
              <a:t>Rs</a:t>
            </a:r>
            <a:r>
              <a:rPr lang="en-US" b="1" dirty="0" smtClean="0">
                <a:latin typeface="Arial" pitchFamily="34" charset="0"/>
                <a:cs typeface="Arial" pitchFamily="34" charset="0"/>
              </a:rPr>
              <a:t> </a:t>
            </a:r>
            <a:r>
              <a:rPr lang="en-US" b="1" dirty="0">
                <a:latin typeface="Arial" pitchFamily="34" charset="0"/>
                <a:cs typeface="Arial" pitchFamily="34" charset="0"/>
              </a:rPr>
              <a:t>90, you make 10% loss ( </a:t>
            </a:r>
            <a:r>
              <a:rPr lang="en-US" b="1" dirty="0" err="1">
                <a:latin typeface="Arial" pitchFamily="34" charset="0"/>
                <a:cs typeface="Arial" pitchFamily="34" charset="0"/>
              </a:rPr>
              <a:t>Rs</a:t>
            </a:r>
            <a:r>
              <a:rPr lang="en-US" b="1" dirty="0">
                <a:latin typeface="Arial" pitchFamily="34" charset="0"/>
                <a:cs typeface="Arial" pitchFamily="34" charset="0"/>
              </a:rPr>
              <a:t> 10 </a:t>
            </a:r>
            <a:r>
              <a:rPr lang="en-US" b="1" dirty="0" smtClean="0">
                <a:latin typeface="Arial" pitchFamily="34" charset="0"/>
                <a:cs typeface="Arial" pitchFamily="34" charset="0"/>
              </a:rPr>
              <a:t>on an </a:t>
            </a:r>
            <a:r>
              <a:rPr lang="en-US" b="1" dirty="0">
                <a:latin typeface="Arial" pitchFamily="34" charset="0"/>
                <a:cs typeface="Arial" pitchFamily="34" charset="0"/>
              </a:rPr>
              <a:t>investment of </a:t>
            </a:r>
            <a:r>
              <a:rPr lang="en-US" b="1" dirty="0" err="1">
                <a:latin typeface="Arial" pitchFamily="34" charset="0"/>
                <a:cs typeface="Arial" pitchFamily="34" charset="0"/>
              </a:rPr>
              <a:t>Rs</a:t>
            </a:r>
            <a:r>
              <a:rPr lang="en-US" b="1" dirty="0">
                <a:latin typeface="Arial" pitchFamily="34" charset="0"/>
                <a:cs typeface="Arial" pitchFamily="34" charset="0"/>
              </a:rPr>
              <a:t> 100) </a:t>
            </a:r>
          </a:p>
        </p:txBody>
      </p:sp>
      <p:grpSp>
        <p:nvGrpSpPr>
          <p:cNvPr id="8" name="Group 7"/>
          <p:cNvGrpSpPr/>
          <p:nvPr/>
        </p:nvGrpSpPr>
        <p:grpSpPr>
          <a:xfrm>
            <a:off x="4638475" y="4946522"/>
            <a:ext cx="3749949" cy="1445514"/>
            <a:chOff x="4427984" y="3501008"/>
            <a:chExt cx="4435855" cy="1709914"/>
          </a:xfrm>
        </p:grpSpPr>
        <p:pic>
          <p:nvPicPr>
            <p:cNvPr id="9"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4427984"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0"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5364088"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1"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6228184"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2"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7164288"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3"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8100392" y="3501008"/>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4"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4427984" y="4437112"/>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5"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5364088" y="4437112"/>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6"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6228184" y="4437112"/>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7"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7164288" y="4437112"/>
              <a:ext cx="763447" cy="773810"/>
            </a:xfrm>
            <a:prstGeom prst="rect">
              <a:avLst/>
            </a:prstGeom>
            <a:noFill/>
            <a:extLst>
              <a:ext uri="{909E8E84-426E-40DD-AFC4-6F175D3DCCD1}">
                <a14:hiddenFill xmlns:a14="http://schemas.microsoft.com/office/drawing/2010/main">
                  <a:solidFill>
                    <a:schemeClr val="tx2"/>
                  </a:solidFill>
                </a14:hiddenFill>
              </a:ext>
            </a:extLst>
          </p:spPr>
        </p:pic>
        <p:pic>
          <p:nvPicPr>
            <p:cNvPr id="18" name="Picture 4" descr="Baske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8100392" y="4437112"/>
              <a:ext cx="763447" cy="773810"/>
            </a:xfrm>
            <a:prstGeom prst="rect">
              <a:avLst/>
            </a:prstGeom>
            <a:noFill/>
            <a:extLst>
              <a:ext uri="{909E8E84-426E-40DD-AFC4-6F175D3DCCD1}">
                <a14:hiddenFill xmlns:a14="http://schemas.microsoft.com/office/drawing/2010/main">
                  <a:solidFill>
                    <a:schemeClr val="tx2"/>
                  </a:solidFill>
                </a14:hiddenFill>
              </a:ext>
            </a:extLst>
          </p:spPr>
        </p:pic>
      </p:grpSp>
      <p:pic>
        <p:nvPicPr>
          <p:cNvPr id="19" name="Picture 4" descr="Basket"/>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9585" t="67584" r="48430"/>
          <a:stretch>
            <a:fillRect/>
          </a:stretch>
        </p:blipFill>
        <p:spPr bwMode="auto">
          <a:xfrm>
            <a:off x="7088478" y="2060848"/>
            <a:ext cx="923567" cy="936104"/>
          </a:xfrm>
          <a:prstGeom prst="rect">
            <a:avLst/>
          </a:prstGeom>
          <a:noFill/>
          <a:extLst>
            <a:ext uri="{909E8E84-426E-40DD-AFC4-6F175D3DCCD1}">
              <a14:hiddenFill xmlns:a14="http://schemas.microsoft.com/office/drawing/2010/main">
                <a:solidFill>
                  <a:schemeClr val="tx2"/>
                </a:solidFill>
              </a14:hiddenFill>
            </a:ext>
          </a:extLst>
        </p:spPr>
      </p:pic>
      <p:sp>
        <p:nvSpPr>
          <p:cNvPr id="6" name="Rectangle 5"/>
          <p:cNvSpPr/>
          <p:nvPr/>
        </p:nvSpPr>
        <p:spPr>
          <a:xfrm>
            <a:off x="755576" y="3553700"/>
            <a:ext cx="7848872" cy="1200329"/>
          </a:xfrm>
          <a:prstGeom prst="rect">
            <a:avLst/>
          </a:prstGeom>
        </p:spPr>
        <p:txBody>
          <a:bodyPr wrap="square">
            <a:spAutoFit/>
          </a:bodyPr>
          <a:lstStyle/>
          <a:p>
            <a:pPr>
              <a:spcBef>
                <a:spcPct val="50000"/>
              </a:spcBef>
            </a:pPr>
            <a:r>
              <a:rPr lang="en-US" b="1" dirty="0">
                <a:latin typeface="Arial" pitchFamily="34" charset="0"/>
                <a:cs typeface="Arial" pitchFamily="34" charset="0"/>
              </a:rPr>
              <a:t>But in derivative market if price falls by 10% to </a:t>
            </a:r>
            <a:r>
              <a:rPr lang="en-US" b="1" dirty="0" err="1">
                <a:latin typeface="Arial" pitchFamily="34" charset="0"/>
                <a:cs typeface="Arial" pitchFamily="34" charset="0"/>
              </a:rPr>
              <a:t>Rs</a:t>
            </a:r>
            <a:r>
              <a:rPr lang="en-US" b="1" dirty="0">
                <a:latin typeface="Arial" pitchFamily="34" charset="0"/>
                <a:cs typeface="Arial" pitchFamily="34" charset="0"/>
              </a:rPr>
              <a:t>. 90 per </a:t>
            </a:r>
            <a:r>
              <a:rPr lang="en-US" b="1" dirty="0" smtClean="0">
                <a:latin typeface="Arial" pitchFamily="34" charset="0"/>
                <a:cs typeface="Arial" pitchFamily="34" charset="0"/>
              </a:rPr>
              <a:t>share</a:t>
            </a:r>
            <a:br>
              <a:rPr lang="en-US" b="1" dirty="0" smtClean="0">
                <a:latin typeface="Arial" pitchFamily="34" charset="0"/>
                <a:cs typeface="Arial" pitchFamily="34" charset="0"/>
              </a:rPr>
            </a:br>
            <a:r>
              <a:rPr lang="en-US" b="1" dirty="0" smtClean="0">
                <a:latin typeface="Arial" pitchFamily="34" charset="0"/>
                <a:cs typeface="Arial" pitchFamily="34" charset="0"/>
              </a:rPr>
              <a:t>you </a:t>
            </a:r>
            <a:r>
              <a:rPr lang="en-US" b="1" dirty="0">
                <a:latin typeface="Arial" pitchFamily="34" charset="0"/>
                <a:cs typeface="Arial" pitchFamily="34" charset="0"/>
              </a:rPr>
              <a:t>make a loss of </a:t>
            </a:r>
            <a:r>
              <a:rPr lang="en-US" b="1" dirty="0" err="1">
                <a:latin typeface="Arial" pitchFamily="34" charset="0"/>
                <a:cs typeface="Arial" pitchFamily="34" charset="0"/>
              </a:rPr>
              <a:t>Rs</a:t>
            </a:r>
            <a:r>
              <a:rPr lang="en-US" b="1" dirty="0">
                <a:latin typeface="Arial" pitchFamily="34" charset="0"/>
                <a:cs typeface="Arial" pitchFamily="34" charset="0"/>
              </a:rPr>
              <a:t> 100 on the entire group of shares for your investment of </a:t>
            </a:r>
            <a:r>
              <a:rPr lang="en-US" b="1" dirty="0" err="1">
                <a:latin typeface="Arial" pitchFamily="34" charset="0"/>
                <a:cs typeface="Arial" pitchFamily="34" charset="0"/>
              </a:rPr>
              <a:t>Rs</a:t>
            </a:r>
            <a:r>
              <a:rPr lang="en-US" b="1" dirty="0">
                <a:latin typeface="Arial" pitchFamily="34" charset="0"/>
                <a:cs typeface="Arial" pitchFamily="34" charset="0"/>
              </a:rPr>
              <a:t> 100. Thus you make a 100% loss as you lose your entire investment in this example</a:t>
            </a:r>
          </a:p>
        </p:txBody>
      </p:sp>
    </p:spTree>
    <p:extLst>
      <p:ext uri="{BB962C8B-B14F-4D97-AF65-F5344CB8AC3E}">
        <p14:creationId xmlns:p14="http://schemas.microsoft.com/office/powerpoint/2010/main" val="41830583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DERIVATIVES</a:t>
            </a:r>
            <a:r>
              <a:rPr lang="en-US" sz="2000" dirty="0">
                <a:solidFill>
                  <a:schemeClr val="bg1"/>
                </a:solidFill>
                <a:latin typeface="Arial" pitchFamily="34" charset="0"/>
                <a:cs typeface="Arial" pitchFamily="34" charset="0"/>
              </a:rPr>
              <a:t> </a:t>
            </a:r>
            <a:r>
              <a:rPr lang="en-US" sz="2000" b="1" dirty="0">
                <a:solidFill>
                  <a:schemeClr val="bg1"/>
                </a:solidFill>
                <a:latin typeface="Arial" pitchFamily="34" charset="0"/>
                <a:cs typeface="Arial" pitchFamily="34" charset="0"/>
              </a:rPr>
              <a:t>VS. CASH</a:t>
            </a:r>
          </a:p>
        </p:txBody>
      </p:sp>
      <p:sp>
        <p:nvSpPr>
          <p:cNvPr id="4" name="Rectangle 3"/>
          <p:cNvSpPr/>
          <p:nvPr/>
        </p:nvSpPr>
        <p:spPr>
          <a:xfrm>
            <a:off x="755576" y="965334"/>
            <a:ext cx="7272808" cy="383181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Hence</a:t>
            </a:r>
            <a:r>
              <a:rPr lang="en-US" b="1" dirty="0">
                <a:latin typeface="Arial" pitchFamily="34" charset="0"/>
                <a:cs typeface="Arial" pitchFamily="34" charset="0"/>
              </a:rPr>
              <a:t>, derivative trading is a high gain and high loss </a:t>
            </a:r>
            <a:r>
              <a:rPr lang="en-US" b="1" dirty="0" smtClean="0">
                <a:latin typeface="Arial" pitchFamily="34" charset="0"/>
                <a:cs typeface="Arial" pitchFamily="34" charset="0"/>
              </a:rPr>
              <a:t>trading</a:t>
            </a:r>
            <a:br>
              <a:rPr lang="en-US" b="1" dirty="0" smtClean="0">
                <a:latin typeface="Arial" pitchFamily="34" charset="0"/>
                <a:cs typeface="Arial" pitchFamily="34" charset="0"/>
              </a:rPr>
            </a:br>
            <a:r>
              <a:rPr lang="en-US" b="1" dirty="0" smtClean="0">
                <a:latin typeface="Arial" pitchFamily="34" charset="0"/>
                <a:cs typeface="Arial" pitchFamily="34" charset="0"/>
              </a:rPr>
              <a:t>as </a:t>
            </a:r>
            <a:r>
              <a:rPr lang="en-US" b="1" dirty="0">
                <a:latin typeface="Arial" pitchFamily="34" charset="0"/>
                <a:cs typeface="Arial" pitchFamily="34" charset="0"/>
              </a:rPr>
              <a:t>compared to trading in a spot market.</a:t>
            </a:r>
          </a:p>
          <a:p>
            <a:pPr>
              <a:lnSpc>
                <a:spcPct val="150000"/>
              </a:lnSpc>
            </a:pPr>
            <a:endParaRPr lang="en-US"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Also</a:t>
            </a:r>
            <a:r>
              <a:rPr lang="en-US" b="1" dirty="0">
                <a:latin typeface="Arial" pitchFamily="34" charset="0"/>
                <a:cs typeface="Arial" pitchFamily="34" charset="0"/>
              </a:rPr>
              <a:t>, in derivative trading you do not deal with a single stock, but in a group of shares.</a:t>
            </a:r>
          </a:p>
          <a:p>
            <a:pPr>
              <a:lnSpc>
                <a:spcPct val="150000"/>
              </a:lnSpc>
            </a:pPr>
            <a:endParaRPr lang="en-US"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In </a:t>
            </a:r>
            <a:r>
              <a:rPr lang="en-US" b="1" dirty="0">
                <a:latin typeface="Arial" pitchFamily="34" charset="0"/>
                <a:cs typeface="Arial" pitchFamily="34" charset="0"/>
              </a:rPr>
              <a:t>derivatives trading, you do not take ownership of the group of shares. You only get the rights to bet on price movements of the entire group of shares.</a:t>
            </a:r>
          </a:p>
        </p:txBody>
      </p:sp>
    </p:spTree>
    <p:extLst>
      <p:ext uri="{BB962C8B-B14F-4D97-AF65-F5344CB8AC3E}">
        <p14:creationId xmlns:p14="http://schemas.microsoft.com/office/powerpoint/2010/main" val="9215105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751512" y="2780928"/>
            <a:ext cx="3492896" cy="3416320"/>
          </a:xfrm>
          <a:prstGeom prst="rect">
            <a:avLst/>
          </a:prstGeom>
        </p:spPr>
        <p:txBody>
          <a:bodyPr wrap="square">
            <a:spAutoFit/>
          </a:bodyPr>
          <a:lstStyle/>
          <a:p>
            <a:pPr>
              <a:lnSpc>
                <a:spcPct val="150000"/>
              </a:lnSpc>
            </a:pPr>
            <a:r>
              <a:rPr lang="en-US" b="1" dirty="0">
                <a:latin typeface="Arial" pitchFamily="34" charset="0"/>
                <a:cs typeface="Arial" pitchFamily="34" charset="0"/>
              </a:rPr>
              <a:t>Hope this story </a:t>
            </a:r>
            <a:r>
              <a:rPr lang="en-US" b="1" dirty="0" smtClean="0">
                <a:latin typeface="Arial" pitchFamily="34" charset="0"/>
                <a:cs typeface="Arial" pitchFamily="34" charset="0"/>
              </a:rPr>
              <a:t>succeeded</a:t>
            </a:r>
            <a:br>
              <a:rPr lang="en-US" b="1" dirty="0" smtClean="0">
                <a:latin typeface="Arial" pitchFamily="34" charset="0"/>
                <a:cs typeface="Arial" pitchFamily="34" charset="0"/>
              </a:rPr>
            </a:br>
            <a:r>
              <a:rPr lang="en-US" b="1" dirty="0" smtClean="0">
                <a:latin typeface="Arial" pitchFamily="34" charset="0"/>
                <a:cs typeface="Arial" pitchFamily="34" charset="0"/>
              </a:rPr>
              <a:t>in </a:t>
            </a:r>
            <a:r>
              <a:rPr lang="en-US" b="1" dirty="0">
                <a:latin typeface="Arial" pitchFamily="34" charset="0"/>
                <a:cs typeface="Arial" pitchFamily="34" charset="0"/>
              </a:rPr>
              <a:t>clarifying the concept of “Margin Money / Margin Funding” further and how derivative trading is a form of high gain - high loss trading as compared to trading in the spot market.</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DERIVATIVES</a:t>
            </a:r>
            <a:r>
              <a:rPr lang="en-US" sz="2000" dirty="0">
                <a:solidFill>
                  <a:schemeClr val="bg1"/>
                </a:solidFill>
                <a:latin typeface="Arial" pitchFamily="34" charset="0"/>
                <a:cs typeface="Arial" pitchFamily="34" charset="0"/>
              </a:rPr>
              <a:t> </a:t>
            </a:r>
            <a:r>
              <a:rPr lang="en-US" sz="2000" b="1" dirty="0">
                <a:solidFill>
                  <a:schemeClr val="bg1"/>
                </a:solidFill>
                <a:latin typeface="Arial" pitchFamily="34" charset="0"/>
                <a:cs typeface="Arial" pitchFamily="34" charset="0"/>
              </a:rPr>
              <a:t>VS. CASH</a:t>
            </a:r>
          </a:p>
        </p:txBody>
      </p:sp>
    </p:spTree>
    <p:extLst>
      <p:ext uri="{BB962C8B-B14F-4D97-AF65-F5344CB8AC3E}">
        <p14:creationId xmlns:p14="http://schemas.microsoft.com/office/powerpoint/2010/main" val="27637988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259632" y="2092565"/>
            <a:ext cx="3672408" cy="701731"/>
          </a:xfrm>
          <a:prstGeom prst="rect">
            <a:avLst/>
          </a:prstGeom>
          <a:noFill/>
        </p:spPr>
        <p:txBody>
          <a:bodyPr wrap="square" rtlCol="0">
            <a:spAutoFit/>
          </a:bodyPr>
          <a:lstStyle/>
          <a:p>
            <a:pPr marL="342900" indent="-342900" algn="ctr">
              <a:spcBef>
                <a:spcPct val="20000"/>
              </a:spcBef>
            </a:pPr>
            <a:r>
              <a:rPr lang="en-US" b="1" dirty="0">
                <a:latin typeface="Arial" pitchFamily="34" charset="0"/>
                <a:cs typeface="Arial" pitchFamily="34" charset="0"/>
              </a:rPr>
              <a:t>Please give us your feedback at </a:t>
            </a:r>
          </a:p>
          <a:p>
            <a:pPr marL="342900" indent="-342900" algn="ctr">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2008</TotalTime>
  <Words>839</Words>
  <Application>Microsoft Office PowerPoint</Application>
  <PresentationFormat>On-screen Show (4:3)</PresentationFormat>
  <Paragraphs>71</Paragraphs>
  <Slides>19</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 Crasto</cp:lastModifiedBy>
  <cp:revision>215</cp:revision>
  <dcterms:created xsi:type="dcterms:W3CDTF">2013-10-22T09:41:31Z</dcterms:created>
  <dcterms:modified xsi:type="dcterms:W3CDTF">2014-09-26T09:31:18Z</dcterms:modified>
</cp:coreProperties>
</file>