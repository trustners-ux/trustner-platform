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94" r:id="rId3"/>
    <p:sldId id="295" r:id="rId4"/>
    <p:sldId id="288" r:id="rId5"/>
    <p:sldId id="312" r:id="rId6"/>
    <p:sldId id="313" r:id="rId7"/>
    <p:sldId id="314" r:id="rId8"/>
    <p:sldId id="304" r:id="rId9"/>
    <p:sldId id="315" r:id="rId10"/>
    <p:sldId id="297" r:id="rId11"/>
    <p:sldId id="305" r:id="rId12"/>
    <p:sldId id="306" r:id="rId13"/>
    <p:sldId id="317" r:id="rId14"/>
    <p:sldId id="311" r:id="rId15"/>
    <p:sldId id="299" r:id="rId16"/>
    <p:sldId id="300" r:id="rId17"/>
    <p:sldId id="287"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591" autoAdjust="0"/>
    <p:restoredTop sz="94595" autoAdjust="0"/>
  </p:normalViewPr>
  <p:slideViewPr>
    <p:cSldViewPr>
      <p:cViewPr varScale="1">
        <p:scale>
          <a:sx n="50" d="100"/>
          <a:sy n="50" d="100"/>
        </p:scale>
        <p:origin x="1589" y="3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9/26/2014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9/26/2014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9/26/2014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9/26/2014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9/26/2014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15616" y="2755060"/>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CALL OPTION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418345" y="2060848"/>
            <a:ext cx="3426744" cy="872034"/>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Simplifying Call Option</a:t>
            </a:r>
            <a:br>
              <a:rPr lang="en-US" b="1" dirty="0">
                <a:latin typeface="Arial" pitchFamily="34" charset="0"/>
                <a:cs typeface="Arial" pitchFamily="34" charset="0"/>
              </a:rPr>
            </a:br>
            <a:r>
              <a:rPr lang="en-US" b="1" dirty="0">
                <a:latin typeface="Arial" pitchFamily="34" charset="0"/>
                <a:cs typeface="Arial" pitchFamily="34" charset="0"/>
              </a:rPr>
              <a:t>–  By Prof. </a:t>
            </a:r>
            <a:r>
              <a:rPr lang="en-US" b="1" i="1" dirty="0">
                <a:latin typeface="Arial" pitchFamily="34" charset="0"/>
                <a:cs typeface="Arial" pitchFamily="34" charset="0"/>
              </a:rPr>
              <a:t>Simply</a:t>
            </a:r>
            <a:r>
              <a:rPr lang="en-US" b="1" dirty="0">
                <a:latin typeface="Arial" pitchFamily="34" charset="0"/>
                <a:cs typeface="Arial" pitchFamily="34" charset="0"/>
              </a:rPr>
              <a:t> Simple </a:t>
            </a:r>
            <a:r>
              <a:rPr lang="en-US" b="1" baseline="70000" dirty="0">
                <a:latin typeface="Arial" pitchFamily="34" charset="0"/>
                <a:cs typeface="Arial" pitchFamily="34" charset="0"/>
              </a:rPr>
              <a:t>TM</a:t>
            </a:r>
          </a:p>
        </p:txBody>
      </p:sp>
    </p:spTree>
    <p:extLst>
      <p:ext uri="{BB962C8B-B14F-4D97-AF65-F5344CB8AC3E}">
        <p14:creationId xmlns:p14="http://schemas.microsoft.com/office/powerpoint/2010/main" val="14917799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7944" y="4581128"/>
            <a:ext cx="4176464" cy="785343"/>
          </a:xfrm>
          <a:prstGeom prst="rect">
            <a:avLst/>
          </a:prstGeom>
        </p:spPr>
        <p:txBody>
          <a:bodyPr wrap="square">
            <a:spAutoFit/>
          </a:bodyPr>
          <a:lstStyle/>
          <a:p>
            <a:pPr>
              <a:lnSpc>
                <a:spcPct val="150000"/>
              </a:lnSpc>
            </a:pPr>
            <a:r>
              <a:rPr lang="en-US" sz="1600" b="1" dirty="0">
                <a:latin typeface="Arial" pitchFamily="34" charset="0"/>
                <a:cs typeface="Arial" pitchFamily="34" charset="0"/>
              </a:rPr>
              <a:t>Let’s </a:t>
            </a:r>
            <a:r>
              <a:rPr lang="en-US" sz="1600" b="1" dirty="0" smtClean="0">
                <a:latin typeface="Arial" pitchFamily="34" charset="0"/>
                <a:cs typeface="Arial" pitchFamily="34" charset="0"/>
              </a:rPr>
              <a:t>understand this concept  by taking the example of a farmer </a:t>
            </a:r>
            <a:r>
              <a:rPr lang="en-US" sz="1600" b="1" dirty="0">
                <a:latin typeface="Arial" pitchFamily="34" charset="0"/>
                <a:cs typeface="Arial" pitchFamily="34" charset="0"/>
              </a:rPr>
              <a:t>&amp; </a:t>
            </a:r>
            <a:r>
              <a:rPr lang="en-US" sz="1600" b="1" dirty="0" smtClean="0">
                <a:latin typeface="Arial" pitchFamily="34" charset="0"/>
                <a:cs typeface="Arial" pitchFamily="34" charset="0"/>
              </a:rPr>
              <a:t>a baker. </a:t>
            </a:r>
            <a:endParaRPr lang="en-US" sz="1600"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CALL OPTION</a:t>
            </a:r>
          </a:p>
        </p:txBody>
      </p:sp>
    </p:spTree>
    <p:extLst>
      <p:ext uri="{BB962C8B-B14F-4D97-AF65-F5344CB8AC3E}">
        <p14:creationId xmlns:p14="http://schemas.microsoft.com/office/powerpoint/2010/main" val="22618969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52736"/>
            <a:ext cx="7416824" cy="507831"/>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Our farmer cultivates </a:t>
            </a:r>
            <a:r>
              <a:rPr lang="en-US" b="1" dirty="0">
                <a:latin typeface="Arial" pitchFamily="34" charset="0"/>
                <a:cs typeface="Arial" pitchFamily="34" charset="0"/>
              </a:rPr>
              <a:t>wheat…</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CALL OPTION</a:t>
            </a:r>
          </a:p>
        </p:txBody>
      </p:sp>
      <p:pic>
        <p:nvPicPr>
          <p:cNvPr id="5"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56048" y="1560860"/>
            <a:ext cx="4648200" cy="4316412"/>
          </a:xfrm>
          <a:prstGeom prst="rect">
            <a:avLst/>
          </a:prstGeom>
          <a:noFill/>
          <a:effectLst>
            <a:outerShdw blurRad="114300" dist="25400" dir="13500000" sx="91000" sy="91000" kx="1200000" algn="br" rotWithShape="0">
              <a:prstClr val="black">
                <a:alpha val="17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52736"/>
            <a:ext cx="7416824" cy="507831"/>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And </a:t>
            </a:r>
            <a:r>
              <a:rPr lang="en-US" b="1" dirty="0" smtClean="0">
                <a:latin typeface="Arial" pitchFamily="34" charset="0"/>
                <a:cs typeface="Arial" pitchFamily="34" charset="0"/>
              </a:rPr>
              <a:t>our baker  needs </a:t>
            </a:r>
            <a:r>
              <a:rPr lang="en-US" b="1" dirty="0">
                <a:latin typeface="Arial" pitchFamily="34" charset="0"/>
                <a:cs typeface="Arial" pitchFamily="34" charset="0"/>
              </a:rPr>
              <a:t>wheat as an input for making bread…</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CALL OPTION</a:t>
            </a:r>
          </a:p>
        </p:txBody>
      </p:sp>
      <p:pic>
        <p:nvPicPr>
          <p:cNvPr id="6" name="Picture 10" descr="MMj03158130000[1]"/>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79712" y="2060848"/>
            <a:ext cx="3722007" cy="3722007"/>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69820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52736"/>
            <a:ext cx="7416824" cy="2308324"/>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b="1" dirty="0">
                <a:latin typeface="Arial" pitchFamily="34" charset="0"/>
                <a:cs typeface="Arial" pitchFamily="34" charset="0"/>
              </a:rPr>
              <a:t>The farmer thinks that the price of wheat which is currently trading at </a:t>
            </a:r>
            <a:r>
              <a:rPr lang="en-US" b="1" dirty="0" err="1">
                <a:latin typeface="Arial" pitchFamily="34" charset="0"/>
                <a:cs typeface="Arial" pitchFamily="34" charset="0"/>
              </a:rPr>
              <a:t>Rs</a:t>
            </a:r>
            <a:r>
              <a:rPr lang="en-US" b="1" dirty="0">
                <a:latin typeface="Arial" pitchFamily="34" charset="0"/>
                <a:cs typeface="Arial" pitchFamily="34" charset="0"/>
              </a:rPr>
              <a:t>. 100 could fall to </a:t>
            </a:r>
            <a:r>
              <a:rPr lang="en-US" b="1" dirty="0" err="1">
                <a:latin typeface="Arial" pitchFamily="34" charset="0"/>
                <a:cs typeface="Arial" pitchFamily="34" charset="0"/>
              </a:rPr>
              <a:t>Rs</a:t>
            </a:r>
            <a:r>
              <a:rPr lang="en-US" b="1" dirty="0">
                <a:latin typeface="Arial" pitchFamily="34" charset="0"/>
                <a:cs typeface="Arial" pitchFamily="34" charset="0"/>
              </a:rPr>
              <a:t>. 90 in 3 months.</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The baker </a:t>
            </a:r>
            <a:r>
              <a:rPr lang="en-US" b="1" dirty="0">
                <a:latin typeface="Arial" pitchFamily="34" charset="0"/>
                <a:cs typeface="Arial" pitchFamily="34" charset="0"/>
              </a:rPr>
              <a:t>on the other hand feels that </a:t>
            </a:r>
            <a:r>
              <a:rPr lang="en-US" b="1" dirty="0" smtClean="0">
                <a:latin typeface="Arial" pitchFamily="34" charset="0"/>
                <a:cs typeface="Arial" pitchFamily="34" charset="0"/>
              </a:rPr>
              <a:t>the price </a:t>
            </a:r>
            <a:r>
              <a:rPr lang="en-US" b="1" dirty="0">
                <a:latin typeface="Arial" pitchFamily="34" charset="0"/>
                <a:cs typeface="Arial" pitchFamily="34" charset="0"/>
              </a:rPr>
              <a:t>of wheat </a:t>
            </a:r>
            <a:r>
              <a:rPr lang="en-US" b="1" dirty="0" smtClean="0">
                <a:latin typeface="Arial" pitchFamily="34" charset="0"/>
                <a:cs typeface="Arial" pitchFamily="34" charset="0"/>
              </a:rPr>
              <a:t>might become Rs</a:t>
            </a:r>
            <a:r>
              <a:rPr lang="en-US" b="1" dirty="0">
                <a:latin typeface="Arial" pitchFamily="34" charset="0"/>
                <a:cs typeface="Arial" pitchFamily="34" charset="0"/>
              </a:rPr>
              <a:t>. 120 in 3 months.</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CALL OPTION</a:t>
            </a:r>
          </a:p>
        </p:txBody>
      </p:sp>
    </p:spTree>
    <p:extLst>
      <p:ext uri="{BB962C8B-B14F-4D97-AF65-F5344CB8AC3E}">
        <p14:creationId xmlns:p14="http://schemas.microsoft.com/office/powerpoint/2010/main" val="763136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980728"/>
            <a:ext cx="7416824" cy="3416320"/>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Both </a:t>
            </a:r>
            <a:r>
              <a:rPr lang="en-US" b="1" dirty="0">
                <a:latin typeface="Arial" pitchFamily="34" charset="0"/>
                <a:cs typeface="Arial" pitchFamily="34" charset="0"/>
              </a:rPr>
              <a:t>of them </a:t>
            </a:r>
            <a:r>
              <a:rPr lang="en-US" b="1" dirty="0" smtClean="0">
                <a:latin typeface="Arial" pitchFamily="34" charset="0"/>
                <a:cs typeface="Arial" pitchFamily="34" charset="0"/>
              </a:rPr>
              <a:t>come together </a:t>
            </a:r>
            <a:r>
              <a:rPr lang="en-US" b="1" dirty="0">
                <a:latin typeface="Arial" pitchFamily="34" charset="0"/>
                <a:cs typeface="Arial" pitchFamily="34" charset="0"/>
              </a:rPr>
              <a:t>&amp; sign a contract which says that at the end of 3 months the bread manufacturer would buy wheat from the farmer at </a:t>
            </a:r>
            <a:r>
              <a:rPr lang="en-US" b="1" dirty="0" err="1">
                <a:latin typeface="Arial" pitchFamily="34" charset="0"/>
                <a:cs typeface="Arial" pitchFamily="34" charset="0"/>
              </a:rPr>
              <a:t>Rs</a:t>
            </a:r>
            <a:r>
              <a:rPr lang="en-US" b="1" dirty="0">
                <a:latin typeface="Arial" pitchFamily="34" charset="0"/>
                <a:cs typeface="Arial" pitchFamily="34" charset="0"/>
              </a:rPr>
              <a:t>. 110.</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Thus </a:t>
            </a:r>
            <a:r>
              <a:rPr lang="en-US" b="1" dirty="0">
                <a:latin typeface="Arial" pitchFamily="34" charset="0"/>
                <a:cs typeface="Arial" pitchFamily="34" charset="0"/>
              </a:rPr>
              <a:t>the </a:t>
            </a:r>
            <a:r>
              <a:rPr lang="en-US" b="1" dirty="0" smtClean="0">
                <a:latin typeface="Arial" pitchFamily="34" charset="0"/>
                <a:cs typeface="Arial" pitchFamily="34" charset="0"/>
              </a:rPr>
              <a:t>baker </a:t>
            </a:r>
            <a:r>
              <a:rPr lang="en-US" b="1" dirty="0">
                <a:latin typeface="Arial" pitchFamily="34" charset="0"/>
                <a:cs typeface="Arial" pitchFamily="34" charset="0"/>
              </a:rPr>
              <a:t>is protected against a possible rise in prices.</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And </a:t>
            </a:r>
            <a:r>
              <a:rPr lang="en-US" b="1" dirty="0">
                <a:latin typeface="Arial" pitchFamily="34" charset="0"/>
                <a:cs typeface="Arial" pitchFamily="34" charset="0"/>
              </a:rPr>
              <a:t>the farmer is protected against any drop in the price of wheat in the near future.</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CALL OPTION</a:t>
            </a:r>
          </a:p>
        </p:txBody>
      </p:sp>
    </p:spTree>
    <p:extLst>
      <p:ext uri="{BB962C8B-B14F-4D97-AF65-F5344CB8AC3E}">
        <p14:creationId xmlns:p14="http://schemas.microsoft.com/office/powerpoint/2010/main" val="41338094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CALL OPTION</a:t>
            </a:r>
          </a:p>
        </p:txBody>
      </p:sp>
      <p:sp>
        <p:nvSpPr>
          <p:cNvPr id="4" name="TextBox 3"/>
          <p:cNvSpPr txBox="1"/>
          <p:nvPr/>
        </p:nvSpPr>
        <p:spPr>
          <a:xfrm>
            <a:off x="3250655" y="1425550"/>
            <a:ext cx="3312368" cy="923330"/>
          </a:xfrm>
          <a:prstGeom prst="rect">
            <a:avLst/>
          </a:prstGeom>
          <a:noFill/>
        </p:spPr>
        <p:txBody>
          <a:bodyPr wrap="square" rtlCol="0">
            <a:spAutoFit/>
          </a:bodyPr>
          <a:lstStyle/>
          <a:p>
            <a:pPr>
              <a:lnSpc>
                <a:spcPct val="150000"/>
              </a:lnSpc>
              <a:buFontTx/>
              <a:buNone/>
            </a:pPr>
            <a:r>
              <a:rPr lang="en-US" b="1" dirty="0">
                <a:latin typeface="Arial" pitchFamily="34" charset="0"/>
                <a:cs typeface="Arial" pitchFamily="34" charset="0"/>
              </a:rPr>
              <a:t> Such a contract is called a Futures </a:t>
            </a:r>
            <a:r>
              <a:rPr lang="en-US" b="1" dirty="0" smtClean="0">
                <a:latin typeface="Arial" pitchFamily="34" charset="0"/>
                <a:cs typeface="Arial" pitchFamily="34" charset="0"/>
              </a:rPr>
              <a:t>contract.</a:t>
            </a:r>
            <a:endParaRPr lang="en-US" b="1" dirty="0">
              <a:latin typeface="Arial" pitchFamily="34" charset="0"/>
              <a:cs typeface="Arial" pitchFamily="34" charset="0"/>
            </a:endParaRPr>
          </a:p>
        </p:txBody>
      </p:sp>
    </p:spTree>
    <p:extLst>
      <p:ext uri="{BB962C8B-B14F-4D97-AF65-F5344CB8AC3E}">
        <p14:creationId xmlns:p14="http://schemas.microsoft.com/office/powerpoint/2010/main" val="42330395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908720"/>
            <a:ext cx="7632848" cy="4524315"/>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sz="1600" b="1" dirty="0">
                <a:latin typeface="Arial" pitchFamily="34" charset="0"/>
                <a:cs typeface="Arial" pitchFamily="34" charset="0"/>
              </a:rPr>
              <a:t> In a Futures contract both parties are obliged to honor the contract and there is no escape route for either party.</a:t>
            </a:r>
          </a:p>
          <a:p>
            <a:pPr marL="465138" indent="-465138">
              <a:lnSpc>
                <a:spcPct val="200000"/>
              </a:lnSpc>
              <a:buFont typeface="Wingdings" pitchFamily="2" charset="2"/>
              <a:buChar char="q"/>
              <a:tabLst>
                <a:tab pos="465138" algn="l"/>
              </a:tabLst>
            </a:pPr>
            <a:r>
              <a:rPr lang="en-US" sz="1600" b="1" dirty="0">
                <a:latin typeface="Arial" pitchFamily="34" charset="0"/>
                <a:cs typeface="Arial" pitchFamily="34" charset="0"/>
              </a:rPr>
              <a:t>But what if the contract gives the </a:t>
            </a:r>
            <a:r>
              <a:rPr lang="en-US" sz="1600" b="1" dirty="0" smtClean="0">
                <a:latin typeface="Arial" pitchFamily="34" charset="0"/>
                <a:cs typeface="Arial" pitchFamily="34" charset="0"/>
              </a:rPr>
              <a:t>baker  the </a:t>
            </a:r>
            <a:r>
              <a:rPr lang="en-US" sz="1600" b="1" dirty="0">
                <a:latin typeface="Arial" pitchFamily="34" charset="0"/>
                <a:cs typeface="Arial" pitchFamily="34" charset="0"/>
              </a:rPr>
              <a:t>“option” of (either) </a:t>
            </a:r>
          </a:p>
          <a:p>
            <a:pPr marL="922338" lvl="2" indent="-465138">
              <a:lnSpc>
                <a:spcPct val="200000"/>
              </a:lnSpc>
              <a:buFont typeface="Wingdings" pitchFamily="2" charset="2"/>
              <a:buChar char="q"/>
              <a:tabLst>
                <a:tab pos="465138" algn="l"/>
              </a:tabLst>
            </a:pPr>
            <a:r>
              <a:rPr lang="en-US" sz="1600" b="1" dirty="0">
                <a:latin typeface="Arial" pitchFamily="34" charset="0"/>
                <a:cs typeface="Arial" pitchFamily="34" charset="0"/>
              </a:rPr>
              <a:t>Buying the wheat from the farmer at the pre-agreed price of  Rs </a:t>
            </a:r>
            <a:r>
              <a:rPr lang="en-US" sz="1600" b="1" dirty="0" smtClean="0">
                <a:latin typeface="Arial" pitchFamily="34" charset="0"/>
                <a:cs typeface="Arial" pitchFamily="34" charset="0"/>
              </a:rPr>
              <a:t>110  (or)</a:t>
            </a:r>
            <a:endParaRPr lang="en-US" sz="1600" b="1" dirty="0">
              <a:latin typeface="Arial" pitchFamily="34" charset="0"/>
              <a:cs typeface="Arial" pitchFamily="34" charset="0"/>
            </a:endParaRPr>
          </a:p>
          <a:p>
            <a:pPr marL="922338" lvl="2" indent="-465138">
              <a:lnSpc>
                <a:spcPct val="200000"/>
              </a:lnSpc>
              <a:buFont typeface="Wingdings" pitchFamily="2" charset="2"/>
              <a:buChar char="q"/>
              <a:tabLst>
                <a:tab pos="465138" algn="l"/>
              </a:tabLst>
            </a:pPr>
            <a:r>
              <a:rPr lang="en-US" sz="1600" b="1" dirty="0">
                <a:latin typeface="Arial" pitchFamily="34" charset="0"/>
                <a:cs typeface="Arial" pitchFamily="34" charset="0"/>
              </a:rPr>
              <a:t>Choosing to exit the contract and buy wheat from the open market at the prevailing market price?</a:t>
            </a:r>
          </a:p>
          <a:p>
            <a:pPr marL="465138" indent="-465138">
              <a:lnSpc>
                <a:spcPct val="200000"/>
              </a:lnSpc>
              <a:buFont typeface="Wingdings" pitchFamily="2" charset="2"/>
              <a:buChar char="q"/>
              <a:tabLst>
                <a:tab pos="465138" algn="l"/>
              </a:tabLst>
            </a:pPr>
            <a:r>
              <a:rPr lang="en-US" sz="1600" b="1" dirty="0">
                <a:latin typeface="Arial" pitchFamily="34" charset="0"/>
                <a:cs typeface="Arial" pitchFamily="34" charset="0"/>
              </a:rPr>
              <a:t>In other words, the </a:t>
            </a:r>
            <a:r>
              <a:rPr lang="en-US" sz="1600" b="1" dirty="0" smtClean="0">
                <a:latin typeface="Arial" pitchFamily="34" charset="0"/>
                <a:cs typeface="Arial" pitchFamily="34" charset="0"/>
              </a:rPr>
              <a:t>baker is </a:t>
            </a:r>
            <a:r>
              <a:rPr lang="en-US" sz="1600" b="1" dirty="0">
                <a:latin typeface="Arial" pitchFamily="34" charset="0"/>
                <a:cs typeface="Arial" pitchFamily="34" charset="0"/>
              </a:rPr>
              <a:t>given the option of not honoring the contract made with the farmer on the date of settlement.  </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CALL OPTION</a:t>
            </a:r>
          </a:p>
        </p:txBody>
      </p:sp>
    </p:spTree>
    <p:extLst>
      <p:ext uri="{BB962C8B-B14F-4D97-AF65-F5344CB8AC3E}">
        <p14:creationId xmlns:p14="http://schemas.microsoft.com/office/powerpoint/2010/main" val="622189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55549" y="3645024"/>
            <a:ext cx="4384171" cy="2677656"/>
          </a:xfrm>
          <a:prstGeom prst="rect">
            <a:avLst/>
          </a:prstGeom>
        </p:spPr>
        <p:txBody>
          <a:bodyPr wrap="square">
            <a:spAutoFit/>
          </a:bodyPr>
          <a:lstStyle/>
          <a:p>
            <a:pPr>
              <a:lnSpc>
                <a:spcPct val="150000"/>
              </a:lnSpc>
            </a:pPr>
            <a:r>
              <a:rPr lang="en-US" sz="1600" b="1" dirty="0">
                <a:latin typeface="Arial" pitchFamily="34" charset="0"/>
                <a:cs typeface="Arial" pitchFamily="34" charset="0"/>
              </a:rPr>
              <a:t> </a:t>
            </a:r>
            <a:r>
              <a:rPr lang="en-US" sz="1600" b="1" i="1" dirty="0">
                <a:latin typeface="Arial" pitchFamily="34" charset="0"/>
                <a:cs typeface="Arial" pitchFamily="34" charset="0"/>
              </a:rPr>
              <a:t>Such a contract that gives the </a:t>
            </a:r>
            <a:r>
              <a:rPr lang="en-US" sz="1600" b="1" i="1" dirty="0" smtClean="0">
                <a:latin typeface="Arial" pitchFamily="34" charset="0"/>
                <a:cs typeface="Arial" pitchFamily="34" charset="0"/>
              </a:rPr>
              <a:t>baker </a:t>
            </a:r>
            <a:r>
              <a:rPr lang="en-US" sz="1600" b="1" i="1" dirty="0">
                <a:latin typeface="Arial" pitchFamily="34" charset="0"/>
                <a:cs typeface="Arial" pitchFamily="34" charset="0"/>
              </a:rPr>
              <a:t>the option of either executing the contract or exiting it is known as an ‘Options’ </a:t>
            </a:r>
            <a:r>
              <a:rPr lang="en-US" sz="1600" b="1" i="1" dirty="0" smtClean="0">
                <a:latin typeface="Arial" pitchFamily="34" charset="0"/>
                <a:cs typeface="Arial" pitchFamily="34" charset="0"/>
              </a:rPr>
              <a:t>Contract.</a:t>
            </a:r>
          </a:p>
          <a:p>
            <a:pPr>
              <a:lnSpc>
                <a:spcPct val="150000"/>
              </a:lnSpc>
            </a:pPr>
            <a:endParaRPr lang="en-US" sz="1600" b="1" dirty="0">
              <a:latin typeface="Arial" pitchFamily="34" charset="0"/>
              <a:cs typeface="Arial" pitchFamily="34" charset="0"/>
            </a:endParaRPr>
          </a:p>
          <a:p>
            <a:pPr>
              <a:lnSpc>
                <a:spcPct val="150000"/>
              </a:lnSpc>
            </a:pPr>
            <a:r>
              <a:rPr lang="en-US" sz="1600" b="1" dirty="0">
                <a:latin typeface="Arial" pitchFamily="34" charset="0"/>
                <a:cs typeface="Arial" pitchFamily="34" charset="0"/>
              </a:rPr>
              <a:t>But the </a:t>
            </a:r>
            <a:r>
              <a:rPr lang="en-US" sz="1600" b="1" dirty="0" smtClean="0">
                <a:latin typeface="Arial" pitchFamily="34" charset="0"/>
                <a:cs typeface="Arial" pitchFamily="34" charset="0"/>
              </a:rPr>
              <a:t>baker obviously </a:t>
            </a:r>
            <a:r>
              <a:rPr lang="en-US" sz="1600" b="1" dirty="0">
                <a:latin typeface="Arial" pitchFamily="34" charset="0"/>
                <a:cs typeface="Arial" pitchFamily="34" charset="0"/>
              </a:rPr>
              <a:t>has to pay a </a:t>
            </a:r>
            <a:r>
              <a:rPr lang="en-US" sz="1600" b="1" dirty="0" smtClean="0">
                <a:latin typeface="Arial" pitchFamily="34" charset="0"/>
                <a:cs typeface="Arial" pitchFamily="34" charset="0"/>
              </a:rPr>
              <a:t>price for </a:t>
            </a:r>
            <a:r>
              <a:rPr lang="en-US" sz="1600" b="1" dirty="0">
                <a:latin typeface="Arial" pitchFamily="34" charset="0"/>
                <a:cs typeface="Arial" pitchFamily="34" charset="0"/>
              </a:rPr>
              <a:t>exercising this </a:t>
            </a:r>
            <a:r>
              <a:rPr lang="en-US" sz="1600" b="1" dirty="0" smtClean="0">
                <a:latin typeface="Arial" pitchFamily="34" charset="0"/>
                <a:cs typeface="Arial" pitchFamily="34" charset="0"/>
              </a:rPr>
              <a:t>facility.</a:t>
            </a:r>
            <a:endParaRPr lang="en-US" sz="1600"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CALL OPTION</a:t>
            </a:r>
          </a:p>
        </p:txBody>
      </p:sp>
    </p:spTree>
    <p:extLst>
      <p:ext uri="{BB962C8B-B14F-4D97-AF65-F5344CB8AC3E}">
        <p14:creationId xmlns:p14="http://schemas.microsoft.com/office/powerpoint/2010/main" val="8596043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39552" y="980728"/>
            <a:ext cx="8136904" cy="2169825"/>
          </a:xfrm>
          <a:prstGeom prst="rect">
            <a:avLst/>
          </a:prstGeom>
          <a:noFill/>
        </p:spPr>
        <p:txBody>
          <a:bodyPr wrap="square" rtlCol="0">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Now, let’s say that after 3 months the price of wheat falls to </a:t>
            </a:r>
            <a:r>
              <a:rPr lang="en-US" b="1" dirty="0" err="1">
                <a:latin typeface="Arial" pitchFamily="34" charset="0"/>
                <a:cs typeface="Arial" pitchFamily="34" charset="0"/>
              </a:rPr>
              <a:t>Rs</a:t>
            </a:r>
            <a:r>
              <a:rPr lang="en-US" b="1" dirty="0">
                <a:latin typeface="Arial" pitchFamily="34" charset="0"/>
                <a:cs typeface="Arial" pitchFamily="34" charset="0"/>
              </a:rPr>
              <a:t>. 90.</a:t>
            </a:r>
          </a:p>
          <a:p>
            <a:pPr marL="465138" indent="-465138">
              <a:lnSpc>
                <a:spcPct val="150000"/>
              </a:lnSpc>
              <a:buFont typeface="Wingdings" pitchFamily="2" charset="2"/>
              <a:buChar char="q"/>
              <a:tabLst>
                <a:tab pos="465138" algn="l"/>
              </a:tabLst>
            </a:pPr>
            <a:r>
              <a:rPr lang="en-US" b="1" dirty="0" smtClean="0">
                <a:latin typeface="Arial" pitchFamily="34" charset="0"/>
                <a:cs typeface="Arial" pitchFamily="34" charset="0"/>
              </a:rPr>
              <a:t>In </a:t>
            </a:r>
            <a:r>
              <a:rPr lang="en-US" b="1" dirty="0">
                <a:latin typeface="Arial" pitchFamily="34" charset="0"/>
                <a:cs typeface="Arial" pitchFamily="34" charset="0"/>
              </a:rPr>
              <a:t>this case the </a:t>
            </a:r>
            <a:r>
              <a:rPr lang="en-US" b="1" dirty="0" smtClean="0">
                <a:latin typeface="Arial" pitchFamily="34" charset="0"/>
                <a:cs typeface="Arial" pitchFamily="34" charset="0"/>
              </a:rPr>
              <a:t>baker quite </a:t>
            </a:r>
            <a:r>
              <a:rPr lang="en-US" b="1" dirty="0">
                <a:latin typeface="Arial" pitchFamily="34" charset="0"/>
                <a:cs typeface="Arial" pitchFamily="34" charset="0"/>
              </a:rPr>
              <a:t>clearly would want to exit the contract so that he is free to buy wheat from the open market for Rs. 90.</a:t>
            </a:r>
          </a:p>
          <a:p>
            <a:pPr marL="465138" indent="-465138">
              <a:lnSpc>
                <a:spcPct val="150000"/>
              </a:lnSpc>
              <a:buFont typeface="Wingdings" pitchFamily="2" charset="2"/>
              <a:buChar char="q"/>
              <a:tabLst>
                <a:tab pos="465138" algn="l"/>
              </a:tabLst>
            </a:pPr>
            <a:r>
              <a:rPr lang="en-US" b="1" dirty="0" smtClean="0">
                <a:latin typeface="Arial" pitchFamily="34" charset="0"/>
                <a:cs typeface="Arial" pitchFamily="34" charset="0"/>
              </a:rPr>
              <a:t>If </a:t>
            </a:r>
            <a:r>
              <a:rPr lang="en-US" b="1" dirty="0" smtClean="0">
                <a:latin typeface="Arial" pitchFamily="34" charset="0"/>
                <a:cs typeface="Arial" pitchFamily="34" charset="0"/>
              </a:rPr>
              <a:t>he does so, </a:t>
            </a:r>
            <a:r>
              <a:rPr lang="en-US" b="1" dirty="0">
                <a:latin typeface="Arial" pitchFamily="34" charset="0"/>
                <a:cs typeface="Arial" pitchFamily="34" charset="0"/>
              </a:rPr>
              <a:t>the farmer is left high and dry and has </a:t>
            </a:r>
            <a:r>
              <a:rPr lang="en-US" b="1" dirty="0" smtClean="0">
                <a:latin typeface="Arial" pitchFamily="34" charset="0"/>
                <a:cs typeface="Arial" pitchFamily="34" charset="0"/>
              </a:rPr>
              <a:t>to </a:t>
            </a:r>
            <a:r>
              <a:rPr lang="en-US" b="1" dirty="0">
                <a:latin typeface="Arial" pitchFamily="34" charset="0"/>
                <a:cs typeface="Arial" pitchFamily="34" charset="0"/>
              </a:rPr>
              <a:t>sell his produce in the open market at Rs 90.</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CALL OPTION</a:t>
            </a:r>
          </a:p>
        </p:txBody>
      </p:sp>
    </p:spTree>
    <p:extLst>
      <p:ext uri="{BB962C8B-B14F-4D97-AF65-F5344CB8AC3E}">
        <p14:creationId xmlns:p14="http://schemas.microsoft.com/office/powerpoint/2010/main" val="32686972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39552" y="980728"/>
            <a:ext cx="7632848" cy="4031873"/>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sz="1600" b="1" dirty="0">
                <a:latin typeface="Arial" pitchFamily="34" charset="0"/>
                <a:cs typeface="Arial" pitchFamily="34" charset="0"/>
              </a:rPr>
              <a:t>But </a:t>
            </a:r>
            <a:r>
              <a:rPr lang="en-US" sz="1600" b="1" dirty="0" smtClean="0">
                <a:latin typeface="Arial" pitchFamily="34" charset="0"/>
                <a:cs typeface="Arial" pitchFamily="34" charset="0"/>
              </a:rPr>
              <a:t>the </a:t>
            </a:r>
            <a:r>
              <a:rPr lang="en-US" sz="1600" b="1" dirty="0">
                <a:latin typeface="Arial" pitchFamily="34" charset="0"/>
                <a:cs typeface="Arial" pitchFamily="34" charset="0"/>
              </a:rPr>
              <a:t>farmer </a:t>
            </a:r>
            <a:r>
              <a:rPr lang="en-US" sz="1600" b="1" dirty="0" smtClean="0">
                <a:latin typeface="Arial" pitchFamily="34" charset="0"/>
                <a:cs typeface="Arial" pitchFamily="34" charset="0"/>
              </a:rPr>
              <a:t>is </a:t>
            </a:r>
            <a:r>
              <a:rPr lang="en-US" sz="1600" b="1" dirty="0">
                <a:latin typeface="Arial" pitchFamily="34" charset="0"/>
                <a:cs typeface="Arial" pitchFamily="34" charset="0"/>
              </a:rPr>
              <a:t>compensated by the </a:t>
            </a:r>
            <a:r>
              <a:rPr lang="en-US" sz="1600" b="1" dirty="0" smtClean="0">
                <a:latin typeface="Arial" pitchFamily="34" charset="0"/>
                <a:cs typeface="Arial" pitchFamily="34" charset="0"/>
              </a:rPr>
              <a:t>baker. This </a:t>
            </a:r>
            <a:r>
              <a:rPr lang="en-US" sz="1600" b="1" dirty="0">
                <a:latin typeface="Arial" pitchFamily="34" charset="0"/>
                <a:cs typeface="Arial" pitchFamily="34" charset="0"/>
              </a:rPr>
              <a:t>compensation </a:t>
            </a:r>
            <a:r>
              <a:rPr lang="en-US" sz="1600" b="1" dirty="0" smtClean="0">
                <a:latin typeface="Arial" pitchFamily="34" charset="0"/>
                <a:cs typeface="Arial" pitchFamily="34" charset="0"/>
              </a:rPr>
              <a:t>is </a:t>
            </a:r>
            <a:r>
              <a:rPr lang="en-US" sz="1600" b="1" dirty="0">
                <a:latin typeface="Arial" pitchFamily="34" charset="0"/>
                <a:cs typeface="Arial" pitchFamily="34" charset="0"/>
              </a:rPr>
              <a:t>called </a:t>
            </a:r>
            <a:r>
              <a:rPr lang="en-US" sz="1600" b="1" dirty="0" smtClean="0">
                <a:latin typeface="Arial" pitchFamily="34" charset="0"/>
                <a:cs typeface="Arial" pitchFamily="34" charset="0"/>
              </a:rPr>
              <a:t>an “</a:t>
            </a:r>
            <a:r>
              <a:rPr lang="en-US" sz="1600" b="1" dirty="0">
                <a:latin typeface="Arial" pitchFamily="34" charset="0"/>
                <a:cs typeface="Arial" pitchFamily="34" charset="0"/>
              </a:rPr>
              <a:t>Option Premium” </a:t>
            </a:r>
            <a:r>
              <a:rPr lang="en-US" sz="1600" b="1" dirty="0" smtClean="0">
                <a:latin typeface="Arial" pitchFamily="34" charset="0"/>
                <a:cs typeface="Arial" pitchFamily="34" charset="0"/>
              </a:rPr>
              <a:t>and </a:t>
            </a:r>
            <a:r>
              <a:rPr lang="en-US" sz="1600" b="1" dirty="0">
                <a:latin typeface="Arial" pitchFamily="34" charset="0"/>
                <a:cs typeface="Arial" pitchFamily="34" charset="0"/>
              </a:rPr>
              <a:t>is usually a small amount.</a:t>
            </a:r>
          </a:p>
          <a:p>
            <a:pPr marL="465138" indent="-465138">
              <a:lnSpc>
                <a:spcPct val="200000"/>
              </a:lnSpc>
              <a:buFont typeface="Wingdings" pitchFamily="2" charset="2"/>
              <a:buChar char="q"/>
              <a:tabLst>
                <a:tab pos="465138" algn="l"/>
              </a:tabLst>
            </a:pPr>
            <a:r>
              <a:rPr lang="en-US" sz="1600" b="1" dirty="0" smtClean="0">
                <a:latin typeface="Arial" pitchFamily="34" charset="0"/>
                <a:cs typeface="Arial" pitchFamily="34" charset="0"/>
              </a:rPr>
              <a:t>Let’s </a:t>
            </a:r>
            <a:r>
              <a:rPr lang="en-US" sz="1600" b="1" dirty="0">
                <a:latin typeface="Arial" pitchFamily="34" charset="0"/>
                <a:cs typeface="Arial" pitchFamily="34" charset="0"/>
              </a:rPr>
              <a:t>assume in our case the amount is </a:t>
            </a:r>
            <a:r>
              <a:rPr lang="en-US" sz="1600" b="1" dirty="0" err="1">
                <a:latin typeface="Arial" pitchFamily="34" charset="0"/>
                <a:cs typeface="Arial" pitchFamily="34" charset="0"/>
              </a:rPr>
              <a:t>Rs</a:t>
            </a:r>
            <a:r>
              <a:rPr lang="en-US" sz="1600" b="1" dirty="0">
                <a:latin typeface="Arial" pitchFamily="34" charset="0"/>
                <a:cs typeface="Arial" pitchFamily="34" charset="0"/>
              </a:rPr>
              <a:t> 5.</a:t>
            </a:r>
          </a:p>
          <a:p>
            <a:pPr marL="465138" indent="-465138">
              <a:lnSpc>
                <a:spcPct val="200000"/>
              </a:lnSpc>
              <a:buFont typeface="Wingdings" pitchFamily="2" charset="2"/>
              <a:buChar char="q"/>
              <a:tabLst>
                <a:tab pos="465138" algn="l"/>
              </a:tabLst>
            </a:pPr>
            <a:r>
              <a:rPr lang="en-US" sz="1600" b="1" dirty="0" smtClean="0">
                <a:latin typeface="Arial" pitchFamily="34" charset="0"/>
                <a:cs typeface="Arial" pitchFamily="34" charset="0"/>
              </a:rPr>
              <a:t>So </a:t>
            </a:r>
            <a:r>
              <a:rPr lang="en-US" sz="1600" b="1" dirty="0">
                <a:latin typeface="Arial" pitchFamily="34" charset="0"/>
                <a:cs typeface="Arial" pitchFamily="34" charset="0"/>
              </a:rPr>
              <a:t>the </a:t>
            </a:r>
            <a:r>
              <a:rPr lang="en-US" sz="1600" b="1" dirty="0" smtClean="0">
                <a:latin typeface="Arial" pitchFamily="34" charset="0"/>
                <a:cs typeface="Arial" pitchFamily="34" charset="0"/>
              </a:rPr>
              <a:t>baker </a:t>
            </a:r>
            <a:r>
              <a:rPr lang="en-US" sz="1600" b="1" dirty="0">
                <a:latin typeface="Arial" pitchFamily="34" charset="0"/>
                <a:cs typeface="Arial" pitchFamily="34" charset="0"/>
              </a:rPr>
              <a:t>is obliged to pay the farmer </a:t>
            </a:r>
            <a:r>
              <a:rPr lang="en-US" sz="1600" b="1" dirty="0" err="1">
                <a:latin typeface="Arial" pitchFamily="34" charset="0"/>
                <a:cs typeface="Arial" pitchFamily="34" charset="0"/>
              </a:rPr>
              <a:t>Rs</a:t>
            </a:r>
            <a:r>
              <a:rPr lang="en-US" sz="1600" b="1" dirty="0">
                <a:latin typeface="Arial" pitchFamily="34" charset="0"/>
                <a:cs typeface="Arial" pitchFamily="34" charset="0"/>
              </a:rPr>
              <a:t> 5 as he has chosen to opt out of the contract</a:t>
            </a:r>
            <a:r>
              <a:rPr lang="en-US" sz="1600" b="1" dirty="0" smtClean="0">
                <a:latin typeface="Arial" pitchFamily="34" charset="0"/>
                <a:cs typeface="Arial" pitchFamily="34" charset="0"/>
              </a:rPr>
              <a:t>.</a:t>
            </a:r>
          </a:p>
          <a:p>
            <a:pPr marL="465138" indent="-465138">
              <a:lnSpc>
                <a:spcPct val="200000"/>
              </a:lnSpc>
              <a:buFont typeface="Wingdings" pitchFamily="2" charset="2"/>
              <a:buChar char="q"/>
              <a:tabLst>
                <a:tab pos="465138" algn="l"/>
              </a:tabLst>
            </a:pPr>
            <a:r>
              <a:rPr lang="en-US" sz="1600" b="1" dirty="0">
                <a:latin typeface="Arial" pitchFamily="34" charset="0"/>
                <a:cs typeface="Arial" pitchFamily="34" charset="0"/>
              </a:rPr>
              <a:t>So even if the price is </a:t>
            </a:r>
            <a:r>
              <a:rPr lang="en-US" sz="1600" b="1" dirty="0" err="1">
                <a:latin typeface="Arial" pitchFamily="34" charset="0"/>
                <a:cs typeface="Arial" pitchFamily="34" charset="0"/>
              </a:rPr>
              <a:t>Rs</a:t>
            </a:r>
            <a:r>
              <a:rPr lang="en-US" sz="1600" b="1" dirty="0">
                <a:latin typeface="Arial" pitchFamily="34" charset="0"/>
                <a:cs typeface="Arial" pitchFamily="34" charset="0"/>
              </a:rPr>
              <a:t>. 90 in the open market, for him the effective price turns out to be </a:t>
            </a:r>
            <a:r>
              <a:rPr lang="en-US" sz="1600" b="1" dirty="0" err="1" smtClean="0">
                <a:latin typeface="Arial" pitchFamily="34" charset="0"/>
                <a:cs typeface="Arial" pitchFamily="34" charset="0"/>
              </a:rPr>
              <a:t>Rs</a:t>
            </a:r>
            <a:r>
              <a:rPr lang="en-US" sz="1600" b="1" dirty="0">
                <a:latin typeface="Arial" pitchFamily="34" charset="0"/>
                <a:cs typeface="Arial" pitchFamily="34" charset="0"/>
              </a:rPr>
              <a:t>. (90+5) = </a:t>
            </a:r>
            <a:r>
              <a:rPr lang="en-US" sz="1600" b="1" dirty="0" err="1">
                <a:latin typeface="Arial" pitchFamily="34" charset="0"/>
                <a:cs typeface="Arial" pitchFamily="34" charset="0"/>
              </a:rPr>
              <a:t>Rs</a:t>
            </a:r>
            <a:r>
              <a:rPr lang="en-US" sz="1600" b="1" dirty="0">
                <a:latin typeface="Arial" pitchFamily="34" charset="0"/>
                <a:cs typeface="Arial" pitchFamily="34" charset="0"/>
              </a:rPr>
              <a:t> 95</a:t>
            </a:r>
          </a:p>
          <a:p>
            <a:pPr marL="465138" indent="-465138">
              <a:lnSpc>
                <a:spcPct val="200000"/>
              </a:lnSpc>
              <a:buFont typeface="Wingdings" pitchFamily="2" charset="2"/>
              <a:buChar char="q"/>
              <a:tabLst>
                <a:tab pos="465138" algn="l"/>
              </a:tabLst>
            </a:pPr>
            <a:endParaRPr lang="en-US" sz="1600"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CALL OPTION</a:t>
            </a:r>
          </a:p>
        </p:txBody>
      </p:sp>
    </p:spTree>
    <p:extLst>
      <p:ext uri="{BB962C8B-B14F-4D97-AF65-F5344CB8AC3E}">
        <p14:creationId xmlns:p14="http://schemas.microsoft.com/office/powerpoint/2010/main" val="747770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39552" y="1052736"/>
            <a:ext cx="7704856" cy="3831818"/>
          </a:xfrm>
          <a:prstGeom prst="rect">
            <a:avLst/>
          </a:prstGeom>
          <a:noFill/>
        </p:spPr>
        <p:txBody>
          <a:bodyPr wrap="square" rtlCol="0">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 It is important to understand that in an ‘Options’ contract, only one party gets the privilege to exercise the option while the other party is obliged to honor the option if it is chosen. </a:t>
            </a:r>
          </a:p>
          <a:p>
            <a:pPr marL="465138" indent="-465138">
              <a:lnSpc>
                <a:spcPct val="150000"/>
              </a:lnSpc>
              <a:buFont typeface="Wingdings" pitchFamily="2" charset="2"/>
              <a:buChar char="q"/>
              <a:tabLst>
                <a:tab pos="465138" algn="l"/>
              </a:tabLst>
            </a:pPr>
            <a:r>
              <a:rPr lang="en-US" b="1" dirty="0" smtClean="0">
                <a:latin typeface="Arial" pitchFamily="34" charset="0"/>
                <a:cs typeface="Arial" pitchFamily="34" charset="0"/>
              </a:rPr>
              <a:t>In  </a:t>
            </a:r>
            <a:r>
              <a:rPr lang="en-US" b="1" dirty="0">
                <a:latin typeface="Arial" pitchFamily="34" charset="0"/>
                <a:cs typeface="Arial" pitchFamily="34" charset="0"/>
              </a:rPr>
              <a:t>our case, the bread manufacturer has the option to either execute or exit the contract whereas the farmer is obliged to </a:t>
            </a:r>
            <a:r>
              <a:rPr lang="en-US" b="1" dirty="0" err="1">
                <a:latin typeface="Arial" pitchFamily="34" charset="0"/>
                <a:cs typeface="Arial" pitchFamily="34" charset="0"/>
              </a:rPr>
              <a:t>honour</a:t>
            </a:r>
            <a:r>
              <a:rPr lang="en-US" b="1" dirty="0">
                <a:latin typeface="Arial" pitchFamily="34" charset="0"/>
                <a:cs typeface="Arial" pitchFamily="34" charset="0"/>
              </a:rPr>
              <a:t> the decision of the bread manufacturer.</a:t>
            </a:r>
          </a:p>
          <a:p>
            <a:pPr marL="465138" indent="-465138">
              <a:lnSpc>
                <a:spcPct val="150000"/>
              </a:lnSpc>
              <a:buFont typeface="Wingdings" pitchFamily="2" charset="2"/>
              <a:buChar char="q"/>
              <a:tabLst>
                <a:tab pos="465138" algn="l"/>
              </a:tabLst>
            </a:pPr>
            <a:r>
              <a:rPr lang="en-US" b="1" dirty="0" smtClean="0">
                <a:latin typeface="Arial" pitchFamily="34" charset="0"/>
                <a:cs typeface="Arial" pitchFamily="34" charset="0"/>
              </a:rPr>
              <a:t> </a:t>
            </a:r>
            <a:r>
              <a:rPr lang="en-US" b="1" dirty="0">
                <a:latin typeface="Arial" pitchFamily="34" charset="0"/>
                <a:cs typeface="Arial" pitchFamily="34" charset="0"/>
              </a:rPr>
              <a:t>A contract such as this where only the purchaser of the commodity gets the option to either exercise or exit the contract is known as ‘Call’ option.</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CALL OPTION</a:t>
            </a:r>
          </a:p>
        </p:txBody>
      </p:sp>
    </p:spTree>
    <p:extLst>
      <p:ext uri="{BB962C8B-B14F-4D97-AF65-F5344CB8AC3E}">
        <p14:creationId xmlns:p14="http://schemas.microsoft.com/office/powerpoint/2010/main" val="16044888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CALL OPTION</a:t>
            </a:r>
          </a:p>
        </p:txBody>
      </p:sp>
      <p:sp>
        <p:nvSpPr>
          <p:cNvPr id="4" name="TextBox 3"/>
          <p:cNvSpPr txBox="1"/>
          <p:nvPr/>
        </p:nvSpPr>
        <p:spPr>
          <a:xfrm>
            <a:off x="3131840" y="908720"/>
            <a:ext cx="3960440" cy="2677656"/>
          </a:xfrm>
          <a:prstGeom prst="rect">
            <a:avLst/>
          </a:prstGeom>
          <a:noFill/>
        </p:spPr>
        <p:txBody>
          <a:bodyPr wrap="square" rtlCol="0">
            <a:spAutoFit/>
          </a:bodyPr>
          <a:lstStyle/>
          <a:p>
            <a:pPr>
              <a:lnSpc>
                <a:spcPct val="150000"/>
              </a:lnSpc>
              <a:buFontTx/>
              <a:buNone/>
            </a:pPr>
            <a:r>
              <a:rPr lang="en-US" sz="1600" b="1" dirty="0" smtClean="0">
                <a:latin typeface="Arial" pitchFamily="34" charset="0"/>
                <a:cs typeface="Arial" pitchFamily="34" charset="0"/>
              </a:rPr>
              <a:t>What is the difference between a put option and a call option?</a:t>
            </a:r>
          </a:p>
          <a:p>
            <a:pPr>
              <a:lnSpc>
                <a:spcPct val="150000"/>
              </a:lnSpc>
              <a:buFontTx/>
              <a:buNone/>
            </a:pPr>
            <a:r>
              <a:rPr lang="en-US" sz="1600" b="1" dirty="0" smtClean="0">
                <a:latin typeface="Arial" pitchFamily="34" charset="0"/>
                <a:cs typeface="Arial" pitchFamily="34" charset="0"/>
              </a:rPr>
              <a:t>In </a:t>
            </a:r>
            <a:r>
              <a:rPr lang="en-US" sz="1600" b="1" dirty="0" smtClean="0">
                <a:latin typeface="Arial" pitchFamily="34" charset="0"/>
                <a:cs typeface="Arial" pitchFamily="34" charset="0"/>
              </a:rPr>
              <a:t> </a:t>
            </a:r>
            <a:r>
              <a:rPr lang="en-US" sz="1600" b="1" dirty="0">
                <a:latin typeface="Arial" pitchFamily="34" charset="0"/>
                <a:cs typeface="Arial" pitchFamily="34" charset="0"/>
              </a:rPr>
              <a:t>the ‘Put’ option the choice of honoring the contract </a:t>
            </a:r>
            <a:r>
              <a:rPr lang="en-US" sz="1600" b="1" dirty="0" smtClean="0">
                <a:latin typeface="Arial" pitchFamily="34" charset="0"/>
                <a:cs typeface="Arial" pitchFamily="34" charset="0"/>
              </a:rPr>
              <a:t>is with </a:t>
            </a:r>
            <a:r>
              <a:rPr lang="en-US" sz="1600" b="1" dirty="0">
                <a:latin typeface="Arial" pitchFamily="34" charset="0"/>
                <a:cs typeface="Arial" pitchFamily="34" charset="0"/>
              </a:rPr>
              <a:t>the farmer or seller while in the ‘Call’ option this option </a:t>
            </a:r>
            <a:r>
              <a:rPr lang="en-US" sz="1600" b="1" dirty="0" smtClean="0">
                <a:latin typeface="Arial" pitchFamily="34" charset="0"/>
                <a:cs typeface="Arial" pitchFamily="34" charset="0"/>
              </a:rPr>
              <a:t>is  </a:t>
            </a:r>
            <a:r>
              <a:rPr lang="en-US" sz="1600" b="1" dirty="0">
                <a:latin typeface="Arial" pitchFamily="34" charset="0"/>
                <a:cs typeface="Arial" pitchFamily="34" charset="0"/>
              </a:rPr>
              <a:t>with the bread manufacturer or purchaser.</a:t>
            </a:r>
          </a:p>
        </p:txBody>
      </p:sp>
    </p:spTree>
    <p:extLst>
      <p:ext uri="{BB962C8B-B14F-4D97-AF65-F5344CB8AC3E}">
        <p14:creationId xmlns:p14="http://schemas.microsoft.com/office/powerpoint/2010/main" val="26707012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9" name="TextBox 8"/>
          <p:cNvSpPr txBox="1"/>
          <p:nvPr/>
        </p:nvSpPr>
        <p:spPr>
          <a:xfrm>
            <a:off x="971600" y="1196752"/>
            <a:ext cx="7560840" cy="4278094"/>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sz="1700" b="1" dirty="0" smtClean="0">
                <a:latin typeface="Arial" pitchFamily="34" charset="0"/>
                <a:cs typeface="Arial" pitchFamily="34" charset="0"/>
              </a:rPr>
              <a:t>In </a:t>
            </a:r>
            <a:r>
              <a:rPr lang="en-US" sz="1700" b="1" dirty="0">
                <a:latin typeface="Arial" pitchFamily="34" charset="0"/>
                <a:cs typeface="Arial" pitchFamily="34" charset="0"/>
              </a:rPr>
              <a:t>a ‘Futures Contract’ both parties are obliged to honor the contract. </a:t>
            </a:r>
            <a:endParaRPr lang="en-US" sz="600" b="1" dirty="0">
              <a:latin typeface="Arial" pitchFamily="34" charset="0"/>
              <a:cs typeface="Arial" pitchFamily="34" charset="0"/>
            </a:endParaRPr>
          </a:p>
          <a:p>
            <a:pPr marL="465138" indent="-465138">
              <a:lnSpc>
                <a:spcPct val="200000"/>
              </a:lnSpc>
              <a:buFont typeface="Wingdings" pitchFamily="2" charset="2"/>
              <a:buChar char="q"/>
              <a:tabLst>
                <a:tab pos="465138" algn="l"/>
              </a:tabLst>
            </a:pPr>
            <a:r>
              <a:rPr lang="en-US" sz="1700" b="1" dirty="0">
                <a:latin typeface="Arial" pitchFamily="34" charset="0"/>
                <a:cs typeface="Arial" pitchFamily="34" charset="0"/>
              </a:rPr>
              <a:t>In an ‘Options Contract’ one of the parties is given the privilege to exit the option on settlement date and the party has to oblige</a:t>
            </a:r>
            <a:r>
              <a:rPr lang="en-US" sz="1700" b="1" dirty="0" smtClean="0">
                <a:latin typeface="Arial" pitchFamily="34" charset="0"/>
                <a:cs typeface="Arial" pitchFamily="34" charset="0"/>
              </a:rPr>
              <a:t>.</a:t>
            </a:r>
            <a:endParaRPr lang="en-US" sz="600" b="1" dirty="0">
              <a:latin typeface="Arial" pitchFamily="34" charset="0"/>
              <a:cs typeface="Arial" pitchFamily="34" charset="0"/>
            </a:endParaRPr>
          </a:p>
          <a:p>
            <a:pPr marL="922338" lvl="1" indent="-465138">
              <a:lnSpc>
                <a:spcPct val="200000"/>
              </a:lnSpc>
              <a:buFont typeface="Wingdings" pitchFamily="2" charset="2"/>
              <a:buChar char="q"/>
              <a:tabLst>
                <a:tab pos="465138" algn="l"/>
              </a:tabLst>
            </a:pPr>
            <a:r>
              <a:rPr lang="en-US" sz="1700" b="1" dirty="0">
                <a:latin typeface="Arial" pitchFamily="34" charset="0"/>
                <a:cs typeface="Arial" pitchFamily="34" charset="0"/>
              </a:rPr>
              <a:t>In a ‘Put’ option this privilege is given to the seller (in our example - the farmer</a:t>
            </a:r>
            <a:r>
              <a:rPr lang="en-US" sz="1700" b="1" dirty="0" smtClean="0">
                <a:latin typeface="Arial" pitchFamily="34" charset="0"/>
                <a:cs typeface="Arial" pitchFamily="34" charset="0"/>
              </a:rPr>
              <a:t>)</a:t>
            </a:r>
            <a:endParaRPr lang="en-US" sz="600" b="1" dirty="0">
              <a:latin typeface="Arial" pitchFamily="34" charset="0"/>
              <a:cs typeface="Arial" pitchFamily="34" charset="0"/>
            </a:endParaRPr>
          </a:p>
          <a:p>
            <a:pPr marL="922338" lvl="1" indent="-465138">
              <a:lnSpc>
                <a:spcPct val="200000"/>
              </a:lnSpc>
              <a:buFont typeface="Wingdings" pitchFamily="2" charset="2"/>
              <a:buChar char="q"/>
              <a:tabLst>
                <a:tab pos="465138" algn="l"/>
              </a:tabLst>
            </a:pPr>
            <a:r>
              <a:rPr lang="en-US" sz="1700" b="1" dirty="0">
                <a:latin typeface="Arial" pitchFamily="34" charset="0"/>
                <a:cs typeface="Arial" pitchFamily="34" charset="0"/>
              </a:rPr>
              <a:t>In a ‘Call’ option this privilege is given to the buyer (in our example - the bread manufacturer)</a:t>
            </a:r>
          </a:p>
        </p:txBody>
      </p:sp>
      <p:sp>
        <p:nvSpPr>
          <p:cNvPr id="10" name="TextBox 9"/>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CALL OPTION</a:t>
            </a:r>
          </a:p>
        </p:txBody>
      </p:sp>
      <p:sp>
        <p:nvSpPr>
          <p:cNvPr id="5" name="TextBox 4"/>
          <p:cNvSpPr txBox="1"/>
          <p:nvPr/>
        </p:nvSpPr>
        <p:spPr>
          <a:xfrm>
            <a:off x="899592" y="908720"/>
            <a:ext cx="7560840" cy="456535"/>
          </a:xfrm>
          <a:prstGeom prst="rect">
            <a:avLst/>
          </a:prstGeom>
          <a:noFill/>
        </p:spPr>
        <p:txBody>
          <a:bodyPr wrap="square" rtlCol="0">
            <a:spAutoFit/>
          </a:bodyPr>
          <a:lstStyle/>
          <a:p>
            <a:pPr algn="ctr">
              <a:lnSpc>
                <a:spcPct val="150000"/>
              </a:lnSpc>
            </a:pPr>
            <a:r>
              <a:rPr lang="en-US" b="1" dirty="0">
                <a:latin typeface="Arial" pitchFamily="34" charset="0"/>
                <a:cs typeface="Arial" pitchFamily="34" charset="0"/>
              </a:rPr>
              <a:t>To Sum Up</a:t>
            </a:r>
          </a:p>
        </p:txBody>
      </p:sp>
    </p:spTree>
    <p:extLst>
      <p:ext uri="{BB962C8B-B14F-4D97-AF65-F5344CB8AC3E}">
        <p14:creationId xmlns:p14="http://schemas.microsoft.com/office/powerpoint/2010/main" val="26044596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CALL OPTION</a:t>
            </a:r>
          </a:p>
        </p:txBody>
      </p:sp>
      <p:sp>
        <p:nvSpPr>
          <p:cNvPr id="5" name="TextBox 4"/>
          <p:cNvSpPr txBox="1"/>
          <p:nvPr/>
        </p:nvSpPr>
        <p:spPr>
          <a:xfrm>
            <a:off x="755576" y="1196752"/>
            <a:ext cx="7560840" cy="2585323"/>
          </a:xfrm>
          <a:prstGeom prst="rect">
            <a:avLst/>
          </a:prstGeom>
          <a:noFill/>
        </p:spPr>
        <p:txBody>
          <a:bodyPr wrap="square" rtlCol="0">
            <a:spAutoFit/>
          </a:bodyPr>
          <a:lstStyle/>
          <a:p>
            <a:pPr>
              <a:lnSpc>
                <a:spcPct val="150000"/>
              </a:lnSpc>
              <a:buFontTx/>
              <a:buNone/>
            </a:pPr>
            <a:r>
              <a:rPr lang="en-US" b="1" dirty="0">
                <a:latin typeface="Arial" pitchFamily="34" charset="0"/>
                <a:cs typeface="Arial" pitchFamily="34" charset="0"/>
              </a:rPr>
              <a:t>Please do let me know if I have managed to clear </a:t>
            </a:r>
            <a:r>
              <a:rPr lang="en-US" b="1" dirty="0" smtClean="0">
                <a:latin typeface="Arial" pitchFamily="34" charset="0"/>
                <a:cs typeface="Arial" pitchFamily="34" charset="0"/>
              </a:rPr>
              <a:t>the</a:t>
            </a:r>
            <a:br>
              <a:rPr lang="en-US" b="1" dirty="0" smtClean="0">
                <a:latin typeface="Arial" pitchFamily="34" charset="0"/>
                <a:cs typeface="Arial" pitchFamily="34" charset="0"/>
              </a:rPr>
            </a:br>
            <a:r>
              <a:rPr lang="en-US" b="1" dirty="0" smtClean="0">
                <a:latin typeface="Arial" pitchFamily="34" charset="0"/>
                <a:cs typeface="Arial" pitchFamily="34" charset="0"/>
              </a:rPr>
              <a:t>concepts of </a:t>
            </a:r>
            <a:r>
              <a:rPr lang="en-US" b="1" dirty="0">
                <a:latin typeface="Arial" pitchFamily="34" charset="0"/>
                <a:cs typeface="Arial" pitchFamily="34" charset="0"/>
              </a:rPr>
              <a:t>‘Call Option’ as well as the difference </a:t>
            </a:r>
            <a:r>
              <a:rPr lang="en-US" b="1" dirty="0" smtClean="0">
                <a:latin typeface="Arial" pitchFamily="34" charset="0"/>
                <a:cs typeface="Arial" pitchFamily="34" charset="0"/>
              </a:rPr>
              <a:t>between </a:t>
            </a:r>
            <a:br>
              <a:rPr lang="en-US" b="1" dirty="0" smtClean="0">
                <a:latin typeface="Arial" pitchFamily="34" charset="0"/>
                <a:cs typeface="Arial" pitchFamily="34" charset="0"/>
              </a:rPr>
            </a:br>
            <a:r>
              <a:rPr lang="en-US" b="1" dirty="0" smtClean="0">
                <a:latin typeface="Arial" pitchFamily="34" charset="0"/>
                <a:cs typeface="Arial" pitchFamily="34" charset="0"/>
              </a:rPr>
              <a:t>‘</a:t>
            </a:r>
            <a:r>
              <a:rPr lang="en-US" b="1" dirty="0">
                <a:latin typeface="Arial" pitchFamily="34" charset="0"/>
                <a:cs typeface="Arial" pitchFamily="34" charset="0"/>
              </a:rPr>
              <a:t>Call’ &amp; ‘Put’ Options. </a:t>
            </a:r>
            <a:br>
              <a:rPr lang="en-US" b="1" dirty="0">
                <a:latin typeface="Arial" pitchFamily="34" charset="0"/>
                <a:cs typeface="Arial" pitchFamily="34" charset="0"/>
              </a:rPr>
            </a:br>
            <a:r>
              <a:rPr lang="en-US" b="1" dirty="0">
                <a:latin typeface="Arial" pitchFamily="34" charset="0"/>
                <a:cs typeface="Arial" pitchFamily="34" charset="0"/>
              </a:rPr>
              <a:t/>
            </a:r>
            <a:br>
              <a:rPr lang="en-US" b="1" dirty="0">
                <a:latin typeface="Arial" pitchFamily="34" charset="0"/>
                <a:cs typeface="Arial" pitchFamily="34" charset="0"/>
              </a:rPr>
            </a:br>
            <a:r>
              <a:rPr lang="en-US" b="1" dirty="0">
                <a:latin typeface="Arial" pitchFamily="34" charset="0"/>
                <a:cs typeface="Arial" pitchFamily="34" charset="0"/>
              </a:rPr>
              <a:t>Your feedback is very important as it helps me plan </a:t>
            </a:r>
            <a:r>
              <a:rPr lang="en-US" b="1" dirty="0" smtClean="0">
                <a:latin typeface="Arial" pitchFamily="34" charset="0"/>
                <a:cs typeface="Arial" pitchFamily="34" charset="0"/>
              </a:rPr>
              <a:t>my</a:t>
            </a:r>
            <a:br>
              <a:rPr lang="en-US" b="1" dirty="0" smtClean="0">
                <a:latin typeface="Arial" pitchFamily="34" charset="0"/>
                <a:cs typeface="Arial" pitchFamily="34" charset="0"/>
              </a:rPr>
            </a:br>
            <a:r>
              <a:rPr lang="en-US" b="1" dirty="0" smtClean="0">
                <a:latin typeface="Arial" pitchFamily="34" charset="0"/>
                <a:cs typeface="Arial" pitchFamily="34" charset="0"/>
              </a:rPr>
              <a:t>future </a:t>
            </a:r>
            <a:r>
              <a:rPr lang="en-US" b="1" dirty="0">
                <a:latin typeface="Arial" pitchFamily="34" charset="0"/>
                <a:cs typeface="Arial" pitchFamily="34" charset="0"/>
              </a:rPr>
              <a:t>lessons. </a:t>
            </a:r>
          </a:p>
        </p:txBody>
      </p:sp>
    </p:spTree>
    <p:extLst>
      <p:ext uri="{BB962C8B-B14F-4D97-AF65-F5344CB8AC3E}">
        <p14:creationId xmlns:p14="http://schemas.microsoft.com/office/powerpoint/2010/main" val="1572091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536959" y="1268760"/>
            <a:ext cx="3024336" cy="1338828"/>
          </a:xfrm>
          <a:prstGeom prst="rect">
            <a:avLst/>
          </a:prstGeom>
          <a:noFill/>
        </p:spPr>
        <p:txBody>
          <a:bodyPr wrap="square" rtlCol="0">
            <a:spAutoFit/>
          </a:bodyPr>
          <a:lstStyle/>
          <a:p>
            <a:pPr>
              <a:lnSpc>
                <a:spcPct val="150000"/>
              </a:lnSpc>
              <a:spcBef>
                <a:spcPct val="20000"/>
              </a:spcBef>
            </a:pPr>
            <a:r>
              <a:rPr lang="en-US" b="1" dirty="0">
                <a:latin typeface="Arial" pitchFamily="34" charset="0"/>
                <a:cs typeface="Arial" pitchFamily="34" charset="0"/>
              </a:rPr>
              <a:t>Hence please give your feedback at</a:t>
            </a:r>
            <a:r>
              <a:rPr lang="en-US" dirty="0">
                <a:solidFill>
                  <a:schemeClr val="bg1"/>
                </a:solidFill>
                <a:latin typeface="Garamond" pitchFamily="18" charset="0"/>
              </a:rPr>
              <a:t> </a:t>
            </a:r>
            <a:r>
              <a:rPr lang="en-US" b="1" dirty="0" smtClean="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1545</TotalTime>
  <Words>921</Words>
  <Application>Microsoft Office PowerPoint</Application>
  <PresentationFormat>On-screen Show (4:3)</PresentationFormat>
  <Paragraphs>56</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Garamond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 Crasto</cp:lastModifiedBy>
  <cp:revision>173</cp:revision>
  <dcterms:created xsi:type="dcterms:W3CDTF">2013-10-22T09:41:31Z</dcterms:created>
  <dcterms:modified xsi:type="dcterms:W3CDTF">2014-09-26T08:34:21Z</dcterms:modified>
</cp:coreProperties>
</file>