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58" r:id="rId3"/>
    <p:sldId id="473" r:id="rId4"/>
    <p:sldId id="416" r:id="rId5"/>
    <p:sldId id="485" r:id="rId6"/>
    <p:sldId id="486" r:id="rId7"/>
    <p:sldId id="487" r:id="rId8"/>
    <p:sldId id="488" r:id="rId9"/>
    <p:sldId id="489" r:id="rId10"/>
    <p:sldId id="469" r:id="rId11"/>
    <p:sldId id="475" r:id="rId12"/>
    <p:sldId id="287"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img.en25.com/Web/StandardPoorsRatings/Sov_Default_2011.pdf"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57496"/>
            <a:ext cx="4392488" cy="253916"/>
          </a:xfrm>
          <a:prstGeom prst="rect">
            <a:avLst/>
          </a:prstGeom>
          <a:noFill/>
        </p:spPr>
        <p:txBody>
          <a:bodyPr wrap="square" rtlCol="0">
            <a:spAutoFit/>
          </a:bodyPr>
          <a:lstStyle/>
          <a:p>
            <a:pPr algn="ctr"/>
            <a:r>
              <a:rPr lang="en-US" sz="1050" b="1" dirty="0" smtClean="0">
                <a:solidFill>
                  <a:schemeClr val="bg1"/>
                </a:solidFill>
                <a:latin typeface="Arial" pitchFamily="34" charset="0"/>
                <a:cs typeface="Arial" pitchFamily="34" charset="0"/>
              </a:rPr>
              <a:t>STANDARD AND POOR’S CRITERIA FOR SOVEREIGN RATINGS</a:t>
            </a:r>
            <a:endParaRPr lang="en-US" sz="105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85852" y="1643050"/>
            <a:ext cx="3643338"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a:t>
            </a: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Standard </a:t>
            </a:r>
            <a:r>
              <a:rPr lang="en-US" b="1" dirty="0" smtClean="0">
                <a:latin typeface="Arial" pitchFamily="34" charset="0"/>
                <a:cs typeface="Arial" pitchFamily="34" charset="0"/>
              </a:rPr>
              <a:t>and Poor’s Criteria for Sovereign Ratings</a:t>
            </a:r>
            <a:endParaRPr lang="en-US" b="1" baseline="70000"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86314" y="2143116"/>
            <a:ext cx="3786214" cy="4154984"/>
          </a:xfrm>
          <a:prstGeom prst="rect">
            <a:avLst/>
          </a:prstGeom>
        </p:spPr>
        <p:txBody>
          <a:bodyPr wrap="square">
            <a:spAutoFit/>
          </a:bodyPr>
          <a:lstStyle/>
          <a:p>
            <a:pPr>
              <a:lnSpc>
                <a:spcPct val="150000"/>
              </a:lnSpc>
            </a:pPr>
            <a:r>
              <a:rPr lang="en-US" sz="1600" b="1" dirty="0" smtClean="0">
                <a:latin typeface="Arial" pitchFamily="34" charset="0"/>
                <a:cs typeface="Arial" pitchFamily="34" charset="0"/>
              </a:rPr>
              <a:t>The current crisis in Europe has brought into the spotlight sovereign creditworthiness and </a:t>
            </a:r>
            <a:r>
              <a:rPr lang="en-US" sz="1600" b="1" dirty="0" smtClean="0">
                <a:latin typeface="Arial" pitchFamily="34" charset="0"/>
                <a:cs typeface="Arial" pitchFamily="34" charset="0"/>
              </a:rPr>
              <a:t>highlighted</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the </a:t>
            </a:r>
            <a:r>
              <a:rPr lang="en-US" sz="1600" b="1" dirty="0" smtClean="0">
                <a:latin typeface="Arial" pitchFamily="34" charset="0"/>
                <a:cs typeface="Arial" pitchFamily="34" charset="0"/>
              </a:rPr>
              <a:t>ongoing task of credit ratings agencies in assessing this issue. Sovereign government bonds are issued globally and it is imperative that investors have globally recognized and consistent benchmarks to guide their investment decisions.</a:t>
            </a:r>
            <a:endParaRPr lang="en-US" sz="1600"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597712" cy="29495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There are 3 major credit rating agencies known as Moody's, Standard and Poor's(S&amp;P) and Fitch</a:t>
            </a:r>
            <a:r>
              <a:rPr lang="en-US" b="1" dirty="0" smtClean="0">
                <a:latin typeface="Arial" pitchFamily="34" charset="0"/>
                <a:cs typeface="Arial" pitchFamily="34" charset="0"/>
              </a:rPr>
              <a: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They account for 90% of the market. The focus will be on Standard &amp; Poor's to explain their criteria on sovereign ratings.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list of the criteria is as follows:-</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643866" cy="3000821"/>
          </a:xfrm>
          <a:prstGeom prst="rect">
            <a:avLst/>
          </a:prstGeom>
        </p:spPr>
        <p:txBody>
          <a:bodyPr wrap="square">
            <a:spAutoFit/>
          </a:bodyPr>
          <a:lstStyle/>
          <a:p>
            <a:pPr marL="365125" indent="-365125">
              <a:lnSpc>
                <a:spcPct val="150000"/>
              </a:lnSpc>
              <a:tabLst>
                <a:tab pos="365125" algn="l"/>
              </a:tabLst>
            </a:pPr>
            <a:r>
              <a:rPr lang="en-US" b="1" dirty="0" smtClean="0">
                <a:latin typeface="Arial" pitchFamily="34" charset="0"/>
                <a:cs typeface="Arial" pitchFamily="34" charset="0"/>
              </a:rPr>
              <a:t>1</a:t>
            </a:r>
            <a:r>
              <a:rPr lang="en-US" b="1" dirty="0" smtClean="0">
                <a:latin typeface="Arial" pitchFamily="34" charset="0"/>
                <a:cs typeface="Arial" pitchFamily="34" charset="0"/>
              </a:rPr>
              <a:t>)	Institutional </a:t>
            </a:r>
            <a:r>
              <a:rPr lang="en-US" b="1" dirty="0" smtClean="0">
                <a:latin typeface="Arial" pitchFamily="34" charset="0"/>
                <a:cs typeface="Arial" pitchFamily="34" charset="0"/>
              </a:rPr>
              <a:t>Effectiveness and Political Risks: If the judiciary, the executive and the legislature along with scores of other institutions such as CAG, Election Commission, Police, and Defense etc. are robust. Political risk is a reflection of government stability that indicates whether the government is enjoying reasonable confidence in both the Houses of Parliament and whether it is expected to last its complete term.</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072362" cy="1703030"/>
          </a:xfrm>
          <a:prstGeom prst="rect">
            <a:avLst/>
          </a:prstGeom>
        </p:spPr>
        <p:txBody>
          <a:bodyPr wrap="square">
            <a:spAutoFit/>
          </a:bodyPr>
          <a:lstStyle/>
          <a:p>
            <a:pPr marL="365125" indent="-365125">
              <a:lnSpc>
                <a:spcPct val="150000"/>
              </a:lnSpc>
              <a:tabLst>
                <a:tab pos="365125" algn="l"/>
              </a:tabLst>
            </a:pPr>
            <a:r>
              <a:rPr lang="en-US" b="1" dirty="0" smtClean="0">
                <a:latin typeface="Arial" pitchFamily="34" charset="0"/>
                <a:cs typeface="Arial" pitchFamily="34" charset="0"/>
              </a:rPr>
              <a:t>2</a:t>
            </a:r>
            <a:r>
              <a:rPr lang="en-US" b="1" dirty="0" smtClean="0">
                <a:latin typeface="Arial" pitchFamily="34" charset="0"/>
                <a:cs typeface="Arial" pitchFamily="34" charset="0"/>
              </a:rPr>
              <a:t>)	Economic </a:t>
            </a:r>
            <a:r>
              <a:rPr lang="en-US" b="1" dirty="0" smtClean="0">
                <a:latin typeface="Arial" pitchFamily="34" charset="0"/>
                <a:cs typeface="Arial" pitchFamily="34" charset="0"/>
              </a:rPr>
              <a:t>Structure and Growth Prospects: This looks at economic growth and future potential. It may also analyze the debt to GDP ratio </a:t>
            </a:r>
            <a:r>
              <a:rPr lang="en-US" b="1" dirty="0" smtClean="0">
                <a:latin typeface="Arial" pitchFamily="34" charset="0"/>
                <a:cs typeface="Arial" pitchFamily="34" charset="0"/>
              </a:rPr>
              <a:t>and several </a:t>
            </a:r>
            <a:r>
              <a:rPr lang="en-US" b="1" dirty="0" smtClean="0">
                <a:latin typeface="Arial" pitchFamily="34" charset="0"/>
                <a:cs typeface="Arial" pitchFamily="34" charset="0"/>
              </a:rPr>
              <a:t>other financial ratios to arrive at the health of the economy.</a:t>
            </a:r>
            <a:endParaRPr lang="en-US" b="1"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1754326"/>
          </a:xfrm>
          <a:prstGeom prst="rect">
            <a:avLst/>
          </a:prstGeom>
        </p:spPr>
        <p:txBody>
          <a:bodyPr wrap="square">
            <a:spAutoFit/>
          </a:bodyPr>
          <a:lstStyle/>
          <a:p>
            <a:pPr marL="365125" indent="-365125">
              <a:lnSpc>
                <a:spcPct val="150000"/>
              </a:lnSpc>
              <a:tabLst>
                <a:tab pos="365125" algn="l"/>
              </a:tabLst>
            </a:pPr>
            <a:r>
              <a:rPr lang="en-US" b="1" dirty="0" smtClean="0">
                <a:latin typeface="Arial" pitchFamily="34" charset="0"/>
                <a:cs typeface="Arial" pitchFamily="34" charset="0"/>
              </a:rPr>
              <a:t>3</a:t>
            </a:r>
            <a:r>
              <a:rPr lang="en-US" b="1" dirty="0" smtClean="0">
                <a:latin typeface="Arial" pitchFamily="34" charset="0"/>
                <a:cs typeface="Arial" pitchFamily="34" charset="0"/>
              </a:rPr>
              <a:t>)	External </a:t>
            </a:r>
            <a:r>
              <a:rPr lang="en-US" b="1" dirty="0" smtClean="0">
                <a:latin typeface="Arial" pitchFamily="34" charset="0"/>
                <a:cs typeface="Arial" pitchFamily="34" charset="0"/>
              </a:rPr>
              <a:t>Liquidity and Internal Investment Position: The focal point is whether FIIs are considering India as a good destination for </a:t>
            </a:r>
            <a:r>
              <a:rPr lang="en-US" b="1" dirty="0" smtClean="0">
                <a:latin typeface="Arial" pitchFamily="34" charset="0"/>
                <a:cs typeface="Arial" pitchFamily="34" charset="0"/>
              </a:rPr>
              <a:t>investment, whether </a:t>
            </a:r>
            <a:r>
              <a:rPr lang="en-US" b="1" dirty="0" smtClean="0">
                <a:latin typeface="Arial" pitchFamily="34" charset="0"/>
                <a:cs typeface="Arial" pitchFamily="34" charset="0"/>
              </a:rPr>
              <a:t>FDI money is coming in and whether the domestic investment scenario is good.</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1703030"/>
          </a:xfrm>
          <a:prstGeom prst="rect">
            <a:avLst/>
          </a:prstGeom>
        </p:spPr>
        <p:txBody>
          <a:bodyPr wrap="square">
            <a:spAutoFit/>
          </a:bodyPr>
          <a:lstStyle/>
          <a:p>
            <a:pPr marL="365125" indent="-365125">
              <a:lnSpc>
                <a:spcPct val="150000"/>
              </a:lnSpc>
              <a:tabLst>
                <a:tab pos="365125" algn="l"/>
              </a:tabLst>
            </a:pPr>
            <a:r>
              <a:rPr lang="en-US" b="1" dirty="0" smtClean="0">
                <a:latin typeface="Arial" pitchFamily="34" charset="0"/>
                <a:cs typeface="Arial" pitchFamily="34" charset="0"/>
              </a:rPr>
              <a:t>4)	Fiscal </a:t>
            </a:r>
            <a:r>
              <a:rPr lang="en-US" b="1" dirty="0" smtClean="0">
                <a:latin typeface="Arial" pitchFamily="34" charset="0"/>
                <a:cs typeface="Arial" pitchFamily="34" charset="0"/>
              </a:rPr>
              <a:t>Performance and Flexibility: This focuses on if the fiscal deficit is under control, whether budgetary management is professional, and if </a:t>
            </a:r>
            <a:r>
              <a:rPr lang="en-US" b="1" dirty="0" smtClean="0">
                <a:latin typeface="Arial" pitchFamily="34" charset="0"/>
                <a:cs typeface="Arial" pitchFamily="34" charset="0"/>
              </a:rPr>
              <a:t>the aid </a:t>
            </a:r>
            <a:r>
              <a:rPr lang="en-US" b="1" dirty="0" smtClean="0">
                <a:latin typeface="Arial" pitchFamily="34" charset="0"/>
                <a:cs typeface="Arial" pitchFamily="34" charset="0"/>
              </a:rPr>
              <a:t>being offered by the government has any basis or not.</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1703030"/>
          </a:xfrm>
          <a:prstGeom prst="rect">
            <a:avLst/>
          </a:prstGeom>
        </p:spPr>
        <p:txBody>
          <a:bodyPr wrap="square">
            <a:spAutoFit/>
          </a:bodyPr>
          <a:lstStyle/>
          <a:p>
            <a:pPr marL="365125" indent="-365125">
              <a:lnSpc>
                <a:spcPct val="150000"/>
              </a:lnSpc>
              <a:tabLst>
                <a:tab pos="365125" algn="l"/>
              </a:tabLst>
            </a:pPr>
            <a:r>
              <a:rPr lang="en-US" b="1" dirty="0" smtClean="0">
                <a:latin typeface="Arial" pitchFamily="34" charset="0"/>
                <a:cs typeface="Arial" pitchFamily="34" charset="0"/>
              </a:rPr>
              <a:t>5</a:t>
            </a:r>
            <a:r>
              <a:rPr lang="en-US" b="1" dirty="0" smtClean="0">
                <a:latin typeface="Arial" pitchFamily="34" charset="0"/>
                <a:cs typeface="Arial" pitchFamily="34" charset="0"/>
              </a:rPr>
              <a:t>)	Monetary </a:t>
            </a:r>
            <a:r>
              <a:rPr lang="en-US" b="1" dirty="0" smtClean="0">
                <a:latin typeface="Arial" pitchFamily="34" charset="0"/>
                <a:cs typeface="Arial" pitchFamily="34" charset="0"/>
              </a:rPr>
              <a:t>Flexibility: If the RBI is robust in its </a:t>
            </a:r>
            <a:r>
              <a:rPr lang="en-US" b="1" dirty="0" smtClean="0">
                <a:latin typeface="Arial" pitchFamily="34" charset="0"/>
                <a:cs typeface="Arial" pitchFamily="34" charset="0"/>
              </a:rPr>
              <a:t>performance,</a:t>
            </a:r>
            <a:br>
              <a:rPr lang="en-US" b="1" dirty="0" smtClean="0">
                <a:latin typeface="Arial" pitchFamily="34" charset="0"/>
                <a:cs typeface="Arial" pitchFamily="34" charset="0"/>
              </a:rPr>
            </a:br>
            <a:r>
              <a:rPr lang="en-US" b="1" dirty="0" smtClean="0">
                <a:latin typeface="Arial" pitchFamily="34" charset="0"/>
                <a:cs typeface="Arial" pitchFamily="34" charset="0"/>
              </a:rPr>
              <a:t>if </a:t>
            </a:r>
            <a:r>
              <a:rPr lang="en-US" b="1" dirty="0" smtClean="0">
                <a:latin typeface="Arial" pitchFamily="34" charset="0"/>
                <a:cs typeface="Arial" pitchFamily="34" charset="0"/>
              </a:rPr>
              <a:t>it regulates money supply according to the need, whether inflation is being </a:t>
            </a:r>
            <a:r>
              <a:rPr lang="en-US" b="1" dirty="0" smtClean="0">
                <a:latin typeface="Arial" pitchFamily="34" charset="0"/>
                <a:cs typeface="Arial" pitchFamily="34" charset="0"/>
              </a:rPr>
              <a:t>kept under </a:t>
            </a:r>
            <a:r>
              <a:rPr lang="en-US" b="1" dirty="0" smtClean="0">
                <a:latin typeface="Arial" pitchFamily="34" charset="0"/>
                <a:cs typeface="Arial" pitchFamily="34" charset="0"/>
              </a:rPr>
              <a:t>check, and what the expectations are going forward.</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Rectangle 6"/>
          <p:cNvSpPr/>
          <p:nvPr/>
        </p:nvSpPr>
        <p:spPr>
          <a:xfrm>
            <a:off x="785786" y="1125222"/>
            <a:ext cx="7572428" cy="1221104"/>
          </a:xfrm>
          <a:prstGeom prst="rect">
            <a:avLst/>
          </a:prstGeom>
        </p:spPr>
        <p:txBody>
          <a:bodyPr wrap="square">
            <a:spAutoFit/>
          </a:bodyPr>
          <a:lstStyle/>
          <a:p>
            <a:pPr>
              <a:lnSpc>
                <a:spcPct val="150000"/>
              </a:lnSpc>
            </a:pPr>
            <a:r>
              <a:rPr lang="en-US" sz="1700" b="1" dirty="0" smtClean="0">
                <a:latin typeface="Arial" pitchFamily="34" charset="0"/>
                <a:cs typeface="Arial" pitchFamily="34" charset="0"/>
              </a:rPr>
              <a:t>Source: Understanding Ratings: Standard &amp; Poor's Rating Services</a:t>
            </a:r>
          </a:p>
          <a:p>
            <a:pPr>
              <a:lnSpc>
                <a:spcPct val="150000"/>
              </a:lnSpc>
            </a:pPr>
            <a:endParaRPr lang="en-US" sz="1700" b="1" dirty="0" smtClean="0">
              <a:latin typeface="Arial" pitchFamily="34" charset="0"/>
              <a:cs typeface="Arial" pitchFamily="34" charset="0"/>
            </a:endParaRPr>
          </a:p>
          <a:p>
            <a:pPr>
              <a:lnSpc>
                <a:spcPct val="150000"/>
              </a:lnSpc>
            </a:pPr>
            <a:r>
              <a:rPr lang="en-US" sz="1700" b="1" dirty="0" smtClean="0">
                <a:latin typeface="Arial" pitchFamily="34" charset="0"/>
                <a:cs typeface="Arial" pitchFamily="34" charset="0"/>
                <a:hlinkClick r:id="rId3"/>
              </a:rPr>
              <a:t>http://</a:t>
            </a:r>
            <a:r>
              <a:rPr lang="en-US" sz="1700" b="1" dirty="0" smtClean="0">
                <a:latin typeface="Arial" pitchFamily="34" charset="0"/>
                <a:cs typeface="Arial" pitchFamily="34" charset="0"/>
                <a:hlinkClick r:id="rId3"/>
              </a:rPr>
              <a:t>img.en25.com/Web/StandardPoorsRatings/Sov_Default_2011.pdf</a:t>
            </a:r>
            <a:endParaRPr lang="en-US" sz="1700"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45518" y="1427088"/>
            <a:ext cx="4083936" cy="1287532"/>
          </a:xfrm>
          <a:prstGeom prst="rect">
            <a:avLst/>
          </a:prstGeom>
        </p:spPr>
        <p:txBody>
          <a:bodyPr wrap="square">
            <a:spAutoFit/>
          </a:bodyPr>
          <a:lstStyle/>
          <a:p>
            <a:pPr algn="ctr">
              <a:lnSpc>
                <a:spcPct val="150000"/>
              </a:lnSpc>
              <a:buFont typeface="Arial" charset="0"/>
              <a:buNone/>
            </a:pPr>
            <a:r>
              <a:rPr lang="en-US" b="1" dirty="0" smtClean="0">
                <a:latin typeface="Arial" pitchFamily="34" charset="0"/>
                <a:cs typeface="Arial" pitchFamily="34" charset="0"/>
              </a:rPr>
              <a:t>Hope you have understood Standard and Poor’s criteria for sovereign ratings</a:t>
            </a: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STANDARD AND POOR’S CRITERIA FOR SOVEREIGN RATINGS</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927433"/>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 </a:t>
            </a:r>
          </a:p>
          <a:p>
            <a:pPr marL="342900" indent="-342900" algn="ctr">
              <a:lnSpc>
                <a:spcPct val="15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3441</TotalTime>
  <Words>358</Words>
  <Application>Microsoft Office PowerPoint</Application>
  <PresentationFormat>On-screen Show (4:3)</PresentationFormat>
  <Paragraphs>33</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473</cp:revision>
  <dcterms:created xsi:type="dcterms:W3CDTF">2013-10-22T09:41:31Z</dcterms:created>
  <dcterms:modified xsi:type="dcterms:W3CDTF">2014-03-08T21:38:12Z</dcterms:modified>
</cp:coreProperties>
</file>