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58" r:id="rId3"/>
    <p:sldId id="353" r:id="rId4"/>
    <p:sldId id="318" r:id="rId5"/>
    <p:sldId id="334" r:id="rId6"/>
    <p:sldId id="335" r:id="rId7"/>
    <p:sldId id="346" r:id="rId8"/>
    <p:sldId id="360" r:id="rId9"/>
    <p:sldId id="347" r:id="rId10"/>
    <p:sldId id="355" r:id="rId11"/>
    <p:sldId id="287" r:id="rId12"/>
    <p:sldId id="2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59632" y="2417113"/>
            <a:ext cx="3600400" cy="50783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 </a:t>
            </a:r>
            <a:r>
              <a:rPr lang="en-US" b="1" dirty="0" smtClean="0">
                <a:latin typeface="Arial" pitchFamily="34" charset="0"/>
                <a:cs typeface="Arial" pitchFamily="34" charset="0"/>
              </a:rPr>
              <a:t>Understanding Bottom </a:t>
            </a:r>
            <a:r>
              <a:rPr lang="en-US" b="1" dirty="0">
                <a:latin typeface="Arial" pitchFamily="34" charset="0"/>
                <a:cs typeface="Arial" pitchFamily="34" charset="0"/>
              </a:rPr>
              <a:t>Fishing</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005064"/>
            <a:ext cx="3888432" cy="2169825"/>
          </a:xfrm>
          <a:prstGeom prst="rect">
            <a:avLst/>
          </a:prstGeom>
        </p:spPr>
        <p:txBody>
          <a:bodyPr wrap="square">
            <a:spAutoFit/>
          </a:bodyPr>
          <a:lstStyle/>
          <a:p>
            <a:pPr>
              <a:lnSpc>
                <a:spcPct val="150000"/>
              </a:lnSpc>
              <a:defRPr/>
            </a:pPr>
            <a:r>
              <a:rPr lang="en-US" b="1" dirty="0">
                <a:latin typeface="Arial" pitchFamily="34" charset="0"/>
                <a:cs typeface="Arial" pitchFamily="34" charset="0"/>
              </a:rPr>
              <a:t>There was a man named Raj who was taking a stroll when he came across a bunch of </a:t>
            </a:r>
            <a:r>
              <a:rPr lang="en-US" b="1" smtClean="0">
                <a:latin typeface="Arial" pitchFamily="34" charset="0"/>
                <a:cs typeface="Arial" pitchFamily="34" charset="0"/>
              </a:rPr>
              <a:t>ragpickers.</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They </a:t>
            </a:r>
            <a:r>
              <a:rPr lang="en-US" b="1" dirty="0">
                <a:latin typeface="Arial" pitchFamily="34" charset="0"/>
                <a:cs typeface="Arial" pitchFamily="34" charset="0"/>
              </a:rPr>
              <a:t>were scanning </a:t>
            </a:r>
            <a:r>
              <a:rPr lang="en-US" b="1" dirty="0" smtClean="0">
                <a:latin typeface="Arial" pitchFamily="34" charset="0"/>
                <a:cs typeface="Arial" pitchFamily="34" charset="0"/>
              </a:rPr>
              <a:t>through</a:t>
            </a:r>
            <a:br>
              <a:rPr lang="en-US" b="1" dirty="0" smtClean="0">
                <a:latin typeface="Arial" pitchFamily="34" charset="0"/>
                <a:cs typeface="Arial" pitchFamily="34" charset="0"/>
              </a:rPr>
            </a:br>
            <a:r>
              <a:rPr lang="en-US" b="1" dirty="0" smtClean="0">
                <a:latin typeface="Arial" pitchFamily="34" charset="0"/>
                <a:cs typeface="Arial" pitchFamily="34" charset="0"/>
              </a:rPr>
              <a:t>piles </a:t>
            </a:r>
            <a:r>
              <a:rPr lang="en-US" b="1" dirty="0">
                <a:latin typeface="Arial" pitchFamily="34" charset="0"/>
                <a:cs typeface="Arial" pitchFamily="34" charset="0"/>
              </a:rPr>
              <a:t>of garbage and waste.</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026004" cy="1754326"/>
          </a:xfrm>
          <a:prstGeom prst="rect">
            <a:avLst/>
          </a:prstGeom>
          <a:noFill/>
        </p:spPr>
        <p:txBody>
          <a:bodyPr wrap="square" rtlCol="0">
            <a:spAutoFit/>
          </a:bodyPr>
          <a:lstStyle/>
          <a:p>
            <a:pPr>
              <a:lnSpc>
                <a:spcPct val="150000"/>
              </a:lnSpc>
              <a:defRPr/>
            </a:pPr>
            <a:r>
              <a:rPr lang="en-US" b="1" dirty="0">
                <a:latin typeface="Arial" pitchFamily="34" charset="0"/>
                <a:cs typeface="Arial" pitchFamily="34" charset="0"/>
              </a:rPr>
              <a:t>He realized they were searching for valuable stuff that sometimes accidently makes their way into the </a:t>
            </a:r>
            <a:r>
              <a:rPr lang="en-US" b="1" dirty="0" smtClean="0">
                <a:latin typeface="Arial" pitchFamily="34" charset="0"/>
                <a:cs typeface="Arial" pitchFamily="34" charset="0"/>
              </a:rPr>
              <a:t>garbage.</a:t>
            </a:r>
            <a:br>
              <a:rPr lang="en-US" b="1" dirty="0" smtClean="0">
                <a:latin typeface="Arial" pitchFamily="34" charset="0"/>
                <a:cs typeface="Arial" pitchFamily="34" charset="0"/>
              </a:rPr>
            </a:br>
            <a:r>
              <a:rPr lang="en-US" b="1" dirty="0" smtClean="0">
                <a:latin typeface="Arial" pitchFamily="34" charset="0"/>
                <a:cs typeface="Arial" pitchFamily="34" charset="0"/>
              </a:rPr>
              <a:t>This </a:t>
            </a:r>
            <a:r>
              <a:rPr lang="en-US" b="1" dirty="0">
                <a:latin typeface="Arial" pitchFamily="34" charset="0"/>
                <a:cs typeface="Arial" pitchFamily="34" charset="0"/>
              </a:rPr>
              <a:t>practice of the </a:t>
            </a:r>
            <a:r>
              <a:rPr lang="en-US" b="1" dirty="0" err="1">
                <a:latin typeface="Arial" pitchFamily="34" charset="0"/>
                <a:cs typeface="Arial" pitchFamily="34" charset="0"/>
              </a:rPr>
              <a:t>ragpickers</a:t>
            </a:r>
            <a:r>
              <a:rPr lang="en-US" b="1" dirty="0">
                <a:latin typeface="Arial" pitchFamily="34" charset="0"/>
                <a:cs typeface="Arial" pitchFamily="34" charset="0"/>
              </a:rPr>
              <a:t> reminded him of a term in investing known as “Bottom Fishing”.</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6912768" cy="2169825"/>
          </a:xfrm>
          <a:prstGeom prst="rect">
            <a:avLst/>
          </a:prstGeom>
        </p:spPr>
        <p:txBody>
          <a:bodyPr wrap="square">
            <a:spAutoFit/>
          </a:bodyPr>
          <a:lstStyle/>
          <a:p>
            <a:pPr>
              <a:lnSpc>
                <a:spcPct val="150000"/>
              </a:lnSpc>
              <a:defRPr/>
            </a:pPr>
            <a:r>
              <a:rPr lang="en-US" b="1" dirty="0">
                <a:latin typeface="Arial" pitchFamily="34" charset="0"/>
                <a:cs typeface="Arial" pitchFamily="34" charset="0"/>
              </a:rPr>
              <a:t>If we look at the stock market, the stock market's health is largely dependent upon “NEWS” flow reflecting the state of the macro-economic environment. In other words, a good macro-economic environment leading to good and positive “NEWS” flow improves “sentiments” of investors.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73266" cy="3416320"/>
          </a:xfrm>
          <a:prstGeom prst="rect">
            <a:avLst/>
          </a:prstGeom>
        </p:spPr>
        <p:txBody>
          <a:bodyPr wrap="square">
            <a:spAutoFit/>
          </a:bodyPr>
          <a:lstStyle/>
          <a:p>
            <a:pPr>
              <a:lnSpc>
                <a:spcPct val="150000"/>
              </a:lnSpc>
              <a:defRPr/>
            </a:pPr>
            <a:r>
              <a:rPr lang="en-US" b="1" dirty="0">
                <a:latin typeface="Arial" pitchFamily="34" charset="0"/>
                <a:cs typeface="Arial" pitchFamily="34" charset="0"/>
              </a:rPr>
              <a:t>No investor would like to invest </a:t>
            </a:r>
            <a:r>
              <a:rPr lang="en-US" b="1" dirty="0" smtClean="0">
                <a:latin typeface="Arial" pitchFamily="34" charset="0"/>
                <a:cs typeface="Arial" pitchFamily="34" charset="0"/>
              </a:rPr>
              <a:t>when the </a:t>
            </a:r>
            <a:r>
              <a:rPr lang="en-US" b="1" dirty="0">
                <a:latin typeface="Arial" pitchFamily="34" charset="0"/>
                <a:cs typeface="Arial" pitchFamily="34" charset="0"/>
              </a:rPr>
              <a:t>economic environment is not conducive because the risks of investing in adverse conditions are rather high.</a:t>
            </a:r>
          </a:p>
          <a:p>
            <a:pPr>
              <a:lnSpc>
                <a:spcPct val="150000"/>
              </a:lnSpc>
              <a:defRPr/>
            </a:pPr>
            <a:endParaRPr lang="en-US" b="1" dirty="0">
              <a:latin typeface="Arial" pitchFamily="34" charset="0"/>
              <a:cs typeface="Arial" pitchFamily="34" charset="0"/>
            </a:endParaRPr>
          </a:p>
          <a:p>
            <a:pPr>
              <a:lnSpc>
                <a:spcPct val="150000"/>
              </a:lnSpc>
              <a:defRPr/>
            </a:pPr>
            <a:r>
              <a:rPr lang="en-US" b="1" dirty="0">
                <a:latin typeface="Arial" pitchFamily="34" charset="0"/>
                <a:cs typeface="Arial" pitchFamily="34" charset="0"/>
              </a:rPr>
              <a:t>Let's say a country which had favorable political conditions, suddenly finds itself in the throes of terrorism. Under such circumstances the stock market plummets to a level that is commonly referred to as the “bottom”.</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585323"/>
          </a:xfrm>
          <a:prstGeom prst="rect">
            <a:avLst/>
          </a:prstGeom>
        </p:spPr>
        <p:txBody>
          <a:bodyPr wrap="square">
            <a:spAutoFit/>
          </a:bodyPr>
          <a:lstStyle/>
          <a:p>
            <a:pPr>
              <a:lnSpc>
                <a:spcPct val="150000"/>
              </a:lnSpc>
              <a:defRPr/>
            </a:pPr>
            <a:r>
              <a:rPr lang="en-US" b="1" dirty="0">
                <a:latin typeface="Arial" pitchFamily="34" charset="0"/>
                <a:cs typeface="Arial" pitchFamily="34" charset="0"/>
              </a:rPr>
              <a:t>At such times, the stock prices of perfectly healthy and robust companies also tend to test the bottom.</a:t>
            </a:r>
          </a:p>
          <a:p>
            <a:pPr>
              <a:lnSpc>
                <a:spcPct val="150000"/>
              </a:lnSpc>
              <a:defRPr/>
            </a:pPr>
            <a:endParaRPr lang="en-US" b="1" dirty="0">
              <a:latin typeface="Arial" pitchFamily="34" charset="0"/>
              <a:cs typeface="Arial" pitchFamily="34" charset="0"/>
            </a:endParaRPr>
          </a:p>
          <a:p>
            <a:pPr>
              <a:lnSpc>
                <a:spcPct val="150000"/>
              </a:lnSpc>
              <a:defRPr/>
            </a:pPr>
            <a:r>
              <a:rPr lang="en-US" b="1" dirty="0">
                <a:latin typeface="Arial" pitchFamily="34" charset="0"/>
                <a:cs typeface="Arial" pitchFamily="34" charset="0"/>
              </a:rPr>
              <a:t>The sentiments are so discouraging that everything is viewed from the same “pessimistic” lens and all companies good and bad get painted by the same “gloomy and gray” brush.</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extLst>
      <p:ext uri="{BB962C8B-B14F-4D97-AF65-F5344CB8AC3E}">
        <p14:creationId xmlns:p14="http://schemas.microsoft.com/office/powerpoint/2010/main" xmlns="" val="341728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6" name="Rectangle 5"/>
          <p:cNvSpPr/>
          <p:nvPr/>
        </p:nvSpPr>
        <p:spPr>
          <a:xfrm>
            <a:off x="2915816" y="1052736"/>
            <a:ext cx="4176464" cy="2005934"/>
          </a:xfrm>
          <a:prstGeom prst="rect">
            <a:avLst/>
          </a:prstGeom>
        </p:spPr>
        <p:txBody>
          <a:bodyPr wrap="square">
            <a:spAutoFit/>
          </a:bodyPr>
          <a:lstStyle/>
          <a:p>
            <a:pPr>
              <a:lnSpc>
                <a:spcPct val="150000"/>
              </a:lnSpc>
              <a:defRPr/>
            </a:pPr>
            <a:r>
              <a:rPr lang="en-US" sz="1700" b="1" dirty="0">
                <a:latin typeface="Arial" pitchFamily="34" charset="0"/>
                <a:cs typeface="Arial" pitchFamily="34" charset="0"/>
              </a:rPr>
              <a:t>However, such are times that present the best opportunities to astute investors. There are opportunities to identify stocks that are quoting at prices below their intrinsic values.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extLst>
      <p:ext uri="{BB962C8B-B14F-4D97-AF65-F5344CB8AC3E}">
        <p14:creationId xmlns:p14="http://schemas.microsoft.com/office/powerpoint/2010/main" xmlns="" val="5942471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585323"/>
          </a:xfrm>
          <a:prstGeom prst="rect">
            <a:avLst/>
          </a:prstGeom>
        </p:spPr>
        <p:txBody>
          <a:bodyPr wrap="square">
            <a:spAutoFit/>
          </a:bodyPr>
          <a:lstStyle/>
          <a:p>
            <a:pPr>
              <a:lnSpc>
                <a:spcPct val="150000"/>
              </a:lnSpc>
              <a:defRPr/>
            </a:pPr>
            <a:r>
              <a:rPr lang="en-US" b="1" dirty="0">
                <a:latin typeface="Arial" pitchFamily="34" charset="0"/>
                <a:cs typeface="Arial" pitchFamily="34" charset="0"/>
              </a:rPr>
              <a:t>Such under-valued stocks can yield handsome returns when the negativity in the macro-economic environment alleviates.</a:t>
            </a:r>
          </a:p>
          <a:p>
            <a:pPr>
              <a:lnSpc>
                <a:spcPct val="150000"/>
              </a:lnSpc>
              <a:defRPr/>
            </a:pPr>
            <a:endParaRPr lang="en-US" b="1" dirty="0">
              <a:latin typeface="Arial" pitchFamily="34" charset="0"/>
              <a:cs typeface="Arial" pitchFamily="34" charset="0"/>
            </a:endParaRPr>
          </a:p>
          <a:p>
            <a:pPr>
              <a:lnSpc>
                <a:spcPct val="150000"/>
              </a:lnSpc>
              <a:defRPr/>
            </a:pPr>
            <a:r>
              <a:rPr lang="en-US" b="1" dirty="0">
                <a:latin typeface="Arial" pitchFamily="34" charset="0"/>
                <a:cs typeface="Arial" pitchFamily="34" charset="0"/>
              </a:rPr>
              <a:t>Identifying such valuable stocks in what is popularly known as “Bottom Fishing” which translates to “fishing for good companies when the markets bottom out.”</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extLst>
      <p:ext uri="{BB962C8B-B14F-4D97-AF65-F5344CB8AC3E}">
        <p14:creationId xmlns:p14="http://schemas.microsoft.com/office/powerpoint/2010/main" xmlns="" val="11638178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826476"/>
            <a:ext cx="3816424" cy="1338828"/>
          </a:xfrm>
          <a:prstGeom prst="rect">
            <a:avLst/>
          </a:prstGeom>
        </p:spPr>
        <p:txBody>
          <a:bodyPr wrap="square">
            <a:spAutoFit/>
          </a:bodyPr>
          <a:lstStyle/>
          <a:p>
            <a:pPr>
              <a:lnSpc>
                <a:spcPct val="150000"/>
              </a:lnSpc>
            </a:pPr>
            <a:r>
              <a:rPr lang="en-US" b="1" dirty="0">
                <a:latin typeface="Arial" pitchFamily="34" charset="0"/>
                <a:cs typeface="Arial" pitchFamily="34" charset="0"/>
              </a:rPr>
              <a:t>Hope this lesson has helped you in understanding the term Bottom Fishing</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BOTTOM FISHING</a:t>
            </a:r>
          </a:p>
        </p:txBody>
      </p:sp>
    </p:spTree>
    <p:extLst>
      <p:ext uri="{BB962C8B-B14F-4D97-AF65-F5344CB8AC3E}">
        <p14:creationId xmlns:p14="http://schemas.microsoft.com/office/powerpoint/2010/main" xmlns="" val="26834514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187624" y="1988840"/>
            <a:ext cx="3744416"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1928</TotalTime>
  <Words>501</Words>
  <Application>Microsoft Office PowerPoint</Application>
  <PresentationFormat>On-screen Show (4:3)</PresentationFormat>
  <Paragraphs>30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230</cp:revision>
  <dcterms:created xsi:type="dcterms:W3CDTF">2013-10-22T09:41:31Z</dcterms:created>
  <dcterms:modified xsi:type="dcterms:W3CDTF">2014-09-18T10:21:16Z</dcterms:modified>
</cp:coreProperties>
</file>