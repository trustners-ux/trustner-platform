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358" r:id="rId3"/>
    <p:sldId id="473" r:id="rId4"/>
    <p:sldId id="475" r:id="rId5"/>
    <p:sldId id="416" r:id="rId6"/>
    <p:sldId id="418" r:id="rId7"/>
    <p:sldId id="469" r:id="rId8"/>
    <p:sldId id="456" r:id="rId9"/>
    <p:sldId id="470" r:id="rId10"/>
    <p:sldId id="484" r:id="rId11"/>
    <p:sldId id="457" r:id="rId12"/>
    <p:sldId id="471" r:id="rId13"/>
    <p:sldId id="448" r:id="rId14"/>
    <p:sldId id="474" r:id="rId15"/>
    <p:sldId id="476" r:id="rId16"/>
    <p:sldId id="477" r:id="rId17"/>
    <p:sldId id="465" r:id="rId18"/>
    <p:sldId id="478" r:id="rId19"/>
    <p:sldId id="479" r:id="rId20"/>
    <p:sldId id="480" r:id="rId21"/>
    <p:sldId id="481" r:id="rId22"/>
    <p:sldId id="482" r:id="rId23"/>
    <p:sldId id="483" r:id="rId24"/>
    <p:sldId id="287" r:id="rId25"/>
    <p:sldId id="27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23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10/1/2014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10/1/2014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10/1/2014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10/1/2014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10/1/2014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9.gif"/></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9.gif"/></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857496"/>
            <a:ext cx="4392488" cy="276999"/>
          </a:xfrm>
          <a:prstGeom prst="rect">
            <a:avLst/>
          </a:prstGeom>
          <a:noFill/>
        </p:spPr>
        <p:txBody>
          <a:bodyPr wrap="square" rtlCol="0">
            <a:spAutoFit/>
          </a:bodyPr>
          <a:lstStyle/>
          <a:p>
            <a:pPr algn="ctr"/>
            <a:r>
              <a:rPr lang="en-US" sz="1200" b="1" dirty="0" smtClean="0">
                <a:solidFill>
                  <a:schemeClr val="bg1"/>
                </a:solidFill>
                <a:latin typeface="Arial" pitchFamily="34" charset="0"/>
                <a:cs typeface="Arial" pitchFamily="34" charset="0"/>
              </a:rPr>
              <a:t>MONEY SUPPLY EXPANSION AND  RUN ON A BANK</a:t>
            </a:r>
            <a:endParaRPr lang="en-US" sz="12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85852" y="1428736"/>
            <a:ext cx="3643338" cy="1613519"/>
          </a:xfrm>
          <a:prstGeom prst="rect">
            <a:avLst/>
          </a:prstGeom>
          <a:noFill/>
        </p:spPr>
        <p:txBody>
          <a:bodyPr wrap="square" rtlCol="0">
            <a:spAutoFit/>
          </a:bodyPr>
          <a:lstStyle/>
          <a:p>
            <a:pPr>
              <a:lnSpc>
                <a:spcPct val="150000"/>
              </a:lnSpc>
            </a:pPr>
            <a:r>
              <a:rPr lang="en-US" sz="1700" b="1" dirty="0" smtClean="0">
                <a:latin typeface="Arial" pitchFamily="34" charset="0"/>
                <a:cs typeface="Arial" pitchFamily="34" charset="0"/>
              </a:rPr>
              <a:t>Understanding ‘Money Supply Expansion” and “Run on a Bank” (New Version) </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  By Prof. </a:t>
            </a:r>
            <a:r>
              <a:rPr lang="en-US" sz="1700" b="1" i="1" dirty="0" smtClean="0">
                <a:latin typeface="Arial" pitchFamily="34" charset="0"/>
                <a:cs typeface="Arial" pitchFamily="34" charset="0"/>
              </a:rPr>
              <a:t>Simply</a:t>
            </a:r>
            <a:r>
              <a:rPr lang="en-US" sz="1700" b="1" dirty="0" smtClean="0">
                <a:latin typeface="Arial" pitchFamily="34" charset="0"/>
                <a:cs typeface="Arial" pitchFamily="34" charset="0"/>
              </a:rPr>
              <a:t> Simple </a:t>
            </a:r>
            <a:r>
              <a:rPr lang="en-US" sz="1700" b="1" baseline="70000" dirty="0" smtClean="0">
                <a:latin typeface="Arial" pitchFamily="34" charset="0"/>
                <a:cs typeface="Arial" pitchFamily="34" charset="0"/>
              </a:rPr>
              <a:t>TM</a:t>
            </a:r>
            <a:endParaRPr lang="en-US" sz="1700" b="1"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643438" y="2857496"/>
            <a:ext cx="3714776" cy="337534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Sometime back, I had covered a lesson on the working of the ‘Money Supply’.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this lesson we’ll try to explore another angle of the same concept as well as understand the concept, “Run on a Bank”.</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059832" y="1043151"/>
            <a:ext cx="3909046" cy="211852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 the earlier lesson, we saw that an increase in money supply should be done with an objective to benefit the economy as a whole. </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7597712" cy="212885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printing notes is not the best method to increase the supply of money in the economy as it fuels inflation.</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However banks also have the power to ‘create’ money by their lending activities.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142984"/>
            <a:ext cx="7500990" cy="45653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As always, let’s take an example to understand this better…</a:t>
            </a:r>
            <a:endParaRPr lang="en-US" b="1" dirty="0">
              <a:latin typeface="Arial" pitchFamily="34" charset="0"/>
              <a:cs typeface="Arial" pitchFamily="34" charset="0"/>
            </a:endParaRPr>
          </a:p>
        </p:txBody>
      </p:sp>
      <p:pic>
        <p:nvPicPr>
          <p:cNvPr id="5" name="Picture 34" descr="Farmer"/>
          <p:cNvPicPr>
            <a:picLocks noChangeAspect="1" noChangeArrowheads="1" noCrop="1"/>
          </p:cNvPicPr>
          <p:nvPr/>
        </p:nvPicPr>
        <p:blipFill>
          <a:blip r:embed="rId3"/>
          <a:srcRect/>
          <a:stretch>
            <a:fillRect/>
          </a:stretch>
        </p:blipFill>
        <p:spPr bwMode="auto">
          <a:xfrm>
            <a:off x="2500298" y="1724635"/>
            <a:ext cx="4064756" cy="3776067"/>
          </a:xfrm>
          <a:prstGeom prst="rect">
            <a:avLst/>
          </a:prstGeom>
          <a:noFill/>
          <a:effectLst>
            <a:outerShdw blurRad="127000" dir="13500000" sx="106000" sy="106000" kx="1200000" algn="br" rotWithShape="0">
              <a:prstClr val="black">
                <a:alpha val="20000"/>
              </a:prstClr>
            </a:outerShdw>
          </a:effectLst>
        </p:spPr>
      </p:pic>
      <p:sp>
        <p:nvSpPr>
          <p:cNvPr id="7" name="Rectangle 6"/>
          <p:cNvSpPr/>
          <p:nvPr/>
        </p:nvSpPr>
        <p:spPr>
          <a:xfrm>
            <a:off x="2214546" y="5500702"/>
            <a:ext cx="6143668" cy="45653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Say there is a farmer called Mr. Manure…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7" name="Rectangle 6"/>
          <p:cNvSpPr/>
          <p:nvPr/>
        </p:nvSpPr>
        <p:spPr>
          <a:xfrm>
            <a:off x="785786" y="1125222"/>
            <a:ext cx="7286676"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Suppose he deposits </a:t>
            </a:r>
            <a:r>
              <a:rPr lang="en-US" b="1" dirty="0" smtClean="0">
                <a:latin typeface="Rupee" pitchFamily="2" charset="0"/>
                <a:cs typeface="Arial" pitchFamily="34" charset="0"/>
              </a:rPr>
              <a:t>`</a:t>
            </a:r>
            <a:r>
              <a:rPr lang="en-US" b="1" dirty="0" smtClean="0">
                <a:latin typeface="Arial" pitchFamily="34" charset="0"/>
                <a:cs typeface="Arial" pitchFamily="34" charset="0"/>
              </a:rPr>
              <a:t>100 in his savings bank account.</a:t>
            </a:r>
            <a:br>
              <a:rPr lang="en-US" b="1" dirty="0" smtClean="0">
                <a:latin typeface="Arial" pitchFamily="34" charset="0"/>
                <a:cs typeface="Arial" pitchFamily="34" charset="0"/>
              </a:rPr>
            </a:br>
            <a:r>
              <a:rPr lang="en-US" b="1" dirty="0" smtClean="0">
                <a:latin typeface="Arial" pitchFamily="34" charset="0"/>
                <a:cs typeface="Arial" pitchFamily="34" charset="0"/>
              </a:rPr>
              <a:t>His savings bank account will reflect the </a:t>
            </a:r>
            <a:r>
              <a:rPr lang="en-US" b="1" dirty="0" smtClean="0">
                <a:latin typeface="Rupee" pitchFamily="2" charset="0"/>
                <a:cs typeface="Arial" pitchFamily="34" charset="0"/>
              </a:rPr>
              <a:t>`</a:t>
            </a:r>
            <a:r>
              <a:rPr lang="en-US" b="1" dirty="0" smtClean="0">
                <a:latin typeface="Arial" pitchFamily="34" charset="0"/>
                <a:cs typeface="Arial" pitchFamily="34" charset="0"/>
              </a:rPr>
              <a:t>100 as deposit.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Although Mr. Manure does not physically have the money with him after depositing </a:t>
            </a:r>
            <a:r>
              <a:rPr lang="en-US" b="1" dirty="0" smtClean="0">
                <a:latin typeface="Rupee" pitchFamily="2" charset="0"/>
                <a:cs typeface="Arial" pitchFamily="34" charset="0"/>
              </a:rPr>
              <a:t>`</a:t>
            </a:r>
            <a:r>
              <a:rPr lang="en-US" b="1" dirty="0" smtClean="0">
                <a:latin typeface="Arial" pitchFamily="34" charset="0"/>
                <a:cs typeface="Arial" pitchFamily="34" charset="0"/>
              </a:rPr>
              <a:t>100 in the bank, it still constitutes a part of the money supply because he still has the right to withdraw and spend it.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6" name="Rectangle 5"/>
          <p:cNvSpPr/>
          <p:nvPr/>
        </p:nvSpPr>
        <p:spPr>
          <a:xfrm>
            <a:off x="714348" y="1116627"/>
            <a:ext cx="7358114" cy="341632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Now, what is his bank going to do with the money he has deposited?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It is surely NOT going to keep the </a:t>
            </a:r>
            <a:r>
              <a:rPr lang="en-US" b="1" dirty="0" smtClean="0">
                <a:latin typeface="Rupee" pitchFamily="2" charset="0"/>
                <a:cs typeface="Arial" pitchFamily="34" charset="0"/>
              </a:rPr>
              <a:t>`</a:t>
            </a:r>
            <a:r>
              <a:rPr lang="en-US" b="1" dirty="0" smtClean="0">
                <a:latin typeface="Arial" pitchFamily="34" charset="0"/>
                <a:cs typeface="Arial" pitchFamily="34" charset="0"/>
              </a:rPr>
              <a:t>100 with itself till the time </a:t>
            </a:r>
          </a:p>
          <a:p>
            <a:pPr>
              <a:lnSpc>
                <a:spcPct val="150000"/>
              </a:lnSpc>
            </a:pPr>
            <a:r>
              <a:rPr lang="en-US" b="1" dirty="0" smtClean="0">
                <a:latin typeface="Arial" pitchFamily="34" charset="0"/>
                <a:cs typeface="Arial" pitchFamily="34" charset="0"/>
              </a:rPr>
              <a:t>Mr. Manure came back to claim it.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If it were to do that then his money, instead of earning interest in the bank, would actually depreciate.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7" name="Rectangle 6"/>
          <p:cNvSpPr/>
          <p:nvPr/>
        </p:nvSpPr>
        <p:spPr>
          <a:xfrm>
            <a:off x="571472" y="1142984"/>
            <a:ext cx="7929618" cy="254435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Now suppose the bank maintains a reserve of 10%, then it will keep `10 with itself and lend </a:t>
            </a:r>
            <a:r>
              <a:rPr lang="en-US" b="1" dirty="0" smtClean="0">
                <a:latin typeface="Rupee" pitchFamily="2" charset="0"/>
                <a:cs typeface="Arial" pitchFamily="34" charset="0"/>
              </a:rPr>
              <a:t>`</a:t>
            </a:r>
            <a:r>
              <a:rPr lang="en-US" b="1" dirty="0" smtClean="0">
                <a:latin typeface="Arial" pitchFamily="34" charset="0"/>
                <a:cs typeface="Arial" pitchFamily="34" charset="0"/>
              </a:rPr>
              <a:t>90 to someone else who is in need.</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borrower, Mr. Spender can either take the loan of </a:t>
            </a:r>
            <a:r>
              <a:rPr lang="en-US" b="1" dirty="0" smtClean="0">
                <a:latin typeface="Rupee" pitchFamily="2" charset="0"/>
                <a:cs typeface="Arial" pitchFamily="34" charset="0"/>
              </a:rPr>
              <a:t>`</a:t>
            </a:r>
            <a:r>
              <a:rPr lang="en-US" b="1" dirty="0" smtClean="0">
                <a:latin typeface="Arial" pitchFamily="34" charset="0"/>
                <a:cs typeface="Arial" pitchFamily="34" charset="0"/>
              </a:rPr>
              <a:t>90 and utilize it for value creation like funding his working capital or use it to invest in some asset.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7" name="Rectangle 6"/>
          <p:cNvSpPr/>
          <p:nvPr/>
        </p:nvSpPr>
        <p:spPr>
          <a:xfrm>
            <a:off x="571472" y="1142984"/>
            <a:ext cx="7929618" cy="1703030"/>
          </a:xfrm>
          <a:prstGeom prst="rect">
            <a:avLst/>
          </a:prstGeom>
        </p:spPr>
        <p:txBody>
          <a:bodyPr wrap="square">
            <a:spAutoFit/>
          </a:bodyPr>
          <a:lstStyle/>
          <a:p>
            <a:pPr>
              <a:lnSpc>
                <a:spcPct val="150000"/>
              </a:lnSpc>
            </a:pPr>
            <a:r>
              <a:rPr lang="en-US" altLang="en-US" b="1" dirty="0" smtClean="0">
                <a:latin typeface="Arial" pitchFamily="34" charset="0"/>
                <a:cs typeface="Arial" pitchFamily="34" charset="0"/>
              </a:rPr>
              <a:t>Remember </a:t>
            </a:r>
            <a:r>
              <a:rPr lang="en-US" altLang="en-US" b="1" dirty="0">
                <a:latin typeface="Arial" pitchFamily="34" charset="0"/>
                <a:cs typeface="Arial" pitchFamily="34" charset="0"/>
              </a:rPr>
              <a:t>that all this while the lending of `90 by the bank, in no way, would lead to a reduction of </a:t>
            </a:r>
            <a:r>
              <a:rPr lang="en-US" altLang="en-US" b="1" dirty="0" smtClean="0">
                <a:latin typeface="Arial" pitchFamily="34" charset="0"/>
                <a:cs typeface="Arial" pitchFamily="34" charset="0"/>
              </a:rPr>
              <a:t>`</a:t>
            </a:r>
            <a:r>
              <a:rPr lang="en-US" altLang="en-US" b="1" dirty="0">
                <a:latin typeface="Arial" pitchFamily="34" charset="0"/>
                <a:cs typeface="Arial" pitchFamily="34" charset="0"/>
              </a:rPr>
              <a:t>90 from Mr. </a:t>
            </a:r>
            <a:r>
              <a:rPr lang="en-US" altLang="en-US" b="1" dirty="0">
                <a:latin typeface="Arial" pitchFamily="34" charset="0"/>
                <a:cs typeface="Arial" pitchFamily="34" charset="0"/>
              </a:rPr>
              <a:t>Manure’s deposit as technically Mr. Manure can withdraw this amount if he needs it. </a:t>
            </a:r>
          </a:p>
          <a:p>
            <a:pPr>
              <a:lnSpc>
                <a:spcPct val="150000"/>
              </a:lnSpc>
            </a:pPr>
            <a:endParaRPr lang="en-US" b="1" dirty="0">
              <a:latin typeface="Arial" pitchFamily="34" charset="0"/>
              <a:cs typeface="Arial" pitchFamily="34" charset="0"/>
            </a:endParaRPr>
          </a:p>
        </p:txBody>
      </p:sp>
    </p:spTree>
    <p:extLst>
      <p:ext uri="{BB962C8B-B14F-4D97-AF65-F5344CB8AC3E}">
        <p14:creationId xmlns:p14="http://schemas.microsoft.com/office/powerpoint/2010/main" val="42330203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8" name="Rectangle 7"/>
          <p:cNvSpPr/>
          <p:nvPr/>
        </p:nvSpPr>
        <p:spPr>
          <a:xfrm>
            <a:off x="642910" y="1214422"/>
            <a:ext cx="7215238" cy="254435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Now let’s say Mr. Spender makes a payment out of the borrowed money for buying an asset. The seller (Mr. </a:t>
            </a:r>
            <a:r>
              <a:rPr lang="en-US" b="1" dirty="0" err="1" smtClean="0">
                <a:latin typeface="Arial" pitchFamily="34" charset="0"/>
                <a:cs typeface="Arial" pitchFamily="34" charset="0"/>
              </a:rPr>
              <a:t>Selar</a:t>
            </a:r>
            <a:r>
              <a:rPr lang="en-US" b="1" dirty="0" smtClean="0">
                <a:latin typeface="Arial" pitchFamily="34" charset="0"/>
                <a:cs typeface="Arial" pitchFamily="34" charset="0"/>
              </a:rPr>
              <a:t>) of the asset in turn would deposit the </a:t>
            </a:r>
            <a:r>
              <a:rPr lang="en-US" b="1" dirty="0" smtClean="0">
                <a:latin typeface="Rupee" pitchFamily="2" charset="0"/>
                <a:cs typeface="Arial" pitchFamily="34" charset="0"/>
              </a:rPr>
              <a:t>`</a:t>
            </a:r>
            <a:r>
              <a:rPr lang="en-US" b="1" dirty="0" smtClean="0">
                <a:latin typeface="Arial" pitchFamily="34" charset="0"/>
                <a:cs typeface="Arial" pitchFamily="34" charset="0"/>
              </a:rPr>
              <a:t>90 in his bank which would hold back 10% (</a:t>
            </a:r>
            <a:r>
              <a:rPr lang="en-US" b="1" dirty="0" smtClean="0">
                <a:latin typeface="Rupee" pitchFamily="2" charset="0"/>
                <a:cs typeface="Arial" pitchFamily="34" charset="0"/>
              </a:rPr>
              <a:t>`</a:t>
            </a:r>
            <a:r>
              <a:rPr lang="en-US" b="1" dirty="0" smtClean="0">
                <a:latin typeface="Arial" pitchFamily="34" charset="0"/>
                <a:cs typeface="Arial" pitchFamily="34" charset="0"/>
              </a:rPr>
              <a:t> 9) in the bank and lend the balance </a:t>
            </a:r>
            <a:r>
              <a:rPr lang="en-US" b="1" dirty="0" smtClean="0">
                <a:latin typeface="Rupee" pitchFamily="2" charset="0"/>
                <a:cs typeface="Arial" pitchFamily="34" charset="0"/>
              </a:rPr>
              <a:t>`</a:t>
            </a:r>
            <a:r>
              <a:rPr lang="en-US" b="1" dirty="0" smtClean="0">
                <a:latin typeface="Arial" pitchFamily="34" charset="0"/>
                <a:cs typeface="Arial" pitchFamily="34" charset="0"/>
              </a:rPr>
              <a:t>81 to another borrower and so on and so forth the cycle repeats itself as shown in the next slide.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7" name="Rectangle 6"/>
          <p:cNvSpPr/>
          <p:nvPr/>
        </p:nvSpPr>
        <p:spPr>
          <a:xfrm>
            <a:off x="785786" y="1000108"/>
            <a:ext cx="7500990" cy="456535"/>
          </a:xfrm>
          <a:prstGeom prst="rect">
            <a:avLst/>
          </a:prstGeom>
        </p:spPr>
        <p:txBody>
          <a:bodyPr wrap="square">
            <a:spAutoFit/>
          </a:bodyPr>
          <a:lstStyle/>
          <a:p>
            <a:pPr algn="ctr">
              <a:lnSpc>
                <a:spcPct val="150000"/>
              </a:lnSpc>
              <a:spcBef>
                <a:spcPct val="50000"/>
              </a:spcBef>
            </a:pPr>
            <a:r>
              <a:rPr lang="en-US" b="1" dirty="0" smtClean="0">
                <a:latin typeface="Arial" pitchFamily="34" charset="0"/>
                <a:cs typeface="Arial" pitchFamily="34" charset="0"/>
              </a:rPr>
              <a:t>So this is how money grows &amp; its supply increases…</a:t>
            </a:r>
            <a:endParaRPr lang="en-US" b="1" dirty="0">
              <a:latin typeface="Arial" pitchFamily="34" charset="0"/>
              <a:cs typeface="Arial" pitchFamily="34" charset="0"/>
            </a:endParaRPr>
          </a:p>
        </p:txBody>
      </p:sp>
      <p:pic>
        <p:nvPicPr>
          <p:cNvPr id="5" name="Picture 6" descr="bank-growing-money"/>
          <p:cNvPicPr>
            <a:picLocks noChangeAspect="1" noChangeArrowheads="1"/>
          </p:cNvPicPr>
          <p:nvPr/>
        </p:nvPicPr>
        <p:blipFill>
          <a:blip r:embed="rId3"/>
          <a:srcRect/>
          <a:stretch>
            <a:fillRect/>
          </a:stretch>
        </p:blipFill>
        <p:spPr bwMode="auto">
          <a:xfrm>
            <a:off x="1000100" y="1500174"/>
            <a:ext cx="6705600" cy="5029200"/>
          </a:xfrm>
          <a:prstGeom prst="rect">
            <a:avLst/>
          </a:prstGeom>
          <a:noFill/>
        </p:spPr>
      </p:pic>
      <p:pic>
        <p:nvPicPr>
          <p:cNvPr id="6" name="Picture 34" descr="Farmer"/>
          <p:cNvPicPr>
            <a:picLocks noChangeAspect="1" noChangeArrowheads="1" noCrop="1"/>
          </p:cNvPicPr>
          <p:nvPr/>
        </p:nvPicPr>
        <p:blipFill>
          <a:blip r:embed="rId4" cstate="print"/>
          <a:srcRect/>
          <a:stretch>
            <a:fillRect/>
          </a:stretch>
        </p:blipFill>
        <p:spPr bwMode="auto">
          <a:xfrm>
            <a:off x="1000100" y="1643050"/>
            <a:ext cx="1230394" cy="1143008"/>
          </a:xfrm>
          <a:prstGeom prst="rect">
            <a:avLst/>
          </a:prstGeom>
          <a:noFill/>
          <a:effectLst>
            <a:outerShdw blurRad="127000" dir="13500000" sx="106000" sy="106000" kx="1200000" algn="br" rotWithShape="0">
              <a:prstClr val="black">
                <a:alpha val="20000"/>
              </a:prstClr>
            </a:outerShdw>
          </a:effectLst>
        </p:spPr>
      </p:pic>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429552" cy="254435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All our banks keep part of the deposits as reserves for meeting the day-to-day redemption of other depositors and lend the remainder to their borrowers.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assumption being, “Not all depositors would demand their money at the same time”.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500990" cy="1338828"/>
          </a:xfrm>
          <a:prstGeom prst="rect">
            <a:avLst/>
          </a:prstGeom>
        </p:spPr>
        <p:txBody>
          <a:bodyPr wrap="square">
            <a:spAutoFit/>
          </a:bodyPr>
          <a:lstStyle/>
          <a:p>
            <a:pPr>
              <a:lnSpc>
                <a:spcPct val="150000"/>
              </a:lnSpc>
              <a:spcBef>
                <a:spcPct val="50000"/>
              </a:spcBef>
            </a:pPr>
            <a:r>
              <a:rPr lang="en-US" b="1" dirty="0" smtClean="0">
                <a:latin typeface="Arial" pitchFamily="34" charset="0"/>
                <a:cs typeface="Arial" pitchFamily="34" charset="0"/>
              </a:rPr>
              <a:t>Thus by expanding money supply as explained the bank is able to earn an interest and pass on a portion of the same to the depositor as interest income.</a:t>
            </a:r>
            <a:endParaRPr lang="en-US" b="1" dirty="0">
              <a:latin typeface="Arial" pitchFamily="34" charset="0"/>
              <a:cs typeface="Arial" pitchFamily="34" charset="0"/>
            </a:endParaRPr>
          </a:p>
        </p:txBody>
      </p:sp>
      <p:pic>
        <p:nvPicPr>
          <p:cNvPr id="5" name="Picture 6" descr="bank-income"/>
          <p:cNvPicPr>
            <a:picLocks noChangeAspect="1" noChangeArrowheads="1"/>
          </p:cNvPicPr>
          <p:nvPr/>
        </p:nvPicPr>
        <p:blipFill>
          <a:blip r:embed="rId3"/>
          <a:srcRect/>
          <a:stretch>
            <a:fillRect/>
          </a:stretch>
        </p:blipFill>
        <p:spPr bwMode="auto">
          <a:xfrm>
            <a:off x="2071670" y="2643182"/>
            <a:ext cx="4909457" cy="3682093"/>
          </a:xfrm>
          <a:prstGeom prst="rect">
            <a:avLst/>
          </a:prstGeom>
          <a:noFill/>
        </p:spPr>
      </p:pic>
      <p:pic>
        <p:nvPicPr>
          <p:cNvPr id="6" name="Picture 34" descr="Farmer"/>
          <p:cNvPicPr>
            <a:picLocks noChangeAspect="1" noChangeArrowheads="1" noCrop="1"/>
          </p:cNvPicPr>
          <p:nvPr/>
        </p:nvPicPr>
        <p:blipFill>
          <a:blip r:embed="rId4" cstate="print"/>
          <a:srcRect/>
          <a:stretch>
            <a:fillRect/>
          </a:stretch>
        </p:blipFill>
        <p:spPr bwMode="auto">
          <a:xfrm>
            <a:off x="1428728" y="4214818"/>
            <a:ext cx="1230394" cy="1143008"/>
          </a:xfrm>
          <a:prstGeom prst="rect">
            <a:avLst/>
          </a:prstGeom>
          <a:noFill/>
          <a:effectLst>
            <a:outerShdw blurRad="127000" dir="13500000" sx="106000" sy="106000" kx="1200000" algn="br" rotWithShape="0">
              <a:prstClr val="black">
                <a:alpha val="20000"/>
              </a:prstClr>
            </a:outerShdw>
          </a:effectLst>
        </p:spPr>
      </p:pic>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643866" cy="341632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Let’s get a better understanding of how bank’s meet the redemption demand even as they lend most of the deposited money.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It does this through the help of the 10% reserves that it holds from all depositors.</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aggregation of the 10% that it holds becomes a large enough reserve to fund some of the expected redemptions.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715304" cy="420634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Remember not all depositors break their deposits.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is the key principle that keeps the money supply engine chugging along.</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Hence this 10% Cash Reserve Ratio (or CRR as it is popularly known) is good enough to handle redemptions.</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Therefore the 90% that is given as loans to borrowers constitutes additional money supply for the economy.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572000" y="2500306"/>
            <a:ext cx="3857652" cy="383181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Thus the </a:t>
            </a:r>
            <a:r>
              <a:rPr lang="en-US" b="1" dirty="0" smtClean="0">
                <a:latin typeface="Rupee" pitchFamily="2" charset="0"/>
                <a:cs typeface="Arial" pitchFamily="34" charset="0"/>
              </a:rPr>
              <a:t>`</a:t>
            </a:r>
            <a:r>
              <a:rPr lang="en-US" b="1" dirty="0" smtClean="0">
                <a:latin typeface="Arial" pitchFamily="34" charset="0"/>
                <a:cs typeface="Arial" pitchFamily="34" charset="0"/>
              </a:rPr>
              <a:t>100 which was deposited with the bank created</a:t>
            </a:r>
            <a:br>
              <a:rPr lang="en-US" b="1" dirty="0" smtClean="0">
                <a:latin typeface="Arial" pitchFamily="34" charset="0"/>
                <a:cs typeface="Arial" pitchFamily="34" charset="0"/>
              </a:rPr>
            </a:br>
            <a:r>
              <a:rPr lang="en-US" b="1" dirty="0" smtClean="0">
                <a:latin typeface="Rupee" pitchFamily="2" charset="0"/>
                <a:cs typeface="Arial" pitchFamily="34" charset="0"/>
              </a:rPr>
              <a:t>` </a:t>
            </a:r>
            <a:r>
              <a:rPr lang="en-US" b="1" dirty="0" smtClean="0">
                <a:latin typeface="Arial" pitchFamily="34" charset="0"/>
                <a:cs typeface="Arial" pitchFamily="34" charset="0"/>
              </a:rPr>
              <a:t>190 for the economy at the first step and </a:t>
            </a:r>
            <a:r>
              <a:rPr lang="en-US" b="1" dirty="0" smtClean="0">
                <a:latin typeface="Rupee" pitchFamily="2" charset="0"/>
                <a:cs typeface="Arial" pitchFamily="34" charset="0"/>
              </a:rPr>
              <a:t>`</a:t>
            </a:r>
            <a:r>
              <a:rPr lang="en-US" b="1" dirty="0" smtClean="0">
                <a:latin typeface="Arial" pitchFamily="34" charset="0"/>
                <a:cs typeface="Arial" pitchFamily="34" charset="0"/>
              </a:rPr>
              <a:t> 271 (100 + 90 + 81) at the second step and so on and so forth.</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At a macro level, this causes the expansion of money supply.</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715304" cy="337534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in case there is negative news about overall economy like what we witnessed in the 2008 economic meltdown, it may happen that a disproportionately large number of depositors approach the bank all at once to withdraw their deposits.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At such times the bank can get into a fix by not having the requisite money for meeting the depositor’s demands. This is when we say, ”there is a run on the bank”.</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715304" cy="379084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 bank run (also known as a run on the bank) occurs when a large number of bank customers withdraw their deposits because they believe the bank is, or might become, insolvent.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As a bank run progresses, it generates its own momentum: as more people withdraw their deposits, the likelihood of default increases, and this encourages further withdrawals.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can destabilize the bank to the point where it faces bankruptcy!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
        <p:nvSpPr>
          <p:cNvPr id="8" name="Rectangle 7"/>
          <p:cNvSpPr/>
          <p:nvPr/>
        </p:nvSpPr>
        <p:spPr>
          <a:xfrm>
            <a:off x="571472" y="1142984"/>
            <a:ext cx="7429552" cy="341632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When a run comes, Mr. Manure’s bank must quickly increase its cash to meet depositors’ demands.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It does so primarily by selling assets, often hastily and at fire-sale prices.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As it holds little capital and is highly leveraged, losses on these sales can further hurt the health of the bank’s books of accounts.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143240" y="1345326"/>
            <a:ext cx="3909046" cy="129785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run on a bank has been captured very interestingly in pictorial form in the next slide.</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800px-War_of_wealth_bank_run_poster"/>
          <p:cNvPicPr>
            <a:picLocks noChangeAspect="1" noChangeArrowheads="1"/>
          </p:cNvPicPr>
          <p:nvPr/>
        </p:nvPicPr>
        <p:blipFill>
          <a:blip r:embed="rId2"/>
          <a:srcRect/>
          <a:stretch>
            <a:fillRect/>
          </a:stretch>
        </p:blipFill>
        <p:spPr bwMode="auto">
          <a:xfrm>
            <a:off x="0" y="14288"/>
            <a:ext cx="9144000" cy="6875462"/>
          </a:xfrm>
          <a:prstGeom prst="rect">
            <a:avLst/>
          </a:prstGeom>
          <a:noFill/>
        </p:spPr>
      </p:pic>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00496" y="4317880"/>
            <a:ext cx="4500594" cy="1754326"/>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this lesson has succeeded in further clarifying the concept of “Expansion of money supply” well as </a:t>
            </a:r>
          </a:p>
          <a:p>
            <a:pPr>
              <a:lnSpc>
                <a:spcPct val="150000"/>
              </a:lnSpc>
              <a:buFontTx/>
              <a:buNone/>
            </a:pPr>
            <a:r>
              <a:rPr lang="en-US" b="1" dirty="0" smtClean="0">
                <a:latin typeface="Arial" pitchFamily="34" charset="0"/>
                <a:cs typeface="Arial" pitchFamily="34" charset="0"/>
              </a:rPr>
              <a:t>“Run on a bank”.</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MONEY SUPPLY EXPANSION AND RUN ON A BANK</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1928802"/>
            <a:ext cx="4032448" cy="937757"/>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Please give me your feedback at </a:t>
            </a:r>
          </a:p>
          <a:p>
            <a:pPr marL="342900" indent="-342900" algn="ctr">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3397</TotalTime>
  <Words>1243</Words>
  <Application>Microsoft Office PowerPoint</Application>
  <PresentationFormat>On-screen Show (4:3)</PresentationFormat>
  <Paragraphs>87</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Rupee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Heena Uttamchandani TAM HO</cp:lastModifiedBy>
  <cp:revision>464</cp:revision>
  <dcterms:created xsi:type="dcterms:W3CDTF">2013-10-22T09:41:31Z</dcterms:created>
  <dcterms:modified xsi:type="dcterms:W3CDTF">2014-10-01T07:28:40Z</dcterms:modified>
</cp:coreProperties>
</file>