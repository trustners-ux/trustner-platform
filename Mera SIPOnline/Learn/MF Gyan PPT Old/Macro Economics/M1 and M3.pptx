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58" r:id="rId3"/>
    <p:sldId id="424" r:id="rId4"/>
    <p:sldId id="452" r:id="rId5"/>
    <p:sldId id="416" r:id="rId6"/>
    <p:sldId id="418" r:id="rId7"/>
    <p:sldId id="448" r:id="rId8"/>
    <p:sldId id="449" r:id="rId9"/>
    <p:sldId id="454" r:id="rId10"/>
    <p:sldId id="450" r:id="rId11"/>
    <p:sldId id="451" r:id="rId12"/>
    <p:sldId id="453" r:id="rId13"/>
    <p:sldId id="455" r:id="rId14"/>
    <p:sldId id="447" r:id="rId15"/>
    <p:sldId id="287" r:id="rId16"/>
    <p:sldId id="27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p:scale>
          <a:sx n="61" d="100"/>
          <a:sy n="61" d="100"/>
        </p:scale>
        <p:origin x="-1374" y="-9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9/29/2014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9/29/2014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9/29/2014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9/29/2014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9/29/2014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hyperlink" Target="http://www.tatamutualfund.com/" TargetMode="External"/><Relationship Id="rId4" Type="http://schemas.openxmlformats.org/officeDocument/2006/relationships/hyperlink" Target="mailto:professor@tataamc.co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392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M1 AND M3</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28728" y="2357430"/>
            <a:ext cx="3152471" cy="513877"/>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 M1 and M3</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43372" y="3929066"/>
            <a:ext cx="4143404" cy="216982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Let’s say you are extremely hungry. You go to the nearest restaurant.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What is it that you </a:t>
            </a:r>
            <a:r>
              <a:rPr lang="en-US" b="1" smtClean="0">
                <a:latin typeface="Arial" pitchFamily="34" charset="0"/>
                <a:cs typeface="Arial" pitchFamily="34" charset="0"/>
              </a:rPr>
              <a:t>would </a:t>
            </a:r>
            <a:r>
              <a:rPr lang="en-US" b="1" smtClean="0">
                <a:latin typeface="Arial" pitchFamily="34" charset="0"/>
                <a:cs typeface="Arial" pitchFamily="34" charset="0"/>
              </a:rPr>
              <a:t>order </a:t>
            </a:r>
            <a:r>
              <a:rPr lang="en-US" b="1" dirty="0" smtClean="0">
                <a:latin typeface="Arial" pitchFamily="34" charset="0"/>
                <a:cs typeface="Arial" pitchFamily="34" charset="0"/>
              </a:rPr>
              <a:t>when you are in such a state?</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M1 AND M3</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14726332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3000364" y="1214422"/>
            <a:ext cx="3929090" cy="170303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Perhaps you would ask what can be prepared quickly because your hunger clearly seems to be getting the better of you.</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M1 AND M3</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M1 AND M3</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124744"/>
            <a:ext cx="7240522" cy="88036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You would not order </a:t>
            </a:r>
            <a:r>
              <a:rPr lang="en-US" b="1" dirty="0" err="1" smtClean="0">
                <a:latin typeface="Arial" pitchFamily="34" charset="0"/>
                <a:cs typeface="Arial" pitchFamily="34" charset="0"/>
              </a:rPr>
              <a:t>Biryani</a:t>
            </a:r>
            <a:r>
              <a:rPr lang="en-US" b="1" dirty="0" smtClean="0">
                <a:latin typeface="Arial" pitchFamily="34" charset="0"/>
                <a:cs typeface="Arial" pitchFamily="34" charset="0"/>
              </a:rPr>
              <a:t> since it needs to be cooked slowly for it to taste really well. </a:t>
            </a:r>
            <a:endParaRPr lang="en-US" b="1" dirty="0">
              <a:latin typeface="Arial" pitchFamily="34" charset="0"/>
              <a:cs typeface="Arial" pitchFamily="34" charset="0"/>
            </a:endParaRPr>
          </a:p>
        </p:txBody>
      </p:sp>
      <p:sp>
        <p:nvSpPr>
          <p:cNvPr id="6" name="Rectangle 5"/>
          <p:cNvSpPr/>
          <p:nvPr/>
        </p:nvSpPr>
        <p:spPr>
          <a:xfrm>
            <a:off x="722096" y="2477193"/>
            <a:ext cx="7136052" cy="88036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But if something is needed immediately the best option is sandwiches, snacks etc. </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M1 AND M3</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80561"/>
            <a:ext cx="7242028" cy="129586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Let’s say we term the quickly available snack items collectively as F1 and the food items in the menu that the restaurant serves (including those that can be served quickly) as F3.</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M1 AND M3</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242028" cy="2126864"/>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In short,</a:t>
            </a:r>
          </a:p>
          <a:p>
            <a:pPr>
              <a:lnSpc>
                <a:spcPct val="150000"/>
              </a:lnSpc>
            </a:pPr>
            <a:endParaRPr lang="en-US" b="1" dirty="0" smtClean="0">
              <a:latin typeface="Arial" pitchFamily="34" charset="0"/>
              <a:cs typeface="Arial" pitchFamily="34" charset="0"/>
            </a:endParaRPr>
          </a:p>
          <a:p>
            <a:pPr algn="ctr">
              <a:lnSpc>
                <a:spcPct val="150000"/>
              </a:lnSpc>
            </a:pPr>
            <a:r>
              <a:rPr lang="en-US" b="1" dirty="0" smtClean="0">
                <a:latin typeface="Arial" pitchFamily="34" charset="0"/>
                <a:cs typeface="Arial" pitchFamily="34" charset="0"/>
              </a:rPr>
              <a:t>Quick food items = F1</a:t>
            </a:r>
          </a:p>
          <a:p>
            <a:pPr algn="ctr">
              <a:lnSpc>
                <a:spcPct val="150000"/>
              </a:lnSpc>
            </a:pPr>
            <a:endParaRPr lang="en-US" b="1" dirty="0" smtClean="0">
              <a:latin typeface="Arial" pitchFamily="34" charset="0"/>
              <a:cs typeface="Arial" pitchFamily="34" charset="0"/>
            </a:endParaRPr>
          </a:p>
          <a:p>
            <a:pPr algn="ctr">
              <a:lnSpc>
                <a:spcPct val="150000"/>
              </a:lnSpc>
            </a:pPr>
            <a:r>
              <a:rPr lang="en-US" b="1" dirty="0" smtClean="0">
                <a:latin typeface="Arial" pitchFamily="34" charset="0"/>
                <a:cs typeface="Arial" pitchFamily="34" charset="0"/>
              </a:rPr>
              <a:t>All food items in the Menu (including F1) = F3</a:t>
            </a:r>
          </a:p>
        </p:txBody>
      </p:sp>
    </p:spTree>
    <p:extLst>
      <p:ext uri="{BB962C8B-B14F-4D97-AF65-F5344CB8AC3E}">
        <p14:creationId xmlns:p14="http://schemas.microsoft.com/office/powerpoint/2010/main" xmlns="" val="27071699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M1 AND M3</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386044" cy="171136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Now if we were to replace the Food by Money the context changes as in Money which is easily available like the sandwiches, snacks etc can be termed M1 while all the money that is there which includes M1 is then termed M3.</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9140819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857488" y="1548499"/>
            <a:ext cx="3929090" cy="88036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Let’s analyze when money can be</a:t>
            </a:r>
            <a:br>
              <a:rPr lang="en-US" b="1" dirty="0" smtClean="0">
                <a:latin typeface="Arial" pitchFamily="34" charset="0"/>
                <a:cs typeface="Arial" pitchFamily="34" charset="0"/>
              </a:rPr>
            </a:br>
            <a:r>
              <a:rPr lang="en-US" b="1" dirty="0" smtClean="0">
                <a:latin typeface="Arial" pitchFamily="34" charset="0"/>
                <a:cs typeface="Arial" pitchFamily="34" charset="0"/>
              </a:rPr>
              <a:t>easily made available (M1).</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M1 AND M3</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M1 AND M3</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112296" cy="211852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M1 is the money in your pocket or in your cupboard or in your savings bank account against which you can issue a </a:t>
            </a:r>
            <a:r>
              <a:rPr lang="en-US" b="1" dirty="0" err="1" smtClean="0">
                <a:latin typeface="Arial" pitchFamily="34" charset="0"/>
                <a:cs typeface="Arial" pitchFamily="34" charset="0"/>
              </a:rPr>
              <a:t>cheque</a:t>
            </a:r>
            <a:r>
              <a:rPr lang="en-US" b="1" dirty="0" smtClean="0">
                <a:latin typeface="Arial" pitchFamily="34" charset="0"/>
                <a:cs typeface="Arial" pitchFamily="34" charset="0"/>
              </a:rPr>
              <a:t> and buy goods and services immediately without resorting to any planning whatsoever. We also refer to this money as highly liquid currency.</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3954094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M1 AND M3</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143800" cy="133882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Similarly the money which is readily available (M1) plus that which is parked as time deposits in the banks is together termed as M3. </a:t>
            </a:r>
          </a:p>
        </p:txBody>
      </p:sp>
    </p:spTree>
    <p:extLst>
      <p:ext uri="{BB962C8B-B14F-4D97-AF65-F5344CB8AC3E}">
        <p14:creationId xmlns:p14="http://schemas.microsoft.com/office/powerpoint/2010/main" xmlns="" val="42686417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M1 AND M3</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286676" cy="2126864"/>
          </a:xfrm>
          <a:prstGeom prst="rect">
            <a:avLst/>
          </a:prstGeom>
        </p:spPr>
        <p:txBody>
          <a:bodyPr wrap="square">
            <a:spAutoFit/>
          </a:bodyPr>
          <a:lstStyle/>
          <a:p>
            <a:pPr>
              <a:lnSpc>
                <a:spcPct val="150000"/>
              </a:lnSpc>
            </a:pPr>
            <a:r>
              <a:rPr lang="en-US" b="1" dirty="0" smtClean="0">
                <a:latin typeface="Arial" pitchFamily="34" charset="0"/>
                <a:cs typeface="Arial" pitchFamily="34" charset="0"/>
              </a:rPr>
              <a:t>While M1 is liquid, the bank deposits are not easily usable because one would have to break the deposits first.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Hence in comparison to M1, bank deposits can be seen as less liquid currency.</a:t>
            </a:r>
            <a:endParaRPr lang="en-US" b="1" dirty="0">
              <a:latin typeface="Arial" pitchFamily="34" charset="0"/>
              <a:cs typeface="Arial" pitchFamily="34" charset="0"/>
            </a:endParaRPr>
          </a:p>
        </p:txBody>
      </p:sp>
      <p:sp>
        <p:nvSpPr>
          <p:cNvPr id="5" name="Rectangle 4"/>
          <p:cNvSpPr/>
          <p:nvPr/>
        </p:nvSpPr>
        <p:spPr>
          <a:xfrm>
            <a:off x="785786" y="3821385"/>
            <a:ext cx="5929354" cy="45653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So M3 = M1 + Time deposits with the bank.</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42686417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M1 AND M3</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286676" cy="1287532"/>
          </a:xfrm>
          <a:prstGeom prst="rect">
            <a:avLst/>
          </a:prstGeom>
        </p:spPr>
        <p:txBody>
          <a:bodyPr wrap="square">
            <a:spAutoFit/>
          </a:bodyPr>
          <a:lstStyle/>
          <a:p>
            <a:pPr>
              <a:lnSpc>
                <a:spcPct val="150000"/>
              </a:lnSpc>
            </a:pPr>
            <a:r>
              <a:rPr lang="en-US" b="1" dirty="0" smtClean="0">
                <a:latin typeface="Arial" pitchFamily="34" charset="0"/>
                <a:cs typeface="Arial" pitchFamily="34" charset="0"/>
              </a:rPr>
              <a:t>M3 is the broadest measure of money; it is used by economists to estimate the entire supply of money within an economy at any given point of time.</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42686417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4397" y="4906085"/>
            <a:ext cx="4320480" cy="1287532"/>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Hope the above explanation would help you to understand the concept of M1 and M3.</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M1 AND M3</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19746173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204864"/>
            <a:ext cx="4032448" cy="701731"/>
          </a:xfrm>
          <a:prstGeom prst="rect">
            <a:avLst/>
          </a:prstGeom>
        </p:spPr>
        <p:txBody>
          <a:bodyPr wrap="square">
            <a:spAutoFit/>
          </a:bodyPr>
          <a:lstStyle/>
          <a:p>
            <a:pPr marL="342900" indent="-342900" algn="ctr">
              <a:spcBef>
                <a:spcPct val="20000"/>
              </a:spcBef>
            </a:pPr>
            <a:r>
              <a:rPr lang="en-US" b="1" dirty="0">
                <a:latin typeface="Arial" pitchFamily="34" charset="0"/>
                <a:cs typeface="Arial" pitchFamily="34" charset="0"/>
              </a:rPr>
              <a:t>Please give us your feedback at </a:t>
            </a:r>
          </a:p>
          <a:p>
            <a:pPr marL="342900" indent="-342900" algn="ctr">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
        <p:nvSpPr>
          <p:cNvPr id="6" name="Rectangle 5"/>
          <p:cNvSpPr/>
          <p:nvPr/>
        </p:nvSpPr>
        <p:spPr>
          <a:xfrm>
            <a:off x="1357290" y="1285860"/>
            <a:ext cx="3357586" cy="646331"/>
          </a:xfrm>
          <a:prstGeom prst="rect">
            <a:avLst/>
          </a:prstGeom>
        </p:spPr>
        <p:txBody>
          <a:bodyPr wrap="square">
            <a:spAutoFit/>
          </a:bodyPr>
          <a:lstStyle/>
          <a:p>
            <a:pPr algn="ctr"/>
            <a:r>
              <a:rPr lang="en-US" b="1" dirty="0" smtClean="0">
                <a:latin typeface="Arial" pitchFamily="34" charset="0"/>
                <a:cs typeface="Arial" pitchFamily="34" charset="0"/>
              </a:rPr>
              <a:t>For more lessons visit</a:t>
            </a:r>
          </a:p>
          <a:p>
            <a:pPr algn="ctr"/>
            <a:r>
              <a:rPr lang="en-US" b="1" u="sng" dirty="0" smtClean="0">
                <a:latin typeface="Arial" pitchFamily="34" charset="0"/>
                <a:cs typeface="Arial" pitchFamily="34" charset="0"/>
                <a:hlinkClick r:id="rId5"/>
              </a:rPr>
              <a:t>www.tatamutualfund.com</a:t>
            </a:r>
            <a:endParaRPr lang="en-US" b="1"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2837</TotalTime>
  <Words>594</Words>
  <Application>Microsoft Office PowerPoint</Application>
  <PresentationFormat>On-screen Show (4:3)</PresentationFormat>
  <Paragraphs>44</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385</cp:revision>
  <dcterms:created xsi:type="dcterms:W3CDTF">2013-10-22T09:41:31Z</dcterms:created>
  <dcterms:modified xsi:type="dcterms:W3CDTF">2014-09-29T06:50:07Z</dcterms:modified>
</cp:coreProperties>
</file>