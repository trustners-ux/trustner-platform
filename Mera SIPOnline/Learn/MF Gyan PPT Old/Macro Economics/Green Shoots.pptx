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318" r:id="rId3"/>
    <p:sldId id="416" r:id="rId4"/>
    <p:sldId id="424" r:id="rId5"/>
    <p:sldId id="417" r:id="rId6"/>
    <p:sldId id="358" r:id="rId7"/>
    <p:sldId id="418" r:id="rId8"/>
    <p:sldId id="436" r:id="rId9"/>
    <p:sldId id="437" r:id="rId10"/>
    <p:sldId id="438" r:id="rId11"/>
    <p:sldId id="385" r:id="rId12"/>
    <p:sldId id="287" r:id="rId13"/>
    <p:sldId id="273"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p:scale>
          <a:sx n="61" d="100"/>
          <a:sy n="61" d="100"/>
        </p:scale>
        <p:origin x="-1320"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3/7/2014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3/7/2014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3/7/2014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3/7/2014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3/7/2014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GREEN SHOOTS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GREEN SHOOTS</a:t>
            </a:r>
            <a:endParaRPr lang="en-US" sz="2000" b="1" dirty="0">
              <a:solidFill>
                <a:schemeClr val="bg1"/>
              </a:solidFill>
              <a:latin typeface="Arial" pitchFamily="34" charset="0"/>
              <a:cs typeface="Arial" pitchFamily="34" charset="0"/>
            </a:endParaRPr>
          </a:p>
        </p:txBody>
      </p:sp>
      <p:sp>
        <p:nvSpPr>
          <p:cNvPr id="5" name="Rectangle 4"/>
          <p:cNvSpPr/>
          <p:nvPr/>
        </p:nvSpPr>
        <p:spPr>
          <a:xfrm>
            <a:off x="2771800" y="1556792"/>
            <a:ext cx="4248472" cy="923330"/>
          </a:xfrm>
          <a:prstGeom prst="rect">
            <a:avLst/>
          </a:prstGeom>
        </p:spPr>
        <p:txBody>
          <a:bodyPr wrap="square">
            <a:spAutoFit/>
          </a:bodyPr>
          <a:lstStyle/>
          <a:p>
            <a:pPr>
              <a:lnSpc>
                <a:spcPct val="150000"/>
              </a:lnSpc>
            </a:pPr>
            <a:r>
              <a:rPr lang="en-US" b="1" dirty="0">
                <a:latin typeface="Arial" pitchFamily="34" charset="0"/>
                <a:cs typeface="Arial" pitchFamily="34" charset="0"/>
              </a:rPr>
              <a:t>The current recession has given rise to a new term - “green shoots.”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GREEN SHOOTS</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124744"/>
            <a:ext cx="7627352" cy="3000821"/>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Since Federal Reserve Chairman Ben S. Bernanke first uttered the words, “Green Shoots” almost four months ago to describe signs of a thaw in frozen credit markets, this term has grown in popularity by leaps and bounds.</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 Google search for “green shoots” returns 2.86 million hits (and counting!).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23928" y="4005064"/>
            <a:ext cx="4563199" cy="2308324"/>
          </a:xfrm>
          <a:prstGeom prst="rect">
            <a:avLst/>
          </a:prstGeom>
        </p:spPr>
        <p:txBody>
          <a:bodyPr wrap="square">
            <a:spAutoFit/>
          </a:bodyPr>
          <a:lstStyle/>
          <a:p>
            <a:pPr>
              <a:lnSpc>
                <a:spcPct val="150000"/>
              </a:lnSpc>
            </a:pPr>
            <a:r>
              <a:rPr lang="en-US" b="1" dirty="0">
                <a:latin typeface="Arial" pitchFamily="34" charset="0"/>
                <a:cs typeface="Arial" pitchFamily="34" charset="0"/>
              </a:rPr>
              <a:t>But what are green shoots? And why are they being used as metaphors in the financial world these days?</a:t>
            </a:r>
          </a:p>
          <a:p>
            <a:pPr>
              <a:lnSpc>
                <a:spcPct val="150000"/>
              </a:lnSpc>
            </a:pPr>
            <a:endParaRPr lang="en-US" sz="600" b="1" dirty="0">
              <a:latin typeface="Arial" pitchFamily="34" charset="0"/>
              <a:cs typeface="Arial" pitchFamily="34" charset="0"/>
            </a:endParaRPr>
          </a:p>
          <a:p>
            <a:pPr>
              <a:lnSpc>
                <a:spcPct val="150000"/>
              </a:lnSpc>
            </a:pPr>
            <a:r>
              <a:rPr lang="en-US" b="1" dirty="0">
                <a:latin typeface="Arial" pitchFamily="34" charset="0"/>
                <a:cs typeface="Arial" pitchFamily="34" charset="0"/>
              </a:rPr>
              <a:t>Let me explain this by telling you about the importance of ‘green shoots’…</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GREEN SHOOTS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4726332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GREEN SHOOTS</a:t>
            </a:r>
            <a:endParaRPr lang="en-US" sz="2000" b="1" dirty="0">
              <a:solidFill>
                <a:schemeClr val="bg1"/>
              </a:solidFill>
              <a:latin typeface="Arial" pitchFamily="34" charset="0"/>
              <a:cs typeface="Arial" pitchFamily="34" charset="0"/>
            </a:endParaRPr>
          </a:p>
        </p:txBody>
      </p:sp>
      <p:sp>
        <p:nvSpPr>
          <p:cNvPr id="6" name="Rectangle 5"/>
          <p:cNvSpPr/>
          <p:nvPr/>
        </p:nvSpPr>
        <p:spPr>
          <a:xfrm>
            <a:off x="722096" y="980728"/>
            <a:ext cx="7666328" cy="4293996"/>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In the traditional spirit of celebrating the rains, an agrarian custom, villagers in the </a:t>
            </a:r>
            <a:r>
              <a:rPr lang="en-US" sz="1600" b="1" dirty="0" err="1">
                <a:latin typeface="Arial" pitchFamily="34" charset="0"/>
                <a:cs typeface="Arial" pitchFamily="34" charset="0"/>
              </a:rPr>
              <a:t>Gangetic</a:t>
            </a:r>
            <a:r>
              <a:rPr lang="en-US" sz="1600" b="1" dirty="0">
                <a:latin typeface="Arial" pitchFamily="34" charset="0"/>
                <a:cs typeface="Arial" pitchFamily="34" charset="0"/>
              </a:rPr>
              <a:t> planes of eastern India sing a Bengali song that goes like this in English…</a:t>
            </a:r>
            <a:endParaRPr lang="en-US" sz="600" b="1" dirty="0">
              <a:latin typeface="Arial" pitchFamily="34" charset="0"/>
              <a:cs typeface="Arial" pitchFamily="34" charset="0"/>
            </a:endParaRPr>
          </a:p>
          <a:p>
            <a:pPr marL="465138">
              <a:tabLst>
                <a:tab pos="465138" algn="l"/>
              </a:tabLst>
            </a:pPr>
            <a:r>
              <a:rPr lang="en-US" sz="600" b="1" dirty="0">
                <a:latin typeface="Arial" pitchFamily="34" charset="0"/>
                <a:cs typeface="Arial" pitchFamily="34" charset="0"/>
              </a:rPr>
              <a:t> </a:t>
            </a:r>
          </a:p>
          <a:p>
            <a:pPr marL="465138">
              <a:lnSpc>
                <a:spcPct val="150000"/>
              </a:lnSpc>
              <a:tabLst>
                <a:tab pos="465138" algn="l"/>
              </a:tabLst>
            </a:pPr>
            <a:r>
              <a:rPr lang="en-US" sz="1600" b="1" i="1" dirty="0" smtClean="0">
                <a:latin typeface="Arial" pitchFamily="34" charset="0"/>
                <a:cs typeface="Arial" pitchFamily="34" charset="0"/>
              </a:rPr>
              <a:t>Oh </a:t>
            </a:r>
            <a:r>
              <a:rPr lang="en-US" sz="1600" b="1" i="1" dirty="0">
                <a:latin typeface="Arial" pitchFamily="34" charset="0"/>
                <a:cs typeface="Arial" pitchFamily="34" charset="0"/>
              </a:rPr>
              <a:t>rain dear, pour at will</a:t>
            </a:r>
          </a:p>
          <a:p>
            <a:pPr marL="465138">
              <a:lnSpc>
                <a:spcPct val="150000"/>
              </a:lnSpc>
              <a:tabLst>
                <a:tab pos="465138" algn="l"/>
              </a:tabLst>
            </a:pPr>
            <a:r>
              <a:rPr lang="en-US" sz="1600" b="1" i="1" dirty="0" smtClean="0">
                <a:latin typeface="Arial" pitchFamily="34" charset="0"/>
                <a:cs typeface="Arial" pitchFamily="34" charset="0"/>
              </a:rPr>
              <a:t>I'll </a:t>
            </a:r>
            <a:r>
              <a:rPr lang="en-US" sz="1600" b="1" i="1" dirty="0">
                <a:latin typeface="Arial" pitchFamily="34" charset="0"/>
                <a:cs typeface="Arial" pitchFamily="34" charset="0"/>
              </a:rPr>
              <a:t>give you rice by the fill.</a:t>
            </a:r>
          </a:p>
          <a:p>
            <a:pPr marL="465138" indent="-465138">
              <a:buFont typeface="Wingdings" pitchFamily="2" charset="2"/>
              <a:buChar char="q"/>
              <a:tabLst>
                <a:tab pos="465138" algn="l"/>
              </a:tabLst>
            </a:pPr>
            <a:endParaRPr lang="en-US" sz="600" b="1" i="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Rice being a Bengali and Indian staple, it is the chosen food for offering to the Rain God in return for blessings in the form of water “to make the first shoots of grass appear”. </a:t>
            </a:r>
          </a:p>
          <a:p>
            <a:pPr marL="465138" indent="-465138">
              <a:lnSpc>
                <a:spcPct val="150000"/>
              </a:lnSpc>
              <a:buFont typeface="Wingdings" pitchFamily="2" charset="2"/>
              <a:buChar char="q"/>
              <a:tabLst>
                <a:tab pos="465138" algn="l"/>
              </a:tabLst>
            </a:pPr>
            <a:endParaRPr lang="en-US" sz="1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It is hoped that these ‘green shoots’ of grass will one day grow to become tall, fruit-bearing trees, if nurtured correctly. </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val="29609829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115616" y="1988840"/>
            <a:ext cx="3888432" cy="92333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From Green Shoots to Harvesting</a:t>
            </a:r>
            <a:br>
              <a:rPr lang="en-US" b="1" dirty="0">
                <a:latin typeface="Arial" pitchFamily="34" charset="0"/>
                <a:cs typeface="Arial" pitchFamily="34" charset="0"/>
              </a:rPr>
            </a:br>
            <a:r>
              <a:rPr lang="en-US" b="1" dirty="0">
                <a:latin typeface="Arial" pitchFamily="34" charset="0"/>
                <a:cs typeface="Arial" pitchFamily="34" charset="0"/>
              </a:rPr>
              <a:t>–  By Prof. </a:t>
            </a:r>
            <a:r>
              <a:rPr lang="en-US" b="1" i="1" dirty="0">
                <a:latin typeface="Arial" pitchFamily="34" charset="0"/>
                <a:cs typeface="Arial" pitchFamily="34" charset="0"/>
              </a:rPr>
              <a:t>Simply</a:t>
            </a:r>
            <a:r>
              <a:rPr lang="en-US" b="1" dirty="0">
                <a:latin typeface="Arial" pitchFamily="34" charset="0"/>
                <a:cs typeface="Arial" pitchFamily="34" charset="0"/>
              </a:rPr>
              <a:t> Simple</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GREEN SHOOTS</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458052" cy="336502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Spring is the season of rebirth, so it was fitting that Ben Bernanke, chairman of the Federal Reserve Board, </a:t>
            </a:r>
            <a:r>
              <a:rPr lang="en-US" b="1" dirty="0" smtClean="0">
                <a:latin typeface="Arial" pitchFamily="34" charset="0"/>
                <a:cs typeface="Arial" pitchFamily="34" charset="0"/>
              </a:rPr>
              <a:t>in</a:t>
            </a:r>
            <a:br>
              <a:rPr lang="en-US" b="1" dirty="0" smtClean="0">
                <a:latin typeface="Arial" pitchFamily="34" charset="0"/>
                <a:cs typeface="Arial" pitchFamily="34" charset="0"/>
              </a:rPr>
            </a:br>
            <a:r>
              <a:rPr lang="en-US" b="1" dirty="0" smtClean="0">
                <a:latin typeface="Arial" pitchFamily="34" charset="0"/>
                <a:cs typeface="Arial" pitchFamily="34" charset="0"/>
              </a:rPr>
              <a:t>mid-March </a:t>
            </a:r>
            <a:r>
              <a:rPr lang="en-US" b="1" dirty="0">
                <a:latin typeface="Arial" pitchFamily="34" charset="0"/>
                <a:cs typeface="Arial" pitchFamily="34" charset="0"/>
              </a:rPr>
              <a:t>told </a:t>
            </a:r>
            <a:r>
              <a:rPr lang="en-US" b="1" i="1" dirty="0">
                <a:latin typeface="Arial" pitchFamily="34" charset="0"/>
                <a:cs typeface="Arial" pitchFamily="34" charset="0"/>
              </a:rPr>
              <a:t>60 Minutes</a:t>
            </a:r>
            <a:r>
              <a:rPr lang="en-US" b="1" dirty="0">
                <a:latin typeface="Arial" pitchFamily="34" charset="0"/>
                <a:cs typeface="Arial" pitchFamily="34" charset="0"/>
              </a:rPr>
              <a:t> that he detected </a:t>
            </a:r>
            <a:r>
              <a:rPr lang="en-US" b="1" dirty="0" smtClean="0">
                <a:latin typeface="Arial" pitchFamily="34" charset="0"/>
                <a:cs typeface="Arial" pitchFamily="34" charset="0"/>
              </a:rPr>
              <a:t>“green shoots”</a:t>
            </a:r>
            <a:br>
              <a:rPr lang="en-US" b="1" dirty="0" smtClean="0">
                <a:latin typeface="Arial" pitchFamily="34" charset="0"/>
                <a:cs typeface="Arial" pitchFamily="34" charset="0"/>
              </a:rPr>
            </a:br>
            <a:r>
              <a:rPr lang="en-US" b="1" dirty="0" smtClean="0">
                <a:latin typeface="Arial" pitchFamily="34" charset="0"/>
                <a:cs typeface="Arial" pitchFamily="34" charset="0"/>
              </a:rPr>
              <a:t>of </a:t>
            </a:r>
            <a:r>
              <a:rPr lang="en-US" b="1" dirty="0">
                <a:latin typeface="Arial" pitchFamily="34" charset="0"/>
                <a:cs typeface="Arial" pitchFamily="34" charset="0"/>
              </a:rPr>
              <a:t>economic recovery.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image of early, sprouting growth is an apt description because the global economy is, at best, now in the very early stages of recovery.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GREEN SHOOTS</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7" y="980728"/>
            <a:ext cx="7242029" cy="464871"/>
          </a:xfrm>
          <a:prstGeom prst="rect">
            <a:avLst/>
          </a:prstGeom>
        </p:spPr>
        <p:txBody>
          <a:bodyPr wrap="square">
            <a:spAutoFit/>
          </a:bodyPr>
          <a:lstStyle/>
          <a:p>
            <a:pPr algn="ctr">
              <a:lnSpc>
                <a:spcPct val="150000"/>
              </a:lnSpc>
            </a:pPr>
            <a:r>
              <a:rPr lang="en-US" b="1" dirty="0">
                <a:latin typeface="Arial" pitchFamily="34" charset="0"/>
                <a:cs typeface="Arial" pitchFamily="34" charset="0"/>
              </a:rPr>
              <a:t>In finance…</a:t>
            </a:r>
            <a:endParaRPr lang="en-US" dirty="0">
              <a:latin typeface="Arial" pitchFamily="34" charset="0"/>
              <a:cs typeface="Arial" pitchFamily="34" charset="0"/>
            </a:endParaRPr>
          </a:p>
        </p:txBody>
      </p:sp>
      <p:sp>
        <p:nvSpPr>
          <p:cNvPr id="7" name="Rectangle 6"/>
          <p:cNvSpPr/>
          <p:nvPr/>
        </p:nvSpPr>
        <p:spPr>
          <a:xfrm>
            <a:off x="714348" y="1412776"/>
            <a:ext cx="7818092" cy="3647152"/>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700" b="1" dirty="0">
                <a:latin typeface="Arial" pitchFamily="34" charset="0"/>
                <a:cs typeface="Arial" pitchFamily="34" charset="0"/>
              </a:rPr>
              <a:t>Green shoots is a term used colloquially these days to indicate signs of economic recovery during an economic downturn.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700" b="1" dirty="0">
                <a:latin typeface="Arial" pitchFamily="34" charset="0"/>
                <a:cs typeface="Arial" pitchFamily="34" charset="0"/>
              </a:rPr>
              <a:t>It was first used in this sense by Norman Lamont, the then Chancellor of the Exchequer of the United Kingdom, during the 1991 Recession.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700" b="1" dirty="0">
                <a:latin typeface="Arial" pitchFamily="34" charset="0"/>
                <a:cs typeface="Arial" pitchFamily="34" charset="0"/>
              </a:rPr>
              <a:t>Since then, the phrase ‘green shoots’ has sprouted and blossomed.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700" b="1" dirty="0">
                <a:latin typeface="Arial" pitchFamily="34" charset="0"/>
                <a:cs typeface="Arial" pitchFamily="34" charset="0"/>
              </a:rPr>
              <a:t>Analysts and journalists, desperate for any sign of hope, have taken to repeating the phrase "green shoots" as a soothing mantra. </a:t>
            </a:r>
            <a:endParaRPr lang="en-US" sz="1700" b="1" dirty="0">
              <a:latin typeface="Arial" pitchFamily="34" charset="0"/>
              <a:cs typeface="Arial" pitchFamily="34" charset="0"/>
            </a:endParaRPr>
          </a:p>
        </p:txBody>
      </p:sp>
    </p:spTree>
    <p:extLst>
      <p:ext uri="{BB962C8B-B14F-4D97-AF65-F5344CB8AC3E}">
        <p14:creationId xmlns:p14="http://schemas.microsoft.com/office/powerpoint/2010/main" val="29699543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GREEN SHOOTS</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7" y="980728"/>
            <a:ext cx="7242029" cy="464871"/>
          </a:xfrm>
          <a:prstGeom prst="rect">
            <a:avLst/>
          </a:prstGeom>
        </p:spPr>
        <p:txBody>
          <a:bodyPr wrap="square">
            <a:spAutoFit/>
          </a:bodyPr>
          <a:lstStyle/>
          <a:p>
            <a:pPr algn="ctr">
              <a:lnSpc>
                <a:spcPct val="150000"/>
              </a:lnSpc>
            </a:pPr>
            <a:r>
              <a:rPr lang="en-US" b="1" dirty="0">
                <a:latin typeface="Arial" pitchFamily="34" charset="0"/>
                <a:cs typeface="Arial" pitchFamily="34" charset="0"/>
              </a:rPr>
              <a:t>But why the sudden optimism?</a:t>
            </a:r>
            <a:endParaRPr lang="en-US" dirty="0">
              <a:latin typeface="Arial" pitchFamily="34" charset="0"/>
              <a:cs typeface="Arial" pitchFamily="34" charset="0"/>
            </a:endParaRPr>
          </a:p>
        </p:txBody>
      </p:sp>
      <p:sp>
        <p:nvSpPr>
          <p:cNvPr id="7" name="Rectangle 6"/>
          <p:cNvSpPr/>
          <p:nvPr/>
        </p:nvSpPr>
        <p:spPr>
          <a:xfrm>
            <a:off x="714348" y="1412776"/>
            <a:ext cx="7602068" cy="36933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In the US, banking firms such as Wells Fargo, Goldman Sachs, and JPMorgan Chase have pulled off a rare feat for banks lately: </a:t>
            </a:r>
            <a:r>
              <a:rPr lang="en-US" b="1" i="1" dirty="0">
                <a:latin typeface="Arial" pitchFamily="34" charset="0"/>
                <a:cs typeface="Arial" pitchFamily="34" charset="0"/>
              </a:rPr>
              <a:t>making profits</a:t>
            </a:r>
            <a:r>
              <a:rPr lang="en-US" b="1" dirty="0">
                <a:latin typeface="Arial" pitchFamily="34" charset="0"/>
                <a:cs typeface="Arial" pitchFamily="34" charset="0"/>
              </a:rPr>
              <a:t>.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In India, the RBI governor D. </a:t>
            </a:r>
            <a:r>
              <a:rPr lang="en-US" b="1" dirty="0" err="1">
                <a:latin typeface="Arial" pitchFamily="34" charset="0"/>
                <a:cs typeface="Arial" pitchFamily="34" charset="0"/>
              </a:rPr>
              <a:t>Subbarao</a:t>
            </a:r>
            <a:r>
              <a:rPr lang="en-US" b="1" dirty="0">
                <a:latin typeface="Arial" pitchFamily="34" charset="0"/>
                <a:cs typeface="Arial" pitchFamily="34" charset="0"/>
              </a:rPr>
              <a:t> recently said that though the Indian economy's turnaround was linked to a global revival, the country's recovery would be "swifter and sharper".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He said the economy was on course to achieve 6% growth in 2009-10.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4363334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GREEN SHOOTS</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7" y="980728"/>
            <a:ext cx="7242029" cy="464871"/>
          </a:xfrm>
          <a:prstGeom prst="rect">
            <a:avLst/>
          </a:prstGeom>
        </p:spPr>
        <p:txBody>
          <a:bodyPr wrap="square">
            <a:spAutoFit/>
          </a:bodyPr>
          <a:lstStyle/>
          <a:p>
            <a:pPr algn="ctr">
              <a:lnSpc>
                <a:spcPct val="150000"/>
              </a:lnSpc>
            </a:pPr>
            <a:r>
              <a:rPr lang="en-US" b="1" dirty="0">
                <a:latin typeface="Arial" pitchFamily="34" charset="0"/>
                <a:cs typeface="Arial" pitchFamily="34" charset="0"/>
              </a:rPr>
              <a:t>To Sum Up</a:t>
            </a:r>
            <a:endParaRPr lang="en-US" b="1" dirty="0">
              <a:latin typeface="Arial" pitchFamily="34" charset="0"/>
              <a:cs typeface="Arial" pitchFamily="34" charset="0"/>
            </a:endParaRPr>
          </a:p>
        </p:txBody>
      </p:sp>
      <p:sp>
        <p:nvSpPr>
          <p:cNvPr id="7" name="Rectangle 6"/>
          <p:cNvSpPr/>
          <p:nvPr/>
        </p:nvSpPr>
        <p:spPr>
          <a:xfrm>
            <a:off x="714348" y="1412776"/>
            <a:ext cx="7458052" cy="3000821"/>
          </a:xfrm>
          <a:prstGeom prst="rect">
            <a:avLst/>
          </a:prstGeom>
        </p:spPr>
        <p:txBody>
          <a:bodyPr wrap="square">
            <a:spAutoFit/>
          </a:bodyPr>
          <a:lstStyle/>
          <a:p>
            <a:pPr marL="465138" indent="-465138">
              <a:lnSpc>
                <a:spcPct val="150000"/>
              </a:lnSpc>
              <a:buFont typeface="Wingdings" pitchFamily="2" charset="2"/>
              <a:buChar char="q"/>
              <a:tabLst>
                <a:tab pos="465138" algn="l"/>
                <a:tab pos="3600450" algn="l"/>
              </a:tabLst>
            </a:pPr>
            <a:r>
              <a:rPr lang="en-US" b="1" dirty="0">
                <a:latin typeface="Arial" pitchFamily="34" charset="0"/>
                <a:cs typeface="Arial" pitchFamily="34" charset="0"/>
              </a:rPr>
              <a:t>What: Green shoots is a term used colloquially in finance these days to indicate signs of economic recovery during an economic downturn. </a:t>
            </a:r>
          </a:p>
          <a:p>
            <a:pPr marL="465138" indent="-465138">
              <a:lnSpc>
                <a:spcPct val="150000"/>
              </a:lnSpc>
              <a:buFont typeface="Wingdings" pitchFamily="2" charset="2"/>
              <a:buChar char="q"/>
              <a:tabLst>
                <a:tab pos="465138" algn="l"/>
                <a:tab pos="3600450"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 pos="3600450" algn="l"/>
              </a:tabLst>
            </a:pPr>
            <a:r>
              <a:rPr lang="en-US" b="1" dirty="0">
                <a:latin typeface="Arial" pitchFamily="34" charset="0"/>
                <a:cs typeface="Arial" pitchFamily="34" charset="0"/>
              </a:rPr>
              <a:t>Why: This image of early, sprouting growth is an apt description because the global economy is, at best, now in the very early stages of recovery.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40531702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5025950"/>
            <a:ext cx="4104456" cy="872034"/>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now </a:t>
            </a:r>
            <a:r>
              <a:rPr lang="en-US" b="1" dirty="0" smtClean="0">
                <a:latin typeface="Arial" pitchFamily="34" charset="0"/>
                <a:cs typeface="Arial" pitchFamily="34" charset="0"/>
              </a:rPr>
              <a:t>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concept </a:t>
            </a:r>
            <a:r>
              <a:rPr lang="en-US" b="1" dirty="0" smtClean="0">
                <a:latin typeface="Arial" pitchFamily="34" charset="0"/>
                <a:cs typeface="Arial" pitchFamily="34" charset="0"/>
              </a:rPr>
              <a:t>of Green </a:t>
            </a:r>
            <a:r>
              <a:rPr lang="en-US" b="1" dirty="0">
                <a:latin typeface="Arial" pitchFamily="34" charset="0"/>
                <a:cs typeface="Arial" pitchFamily="34" charset="0"/>
              </a:rPr>
              <a:t>Shoots</a:t>
            </a:r>
            <a:endParaRPr lang="en-US" b="1" dirty="0">
              <a:latin typeface="Arial" pitchFamily="34" charset="0"/>
              <a:cs typeface="Arial" pitchFamily="34" charset="0"/>
            </a:endParaRP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GREEN SHOOTS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7779845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061183"/>
            <a:ext cx="4032448" cy="935769"/>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Do write to me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2568</TotalTime>
  <Words>692</Words>
  <Application>Microsoft Office PowerPoint</Application>
  <PresentationFormat>On-screen Show (4:3)</PresentationFormat>
  <Paragraphs>54</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347</cp:revision>
  <dcterms:created xsi:type="dcterms:W3CDTF">2013-10-22T09:41:31Z</dcterms:created>
  <dcterms:modified xsi:type="dcterms:W3CDTF">2014-03-07T09:30:04Z</dcterms:modified>
</cp:coreProperties>
</file>