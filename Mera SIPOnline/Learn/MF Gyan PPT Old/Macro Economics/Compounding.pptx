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358" r:id="rId3"/>
    <p:sldId id="496" r:id="rId4"/>
    <p:sldId id="416" r:id="rId5"/>
    <p:sldId id="485" r:id="rId6"/>
    <p:sldId id="486" r:id="rId7"/>
    <p:sldId id="487" r:id="rId8"/>
    <p:sldId id="497" r:id="rId9"/>
    <p:sldId id="488" r:id="rId10"/>
    <p:sldId id="473" r:id="rId11"/>
    <p:sldId id="475" r:id="rId12"/>
    <p:sldId id="287" r:id="rId13"/>
    <p:sldId id="27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2" d="100"/>
          <a:sy n="62" d="100"/>
        </p:scale>
        <p:origin x="-1368" y="-96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mailto:professor@tataamc.com" TargetMode="Externa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6058"/>
            <a:ext cx="439248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571604" y="1590106"/>
            <a:ext cx="3071834" cy="1338828"/>
          </a:xfrm>
          <a:prstGeom prst="rect">
            <a:avLst/>
          </a:prstGeom>
          <a:noFill/>
        </p:spPr>
        <p:txBody>
          <a:bodyPr wrap="square" rtlCol="0">
            <a:spAutoFit/>
          </a:bodyPr>
          <a:lstStyle/>
          <a:p>
            <a:pPr>
              <a:lnSpc>
                <a:spcPct val="150000"/>
              </a:lnSpc>
            </a:pPr>
            <a:r>
              <a:rPr lang="en-US" b="1" dirty="0" smtClean="0">
                <a:solidFill>
                  <a:srgbClr val="000000"/>
                </a:solidFill>
                <a:latin typeface="Arial" pitchFamily="34" charset="0"/>
                <a:cs typeface="Arial" pitchFamily="34" charset="0"/>
              </a:rPr>
              <a:t>Compounding refers to generating earnings from previous earnings. </a:t>
            </a:r>
            <a:endParaRPr lang="en-US" b="1" i="1"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4810" y="4929198"/>
            <a:ext cx="3786214" cy="88036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Let’s try to understand this with the help of an interesting story…</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5" name="Rectangle 4"/>
          <p:cNvSpPr/>
          <p:nvPr/>
        </p:nvSpPr>
        <p:spPr>
          <a:xfrm>
            <a:off x="689064" y="1071546"/>
            <a:ext cx="7383398" cy="2169825"/>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The King of Persia and a peasant sat down one day to play a game of chess.</a:t>
            </a:r>
          </a:p>
          <a:p>
            <a:pPr marL="441325" indent="-4413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The King, with his noble birth, expensive </a:t>
            </a:r>
            <a:r>
              <a:rPr lang="en-US" b="1" dirty="0" smtClean="0">
                <a:latin typeface="Arial" pitchFamily="34" charset="0"/>
                <a:cs typeface="Arial" pitchFamily="34" charset="0"/>
              </a:rPr>
              <a:t>education </a:t>
            </a:r>
            <a:r>
              <a:rPr lang="en-US" b="1" dirty="0" smtClean="0">
                <a:latin typeface="Arial" pitchFamily="34" charset="0"/>
                <a:cs typeface="Arial" pitchFamily="34" charset="0"/>
              </a:rPr>
              <a:t>and strategic training was confident of an easy victory. </a:t>
            </a:r>
            <a:endParaRPr lang="en-US" b="1" dirty="0">
              <a:latin typeface="Arial" pitchFamily="34" charset="0"/>
              <a:cs typeface="Arial" pitchFamily="34" charset="0"/>
            </a:endParaRPr>
          </a:p>
        </p:txBody>
      </p:sp>
      <p:sp>
        <p:nvSpPr>
          <p:cNvPr id="6" name="TextBox 5"/>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858180" cy="3831818"/>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Said the king to the peasant “If you win, I shall give you whatever you ask,”</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However things didn’t go as the King had anticipated, and he was defeated</a:t>
            </a:r>
          </a:p>
          <a:p>
            <a:pPr marL="441325" indent="-4413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Expecting the peasant to demand half the kingdom, his daughter, or worst of all his fluffy Persian cat, the King was pleasantly surprised when the peasant asked for nothing but rice. </a:t>
            </a:r>
            <a:endParaRPr lang="en-US" b="1" dirty="0">
              <a:latin typeface="Arial" pitchFamily="34" charset="0"/>
              <a:cs typeface="Arial" pitchFamily="34" charset="0"/>
            </a:endParaRPr>
          </a:p>
        </p:txBody>
      </p:sp>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072362" cy="45653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“How much rice?” asked the King.</a:t>
            </a:r>
            <a:endParaRPr lang="en-US" b="1" dirty="0">
              <a:latin typeface="Arial" pitchFamily="34" charset="0"/>
              <a:cs typeface="Arial" pitchFamily="34" charset="0"/>
            </a:endParaRPr>
          </a:p>
        </p:txBody>
      </p:sp>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sp>
        <p:nvSpPr>
          <p:cNvPr id="8" name="Rectangle 7"/>
          <p:cNvSpPr/>
          <p:nvPr/>
        </p:nvSpPr>
        <p:spPr>
          <a:xfrm>
            <a:off x="714348" y="1785926"/>
            <a:ext cx="7429552" cy="3416320"/>
          </a:xfrm>
          <a:prstGeom prst="rect">
            <a:avLst/>
          </a:prstGeom>
        </p:spPr>
        <p:txBody>
          <a:bodyPr wrap="square">
            <a:spAutoFit/>
          </a:bodyPr>
          <a:lstStyle/>
          <a:p>
            <a:pPr marL="365125" indent="-365125">
              <a:lnSpc>
                <a:spcPct val="150000"/>
              </a:lnSpc>
              <a:buFont typeface="Wingdings" pitchFamily="2" charset="2"/>
              <a:buChar char="q"/>
              <a:tabLst>
                <a:tab pos="441325" algn="l"/>
              </a:tabLst>
            </a:pPr>
            <a:r>
              <a:rPr lang="en-US" b="1" dirty="0" smtClean="0">
                <a:latin typeface="Arial" pitchFamily="34" charset="0"/>
                <a:cs typeface="Arial" pitchFamily="34" charset="0"/>
              </a:rPr>
              <a:t>If it pleases your Majesty,” answered the peasant, “I would like one grain placed on the first square of this chessboard, two on the second, four on the third, eight on the fourth, and so on, doubling the number of grains </a:t>
            </a:r>
            <a:r>
              <a:rPr lang="en-US" b="1" smtClean="0">
                <a:latin typeface="Arial" pitchFamily="34" charset="0"/>
                <a:cs typeface="Arial" pitchFamily="34" charset="0"/>
              </a:rPr>
              <a:t>with </a:t>
            </a:r>
            <a:r>
              <a:rPr lang="en-US" b="1" smtClean="0">
                <a:latin typeface="Arial" pitchFamily="34" charset="0"/>
                <a:cs typeface="Arial" pitchFamily="34" charset="0"/>
              </a:rPr>
              <a:t>each square</a:t>
            </a:r>
            <a:r>
              <a:rPr lang="en-US" b="1" dirty="0" smtClean="0">
                <a:latin typeface="Arial" pitchFamily="34" charset="0"/>
                <a:cs typeface="Arial" pitchFamily="34" charset="0"/>
              </a:rPr>
              <a:t>.” </a:t>
            </a:r>
          </a:p>
          <a:p>
            <a:pPr marL="365125" indent="-3651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365125" indent="-365125">
              <a:lnSpc>
                <a:spcPct val="150000"/>
              </a:lnSpc>
              <a:buFont typeface="Wingdings" pitchFamily="2" charset="2"/>
              <a:buChar char="q"/>
              <a:tabLst>
                <a:tab pos="441325" algn="l"/>
              </a:tabLst>
            </a:pPr>
            <a:r>
              <a:rPr lang="en-US" b="1" dirty="0" smtClean="0">
                <a:latin typeface="Arial" pitchFamily="34" charset="0"/>
                <a:cs typeface="Arial" pitchFamily="34" charset="0"/>
              </a:rPr>
              <a:t>The King, greatly relieved and thinking the peasant a worthless fool called his minister and ordered him to measure out the rice, put it in a bag, and send the peasant on his way. </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00990" cy="3365024"/>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To the King’s horror, his minister informed him that there was not enough rice in the whole World, let alone Persia to </a:t>
            </a:r>
            <a:r>
              <a:rPr lang="en-US" b="1" dirty="0" err="1" smtClean="0">
                <a:latin typeface="Arial" pitchFamily="34" charset="0"/>
                <a:cs typeface="Arial" pitchFamily="34" charset="0"/>
              </a:rPr>
              <a:t>honour</a:t>
            </a:r>
            <a:r>
              <a:rPr lang="en-US" b="1" dirty="0" smtClean="0">
                <a:latin typeface="Arial" pitchFamily="34" charset="0"/>
                <a:cs typeface="Arial" pitchFamily="34" charset="0"/>
              </a:rPr>
              <a:t> his deal with the peasant. </a:t>
            </a:r>
          </a:p>
          <a:p>
            <a:pPr marL="441325" indent="-4413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In the fashion of tyrants when faced with ruin, the King had the peasant’s head cut off. </a:t>
            </a:r>
          </a:p>
          <a:p>
            <a:pPr marL="441325" indent="-4413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441325" indent="-441325">
              <a:lnSpc>
                <a:spcPct val="150000"/>
              </a:lnSpc>
              <a:tabLst>
                <a:tab pos="441325" algn="l"/>
              </a:tabLst>
            </a:pPr>
            <a:r>
              <a:rPr lang="en-US" b="1" dirty="0" smtClean="0">
                <a:latin typeface="Arial" pitchFamily="34" charset="0"/>
                <a:cs typeface="Arial" pitchFamily="34" charset="0"/>
              </a:rPr>
              <a:t>…now the numbers…</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45518" y="1214422"/>
            <a:ext cx="4083936" cy="171136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If you wish to calculate how many grains of rice the peasant won,</a:t>
            </a:r>
            <a:br>
              <a:rPr lang="en-US" b="1" dirty="0" smtClean="0">
                <a:latin typeface="Arial" pitchFamily="34" charset="0"/>
                <a:cs typeface="Arial" pitchFamily="34" charset="0"/>
              </a:rPr>
            </a:br>
            <a:r>
              <a:rPr lang="en-US" b="1" dirty="0" smtClean="0">
                <a:latin typeface="Arial" pitchFamily="34" charset="0"/>
                <a:cs typeface="Arial" pitchFamily="34" charset="0"/>
              </a:rPr>
              <a:t>it’s 18,446,744,073,709,551,615,</a:t>
            </a:r>
            <a:br>
              <a:rPr lang="en-US" b="1" dirty="0" smtClean="0">
                <a:latin typeface="Arial" pitchFamily="34" charset="0"/>
                <a:cs typeface="Arial" pitchFamily="34" charset="0"/>
              </a:rPr>
            </a:br>
            <a:r>
              <a:rPr lang="en-US" b="1" dirty="0" smtClean="0">
                <a:latin typeface="Arial" pitchFamily="34" charset="0"/>
                <a:cs typeface="Arial" pitchFamily="34" charset="0"/>
              </a:rPr>
              <a:t>or about 18 quintillion!!</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5929322" y="1071546"/>
            <a:ext cx="2286016" cy="383181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As you can see,</a:t>
            </a:r>
            <a:br>
              <a:rPr lang="en-US" b="1" dirty="0" smtClean="0">
                <a:latin typeface="Arial" pitchFamily="34" charset="0"/>
                <a:cs typeface="Arial" pitchFamily="34" charset="0"/>
              </a:rPr>
            </a:br>
            <a:r>
              <a:rPr lang="en-US" b="1" dirty="0" smtClean="0">
                <a:latin typeface="Arial" pitchFamily="34" charset="0"/>
                <a:cs typeface="Arial" pitchFamily="34" charset="0"/>
              </a:rPr>
              <a:t>if an average grain of rice weighs roughly 10 milligrams, this much rice would weigh about 15 times as much as Mt. Everest!!</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pic>
        <p:nvPicPr>
          <p:cNvPr id="7" name="Picture 7" descr="chessmath"/>
          <p:cNvPicPr>
            <a:picLocks noChangeAspect="1" noChangeArrowheads="1"/>
          </p:cNvPicPr>
          <p:nvPr/>
        </p:nvPicPr>
        <p:blipFill>
          <a:blip r:embed="rId3" cstate="print"/>
          <a:srcRect/>
          <a:stretch>
            <a:fillRect/>
          </a:stretch>
        </p:blipFill>
        <p:spPr bwMode="auto">
          <a:xfrm>
            <a:off x="642910" y="1071546"/>
            <a:ext cx="5000660" cy="4127831"/>
          </a:xfrm>
          <a:prstGeom prst="rect">
            <a:avLst/>
          </a:prstGeom>
          <a:noFill/>
        </p:spPr>
      </p:pic>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4810" y="4929198"/>
            <a:ext cx="3786214" cy="88036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This is what is popularly known as the ‘Power of Compounding’.</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45518" y="1427088"/>
            <a:ext cx="4083936" cy="1287532"/>
          </a:xfrm>
          <a:prstGeom prst="rect">
            <a:avLst/>
          </a:prstGeom>
        </p:spPr>
        <p:txBody>
          <a:bodyPr wrap="square">
            <a:spAutoFit/>
          </a:bodyPr>
          <a:lstStyle/>
          <a:p>
            <a:pPr algn="ctr">
              <a:lnSpc>
                <a:spcPct val="150000"/>
              </a:lnSpc>
              <a:buFontTx/>
              <a:buNone/>
            </a:pPr>
            <a:r>
              <a:rPr lang="en-US" b="1" dirty="0" smtClean="0">
                <a:latin typeface="Arial" pitchFamily="34" charset="0"/>
                <a:cs typeface="Arial" pitchFamily="34" charset="0"/>
              </a:rPr>
              <a:t>Hope this story succeeded in clarifying the concept of Compounding.</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COMPOUNDING</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3"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4"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00100" y="2072939"/>
            <a:ext cx="4032448" cy="935769"/>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Please give us your feedback at </a:t>
            </a:r>
          </a:p>
          <a:p>
            <a:pPr marL="342900" indent="-342900" algn="ctr">
              <a:lnSpc>
                <a:spcPct val="150000"/>
              </a:lnSpc>
              <a:spcBef>
                <a:spcPct val="20000"/>
              </a:spcBef>
            </a:pPr>
            <a:r>
              <a:rPr lang="en-US" b="1" dirty="0" smtClean="0">
                <a:latin typeface="Arial" pitchFamily="34" charset="0"/>
                <a:cs typeface="Arial" pitchFamily="34" charset="0"/>
                <a:hlinkClick r:id="rId5"/>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3531</TotalTime>
  <Words>469</Words>
  <Application>Microsoft Office PowerPoint</Application>
  <PresentationFormat>On-screen Show (4:3)</PresentationFormat>
  <Paragraphs>39</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483</cp:revision>
  <dcterms:created xsi:type="dcterms:W3CDTF">2013-10-22T09:41:31Z</dcterms:created>
  <dcterms:modified xsi:type="dcterms:W3CDTF">2014-09-18T12:10:15Z</dcterms:modified>
</cp:coreProperties>
</file>