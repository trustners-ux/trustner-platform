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56" r:id="rId2"/>
    <p:sldId id="358" r:id="rId3"/>
    <p:sldId id="353" r:id="rId4"/>
    <p:sldId id="334" r:id="rId5"/>
    <p:sldId id="335" r:id="rId6"/>
    <p:sldId id="346" r:id="rId7"/>
    <p:sldId id="360" r:id="rId8"/>
    <p:sldId id="370" r:id="rId9"/>
    <p:sldId id="371" r:id="rId10"/>
    <p:sldId id="372" r:id="rId11"/>
    <p:sldId id="355" r:id="rId12"/>
    <p:sldId id="287" r:id="rId13"/>
    <p:sldId id="273" r:id="rId14"/>
  </p:sldIdLst>
  <p:sldSz cx="9144000" cy="6858000" type="screen4x3"/>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103" d="100"/>
          <a:sy n="103" d="100"/>
        </p:scale>
        <p:origin x="-198"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777CEE00-ACA9-44A9-8AAA-3DA1B8A2502C}" type="datetimeFigureOut">
              <a:rPr lang="en-US" smtClean="0"/>
              <a:pPr/>
              <a:t>9/22/2014</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FE07130C-A65C-43A9-A376-D014D897E3DB}"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endParaRPr lang="en-IN"/>
          </a:p>
        </p:txBody>
      </p:sp>
      <p:sp>
        <p:nvSpPr>
          <p:cNvPr id="3" name="Date Placeholder 2"/>
          <p:cNvSpPr>
            <a:spLocks noGrp="1"/>
          </p:cNvSpPr>
          <p:nvPr>
            <p:ph type="dt" idx="1"/>
          </p:nvPr>
        </p:nvSpPr>
        <p:spPr>
          <a:xfrm>
            <a:off x="3898102" y="0"/>
            <a:ext cx="2982119" cy="464820"/>
          </a:xfrm>
          <a:prstGeom prst="rect">
            <a:avLst/>
          </a:prstGeom>
        </p:spPr>
        <p:txBody>
          <a:bodyPr vert="horz" lIns="92446" tIns="46223" rIns="92446" bIns="46223" rtlCol="0"/>
          <a:lstStyle>
            <a:lvl1pPr algn="r">
              <a:defRPr sz="1200"/>
            </a:lvl1pPr>
          </a:lstStyle>
          <a:p>
            <a:fld id="{B10E05B8-715C-4FAF-BC8A-A5F0580F534E}" type="datetimeFigureOut">
              <a:rPr lang="en-US" smtClean="0"/>
              <a:pPr/>
              <a:t>9/22/2014</a:t>
            </a:fld>
            <a:endParaRPr lang="en-IN"/>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2446" tIns="46223" rIns="92446" bIns="46223" rtlCol="0" anchor="ctr"/>
          <a:lstStyle/>
          <a:p>
            <a:endParaRPr lang="en-IN"/>
          </a:p>
        </p:txBody>
      </p:sp>
      <p:sp>
        <p:nvSpPr>
          <p:cNvPr id="5" name="Notes Placeholder 4"/>
          <p:cNvSpPr>
            <a:spLocks noGrp="1"/>
          </p:cNvSpPr>
          <p:nvPr>
            <p:ph type="body" sz="quarter" idx="3"/>
          </p:nvPr>
        </p:nvSpPr>
        <p:spPr>
          <a:xfrm>
            <a:off x="688182" y="4415790"/>
            <a:ext cx="5505450" cy="4183380"/>
          </a:xfrm>
          <a:prstGeom prst="rect">
            <a:avLst/>
          </a:prstGeom>
        </p:spPr>
        <p:txBody>
          <a:bodyPr vert="horz" lIns="92446" tIns="46223" rIns="92446" bIns="46223"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829967"/>
            <a:ext cx="2982119" cy="464820"/>
          </a:xfrm>
          <a:prstGeom prst="rect">
            <a:avLst/>
          </a:prstGeom>
        </p:spPr>
        <p:txBody>
          <a:bodyPr vert="horz" lIns="92446" tIns="46223" rIns="92446" bIns="46223" rtlCol="0" anchor="b"/>
          <a:lstStyle>
            <a:lvl1pPr algn="l">
              <a:defRPr sz="1200"/>
            </a:lvl1pPr>
          </a:lstStyle>
          <a:p>
            <a:endParaRPr lang="en-IN"/>
          </a:p>
        </p:txBody>
      </p:sp>
      <p:sp>
        <p:nvSpPr>
          <p:cNvPr id="7" name="Slide Number Placeholder 6"/>
          <p:cNvSpPr>
            <a:spLocks noGrp="1"/>
          </p:cNvSpPr>
          <p:nvPr>
            <p:ph type="sldNum" sz="quarter" idx="5"/>
          </p:nvPr>
        </p:nvSpPr>
        <p:spPr>
          <a:xfrm>
            <a:off x="3898102" y="8829967"/>
            <a:ext cx="2982119" cy="464820"/>
          </a:xfrm>
          <a:prstGeom prst="rect">
            <a:avLst/>
          </a:prstGeom>
        </p:spPr>
        <p:txBody>
          <a:bodyPr vert="horz" lIns="92446" tIns="46223" rIns="92446" bIns="46223"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9/22/2014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9/22/2014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9/22/2014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9/22/2014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353943"/>
          </a:xfrm>
          <a:prstGeom prst="rect">
            <a:avLst/>
          </a:prstGeom>
          <a:noFill/>
        </p:spPr>
        <p:txBody>
          <a:bodyPr wrap="square" rtlCol="0">
            <a:spAutoFit/>
          </a:bodyPr>
          <a:lstStyle/>
          <a:p>
            <a:pPr algn="ctr"/>
            <a:r>
              <a:rPr lang="en-US" sz="1700" b="1" dirty="0" smtClean="0">
                <a:solidFill>
                  <a:schemeClr val="bg1"/>
                </a:solidFill>
                <a:latin typeface="Arial" pitchFamily="34" charset="0"/>
                <a:cs typeface="Arial" pitchFamily="34" charset="0"/>
              </a:rPr>
              <a:t>CAPITAL ACCOUNT CONVERTIBILITY</a:t>
            </a:r>
            <a:endParaRPr lang="en-US" sz="17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835696" y="1770782"/>
            <a:ext cx="2520280" cy="1154162"/>
          </a:xfrm>
          <a:prstGeom prst="rect">
            <a:avLst/>
          </a:prstGeom>
          <a:noFill/>
        </p:spPr>
        <p:txBody>
          <a:bodyPr wrap="square" rtlCol="0">
            <a:spAutoFit/>
          </a:bodyPr>
          <a:lstStyle/>
          <a:p>
            <a:pPr>
              <a:lnSpc>
                <a:spcPct val="150000"/>
              </a:lnSpc>
              <a:buFontTx/>
              <a:buNone/>
            </a:pPr>
            <a:r>
              <a:rPr lang="en-US" sz="1600" b="1" dirty="0">
                <a:latin typeface="Arial" pitchFamily="34" charset="0"/>
                <a:cs typeface="Arial" pitchFamily="34" charset="0"/>
              </a:rPr>
              <a:t>Understanding Capital Account Convertibility </a:t>
            </a:r>
            <a:br>
              <a:rPr lang="en-US" sz="1600" b="1" dirty="0">
                <a:latin typeface="Arial" pitchFamily="34" charset="0"/>
                <a:cs typeface="Arial" pitchFamily="34" charset="0"/>
              </a:rPr>
            </a:br>
            <a:r>
              <a:rPr lang="en-US" sz="1400" b="1" dirty="0">
                <a:latin typeface="Arial" pitchFamily="34" charset="0"/>
                <a:cs typeface="Arial" pitchFamily="34" charset="0"/>
              </a:rPr>
              <a:t>–  By Prof. </a:t>
            </a:r>
            <a:r>
              <a:rPr lang="en-US" sz="1400" b="1" i="1" dirty="0">
                <a:latin typeface="Arial" pitchFamily="34" charset="0"/>
                <a:cs typeface="Arial" pitchFamily="34" charset="0"/>
              </a:rPr>
              <a:t>Simply</a:t>
            </a:r>
            <a:r>
              <a:rPr lang="en-US" sz="1400" b="1" dirty="0">
                <a:latin typeface="Arial" pitchFamily="34" charset="0"/>
                <a:cs typeface="Arial" pitchFamily="34" charset="0"/>
              </a:rPr>
              <a:t> Simple </a:t>
            </a:r>
            <a:r>
              <a:rPr lang="en-US" sz="1100" b="1" baseline="70000" dirty="0">
                <a:latin typeface="Arial" pitchFamily="34" charset="0"/>
                <a:cs typeface="Arial" pitchFamily="34" charset="0"/>
              </a:rPr>
              <a:t>TM</a:t>
            </a:r>
            <a:endParaRPr lang="en-US" sz="1500" b="1"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4005064"/>
            <a:ext cx="4248472" cy="2262671"/>
          </a:xfrm>
          <a:prstGeom prst="rect">
            <a:avLst/>
          </a:prstGeom>
        </p:spPr>
        <p:txBody>
          <a:bodyPr wrap="square">
            <a:spAutoFit/>
          </a:bodyPr>
          <a:lstStyle/>
          <a:p>
            <a:pPr>
              <a:lnSpc>
                <a:spcPct val="150000"/>
              </a:lnSpc>
              <a:buFontTx/>
              <a:buNone/>
            </a:pPr>
            <a:r>
              <a:rPr lang="en-US" sz="1600" b="1" dirty="0" smtClean="0">
                <a:latin typeface="Arial" pitchFamily="34" charset="0"/>
                <a:cs typeface="Arial" pitchFamily="34" charset="0"/>
              </a:rPr>
              <a:t>The </a:t>
            </a:r>
            <a:r>
              <a:rPr lang="en-US" sz="1600" b="1" dirty="0">
                <a:latin typeface="Arial" pitchFamily="34" charset="0"/>
                <a:cs typeface="Arial" pitchFamily="34" charset="0"/>
              </a:rPr>
              <a:t>RBI has defined Capital Account Convertibility (CAC) as the freedom to convert local financial assets into foreign financial assets and vice versa at market determined rates of exchange without any sort of intermediation and regulation.</a:t>
            </a: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CAPITAL ACCOUNT CONVERTIBILITY</a:t>
            </a:r>
          </a:p>
        </p:txBody>
      </p:sp>
    </p:spTree>
    <p:extLst>
      <p:ext uri="{BB962C8B-B14F-4D97-AF65-F5344CB8AC3E}">
        <p14:creationId xmlns:p14="http://schemas.microsoft.com/office/powerpoint/2010/main" xmlns="" val="11981463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980728"/>
            <a:ext cx="7416824" cy="465705"/>
          </a:xfrm>
          <a:prstGeom prst="rect">
            <a:avLst/>
          </a:prstGeom>
        </p:spPr>
        <p:txBody>
          <a:bodyPr wrap="square">
            <a:spAutoFit/>
          </a:bodyPr>
          <a:lstStyle/>
          <a:p>
            <a:pPr algn="ctr">
              <a:lnSpc>
                <a:spcPct val="150000"/>
              </a:lnSpc>
              <a:spcBef>
                <a:spcPct val="50000"/>
              </a:spcBef>
            </a:pPr>
            <a:r>
              <a:rPr lang="en-US" b="1" dirty="0">
                <a:latin typeface="Arial" pitchFamily="34" charset="0"/>
                <a:cs typeface="Arial" pitchFamily="34" charset="0"/>
              </a:rPr>
              <a:t>So what is its use?</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CAPITAL ACCOUNT CONVERTIBILITY</a:t>
            </a:r>
          </a:p>
        </p:txBody>
      </p:sp>
      <p:sp>
        <p:nvSpPr>
          <p:cNvPr id="3" name="Rectangle 2"/>
          <p:cNvSpPr/>
          <p:nvPr/>
        </p:nvSpPr>
        <p:spPr>
          <a:xfrm>
            <a:off x="683568" y="1412776"/>
            <a:ext cx="7560840" cy="3970318"/>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500" b="1" dirty="0">
                <a:latin typeface="Arial" pitchFamily="34" charset="0"/>
                <a:cs typeface="Arial" pitchFamily="34" charset="0"/>
              </a:rPr>
              <a:t>It is intended for local merchants to easily conduct trans-national </a:t>
            </a:r>
            <a:r>
              <a:rPr lang="en-US" sz="1500" b="1" dirty="0" smtClean="0">
                <a:latin typeface="Arial" pitchFamily="34" charset="0"/>
                <a:cs typeface="Arial" pitchFamily="34" charset="0"/>
              </a:rPr>
              <a:t>business</a:t>
            </a:r>
            <a:br>
              <a:rPr lang="en-US" sz="1500" b="1" dirty="0" smtClean="0">
                <a:latin typeface="Arial" pitchFamily="34" charset="0"/>
                <a:cs typeface="Arial" pitchFamily="34" charset="0"/>
              </a:rPr>
            </a:br>
            <a:r>
              <a:rPr lang="en-US" sz="1500" b="1" dirty="0" smtClean="0">
                <a:latin typeface="Arial" pitchFamily="34" charset="0"/>
                <a:cs typeface="Arial" pitchFamily="34" charset="0"/>
              </a:rPr>
              <a:t>freely </a:t>
            </a:r>
            <a:r>
              <a:rPr lang="en-US" sz="1500" b="1" dirty="0">
                <a:latin typeface="Arial" pitchFamily="34" charset="0"/>
                <a:cs typeface="Arial" pitchFamily="34" charset="0"/>
              </a:rPr>
              <a:t>without any regulation or control.</a:t>
            </a:r>
            <a:r>
              <a:rPr lang="en-US" sz="1550" b="1" dirty="0">
                <a:latin typeface="Arial" pitchFamily="34" charset="0"/>
                <a:cs typeface="Arial" pitchFamily="34" charset="0"/>
              </a:rPr>
              <a:t/>
            </a:r>
            <a:br>
              <a:rPr lang="en-US" sz="1550" b="1" dirty="0">
                <a:latin typeface="Arial" pitchFamily="34" charset="0"/>
                <a:cs typeface="Arial" pitchFamily="34" charset="0"/>
              </a:rPr>
            </a:b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500" b="1" dirty="0">
                <a:latin typeface="Arial" pitchFamily="34" charset="0"/>
                <a:cs typeface="Arial" pitchFamily="34" charset="0"/>
              </a:rPr>
              <a:t>In case a currency is fully capital account convertible, then anybody from anywhere in the world can invest in any asset in that currency.</a:t>
            </a:r>
            <a:r>
              <a:rPr lang="en-US" sz="600" b="1" dirty="0">
                <a:latin typeface="Arial" pitchFamily="34" charset="0"/>
                <a:cs typeface="Arial" pitchFamily="34" charset="0"/>
              </a:rPr>
              <a:t/>
            </a:r>
            <a:br>
              <a:rPr lang="en-US" sz="600" b="1" dirty="0">
                <a:latin typeface="Arial" pitchFamily="34" charset="0"/>
                <a:cs typeface="Arial" pitchFamily="34" charset="0"/>
              </a:rPr>
            </a:b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500" b="1" smtClean="0">
                <a:latin typeface="Arial" pitchFamily="34" charset="0"/>
                <a:cs typeface="Arial" pitchFamily="34" charset="0"/>
              </a:rPr>
              <a:t>Thus, </a:t>
            </a:r>
            <a:r>
              <a:rPr lang="en-US" sz="1500" b="1" dirty="0">
                <a:latin typeface="Arial" pitchFamily="34" charset="0"/>
                <a:cs typeface="Arial" pitchFamily="34" charset="0"/>
              </a:rPr>
              <a:t>a US citizen could buy a flat in India, allow it to appreciate and </a:t>
            </a:r>
            <a:r>
              <a:rPr lang="en-US" sz="1500" b="1" dirty="0" smtClean="0">
                <a:latin typeface="Arial" pitchFamily="34" charset="0"/>
                <a:cs typeface="Arial" pitchFamily="34" charset="0"/>
              </a:rPr>
              <a:t>sell</a:t>
            </a:r>
            <a:br>
              <a:rPr lang="en-US" sz="1500" b="1" dirty="0" smtClean="0">
                <a:latin typeface="Arial" pitchFamily="34" charset="0"/>
                <a:cs typeface="Arial" pitchFamily="34" charset="0"/>
              </a:rPr>
            </a:br>
            <a:r>
              <a:rPr lang="en-US" sz="1500" b="1" dirty="0" smtClean="0">
                <a:latin typeface="Arial" pitchFamily="34" charset="0"/>
                <a:cs typeface="Arial" pitchFamily="34" charset="0"/>
              </a:rPr>
              <a:t>the same </a:t>
            </a:r>
            <a:r>
              <a:rPr lang="en-US" sz="1500" b="1" dirty="0">
                <a:latin typeface="Arial" pitchFamily="34" charset="0"/>
                <a:cs typeface="Arial" pitchFamily="34" charset="0"/>
              </a:rPr>
              <a:t>and take his contribution as well as the profits out of India to the US freely.</a:t>
            </a:r>
            <a:r>
              <a:rPr lang="en-US" sz="600" b="1" dirty="0">
                <a:latin typeface="Arial" pitchFamily="34" charset="0"/>
                <a:cs typeface="Arial" pitchFamily="34" charset="0"/>
              </a:rPr>
              <a:t> </a:t>
            </a:r>
            <a:br>
              <a:rPr lang="en-US" sz="600" b="1" dirty="0">
                <a:latin typeface="Arial" pitchFamily="34" charset="0"/>
                <a:cs typeface="Arial" pitchFamily="34" charset="0"/>
              </a:rPr>
            </a:b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500" b="1" dirty="0">
                <a:latin typeface="Arial" pitchFamily="34" charset="0"/>
                <a:cs typeface="Arial" pitchFamily="34" charset="0"/>
              </a:rPr>
              <a:t>Since this is not allowed in India and the government has its own rules and policies to regulate foreign investments, we say that India does not </a:t>
            </a:r>
            <a:r>
              <a:rPr lang="en-US" sz="1500" b="1" dirty="0" smtClean="0">
                <a:latin typeface="Arial" pitchFamily="34" charset="0"/>
                <a:cs typeface="Arial" pitchFamily="34" charset="0"/>
              </a:rPr>
              <a:t>have</a:t>
            </a:r>
            <a:br>
              <a:rPr lang="en-US" sz="1500" b="1" dirty="0" smtClean="0">
                <a:latin typeface="Arial" pitchFamily="34" charset="0"/>
                <a:cs typeface="Arial" pitchFamily="34" charset="0"/>
              </a:rPr>
            </a:br>
            <a:r>
              <a:rPr lang="en-US" sz="1500" b="1" dirty="0" smtClean="0">
                <a:latin typeface="Arial" pitchFamily="34" charset="0"/>
                <a:cs typeface="Arial" pitchFamily="34" charset="0"/>
              </a:rPr>
              <a:t>full </a:t>
            </a:r>
            <a:r>
              <a:rPr lang="en-US" sz="1500" b="1" dirty="0">
                <a:latin typeface="Arial" pitchFamily="34" charset="0"/>
                <a:cs typeface="Arial" pitchFamily="34" charset="0"/>
              </a:rPr>
              <a:t>CAC.</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908720"/>
            <a:ext cx="7245274" cy="456535"/>
          </a:xfrm>
          <a:prstGeom prst="rect">
            <a:avLst/>
          </a:prstGeom>
        </p:spPr>
        <p:txBody>
          <a:bodyPr wrap="square">
            <a:spAutoFit/>
          </a:bodyPr>
          <a:lstStyle/>
          <a:p>
            <a:pPr algn="ctr">
              <a:lnSpc>
                <a:spcPct val="150000"/>
              </a:lnSpc>
              <a:spcBef>
                <a:spcPct val="50000"/>
              </a:spcBef>
            </a:pPr>
            <a:r>
              <a:rPr lang="en-US" b="1" dirty="0">
                <a:latin typeface="Arial" pitchFamily="34" charset="0"/>
                <a:cs typeface="Arial" pitchFamily="34" charset="0"/>
              </a:rPr>
              <a:t>However, a word of warning…</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CAPITAL ACCOUNT CONVERTIBILITY</a:t>
            </a:r>
          </a:p>
        </p:txBody>
      </p:sp>
      <p:sp>
        <p:nvSpPr>
          <p:cNvPr id="3" name="Rectangle 2"/>
          <p:cNvSpPr/>
          <p:nvPr/>
        </p:nvSpPr>
        <p:spPr>
          <a:xfrm>
            <a:off x="827584" y="1412190"/>
            <a:ext cx="7632848" cy="369331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CAC also allows the people and companies not only to convert one currency to another, but also free cross-border movement of those currencies, without the interventions of the law of the country concerned</a:t>
            </a:r>
            <a:r>
              <a:rPr lang="en-US" sz="1750" b="1" dirty="0">
                <a:latin typeface="Arial" pitchFamily="34" charset="0"/>
                <a:cs typeface="Arial" pitchFamily="34" charset="0"/>
              </a:rPr>
              <a:t>. </a:t>
            </a:r>
            <a:br>
              <a:rPr lang="en-US" sz="1750" b="1" dirty="0">
                <a:latin typeface="Arial" pitchFamily="34" charset="0"/>
                <a:cs typeface="Arial" pitchFamily="34" charset="0"/>
              </a:rPr>
            </a:b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Thus, Indians could convert their rupees into dollars and park it in the US if there was capital account convertibility here</a:t>
            </a:r>
            <a:r>
              <a:rPr lang="en-US" sz="1750" b="1" dirty="0">
                <a:latin typeface="Arial" pitchFamily="34" charset="0"/>
                <a:cs typeface="Arial" pitchFamily="34" charset="0"/>
              </a:rPr>
              <a:t>.</a:t>
            </a:r>
            <a:br>
              <a:rPr lang="en-US" sz="1750" b="1" dirty="0">
                <a:latin typeface="Arial" pitchFamily="34" charset="0"/>
                <a:cs typeface="Arial" pitchFamily="34" charset="0"/>
              </a:rPr>
            </a:b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Imagine if a large number of Indians were to do this out of an irrational fear that India might go to war with Pakistan!</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28249"/>
            <a:ext cx="7245274"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What would happen then?</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CAPITAL ACCOUNT CONVERTIBILITY</a:t>
            </a:r>
          </a:p>
        </p:txBody>
      </p:sp>
      <p:sp>
        <p:nvSpPr>
          <p:cNvPr id="3" name="Rectangle 2"/>
          <p:cNvSpPr/>
          <p:nvPr/>
        </p:nvSpPr>
        <p:spPr>
          <a:xfrm>
            <a:off x="789871" y="1412776"/>
            <a:ext cx="7958593" cy="3970318"/>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would lead to an irrational demand for dollar and would cause a free fall in the value of the Indian Rupee, thereby detrimentally affecting the economy</a:t>
            </a:r>
            <a:r>
              <a:rPr lang="en-US" sz="1700" b="1" dirty="0">
                <a:latin typeface="Arial" pitchFamily="34" charset="0"/>
                <a:cs typeface="Arial" pitchFamily="34" charset="0"/>
              </a:rPr>
              <a:t>.</a:t>
            </a:r>
            <a:br>
              <a:rPr lang="en-US" sz="1700" b="1" dirty="0">
                <a:latin typeface="Arial" pitchFamily="34" charset="0"/>
                <a:cs typeface="Arial" pitchFamily="34" charset="0"/>
              </a:rPr>
            </a:br>
            <a:endParaRPr lang="en-US" sz="12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Something like this happened in the Asian crisis in Thailand where the citizens lost confidence in the Thai Baht leading to a mass sale of the currency and subsequent collapse of the same</a:t>
            </a:r>
            <a:r>
              <a:rPr lang="en-US" sz="1700" b="1" dirty="0">
                <a:latin typeface="Arial" pitchFamily="34" charset="0"/>
                <a:cs typeface="Arial" pitchFamily="34" charset="0"/>
              </a:rPr>
              <a:t>. </a:t>
            </a:r>
          </a:p>
          <a:p>
            <a:pPr marL="465138" indent="-465138">
              <a:lnSpc>
                <a:spcPct val="150000"/>
              </a:lnSpc>
              <a:buFont typeface="Wingdings" pitchFamily="2" charset="2"/>
              <a:buChar char="q"/>
              <a:tabLst>
                <a:tab pos="465138" algn="l"/>
              </a:tabLst>
            </a:pPr>
            <a:endParaRPr lang="en-US" sz="12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happened because their currency was fully capital account convertible.</a:t>
            </a:r>
          </a:p>
        </p:txBody>
      </p:sp>
    </p:spTree>
    <p:extLst>
      <p:ext uri="{BB962C8B-B14F-4D97-AF65-F5344CB8AC3E}">
        <p14:creationId xmlns:p14="http://schemas.microsoft.com/office/powerpoint/2010/main" xmlns="" val="3417281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836712"/>
            <a:ext cx="7245274" cy="923330"/>
          </a:xfrm>
          <a:prstGeom prst="rect">
            <a:avLst/>
          </a:prstGeom>
        </p:spPr>
        <p:txBody>
          <a:bodyPr wrap="square">
            <a:spAutoFit/>
          </a:bodyPr>
          <a:lstStyle/>
          <a:p>
            <a:pPr algn="ctr">
              <a:lnSpc>
                <a:spcPct val="150000"/>
              </a:lnSpc>
            </a:pPr>
            <a:r>
              <a:rPr lang="en-US" b="1" dirty="0">
                <a:latin typeface="Arial" pitchFamily="34" charset="0"/>
                <a:cs typeface="Arial" pitchFamily="34" charset="0"/>
              </a:rPr>
              <a:t>So when can India expect to </a:t>
            </a:r>
            <a:r>
              <a:rPr lang="en-US" b="1" dirty="0" smtClean="0">
                <a:latin typeface="Arial" pitchFamily="34" charset="0"/>
                <a:cs typeface="Arial" pitchFamily="34" charset="0"/>
              </a:rPr>
              <a:t>have full</a:t>
            </a:r>
            <a:br>
              <a:rPr lang="en-US" b="1" dirty="0" smtClean="0">
                <a:latin typeface="Arial" pitchFamily="34" charset="0"/>
                <a:cs typeface="Arial" pitchFamily="34" charset="0"/>
              </a:rPr>
            </a:br>
            <a:r>
              <a:rPr lang="en-US" b="1" dirty="0" smtClean="0">
                <a:latin typeface="Arial" pitchFamily="34" charset="0"/>
                <a:cs typeface="Arial" pitchFamily="34" charset="0"/>
              </a:rPr>
              <a:t>Capital </a:t>
            </a:r>
            <a:r>
              <a:rPr lang="en-US" b="1" dirty="0">
                <a:latin typeface="Arial" pitchFamily="34" charset="0"/>
                <a:cs typeface="Arial" pitchFamily="34" charset="0"/>
              </a:rPr>
              <a:t>Account Convertibility?</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CAPITAL ACCOUNT CONVERTIBILITY</a:t>
            </a:r>
          </a:p>
        </p:txBody>
      </p:sp>
      <p:sp>
        <p:nvSpPr>
          <p:cNvPr id="3" name="Rectangle 2"/>
          <p:cNvSpPr/>
          <p:nvPr/>
        </p:nvSpPr>
        <p:spPr>
          <a:xfrm>
            <a:off x="827584" y="1700808"/>
            <a:ext cx="7560840" cy="3924151"/>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For full CAC, the economy should be extremely stable so </a:t>
            </a:r>
            <a:r>
              <a:rPr lang="en-US" sz="1600" b="1" dirty="0" smtClean="0">
                <a:latin typeface="Arial" pitchFamily="34" charset="0"/>
                <a:cs typeface="Arial" pitchFamily="34" charset="0"/>
              </a:rPr>
              <a:t>that</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its </a:t>
            </a:r>
            <a:r>
              <a:rPr lang="en-US" sz="1600" b="1" dirty="0">
                <a:latin typeface="Arial" pitchFamily="34" charset="0"/>
                <a:cs typeface="Arial" pitchFamily="34" charset="0"/>
              </a:rPr>
              <a:t>citizens are never made to feel insecure about their economy and drive them into irrationally converting their currencies and investing them abroad.</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Under the </a:t>
            </a:r>
            <a:r>
              <a:rPr lang="en-US" sz="1600" b="1" dirty="0" err="1">
                <a:latin typeface="Arial" pitchFamily="34" charset="0"/>
                <a:cs typeface="Arial" pitchFamily="34" charset="0"/>
              </a:rPr>
              <a:t>Tarapore</a:t>
            </a:r>
            <a:r>
              <a:rPr lang="en-US" sz="1600" b="1" dirty="0">
                <a:latin typeface="Arial" pitchFamily="34" charset="0"/>
                <a:cs typeface="Arial" pitchFamily="34" charset="0"/>
              </a:rPr>
              <a:t> Committee recommendations, this was possible only when the following conditions were satisfied: </a:t>
            </a:r>
          </a:p>
          <a:p>
            <a:pPr marL="914400" lvl="1" indent="-449263">
              <a:lnSpc>
                <a:spcPct val="150000"/>
              </a:lnSpc>
              <a:buFont typeface="Wingdings" pitchFamily="2" charset="2"/>
              <a:buChar char="q"/>
              <a:tabLst>
                <a:tab pos="465138" algn="l"/>
                <a:tab pos="914400" algn="l"/>
              </a:tabLst>
            </a:pPr>
            <a:r>
              <a:rPr lang="en-US" sz="1600" b="1" dirty="0" smtClean="0">
                <a:latin typeface="Arial" pitchFamily="34" charset="0"/>
                <a:cs typeface="Arial" pitchFamily="34" charset="0"/>
              </a:rPr>
              <a:t>The </a:t>
            </a:r>
            <a:r>
              <a:rPr lang="en-US" sz="1600" b="1" dirty="0">
                <a:latin typeface="Arial" pitchFamily="34" charset="0"/>
                <a:cs typeface="Arial" pitchFamily="34" charset="0"/>
              </a:rPr>
              <a:t>average rate of inflation should vary between 3% to </a:t>
            </a:r>
            <a:r>
              <a:rPr lang="en-US" sz="1600" b="1" dirty="0" smtClean="0">
                <a:latin typeface="Arial" pitchFamily="34" charset="0"/>
                <a:cs typeface="Arial" pitchFamily="34" charset="0"/>
              </a:rPr>
              <a:t>5%</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during </a:t>
            </a:r>
            <a:r>
              <a:rPr lang="en-US" sz="1600" b="1" dirty="0">
                <a:latin typeface="Arial" pitchFamily="34" charset="0"/>
                <a:cs typeface="Arial" pitchFamily="34" charset="0"/>
              </a:rPr>
              <a:t>the debt-servicing time. </a:t>
            </a:r>
          </a:p>
          <a:p>
            <a:pPr marL="914400" lvl="1" indent="-449263">
              <a:lnSpc>
                <a:spcPct val="150000"/>
              </a:lnSpc>
              <a:buFont typeface="Wingdings" pitchFamily="2" charset="2"/>
              <a:buChar char="q"/>
              <a:tabLst>
                <a:tab pos="465138" algn="l"/>
                <a:tab pos="914400" algn="l"/>
              </a:tabLst>
            </a:pPr>
            <a:r>
              <a:rPr lang="en-US" sz="1600" b="1" dirty="0">
                <a:latin typeface="Arial" pitchFamily="34" charset="0"/>
                <a:cs typeface="Arial" pitchFamily="34" charset="0"/>
              </a:rPr>
              <a:t>Decreasing the gross fiscal deficit to the GDP ratio by </a:t>
            </a:r>
            <a:r>
              <a:rPr lang="en-US" sz="1600" b="1" dirty="0" smtClean="0">
                <a:latin typeface="Arial" pitchFamily="34" charset="0"/>
                <a:cs typeface="Arial" pitchFamily="34" charset="0"/>
              </a:rPr>
              <a:t>3.5%</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in </a:t>
            </a:r>
            <a:r>
              <a:rPr lang="en-US" sz="1600" b="1" dirty="0">
                <a:latin typeface="Arial" pitchFamily="34" charset="0"/>
                <a:cs typeface="Arial" pitchFamily="34" charset="0"/>
              </a:rPr>
              <a:t>1999-2000.</a:t>
            </a:r>
          </a:p>
        </p:txBody>
      </p:sp>
    </p:spTree>
    <p:extLst>
      <p:ext uri="{BB962C8B-B14F-4D97-AF65-F5344CB8AC3E}">
        <p14:creationId xmlns:p14="http://schemas.microsoft.com/office/powerpoint/2010/main" xmlns="" val="5942471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836712"/>
            <a:ext cx="7245274" cy="923330"/>
          </a:xfrm>
          <a:prstGeom prst="rect">
            <a:avLst/>
          </a:prstGeom>
        </p:spPr>
        <p:txBody>
          <a:bodyPr wrap="square">
            <a:spAutoFit/>
          </a:bodyPr>
          <a:lstStyle/>
          <a:p>
            <a:pPr algn="ctr">
              <a:lnSpc>
                <a:spcPct val="150000"/>
              </a:lnSpc>
            </a:pPr>
            <a:r>
              <a:rPr lang="en-US" b="1" dirty="0">
                <a:latin typeface="Arial" pitchFamily="34" charset="0"/>
                <a:cs typeface="Arial" pitchFamily="34" charset="0"/>
              </a:rPr>
              <a:t>Convertible Account </a:t>
            </a:r>
            <a:r>
              <a:rPr lang="en-US" b="1" dirty="0" smtClean="0">
                <a:latin typeface="Arial" pitchFamily="34" charset="0"/>
                <a:cs typeface="Arial" pitchFamily="34" charset="0"/>
              </a:rPr>
              <a:t>Convertibility</a:t>
            </a:r>
            <a:br>
              <a:rPr lang="en-US" b="1" dirty="0" smtClean="0">
                <a:latin typeface="Arial" pitchFamily="34" charset="0"/>
                <a:cs typeface="Arial" pitchFamily="34" charset="0"/>
              </a:rPr>
            </a:br>
            <a:r>
              <a:rPr lang="en-US" b="1" dirty="0" smtClean="0">
                <a:latin typeface="Arial" pitchFamily="34" charset="0"/>
                <a:cs typeface="Arial" pitchFamily="34" charset="0"/>
              </a:rPr>
              <a:t>in </a:t>
            </a:r>
            <a:r>
              <a:rPr lang="en-US" b="1" dirty="0">
                <a:latin typeface="Arial" pitchFamily="34" charset="0"/>
                <a:cs typeface="Arial" pitchFamily="34" charset="0"/>
              </a:rPr>
              <a:t>India is regulated as follows…</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CAPITAL ACCOUNT CONVERTIBILITY</a:t>
            </a:r>
          </a:p>
        </p:txBody>
      </p:sp>
      <p:sp>
        <p:nvSpPr>
          <p:cNvPr id="3" name="Rectangle 2"/>
          <p:cNvSpPr/>
          <p:nvPr/>
        </p:nvSpPr>
        <p:spPr>
          <a:xfrm>
            <a:off x="827584" y="1700808"/>
            <a:ext cx="7560840" cy="3831818"/>
          </a:xfrm>
          <a:prstGeom prst="rect">
            <a:avLst/>
          </a:prstGeom>
        </p:spPr>
        <p:txBody>
          <a:bodyPr wrap="square">
            <a:spAutoFit/>
          </a:bodyPr>
          <a:lstStyle/>
          <a:p>
            <a:pPr>
              <a:lnSpc>
                <a:spcPct val="150000"/>
              </a:lnSpc>
              <a:buFontTx/>
              <a:buNone/>
            </a:pPr>
            <a:r>
              <a:rPr lang="en-US" sz="1600" b="1" dirty="0" smtClean="0">
                <a:latin typeface="Arial" pitchFamily="34" charset="0"/>
                <a:cs typeface="Arial" pitchFamily="34" charset="0"/>
              </a:rPr>
              <a:t>All </a:t>
            </a:r>
            <a:r>
              <a:rPr lang="en-US" sz="1600" b="1" dirty="0">
                <a:latin typeface="Arial" pitchFamily="34" charset="0"/>
                <a:cs typeface="Arial" pitchFamily="34" charset="0"/>
              </a:rPr>
              <a:t>types of liquid capital assets must be able to be feely exchanged, between any two nations, with standardized exchange rates. </a:t>
            </a:r>
            <a:endParaRPr lang="en-US" sz="1600" b="1" dirty="0" smtClean="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smtClean="0">
                <a:latin typeface="Arial" pitchFamily="34" charset="0"/>
                <a:cs typeface="Arial" pitchFamily="34" charset="0"/>
              </a:rPr>
              <a:t>The </a:t>
            </a:r>
            <a:r>
              <a:rPr lang="en-US" sz="1600" b="1" dirty="0">
                <a:latin typeface="Arial" pitchFamily="34" charset="0"/>
                <a:cs typeface="Arial" pitchFamily="34" charset="0"/>
              </a:rPr>
              <a:t>amounts must be a significant amount (in excess of $500,000</a:t>
            </a:r>
            <a:r>
              <a:rPr lang="en-US" sz="1600" b="1" dirty="0" smtClean="0">
                <a:latin typeface="Arial" pitchFamily="34" charset="0"/>
                <a:cs typeface="Arial" pitchFamily="34" charset="0"/>
              </a:rPr>
              <a:t>).</a:t>
            </a:r>
          </a:p>
          <a:p>
            <a:pPr marL="465138" indent="-465138">
              <a:lnSpc>
                <a:spcPct val="150000"/>
              </a:lnSpc>
              <a:buFont typeface="Wingdings" pitchFamily="2" charset="2"/>
              <a:buChar char="q"/>
              <a:tabLst>
                <a:tab pos="465138" algn="l"/>
              </a:tabLst>
            </a:pPr>
            <a:endParaRPr lang="en-US" sz="4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Capital inflows should be invested in semi-liquid assets, to prevent churning and excessive outflow</a:t>
            </a:r>
            <a:r>
              <a:rPr lang="en-US" sz="1600" b="1" dirty="0" smtClean="0">
                <a:latin typeface="Arial" pitchFamily="34" charset="0"/>
                <a:cs typeface="Arial" pitchFamily="34" charset="0"/>
              </a:rPr>
              <a:t>.</a:t>
            </a:r>
          </a:p>
          <a:p>
            <a:pPr marL="465138" indent="-465138">
              <a:lnSpc>
                <a:spcPct val="150000"/>
              </a:lnSpc>
              <a:buFont typeface="Wingdings" pitchFamily="2" charset="2"/>
              <a:buChar char="q"/>
              <a:tabLst>
                <a:tab pos="465138" algn="l"/>
              </a:tabLst>
            </a:pPr>
            <a:endParaRPr lang="en-US" sz="4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Institutional investors should not use CAC to manipulate fiscal policy or exchange rates</a:t>
            </a:r>
            <a:r>
              <a:rPr lang="en-US" sz="1600" b="1" dirty="0" smtClean="0">
                <a:latin typeface="Arial" pitchFamily="34" charset="0"/>
                <a:cs typeface="Arial" pitchFamily="34" charset="0"/>
              </a:rPr>
              <a:t>.</a:t>
            </a:r>
          </a:p>
          <a:p>
            <a:pPr marL="465138" indent="-465138">
              <a:lnSpc>
                <a:spcPct val="150000"/>
              </a:lnSpc>
              <a:buFont typeface="Wingdings" pitchFamily="2" charset="2"/>
              <a:buChar char="q"/>
              <a:tabLst>
                <a:tab pos="465138" algn="l"/>
              </a:tabLst>
            </a:pPr>
            <a:endParaRPr lang="en-US" sz="4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Excessive inflows and outflows should be buffered by national banks to provide collateral.</a:t>
            </a:r>
          </a:p>
        </p:txBody>
      </p:sp>
    </p:spTree>
    <p:extLst>
      <p:ext uri="{BB962C8B-B14F-4D97-AF65-F5344CB8AC3E}">
        <p14:creationId xmlns:p14="http://schemas.microsoft.com/office/powerpoint/2010/main" xmlns="" val="14723793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908720"/>
            <a:ext cx="7245274"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In India…</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CAPITAL ACCOUNT CONVERTIBILITY</a:t>
            </a:r>
          </a:p>
        </p:txBody>
      </p:sp>
      <p:sp>
        <p:nvSpPr>
          <p:cNvPr id="3" name="Rectangle 2"/>
          <p:cNvSpPr/>
          <p:nvPr/>
        </p:nvSpPr>
        <p:spPr>
          <a:xfrm>
            <a:off x="683568" y="1340768"/>
            <a:ext cx="8064896" cy="3416320"/>
          </a:xfrm>
          <a:prstGeom prst="rect">
            <a:avLst/>
          </a:prstGeom>
        </p:spPr>
        <p:txBody>
          <a:bodyPr wrap="square">
            <a:spAutoFit/>
          </a:bodyPr>
          <a:lstStyle/>
          <a:p>
            <a:pPr>
              <a:lnSpc>
                <a:spcPct val="150000"/>
              </a:lnSpc>
            </a:pPr>
            <a:r>
              <a:rPr lang="en-US" sz="1600" b="1" dirty="0">
                <a:latin typeface="Arial" pitchFamily="34" charset="0"/>
                <a:cs typeface="Arial" pitchFamily="34" charset="0"/>
              </a:rPr>
              <a:t>According to the RBI, as the Indian rupee is not fully convertible, it is not possible to go in for dual listing of shares which allows people to buy shares in the stock exchanges of one country and sell in the bourses of another country</a:t>
            </a:r>
            <a:r>
              <a:rPr lang="en-US" sz="1600" b="1" dirty="0" smtClean="0">
                <a:latin typeface="Arial" pitchFamily="34" charset="0"/>
                <a:cs typeface="Arial" pitchFamily="34" charset="0"/>
              </a:rPr>
              <a:t>.</a:t>
            </a:r>
          </a:p>
          <a:p>
            <a:pPr>
              <a:lnSpc>
                <a:spcPct val="150000"/>
              </a:lnSpc>
            </a:pPr>
            <a:endParaRPr lang="en-US" sz="8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Why? Because under dual listing, an African citizen could buy the stock in Africa and sell it in India, collect the rupees, convert it into ‘Rand’ and take them into the African economy – all this without any controls, permissions and regulations</a:t>
            </a:r>
            <a:r>
              <a:rPr lang="en-US" sz="1600" b="1" dirty="0" smtClean="0">
                <a:latin typeface="Arial" pitchFamily="34" charset="0"/>
                <a:cs typeface="Arial" pitchFamily="34" charset="0"/>
              </a:rPr>
              <a:t>.</a:t>
            </a:r>
          </a:p>
          <a:p>
            <a:pPr marL="465138" indent="-465138">
              <a:lnSpc>
                <a:spcPct val="150000"/>
              </a:lnSpc>
              <a:buFont typeface="Wingdings" pitchFamily="2" charset="2"/>
              <a:buChar char="q"/>
              <a:tabLst>
                <a:tab pos="465138" algn="l"/>
              </a:tabLst>
            </a:pPr>
            <a:endParaRPr lang="en-US" sz="8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This unhindered capital flow is not currently favored by the Indian Govt</a:t>
            </a:r>
            <a:r>
              <a:rPr lang="en-US" sz="1600" b="1" dirty="0" smtClean="0">
                <a:latin typeface="Arial" pitchFamily="34" charset="0"/>
                <a:cs typeface="Arial" pitchFamily="34" charset="0"/>
              </a:rPr>
              <a:t>.</a:t>
            </a:r>
            <a:endParaRPr lang="en-US" sz="1600" b="1" dirty="0" smtClean="0">
              <a:latin typeface="Arial" pitchFamily="34" charset="0"/>
              <a:cs typeface="Arial" pitchFamily="34" charset="0"/>
            </a:endParaRPr>
          </a:p>
        </p:txBody>
      </p:sp>
    </p:spTree>
    <p:extLst>
      <p:ext uri="{BB962C8B-B14F-4D97-AF65-F5344CB8AC3E}">
        <p14:creationId xmlns:p14="http://schemas.microsoft.com/office/powerpoint/2010/main" xmlns="" val="8101965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908720"/>
            <a:ext cx="7245274" cy="507831"/>
          </a:xfrm>
          <a:prstGeom prst="rect">
            <a:avLst/>
          </a:prstGeom>
        </p:spPr>
        <p:txBody>
          <a:bodyPr wrap="square">
            <a:spAutoFit/>
          </a:bodyPr>
          <a:lstStyle/>
          <a:p>
            <a:pPr algn="ctr">
              <a:lnSpc>
                <a:spcPct val="150000"/>
              </a:lnSpc>
            </a:pPr>
            <a:r>
              <a:rPr lang="en-US" b="1" dirty="0">
                <a:latin typeface="Arial" pitchFamily="34" charset="0"/>
                <a:cs typeface="Arial" pitchFamily="34" charset="0"/>
              </a:rPr>
              <a:t>To Sum Up</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CAPITAL ACCOUNT CONVERTIBILITY</a:t>
            </a:r>
          </a:p>
        </p:txBody>
      </p:sp>
      <p:sp>
        <p:nvSpPr>
          <p:cNvPr id="3" name="Rectangle 2"/>
          <p:cNvSpPr/>
          <p:nvPr/>
        </p:nvSpPr>
        <p:spPr>
          <a:xfrm>
            <a:off x="683568" y="1340768"/>
            <a:ext cx="8064896" cy="401648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700" b="1" dirty="0">
                <a:latin typeface="Arial" pitchFamily="34" charset="0"/>
                <a:cs typeface="Arial" pitchFamily="34" charset="0"/>
              </a:rPr>
              <a:t>What: Capital Account Convertibility is concerned about the ownership changes in domestic or foreign financial assets and liabilities.</a:t>
            </a:r>
          </a:p>
          <a:p>
            <a:pPr marL="465138" indent="-465138">
              <a:lnSpc>
                <a:spcPct val="150000"/>
              </a:lnSpc>
              <a:buFont typeface="Wingdings" pitchFamily="2" charset="2"/>
              <a:buChar char="q"/>
              <a:tabLst>
                <a:tab pos="465138" algn="l"/>
              </a:tabLst>
            </a:pPr>
            <a:endParaRPr lang="en-US" sz="17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700" b="1" dirty="0">
                <a:latin typeface="Arial" pitchFamily="34" charset="0"/>
                <a:cs typeface="Arial" pitchFamily="34" charset="0"/>
              </a:rPr>
              <a:t>Why: This is so that local merchants can easily conduct trans-national business without falling short of foreign currency exchanges to handle small transactions.</a:t>
            </a:r>
          </a:p>
          <a:p>
            <a:pPr marL="465138" indent="-465138">
              <a:lnSpc>
                <a:spcPct val="150000"/>
              </a:lnSpc>
              <a:buFont typeface="Wingdings" pitchFamily="2" charset="2"/>
              <a:buChar char="q"/>
              <a:tabLst>
                <a:tab pos="465138" algn="l"/>
              </a:tabLst>
            </a:pPr>
            <a:endParaRPr lang="en-US" sz="17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700" b="1" dirty="0">
                <a:latin typeface="Arial" pitchFamily="34" charset="0"/>
                <a:cs typeface="Arial" pitchFamily="34" charset="0"/>
              </a:rPr>
              <a:t>How: It allows people and companies not only to convert one currency to the other, but also free cross-border movement of those currencies, without the interventions of the law of the country concerned. </a:t>
            </a:r>
          </a:p>
        </p:txBody>
      </p:sp>
    </p:spTree>
    <p:extLst>
      <p:ext uri="{BB962C8B-B14F-4D97-AF65-F5344CB8AC3E}">
        <p14:creationId xmlns:p14="http://schemas.microsoft.com/office/powerpoint/2010/main" xmlns="" val="30041193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1960" y="4724586"/>
            <a:ext cx="3816424" cy="1296702"/>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you have </a:t>
            </a:r>
            <a:r>
              <a:rPr lang="en-US" b="1" dirty="0" smtClean="0">
                <a:latin typeface="Arial" pitchFamily="34" charset="0"/>
                <a:cs typeface="Arial" pitchFamily="34" charset="0"/>
              </a:rPr>
              <a:t>now</a:t>
            </a:r>
            <a:br>
              <a:rPr lang="en-US" b="1" dirty="0" smtClean="0">
                <a:latin typeface="Arial" pitchFamily="34" charset="0"/>
                <a:cs typeface="Arial" pitchFamily="34" charset="0"/>
              </a:rPr>
            </a:br>
            <a:r>
              <a:rPr lang="en-US" b="1" dirty="0" smtClean="0">
                <a:latin typeface="Arial" pitchFamily="34" charset="0"/>
                <a:cs typeface="Arial" pitchFamily="34" charset="0"/>
              </a:rPr>
              <a:t>understood </a:t>
            </a:r>
            <a:r>
              <a:rPr lang="en-US" b="1" dirty="0">
                <a:latin typeface="Arial" pitchFamily="34" charset="0"/>
                <a:cs typeface="Arial" pitchFamily="34" charset="0"/>
              </a:rPr>
              <a:t>the concept of</a:t>
            </a:r>
          </a:p>
          <a:p>
            <a:pPr>
              <a:lnSpc>
                <a:spcPct val="150000"/>
              </a:lnSpc>
              <a:buFontTx/>
              <a:buNone/>
            </a:pPr>
            <a:r>
              <a:rPr lang="en-US" b="1" dirty="0">
                <a:latin typeface="Arial" pitchFamily="34" charset="0"/>
                <a:cs typeface="Arial" pitchFamily="34" charset="0"/>
              </a:rPr>
              <a:t>Capital Account Convertibility</a:t>
            </a: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CAPITAL ACCOUNT CONVERTIBILITY</a:t>
            </a:r>
          </a:p>
        </p:txBody>
      </p:sp>
    </p:spTree>
    <p:extLst>
      <p:ext uri="{BB962C8B-B14F-4D97-AF65-F5344CB8AC3E}">
        <p14:creationId xmlns:p14="http://schemas.microsoft.com/office/powerpoint/2010/main" xmlns="" val="26834514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187624" y="1988840"/>
            <a:ext cx="3744416" cy="937757"/>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Do write to me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2051</TotalTime>
  <Words>659</Words>
  <Application>Microsoft Office PowerPoint</Application>
  <PresentationFormat>On-screen Show (4:3)</PresentationFormat>
  <Paragraphs>61</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237</cp:revision>
  <dcterms:created xsi:type="dcterms:W3CDTF">2013-10-22T09:41:31Z</dcterms:created>
  <dcterms:modified xsi:type="dcterms:W3CDTF">2014-09-22T06:23:18Z</dcterms:modified>
</cp:coreProperties>
</file>