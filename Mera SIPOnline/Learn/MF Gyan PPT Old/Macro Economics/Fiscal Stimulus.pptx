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56" r:id="rId2"/>
    <p:sldId id="358" r:id="rId3"/>
    <p:sldId id="318" r:id="rId4"/>
    <p:sldId id="416" r:id="rId5"/>
    <p:sldId id="417" r:id="rId6"/>
    <p:sldId id="418" r:id="rId7"/>
    <p:sldId id="419" r:id="rId8"/>
    <p:sldId id="420" r:id="rId9"/>
    <p:sldId id="421" r:id="rId10"/>
    <p:sldId id="422" r:id="rId11"/>
    <p:sldId id="423" r:id="rId12"/>
    <p:sldId id="385" r:id="rId13"/>
    <p:sldId id="287" r:id="rId14"/>
    <p:sldId id="273" r:id="rId15"/>
  </p:sldIdLst>
  <p:sldSz cx="9144000" cy="6858000" type="screen4x3"/>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1" autoAdjust="0"/>
    <p:restoredTop sz="94595" autoAdjust="0"/>
  </p:normalViewPr>
  <p:slideViewPr>
    <p:cSldViewPr>
      <p:cViewPr>
        <p:scale>
          <a:sx n="61" d="100"/>
          <a:sy n="61" d="100"/>
        </p:scale>
        <p:origin x="-1398" y="-9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97313" y="0"/>
            <a:ext cx="2982912" cy="465138"/>
          </a:xfrm>
          <a:prstGeom prst="rect">
            <a:avLst/>
          </a:prstGeom>
        </p:spPr>
        <p:txBody>
          <a:bodyPr vert="horz" lIns="91440" tIns="45720" rIns="91440" bIns="45720" rtlCol="0"/>
          <a:lstStyle>
            <a:lvl1pPr algn="r">
              <a:defRPr sz="1200"/>
            </a:lvl1pPr>
          </a:lstStyle>
          <a:p>
            <a:fld id="{10D5005B-3B1F-486C-A0ED-862B9264A5CD}" type="datetimeFigureOut">
              <a:rPr lang="en-US" smtClean="0"/>
              <a:t>9/22/2014</a:t>
            </a:fld>
            <a:endParaRPr lang="en-US"/>
          </a:p>
        </p:txBody>
      </p:sp>
      <p:sp>
        <p:nvSpPr>
          <p:cNvPr id="4" name="Footer Placeholder 3"/>
          <p:cNvSpPr>
            <a:spLocks noGrp="1"/>
          </p:cNvSpPr>
          <p:nvPr>
            <p:ph type="ftr" sz="quarter" idx="2"/>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97313" y="8829675"/>
            <a:ext cx="2982912" cy="465138"/>
          </a:xfrm>
          <a:prstGeom prst="rect">
            <a:avLst/>
          </a:prstGeom>
        </p:spPr>
        <p:txBody>
          <a:bodyPr vert="horz" lIns="91440" tIns="45720" rIns="91440" bIns="45720" rtlCol="0" anchor="b"/>
          <a:lstStyle>
            <a:lvl1pPr algn="r">
              <a:defRPr sz="1200"/>
            </a:lvl1pPr>
          </a:lstStyle>
          <a:p>
            <a:fld id="{FE787006-7C54-4A7F-8E73-84476BF30B4B}" type="slidenum">
              <a:rPr lang="en-US" smtClean="0"/>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4820"/>
          </a:xfrm>
          <a:prstGeom prst="rect">
            <a:avLst/>
          </a:prstGeom>
        </p:spPr>
        <p:txBody>
          <a:bodyPr vert="horz" lIns="92446" tIns="46223" rIns="92446" bIns="46223" rtlCol="0"/>
          <a:lstStyle>
            <a:lvl1pPr algn="l">
              <a:defRPr sz="1200"/>
            </a:lvl1pPr>
          </a:lstStyle>
          <a:p>
            <a:endParaRPr lang="en-IN"/>
          </a:p>
        </p:txBody>
      </p:sp>
      <p:sp>
        <p:nvSpPr>
          <p:cNvPr id="3" name="Date Placeholder 2"/>
          <p:cNvSpPr>
            <a:spLocks noGrp="1"/>
          </p:cNvSpPr>
          <p:nvPr>
            <p:ph type="dt" idx="1"/>
          </p:nvPr>
        </p:nvSpPr>
        <p:spPr>
          <a:xfrm>
            <a:off x="3898102" y="0"/>
            <a:ext cx="2982119" cy="464820"/>
          </a:xfrm>
          <a:prstGeom prst="rect">
            <a:avLst/>
          </a:prstGeom>
        </p:spPr>
        <p:txBody>
          <a:bodyPr vert="horz" lIns="92446" tIns="46223" rIns="92446" bIns="46223" rtlCol="0"/>
          <a:lstStyle>
            <a:lvl1pPr algn="r">
              <a:defRPr sz="1200"/>
            </a:lvl1pPr>
          </a:lstStyle>
          <a:p>
            <a:fld id="{B10E05B8-715C-4FAF-BC8A-A5F0580F534E}" type="datetimeFigureOut">
              <a:rPr lang="en-US" smtClean="0"/>
              <a:pPr/>
              <a:t>9/22/2014</a:t>
            </a:fld>
            <a:endParaRPr lang="en-IN"/>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2446" tIns="46223" rIns="92446" bIns="46223" rtlCol="0" anchor="ctr"/>
          <a:lstStyle/>
          <a:p>
            <a:endParaRPr lang="en-IN"/>
          </a:p>
        </p:txBody>
      </p:sp>
      <p:sp>
        <p:nvSpPr>
          <p:cNvPr id="5" name="Notes Placeholder 4"/>
          <p:cNvSpPr>
            <a:spLocks noGrp="1"/>
          </p:cNvSpPr>
          <p:nvPr>
            <p:ph type="body" sz="quarter" idx="3"/>
          </p:nvPr>
        </p:nvSpPr>
        <p:spPr>
          <a:xfrm>
            <a:off x="688182" y="4415790"/>
            <a:ext cx="5505450" cy="4183380"/>
          </a:xfrm>
          <a:prstGeom prst="rect">
            <a:avLst/>
          </a:prstGeom>
        </p:spPr>
        <p:txBody>
          <a:bodyPr vert="horz" lIns="92446" tIns="46223" rIns="92446" bIns="46223"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829967"/>
            <a:ext cx="2982119" cy="464820"/>
          </a:xfrm>
          <a:prstGeom prst="rect">
            <a:avLst/>
          </a:prstGeom>
        </p:spPr>
        <p:txBody>
          <a:bodyPr vert="horz" lIns="92446" tIns="46223" rIns="92446" bIns="46223" rtlCol="0" anchor="b"/>
          <a:lstStyle>
            <a:lvl1pPr algn="l">
              <a:defRPr sz="1200"/>
            </a:lvl1pPr>
          </a:lstStyle>
          <a:p>
            <a:endParaRPr lang="en-IN"/>
          </a:p>
        </p:txBody>
      </p:sp>
      <p:sp>
        <p:nvSpPr>
          <p:cNvPr id="7" name="Slide Number Placeholder 6"/>
          <p:cNvSpPr>
            <a:spLocks noGrp="1"/>
          </p:cNvSpPr>
          <p:nvPr>
            <p:ph type="sldNum" sz="quarter" idx="5"/>
          </p:nvPr>
        </p:nvSpPr>
        <p:spPr>
          <a:xfrm>
            <a:off x="3898102" y="8829967"/>
            <a:ext cx="2982119" cy="464820"/>
          </a:xfrm>
          <a:prstGeom prst="rect">
            <a:avLst/>
          </a:prstGeom>
        </p:spPr>
        <p:txBody>
          <a:bodyPr vert="horz" lIns="92446" tIns="46223" rIns="92446" bIns="46223"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9/22/2014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9/22/2014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9/22/2014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9/22/2014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9/22/2014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9/22/2014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9/22/2014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80928"/>
            <a:ext cx="424847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FISCAL STIMULUS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547664" y="1988840"/>
            <a:ext cx="3024336" cy="923330"/>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Decoding Fiscal Stimulus </a:t>
            </a:r>
            <a:br>
              <a:rPr lang="en-US" b="1" dirty="0">
                <a:latin typeface="Arial" pitchFamily="34" charset="0"/>
                <a:cs typeface="Arial" pitchFamily="34" charset="0"/>
              </a:rPr>
            </a:br>
            <a:r>
              <a:rPr lang="en-US" b="1" dirty="0">
                <a:latin typeface="Arial" pitchFamily="34" charset="0"/>
                <a:cs typeface="Arial" pitchFamily="34" charset="0"/>
              </a:rPr>
              <a:t>–  By Prof. </a:t>
            </a:r>
            <a:r>
              <a:rPr lang="en-US" b="1" i="1" dirty="0">
                <a:latin typeface="Arial" pitchFamily="34" charset="0"/>
                <a:cs typeface="Arial" pitchFamily="34" charset="0"/>
              </a:rPr>
              <a:t>Simply</a:t>
            </a:r>
            <a:r>
              <a:rPr lang="en-US" b="1" dirty="0">
                <a:latin typeface="Arial" pitchFamily="34" charset="0"/>
                <a:cs typeface="Arial" pitchFamily="34" charset="0"/>
              </a:rPr>
              <a:t> Simple</a:t>
            </a:r>
            <a:endParaRPr lang="en-US" b="1" baseline="70000" dirty="0">
              <a:latin typeface="Arial" pitchFamily="34" charset="0"/>
              <a:cs typeface="Arial" pitchFamily="34" charset="0"/>
            </a:endParaRP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STIMULUS</a:t>
            </a:r>
          </a:p>
        </p:txBody>
      </p:sp>
      <p:sp>
        <p:nvSpPr>
          <p:cNvPr id="3" name="Rectangle 2"/>
          <p:cNvSpPr/>
          <p:nvPr/>
        </p:nvSpPr>
        <p:spPr>
          <a:xfrm>
            <a:off x="714348" y="1124744"/>
            <a:ext cx="7746084" cy="4154984"/>
          </a:xfrm>
          <a:prstGeom prst="rect">
            <a:avLst/>
          </a:prstGeom>
        </p:spPr>
        <p:txBody>
          <a:bodyPr wrap="square">
            <a:spAutoFit/>
          </a:bodyPr>
          <a:lstStyle/>
          <a:p>
            <a:pPr marL="533400" indent="-533400">
              <a:lnSpc>
                <a:spcPct val="150000"/>
              </a:lnSpc>
              <a:buFont typeface="Wingdings" pitchFamily="2" charset="2"/>
              <a:buChar char="q"/>
            </a:pPr>
            <a:r>
              <a:rPr lang="en-US" b="1" dirty="0">
                <a:latin typeface="Arial" pitchFamily="34" charset="0"/>
                <a:cs typeface="Arial" pitchFamily="34" charset="0"/>
              </a:rPr>
              <a:t>Recession is the best time for some people to go on a vacation. </a:t>
            </a:r>
          </a:p>
          <a:p>
            <a:pPr marL="533400" indent="-533400">
              <a:lnSpc>
                <a:spcPct val="150000"/>
              </a:lnSpc>
              <a:buFont typeface="Wingdings" pitchFamily="2" charset="2"/>
              <a:buChar char="q"/>
            </a:pPr>
            <a:endParaRPr lang="en-US" sz="800" b="1" dirty="0">
              <a:latin typeface="Arial" pitchFamily="34" charset="0"/>
              <a:cs typeface="Arial" pitchFamily="34" charset="0"/>
            </a:endParaRPr>
          </a:p>
          <a:p>
            <a:pPr marL="533400" indent="-533400">
              <a:lnSpc>
                <a:spcPct val="150000"/>
              </a:lnSpc>
              <a:buFont typeface="Wingdings" pitchFamily="2" charset="2"/>
              <a:buChar char="q"/>
            </a:pPr>
            <a:r>
              <a:rPr lang="en-US" b="1" dirty="0">
                <a:latin typeface="Arial" pitchFamily="34" charset="0"/>
                <a:cs typeface="Arial" pitchFamily="34" charset="0"/>
              </a:rPr>
              <a:t>They assume that by the time they will come back, things will be back to normal. </a:t>
            </a:r>
          </a:p>
          <a:p>
            <a:pPr marL="533400" indent="-533400">
              <a:lnSpc>
                <a:spcPct val="150000"/>
              </a:lnSpc>
              <a:buFont typeface="Wingdings" pitchFamily="2" charset="2"/>
              <a:buChar char="q"/>
            </a:pPr>
            <a:endParaRPr lang="en-US" sz="800" b="1" dirty="0">
              <a:latin typeface="Arial" pitchFamily="34" charset="0"/>
              <a:cs typeface="Arial" pitchFamily="34" charset="0"/>
            </a:endParaRPr>
          </a:p>
          <a:p>
            <a:pPr marL="533400" indent="-533400">
              <a:lnSpc>
                <a:spcPct val="150000"/>
              </a:lnSpc>
              <a:buFont typeface="Wingdings" pitchFamily="2" charset="2"/>
              <a:buChar char="q"/>
            </a:pPr>
            <a:r>
              <a:rPr lang="en-US" b="1" dirty="0">
                <a:latin typeface="Arial" pitchFamily="34" charset="0"/>
                <a:cs typeface="Arial" pitchFamily="34" charset="0"/>
              </a:rPr>
              <a:t>But for the </a:t>
            </a:r>
            <a:r>
              <a:rPr lang="en-US" b="1" dirty="0" err="1">
                <a:latin typeface="Arial" pitchFamily="34" charset="0"/>
                <a:cs typeface="Arial" pitchFamily="34" charset="0"/>
              </a:rPr>
              <a:t>saviours</a:t>
            </a:r>
            <a:r>
              <a:rPr lang="en-US" b="1" dirty="0">
                <a:latin typeface="Arial" pitchFamily="34" charset="0"/>
                <a:cs typeface="Arial" pitchFamily="34" charset="0"/>
              </a:rPr>
              <a:t> of the world economy, recession is the time to work overtime. </a:t>
            </a:r>
          </a:p>
          <a:p>
            <a:pPr marL="533400" indent="-533400">
              <a:lnSpc>
                <a:spcPct val="150000"/>
              </a:lnSpc>
              <a:buFont typeface="Wingdings" pitchFamily="2" charset="2"/>
              <a:buChar char="q"/>
            </a:pPr>
            <a:endParaRPr lang="en-US" sz="800" b="1" dirty="0">
              <a:latin typeface="Arial" pitchFamily="34" charset="0"/>
              <a:cs typeface="Arial" pitchFamily="34" charset="0"/>
            </a:endParaRPr>
          </a:p>
          <a:p>
            <a:pPr marL="533400" indent="-533400">
              <a:lnSpc>
                <a:spcPct val="150000"/>
              </a:lnSpc>
              <a:buFont typeface="Wingdings" pitchFamily="2" charset="2"/>
              <a:buChar char="q"/>
            </a:pPr>
            <a:r>
              <a:rPr lang="en-US" b="1" dirty="0">
                <a:latin typeface="Arial" pitchFamily="34" charset="0"/>
                <a:cs typeface="Arial" pitchFamily="34" charset="0"/>
              </a:rPr>
              <a:t>They test various methods to get the economy back on its feet. </a:t>
            </a:r>
          </a:p>
          <a:p>
            <a:pPr marL="533400" indent="-533400">
              <a:lnSpc>
                <a:spcPct val="150000"/>
              </a:lnSpc>
              <a:buFont typeface="Wingdings" pitchFamily="2" charset="2"/>
              <a:buChar char="q"/>
            </a:pPr>
            <a:endParaRPr lang="en-US" sz="800" b="1" dirty="0">
              <a:latin typeface="Arial" pitchFamily="34" charset="0"/>
              <a:cs typeface="Arial" pitchFamily="34" charset="0"/>
            </a:endParaRPr>
          </a:p>
          <a:p>
            <a:pPr marL="533400" indent="-533400">
              <a:lnSpc>
                <a:spcPct val="150000"/>
              </a:lnSpc>
              <a:buFont typeface="Wingdings" pitchFamily="2" charset="2"/>
              <a:buChar char="q"/>
            </a:pPr>
            <a:r>
              <a:rPr lang="en-US" b="1" dirty="0">
                <a:latin typeface="Arial" pitchFamily="34" charset="0"/>
                <a:cs typeface="Arial" pitchFamily="34" charset="0"/>
              </a:rPr>
              <a:t>One of the methods used is that of providing a fiscal stimulus package.</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STIMULUS</a:t>
            </a:r>
          </a:p>
        </p:txBody>
      </p:sp>
      <p:sp>
        <p:nvSpPr>
          <p:cNvPr id="3" name="Rectangle 2"/>
          <p:cNvSpPr/>
          <p:nvPr/>
        </p:nvSpPr>
        <p:spPr>
          <a:xfrm>
            <a:off x="714348" y="1124744"/>
            <a:ext cx="7746084" cy="464871"/>
          </a:xfrm>
          <a:prstGeom prst="rect">
            <a:avLst/>
          </a:prstGeom>
        </p:spPr>
        <p:txBody>
          <a:bodyPr wrap="square">
            <a:spAutoFit/>
          </a:bodyPr>
          <a:lstStyle/>
          <a:p>
            <a:pPr algn="ctr">
              <a:lnSpc>
                <a:spcPct val="150000"/>
              </a:lnSpc>
            </a:pPr>
            <a:r>
              <a:rPr lang="en-US" b="1" dirty="0">
                <a:latin typeface="Arial" pitchFamily="34" charset="0"/>
                <a:cs typeface="Arial" pitchFamily="34" charset="0"/>
              </a:rPr>
              <a:t>Fiscal stimulus package? How can it stop recession? </a:t>
            </a:r>
          </a:p>
        </p:txBody>
      </p:sp>
      <p:sp>
        <p:nvSpPr>
          <p:cNvPr id="5" name="Rectangle 4"/>
          <p:cNvSpPr/>
          <p:nvPr/>
        </p:nvSpPr>
        <p:spPr>
          <a:xfrm>
            <a:off x="689064" y="1735356"/>
            <a:ext cx="7483335" cy="3462486"/>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Well, you may have heard the name of John Maynard Keynes, the well-known British economist of the 20th century. </a:t>
            </a:r>
          </a:p>
          <a:p>
            <a:pPr marL="465138" indent="-465138">
              <a:lnSpc>
                <a:spcPct val="150000"/>
              </a:lnSpc>
              <a:buFont typeface="Wingdings" pitchFamily="2" charset="2"/>
              <a:buChar char="q"/>
              <a:tabLst>
                <a:tab pos="465138" algn="l"/>
              </a:tabLst>
            </a:pPr>
            <a:endParaRPr lang="en-US" sz="10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whole idea of fiscal stimulus is based on his analysis of factors that cause recession. </a:t>
            </a:r>
          </a:p>
          <a:p>
            <a:pPr marL="465138" indent="-465138">
              <a:lnSpc>
                <a:spcPct val="150000"/>
              </a:lnSpc>
              <a:buFont typeface="Wingdings" pitchFamily="2" charset="2"/>
              <a:buChar char="q"/>
              <a:tabLst>
                <a:tab pos="465138" algn="l"/>
              </a:tabLst>
            </a:pPr>
            <a:endParaRPr lang="en-US" sz="10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During the Great US Depression of the 1930s, he wrote his most important work, </a:t>
            </a:r>
            <a:r>
              <a:rPr lang="en-US" b="1" i="1" dirty="0">
                <a:latin typeface="Arial" pitchFamily="34" charset="0"/>
                <a:cs typeface="Arial" pitchFamily="34" charset="0"/>
              </a:rPr>
              <a:t>The General Theory of Employment, Interest, and Money</a:t>
            </a:r>
            <a:r>
              <a:rPr lang="en-US" b="1" dirty="0">
                <a:latin typeface="Arial" pitchFamily="34" charset="0"/>
                <a:cs typeface="Arial" pitchFamily="34" charset="0"/>
              </a:rPr>
              <a:t>.</a:t>
            </a: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STIMULUS</a:t>
            </a:r>
          </a:p>
        </p:txBody>
      </p:sp>
      <p:sp>
        <p:nvSpPr>
          <p:cNvPr id="3" name="Rectangle 2"/>
          <p:cNvSpPr/>
          <p:nvPr/>
        </p:nvSpPr>
        <p:spPr>
          <a:xfrm>
            <a:off x="714348" y="1052736"/>
            <a:ext cx="7746084" cy="456535"/>
          </a:xfrm>
          <a:prstGeom prst="rect">
            <a:avLst/>
          </a:prstGeom>
        </p:spPr>
        <p:txBody>
          <a:bodyPr wrap="square">
            <a:spAutoFit/>
          </a:bodyPr>
          <a:lstStyle/>
          <a:p>
            <a:pPr algn="ctr">
              <a:lnSpc>
                <a:spcPct val="150000"/>
              </a:lnSpc>
            </a:pPr>
            <a:r>
              <a:rPr lang="en-US" b="1" dirty="0">
                <a:latin typeface="Arial" pitchFamily="34" charset="0"/>
                <a:cs typeface="Arial" pitchFamily="34" charset="0"/>
              </a:rPr>
              <a:t>What was </a:t>
            </a:r>
            <a:r>
              <a:rPr lang="en-US" b="1" dirty="0" smtClean="0">
                <a:latin typeface="Arial" pitchFamily="34" charset="0"/>
                <a:cs typeface="Arial" pitchFamily="34" charset="0"/>
              </a:rPr>
              <a:t>it all </a:t>
            </a:r>
            <a:r>
              <a:rPr lang="en-US" b="1" dirty="0">
                <a:latin typeface="Arial" pitchFamily="34" charset="0"/>
                <a:cs typeface="Arial" pitchFamily="34" charset="0"/>
              </a:rPr>
              <a:t>about?</a:t>
            </a:r>
          </a:p>
        </p:txBody>
      </p:sp>
      <p:sp>
        <p:nvSpPr>
          <p:cNvPr id="5" name="Rectangle 4"/>
          <p:cNvSpPr/>
          <p:nvPr/>
        </p:nvSpPr>
        <p:spPr>
          <a:xfrm>
            <a:off x="689064" y="1625793"/>
            <a:ext cx="7483335" cy="3831818"/>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Keynes focused his analysis on factors affecting output and growth in an economy.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He asked, what decides the output in an economy?</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He said that output in any economy is decided by </a:t>
            </a:r>
            <a:r>
              <a:rPr lang="en-US" b="1" dirty="0" smtClean="0">
                <a:latin typeface="Arial" pitchFamily="34" charset="0"/>
                <a:cs typeface="Arial" pitchFamily="34" charset="0"/>
              </a:rPr>
              <a:t>people</a:t>
            </a:r>
            <a:br>
              <a:rPr lang="en-US" b="1" dirty="0" smtClean="0">
                <a:latin typeface="Arial" pitchFamily="34" charset="0"/>
                <a:cs typeface="Arial" pitchFamily="34" charset="0"/>
              </a:rPr>
            </a:br>
            <a:r>
              <a:rPr lang="en-US" b="1" dirty="0" smtClean="0">
                <a:latin typeface="Arial" pitchFamily="34" charset="0"/>
                <a:cs typeface="Arial" pitchFamily="34" charset="0"/>
              </a:rPr>
              <a:t>who </a:t>
            </a:r>
            <a:r>
              <a:rPr lang="en-US" b="1" dirty="0">
                <a:latin typeface="Arial" pitchFamily="34" charset="0"/>
                <a:cs typeface="Arial" pitchFamily="34" charset="0"/>
              </a:rPr>
              <a:t>spend money.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People like you and me who earn money with one hand and spend it with the other ultimately decide how much goods and services are going to be produced in our economy.</a:t>
            </a:r>
          </a:p>
        </p:txBody>
      </p:sp>
    </p:spTree>
    <p:extLst>
      <p:ext uri="{BB962C8B-B14F-4D97-AF65-F5344CB8AC3E}">
        <p14:creationId xmlns:p14="http://schemas.microsoft.com/office/powerpoint/2010/main" xmlns="" val="29609829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STIMULUS</a:t>
            </a:r>
          </a:p>
        </p:txBody>
      </p:sp>
      <p:sp>
        <p:nvSpPr>
          <p:cNvPr id="5" name="Rectangle 4"/>
          <p:cNvSpPr/>
          <p:nvPr/>
        </p:nvSpPr>
        <p:spPr>
          <a:xfrm>
            <a:off x="689064" y="1099378"/>
            <a:ext cx="7483335" cy="4154984"/>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If the demand of a product is less, then by the simple logic of demand and supply, the price of that product should fall. </a:t>
            </a:r>
          </a:p>
          <a:p>
            <a:pPr marL="465138" indent="-465138">
              <a:lnSpc>
                <a:spcPct val="150000"/>
              </a:lnSpc>
              <a:buFont typeface="Wingdings" pitchFamily="2" charset="2"/>
              <a:buChar char="q"/>
              <a:tabLst>
                <a:tab pos="465138" algn="l"/>
              </a:tabLst>
            </a:pPr>
            <a:endParaRPr lang="en-US" sz="8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But it is difficult for firms to vary the price of their products frequently. </a:t>
            </a:r>
          </a:p>
          <a:p>
            <a:pPr marL="465138" indent="-465138">
              <a:lnSpc>
                <a:spcPct val="150000"/>
              </a:lnSpc>
              <a:buFont typeface="Wingdings" pitchFamily="2" charset="2"/>
              <a:buChar char="q"/>
              <a:tabLst>
                <a:tab pos="465138" algn="l"/>
              </a:tabLst>
            </a:pPr>
            <a:endParaRPr lang="en-US" sz="8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For example, your baker may have to change the price of his bread every day if he goes strictly by demand and supply.</a:t>
            </a:r>
          </a:p>
          <a:p>
            <a:pPr marL="465138" indent="-465138">
              <a:lnSpc>
                <a:spcPct val="150000"/>
              </a:lnSpc>
              <a:buFont typeface="Wingdings" pitchFamily="2" charset="2"/>
              <a:buChar char="q"/>
              <a:tabLst>
                <a:tab pos="465138" algn="l"/>
              </a:tabLst>
            </a:pPr>
            <a:endParaRPr lang="en-US" sz="8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Changing the price of goods every day is not a very happy way of doing business. </a:t>
            </a:r>
          </a:p>
          <a:p>
            <a:pPr marL="465138" indent="-465138">
              <a:lnSpc>
                <a:spcPct val="150000"/>
              </a:lnSpc>
              <a:buFont typeface="Wingdings" pitchFamily="2" charset="2"/>
              <a:buChar char="q"/>
              <a:tabLst>
                <a:tab pos="465138" algn="l"/>
              </a:tabLst>
            </a:pPr>
            <a:endParaRPr lang="en-US" sz="8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Neither the baker nor his customers would be happy if prices just kept on changing forever.</a:t>
            </a: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STIMULUS</a:t>
            </a:r>
          </a:p>
        </p:txBody>
      </p:sp>
      <p:sp>
        <p:nvSpPr>
          <p:cNvPr id="3" name="Rectangle 2"/>
          <p:cNvSpPr/>
          <p:nvPr/>
        </p:nvSpPr>
        <p:spPr>
          <a:xfrm>
            <a:off x="714348" y="1052736"/>
            <a:ext cx="7746084" cy="456535"/>
          </a:xfrm>
          <a:prstGeom prst="rect">
            <a:avLst/>
          </a:prstGeom>
        </p:spPr>
        <p:txBody>
          <a:bodyPr wrap="square">
            <a:spAutoFit/>
          </a:bodyPr>
          <a:lstStyle/>
          <a:p>
            <a:pPr algn="ctr">
              <a:lnSpc>
                <a:spcPct val="150000"/>
              </a:lnSpc>
            </a:pPr>
            <a:r>
              <a:rPr lang="en-US" b="1" dirty="0">
                <a:latin typeface="Arial" pitchFamily="34" charset="0"/>
                <a:cs typeface="Arial" pitchFamily="34" charset="0"/>
              </a:rPr>
              <a:t>What options, then, does </a:t>
            </a:r>
            <a:r>
              <a:rPr lang="en-US" b="1" dirty="0" smtClean="0">
                <a:latin typeface="Arial" pitchFamily="34" charset="0"/>
                <a:cs typeface="Arial" pitchFamily="34" charset="0"/>
              </a:rPr>
              <a:t>the </a:t>
            </a:r>
            <a:r>
              <a:rPr lang="en-US" b="1" dirty="0">
                <a:latin typeface="Arial" pitchFamily="34" charset="0"/>
                <a:cs typeface="Arial" pitchFamily="34" charset="0"/>
              </a:rPr>
              <a:t>baker have? </a:t>
            </a:r>
          </a:p>
        </p:txBody>
      </p:sp>
      <p:sp>
        <p:nvSpPr>
          <p:cNvPr id="5" name="Rectangle 4"/>
          <p:cNvSpPr/>
          <p:nvPr/>
        </p:nvSpPr>
        <p:spPr>
          <a:xfrm>
            <a:off x="689064" y="1625793"/>
            <a:ext cx="7483335" cy="2957861"/>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He can let the price of the bread remain the same and reduce his production in response to lower demand.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He can then meet the demand at the preset price by matching his supply with the demand.</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is how demand affects output and growth in an economy.</a:t>
            </a:r>
          </a:p>
        </p:txBody>
      </p:sp>
    </p:spTree>
    <p:extLst>
      <p:ext uri="{BB962C8B-B14F-4D97-AF65-F5344CB8AC3E}">
        <p14:creationId xmlns:p14="http://schemas.microsoft.com/office/powerpoint/2010/main" xmlns="" val="32808151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STIMULUS</a:t>
            </a:r>
          </a:p>
        </p:txBody>
      </p:sp>
      <p:sp>
        <p:nvSpPr>
          <p:cNvPr id="3" name="Rectangle 2"/>
          <p:cNvSpPr/>
          <p:nvPr/>
        </p:nvSpPr>
        <p:spPr>
          <a:xfrm>
            <a:off x="714348" y="1052736"/>
            <a:ext cx="7746084" cy="464871"/>
          </a:xfrm>
          <a:prstGeom prst="rect">
            <a:avLst/>
          </a:prstGeom>
        </p:spPr>
        <p:txBody>
          <a:bodyPr wrap="square">
            <a:spAutoFit/>
          </a:bodyPr>
          <a:lstStyle/>
          <a:p>
            <a:pPr algn="ctr">
              <a:lnSpc>
                <a:spcPct val="150000"/>
              </a:lnSpc>
            </a:pPr>
            <a:r>
              <a:rPr lang="en-US" b="1" dirty="0">
                <a:latin typeface="Arial" pitchFamily="34" charset="0"/>
                <a:cs typeface="Arial" pitchFamily="34" charset="0"/>
              </a:rPr>
              <a:t>How can we use this understanding to fight recession?</a:t>
            </a:r>
          </a:p>
        </p:txBody>
      </p:sp>
      <p:sp>
        <p:nvSpPr>
          <p:cNvPr id="5" name="Rectangle 4"/>
          <p:cNvSpPr/>
          <p:nvPr/>
        </p:nvSpPr>
        <p:spPr>
          <a:xfrm>
            <a:off x="689064" y="1625793"/>
            <a:ext cx="7555344" cy="3693319"/>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As per Keynesian analysis, the problem of recession is not due to lack of productive capacity in the economy.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factories have not lost their ability to produce goods, the real problem is due to insufficient spending to support the normal level of production.</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So, the solution is obvious. </a:t>
            </a:r>
            <a:r>
              <a:rPr lang="en-US" b="1" i="1" dirty="0">
                <a:latin typeface="Arial" pitchFamily="34" charset="0"/>
                <a:cs typeface="Arial" pitchFamily="34" charset="0"/>
              </a:rPr>
              <a:t>If the fall in demand leads to fall in production, then we need to do something that can push up demand.</a:t>
            </a:r>
          </a:p>
        </p:txBody>
      </p:sp>
    </p:spTree>
    <p:extLst>
      <p:ext uri="{BB962C8B-B14F-4D97-AF65-F5344CB8AC3E}">
        <p14:creationId xmlns:p14="http://schemas.microsoft.com/office/powerpoint/2010/main" xmlns="" val="34409960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STIMULUS</a:t>
            </a:r>
          </a:p>
        </p:txBody>
      </p:sp>
      <p:sp>
        <p:nvSpPr>
          <p:cNvPr id="3" name="Rectangle 2"/>
          <p:cNvSpPr/>
          <p:nvPr/>
        </p:nvSpPr>
        <p:spPr>
          <a:xfrm>
            <a:off x="714348" y="1052736"/>
            <a:ext cx="7746084" cy="456535"/>
          </a:xfrm>
          <a:prstGeom prst="rect">
            <a:avLst/>
          </a:prstGeom>
        </p:spPr>
        <p:txBody>
          <a:bodyPr wrap="square">
            <a:spAutoFit/>
          </a:bodyPr>
          <a:lstStyle/>
          <a:p>
            <a:pPr algn="ctr">
              <a:lnSpc>
                <a:spcPct val="150000"/>
              </a:lnSpc>
            </a:pPr>
            <a:r>
              <a:rPr lang="en-US" b="1" dirty="0">
                <a:latin typeface="Arial" pitchFamily="34" charset="0"/>
                <a:cs typeface="Arial" pitchFamily="34" charset="0"/>
              </a:rPr>
              <a:t>What can one do </a:t>
            </a:r>
            <a:r>
              <a:rPr lang="en-US" b="1" dirty="0" smtClean="0">
                <a:latin typeface="Arial" pitchFamily="34" charset="0"/>
                <a:cs typeface="Arial" pitchFamily="34" charset="0"/>
              </a:rPr>
              <a:t>for </a:t>
            </a:r>
            <a:r>
              <a:rPr lang="en-US" b="1" dirty="0">
                <a:latin typeface="Arial" pitchFamily="34" charset="0"/>
                <a:cs typeface="Arial" pitchFamily="34" charset="0"/>
              </a:rPr>
              <a:t>that?? </a:t>
            </a:r>
          </a:p>
        </p:txBody>
      </p:sp>
      <p:sp>
        <p:nvSpPr>
          <p:cNvPr id="5" name="Rectangle 4"/>
          <p:cNvSpPr/>
          <p:nvPr/>
        </p:nvSpPr>
        <p:spPr>
          <a:xfrm>
            <a:off x="689064" y="1556792"/>
            <a:ext cx="7555344" cy="3693319"/>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We have two options.</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first option, as recommended by Keynes, is to increase Government spending, which works as the most effective way of increasing the aggregate demand of goods and services.</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second option is to increase the disposable income in the hands of people by cutting taxes. Put money in the hands of people and even the most pessimistic person starts making new plans.</a:t>
            </a:r>
          </a:p>
        </p:txBody>
      </p:sp>
    </p:spTree>
    <p:extLst>
      <p:ext uri="{BB962C8B-B14F-4D97-AF65-F5344CB8AC3E}">
        <p14:creationId xmlns:p14="http://schemas.microsoft.com/office/powerpoint/2010/main" xmlns="" val="15849585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STIMULUS</a:t>
            </a:r>
          </a:p>
        </p:txBody>
      </p:sp>
      <p:sp>
        <p:nvSpPr>
          <p:cNvPr id="5" name="Rectangle 4"/>
          <p:cNvSpPr/>
          <p:nvPr/>
        </p:nvSpPr>
        <p:spPr>
          <a:xfrm>
            <a:off x="689064" y="1052736"/>
            <a:ext cx="7555344" cy="4385816"/>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It is believed that people will use part of their extra income on consuming extra goods and services.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creates what is known as a multiplier effect.</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You buy the bread of the baker, your baker in turn buys milk, and the milkman buys something else — in this manner, the game of passing the penny keeps going.</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Fiscal stimulus works as an instant source of energy.</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However, the timing of a fiscal stimulus and its size is most crucial for its success.</a:t>
            </a:r>
          </a:p>
        </p:txBody>
      </p:sp>
    </p:spTree>
    <p:extLst>
      <p:ext uri="{BB962C8B-B14F-4D97-AF65-F5344CB8AC3E}">
        <p14:creationId xmlns:p14="http://schemas.microsoft.com/office/powerpoint/2010/main" xmlns="" val="14199924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STIMULUS</a:t>
            </a:r>
          </a:p>
        </p:txBody>
      </p:sp>
      <p:sp>
        <p:nvSpPr>
          <p:cNvPr id="3" name="Rectangle 2"/>
          <p:cNvSpPr/>
          <p:nvPr/>
        </p:nvSpPr>
        <p:spPr>
          <a:xfrm>
            <a:off x="714348" y="1052736"/>
            <a:ext cx="7746084" cy="507831"/>
          </a:xfrm>
          <a:prstGeom prst="rect">
            <a:avLst/>
          </a:prstGeom>
        </p:spPr>
        <p:txBody>
          <a:bodyPr wrap="square">
            <a:spAutoFit/>
          </a:bodyPr>
          <a:lstStyle/>
          <a:p>
            <a:pPr algn="ctr">
              <a:lnSpc>
                <a:spcPct val="150000"/>
              </a:lnSpc>
            </a:pPr>
            <a:r>
              <a:rPr lang="en-US" b="1" dirty="0">
                <a:latin typeface="Arial" pitchFamily="34" charset="0"/>
                <a:cs typeface="Arial" pitchFamily="34" charset="0"/>
              </a:rPr>
              <a:t>To Sum Up</a:t>
            </a:r>
          </a:p>
        </p:txBody>
      </p:sp>
      <p:sp>
        <p:nvSpPr>
          <p:cNvPr id="5" name="Rectangle 4"/>
          <p:cNvSpPr/>
          <p:nvPr/>
        </p:nvSpPr>
        <p:spPr>
          <a:xfrm>
            <a:off x="689064" y="1556792"/>
            <a:ext cx="7555344" cy="3462486"/>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What: Fiscal stimulus can be used as a tool for fighting recession.</a:t>
            </a:r>
          </a:p>
          <a:p>
            <a:pPr marL="465138" indent="-465138">
              <a:lnSpc>
                <a:spcPct val="150000"/>
              </a:lnSpc>
              <a:buFont typeface="Wingdings" pitchFamily="2" charset="2"/>
              <a:buChar char="q"/>
              <a:tabLst>
                <a:tab pos="465138" algn="l"/>
              </a:tabLst>
            </a:pPr>
            <a:endParaRPr lang="en-US" sz="10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How: Increase in government spending coupled with tax cuts can lead to increase in aggregate demand and growth in the economy.</a:t>
            </a:r>
          </a:p>
          <a:p>
            <a:pPr marL="465138" indent="-465138">
              <a:lnSpc>
                <a:spcPct val="150000"/>
              </a:lnSpc>
              <a:buFont typeface="Wingdings" pitchFamily="2" charset="2"/>
              <a:buChar char="q"/>
              <a:tabLst>
                <a:tab pos="465138" algn="l"/>
              </a:tabLst>
            </a:pPr>
            <a:endParaRPr lang="en-US" sz="10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Who: John Maynard Keynes, the well-known British economist, was a prominent advocate of the use of fiscal stimulus.</a:t>
            </a:r>
          </a:p>
        </p:txBody>
      </p:sp>
    </p:spTree>
    <p:extLst>
      <p:ext uri="{BB962C8B-B14F-4D97-AF65-F5344CB8AC3E}">
        <p14:creationId xmlns:p14="http://schemas.microsoft.com/office/powerpoint/2010/main" xmlns="" val="14208000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39952" y="4941168"/>
            <a:ext cx="3744416" cy="872034"/>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Hope you have now understood the concept </a:t>
            </a:r>
            <a:r>
              <a:rPr lang="en-US" b="1" dirty="0" smtClean="0">
                <a:latin typeface="Arial" pitchFamily="34" charset="0"/>
                <a:cs typeface="Arial" pitchFamily="34" charset="0"/>
              </a:rPr>
              <a:t>of Fiscal </a:t>
            </a:r>
            <a:r>
              <a:rPr lang="en-US" b="1" dirty="0">
                <a:latin typeface="Arial" pitchFamily="34" charset="0"/>
                <a:cs typeface="Arial" pitchFamily="34" charset="0"/>
              </a:rPr>
              <a:t>Stimulus</a:t>
            </a:r>
          </a:p>
        </p:txBody>
      </p:sp>
      <p:sp>
        <p:nvSpPr>
          <p:cNvPr id="6" name="TextBox 5"/>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STIMULUS</a:t>
            </a:r>
          </a:p>
        </p:txBody>
      </p:sp>
    </p:spTree>
    <p:extLst>
      <p:ext uri="{BB962C8B-B14F-4D97-AF65-F5344CB8AC3E}">
        <p14:creationId xmlns:p14="http://schemas.microsoft.com/office/powerpoint/2010/main" xmlns="" val="7779845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971600" y="1484784"/>
            <a:ext cx="4032448" cy="1342932"/>
          </a:xfrm>
          <a:prstGeom prst="rect">
            <a:avLst/>
          </a:prstGeom>
        </p:spPr>
        <p:txBody>
          <a:bodyPr wrap="square">
            <a:spAutoFit/>
          </a:bodyPr>
          <a:lstStyle/>
          <a:p>
            <a:pPr marL="342900" indent="-342900" algn="ctr">
              <a:lnSpc>
                <a:spcPct val="150000"/>
              </a:lnSpc>
              <a:spcBef>
                <a:spcPct val="20000"/>
              </a:spcBef>
            </a:pPr>
            <a:r>
              <a:rPr lang="en-US" b="1" dirty="0">
                <a:latin typeface="Arial" pitchFamily="34" charset="0"/>
                <a:cs typeface="Arial" pitchFamily="34" charset="0"/>
              </a:rPr>
              <a:t>In case of any </a:t>
            </a:r>
            <a:r>
              <a:rPr lang="en-US" b="1" dirty="0" smtClean="0">
                <a:latin typeface="Arial" pitchFamily="34" charset="0"/>
                <a:cs typeface="Arial" pitchFamily="34" charset="0"/>
              </a:rPr>
              <a:t>query,</a:t>
            </a:r>
            <a:br>
              <a:rPr lang="en-US" b="1" dirty="0" smtClean="0">
                <a:latin typeface="Arial" pitchFamily="34" charset="0"/>
                <a:cs typeface="Arial" pitchFamily="34" charset="0"/>
              </a:rPr>
            </a:br>
            <a:r>
              <a:rPr lang="en-US" b="1" dirty="0" smtClean="0">
                <a:latin typeface="Arial" pitchFamily="34" charset="0"/>
                <a:cs typeface="Arial" pitchFamily="34" charset="0"/>
              </a:rPr>
              <a:t>please </a:t>
            </a:r>
            <a:r>
              <a:rPr lang="en-US" b="1" dirty="0">
                <a:latin typeface="Arial" pitchFamily="34" charset="0"/>
                <a:cs typeface="Arial" pitchFamily="34" charset="0"/>
              </a:rPr>
              <a:t>e-mail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2567</TotalTime>
  <Words>897</Words>
  <Application>Microsoft Office PowerPoint</Application>
  <PresentationFormat>On-screen Show (4:3)</PresentationFormat>
  <Paragraphs>84</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306</cp:revision>
  <dcterms:created xsi:type="dcterms:W3CDTF">2013-10-22T09:41:31Z</dcterms:created>
  <dcterms:modified xsi:type="dcterms:W3CDTF">2014-09-22T10:32:20Z</dcterms:modified>
</cp:coreProperties>
</file>