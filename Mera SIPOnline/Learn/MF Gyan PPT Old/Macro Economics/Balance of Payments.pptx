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358" r:id="rId3"/>
    <p:sldId id="318" r:id="rId4"/>
    <p:sldId id="370" r:id="rId5"/>
    <p:sldId id="371" r:id="rId6"/>
    <p:sldId id="372" r:id="rId7"/>
    <p:sldId id="334" r:id="rId8"/>
    <p:sldId id="335" r:id="rId9"/>
    <p:sldId id="273"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103" d="100"/>
          <a:sy n="103" d="100"/>
        </p:scale>
        <p:origin x="-198"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9/18/2014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9/18/2014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9/18/2014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9/18/2014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9/18/2014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80928"/>
            <a:ext cx="424847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BALANCE OF PAYMENTS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475656" y="1988840"/>
            <a:ext cx="2952328" cy="880369"/>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Balance of </a:t>
            </a:r>
            <a:r>
              <a:rPr lang="en-US" b="1" dirty="0" smtClean="0">
                <a:latin typeface="Arial" pitchFamily="34" charset="0"/>
                <a:cs typeface="Arial" pitchFamily="34" charset="0"/>
              </a:rPr>
              <a:t>Payments</a:t>
            </a:r>
            <a:br>
              <a:rPr lang="en-US" b="1" dirty="0" smtClean="0">
                <a:latin typeface="Arial" pitchFamily="34" charset="0"/>
                <a:cs typeface="Arial" pitchFamily="34" charset="0"/>
              </a:rPr>
            </a:br>
            <a:r>
              <a:rPr lang="en-US" b="1" dirty="0" smtClean="0">
                <a:latin typeface="Arial" pitchFamily="34" charset="0"/>
                <a:cs typeface="Arial" pitchFamily="34" charset="0"/>
              </a:rPr>
              <a:t>–  </a:t>
            </a:r>
            <a:r>
              <a:rPr lang="en-US" b="1" dirty="0">
                <a:latin typeface="Arial" pitchFamily="34" charset="0"/>
                <a:cs typeface="Arial" pitchFamily="34" charset="0"/>
              </a:rPr>
              <a:t>By Prof. </a:t>
            </a:r>
            <a:r>
              <a:rPr lang="en-US" b="1" i="1" dirty="0">
                <a:latin typeface="Arial" pitchFamily="34" charset="0"/>
                <a:cs typeface="Arial" pitchFamily="34" charset="0"/>
              </a:rPr>
              <a:t>Simply</a:t>
            </a:r>
            <a:r>
              <a:rPr lang="en-US" b="1" dirty="0">
                <a:latin typeface="Arial" pitchFamily="34" charset="0"/>
                <a:cs typeface="Arial" pitchFamily="34" charset="0"/>
              </a:rPr>
              <a:t> Simple</a:t>
            </a:r>
            <a:endParaRPr lang="en-US" b="1" baseline="70000" dirty="0">
              <a:latin typeface="Arial" pitchFamily="34" charset="0"/>
              <a:cs typeface="Arial" pitchFamily="34" charset="0"/>
            </a:endParaRP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818092" cy="3582519"/>
          </a:xfrm>
          <a:prstGeom prst="rect">
            <a:avLst/>
          </a:prstGeom>
          <a:noFill/>
        </p:spPr>
        <p:txBody>
          <a:bodyPr wrap="square" rtlCol="0">
            <a:spAutoFit/>
          </a:bodyPr>
          <a:lstStyle/>
          <a:p>
            <a:pPr marL="465138" lvl="0" indent="-465138" fontAlgn="t">
              <a:lnSpc>
                <a:spcPct val="150000"/>
              </a:lnSpc>
              <a:spcBef>
                <a:spcPct val="15000"/>
              </a:spcBef>
              <a:spcAft>
                <a:spcPct val="15000"/>
              </a:spcAft>
              <a:buFont typeface="Wingdings" pitchFamily="2" charset="2"/>
              <a:buChar char="q"/>
              <a:tabLst>
                <a:tab pos="465138" algn="l"/>
              </a:tabLst>
            </a:pPr>
            <a:r>
              <a:rPr lang="en-US" b="1" dirty="0">
                <a:latin typeface="Arial" pitchFamily="34" charset="0"/>
                <a:ea typeface="Times New Roman" pitchFamily="18" charset="0"/>
                <a:cs typeface="Tahoma" pitchFamily="34" charset="0"/>
              </a:rPr>
              <a:t>Just like individuals, countries also have to maintain an account of all their dealings with the rest of the world.</a:t>
            </a:r>
            <a:br>
              <a:rPr lang="en-US" b="1" dirty="0">
                <a:latin typeface="Arial" pitchFamily="34" charset="0"/>
                <a:ea typeface="Times New Roman" pitchFamily="18" charset="0"/>
                <a:cs typeface="Tahoma" pitchFamily="34" charset="0"/>
              </a:rPr>
            </a:br>
            <a:endParaRPr lang="en-US" b="1" dirty="0">
              <a:latin typeface="Arial" pitchFamily="34" charset="0"/>
              <a:ea typeface="Times New Roman" pitchFamily="18" charset="0"/>
              <a:cs typeface="Tahoma" pitchFamily="34" charset="0"/>
            </a:endParaRPr>
          </a:p>
          <a:p>
            <a:pPr marL="465138" lvl="0" indent="-465138" fontAlgn="t">
              <a:lnSpc>
                <a:spcPct val="150000"/>
              </a:lnSpc>
              <a:spcBef>
                <a:spcPct val="15000"/>
              </a:spcBef>
              <a:spcAft>
                <a:spcPct val="15000"/>
              </a:spcAft>
              <a:buFont typeface="Wingdings" pitchFamily="2" charset="2"/>
              <a:buChar char="q"/>
              <a:tabLst>
                <a:tab pos="465138" algn="l"/>
              </a:tabLst>
            </a:pPr>
            <a:r>
              <a:rPr lang="en-US" b="1" dirty="0">
                <a:latin typeface="Arial" pitchFamily="34" charset="0"/>
                <a:ea typeface="Times New Roman" pitchFamily="18" charset="0"/>
                <a:cs typeface="Tahoma" pitchFamily="34" charset="0"/>
              </a:rPr>
              <a:t> A record of all transactions of money moving in or out of a country over a period of time is what we call a </a:t>
            </a:r>
            <a:r>
              <a:rPr lang="en-US" b="1" dirty="0" err="1">
                <a:latin typeface="Arial" pitchFamily="34" charset="0"/>
                <a:ea typeface="Times New Roman" pitchFamily="18" charset="0"/>
                <a:cs typeface="Tahoma" pitchFamily="34" charset="0"/>
              </a:rPr>
              <a:t>BoP</a:t>
            </a:r>
            <a:r>
              <a:rPr lang="en-US" b="1" dirty="0">
                <a:latin typeface="Arial" pitchFamily="34" charset="0"/>
                <a:ea typeface="Times New Roman" pitchFamily="18" charset="0"/>
                <a:cs typeface="Tahoma" pitchFamily="34" charset="0"/>
              </a:rPr>
              <a:t> account.</a:t>
            </a:r>
            <a:br>
              <a:rPr lang="en-US" b="1" dirty="0">
                <a:latin typeface="Arial" pitchFamily="34" charset="0"/>
                <a:ea typeface="Times New Roman" pitchFamily="18" charset="0"/>
                <a:cs typeface="Tahoma" pitchFamily="34" charset="0"/>
              </a:rPr>
            </a:br>
            <a:r>
              <a:rPr lang="en-US" b="1" dirty="0">
                <a:latin typeface="Arial" pitchFamily="34" charset="0"/>
                <a:ea typeface="Times New Roman" pitchFamily="18" charset="0"/>
                <a:cs typeface="Tahoma" pitchFamily="34" charset="0"/>
              </a:rPr>
              <a:t> </a:t>
            </a:r>
          </a:p>
          <a:p>
            <a:pPr marL="465138" lvl="0" indent="-465138" fontAlgn="t">
              <a:lnSpc>
                <a:spcPct val="150000"/>
              </a:lnSpc>
              <a:spcBef>
                <a:spcPct val="15000"/>
              </a:spcBef>
              <a:spcAft>
                <a:spcPct val="15000"/>
              </a:spcAft>
              <a:buFont typeface="Wingdings" pitchFamily="2" charset="2"/>
              <a:buChar char="q"/>
              <a:tabLst>
                <a:tab pos="465138" algn="l"/>
              </a:tabLst>
            </a:pPr>
            <a:r>
              <a:rPr lang="en-US" b="1" dirty="0">
                <a:latin typeface="Arial" pitchFamily="34" charset="0"/>
                <a:ea typeface="Times New Roman" pitchFamily="18" charset="0"/>
                <a:cs typeface="Tahoma" pitchFamily="34" charset="0"/>
              </a:rPr>
              <a:t>Broadly, we can divide a </a:t>
            </a:r>
            <a:r>
              <a:rPr lang="en-US" b="1" dirty="0" err="1">
                <a:latin typeface="Arial" pitchFamily="34" charset="0"/>
                <a:ea typeface="Times New Roman" pitchFamily="18" charset="0"/>
                <a:cs typeface="Tahoma" pitchFamily="34" charset="0"/>
              </a:rPr>
              <a:t>BoP</a:t>
            </a:r>
            <a:r>
              <a:rPr lang="en-US" b="1" dirty="0">
                <a:latin typeface="Arial" pitchFamily="34" charset="0"/>
                <a:ea typeface="Times New Roman" pitchFamily="18" charset="0"/>
                <a:cs typeface="Tahoma" pitchFamily="34" charset="0"/>
              </a:rPr>
              <a:t> account into two components: current account and capital account. </a:t>
            </a:r>
          </a:p>
        </p:txBody>
      </p:sp>
      <p:sp>
        <p:nvSpPr>
          <p:cNvPr id="4" name="TextBox 3"/>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BALANCE OF PAYMENTS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458052" cy="507831"/>
          </a:xfrm>
          <a:prstGeom prst="rect">
            <a:avLst/>
          </a:prstGeom>
          <a:noFill/>
        </p:spPr>
        <p:txBody>
          <a:bodyPr wrap="square" rtlCol="0">
            <a:spAutoFit/>
          </a:bodyPr>
          <a:lstStyle/>
          <a:p>
            <a:pPr algn="ctr">
              <a:lnSpc>
                <a:spcPct val="150000"/>
              </a:lnSpc>
            </a:pPr>
            <a:r>
              <a:rPr lang="en-US" b="1" dirty="0">
                <a:latin typeface="Arial" pitchFamily="34" charset="0"/>
                <a:cs typeface="Arial" pitchFamily="34" charset="0"/>
              </a:rPr>
              <a:t>So</a:t>
            </a:r>
            <a:r>
              <a:rPr lang="en-US" b="1" dirty="0">
                <a:solidFill>
                  <a:srgbClr val="FFFFFF"/>
                </a:solidFill>
                <a:latin typeface="Arial" pitchFamily="34" charset="0"/>
                <a:cs typeface="Arial" pitchFamily="34" charset="0"/>
              </a:rPr>
              <a:t> </a:t>
            </a:r>
            <a:r>
              <a:rPr lang="en-US" b="1" dirty="0">
                <a:latin typeface="Arial" pitchFamily="34" charset="0"/>
                <a:cs typeface="Arial" pitchFamily="34" charset="0"/>
              </a:rPr>
              <a:t>let’s understand the constituents of the current account</a:t>
            </a:r>
          </a:p>
        </p:txBody>
      </p:sp>
      <p:sp>
        <p:nvSpPr>
          <p:cNvPr id="4" name="TextBox 3"/>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BALANCE OF PAYMENTS</a:t>
            </a:r>
          </a:p>
        </p:txBody>
      </p:sp>
      <p:sp>
        <p:nvSpPr>
          <p:cNvPr id="5" name="Rectangle 4"/>
          <p:cNvSpPr/>
          <p:nvPr/>
        </p:nvSpPr>
        <p:spPr>
          <a:xfrm>
            <a:off x="755576" y="1484784"/>
            <a:ext cx="7632848" cy="3967240"/>
          </a:xfrm>
          <a:prstGeom prst="rect">
            <a:avLst/>
          </a:prstGeom>
        </p:spPr>
        <p:txBody>
          <a:bodyPr wrap="square">
            <a:spAutoFit/>
          </a:bodyPr>
          <a:lstStyle/>
          <a:p>
            <a:pPr marL="465138" indent="-465138" fontAlgn="t">
              <a:lnSpc>
                <a:spcPct val="150000"/>
              </a:lnSpc>
              <a:spcBef>
                <a:spcPct val="10000"/>
              </a:spcBef>
              <a:spcAft>
                <a:spcPct val="10000"/>
              </a:spcAft>
              <a:buFontTx/>
              <a:buAutoNum type="arabicPeriod"/>
              <a:tabLst>
                <a:tab pos="465138" algn="l"/>
              </a:tabLst>
            </a:pPr>
            <a:r>
              <a:rPr lang="en-US" sz="1600" b="1" dirty="0">
                <a:latin typeface="Arial" pitchFamily="34" charset="0"/>
                <a:cs typeface="Arial" pitchFamily="34" charset="0"/>
              </a:rPr>
              <a:t>The current account first of all includes all transactions relating to exports and imports of physical goods</a:t>
            </a:r>
            <a:r>
              <a:rPr lang="en-US" sz="1600" b="1">
                <a:latin typeface="Arial" pitchFamily="34" charset="0"/>
                <a:cs typeface="Arial" pitchFamily="34" charset="0"/>
              </a:rPr>
              <a:t>, </a:t>
            </a:r>
            <a:r>
              <a:rPr lang="en-US" sz="1600" b="1" smtClean="0">
                <a:latin typeface="Arial" pitchFamily="34" charset="0"/>
                <a:cs typeface="Arial" pitchFamily="34" charset="0"/>
              </a:rPr>
              <a:t>called visible </a:t>
            </a:r>
            <a:r>
              <a:rPr lang="en-US" sz="1600" b="1" dirty="0">
                <a:latin typeface="Arial" pitchFamily="34" charset="0"/>
                <a:cs typeface="Arial" pitchFamily="34" charset="0"/>
              </a:rPr>
              <a:t>trade. </a:t>
            </a:r>
            <a:br>
              <a:rPr lang="en-US" sz="1600" b="1" dirty="0">
                <a:latin typeface="Arial" pitchFamily="34" charset="0"/>
                <a:cs typeface="Arial" pitchFamily="34" charset="0"/>
              </a:rPr>
            </a:br>
            <a:endParaRPr lang="en-US" sz="500" b="1" dirty="0">
              <a:latin typeface="Arial" pitchFamily="34" charset="0"/>
              <a:cs typeface="Arial" pitchFamily="34" charset="0"/>
            </a:endParaRPr>
          </a:p>
          <a:p>
            <a:pPr marL="465138" indent="-465138" fontAlgn="t">
              <a:lnSpc>
                <a:spcPct val="150000"/>
              </a:lnSpc>
              <a:spcBef>
                <a:spcPct val="10000"/>
              </a:spcBef>
              <a:spcAft>
                <a:spcPct val="10000"/>
              </a:spcAft>
              <a:buFontTx/>
              <a:buAutoNum type="arabicPeriod"/>
              <a:tabLst>
                <a:tab pos="465138" algn="l"/>
              </a:tabLst>
            </a:pPr>
            <a:r>
              <a:rPr lang="en-US" sz="1600" b="1" dirty="0">
                <a:latin typeface="Arial" pitchFamily="34" charset="0"/>
                <a:cs typeface="Arial" pitchFamily="34" charset="0"/>
              </a:rPr>
              <a:t>The current account includes receipts and payments in respect of services such as banking, tourism and intangible properties such as patents and copyrights, which is called invisibles </a:t>
            </a:r>
          </a:p>
          <a:p>
            <a:pPr marL="465138" indent="-465138" fontAlgn="t">
              <a:lnSpc>
                <a:spcPct val="150000"/>
              </a:lnSpc>
              <a:spcBef>
                <a:spcPct val="10000"/>
              </a:spcBef>
              <a:spcAft>
                <a:spcPct val="10000"/>
              </a:spcAft>
              <a:buFontTx/>
              <a:buAutoNum type="arabicPeriod"/>
              <a:tabLst>
                <a:tab pos="465138" algn="l"/>
              </a:tabLst>
            </a:pPr>
            <a:endParaRPr lang="en-US" sz="500" b="1" dirty="0">
              <a:latin typeface="Arial" pitchFamily="34" charset="0"/>
              <a:cs typeface="Arial" pitchFamily="34" charset="0"/>
            </a:endParaRPr>
          </a:p>
          <a:p>
            <a:pPr marL="465138" indent="-465138" fontAlgn="t">
              <a:lnSpc>
                <a:spcPct val="150000"/>
              </a:lnSpc>
              <a:spcBef>
                <a:spcPct val="10000"/>
              </a:spcBef>
              <a:spcAft>
                <a:spcPct val="10000"/>
              </a:spcAft>
              <a:buFontTx/>
              <a:buAutoNum type="arabicPeriod"/>
              <a:tabLst>
                <a:tab pos="465138" algn="l"/>
              </a:tabLst>
            </a:pPr>
            <a:r>
              <a:rPr lang="en-US" sz="1600" b="1" dirty="0">
                <a:latin typeface="Arial" pitchFamily="34" charset="0"/>
                <a:cs typeface="Arial" pitchFamily="34" charset="0"/>
              </a:rPr>
              <a:t>The current account includes private transfers such as money sent by expatriate workers, dividends and interest payments, </a:t>
            </a:r>
            <a:r>
              <a:rPr lang="en-US" sz="1600" b="1" dirty="0" err="1">
                <a:latin typeface="Arial" pitchFamily="34" charset="0"/>
                <a:cs typeface="Arial" pitchFamily="34" charset="0"/>
              </a:rPr>
              <a:t>etc</a:t>
            </a:r>
            <a:r>
              <a:rPr lang="en-US" sz="1600" b="1" dirty="0">
                <a:latin typeface="Arial" pitchFamily="34" charset="0"/>
                <a:cs typeface="Arial" pitchFamily="34" charset="0"/>
              </a:rPr>
              <a:t/>
            </a:r>
            <a:br>
              <a:rPr lang="en-US" sz="1600" b="1" dirty="0">
                <a:latin typeface="Arial" pitchFamily="34" charset="0"/>
                <a:cs typeface="Arial" pitchFamily="34" charset="0"/>
              </a:rPr>
            </a:br>
            <a:endParaRPr lang="en-US" sz="500" b="1" dirty="0">
              <a:latin typeface="Arial" pitchFamily="34" charset="0"/>
              <a:cs typeface="Arial" pitchFamily="34" charset="0"/>
            </a:endParaRPr>
          </a:p>
          <a:p>
            <a:pPr marL="465138" indent="-465138" fontAlgn="t">
              <a:lnSpc>
                <a:spcPct val="150000"/>
              </a:lnSpc>
              <a:spcBef>
                <a:spcPct val="10000"/>
              </a:spcBef>
              <a:spcAft>
                <a:spcPct val="10000"/>
              </a:spcAft>
              <a:buFontTx/>
              <a:buAutoNum type="arabicPeriod"/>
              <a:tabLst>
                <a:tab pos="465138" algn="l"/>
              </a:tabLst>
            </a:pPr>
            <a:r>
              <a:rPr lang="en-US" sz="1600" b="1" dirty="0">
                <a:latin typeface="Arial" pitchFamily="34" charset="0"/>
                <a:cs typeface="Arial" pitchFamily="34" charset="0"/>
              </a:rPr>
              <a:t>The current account includes all official transfers between governments such as international aid. </a:t>
            </a:r>
          </a:p>
        </p:txBody>
      </p:sp>
    </p:spTree>
    <p:extLst>
      <p:ext uri="{BB962C8B-B14F-4D97-AF65-F5344CB8AC3E}">
        <p14:creationId xmlns:p14="http://schemas.microsoft.com/office/powerpoint/2010/main" xmlns="" val="13775465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458052" cy="456535"/>
          </a:xfrm>
          <a:prstGeom prst="rect">
            <a:avLst/>
          </a:prstGeom>
          <a:noFill/>
        </p:spPr>
        <p:txBody>
          <a:bodyPr wrap="square" rtlCol="0">
            <a:spAutoFit/>
          </a:bodyPr>
          <a:lstStyle/>
          <a:p>
            <a:pPr algn="ctr">
              <a:lnSpc>
                <a:spcPct val="150000"/>
              </a:lnSpc>
            </a:pPr>
            <a:r>
              <a:rPr lang="en-US" b="1" dirty="0">
                <a:latin typeface="Arial" pitchFamily="34" charset="0"/>
                <a:cs typeface="Arial" pitchFamily="34" charset="0"/>
              </a:rPr>
              <a:t>Now what comprises the capital account</a:t>
            </a:r>
          </a:p>
        </p:txBody>
      </p:sp>
      <p:sp>
        <p:nvSpPr>
          <p:cNvPr id="4" name="TextBox 3"/>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BALANCE OF PAYMENTS</a:t>
            </a:r>
          </a:p>
        </p:txBody>
      </p:sp>
      <p:sp>
        <p:nvSpPr>
          <p:cNvPr id="5" name="Rectangle 4"/>
          <p:cNvSpPr/>
          <p:nvPr/>
        </p:nvSpPr>
        <p:spPr>
          <a:xfrm>
            <a:off x="755576" y="1484784"/>
            <a:ext cx="7848872" cy="3637919"/>
          </a:xfrm>
          <a:prstGeom prst="rect">
            <a:avLst/>
          </a:prstGeom>
        </p:spPr>
        <p:txBody>
          <a:bodyPr wrap="square">
            <a:spAutoFit/>
          </a:bodyPr>
          <a:lstStyle/>
          <a:p>
            <a:pPr marL="465138" indent="-465138">
              <a:lnSpc>
                <a:spcPct val="130000"/>
              </a:lnSpc>
              <a:spcBef>
                <a:spcPct val="25000"/>
              </a:spcBef>
              <a:spcAft>
                <a:spcPct val="30000"/>
              </a:spcAft>
              <a:buFontTx/>
              <a:buAutoNum type="arabicPeriod"/>
              <a:tabLst>
                <a:tab pos="465138" algn="l"/>
              </a:tabLst>
            </a:pPr>
            <a:r>
              <a:rPr lang="en-US" b="1" dirty="0">
                <a:latin typeface="Arial" pitchFamily="34" charset="0"/>
                <a:cs typeface="Arial" pitchFamily="34" charset="0"/>
              </a:rPr>
              <a:t>The capital account includes all transactions related to long-term capital flows between different countries, such as investment of money for purchasing land and factories, known as FDI</a:t>
            </a:r>
            <a:r>
              <a:rPr lang="en-US" b="1" dirty="0" smtClean="0">
                <a:latin typeface="Arial" pitchFamily="34" charset="0"/>
                <a:cs typeface="Arial" pitchFamily="34" charset="0"/>
              </a:rPr>
              <a:t>.</a:t>
            </a:r>
            <a:endParaRPr lang="en-US" b="1" dirty="0">
              <a:latin typeface="Arial" pitchFamily="34" charset="0"/>
              <a:cs typeface="Arial" pitchFamily="34" charset="0"/>
            </a:endParaRPr>
          </a:p>
          <a:p>
            <a:pPr marL="465138" indent="-465138">
              <a:lnSpc>
                <a:spcPct val="130000"/>
              </a:lnSpc>
              <a:spcBef>
                <a:spcPct val="25000"/>
              </a:spcBef>
              <a:spcAft>
                <a:spcPct val="30000"/>
              </a:spcAft>
              <a:buFontTx/>
              <a:buAutoNum type="arabicPeriod"/>
              <a:tabLst>
                <a:tab pos="465138" algn="l"/>
              </a:tabLst>
            </a:pPr>
            <a:r>
              <a:rPr lang="en-US" b="1" dirty="0">
                <a:latin typeface="Arial" pitchFamily="34" charset="0"/>
                <a:cs typeface="Arial" pitchFamily="34" charset="0"/>
              </a:rPr>
              <a:t>It also includes short-term capital flows such as investments in the stock market by FII or borrowing of money by </a:t>
            </a:r>
            <a:r>
              <a:rPr lang="en-US" b="1" dirty="0" smtClean="0">
                <a:latin typeface="Arial" pitchFamily="34" charset="0"/>
                <a:cs typeface="Arial" pitchFamily="34" charset="0"/>
              </a:rPr>
              <a:t>firms</a:t>
            </a:r>
            <a:br>
              <a:rPr lang="en-US" b="1" dirty="0" smtClean="0">
                <a:latin typeface="Arial" pitchFamily="34" charset="0"/>
                <a:cs typeface="Arial" pitchFamily="34" charset="0"/>
              </a:rPr>
            </a:br>
            <a:r>
              <a:rPr lang="en-US" b="1" dirty="0" smtClean="0">
                <a:latin typeface="Arial" pitchFamily="34" charset="0"/>
                <a:cs typeface="Arial" pitchFamily="34" charset="0"/>
              </a:rPr>
              <a:t> (</a:t>
            </a:r>
            <a:r>
              <a:rPr lang="en-US" b="1" dirty="0">
                <a:latin typeface="Arial" pitchFamily="34" charset="0"/>
                <a:cs typeface="Arial" pitchFamily="34" charset="0"/>
              </a:rPr>
              <a:t>ECB -external commercial borrowings) &amp; government. </a:t>
            </a:r>
          </a:p>
          <a:p>
            <a:pPr marL="465138" indent="-465138">
              <a:lnSpc>
                <a:spcPct val="130000"/>
              </a:lnSpc>
              <a:spcBef>
                <a:spcPct val="25000"/>
              </a:spcBef>
              <a:spcAft>
                <a:spcPct val="30000"/>
              </a:spcAft>
              <a:buFontTx/>
              <a:buAutoNum type="arabicPeriod"/>
              <a:tabLst>
                <a:tab pos="465138" algn="l"/>
              </a:tabLst>
            </a:pPr>
            <a:r>
              <a:rPr lang="en-US" b="1" dirty="0">
                <a:latin typeface="Arial" pitchFamily="34" charset="0"/>
                <a:cs typeface="Arial" pitchFamily="34" charset="0"/>
              </a:rPr>
              <a:t>In short, the capital account includes all transactions related to investment in either physical assets or financial assets of one country by the residents of another country. </a:t>
            </a:r>
          </a:p>
        </p:txBody>
      </p:sp>
    </p:spTree>
    <p:extLst>
      <p:ext uri="{BB962C8B-B14F-4D97-AF65-F5344CB8AC3E}">
        <p14:creationId xmlns:p14="http://schemas.microsoft.com/office/powerpoint/2010/main" xmlns="" val="8725229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314036" cy="923330"/>
          </a:xfrm>
          <a:prstGeom prst="rect">
            <a:avLst/>
          </a:prstGeom>
          <a:noFill/>
        </p:spPr>
        <p:txBody>
          <a:bodyPr wrap="square" rtlCol="0">
            <a:spAutoFit/>
          </a:bodyPr>
          <a:lstStyle/>
          <a:p>
            <a:pPr algn="ctr">
              <a:lnSpc>
                <a:spcPct val="150000"/>
              </a:lnSpc>
            </a:pPr>
            <a:r>
              <a:rPr lang="en-US" b="1" dirty="0">
                <a:latin typeface="Arial" pitchFamily="34" charset="0"/>
                <a:cs typeface="Arial" pitchFamily="34" charset="0"/>
              </a:rPr>
              <a:t>Now let me tell you the significance of a </a:t>
            </a:r>
            <a:r>
              <a:rPr lang="en-US" b="1" dirty="0" smtClean="0">
                <a:latin typeface="Arial" pitchFamily="34" charset="0"/>
                <a:cs typeface="Arial" pitchFamily="34" charset="0"/>
              </a:rPr>
              <a:t>surplus</a:t>
            </a:r>
            <a:br>
              <a:rPr lang="en-US" b="1" dirty="0" smtClean="0">
                <a:latin typeface="Arial" pitchFamily="34" charset="0"/>
                <a:cs typeface="Arial" pitchFamily="34" charset="0"/>
              </a:rPr>
            </a:br>
            <a:r>
              <a:rPr lang="en-US" b="1" dirty="0" smtClean="0">
                <a:latin typeface="Arial" pitchFamily="34" charset="0"/>
                <a:cs typeface="Arial" pitchFamily="34" charset="0"/>
              </a:rPr>
              <a:t>or </a:t>
            </a:r>
            <a:r>
              <a:rPr lang="en-US" b="1" dirty="0">
                <a:latin typeface="Arial" pitchFamily="34" charset="0"/>
                <a:cs typeface="Arial" pitchFamily="34" charset="0"/>
              </a:rPr>
              <a:t>deficit in the BOP components</a:t>
            </a:r>
          </a:p>
        </p:txBody>
      </p:sp>
      <p:sp>
        <p:nvSpPr>
          <p:cNvPr id="4" name="TextBox 3"/>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BALANCE OF PAYMENTS</a:t>
            </a:r>
          </a:p>
        </p:txBody>
      </p:sp>
      <p:sp>
        <p:nvSpPr>
          <p:cNvPr id="5" name="Rectangle 4"/>
          <p:cNvSpPr/>
          <p:nvPr/>
        </p:nvSpPr>
        <p:spPr>
          <a:xfrm>
            <a:off x="755576" y="1988840"/>
            <a:ext cx="7848872" cy="3227037"/>
          </a:xfrm>
          <a:prstGeom prst="rect">
            <a:avLst/>
          </a:prstGeom>
        </p:spPr>
        <p:txBody>
          <a:bodyPr wrap="square">
            <a:spAutoFit/>
          </a:bodyPr>
          <a:lstStyle/>
          <a:p>
            <a:pPr marL="465138" indent="-465138" fontAlgn="t">
              <a:lnSpc>
                <a:spcPct val="150000"/>
              </a:lnSpc>
              <a:spcBef>
                <a:spcPct val="25000"/>
              </a:spcBef>
              <a:spcAft>
                <a:spcPct val="20000"/>
              </a:spcAft>
              <a:buFont typeface="Wingdings" pitchFamily="2" charset="2"/>
              <a:buChar char="q"/>
              <a:tabLst>
                <a:tab pos="465138" algn="l"/>
              </a:tabLst>
            </a:pPr>
            <a:r>
              <a:rPr lang="en-US" b="1" dirty="0">
                <a:latin typeface="Arial" pitchFamily="34" charset="0"/>
                <a:cs typeface="Arial" pitchFamily="34" charset="0"/>
              </a:rPr>
              <a:t>A surplus or deficit in different components of the </a:t>
            </a:r>
            <a:r>
              <a:rPr lang="en-US" b="1" dirty="0" err="1">
                <a:latin typeface="Arial" pitchFamily="34" charset="0"/>
                <a:cs typeface="Arial" pitchFamily="34" charset="0"/>
              </a:rPr>
              <a:t>BoP</a:t>
            </a:r>
            <a:r>
              <a:rPr lang="en-US" b="1" dirty="0">
                <a:latin typeface="Arial" pitchFamily="34" charset="0"/>
                <a:cs typeface="Arial" pitchFamily="34" charset="0"/>
              </a:rPr>
              <a:t> account can provide a snapshot of a country’s economy. </a:t>
            </a:r>
            <a:br>
              <a:rPr lang="en-US" b="1" dirty="0">
                <a:latin typeface="Arial" pitchFamily="34" charset="0"/>
                <a:cs typeface="Arial" pitchFamily="34" charset="0"/>
              </a:rPr>
            </a:br>
            <a:endParaRPr lang="en-US" sz="600" b="1" dirty="0">
              <a:latin typeface="Arial" pitchFamily="34" charset="0"/>
              <a:cs typeface="Arial" pitchFamily="34" charset="0"/>
            </a:endParaRPr>
          </a:p>
          <a:p>
            <a:pPr marL="465138" indent="-465138" fontAlgn="t">
              <a:lnSpc>
                <a:spcPct val="150000"/>
              </a:lnSpc>
              <a:spcBef>
                <a:spcPct val="25000"/>
              </a:spcBef>
              <a:spcAft>
                <a:spcPct val="20000"/>
              </a:spcAft>
              <a:buFont typeface="Wingdings" pitchFamily="2" charset="2"/>
              <a:buChar char="q"/>
              <a:tabLst>
                <a:tab pos="465138" algn="l"/>
              </a:tabLst>
            </a:pPr>
            <a:r>
              <a:rPr lang="en-US" b="1" dirty="0">
                <a:latin typeface="Arial" pitchFamily="34" charset="0"/>
                <a:cs typeface="Arial" pitchFamily="34" charset="0"/>
              </a:rPr>
              <a:t>A surplus in the current account may mean that the country is receiving more money by exporting its goods and services to other countries whereas a deficit indicates that the country is importing more goods and services from the outside world, for which it has to pay money. </a:t>
            </a:r>
          </a:p>
        </p:txBody>
      </p:sp>
    </p:spTree>
    <p:extLst>
      <p:ext uri="{BB962C8B-B14F-4D97-AF65-F5344CB8AC3E}">
        <p14:creationId xmlns:p14="http://schemas.microsoft.com/office/powerpoint/2010/main" xmlns="" val="8009680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55576" y="1063753"/>
            <a:ext cx="7704856" cy="3938001"/>
          </a:xfrm>
          <a:prstGeom prst="rect">
            <a:avLst/>
          </a:prstGeom>
        </p:spPr>
        <p:txBody>
          <a:bodyPr wrap="square">
            <a:spAutoFit/>
          </a:bodyPr>
          <a:lstStyle/>
          <a:p>
            <a:pPr marL="465138" indent="-465138" fontAlgn="t">
              <a:lnSpc>
                <a:spcPct val="150000"/>
              </a:lnSpc>
              <a:spcBef>
                <a:spcPct val="30000"/>
              </a:spcBef>
              <a:spcAft>
                <a:spcPct val="30000"/>
              </a:spcAft>
              <a:buFont typeface="Wingdings" pitchFamily="2" charset="2"/>
              <a:buChar char="q"/>
              <a:tabLst>
                <a:tab pos="465138" algn="l"/>
              </a:tabLst>
            </a:pPr>
            <a:r>
              <a:rPr lang="en-US" sz="1700" b="1" dirty="0">
                <a:latin typeface="Arial" pitchFamily="34" charset="0"/>
                <a:cs typeface="Arial" pitchFamily="34" charset="0"/>
              </a:rPr>
              <a:t>All surplus in the capital account indicates that foreign investors are investing more in the assets of the country than what the residents of that country are investing in the assets of other countries.</a:t>
            </a:r>
          </a:p>
          <a:p>
            <a:pPr marL="465138" indent="-465138" fontAlgn="t">
              <a:lnSpc>
                <a:spcPct val="150000"/>
              </a:lnSpc>
              <a:spcBef>
                <a:spcPct val="30000"/>
              </a:spcBef>
              <a:spcAft>
                <a:spcPct val="30000"/>
              </a:spcAft>
              <a:buFont typeface="Wingdings" pitchFamily="2" charset="2"/>
              <a:buChar char="q"/>
              <a:tabLst>
                <a:tab pos="465138" algn="l"/>
              </a:tabLst>
            </a:pPr>
            <a:r>
              <a:rPr lang="en-US" sz="1700" b="1" dirty="0">
                <a:latin typeface="Arial" pitchFamily="34" charset="0"/>
                <a:cs typeface="Arial" pitchFamily="34" charset="0"/>
              </a:rPr>
              <a:t>A deficit in the capital account indicates that Indian investors are investing more in international markets as compared to foreign investors investing in India</a:t>
            </a:r>
          </a:p>
          <a:p>
            <a:pPr marL="465138" indent="-465138" fontAlgn="t">
              <a:lnSpc>
                <a:spcPct val="150000"/>
              </a:lnSpc>
              <a:spcBef>
                <a:spcPct val="30000"/>
              </a:spcBef>
              <a:spcAft>
                <a:spcPct val="30000"/>
              </a:spcAft>
              <a:buFont typeface="Wingdings" pitchFamily="2" charset="2"/>
              <a:buChar char="q"/>
              <a:tabLst>
                <a:tab pos="465138" algn="l"/>
              </a:tabLst>
            </a:pPr>
            <a:r>
              <a:rPr lang="en-US" sz="1700" b="1" dirty="0">
                <a:latin typeface="Arial" pitchFamily="34" charset="0"/>
                <a:cs typeface="Arial" pitchFamily="34" charset="0"/>
              </a:rPr>
              <a:t>In general, we can say that a surplus in the capital account means international investors have confidence in the domestic economy whereas a deficit could be due to lack of confidence. </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BALANCE OF PAYMENTS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389290" cy="1338828"/>
          </a:xfrm>
          <a:prstGeom prst="rect">
            <a:avLst/>
          </a:prstGeom>
        </p:spPr>
        <p:txBody>
          <a:bodyPr wrap="square">
            <a:spAutoFit/>
          </a:bodyPr>
          <a:lstStyle/>
          <a:p>
            <a:pPr>
              <a:lnSpc>
                <a:spcPct val="150000"/>
              </a:lnSpc>
            </a:pPr>
            <a:r>
              <a:rPr lang="en-US" b="1" dirty="0">
                <a:latin typeface="Arial" pitchFamily="34" charset="0"/>
                <a:cs typeface="Arial" pitchFamily="34" charset="0"/>
              </a:rPr>
              <a:t>Always keep in </a:t>
            </a:r>
            <a:r>
              <a:rPr lang="en-US" b="1" dirty="0" smtClean="0">
                <a:latin typeface="Arial" pitchFamily="34" charset="0"/>
                <a:cs typeface="Arial" pitchFamily="34" charset="0"/>
              </a:rPr>
              <a:t>mind that </a:t>
            </a:r>
            <a:r>
              <a:rPr lang="en-US" b="1" dirty="0">
                <a:latin typeface="Arial" pitchFamily="34" charset="0"/>
                <a:cs typeface="Arial" pitchFamily="34" charset="0"/>
              </a:rPr>
              <a:t>after taking all surpluses and deficits of current and capital account, ultimately it is the overall balance in the </a:t>
            </a:r>
            <a:r>
              <a:rPr lang="en-US" b="1" dirty="0" err="1">
                <a:latin typeface="Arial" pitchFamily="34" charset="0"/>
                <a:cs typeface="Arial" pitchFamily="34" charset="0"/>
              </a:rPr>
              <a:t>BoP</a:t>
            </a:r>
            <a:r>
              <a:rPr lang="en-US" b="1" dirty="0">
                <a:latin typeface="Arial" pitchFamily="34" charset="0"/>
                <a:cs typeface="Arial" pitchFamily="34" charset="0"/>
              </a:rPr>
              <a:t> account that matters. … </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BALANCE OF PAYMENTS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1934</TotalTime>
  <Words>465</Words>
  <Application>Microsoft Office PowerPoint</Application>
  <PresentationFormat>On-screen Show (4:3)</PresentationFormat>
  <Paragraphs>32</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Slide 1</vt:lpstr>
      <vt:lpstr>Slide 2</vt:lpstr>
      <vt:lpstr>Slide 3</vt:lpstr>
      <vt:lpstr>Slide 4</vt:lpstr>
      <vt:lpstr>Slide 5</vt:lpstr>
      <vt:lpstr>Slide 6</vt:lpstr>
      <vt:lpstr>Slide 7</vt:lpstr>
      <vt:lpstr>Slide 8</vt:lpstr>
      <vt:lpstr>Slide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230</cp:revision>
  <dcterms:created xsi:type="dcterms:W3CDTF">2013-10-22T09:41:31Z</dcterms:created>
  <dcterms:modified xsi:type="dcterms:W3CDTF">2014-09-18T09:58:37Z</dcterms:modified>
</cp:coreProperties>
</file>