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358" r:id="rId3"/>
    <p:sldId id="378" r:id="rId4"/>
    <p:sldId id="318" r:id="rId5"/>
    <p:sldId id="334" r:id="rId6"/>
    <p:sldId id="373" r:id="rId7"/>
    <p:sldId id="374" r:id="rId8"/>
    <p:sldId id="375" r:id="rId9"/>
    <p:sldId id="376" r:id="rId10"/>
    <p:sldId id="377" r:id="rId11"/>
    <p:sldId id="379" r:id="rId12"/>
    <p:sldId id="380" r:id="rId13"/>
    <p:sldId id="381" r:id="rId14"/>
    <p:sldId id="382" r:id="rId15"/>
    <p:sldId id="355" r:id="rId16"/>
    <p:sldId id="383" r:id="rId17"/>
    <p:sldId id="384" r:id="rId18"/>
    <p:sldId id="287" r:id="rId19"/>
    <p:sldId id="27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19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CURRENT ACCOUNT DEFICIT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691680" y="1988840"/>
            <a:ext cx="2880320" cy="923330"/>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Understanding </a:t>
            </a:r>
            <a:br>
              <a:rPr lang="en-US" b="1" dirty="0">
                <a:latin typeface="Arial" pitchFamily="34" charset="0"/>
                <a:cs typeface="Arial" pitchFamily="34" charset="0"/>
              </a:rPr>
            </a:br>
            <a:r>
              <a:rPr lang="en-US" b="1" dirty="0">
                <a:latin typeface="Arial" pitchFamily="34" charset="0"/>
                <a:cs typeface="Arial" pitchFamily="34" charset="0"/>
              </a:rPr>
              <a:t>Current Account Deficit</a:t>
            </a: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953942"/>
            <a:ext cx="4104456" cy="872034"/>
          </a:xfrm>
          <a:prstGeom prst="rect">
            <a:avLst/>
          </a:prstGeom>
        </p:spPr>
        <p:txBody>
          <a:bodyPr wrap="square">
            <a:spAutoFit/>
          </a:bodyPr>
          <a:lstStyle/>
          <a:p>
            <a:pPr>
              <a:lnSpc>
                <a:spcPct val="150000"/>
              </a:lnSpc>
            </a:pPr>
            <a:r>
              <a:rPr lang="en-US" b="1" dirty="0">
                <a:latin typeface="Arial" pitchFamily="34" charset="0"/>
                <a:cs typeface="Arial" pitchFamily="34" charset="0"/>
              </a:rPr>
              <a:t>Let's understand this concept through an interesting story!</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Tree>
    <p:extLst>
      <p:ext uri="{BB962C8B-B14F-4D97-AF65-F5344CB8AC3E}">
        <p14:creationId xmlns:p14="http://schemas.microsoft.com/office/powerpoint/2010/main" xmlns="" val="301616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1711366"/>
          </a:xfrm>
          <a:prstGeom prst="rect">
            <a:avLst/>
          </a:prstGeom>
          <a:noFill/>
        </p:spPr>
        <p:txBody>
          <a:bodyPr wrap="square" rtlCol="0">
            <a:spAutoFit/>
          </a:bodyPr>
          <a:lstStyle/>
          <a:p>
            <a:pPr>
              <a:lnSpc>
                <a:spcPct val="150000"/>
              </a:lnSpc>
            </a:pPr>
            <a:r>
              <a:rPr lang="en-US" b="1" dirty="0" err="1">
                <a:latin typeface="Arial" pitchFamily="34" charset="0"/>
                <a:cs typeface="Arial" pitchFamily="34" charset="0"/>
              </a:rPr>
              <a:t>Rajendra</a:t>
            </a:r>
            <a:r>
              <a:rPr lang="en-US" b="1" dirty="0">
                <a:latin typeface="Arial" pitchFamily="34" charset="0"/>
                <a:cs typeface="Arial" pitchFamily="34" charset="0"/>
              </a:rPr>
              <a:t> and </a:t>
            </a:r>
            <a:r>
              <a:rPr lang="en-US" b="1" dirty="0" err="1">
                <a:latin typeface="Arial" pitchFamily="34" charset="0"/>
                <a:cs typeface="Arial" pitchFamily="34" charset="0"/>
              </a:rPr>
              <a:t>Vinay</a:t>
            </a:r>
            <a:r>
              <a:rPr lang="en-US" b="1" dirty="0">
                <a:latin typeface="Arial" pitchFamily="34" charset="0"/>
                <a:cs typeface="Arial" pitchFamily="34" charset="0"/>
              </a:rPr>
              <a:t> travel together to work by train every day. As a usual morning practice, </a:t>
            </a:r>
            <a:r>
              <a:rPr lang="en-US" b="1" dirty="0" err="1">
                <a:latin typeface="Arial" pitchFamily="34" charset="0"/>
                <a:cs typeface="Arial" pitchFamily="34" charset="0"/>
              </a:rPr>
              <a:t>Vinay</a:t>
            </a:r>
            <a:r>
              <a:rPr lang="en-US" b="1" dirty="0">
                <a:latin typeface="Arial" pitchFamily="34" charset="0"/>
                <a:cs typeface="Arial" pitchFamily="34" charset="0"/>
              </a:rPr>
              <a:t> was reading a business paper when he came across the term 'Current Account Deficit'. He wondered what it meant and asked </a:t>
            </a:r>
            <a:r>
              <a:rPr lang="en-US" b="1" dirty="0" err="1">
                <a:latin typeface="Arial" pitchFamily="34" charset="0"/>
                <a:cs typeface="Arial" pitchFamily="34" charset="0"/>
              </a:rPr>
              <a:t>Rajendra</a:t>
            </a:r>
            <a:r>
              <a:rPr lang="en-US" b="1" dirty="0">
                <a:latin typeface="Arial" pitchFamily="34" charset="0"/>
                <a:cs typeface="Arial" pitchFamily="34" charset="0"/>
              </a:rPr>
              <a:t> to explain.</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683568" y="1072088"/>
            <a:ext cx="7128792" cy="923330"/>
          </a:xfrm>
          <a:prstGeom prst="rect">
            <a:avLst/>
          </a:prstGeom>
        </p:spPr>
        <p:txBody>
          <a:bodyPr wrap="square">
            <a:spAutoFit/>
          </a:bodyPr>
          <a:lstStyle/>
          <a:p>
            <a:pPr>
              <a:lnSpc>
                <a:spcPct val="150000"/>
              </a:lnSpc>
            </a:pPr>
            <a:r>
              <a:rPr lang="en-US" b="1" dirty="0" err="1">
                <a:latin typeface="Arial" pitchFamily="34" charset="0"/>
                <a:cs typeface="Arial" pitchFamily="34" charset="0"/>
              </a:rPr>
              <a:t>Rajendra</a:t>
            </a:r>
            <a:r>
              <a:rPr lang="en-US" b="1" dirty="0">
                <a:latin typeface="Arial" pitchFamily="34" charset="0"/>
                <a:cs typeface="Arial" pitchFamily="34" charset="0"/>
              </a:rPr>
              <a:t> tells him that if he answers a few questions, the meaning of the term Current Account Deficit will get clear.</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683568" y="1052736"/>
            <a:ext cx="7488832" cy="1754326"/>
          </a:xfrm>
          <a:prstGeom prst="rect">
            <a:avLst/>
          </a:prstGeom>
        </p:spPr>
        <p:txBody>
          <a:bodyPr wrap="square">
            <a:spAutoFit/>
          </a:bodyPr>
          <a:lstStyle/>
          <a:p>
            <a:pPr>
              <a:lnSpc>
                <a:spcPct val="150000"/>
              </a:lnSpc>
            </a:pPr>
            <a:r>
              <a:rPr lang="en-US" b="1" dirty="0" err="1">
                <a:latin typeface="Arial" pitchFamily="34" charset="0"/>
                <a:cs typeface="Arial" pitchFamily="34" charset="0"/>
              </a:rPr>
              <a:t>Rajendra</a:t>
            </a:r>
            <a:r>
              <a:rPr lang="en-US" b="1" dirty="0">
                <a:latin typeface="Arial" pitchFamily="34" charset="0"/>
                <a:cs typeface="Arial" pitchFamily="34" charset="0"/>
              </a:rPr>
              <a:t> asks </a:t>
            </a:r>
            <a:r>
              <a:rPr lang="en-US" b="1" dirty="0" err="1">
                <a:latin typeface="Arial" pitchFamily="34" charset="0"/>
                <a:cs typeface="Arial" pitchFamily="34" charset="0"/>
              </a:rPr>
              <a:t>Vinay</a:t>
            </a:r>
            <a:r>
              <a:rPr lang="en-US" b="1" dirty="0">
                <a:latin typeface="Arial" pitchFamily="34" charset="0"/>
                <a:cs typeface="Arial" pitchFamily="34" charset="0"/>
              </a:rPr>
              <a:t> to name the sources </a:t>
            </a:r>
            <a:r>
              <a:rPr lang="en-US" b="1">
                <a:latin typeface="Arial" pitchFamily="34" charset="0"/>
                <a:cs typeface="Arial" pitchFamily="34" charset="0"/>
              </a:rPr>
              <a:t>of </a:t>
            </a:r>
            <a:r>
              <a:rPr lang="en-US" b="1" smtClean="0">
                <a:latin typeface="Arial" pitchFamily="34" charset="0"/>
                <a:cs typeface="Arial" pitchFamily="34" charset="0"/>
              </a:rPr>
              <a:t>his </a:t>
            </a:r>
            <a:r>
              <a:rPr lang="en-US" b="1" dirty="0">
                <a:latin typeface="Arial" pitchFamily="34" charset="0"/>
                <a:cs typeface="Arial" pitchFamily="34" charset="0"/>
              </a:rPr>
              <a:t>income?</a:t>
            </a:r>
          </a:p>
          <a:p>
            <a:pPr>
              <a:lnSpc>
                <a:spcPct val="150000"/>
              </a:lnSpc>
            </a:pPr>
            <a:endParaRPr lang="en-US" b="1" dirty="0">
              <a:latin typeface="Arial" pitchFamily="34" charset="0"/>
              <a:cs typeface="Arial" pitchFamily="34" charset="0"/>
            </a:endParaRPr>
          </a:p>
          <a:p>
            <a:pPr>
              <a:lnSpc>
                <a:spcPct val="150000"/>
              </a:lnSpc>
            </a:pPr>
            <a:r>
              <a:rPr lang="en-US" b="1" dirty="0" err="1">
                <a:latin typeface="Arial" pitchFamily="34" charset="0"/>
                <a:cs typeface="Arial" pitchFamily="34" charset="0"/>
              </a:rPr>
              <a:t>Vinay</a:t>
            </a:r>
            <a:r>
              <a:rPr lang="en-US" b="1" dirty="0">
                <a:latin typeface="Arial" pitchFamily="34" charset="0"/>
                <a:cs typeface="Arial" pitchFamily="34" charset="0"/>
              </a:rPr>
              <a:t> identifies them as Salary, Interest income </a:t>
            </a:r>
            <a:r>
              <a:rPr lang="en-US" b="1" dirty="0" smtClean="0">
                <a:latin typeface="Arial" pitchFamily="34" charset="0"/>
                <a:cs typeface="Arial" pitchFamily="34" charset="0"/>
              </a:rPr>
              <a:t>from</a:t>
            </a:r>
            <a:br>
              <a:rPr lang="en-US" b="1" dirty="0" smtClean="0">
                <a:latin typeface="Arial" pitchFamily="34" charset="0"/>
                <a:cs typeface="Arial" pitchFamily="34" charset="0"/>
              </a:rPr>
            </a:br>
            <a:r>
              <a:rPr lang="en-US" b="1" dirty="0" smtClean="0">
                <a:latin typeface="Arial" pitchFamily="34" charset="0"/>
                <a:cs typeface="Arial" pitchFamily="34" charset="0"/>
              </a:rPr>
              <a:t>Fixed </a:t>
            </a:r>
            <a:r>
              <a:rPr lang="en-US" b="1" dirty="0">
                <a:latin typeface="Arial" pitchFamily="34" charset="0"/>
                <a:cs typeface="Arial" pitchFamily="34" charset="0"/>
              </a:rPr>
              <a:t>Deposits and Dividends from mutual funds.</a:t>
            </a:r>
          </a:p>
        </p:txBody>
      </p:sp>
    </p:spTree>
    <p:extLst>
      <p:ext uri="{BB962C8B-B14F-4D97-AF65-F5344CB8AC3E}">
        <p14:creationId xmlns:p14="http://schemas.microsoft.com/office/powerpoint/2010/main" xmlns="" val="15788766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683568" y="1124744"/>
            <a:ext cx="7344816" cy="1754326"/>
          </a:xfrm>
          <a:prstGeom prst="rect">
            <a:avLst/>
          </a:prstGeom>
        </p:spPr>
        <p:txBody>
          <a:bodyPr wrap="square">
            <a:spAutoFit/>
          </a:bodyPr>
          <a:lstStyle/>
          <a:p>
            <a:pPr>
              <a:lnSpc>
                <a:spcPct val="150000"/>
              </a:lnSpc>
            </a:pPr>
            <a:r>
              <a:rPr lang="en-US" b="1" dirty="0">
                <a:latin typeface="Arial" pitchFamily="34" charset="0"/>
                <a:cs typeface="Arial" pitchFamily="34" charset="0"/>
              </a:rPr>
              <a:t>On hearing this, </a:t>
            </a:r>
            <a:r>
              <a:rPr lang="en-US" b="1" dirty="0" err="1">
                <a:latin typeface="Arial" pitchFamily="34" charset="0"/>
                <a:cs typeface="Arial" pitchFamily="34" charset="0"/>
              </a:rPr>
              <a:t>Rajendra</a:t>
            </a:r>
            <a:r>
              <a:rPr lang="en-US" b="1" dirty="0">
                <a:latin typeface="Arial" pitchFamily="34" charset="0"/>
                <a:cs typeface="Arial" pitchFamily="34" charset="0"/>
              </a:rPr>
              <a:t> says, “Ok. But how about festival grants and birthday gifts received in cash?”</a:t>
            </a:r>
          </a:p>
          <a:p>
            <a:pPr>
              <a:lnSpc>
                <a:spcPct val="150000"/>
              </a:lnSpc>
            </a:pPr>
            <a:r>
              <a:rPr lang="en-US" b="1" dirty="0">
                <a:latin typeface="Arial" pitchFamily="34" charset="0"/>
                <a:cs typeface="Arial" pitchFamily="34" charset="0"/>
              </a:rPr>
              <a:t/>
            </a:r>
            <a:br>
              <a:rPr lang="en-US" b="1" dirty="0">
                <a:latin typeface="Arial" pitchFamily="34" charset="0"/>
                <a:cs typeface="Arial" pitchFamily="34" charset="0"/>
              </a:rPr>
            </a:br>
            <a:r>
              <a:rPr lang="en-US" b="1" dirty="0" err="1">
                <a:latin typeface="Arial" pitchFamily="34" charset="0"/>
                <a:cs typeface="Arial" pitchFamily="34" charset="0"/>
              </a:rPr>
              <a:t>Vinay</a:t>
            </a:r>
            <a:r>
              <a:rPr lang="en-US" b="1" dirty="0">
                <a:latin typeface="Arial" pitchFamily="34" charset="0"/>
                <a:cs typeface="Arial" pitchFamily="34" charset="0"/>
              </a:rPr>
              <a:t> agrees “Yes, sometimes”.</a:t>
            </a:r>
          </a:p>
        </p:txBody>
      </p:sp>
    </p:spTree>
    <p:extLst>
      <p:ext uri="{BB962C8B-B14F-4D97-AF65-F5344CB8AC3E}">
        <p14:creationId xmlns:p14="http://schemas.microsoft.com/office/powerpoint/2010/main" xmlns="" val="36188725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683568" y="1052736"/>
            <a:ext cx="7200800" cy="2169825"/>
          </a:xfrm>
          <a:prstGeom prst="rect">
            <a:avLst/>
          </a:prstGeom>
        </p:spPr>
        <p:txBody>
          <a:bodyPr wrap="square">
            <a:spAutoFit/>
          </a:bodyPr>
          <a:lstStyle/>
          <a:p>
            <a:pPr>
              <a:lnSpc>
                <a:spcPct val="150000"/>
              </a:lnSpc>
            </a:pPr>
            <a:r>
              <a:rPr lang="en-US" b="1" dirty="0" err="1">
                <a:latin typeface="Arial" pitchFamily="34" charset="0"/>
                <a:cs typeface="Arial" pitchFamily="34" charset="0"/>
              </a:rPr>
              <a:t>Rajendra</a:t>
            </a:r>
            <a:r>
              <a:rPr lang="en-US" b="1" dirty="0">
                <a:latin typeface="Arial" pitchFamily="34" charset="0"/>
                <a:cs typeface="Arial" pitchFamily="34" charset="0"/>
              </a:rPr>
              <a:t> then asks </a:t>
            </a:r>
            <a:r>
              <a:rPr lang="en-US" b="1" dirty="0" err="1">
                <a:latin typeface="Arial" pitchFamily="34" charset="0"/>
                <a:cs typeface="Arial" pitchFamily="34" charset="0"/>
              </a:rPr>
              <a:t>Vinay</a:t>
            </a:r>
            <a:r>
              <a:rPr lang="en-US" b="1" dirty="0">
                <a:latin typeface="Arial" pitchFamily="34" charset="0"/>
                <a:cs typeface="Arial" pitchFamily="34" charset="0"/>
              </a:rPr>
              <a:t> to list his expenses?</a:t>
            </a:r>
            <a:br>
              <a:rPr lang="en-US" b="1" dirty="0">
                <a:latin typeface="Arial" pitchFamily="34" charset="0"/>
                <a:cs typeface="Arial" pitchFamily="34" charset="0"/>
              </a:rPr>
            </a:b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 On hearing this </a:t>
            </a:r>
            <a:r>
              <a:rPr lang="en-US" b="1" dirty="0" err="1">
                <a:latin typeface="Arial" pitchFamily="34" charset="0"/>
                <a:cs typeface="Arial" pitchFamily="34" charset="0"/>
              </a:rPr>
              <a:t>Vinay</a:t>
            </a:r>
            <a:r>
              <a:rPr lang="en-US" b="1" dirty="0">
                <a:latin typeface="Arial" pitchFamily="34" charset="0"/>
                <a:cs typeface="Arial" pitchFamily="34" charset="0"/>
              </a:rPr>
              <a:t>  promptly responds, “Monthly house expenses, Children's school fees, Birthdays &amp; Anniversary, occasional shopping and medical expenses.”</a:t>
            </a:r>
          </a:p>
        </p:txBody>
      </p:sp>
    </p:spTree>
    <p:extLst>
      <p:ext uri="{BB962C8B-B14F-4D97-AF65-F5344CB8AC3E}">
        <p14:creationId xmlns:p14="http://schemas.microsoft.com/office/powerpoint/2010/main" xmlns="" val="23370407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683568" y="1014104"/>
            <a:ext cx="7272808" cy="2126864"/>
          </a:xfrm>
          <a:prstGeom prst="rect">
            <a:avLst/>
          </a:prstGeom>
        </p:spPr>
        <p:txBody>
          <a:bodyPr wrap="square">
            <a:spAutoFit/>
          </a:bodyPr>
          <a:lstStyle/>
          <a:p>
            <a:pPr>
              <a:lnSpc>
                <a:spcPct val="150000"/>
              </a:lnSpc>
            </a:pPr>
            <a:r>
              <a:rPr lang="en-US" b="1" dirty="0" err="1">
                <a:latin typeface="Arial" pitchFamily="34" charset="0"/>
                <a:cs typeface="Arial" pitchFamily="34" charset="0"/>
              </a:rPr>
              <a:t>Rajendra</a:t>
            </a:r>
            <a:r>
              <a:rPr lang="en-US" b="1" dirty="0">
                <a:latin typeface="Arial" pitchFamily="34" charset="0"/>
                <a:cs typeface="Arial" pitchFamily="34" charset="0"/>
              </a:rPr>
              <a:t> then explains, “ Now assume your expenses exceed your income this month. Then what will you do?” </a:t>
            </a:r>
            <a:br>
              <a:rPr lang="en-US" b="1" dirty="0">
                <a:latin typeface="Arial" pitchFamily="34" charset="0"/>
                <a:cs typeface="Arial" pitchFamily="34" charset="0"/>
              </a:rPr>
            </a:br>
            <a:r>
              <a:rPr lang="en-US" b="1" dirty="0">
                <a:latin typeface="Arial" pitchFamily="34" charset="0"/>
                <a:cs typeface="Arial" pitchFamily="34" charset="0"/>
              </a:rPr>
              <a:t/>
            </a:r>
            <a:br>
              <a:rPr lang="en-US" b="1" dirty="0">
                <a:latin typeface="Arial" pitchFamily="34" charset="0"/>
                <a:cs typeface="Arial" pitchFamily="34" charset="0"/>
              </a:rPr>
            </a:br>
            <a:r>
              <a:rPr lang="en-US" b="1" dirty="0" err="1">
                <a:latin typeface="Arial" pitchFamily="34" charset="0"/>
                <a:cs typeface="Arial" pitchFamily="34" charset="0"/>
              </a:rPr>
              <a:t>Vinay</a:t>
            </a:r>
            <a:r>
              <a:rPr lang="en-US" b="1" dirty="0">
                <a:latin typeface="Arial" pitchFamily="34" charset="0"/>
                <a:cs typeface="Arial" pitchFamily="34" charset="0"/>
              </a:rPr>
              <a:t> after a pause  says,  “Oh… then I will have to borrow money from someone.”</a:t>
            </a:r>
          </a:p>
        </p:txBody>
      </p:sp>
    </p:spTree>
    <p:extLst>
      <p:ext uri="{BB962C8B-B14F-4D97-AF65-F5344CB8AC3E}">
        <p14:creationId xmlns:p14="http://schemas.microsoft.com/office/powerpoint/2010/main" xmlns="" val="21573951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683568" y="1086112"/>
            <a:ext cx="7560840" cy="2126864"/>
          </a:xfrm>
          <a:prstGeom prst="rect">
            <a:avLst/>
          </a:prstGeom>
        </p:spPr>
        <p:txBody>
          <a:bodyPr wrap="square">
            <a:spAutoFit/>
          </a:bodyPr>
          <a:lstStyle/>
          <a:p>
            <a:pPr>
              <a:lnSpc>
                <a:spcPct val="150000"/>
              </a:lnSpc>
            </a:pPr>
            <a:r>
              <a:rPr lang="en-US" b="1" dirty="0" err="1">
                <a:latin typeface="Arial" pitchFamily="34" charset="0"/>
                <a:cs typeface="Arial" pitchFamily="34" charset="0"/>
              </a:rPr>
              <a:t>Rajendra</a:t>
            </a:r>
            <a:r>
              <a:rPr lang="en-US" b="1" dirty="0">
                <a:latin typeface="Arial" pitchFamily="34" charset="0"/>
                <a:cs typeface="Arial" pitchFamily="34" charset="0"/>
              </a:rPr>
              <a:t> continues to speak, “Exactly. When your expenses exceed income, it is known as 'Deficit'. And then you become indebted to the lender who lends you money.”</a:t>
            </a:r>
            <a:br>
              <a:rPr lang="en-US" b="1" dirty="0">
                <a:latin typeface="Arial" pitchFamily="34" charset="0"/>
                <a:cs typeface="Arial" pitchFamily="34" charset="0"/>
              </a:rPr>
            </a:b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“Ok. That is easy to understand.” says </a:t>
            </a:r>
            <a:r>
              <a:rPr lang="en-US" b="1" dirty="0" err="1">
                <a:latin typeface="Arial" pitchFamily="34" charset="0"/>
                <a:cs typeface="Arial" pitchFamily="34" charset="0"/>
              </a:rPr>
              <a:t>Vinay</a:t>
            </a:r>
            <a:r>
              <a:rPr lang="en-US" b="1" dirty="0">
                <a:latin typeface="Arial" pitchFamily="34" charset="0"/>
                <a:cs typeface="Arial" pitchFamily="34" charset="0"/>
              </a:rPr>
              <a:t>. </a:t>
            </a:r>
          </a:p>
        </p:txBody>
      </p:sp>
    </p:spTree>
    <p:extLst>
      <p:ext uri="{BB962C8B-B14F-4D97-AF65-F5344CB8AC3E}">
        <p14:creationId xmlns:p14="http://schemas.microsoft.com/office/powerpoint/2010/main" xmlns="" val="25486652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683568" y="1086112"/>
            <a:ext cx="7128792" cy="3000821"/>
          </a:xfrm>
          <a:prstGeom prst="rect">
            <a:avLst/>
          </a:prstGeom>
        </p:spPr>
        <p:txBody>
          <a:bodyPr wrap="square">
            <a:spAutoFit/>
          </a:bodyPr>
          <a:lstStyle/>
          <a:p>
            <a:pPr>
              <a:lnSpc>
                <a:spcPct val="150000"/>
              </a:lnSpc>
            </a:pPr>
            <a:r>
              <a:rPr lang="en-US" b="1" dirty="0" err="1">
                <a:latin typeface="Arial" pitchFamily="34" charset="0"/>
                <a:cs typeface="Arial" pitchFamily="34" charset="0"/>
              </a:rPr>
              <a:t>Rajendra</a:t>
            </a:r>
            <a:r>
              <a:rPr lang="en-US" b="1" dirty="0">
                <a:latin typeface="Arial" pitchFamily="34" charset="0"/>
                <a:cs typeface="Arial" pitchFamily="34" charset="0"/>
              </a:rPr>
              <a:t> continues explaining, “Similarly, Current Account for a country is expressed as the difference between the value of </a:t>
            </a:r>
            <a:r>
              <a:rPr lang="en-US" b="1" u="sng" dirty="0">
                <a:latin typeface="Arial" pitchFamily="34" charset="0"/>
                <a:cs typeface="Arial" pitchFamily="34" charset="0"/>
              </a:rPr>
              <a:t>EXPORT</a:t>
            </a:r>
            <a:r>
              <a:rPr lang="en-US" b="1" dirty="0">
                <a:latin typeface="Arial" pitchFamily="34" charset="0"/>
                <a:cs typeface="Arial" pitchFamily="34" charset="0"/>
              </a:rPr>
              <a:t> of goods and services and the value of </a:t>
            </a:r>
            <a:r>
              <a:rPr lang="en-US" b="1" u="sng" dirty="0">
                <a:latin typeface="Arial" pitchFamily="34" charset="0"/>
                <a:cs typeface="Arial" pitchFamily="34" charset="0"/>
              </a:rPr>
              <a:t>IMPORT</a:t>
            </a:r>
            <a:r>
              <a:rPr lang="en-US" b="1" dirty="0">
                <a:latin typeface="Arial" pitchFamily="34" charset="0"/>
                <a:cs typeface="Arial" pitchFamily="34" charset="0"/>
              </a:rPr>
              <a:t> of goods and services</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this context exports are “earnings” while imports are like “expenses”.</a:t>
            </a:r>
          </a:p>
        </p:txBody>
      </p:sp>
    </p:spTree>
    <p:extLst>
      <p:ext uri="{BB962C8B-B14F-4D97-AF65-F5344CB8AC3E}">
        <p14:creationId xmlns:p14="http://schemas.microsoft.com/office/powerpoint/2010/main" xmlns="" val="13246419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683568" y="1086112"/>
            <a:ext cx="7128792" cy="2126864"/>
          </a:xfrm>
          <a:prstGeom prst="rect">
            <a:avLst/>
          </a:prstGeom>
        </p:spPr>
        <p:txBody>
          <a:bodyPr wrap="square">
            <a:spAutoFit/>
          </a:bodyPr>
          <a:lstStyle/>
          <a:p>
            <a:pPr>
              <a:lnSpc>
                <a:spcPct val="150000"/>
              </a:lnSpc>
            </a:pPr>
            <a:r>
              <a:rPr lang="en-US" b="1" dirty="0">
                <a:latin typeface="Arial" pitchFamily="34" charset="0"/>
                <a:cs typeface="Arial" pitchFamily="34" charset="0"/>
              </a:rPr>
              <a:t>A deficit then means that the “expenses” of the country are more than the income.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other words the country is importing more goods and services than it is exporting.</a:t>
            </a:r>
          </a:p>
        </p:txBody>
      </p:sp>
    </p:spTree>
    <p:extLst>
      <p:ext uri="{BB962C8B-B14F-4D97-AF65-F5344CB8AC3E}">
        <p14:creationId xmlns:p14="http://schemas.microsoft.com/office/powerpoint/2010/main" xmlns="" val="9301298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683568" y="1086112"/>
            <a:ext cx="7128792" cy="2118529"/>
          </a:xfrm>
          <a:prstGeom prst="rect">
            <a:avLst/>
          </a:prstGeom>
        </p:spPr>
        <p:txBody>
          <a:bodyPr wrap="square">
            <a:spAutoFit/>
          </a:bodyPr>
          <a:lstStyle/>
          <a:p>
            <a:pPr>
              <a:lnSpc>
                <a:spcPct val="150000"/>
              </a:lnSpc>
            </a:pPr>
            <a:r>
              <a:rPr lang="en-US" b="1" dirty="0">
                <a:latin typeface="Arial" pitchFamily="34" charset="0"/>
                <a:cs typeface="Arial" pitchFamily="34" charset="0"/>
              </a:rPr>
              <a:t>Current account also includes net income (such as interest and dividends from Capital Inflows or Outflows) and transfers from abroad (such as Workers' Remittances, Foreign Donations, Aids &amp; Grants and Official Assistance), which are usually a small fraction of the total.</a:t>
            </a:r>
          </a:p>
        </p:txBody>
      </p:sp>
    </p:spTree>
    <p:extLst>
      <p:ext uri="{BB962C8B-B14F-4D97-AF65-F5344CB8AC3E}">
        <p14:creationId xmlns:p14="http://schemas.microsoft.com/office/powerpoint/2010/main" xmlns="" val="42149353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915816" y="1540519"/>
            <a:ext cx="3816424" cy="880369"/>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A deficit implies </a:t>
            </a:r>
            <a:r>
              <a:rPr lang="en-US" b="1" dirty="0" smtClean="0">
                <a:latin typeface="Arial" pitchFamily="34" charset="0"/>
                <a:cs typeface="Arial" pitchFamily="34" charset="0"/>
              </a:rPr>
              <a:t>that</a:t>
            </a:r>
            <a:br>
              <a:rPr lang="en-US" b="1" dirty="0" smtClean="0">
                <a:latin typeface="Arial" pitchFamily="34" charset="0"/>
                <a:cs typeface="Arial" pitchFamily="34" charset="0"/>
              </a:rPr>
            </a:br>
            <a:r>
              <a:rPr lang="en-US" b="1" dirty="0" smtClean="0">
                <a:latin typeface="Arial" pitchFamily="34" charset="0"/>
                <a:cs typeface="Arial" pitchFamily="34" charset="0"/>
              </a:rPr>
              <a:t>India </a:t>
            </a:r>
            <a:r>
              <a:rPr lang="en-US" b="1" dirty="0">
                <a:latin typeface="Arial" pitchFamily="34" charset="0"/>
                <a:cs typeface="Arial" pitchFamily="34" charset="0"/>
              </a:rPr>
              <a:t>is a net debtor to the world.</a:t>
            </a: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Tree>
    <p:extLst>
      <p:ext uri="{BB962C8B-B14F-4D97-AF65-F5344CB8AC3E}">
        <p14:creationId xmlns:p14="http://schemas.microsoft.com/office/powerpoint/2010/main" xmlns="" val="3102450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953942"/>
            <a:ext cx="4104456" cy="872034"/>
          </a:xfrm>
          <a:prstGeom prst="rect">
            <a:avLst/>
          </a:prstGeom>
        </p:spPr>
        <p:txBody>
          <a:bodyPr wrap="square">
            <a:spAutoFit/>
          </a:bodyPr>
          <a:lstStyle/>
          <a:p>
            <a:pPr>
              <a:lnSpc>
                <a:spcPct val="150000"/>
              </a:lnSpc>
            </a:pPr>
            <a:r>
              <a:rPr lang="en-US" b="1" dirty="0">
                <a:latin typeface="Arial" pitchFamily="34" charset="0"/>
                <a:cs typeface="Arial" pitchFamily="34" charset="0"/>
              </a:rPr>
              <a:t>Let us see the formula of the Current Account Balance (CAB)</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Tree>
    <p:extLst>
      <p:ext uri="{BB962C8B-B14F-4D97-AF65-F5344CB8AC3E}">
        <p14:creationId xmlns:p14="http://schemas.microsoft.com/office/powerpoint/2010/main" xmlns="" val="26834514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2555776" y="1086112"/>
            <a:ext cx="3312368" cy="56878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
        <p:nvSpPr>
          <p:cNvPr id="3" name="Rectangle 2"/>
          <p:cNvSpPr/>
          <p:nvPr/>
        </p:nvSpPr>
        <p:spPr>
          <a:xfrm>
            <a:off x="2555776" y="1120969"/>
            <a:ext cx="3312368" cy="507831"/>
          </a:xfrm>
          <a:prstGeom prst="rect">
            <a:avLst/>
          </a:prstGeom>
        </p:spPr>
        <p:txBody>
          <a:bodyPr wrap="square">
            <a:spAutoFit/>
          </a:bodyPr>
          <a:lstStyle/>
          <a:p>
            <a:pPr algn="ctr">
              <a:lnSpc>
                <a:spcPct val="150000"/>
              </a:lnSpc>
              <a:defRPr/>
            </a:pPr>
            <a:r>
              <a:rPr lang="da-DK" b="1" dirty="0">
                <a:latin typeface="Arial" pitchFamily="34" charset="0"/>
                <a:cs typeface="Arial" pitchFamily="34" charset="0"/>
              </a:rPr>
              <a:t>CAB = X - M + NI + NCT</a:t>
            </a:r>
            <a:endParaRPr lang="en-US" b="1" dirty="0">
              <a:latin typeface="Arial" pitchFamily="34" charset="0"/>
              <a:cs typeface="Arial" pitchFamily="34" charset="0"/>
            </a:endParaRPr>
          </a:p>
        </p:txBody>
      </p:sp>
      <p:sp>
        <p:nvSpPr>
          <p:cNvPr id="4" name="Rectangle 3"/>
          <p:cNvSpPr/>
          <p:nvPr/>
        </p:nvSpPr>
        <p:spPr>
          <a:xfrm>
            <a:off x="673560" y="1654901"/>
            <a:ext cx="7930888" cy="4438395"/>
          </a:xfrm>
          <a:prstGeom prst="rect">
            <a:avLst/>
          </a:prstGeom>
        </p:spPr>
        <p:txBody>
          <a:bodyPr wrap="square">
            <a:spAutoFit/>
          </a:bodyPr>
          <a:lstStyle/>
          <a:p>
            <a:pPr>
              <a:lnSpc>
                <a:spcPct val="200000"/>
              </a:lnSpc>
              <a:tabLst>
                <a:tab pos="682625" algn="l"/>
                <a:tab pos="1030288" algn="l"/>
                <a:tab pos="3657600" algn="l"/>
              </a:tabLst>
            </a:pPr>
            <a:r>
              <a:rPr lang="en-US" b="1" dirty="0" smtClean="0">
                <a:latin typeface="Arial" pitchFamily="34" charset="0"/>
                <a:cs typeface="Arial" pitchFamily="34" charset="0"/>
              </a:rPr>
              <a:t>X	=	Exports </a:t>
            </a:r>
            <a:r>
              <a:rPr lang="en-US" b="1" dirty="0">
                <a:latin typeface="Arial" pitchFamily="34" charset="0"/>
                <a:cs typeface="Arial" pitchFamily="34" charset="0"/>
              </a:rPr>
              <a:t>of goods and services</a:t>
            </a:r>
            <a:br>
              <a:rPr lang="en-US" b="1" dirty="0">
                <a:latin typeface="Arial" pitchFamily="34" charset="0"/>
                <a:cs typeface="Arial" pitchFamily="34" charset="0"/>
              </a:rPr>
            </a:br>
            <a:r>
              <a:rPr lang="en-US" b="1" dirty="0" smtClean="0">
                <a:latin typeface="Arial" pitchFamily="34" charset="0"/>
                <a:cs typeface="Arial" pitchFamily="34" charset="0"/>
              </a:rPr>
              <a:t>M	=	Imports </a:t>
            </a:r>
            <a:r>
              <a:rPr lang="en-US" b="1" dirty="0">
                <a:latin typeface="Arial" pitchFamily="34" charset="0"/>
                <a:cs typeface="Arial" pitchFamily="34" charset="0"/>
              </a:rPr>
              <a:t>of goods and services</a:t>
            </a:r>
            <a:br>
              <a:rPr lang="en-US" b="1" dirty="0">
                <a:latin typeface="Arial" pitchFamily="34" charset="0"/>
                <a:cs typeface="Arial" pitchFamily="34" charset="0"/>
              </a:rPr>
            </a:br>
            <a:r>
              <a:rPr lang="en-US" b="1" dirty="0" smtClean="0">
                <a:latin typeface="Arial" pitchFamily="34" charset="0"/>
                <a:cs typeface="Arial" pitchFamily="34" charset="0"/>
              </a:rPr>
              <a:t>NI	=	Net </a:t>
            </a:r>
            <a:r>
              <a:rPr lang="en-US" b="1" dirty="0">
                <a:latin typeface="Arial" pitchFamily="34" charset="0"/>
                <a:cs typeface="Arial" pitchFamily="34" charset="0"/>
              </a:rPr>
              <a:t>income </a:t>
            </a:r>
            <a:r>
              <a:rPr lang="en-US" b="1" dirty="0" smtClean="0">
                <a:latin typeface="Arial" pitchFamily="34" charset="0"/>
                <a:cs typeface="Arial" pitchFamily="34" charset="0"/>
              </a:rPr>
              <a:t>abroad	</a:t>
            </a:r>
            <a:r>
              <a:rPr lang="en-US" b="1" i="1" dirty="0" smtClean="0">
                <a:latin typeface="Arial" pitchFamily="34" charset="0"/>
                <a:cs typeface="Arial" pitchFamily="34" charset="0"/>
              </a:rPr>
              <a:t>[</a:t>
            </a:r>
            <a:r>
              <a:rPr lang="en-US" b="1" i="1" dirty="0">
                <a:latin typeface="Arial" pitchFamily="34" charset="0"/>
                <a:cs typeface="Arial" pitchFamily="34" charset="0"/>
              </a:rPr>
              <a:t>Salaries paid or received, credit </a:t>
            </a:r>
            <a:r>
              <a:rPr lang="en-US" b="1" i="1" dirty="0" smtClean="0">
                <a:latin typeface="Arial" pitchFamily="34" charset="0"/>
                <a:cs typeface="Arial" pitchFamily="34" charset="0"/>
              </a:rPr>
              <a:t/>
            </a:r>
            <a:br>
              <a:rPr lang="en-US" b="1" i="1" dirty="0" smtClean="0">
                <a:latin typeface="Arial" pitchFamily="34" charset="0"/>
                <a:cs typeface="Arial" pitchFamily="34" charset="0"/>
              </a:rPr>
            </a:br>
            <a:r>
              <a:rPr lang="en-US" b="1" i="1" dirty="0" smtClean="0">
                <a:latin typeface="Arial" pitchFamily="34" charset="0"/>
                <a:cs typeface="Arial" pitchFamily="34" charset="0"/>
              </a:rPr>
              <a:t>			/ </a:t>
            </a:r>
            <a:r>
              <a:rPr lang="en-US" b="1" i="1" dirty="0">
                <a:latin typeface="Arial" pitchFamily="34" charset="0"/>
                <a:cs typeface="Arial" pitchFamily="34" charset="0"/>
              </a:rPr>
              <a:t>debit </a:t>
            </a:r>
            <a:r>
              <a:rPr lang="en-US" b="1" i="1" dirty="0" smtClean="0">
                <a:latin typeface="Arial" pitchFamily="34" charset="0"/>
                <a:cs typeface="Arial" pitchFamily="34" charset="0"/>
              </a:rPr>
              <a:t>of income </a:t>
            </a:r>
            <a:r>
              <a:rPr lang="en-US" b="1" i="1" dirty="0">
                <a:latin typeface="Arial" pitchFamily="34" charset="0"/>
                <a:cs typeface="Arial" pitchFamily="34" charset="0"/>
              </a:rPr>
              <a:t>from FII &amp; FDI etc. ]</a:t>
            </a:r>
            <a:r>
              <a:rPr lang="en-US" b="1" dirty="0">
                <a:latin typeface="Arial" pitchFamily="34" charset="0"/>
                <a:cs typeface="Arial" pitchFamily="34" charset="0"/>
              </a:rPr>
              <a:t/>
            </a:r>
            <a:br>
              <a:rPr lang="en-US" b="1" dirty="0">
                <a:latin typeface="Arial" pitchFamily="34" charset="0"/>
                <a:cs typeface="Arial" pitchFamily="34" charset="0"/>
              </a:rPr>
            </a:br>
            <a:r>
              <a:rPr lang="en-US" b="1" dirty="0" smtClean="0">
                <a:latin typeface="Arial" pitchFamily="34" charset="0"/>
                <a:cs typeface="Arial" pitchFamily="34" charset="0"/>
              </a:rPr>
              <a:t>NCT	=	Net </a:t>
            </a:r>
            <a:r>
              <a:rPr lang="en-US" b="1" dirty="0">
                <a:latin typeface="Arial" pitchFamily="34" charset="0"/>
                <a:cs typeface="Arial" pitchFamily="34" charset="0"/>
              </a:rPr>
              <a:t>current </a:t>
            </a:r>
            <a:r>
              <a:rPr lang="en-US" b="1" dirty="0" smtClean="0">
                <a:latin typeface="Arial" pitchFamily="34" charset="0"/>
                <a:cs typeface="Arial" pitchFamily="34" charset="0"/>
              </a:rPr>
              <a:t>transfers	[</a:t>
            </a:r>
            <a:r>
              <a:rPr lang="en-US" b="1" i="1" dirty="0">
                <a:latin typeface="Arial" pitchFamily="34" charset="0"/>
                <a:cs typeface="Arial" pitchFamily="34" charset="0"/>
              </a:rPr>
              <a:t>Workers' </a:t>
            </a:r>
            <a:r>
              <a:rPr lang="en-US" b="1" i="1" dirty="0" smtClean="0">
                <a:latin typeface="Arial" pitchFamily="34" charset="0"/>
                <a:cs typeface="Arial" pitchFamily="34" charset="0"/>
              </a:rPr>
              <a:t>Remittances</a:t>
            </a:r>
            <a:br>
              <a:rPr lang="en-US" b="1" i="1" dirty="0" smtClean="0">
                <a:latin typeface="Arial" pitchFamily="34" charset="0"/>
                <a:cs typeface="Arial" pitchFamily="34" charset="0"/>
              </a:rPr>
            </a:br>
            <a:r>
              <a:rPr lang="en-US" b="1" i="1" dirty="0" smtClean="0">
                <a:latin typeface="Arial" pitchFamily="34" charset="0"/>
                <a:cs typeface="Arial" pitchFamily="34" charset="0"/>
              </a:rPr>
              <a:t>			(unilateral), Donations,</a:t>
            </a:r>
            <a:br>
              <a:rPr lang="en-US" b="1" i="1" dirty="0" smtClean="0">
                <a:latin typeface="Arial" pitchFamily="34" charset="0"/>
                <a:cs typeface="Arial" pitchFamily="34" charset="0"/>
              </a:rPr>
            </a:br>
            <a:r>
              <a:rPr lang="en-US" b="1" i="1" dirty="0" smtClean="0">
                <a:latin typeface="Arial" pitchFamily="34" charset="0"/>
                <a:cs typeface="Arial" pitchFamily="34" charset="0"/>
              </a:rPr>
              <a:t>			Aids </a:t>
            </a:r>
            <a:r>
              <a:rPr lang="en-US" b="1" i="1" dirty="0">
                <a:latin typeface="Arial" pitchFamily="34" charset="0"/>
                <a:cs typeface="Arial" pitchFamily="34" charset="0"/>
              </a:rPr>
              <a:t>&amp; Grants</a:t>
            </a:r>
            <a:r>
              <a:rPr lang="en-US" b="1" i="1" dirty="0" smtClean="0">
                <a:latin typeface="Arial" pitchFamily="34" charset="0"/>
                <a:cs typeface="Arial" pitchFamily="34" charset="0"/>
              </a:rPr>
              <a:t>, Official</a:t>
            </a:r>
            <a:br>
              <a:rPr lang="en-US" b="1" i="1" dirty="0" smtClean="0">
                <a:latin typeface="Arial" pitchFamily="34" charset="0"/>
                <a:cs typeface="Arial" pitchFamily="34" charset="0"/>
              </a:rPr>
            </a:br>
            <a:r>
              <a:rPr lang="en-US" b="1" i="1" dirty="0" smtClean="0">
                <a:latin typeface="Arial" pitchFamily="34" charset="0"/>
                <a:cs typeface="Arial" pitchFamily="34" charset="0"/>
              </a:rPr>
              <a:t>			Assistance </a:t>
            </a:r>
            <a:r>
              <a:rPr lang="en-US" b="1" i="1" dirty="0">
                <a:latin typeface="Arial" pitchFamily="34" charset="0"/>
                <a:cs typeface="Arial" pitchFamily="34" charset="0"/>
              </a:rPr>
              <a:t>and Pensions </a:t>
            </a:r>
            <a:r>
              <a:rPr lang="en-US" b="1" i="1" dirty="0" err="1">
                <a:latin typeface="Arial" pitchFamily="34" charset="0"/>
                <a:cs typeface="Arial" pitchFamily="34" charset="0"/>
              </a:rPr>
              <a:t>etc</a:t>
            </a:r>
            <a:r>
              <a:rPr lang="en-US" b="1" i="1" dirty="0">
                <a:latin typeface="Arial" pitchFamily="34" charset="0"/>
                <a:cs typeface="Arial" pitchFamily="34" charset="0"/>
              </a:rPr>
              <a:t>]</a:t>
            </a:r>
          </a:p>
        </p:txBody>
      </p:sp>
    </p:spTree>
    <p:extLst>
      <p:ext uri="{BB962C8B-B14F-4D97-AF65-F5344CB8AC3E}">
        <p14:creationId xmlns:p14="http://schemas.microsoft.com/office/powerpoint/2010/main" xmlns="" val="30579653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953942"/>
            <a:ext cx="4104456" cy="880369"/>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this story has clarified the </a:t>
            </a:r>
          </a:p>
          <a:p>
            <a:pPr>
              <a:lnSpc>
                <a:spcPct val="150000"/>
              </a:lnSpc>
              <a:buFontTx/>
              <a:buNone/>
            </a:pPr>
            <a:r>
              <a:rPr lang="en-US" b="1" dirty="0">
                <a:latin typeface="Arial" pitchFamily="34" charset="0"/>
                <a:cs typeface="Arial" pitchFamily="34" charset="0"/>
              </a:rPr>
              <a:t>Concept of Current Account Deficit</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CURRENT ACCOUNT DEFICIT</a:t>
            </a:r>
          </a:p>
        </p:txBody>
      </p:sp>
    </p:spTree>
    <p:extLst>
      <p:ext uri="{BB962C8B-B14F-4D97-AF65-F5344CB8AC3E}">
        <p14:creationId xmlns:p14="http://schemas.microsoft.com/office/powerpoint/2010/main" xmlns="" val="66139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187624" y="1916832"/>
            <a:ext cx="3744416"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2118</TotalTime>
  <Words>588</Words>
  <Application>Microsoft Office PowerPoint</Application>
  <PresentationFormat>On-screen Show (4:3)</PresentationFormat>
  <Paragraphs>47</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251</cp:revision>
  <dcterms:created xsi:type="dcterms:W3CDTF">2013-10-22T09:41:31Z</dcterms:created>
  <dcterms:modified xsi:type="dcterms:W3CDTF">2014-09-18T12:25:45Z</dcterms:modified>
</cp:coreProperties>
</file>