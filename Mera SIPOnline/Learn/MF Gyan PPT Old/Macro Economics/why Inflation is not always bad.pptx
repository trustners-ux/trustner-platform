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358" r:id="rId3"/>
    <p:sldId id="496" r:id="rId4"/>
    <p:sldId id="416" r:id="rId5"/>
    <p:sldId id="514" r:id="rId6"/>
    <p:sldId id="485" r:id="rId7"/>
    <p:sldId id="486" r:id="rId8"/>
    <p:sldId id="512" r:id="rId9"/>
    <p:sldId id="487" r:id="rId10"/>
    <p:sldId id="499" r:id="rId11"/>
    <p:sldId id="516" r:id="rId12"/>
    <p:sldId id="515" r:id="rId13"/>
    <p:sldId id="517" r:id="rId14"/>
    <p:sldId id="518" r:id="rId15"/>
    <p:sldId id="473" r:id="rId16"/>
    <p:sldId id="287" r:id="rId17"/>
    <p:sldId id="519" r:id="rId18"/>
    <p:sldId id="520" r:id="rId19"/>
    <p:sldId id="521" r:id="rId20"/>
    <p:sldId id="522" r:id="rId21"/>
    <p:sldId id="523" r:id="rId22"/>
    <p:sldId id="524" r:id="rId23"/>
    <p:sldId id="525" r:id="rId24"/>
    <p:sldId id="526" r:id="rId25"/>
    <p:sldId id="527" r:id="rId26"/>
    <p:sldId id="528" r:id="rId27"/>
    <p:sldId id="273"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2" d="100"/>
          <a:sy n="62" d="100"/>
        </p:scale>
        <p:origin x="-1512" y="-1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7</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8</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hyperlink" Target="http://www.tatamutualfund.com/" TargetMode="External"/><Relationship Id="rId4" Type="http://schemas.openxmlformats.org/officeDocument/2006/relationships/hyperlink" Target="mailto:professor@tataamc.com"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6058"/>
            <a:ext cx="439248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85852" y="1978922"/>
            <a:ext cx="3714776"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a:t>
            </a:r>
            <a:br>
              <a:rPr lang="en-US" b="1" dirty="0" smtClean="0">
                <a:latin typeface="Arial" pitchFamily="34" charset="0"/>
                <a:cs typeface="Arial" pitchFamily="34" charset="0"/>
              </a:rPr>
            </a:br>
            <a:r>
              <a:rPr lang="en-US" b="1" dirty="0" smtClean="0">
                <a:latin typeface="Arial" pitchFamily="34" charset="0"/>
                <a:cs typeface="Arial" pitchFamily="34" charset="0"/>
              </a:rPr>
              <a:t>why Inflation is not always bad</a:t>
            </a:r>
            <a:endParaRPr lang="en-US" b="1" i="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86282" y="2357430"/>
            <a:ext cx="3500494" cy="383181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Why would somebody want inflation?</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Ask an Indian and he will want to stare you into ashes.</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But ask a Japanese and he is all likely to smile back at you and seek suggestions.</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597712" cy="254236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Thus inflation may be a bad word for us in India where everybody seems to be fighting inflation.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We call it all sorts of names like ghost or monster.</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But elsewhere inflation is not necessarily a bad omen.</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928926" y="1214422"/>
            <a:ext cx="4214842"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 fact “inflation” is the rally cry in Japan to reverse the economy from the brink of coming to a standstill and going nowhere.</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
        <p:nvSpPr>
          <p:cNvPr id="8" name="Rectangle 7"/>
          <p:cNvSpPr/>
          <p:nvPr/>
        </p:nvSpPr>
        <p:spPr>
          <a:xfrm>
            <a:off x="642910" y="1142984"/>
            <a:ext cx="7500990" cy="1287532"/>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To understand this it is imperative to see “inflation” as a dividing wall between consumers on one side and manufacturer on the other side.</a:t>
            </a:r>
            <a:endParaRPr lang="en-US" b="1" dirty="0">
              <a:latin typeface="Arial" pitchFamily="34" charset="0"/>
              <a:cs typeface="Arial" pitchFamily="34" charset="0"/>
            </a:endParaRPr>
          </a:p>
        </p:txBody>
      </p:sp>
      <p:sp>
        <p:nvSpPr>
          <p:cNvPr id="5" name="Firewall"/>
          <p:cNvSpPr>
            <a:spLocks noEditPoints="1" noChangeArrowheads="1"/>
          </p:cNvSpPr>
          <p:nvPr/>
        </p:nvSpPr>
        <p:spPr bwMode="auto">
          <a:xfrm>
            <a:off x="2947998" y="3500438"/>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sp>
        <p:nvSpPr>
          <p:cNvPr id="6" name="Rectangle 5"/>
          <p:cNvSpPr/>
          <p:nvPr/>
        </p:nvSpPr>
        <p:spPr>
          <a:xfrm>
            <a:off x="6572264" y="3500438"/>
            <a:ext cx="1646606" cy="369332"/>
          </a:xfrm>
          <a:prstGeom prst="rect">
            <a:avLst/>
          </a:prstGeom>
        </p:spPr>
        <p:txBody>
          <a:bodyPr wrap="none">
            <a:spAutoFit/>
          </a:bodyPr>
          <a:lstStyle/>
          <a:p>
            <a:pPr algn="ctr"/>
            <a:r>
              <a:rPr lang="en-US" b="1" dirty="0" smtClean="0">
                <a:latin typeface="Arial" pitchFamily="34" charset="0"/>
                <a:cs typeface="Arial" pitchFamily="34" charset="0"/>
              </a:rPr>
              <a:t>Manufacturer</a:t>
            </a:r>
            <a:endParaRPr lang="en-US" b="1" dirty="0">
              <a:latin typeface="Arial" pitchFamily="34" charset="0"/>
              <a:cs typeface="Arial" pitchFamily="34" charset="0"/>
            </a:endParaRPr>
          </a:p>
        </p:txBody>
      </p:sp>
      <p:sp>
        <p:nvSpPr>
          <p:cNvPr id="9" name="Rectangle 8"/>
          <p:cNvSpPr/>
          <p:nvPr/>
        </p:nvSpPr>
        <p:spPr>
          <a:xfrm>
            <a:off x="928662" y="3500438"/>
            <a:ext cx="1326004" cy="369332"/>
          </a:xfrm>
          <a:prstGeom prst="rect">
            <a:avLst/>
          </a:prstGeom>
        </p:spPr>
        <p:txBody>
          <a:bodyPr wrap="none">
            <a:spAutoFit/>
          </a:bodyPr>
          <a:lstStyle/>
          <a:p>
            <a:pPr algn="ctr"/>
            <a:r>
              <a:rPr lang="en-US" b="1" dirty="0" smtClean="0">
                <a:latin typeface="Arial" pitchFamily="34" charset="0"/>
                <a:cs typeface="Arial" pitchFamily="34" charset="0"/>
              </a:rPr>
              <a:t>Consumer</a:t>
            </a:r>
            <a:endParaRPr lang="en-US" b="1" dirty="0">
              <a:latin typeface="Arial" pitchFamily="34" charset="0"/>
              <a:cs typeface="Arial" pitchFamily="34" charset="0"/>
            </a:endParaRPr>
          </a:p>
        </p:txBody>
      </p:sp>
      <p:sp>
        <p:nvSpPr>
          <p:cNvPr id="10" name="Rectangle 9"/>
          <p:cNvSpPr/>
          <p:nvPr/>
        </p:nvSpPr>
        <p:spPr>
          <a:xfrm>
            <a:off x="3948130" y="3488296"/>
            <a:ext cx="1082349" cy="369332"/>
          </a:xfrm>
          <a:prstGeom prst="rect">
            <a:avLst/>
          </a:prstGeom>
        </p:spPr>
        <p:txBody>
          <a:bodyPr wrap="none">
            <a:spAutoFit/>
          </a:bodyPr>
          <a:lstStyle/>
          <a:p>
            <a:pPr algn="ctr"/>
            <a:r>
              <a:rPr lang="en-US" b="1" dirty="0" smtClean="0">
                <a:solidFill>
                  <a:srgbClr val="FFFF00"/>
                </a:solidFill>
                <a:latin typeface="Arial" pitchFamily="34" charset="0"/>
                <a:cs typeface="Arial" pitchFamily="34" charset="0"/>
              </a:rPr>
              <a:t>Inflation</a:t>
            </a:r>
            <a:endParaRPr lang="en-US" b="1" dirty="0">
              <a:solidFill>
                <a:srgbClr val="FFFF00"/>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3"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
        <p:nvSpPr>
          <p:cNvPr id="9" name="Rectangle 8"/>
          <p:cNvSpPr/>
          <p:nvPr/>
        </p:nvSpPr>
        <p:spPr>
          <a:xfrm>
            <a:off x="714348" y="1142984"/>
            <a:ext cx="4714908"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consumers always want the wall to be short so that they can easily climb up and enter the manufacturing side and use the goods and services without much effort. </a:t>
            </a:r>
            <a:endParaRPr lang="en-US" b="1" dirty="0">
              <a:latin typeface="Arial" pitchFamily="34" charset="0"/>
              <a:cs typeface="Arial" pitchFamily="34" charset="0"/>
            </a:endParaRPr>
          </a:p>
        </p:txBody>
      </p:sp>
      <p:grpSp>
        <p:nvGrpSpPr>
          <p:cNvPr id="5" name="Group 17"/>
          <p:cNvGrpSpPr>
            <a:grpSpLocks/>
          </p:cNvGrpSpPr>
          <p:nvPr/>
        </p:nvGrpSpPr>
        <p:grpSpPr bwMode="auto">
          <a:xfrm>
            <a:off x="5595398" y="857232"/>
            <a:ext cx="2977130" cy="5591196"/>
            <a:chOff x="5562600" y="838200"/>
            <a:chExt cx="3124200" cy="5867400"/>
          </a:xfrm>
        </p:grpSpPr>
        <p:grpSp>
          <p:nvGrpSpPr>
            <p:cNvPr id="6" name="Group 15"/>
            <p:cNvGrpSpPr>
              <a:grpSpLocks/>
            </p:cNvGrpSpPr>
            <p:nvPr/>
          </p:nvGrpSpPr>
          <p:grpSpPr bwMode="auto">
            <a:xfrm>
              <a:off x="5562600" y="838200"/>
              <a:ext cx="3124200" cy="5867400"/>
              <a:chOff x="5562600" y="838200"/>
              <a:chExt cx="3124200" cy="5867400"/>
            </a:xfrm>
          </p:grpSpPr>
          <p:grpSp>
            <p:nvGrpSpPr>
              <p:cNvPr id="10" name="Group 10"/>
              <p:cNvGrpSpPr>
                <a:grpSpLocks/>
              </p:cNvGrpSpPr>
              <p:nvPr/>
            </p:nvGrpSpPr>
            <p:grpSpPr bwMode="auto">
              <a:xfrm>
                <a:off x="5562600" y="914400"/>
                <a:ext cx="3124200" cy="5791200"/>
                <a:chOff x="5562600" y="914400"/>
                <a:chExt cx="3124200" cy="5791200"/>
              </a:xfrm>
            </p:grpSpPr>
            <p:sp>
              <p:nvSpPr>
                <p:cNvPr id="12" name="Firewall"/>
                <p:cNvSpPr>
                  <a:spLocks noEditPoints="1" noChangeArrowheads="1"/>
                </p:cNvSpPr>
                <p:nvPr/>
              </p:nvSpPr>
              <p:spPr bwMode="auto">
                <a:xfrm>
                  <a:off x="5562600" y="5105400"/>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sp>
              <p:nvSpPr>
                <p:cNvPr id="13" name="Firewall"/>
                <p:cNvSpPr>
                  <a:spLocks noEditPoints="1" noChangeArrowheads="1"/>
                </p:cNvSpPr>
                <p:nvPr/>
              </p:nvSpPr>
              <p:spPr bwMode="auto">
                <a:xfrm>
                  <a:off x="5562600" y="3962400"/>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sp>
              <p:nvSpPr>
                <p:cNvPr id="14" name="Firewall"/>
                <p:cNvSpPr>
                  <a:spLocks noEditPoints="1" noChangeArrowheads="1"/>
                </p:cNvSpPr>
                <p:nvPr/>
              </p:nvSpPr>
              <p:spPr bwMode="auto">
                <a:xfrm>
                  <a:off x="5562600" y="2971800"/>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sp>
              <p:nvSpPr>
                <p:cNvPr id="15" name="Firewall"/>
                <p:cNvSpPr>
                  <a:spLocks noEditPoints="1" noChangeArrowheads="1"/>
                </p:cNvSpPr>
                <p:nvPr/>
              </p:nvSpPr>
              <p:spPr bwMode="auto">
                <a:xfrm>
                  <a:off x="5562600" y="1828800"/>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sp>
              <p:nvSpPr>
                <p:cNvPr id="16" name="Firewall"/>
                <p:cNvSpPr>
                  <a:spLocks noEditPoints="1" noChangeArrowheads="1"/>
                </p:cNvSpPr>
                <p:nvPr/>
              </p:nvSpPr>
              <p:spPr bwMode="auto">
                <a:xfrm>
                  <a:off x="5562600" y="914400"/>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grpSp>
          <p:sp>
            <p:nvSpPr>
              <p:cNvPr id="11" name="TextBox 14"/>
              <p:cNvSpPr txBox="1">
                <a:spLocks noChangeArrowheads="1"/>
              </p:cNvSpPr>
              <p:nvPr/>
            </p:nvSpPr>
            <p:spPr bwMode="auto">
              <a:xfrm>
                <a:off x="6172200" y="838200"/>
                <a:ext cx="1905000" cy="461665"/>
              </a:xfrm>
              <a:prstGeom prst="rect">
                <a:avLst/>
              </a:prstGeom>
              <a:noFill/>
              <a:ln w="9525">
                <a:noFill/>
                <a:miter lim="800000"/>
                <a:headEnd/>
                <a:tailEnd/>
              </a:ln>
            </p:spPr>
            <p:txBody>
              <a:bodyPr>
                <a:spAutoFit/>
              </a:bodyPr>
              <a:lstStyle/>
              <a:p>
                <a:pPr algn="ctr"/>
                <a:r>
                  <a:rPr lang="en-US" sz="2400" b="1">
                    <a:solidFill>
                      <a:srgbClr val="FFFF00"/>
                    </a:solidFill>
                  </a:rPr>
                  <a:t>Inflation</a:t>
                </a:r>
              </a:p>
            </p:txBody>
          </p:sp>
        </p:grpSp>
        <p:sp>
          <p:nvSpPr>
            <p:cNvPr id="8" name="TextBox 12"/>
            <p:cNvSpPr txBox="1">
              <a:spLocks noChangeArrowheads="1"/>
            </p:cNvSpPr>
            <p:nvPr/>
          </p:nvSpPr>
          <p:spPr bwMode="auto">
            <a:xfrm>
              <a:off x="6096000" y="5791200"/>
              <a:ext cx="2209800" cy="461665"/>
            </a:xfrm>
            <a:prstGeom prst="rect">
              <a:avLst/>
            </a:prstGeom>
            <a:noFill/>
            <a:ln w="9525">
              <a:noFill/>
              <a:miter lim="800000"/>
              <a:headEnd/>
              <a:tailEnd/>
            </a:ln>
          </p:spPr>
          <p:txBody>
            <a:bodyPr>
              <a:spAutoFit/>
            </a:bodyPr>
            <a:lstStyle/>
            <a:p>
              <a:pPr algn="ctr"/>
              <a:r>
                <a:rPr lang="en-US" sz="2400" b="1">
                  <a:solidFill>
                    <a:schemeClr val="bg1"/>
                  </a:solidFill>
                </a:rPr>
                <a:t>Manufacturer</a:t>
              </a:r>
            </a:p>
          </p:txBody>
        </p:sp>
      </p:grpSp>
      <p:grpSp>
        <p:nvGrpSpPr>
          <p:cNvPr id="17" name="Group 16"/>
          <p:cNvGrpSpPr>
            <a:grpSpLocks/>
          </p:cNvGrpSpPr>
          <p:nvPr/>
        </p:nvGrpSpPr>
        <p:grpSpPr bwMode="auto">
          <a:xfrm>
            <a:off x="714348" y="4714884"/>
            <a:ext cx="3124200" cy="1676400"/>
            <a:chOff x="1981200" y="5029200"/>
            <a:chExt cx="3124200" cy="1676400"/>
          </a:xfrm>
        </p:grpSpPr>
        <p:sp>
          <p:nvSpPr>
            <p:cNvPr id="18" name="Firewall"/>
            <p:cNvSpPr>
              <a:spLocks noEditPoints="1" noChangeArrowheads="1"/>
            </p:cNvSpPr>
            <p:nvPr/>
          </p:nvSpPr>
          <p:spPr bwMode="auto">
            <a:xfrm>
              <a:off x="1981200" y="5105400"/>
              <a:ext cx="3124200" cy="1600200"/>
            </a:xfrm>
            <a:custGeom>
              <a:avLst/>
              <a:gdLst>
                <a:gd name="T0" fmla="*/ 0 w 21600"/>
                <a:gd name="T1" fmla="*/ 0 h 21600"/>
                <a:gd name="T2" fmla="*/ 1562100 w 21600"/>
                <a:gd name="T3" fmla="*/ 0 h 21600"/>
                <a:gd name="T4" fmla="*/ 3124200 w 21600"/>
                <a:gd name="T5" fmla="*/ 0 h 21600"/>
                <a:gd name="T6" fmla="*/ 3046095 w 21600"/>
                <a:gd name="T7" fmla="*/ 800100 h 21600"/>
                <a:gd name="T8" fmla="*/ 3046095 w 21600"/>
                <a:gd name="T9" fmla="*/ 1600200 h 21600"/>
                <a:gd name="T10" fmla="*/ 1562100 w 21600"/>
                <a:gd name="T11" fmla="*/ 1600200 h 21600"/>
                <a:gd name="T12" fmla="*/ 78105 w 21600"/>
                <a:gd name="T13" fmla="*/ 1600200 h 21600"/>
                <a:gd name="T14" fmla="*/ 78105 w 21600"/>
                <a:gd name="T15" fmla="*/ 800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32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p:spPr>
          <p:txBody>
            <a:bodyPr/>
            <a:lstStyle/>
            <a:p>
              <a:endParaRPr lang="en-IN"/>
            </a:p>
          </p:txBody>
        </p:sp>
        <p:sp>
          <p:nvSpPr>
            <p:cNvPr id="19" name="TextBox 11"/>
            <p:cNvSpPr txBox="1">
              <a:spLocks noChangeArrowheads="1"/>
            </p:cNvSpPr>
            <p:nvPr/>
          </p:nvSpPr>
          <p:spPr bwMode="auto">
            <a:xfrm>
              <a:off x="2590800" y="5791200"/>
              <a:ext cx="1905000" cy="461665"/>
            </a:xfrm>
            <a:prstGeom prst="rect">
              <a:avLst/>
            </a:prstGeom>
            <a:noFill/>
            <a:ln w="9525">
              <a:noFill/>
              <a:miter lim="800000"/>
              <a:headEnd/>
              <a:tailEnd/>
            </a:ln>
          </p:spPr>
          <p:txBody>
            <a:bodyPr>
              <a:spAutoFit/>
            </a:bodyPr>
            <a:lstStyle/>
            <a:p>
              <a:pPr algn="ctr"/>
              <a:r>
                <a:rPr lang="en-US" sz="2400" b="1">
                  <a:solidFill>
                    <a:schemeClr val="bg1"/>
                  </a:solidFill>
                </a:rPr>
                <a:t>Consumer</a:t>
              </a:r>
            </a:p>
          </p:txBody>
        </p:sp>
        <p:sp>
          <p:nvSpPr>
            <p:cNvPr id="20" name="TextBox 13"/>
            <p:cNvSpPr txBox="1">
              <a:spLocks noChangeArrowheads="1"/>
            </p:cNvSpPr>
            <p:nvPr/>
          </p:nvSpPr>
          <p:spPr bwMode="auto">
            <a:xfrm>
              <a:off x="2590800" y="5029200"/>
              <a:ext cx="1905000" cy="461665"/>
            </a:xfrm>
            <a:prstGeom prst="rect">
              <a:avLst/>
            </a:prstGeom>
            <a:noFill/>
            <a:ln w="9525">
              <a:noFill/>
              <a:miter lim="800000"/>
              <a:headEnd/>
              <a:tailEnd/>
            </a:ln>
          </p:spPr>
          <p:txBody>
            <a:bodyPr>
              <a:spAutoFit/>
            </a:bodyPr>
            <a:lstStyle/>
            <a:p>
              <a:pPr algn="ctr"/>
              <a:r>
                <a:rPr lang="en-US" sz="2400" b="1" dirty="0">
                  <a:solidFill>
                    <a:srgbClr val="FFFF00"/>
                  </a:solidFill>
                </a:rPr>
                <a:t>Inflation</a:t>
              </a:r>
            </a:p>
          </p:txBody>
        </p:sp>
      </p:gr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3"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
        <p:nvSpPr>
          <p:cNvPr id="9" name="Rectangle 8"/>
          <p:cNvSpPr/>
          <p:nvPr/>
        </p:nvSpPr>
        <p:spPr>
          <a:xfrm>
            <a:off x="714348" y="1142984"/>
            <a:ext cx="7572428"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For the sake of analogy consider “effort” equal to “money” &amp; “wall” to “inflation”, let us use it interchangeably.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Therefore for consumers a shorter wall means lower prices.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the manufacturers on the other side think exactly the opposite. They would like the consumer to spend more money in </a:t>
            </a:r>
            <a:r>
              <a:rPr lang="en-US" b="1" dirty="0" smtClean="0">
                <a:latin typeface="Arial" pitchFamily="34" charset="0"/>
                <a:cs typeface="Arial" pitchFamily="34" charset="0"/>
              </a:rPr>
              <a:t>climbing</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smtClean="0">
                <a:latin typeface="Arial" pitchFamily="34" charset="0"/>
                <a:cs typeface="Arial" pitchFamily="34" charset="0"/>
              </a:rPr>
              <a:t>wall before they can enter the manufacturing side </a:t>
            </a:r>
            <a:r>
              <a:rPr lang="en-US" b="1" dirty="0" smtClean="0">
                <a:latin typeface="Arial" pitchFamily="34" charset="0"/>
                <a:cs typeface="Arial" pitchFamily="34" charset="0"/>
              </a:rPr>
              <a:t>and</a:t>
            </a:r>
            <a:br>
              <a:rPr lang="en-US" b="1" dirty="0" smtClean="0">
                <a:latin typeface="Arial" pitchFamily="34" charset="0"/>
                <a:cs typeface="Arial" pitchFamily="34" charset="0"/>
              </a:rPr>
            </a:br>
            <a:r>
              <a:rPr lang="en-US" b="1" dirty="0" smtClean="0">
                <a:latin typeface="Arial" pitchFamily="34" charset="0"/>
                <a:cs typeface="Arial" pitchFamily="34" charset="0"/>
              </a:rPr>
              <a:t>consume </a:t>
            </a:r>
            <a:r>
              <a:rPr lang="en-US" b="1" dirty="0" smtClean="0">
                <a:latin typeface="Arial" pitchFamily="34" charset="0"/>
                <a:cs typeface="Arial" pitchFamily="34" charset="0"/>
              </a:rPr>
              <a:t>goods and services.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Thus a taller wall for the manufacturer means more money and profits. </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Thus high inflation or a tall wall is more acceptable to the manufacturer as compared to the consumer while low inflation or negative inflation might be acceptable to the consumer but is a worrying sign for the manufacturer.</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the story does not end there.</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One needs to also understand that every consumer is also a producer or connected with a producer somewhere or the other.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So while cheap goods makes him happy when he goes for shopping with his family, the same low cost of products that his company produces has become a pain for him at work.</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857620" y="4876254"/>
            <a:ext cx="4714908"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Because of less demand for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products </a:t>
            </a:r>
            <a:r>
              <a:rPr lang="en-US" b="1" dirty="0" smtClean="0">
                <a:latin typeface="Arial" pitchFamily="34" charset="0"/>
                <a:cs typeface="Arial" pitchFamily="34" charset="0"/>
              </a:rPr>
              <a:t>that his company </a:t>
            </a:r>
            <a:r>
              <a:rPr lang="en-US" b="1" dirty="0" smtClean="0">
                <a:latin typeface="Arial" pitchFamily="34" charset="0"/>
                <a:cs typeface="Arial" pitchFamily="34" charset="0"/>
              </a:rPr>
              <a:t>makes,</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smtClean="0">
                <a:latin typeface="Arial" pitchFamily="34" charset="0"/>
                <a:cs typeface="Arial" pitchFamily="34" charset="0"/>
              </a:rPr>
              <a:t>prices are low and so are the profits.</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As a result the company makes less money, gives a small salary and defers increments and bonus. In the absence of less money even low prices in the market does not entice him to spend much.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further impact the market and prices keep falling because of weak demand.</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072362"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how the situation in Japan has been for some time. However, now the government wants to change the mood of the people by providing easy money in their hands.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9058" y="5006000"/>
            <a:ext cx="4500594"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called Quantitative Easing which is similar to say printing money.</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249749"/>
            <a:ext cx="4032448"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What is the effect of this move?</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072362" cy="3416320"/>
          </a:xfrm>
          <a:prstGeom prst="rect">
            <a:avLst/>
          </a:prstGeom>
        </p:spPr>
        <p:txBody>
          <a:bodyPr wrap="square">
            <a:spAutoFit/>
          </a:bodyPr>
          <a:lstStyle/>
          <a:p>
            <a:pPr marL="533400" indent="-533400" algn="just">
              <a:lnSpc>
                <a:spcPct val="150000"/>
              </a:lnSpc>
              <a:tabLst>
                <a:tab pos="533400" algn="l"/>
              </a:tabLst>
            </a:pPr>
            <a:r>
              <a:rPr lang="en-US" b="1" dirty="0" smtClean="0">
                <a:latin typeface="Arial" pitchFamily="34" charset="0"/>
                <a:cs typeface="Arial" pitchFamily="34" charset="0"/>
              </a:rPr>
              <a:t>1.	It </a:t>
            </a:r>
            <a:r>
              <a:rPr lang="en-US" b="1" dirty="0" smtClean="0">
                <a:latin typeface="Arial" pitchFamily="34" charset="0"/>
                <a:cs typeface="Arial" pitchFamily="34" charset="0"/>
              </a:rPr>
              <a:t>brings the value of the Yen down. This immediately makes Japanese exports more lucrative and creates demands for Japanese goods in the international market.</a:t>
            </a:r>
          </a:p>
          <a:p>
            <a:pPr marL="533400" indent="-533400" algn="just">
              <a:lnSpc>
                <a:spcPct val="150000"/>
              </a:lnSpc>
              <a:tabLst>
                <a:tab pos="533400" algn="l"/>
              </a:tabLst>
            </a:pPr>
            <a:endParaRPr lang="en-US" b="1" dirty="0" smtClean="0">
              <a:latin typeface="Arial" pitchFamily="34" charset="0"/>
              <a:cs typeface="Arial" pitchFamily="34" charset="0"/>
            </a:endParaRPr>
          </a:p>
          <a:p>
            <a:pPr marL="533400" indent="-533400" algn="just">
              <a:lnSpc>
                <a:spcPct val="150000"/>
              </a:lnSpc>
              <a:tabLst>
                <a:tab pos="533400" algn="l"/>
              </a:tabLst>
            </a:pPr>
            <a:r>
              <a:rPr lang="en-US" b="1" dirty="0" smtClean="0">
                <a:latin typeface="Arial" pitchFamily="34" charset="0"/>
                <a:cs typeface="Arial" pitchFamily="34" charset="0"/>
              </a:rPr>
              <a:t>2.	As </a:t>
            </a:r>
            <a:r>
              <a:rPr lang="en-US" b="1" dirty="0" smtClean="0">
                <a:latin typeface="Arial" pitchFamily="34" charset="0"/>
                <a:cs typeface="Arial" pitchFamily="34" charset="0"/>
              </a:rPr>
              <a:t>consumers have more money and willingness to spend on goods and services, inflation rises resulting into depreciated purchasing power of money. This will also lead the consumers to </a:t>
            </a:r>
            <a:r>
              <a:rPr lang="en-US" b="1" dirty="0" err="1" smtClean="0">
                <a:latin typeface="Arial" pitchFamily="34" charset="0"/>
                <a:cs typeface="Arial" pitchFamily="34" charset="0"/>
              </a:rPr>
              <a:t>prepone</a:t>
            </a:r>
            <a:r>
              <a:rPr lang="en-US" b="1" dirty="0" smtClean="0">
                <a:latin typeface="Arial" pitchFamily="34" charset="0"/>
                <a:cs typeface="Arial" pitchFamily="34" charset="0"/>
              </a:rPr>
              <a:t> their purchases</a:t>
            </a:r>
            <a:r>
              <a:rPr lang="en-US" b="1" dirty="0" smtClean="0">
                <a:latin typeface="Arial" pitchFamily="34" charset="0"/>
                <a:cs typeface="Arial" pitchFamily="34" charset="0"/>
              </a:rPr>
              <a:t>.</a:t>
            </a:r>
            <a:endParaRPr lang="en-US" b="1" dirty="0" smtClean="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4247317"/>
          </a:xfrm>
          <a:prstGeom prst="rect">
            <a:avLst/>
          </a:prstGeom>
        </p:spPr>
        <p:txBody>
          <a:bodyPr wrap="square">
            <a:spAutoFit/>
          </a:bodyPr>
          <a:lstStyle/>
          <a:p>
            <a:pPr marL="533400" indent="-533400" algn="just">
              <a:lnSpc>
                <a:spcPct val="150000"/>
              </a:lnSpc>
              <a:tabLst>
                <a:tab pos="533400" algn="l"/>
              </a:tabLst>
            </a:pPr>
            <a:r>
              <a:rPr lang="en-US" b="1" dirty="0" smtClean="0">
                <a:latin typeface="Arial" pitchFamily="34" charset="0"/>
                <a:cs typeface="Arial" pitchFamily="34" charset="0"/>
              </a:rPr>
              <a:t>3.	More </a:t>
            </a:r>
            <a:r>
              <a:rPr lang="en-US" b="1" dirty="0" smtClean="0">
                <a:latin typeface="Arial" pitchFamily="34" charset="0"/>
                <a:cs typeface="Arial" pitchFamily="34" charset="0"/>
              </a:rPr>
              <a:t>demand for the goods will mean that factories will invest more in capacity building which itself is a demand engine for raw material and labor.</a:t>
            </a:r>
          </a:p>
          <a:p>
            <a:pPr marL="533400" indent="-533400" algn="just">
              <a:lnSpc>
                <a:spcPct val="150000"/>
              </a:lnSpc>
              <a:tabLst>
                <a:tab pos="533400" algn="l"/>
              </a:tabLst>
            </a:pPr>
            <a:endParaRPr lang="en-US" sz="600" b="1" dirty="0" smtClean="0">
              <a:latin typeface="Arial" pitchFamily="34" charset="0"/>
              <a:cs typeface="Arial" pitchFamily="34" charset="0"/>
            </a:endParaRPr>
          </a:p>
          <a:p>
            <a:pPr marL="533400" indent="-533400" algn="just">
              <a:lnSpc>
                <a:spcPct val="150000"/>
              </a:lnSpc>
              <a:tabLst>
                <a:tab pos="533400" algn="l"/>
              </a:tabLst>
            </a:pPr>
            <a:r>
              <a:rPr lang="en-US" b="1" dirty="0" smtClean="0">
                <a:latin typeface="Arial" pitchFamily="34" charset="0"/>
                <a:cs typeface="Arial" pitchFamily="34" charset="0"/>
              </a:rPr>
              <a:t>4.	Companies </a:t>
            </a:r>
            <a:r>
              <a:rPr lang="en-US" b="1" dirty="0" smtClean="0">
                <a:latin typeface="Arial" pitchFamily="34" charset="0"/>
                <a:cs typeface="Arial" pitchFamily="34" charset="0"/>
              </a:rPr>
              <a:t>will hire more people to meet the increased demand.</a:t>
            </a:r>
          </a:p>
          <a:p>
            <a:pPr marL="533400" indent="-533400" algn="just">
              <a:lnSpc>
                <a:spcPct val="150000"/>
              </a:lnSpc>
              <a:tabLst>
                <a:tab pos="533400" algn="l"/>
              </a:tabLst>
            </a:pPr>
            <a:endParaRPr lang="en-US" sz="600" b="1" dirty="0" smtClean="0">
              <a:latin typeface="Arial" pitchFamily="34" charset="0"/>
              <a:cs typeface="Arial" pitchFamily="34" charset="0"/>
            </a:endParaRPr>
          </a:p>
          <a:p>
            <a:pPr marL="533400" indent="-533400" algn="just">
              <a:lnSpc>
                <a:spcPct val="150000"/>
              </a:lnSpc>
              <a:tabLst>
                <a:tab pos="533400" algn="l"/>
              </a:tabLst>
            </a:pPr>
            <a:r>
              <a:rPr lang="en-US" b="1" dirty="0" smtClean="0">
                <a:latin typeface="Arial" pitchFamily="34" charset="0"/>
                <a:cs typeface="Arial" pitchFamily="34" charset="0"/>
              </a:rPr>
              <a:t>5.	The </a:t>
            </a:r>
            <a:r>
              <a:rPr lang="en-US" b="1" dirty="0" smtClean="0">
                <a:latin typeface="Arial" pitchFamily="34" charset="0"/>
                <a:cs typeface="Arial" pitchFamily="34" charset="0"/>
              </a:rPr>
              <a:t>companies would pay higher wages to ensure that people work hard and keep pace with demand.</a:t>
            </a:r>
          </a:p>
          <a:p>
            <a:pPr marL="533400" indent="-533400" algn="just">
              <a:lnSpc>
                <a:spcPct val="150000"/>
              </a:lnSpc>
              <a:tabLst>
                <a:tab pos="533400" algn="l"/>
              </a:tabLst>
            </a:pPr>
            <a:endParaRPr lang="en-US" sz="600" b="1" dirty="0" smtClean="0">
              <a:latin typeface="Arial" pitchFamily="34" charset="0"/>
              <a:cs typeface="Arial" pitchFamily="34" charset="0"/>
            </a:endParaRPr>
          </a:p>
          <a:p>
            <a:pPr marL="533400" indent="-533400" algn="just">
              <a:lnSpc>
                <a:spcPct val="150000"/>
              </a:lnSpc>
              <a:tabLst>
                <a:tab pos="533400" algn="l"/>
              </a:tabLst>
            </a:pPr>
            <a:r>
              <a:rPr lang="en-US" b="1" dirty="0" smtClean="0">
                <a:latin typeface="Arial" pitchFamily="34" charset="0"/>
                <a:cs typeface="Arial" pitchFamily="34" charset="0"/>
              </a:rPr>
              <a:t>6.	Money </a:t>
            </a:r>
            <a:r>
              <a:rPr lang="en-US" b="1" dirty="0" smtClean="0">
                <a:latin typeface="Arial" pitchFamily="34" charset="0"/>
                <a:cs typeface="Arial" pitchFamily="34" charset="0"/>
              </a:rPr>
              <a:t>in the hands of the people through better increments and bonus etc means more domestic demand.</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8" name="TextBox 7"/>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
        <p:nvSpPr>
          <p:cNvPr id="6" name="Rectangle 5"/>
          <p:cNvSpPr/>
          <p:nvPr/>
        </p:nvSpPr>
        <p:spPr>
          <a:xfrm>
            <a:off x="2714612" y="1428736"/>
            <a:ext cx="4429156"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what the Japanese PM </a:t>
            </a:r>
            <a:r>
              <a:rPr lang="en-US" b="1" dirty="0" err="1" smtClean="0">
                <a:latin typeface="Arial" pitchFamily="34" charset="0"/>
                <a:cs typeface="Arial" pitchFamily="34" charset="0"/>
              </a:rPr>
              <a:t>Shinzo</a:t>
            </a:r>
            <a:r>
              <a:rPr lang="en-US" b="1" dirty="0" smtClean="0">
                <a:latin typeface="Arial" pitchFamily="34" charset="0"/>
                <a:cs typeface="Arial" pitchFamily="34" charset="0"/>
              </a:rPr>
              <a:t> Abe would like to believe and is hence formulating policies accordingly.</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337335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 believes that if parents were to increase the pocket money of children, then surely the children will start consuming more of all the goodies like ice cream, candies, toys, books etc.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And the manufacturers of these goods would make more of these products, buy raw material and hire more people to make them. The raw material maker too would hire more people to supply more raw material and so on and so forth.</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9495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increased domestic and international demand would increase the share prices of the manufacturing companies and we are seeing this play out in Japan.</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More international money would move into Japan to take advantage of this growth opportunity. We are seeing this as well today.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Investors would sell out other asset classes in favor of Japanese equity. The drop in gold and commodity prices is a symptomatic of these policy changes.</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All this activity is expected to re-invigorate the Japanese economy and propel it to a growth trajectory.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However the downside of this initiative is to ensure that inflation does not spiral out of control and begin the dampening the demand cycle.</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err="1" smtClean="0">
                <a:latin typeface="Arial" pitchFamily="34" charset="0"/>
                <a:cs typeface="Arial" pitchFamily="34" charset="0"/>
              </a:rPr>
              <a:t>Shinzo</a:t>
            </a:r>
            <a:r>
              <a:rPr lang="en-US" b="1" dirty="0" smtClean="0">
                <a:latin typeface="Arial" pitchFamily="34" charset="0"/>
                <a:cs typeface="Arial" pitchFamily="34" charset="0"/>
              </a:rPr>
              <a:t> Abe believes he can ensure a smooth take off for the Japanese economy through his actions and policy decisions.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mechanism is known as </a:t>
            </a:r>
            <a:r>
              <a:rPr lang="en-US" b="1" dirty="0" err="1" smtClean="0">
                <a:latin typeface="Arial" pitchFamily="34" charset="0"/>
                <a:cs typeface="Arial" pitchFamily="34" charset="0"/>
              </a:rPr>
              <a:t>Abenomics</a:t>
            </a:r>
            <a:r>
              <a:rPr lang="en-US" b="1" dirty="0" smtClean="0">
                <a:latin typeface="Arial" pitchFamily="34" charset="0"/>
                <a:cs typeface="Arial" pitchFamily="34" charset="0"/>
              </a:rPr>
              <a:t>, a term coined after the name of the Prime Minister Mr. </a:t>
            </a:r>
            <a:r>
              <a:rPr lang="en-US" b="1" dirty="0" err="1" smtClean="0">
                <a:latin typeface="Arial" pitchFamily="34" charset="0"/>
                <a:cs typeface="Arial" pitchFamily="34" charset="0"/>
              </a:rPr>
              <a:t>Shinzo</a:t>
            </a:r>
            <a:r>
              <a:rPr lang="en-US" b="1" dirty="0" smtClean="0">
                <a:latin typeface="Arial" pitchFamily="34" charset="0"/>
                <a:cs typeface="Arial" pitchFamily="34" charset="0"/>
              </a:rPr>
              <a:t> Abe.</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In economics such an activity whereby the government tries to re-energize the economy by inducing inflation is known as “</a:t>
            </a:r>
            <a:r>
              <a:rPr lang="en-US" b="1" dirty="0" err="1" smtClean="0">
                <a:latin typeface="Arial" pitchFamily="34" charset="0"/>
                <a:cs typeface="Arial" pitchFamily="34" charset="0"/>
              </a:rPr>
              <a:t>Reflation</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9058" y="5006000"/>
            <a:ext cx="3786214" cy="923330"/>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understood </a:t>
            </a:r>
          </a:p>
          <a:p>
            <a:pPr>
              <a:lnSpc>
                <a:spcPct val="150000"/>
              </a:lnSpc>
              <a:buFontTx/>
              <a:buNone/>
            </a:pPr>
            <a:r>
              <a:rPr lang="en-US" b="1" dirty="0" smtClean="0">
                <a:latin typeface="Arial" pitchFamily="34" charset="0"/>
                <a:cs typeface="Arial" pitchFamily="34" charset="0"/>
              </a:rPr>
              <a:t>why inflation is not always bad.</a:t>
            </a:r>
            <a:endParaRPr lang="en-US" b="1" dirty="0" smtClean="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INFLATION IS NOT ALWAYS BAD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0705" y="-1"/>
            <a:ext cx="9144000" cy="6858001"/>
            <a:chOff x="0" y="-1"/>
            <a:chExt cx="9144000" cy="6858001"/>
          </a:xfrm>
        </p:grpSpPr>
        <p:pic>
          <p:nvPicPr>
            <p:cNvPr id="3"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4"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5" name="Rectangle 4"/>
          <p:cNvSpPr/>
          <p:nvPr/>
        </p:nvSpPr>
        <p:spPr>
          <a:xfrm>
            <a:off x="1000100" y="1546679"/>
            <a:ext cx="4032448" cy="667875"/>
          </a:xfrm>
          <a:prstGeom prst="rect">
            <a:avLst/>
          </a:prstGeom>
        </p:spPr>
        <p:txBody>
          <a:bodyPr wrap="square">
            <a:spAutoFit/>
          </a:bodyPr>
          <a:lstStyle/>
          <a:p>
            <a:pPr marL="342900" indent="-342900" algn="ctr">
              <a:spcBef>
                <a:spcPct val="20000"/>
              </a:spcBef>
            </a:pPr>
            <a:r>
              <a:rPr lang="en-US" sz="1700" b="1" dirty="0" smtClean="0">
                <a:latin typeface="Arial" pitchFamily="34" charset="0"/>
                <a:cs typeface="Arial" pitchFamily="34" charset="0"/>
              </a:rPr>
              <a:t>Please give us your feedback at </a:t>
            </a:r>
          </a:p>
          <a:p>
            <a:pPr marL="342900" indent="-342900" algn="ctr">
              <a:spcBef>
                <a:spcPct val="20000"/>
              </a:spcBef>
            </a:pPr>
            <a:r>
              <a:rPr lang="en-US" sz="1700" b="1" dirty="0" smtClean="0">
                <a:latin typeface="Arial" pitchFamily="34" charset="0"/>
                <a:cs typeface="Arial" pitchFamily="34" charset="0"/>
                <a:hlinkClick r:id="rId4"/>
              </a:rPr>
              <a:t>professor@tataamc.com</a:t>
            </a:r>
            <a:endParaRPr lang="en-US" sz="1700" b="1" dirty="0">
              <a:latin typeface="Arial" pitchFamily="34" charset="0"/>
              <a:cs typeface="Arial" pitchFamily="34" charset="0"/>
            </a:endParaRPr>
          </a:p>
        </p:txBody>
      </p:sp>
      <p:sp>
        <p:nvSpPr>
          <p:cNvPr id="6" name="Rectangle 5"/>
          <p:cNvSpPr/>
          <p:nvPr/>
        </p:nvSpPr>
        <p:spPr>
          <a:xfrm>
            <a:off x="1142976" y="2357430"/>
            <a:ext cx="3786214" cy="615553"/>
          </a:xfrm>
          <a:prstGeom prst="rect">
            <a:avLst/>
          </a:prstGeom>
        </p:spPr>
        <p:txBody>
          <a:bodyPr wrap="square">
            <a:spAutoFit/>
          </a:bodyPr>
          <a:lstStyle/>
          <a:p>
            <a:pPr algn="ctr">
              <a:buFontTx/>
              <a:buNone/>
            </a:pPr>
            <a:r>
              <a:rPr lang="en-US" sz="1700" b="1" dirty="0" smtClean="0">
                <a:latin typeface="Arial" pitchFamily="34" charset="0"/>
                <a:cs typeface="Arial" pitchFamily="34" charset="0"/>
              </a:rPr>
              <a:t>For more lessons visit</a:t>
            </a:r>
          </a:p>
          <a:p>
            <a:pPr algn="ctr">
              <a:buFontTx/>
              <a:buNone/>
            </a:pPr>
            <a:r>
              <a:rPr lang="en-US" sz="1700" b="1" u="sng" dirty="0" smtClean="0">
                <a:latin typeface="Arial" pitchFamily="34" charset="0"/>
                <a:cs typeface="Arial" pitchFamily="34" charset="0"/>
                <a:hlinkClick r:id="rId5"/>
              </a:rPr>
              <a:t>www.tatamutualfund.com</a:t>
            </a:r>
            <a:endParaRPr lang="en-US" sz="1700" b="1"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3645</TotalTime>
  <Words>956</Words>
  <Application>Microsoft Office PowerPoint</Application>
  <PresentationFormat>On-screen Show (4:3)</PresentationFormat>
  <Paragraphs>90</Paragraphs>
  <Slides>27</Slides>
  <Notes>3</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509</cp:revision>
  <dcterms:created xsi:type="dcterms:W3CDTF">2013-10-22T09:41:31Z</dcterms:created>
  <dcterms:modified xsi:type="dcterms:W3CDTF">2014-03-09T02:51:20Z</dcterms:modified>
</cp:coreProperties>
</file>