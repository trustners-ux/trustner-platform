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318" r:id="rId3"/>
    <p:sldId id="358" r:id="rId4"/>
    <p:sldId id="334" r:id="rId5"/>
    <p:sldId id="373" r:id="rId6"/>
    <p:sldId id="374" r:id="rId7"/>
    <p:sldId id="375" r:id="rId8"/>
    <p:sldId id="376" r:id="rId9"/>
    <p:sldId id="377" r:id="rId10"/>
    <p:sldId id="355" r:id="rId11"/>
    <p:sldId id="287" r:id="rId12"/>
    <p:sldId id="27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3/5/2014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3/5/2014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3/5/2014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3/5/2014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3/5/2014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CROWDING OUT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1338828"/>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There have been several articles in the Indian media that the huge Government borrowing program on account of the large fiscal deficit is likely to ‘crowd out’ private investment.</a:t>
            </a:r>
            <a:endParaRPr lang="en-US" b="1" dirty="0">
              <a:latin typeface="Arial" pitchFamily="34" charset="0"/>
              <a:cs typeface="Arial" pitchFamily="34" charset="0"/>
            </a:endParaRPr>
          </a:p>
        </p:txBody>
      </p:sp>
      <p:sp>
        <p:nvSpPr>
          <p:cNvPr id="4" name="TextBox 3"/>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CROWDING OUT</a:t>
            </a:r>
            <a:endParaRPr lang="en-US" sz="2000" b="1" dirty="0">
              <a:solidFill>
                <a:schemeClr val="bg1"/>
              </a:solidFill>
              <a:latin typeface="Arial" pitchFamily="34" charset="0"/>
              <a:cs typeface="Arial" pitchFamily="34" charset="0"/>
            </a:endParaRPr>
          </a:p>
        </p:txBody>
      </p:sp>
      <p:sp>
        <p:nvSpPr>
          <p:cNvPr id="6" name="Rectangle 5"/>
          <p:cNvSpPr/>
          <p:nvPr/>
        </p:nvSpPr>
        <p:spPr>
          <a:xfrm>
            <a:off x="742384" y="2785234"/>
            <a:ext cx="7285999" cy="923330"/>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But </a:t>
            </a:r>
            <a:r>
              <a:rPr lang="en-US" b="1" dirty="0">
                <a:latin typeface="Arial" pitchFamily="34" charset="0"/>
                <a:cs typeface="Arial" pitchFamily="34" charset="0"/>
              </a:rPr>
              <a:t>what does ‘crowding out’ mean? Is it a good thing or bad thing? Let me try &amp; explain…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31640" y="1628800"/>
            <a:ext cx="3600400" cy="1338828"/>
          </a:xfrm>
          <a:prstGeom prst="rect">
            <a:avLst/>
          </a:prstGeom>
          <a:noFill/>
        </p:spPr>
        <p:txBody>
          <a:bodyPr wrap="square" rtlCol="0">
            <a:spAutoFit/>
          </a:bodyPr>
          <a:lstStyle/>
          <a:p>
            <a:pPr>
              <a:lnSpc>
                <a:spcPct val="150000"/>
              </a:lnSpc>
              <a:buFontTx/>
              <a:buNone/>
            </a:pPr>
            <a:r>
              <a:rPr lang="en-US" b="1" dirty="0" smtClean="0">
                <a:latin typeface="Arial" pitchFamily="34" charset="0"/>
                <a:cs typeface="Arial" pitchFamily="34" charset="0"/>
              </a:rPr>
              <a:t>Understanding</a:t>
            </a:r>
            <a:br>
              <a:rPr lang="en-US" b="1" dirty="0" smtClean="0">
                <a:latin typeface="Arial" pitchFamily="34" charset="0"/>
                <a:cs typeface="Arial" pitchFamily="34" charset="0"/>
              </a:rPr>
            </a:br>
            <a:r>
              <a:rPr lang="en-US" b="1" dirty="0" smtClean="0">
                <a:latin typeface="Arial" pitchFamily="34" charset="0"/>
                <a:cs typeface="Arial" pitchFamily="34" charset="0"/>
              </a:rPr>
              <a:t>the concept </a:t>
            </a:r>
            <a:r>
              <a:rPr lang="en-US" b="1" dirty="0">
                <a:latin typeface="Arial" pitchFamily="34" charset="0"/>
                <a:cs typeface="Arial" pitchFamily="34" charset="0"/>
              </a:rPr>
              <a:t>of Crowding Out </a:t>
            </a:r>
            <a:br>
              <a:rPr lang="en-US" b="1" dirty="0">
                <a:latin typeface="Arial" pitchFamily="34" charset="0"/>
                <a:cs typeface="Arial" pitchFamily="34" charset="0"/>
              </a:rPr>
            </a:br>
            <a:r>
              <a:rPr lang="en-US" b="1" dirty="0">
                <a:latin typeface="Arial" pitchFamily="34" charset="0"/>
                <a:cs typeface="Arial" pitchFamily="34" charset="0"/>
              </a:rPr>
              <a:t>–  By Prof. </a:t>
            </a:r>
            <a:r>
              <a:rPr lang="en-US" b="1" i="1" dirty="0">
                <a:latin typeface="Arial" pitchFamily="34" charset="0"/>
                <a:cs typeface="Arial" pitchFamily="34" charset="0"/>
              </a:rPr>
              <a:t>Simply</a:t>
            </a:r>
            <a:r>
              <a:rPr lang="en-US" b="1" dirty="0">
                <a:latin typeface="Arial" pitchFamily="34" charset="0"/>
                <a:cs typeface="Arial" pitchFamily="34" charset="0"/>
              </a:rPr>
              <a:t> Simple</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CROWDING OUT</a:t>
            </a:r>
            <a:endParaRPr lang="en-US" sz="2000" b="1" dirty="0">
              <a:solidFill>
                <a:schemeClr val="bg1"/>
              </a:solidFill>
              <a:latin typeface="Arial" pitchFamily="34" charset="0"/>
              <a:cs typeface="Arial" pitchFamily="34" charset="0"/>
            </a:endParaRPr>
          </a:p>
        </p:txBody>
      </p:sp>
      <p:sp>
        <p:nvSpPr>
          <p:cNvPr id="3" name="Rectangle 2"/>
          <p:cNvSpPr/>
          <p:nvPr/>
        </p:nvSpPr>
        <p:spPr>
          <a:xfrm>
            <a:off x="683568" y="1072088"/>
            <a:ext cx="7560840" cy="336502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In economics, crowding out is the process of a reduction in private consumption or investment that occurs because of an increase in government spending.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In other words, usually when economists use the term ‘crowding out’ they are referring to government’s spending using up financial and other resources that would otherwise be used by private enterprises.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980728"/>
            <a:ext cx="7416824"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Now…</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CROWDING OUT</a:t>
            </a:r>
            <a:endParaRPr lang="en-US" sz="2000" b="1" dirty="0">
              <a:solidFill>
                <a:schemeClr val="bg1"/>
              </a:solidFill>
              <a:latin typeface="Arial" pitchFamily="34" charset="0"/>
              <a:cs typeface="Arial" pitchFamily="34" charset="0"/>
            </a:endParaRPr>
          </a:p>
        </p:txBody>
      </p:sp>
      <p:sp>
        <p:nvSpPr>
          <p:cNvPr id="3" name="Rectangle 2"/>
          <p:cNvSpPr/>
          <p:nvPr/>
        </p:nvSpPr>
        <p:spPr>
          <a:xfrm>
            <a:off x="683568" y="1463873"/>
            <a:ext cx="7920880" cy="212686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Governments </a:t>
            </a:r>
            <a:r>
              <a:rPr lang="en-US" b="1" dirty="0">
                <a:latin typeface="Arial" pitchFamily="34" charset="0"/>
                <a:cs typeface="Arial" pitchFamily="34" charset="0"/>
              </a:rPr>
              <a:t>often borrow money (by issuing bonds) to fund additional spending and expenses that they incur.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problem occurs when government debt 'crowds out' private companies and individuals from the lending market.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5788766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980728"/>
            <a:ext cx="7416824"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But why does </a:t>
            </a:r>
            <a:r>
              <a:rPr lang="en-US" b="1" dirty="0" err="1">
                <a:latin typeface="Arial" pitchFamily="34" charset="0"/>
                <a:cs typeface="Arial" pitchFamily="34" charset="0"/>
              </a:rPr>
              <a:t>pvt.</a:t>
            </a:r>
            <a:r>
              <a:rPr lang="en-US" b="1" dirty="0">
                <a:latin typeface="Arial" pitchFamily="34" charset="0"/>
                <a:cs typeface="Arial" pitchFamily="34" charset="0"/>
              </a:rPr>
              <a:t> investment get “crowded out”?</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CROWDING OUT</a:t>
            </a:r>
            <a:endParaRPr lang="en-US" sz="2000" b="1" dirty="0">
              <a:solidFill>
                <a:schemeClr val="bg1"/>
              </a:solidFill>
              <a:latin typeface="Arial" pitchFamily="34" charset="0"/>
              <a:cs typeface="Arial" pitchFamily="34" charset="0"/>
            </a:endParaRPr>
          </a:p>
        </p:txBody>
      </p:sp>
      <p:sp>
        <p:nvSpPr>
          <p:cNvPr id="3" name="Rectangle 2"/>
          <p:cNvSpPr/>
          <p:nvPr/>
        </p:nvSpPr>
        <p:spPr>
          <a:xfrm>
            <a:off x="683568" y="1412776"/>
            <a:ext cx="7776864" cy="3893374"/>
          </a:xfrm>
          <a:prstGeom prst="rect">
            <a:avLst/>
          </a:prstGeom>
        </p:spPr>
        <p:txBody>
          <a:bodyPr wrap="square">
            <a:spAutoFit/>
          </a:bodyPr>
          <a:lstStyle/>
          <a:p>
            <a:pPr marL="465138" indent="-465138">
              <a:buFont typeface="Wingdings" pitchFamily="2" charset="2"/>
              <a:buChar char="q"/>
              <a:tabLst>
                <a:tab pos="465138" algn="l"/>
              </a:tabLst>
            </a:pPr>
            <a:r>
              <a:rPr lang="en-US" sz="1600" b="1" dirty="0">
                <a:latin typeface="Arial" pitchFamily="34" charset="0"/>
                <a:cs typeface="Arial" pitchFamily="34" charset="0"/>
              </a:rPr>
              <a:t>Increased government borrowing tends towards an increase in market interest rates. </a:t>
            </a:r>
          </a:p>
          <a:p>
            <a:pPr marL="465138" indent="-465138">
              <a:buFont typeface="Wingdings" pitchFamily="2" charset="2"/>
              <a:buChar char="q"/>
              <a:tabLst>
                <a:tab pos="465138" algn="l"/>
              </a:tabLst>
            </a:pPr>
            <a:endParaRPr lang="en-US" sz="1200" b="1" dirty="0">
              <a:latin typeface="Arial" pitchFamily="34" charset="0"/>
              <a:cs typeface="Arial" pitchFamily="34" charset="0"/>
            </a:endParaRPr>
          </a:p>
          <a:p>
            <a:pPr marL="465138" indent="-465138">
              <a:buFont typeface="Wingdings" pitchFamily="2" charset="2"/>
              <a:buChar char="q"/>
              <a:tabLst>
                <a:tab pos="465138" algn="l"/>
              </a:tabLst>
            </a:pPr>
            <a:r>
              <a:rPr lang="en-US" sz="1600" b="1" dirty="0">
                <a:latin typeface="Arial" pitchFamily="34" charset="0"/>
                <a:cs typeface="Arial" pitchFamily="34" charset="0"/>
              </a:rPr>
              <a:t>The problem is that the government can always pay the market interest rate, but there comes a point when corporations and individuals can no longer afford to borrow at these rates.</a:t>
            </a:r>
            <a:br>
              <a:rPr lang="en-US" sz="1600" b="1" dirty="0">
                <a:latin typeface="Arial" pitchFamily="34" charset="0"/>
                <a:cs typeface="Arial" pitchFamily="34" charset="0"/>
              </a:rPr>
            </a:br>
            <a:endParaRPr lang="en-US" sz="1200" b="1" dirty="0">
              <a:latin typeface="Arial" pitchFamily="34" charset="0"/>
              <a:cs typeface="Arial" pitchFamily="34" charset="0"/>
            </a:endParaRPr>
          </a:p>
          <a:p>
            <a:pPr marL="465138" indent="-465138">
              <a:buFont typeface="Wingdings" pitchFamily="2" charset="2"/>
              <a:buChar char="q"/>
              <a:tabLst>
                <a:tab pos="465138" algn="l"/>
              </a:tabLst>
            </a:pPr>
            <a:r>
              <a:rPr lang="en-US" sz="1600" b="1" dirty="0">
                <a:latin typeface="Arial" pitchFamily="34" charset="0"/>
                <a:cs typeface="Arial" pitchFamily="34" charset="0"/>
              </a:rPr>
              <a:t>Also lenders always prefer lending to the government before lending to private borrowers because of the ‘safety’ factor of the government borrowing.</a:t>
            </a:r>
          </a:p>
          <a:p>
            <a:pPr marL="465138" indent="-465138">
              <a:buFont typeface="Wingdings" pitchFamily="2" charset="2"/>
              <a:buChar char="q"/>
              <a:tabLst>
                <a:tab pos="465138" algn="l"/>
              </a:tabLst>
            </a:pPr>
            <a:endParaRPr lang="en-US" sz="1200" b="1" dirty="0">
              <a:latin typeface="Arial" pitchFamily="34" charset="0"/>
              <a:cs typeface="Arial" pitchFamily="34" charset="0"/>
            </a:endParaRPr>
          </a:p>
          <a:p>
            <a:pPr marL="465138" indent="-465138">
              <a:buFont typeface="Wingdings" pitchFamily="2" charset="2"/>
              <a:buChar char="q"/>
              <a:tabLst>
                <a:tab pos="465138" algn="l"/>
              </a:tabLst>
            </a:pPr>
            <a:r>
              <a:rPr lang="en-US" sz="1600" b="1" dirty="0">
                <a:latin typeface="Arial" pitchFamily="34" charset="0"/>
                <a:cs typeface="Arial" pitchFamily="34" charset="0"/>
              </a:rPr>
              <a:t>Thus private borrowers are left in the lurch while the government merrily borrows money.</a:t>
            </a:r>
          </a:p>
          <a:p>
            <a:pPr marL="465138" indent="-465138">
              <a:buFont typeface="Wingdings" pitchFamily="2" charset="2"/>
              <a:buChar char="q"/>
              <a:tabLst>
                <a:tab pos="465138" algn="l"/>
              </a:tabLst>
            </a:pPr>
            <a:endParaRPr lang="en-US" sz="1200" b="1" dirty="0">
              <a:latin typeface="Arial" pitchFamily="34" charset="0"/>
              <a:cs typeface="Arial" pitchFamily="34" charset="0"/>
            </a:endParaRPr>
          </a:p>
          <a:p>
            <a:pPr marL="465138" indent="-465138">
              <a:buFont typeface="Wingdings" pitchFamily="2" charset="2"/>
              <a:buChar char="q"/>
              <a:tabLst>
                <a:tab pos="465138" algn="l"/>
              </a:tabLst>
            </a:pPr>
            <a:r>
              <a:rPr lang="en-US" sz="1600" b="1" dirty="0">
                <a:latin typeface="Arial" pitchFamily="34" charset="0"/>
                <a:cs typeface="Arial" pitchFamily="34" charset="0"/>
              </a:rPr>
              <a:t>This fall in fixed investment by businesses can hurt long-term economic growth of the supply side, i.e., the growth of potential output.</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val="36188725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980728"/>
            <a:ext cx="7416824" cy="369332"/>
          </a:xfrm>
          <a:prstGeom prst="rect">
            <a:avLst/>
          </a:prstGeom>
        </p:spPr>
        <p:txBody>
          <a:bodyPr wrap="square">
            <a:spAutoFit/>
          </a:bodyPr>
          <a:lstStyle/>
          <a:p>
            <a:pPr algn="ctr"/>
            <a:r>
              <a:rPr lang="en-US" b="1" dirty="0">
                <a:latin typeface="Arial" pitchFamily="34" charset="0"/>
                <a:cs typeface="Arial" pitchFamily="34" charset="0"/>
              </a:rPr>
              <a:t>Now…</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CROWDING OUT</a:t>
            </a:r>
            <a:endParaRPr lang="en-US" sz="2000" b="1" dirty="0">
              <a:solidFill>
                <a:schemeClr val="bg1"/>
              </a:solidFill>
              <a:latin typeface="Arial" pitchFamily="34" charset="0"/>
              <a:cs typeface="Arial" pitchFamily="34" charset="0"/>
            </a:endParaRPr>
          </a:p>
        </p:txBody>
      </p:sp>
      <p:sp>
        <p:nvSpPr>
          <p:cNvPr id="3" name="Rectangle 2"/>
          <p:cNvSpPr/>
          <p:nvPr/>
        </p:nvSpPr>
        <p:spPr>
          <a:xfrm>
            <a:off x="683568" y="1400981"/>
            <a:ext cx="7920880"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Crowding out can, in principle, be avoided if the deficit is financed by simply printing money, but this would fuel ‘inflation’.</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negative effects on long-term economic growth that occur when private investments are crowded out can be moderated if the government uses its deficit to finance productive investment in education, basic research etc.</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situation is made worse, of course, if the government wastes borrowed money.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3370407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980728"/>
            <a:ext cx="7416824"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However…</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CROWDING OUT</a:t>
            </a:r>
            <a:endParaRPr lang="en-US" sz="2000" b="1" dirty="0">
              <a:solidFill>
                <a:schemeClr val="bg1"/>
              </a:solidFill>
              <a:latin typeface="Arial" pitchFamily="34" charset="0"/>
              <a:cs typeface="Arial" pitchFamily="34" charset="0"/>
            </a:endParaRPr>
          </a:p>
        </p:txBody>
      </p:sp>
      <p:sp>
        <p:nvSpPr>
          <p:cNvPr id="3" name="Rectangle 2"/>
          <p:cNvSpPr/>
          <p:nvPr/>
        </p:nvSpPr>
        <p:spPr>
          <a:xfrm>
            <a:off x="683568" y="1400981"/>
            <a:ext cx="7272808" cy="1754326"/>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If the impact of crowding out was small, then fiscal policy would still work pretty well.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Otherwise it could have a detrimental effect on GDP growth.</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1573951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980728"/>
            <a:ext cx="7416824"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Sum Up</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CROWDING OUT</a:t>
            </a:r>
            <a:endParaRPr lang="en-US" sz="2000" b="1" dirty="0">
              <a:solidFill>
                <a:schemeClr val="bg1"/>
              </a:solidFill>
              <a:latin typeface="Arial" pitchFamily="34" charset="0"/>
              <a:cs typeface="Arial" pitchFamily="34" charset="0"/>
            </a:endParaRPr>
          </a:p>
        </p:txBody>
      </p:sp>
      <p:sp>
        <p:nvSpPr>
          <p:cNvPr id="3" name="Rectangle 2"/>
          <p:cNvSpPr/>
          <p:nvPr/>
        </p:nvSpPr>
        <p:spPr>
          <a:xfrm>
            <a:off x="683568" y="1400981"/>
            <a:ext cx="7560840"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What: Government spends using up financial and other resources that would otherwise be used by private enterprises.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Why: Governments often borrow money (by issuing bonds) to fund additional spending and expenses and to meet its fiscal deficit</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How: The government is able to crowd out private borrowers because its credit rating is so high and because it is willing to pay the interest rate demanded by the market.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5486652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953942"/>
            <a:ext cx="4104456" cy="872034"/>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now </a:t>
            </a:r>
            <a:r>
              <a:rPr lang="en-US" b="1" dirty="0" smtClean="0">
                <a:latin typeface="Arial" pitchFamily="34" charset="0"/>
                <a:cs typeface="Arial" pitchFamily="34" charset="0"/>
              </a:rPr>
              <a:t>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concept </a:t>
            </a:r>
            <a:r>
              <a:rPr lang="en-US" b="1" dirty="0" smtClean="0">
                <a:latin typeface="Arial" pitchFamily="34" charset="0"/>
                <a:cs typeface="Arial" pitchFamily="34" charset="0"/>
              </a:rPr>
              <a:t>of Crowding </a:t>
            </a:r>
            <a:r>
              <a:rPr lang="en-US" b="1" dirty="0">
                <a:latin typeface="Arial" pitchFamily="34" charset="0"/>
                <a:cs typeface="Arial" pitchFamily="34" charset="0"/>
              </a:rPr>
              <a:t>Out</a:t>
            </a:r>
            <a:endParaRPr lang="en-US" b="1" dirty="0">
              <a:latin typeface="Arial" pitchFamily="34" charset="0"/>
              <a:cs typeface="Arial" pitchFamily="34" charset="0"/>
            </a:endParaRP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CROWDING OUT</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6834514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187624" y="1916832"/>
            <a:ext cx="3744416" cy="935769"/>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Do write to me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2100</TotalTime>
  <Words>608</Words>
  <Application>Microsoft Office PowerPoint</Application>
  <PresentationFormat>On-screen Show (4:3)</PresentationFormat>
  <Paragraphs>51</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246</cp:revision>
  <dcterms:created xsi:type="dcterms:W3CDTF">2013-10-22T09:41:31Z</dcterms:created>
  <dcterms:modified xsi:type="dcterms:W3CDTF">2014-03-05T13:56:14Z</dcterms:modified>
</cp:coreProperties>
</file>