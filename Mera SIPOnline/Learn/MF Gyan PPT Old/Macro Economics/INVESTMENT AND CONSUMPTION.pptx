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358" r:id="rId3"/>
    <p:sldId id="424" r:id="rId4"/>
    <p:sldId id="416" r:id="rId5"/>
    <p:sldId id="417" r:id="rId6"/>
    <p:sldId id="418" r:id="rId7"/>
    <p:sldId id="448" r:id="rId8"/>
    <p:sldId id="449" r:id="rId9"/>
    <p:sldId id="450" r:id="rId10"/>
    <p:sldId id="451" r:id="rId11"/>
    <p:sldId id="447" r:id="rId12"/>
    <p:sldId id="287" r:id="rId13"/>
    <p:sldId id="273" r:id="rId14"/>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5CE0189F-01A5-4F4A-ADB2-6F042FA113AD}" type="datetimeFigureOut">
              <a:rPr lang="en-US" smtClean="0"/>
              <a:t>9/26/2014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8D3AE45-5C2A-4A9C-993B-249AE28C04F4}"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899592" y="2780928"/>
            <a:ext cx="4392488" cy="353943"/>
          </a:xfrm>
          <a:prstGeom prst="rect">
            <a:avLst/>
          </a:prstGeom>
          <a:noFill/>
        </p:spPr>
        <p:txBody>
          <a:bodyPr wrap="square" rtlCol="0">
            <a:spAutoFit/>
          </a:bodyPr>
          <a:lstStyle/>
          <a:p>
            <a:pPr algn="ctr"/>
            <a:r>
              <a:rPr lang="en-US" sz="1700" b="1" dirty="0" smtClean="0">
                <a:solidFill>
                  <a:schemeClr val="bg1"/>
                </a:solidFill>
                <a:latin typeface="Arial" pitchFamily="34" charset="0"/>
                <a:cs typeface="Arial" pitchFamily="34" charset="0"/>
              </a:rPr>
              <a:t>INVESTMENT AND CONSUMPTION</a:t>
            </a:r>
            <a:endParaRPr lang="en-US" sz="17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29930" y="2000240"/>
            <a:ext cx="3456384" cy="923330"/>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Difference between</a:t>
            </a:r>
            <a:br>
              <a:rPr lang="en-US" b="1" dirty="0" smtClean="0">
                <a:latin typeface="Arial" pitchFamily="34" charset="0"/>
                <a:cs typeface="Arial" pitchFamily="34" charset="0"/>
              </a:rPr>
            </a:br>
            <a:r>
              <a:rPr lang="en-US" b="1" dirty="0" smtClean="0">
                <a:latin typeface="Arial" pitchFamily="34" charset="0"/>
                <a:cs typeface="Arial" pitchFamily="34" charset="0"/>
              </a:rPr>
              <a:t>investment and consumption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52115" y="3239532"/>
            <a:ext cx="3748975" cy="3046988"/>
          </a:xfrm>
          <a:prstGeom prst="rect">
            <a:avLst/>
          </a:prstGeom>
        </p:spPr>
        <p:txBody>
          <a:bodyPr wrap="square">
            <a:spAutoFit/>
          </a:bodyPr>
          <a:lstStyle/>
          <a:p>
            <a:pPr>
              <a:lnSpc>
                <a:spcPct val="150000"/>
              </a:lnSpc>
            </a:pPr>
            <a:r>
              <a:rPr lang="en-US" sz="1600" b="1" dirty="0" smtClean="0">
                <a:latin typeface="Arial" pitchFamily="34" charset="0"/>
                <a:cs typeface="Arial" pitchFamily="34" charset="0"/>
              </a:rPr>
              <a:t>Let’s say you have Rs 1 </a:t>
            </a:r>
            <a:r>
              <a:rPr lang="en-US" sz="1600" b="1" dirty="0" err="1" smtClean="0">
                <a:latin typeface="Arial" pitchFamily="34" charset="0"/>
                <a:cs typeface="Arial" pitchFamily="34" charset="0"/>
              </a:rPr>
              <a:t>lac</a:t>
            </a:r>
            <a:r>
              <a:rPr lang="en-US" sz="1600" b="1" dirty="0" smtClean="0">
                <a:latin typeface="Arial" pitchFamily="34" charset="0"/>
                <a:cs typeface="Arial" pitchFamily="34" charset="0"/>
              </a:rPr>
              <a:t> with you.</a:t>
            </a:r>
          </a:p>
          <a:p>
            <a:pPr>
              <a:lnSpc>
                <a:spcPct val="150000"/>
              </a:lnSpc>
            </a:pPr>
            <a:r>
              <a:rPr lang="en-US" sz="1600" b="1" dirty="0" smtClean="0">
                <a:latin typeface="Arial" pitchFamily="34" charset="0"/>
                <a:cs typeface="Arial" pitchFamily="34" charset="0"/>
              </a:rPr>
              <a:t>With the Rs 1 </a:t>
            </a:r>
            <a:r>
              <a:rPr lang="en-US" sz="1600" b="1" dirty="0" err="1" smtClean="0">
                <a:latin typeface="Arial" pitchFamily="34" charset="0"/>
                <a:cs typeface="Arial" pitchFamily="34" charset="0"/>
              </a:rPr>
              <a:t>lac</a:t>
            </a:r>
            <a:r>
              <a:rPr lang="en-US" sz="1600" b="1" dirty="0" smtClean="0">
                <a:latin typeface="Arial" pitchFamily="34" charset="0"/>
                <a:cs typeface="Arial" pitchFamily="34" charset="0"/>
              </a:rPr>
              <a:t> you start a business. The business earns</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Rs 20,000 per year. Clearly you’ve added to the value of Rs. 1 </a:t>
            </a:r>
            <a:r>
              <a:rPr lang="en-US" sz="1600" b="1" dirty="0" err="1" smtClean="0">
                <a:latin typeface="Arial" pitchFamily="34" charset="0"/>
                <a:cs typeface="Arial" pitchFamily="34" charset="0"/>
              </a:rPr>
              <a:t>lac</a:t>
            </a:r>
            <a:r>
              <a:rPr lang="en-US" sz="1600" b="1" dirty="0" smtClean="0">
                <a:latin typeface="Arial" pitchFamily="34" charset="0"/>
                <a:cs typeface="Arial" pitchFamily="34" charset="0"/>
              </a:rPr>
              <a:t/>
            </a:r>
            <a:br>
              <a:rPr lang="en-US" sz="1600" b="1" dirty="0" smtClean="0">
                <a:latin typeface="Arial" pitchFamily="34" charset="0"/>
                <a:cs typeface="Arial" pitchFamily="34" charset="0"/>
              </a:rPr>
            </a:br>
            <a:r>
              <a:rPr lang="en-US" sz="1600" b="1" dirty="0" smtClean="0">
                <a:latin typeface="Arial" pitchFamily="34" charset="0"/>
                <a:cs typeface="Arial" pitchFamily="34" charset="0"/>
              </a:rPr>
              <a:t>By Rs 20,000 This is known as investment because you increase the value of the money</a:t>
            </a:r>
            <a:endParaRPr lang="en-US" sz="1600" b="1" dirty="0">
              <a:latin typeface="Arial" pitchFamily="34" charset="0"/>
              <a:cs typeface="Arial" pitchFamily="34" charset="0"/>
            </a:endParaRP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47263329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5" name="Rectangle 4"/>
          <p:cNvSpPr/>
          <p:nvPr/>
        </p:nvSpPr>
        <p:spPr>
          <a:xfrm>
            <a:off x="689064" y="1124744"/>
            <a:ext cx="7627352" cy="212686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Let’s say you buy a car with the Rs 1 </a:t>
            </a:r>
            <a:r>
              <a:rPr lang="en-US" b="1" dirty="0" err="1" smtClean="0">
                <a:latin typeface="Arial" pitchFamily="34" charset="0"/>
                <a:cs typeface="Arial" pitchFamily="34" charset="0"/>
              </a:rPr>
              <a:t>lac</a:t>
            </a: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If you didn’t have a car of your own earlier, this car brings comfort and enhances your efficiency. The car takes you to your office in more comfort. You’re able to work more and work better. Your social status increases and your boss is pleased by your performance.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31167331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6" name="Rectangle 5"/>
          <p:cNvSpPr/>
          <p:nvPr/>
        </p:nvSpPr>
        <p:spPr>
          <a:xfrm>
            <a:off x="722096" y="980728"/>
            <a:ext cx="7136052"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 gives you both a promotion and a raise. If you were earning  Rs 50,000 per month earlier, your new raise has let’s say taken it to Rs 75,000 per month You’ve thus increased your wealth by 50% per month. This “car” purchased too can be considered an “investment “ because it helps to increase your </a:t>
            </a:r>
            <a:r>
              <a:rPr lang="en-US" b="1" dirty="0" smtClean="0">
                <a:latin typeface="Arial" pitchFamily="34" charset="0"/>
                <a:cs typeface="Arial" pitchFamily="34" charset="0"/>
              </a:rPr>
              <a:t>wealth.</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60982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42028"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Now let’s say you spend Rs 20,000 on the car by changing its </a:t>
            </a:r>
            <a:r>
              <a:rPr lang="en-US" b="1" dirty="0" smtClean="0">
                <a:latin typeface="Arial" pitchFamily="34" charset="0"/>
                <a:cs typeface="Arial" pitchFamily="34" charset="0"/>
              </a:rPr>
              <a:t>upholstery. </a:t>
            </a:r>
            <a:r>
              <a:rPr lang="en-US" b="1" dirty="0" smtClean="0">
                <a:latin typeface="Arial" pitchFamily="34" charset="0"/>
                <a:cs typeface="Arial" pitchFamily="34" charset="0"/>
              </a:rPr>
              <a:t>Clearly this spending is “consumption” because the changed upholstery would hardly have an impact on increasing your overall wealth.</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1920528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242028" cy="1338828"/>
          </a:xfrm>
          <a:prstGeom prst="rect">
            <a:avLst/>
          </a:prstGeom>
        </p:spPr>
        <p:txBody>
          <a:bodyPr wrap="square">
            <a:spAutoFit/>
          </a:bodyPr>
          <a:lstStyle/>
          <a:p>
            <a:pPr>
              <a:lnSpc>
                <a:spcPct val="150000"/>
              </a:lnSpc>
            </a:pPr>
            <a:r>
              <a:rPr lang="en-US" b="1" dirty="0" smtClean="0">
                <a:latin typeface="Arial" pitchFamily="34" charset="0"/>
                <a:cs typeface="Arial" pitchFamily="34" charset="0"/>
              </a:rPr>
              <a:t>So the spending that increases your overall “wealth” is an “investment “while the spending that does not increase </a:t>
            </a:r>
            <a:r>
              <a:rPr lang="en-US" b="1" dirty="0" smtClean="0">
                <a:latin typeface="Arial" pitchFamily="34" charset="0"/>
                <a:cs typeface="Arial" pitchFamily="34" charset="0"/>
              </a:rPr>
              <a:t>your </a:t>
            </a:r>
            <a:r>
              <a:rPr lang="en-US" b="1" dirty="0" smtClean="0">
                <a:latin typeface="Arial" pitchFamily="34" charset="0"/>
                <a:cs typeface="Arial" pitchFamily="34" charset="0"/>
              </a:rPr>
              <a:t>“overall” wealth is “consumption.”</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7071699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386044" cy="211852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Investment and consumption are also two sides of a coin. If you were to buy shares of the company making upholstery which you bought, it would be investment while purchase of the upholstery was “consumption”</a:t>
            </a:r>
          </a:p>
          <a:p>
            <a:pPr>
              <a:lnSpc>
                <a:spcPct val="150000"/>
              </a:lnSpc>
            </a:pPr>
            <a:r>
              <a:rPr lang="en-US" b="1" dirty="0" smtClean="0">
                <a:latin typeface="Arial" pitchFamily="34" charset="0"/>
                <a:cs typeface="Arial" pitchFamily="34" charset="0"/>
              </a:rPr>
              <a:t>So how are you impacted if the price of the upholstery goes up?</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9140819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386044" cy="1754326"/>
          </a:xfrm>
          <a:prstGeom prst="rect">
            <a:avLst/>
          </a:prstGeom>
        </p:spPr>
        <p:txBody>
          <a:bodyPr wrap="square">
            <a:spAutoFit/>
          </a:bodyPr>
          <a:lstStyle/>
          <a:p>
            <a:pPr>
              <a:lnSpc>
                <a:spcPct val="150000"/>
              </a:lnSpc>
            </a:pPr>
            <a:r>
              <a:rPr lang="en-US" b="1" dirty="0" smtClean="0">
                <a:latin typeface="Arial" pitchFamily="34" charset="0"/>
                <a:cs typeface="Arial" pitchFamily="34" charset="0"/>
              </a:rPr>
              <a:t>If the price of the “upholstery” goes up, you’ll certainly feel the pinch as a </a:t>
            </a:r>
            <a:r>
              <a:rPr lang="en-US" b="1" dirty="0" smtClean="0">
                <a:latin typeface="Arial" pitchFamily="34" charset="0"/>
                <a:cs typeface="Arial" pitchFamily="34" charset="0"/>
              </a:rPr>
              <a:t>consumer. </a:t>
            </a:r>
            <a:r>
              <a:rPr lang="en-US" b="1" dirty="0" smtClean="0">
                <a:latin typeface="Arial" pitchFamily="34" charset="0"/>
                <a:cs typeface="Arial" pitchFamily="34" charset="0"/>
              </a:rPr>
              <a:t>However as an investor you may laugh all the way to the bank if the share prices go up on account of high demand of upholsteries. </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23954094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
        <p:nvSpPr>
          <p:cNvPr id="7" name="Rectangle 6"/>
          <p:cNvSpPr/>
          <p:nvPr/>
        </p:nvSpPr>
        <p:spPr>
          <a:xfrm>
            <a:off x="714348" y="1124744"/>
            <a:ext cx="7386044" cy="3000821"/>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Hence, </a:t>
            </a:r>
            <a:r>
              <a:rPr lang="en-US" b="1" dirty="0" smtClean="0">
                <a:latin typeface="Arial" pitchFamily="34" charset="0"/>
                <a:cs typeface="Arial" pitchFamily="34" charset="0"/>
              </a:rPr>
              <a:t>clearly it is important that there is both consumption and investment in an economy for the economy to grow in a balanced manner.</a:t>
            </a:r>
          </a:p>
          <a:p>
            <a:pPr>
              <a:lnSpc>
                <a:spcPct val="150000"/>
              </a:lnSpc>
            </a:pPr>
            <a:r>
              <a:rPr lang="en-US" b="1" dirty="0" smtClean="0">
                <a:latin typeface="Arial" pitchFamily="34" charset="0"/>
                <a:cs typeface="Arial" pitchFamily="34" charset="0"/>
              </a:rPr>
              <a:t>On the other hand even you as an individual need to partake both in consumption and investment to enjoy a balanced life which gives you returns while at the same time allowing you to enjoy some luxuries </a:t>
            </a:r>
            <a:r>
              <a:rPr lang="en-US" b="1" smtClean="0">
                <a:latin typeface="Arial" pitchFamily="34" charset="0"/>
                <a:cs typeface="Arial" pitchFamily="34" charset="0"/>
              </a:rPr>
              <a:t>of </a:t>
            </a:r>
            <a:r>
              <a:rPr lang="en-US" b="1" smtClean="0">
                <a:latin typeface="Arial" pitchFamily="34" charset="0"/>
                <a:cs typeface="Arial" pitchFamily="34" charset="0"/>
              </a:rPr>
              <a:t>life.</a:t>
            </a:r>
            <a:endParaRPr lang="en-US" b="1" dirty="0">
              <a:latin typeface="Arial" pitchFamily="34" charset="0"/>
              <a:cs typeface="Arial" pitchFamily="34" charset="0"/>
            </a:endParaRPr>
          </a:p>
        </p:txBody>
      </p:sp>
    </p:spTree>
    <p:extLst>
      <p:ext uri="{BB962C8B-B14F-4D97-AF65-F5344CB8AC3E}">
        <p14:creationId xmlns="" xmlns:p14="http://schemas.microsoft.com/office/powerpoint/2010/main" val="42686417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4397" y="4906085"/>
            <a:ext cx="4320480" cy="880369"/>
          </a:xfrm>
          <a:prstGeom prst="rect">
            <a:avLst/>
          </a:prstGeom>
        </p:spPr>
        <p:txBody>
          <a:bodyPr wrap="square">
            <a:spAutoFit/>
          </a:bodyPr>
          <a:lstStyle/>
          <a:p>
            <a:pPr>
              <a:lnSpc>
                <a:spcPct val="150000"/>
              </a:lnSpc>
            </a:pPr>
            <a:r>
              <a:rPr lang="en-US" b="1" dirty="0" smtClean="0">
                <a:latin typeface="Arial" pitchFamily="34" charset="0"/>
                <a:cs typeface="Arial" pitchFamily="34" charset="0"/>
              </a:rPr>
              <a:t>Hope this story has further clarifies “investment and consumption”</a:t>
            </a:r>
          </a:p>
        </p:txBody>
      </p:sp>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INVESTMENT AND CONSUMPTION</a:t>
            </a:r>
            <a:endParaRPr lang="en-US" sz="2000" b="1" dirty="0">
              <a:solidFill>
                <a:schemeClr val="bg1"/>
              </a:solidFill>
              <a:latin typeface="Arial" pitchFamily="34" charset="0"/>
              <a:cs typeface="Arial" pitchFamily="34" charset="0"/>
            </a:endParaRPr>
          </a:p>
        </p:txBody>
      </p:sp>
    </p:spTree>
    <p:extLst>
      <p:ext uri="{BB962C8B-B14F-4D97-AF65-F5344CB8AC3E}">
        <p14:creationId xmlns="" xmlns:p14="http://schemas.microsoft.com/office/powerpoint/2010/main" val="19746173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1043608" y="2204864"/>
            <a:ext cx="4032448" cy="701731"/>
          </a:xfrm>
          <a:prstGeom prst="rect">
            <a:avLst/>
          </a:prstGeom>
        </p:spPr>
        <p:txBody>
          <a:bodyPr wrap="square">
            <a:spAutoFit/>
          </a:bodyPr>
          <a:lstStyle/>
          <a:p>
            <a:pPr marL="342900" indent="-342900" algn="ctr">
              <a:spcBef>
                <a:spcPct val="20000"/>
              </a:spcBef>
            </a:pPr>
            <a:r>
              <a:rPr lang="en-US" b="1" dirty="0">
                <a:latin typeface="Arial" pitchFamily="34" charset="0"/>
                <a:cs typeface="Arial" pitchFamily="34" charset="0"/>
              </a:rPr>
              <a:t>Please give us your feedback at </a:t>
            </a:r>
          </a:p>
          <a:p>
            <a:pPr marL="342900" indent="-342900" algn="ctr">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3039</TotalTime>
  <Words>614</Words>
  <Application>Microsoft Office PowerPoint</Application>
  <PresentationFormat>On-screen Show (4:3)</PresentationFormat>
  <Paragraphs>30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400</cp:revision>
  <dcterms:created xsi:type="dcterms:W3CDTF">2013-10-22T09:41:31Z</dcterms:created>
  <dcterms:modified xsi:type="dcterms:W3CDTF">2014-09-26T12:21:50Z</dcterms:modified>
</cp:coreProperties>
</file>