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58" r:id="rId3"/>
    <p:sldId id="353" r:id="rId4"/>
    <p:sldId id="318" r:id="rId5"/>
    <p:sldId id="394" r:id="rId6"/>
    <p:sldId id="395" r:id="rId7"/>
    <p:sldId id="396" r:id="rId8"/>
    <p:sldId id="397" r:id="rId9"/>
    <p:sldId id="398" r:id="rId10"/>
    <p:sldId id="399" r:id="rId11"/>
    <p:sldId id="400" r:id="rId12"/>
    <p:sldId id="401" r:id="rId13"/>
    <p:sldId id="402" r:id="rId14"/>
    <p:sldId id="403" r:id="rId15"/>
    <p:sldId id="404" r:id="rId16"/>
    <p:sldId id="405" r:id="rId17"/>
    <p:sldId id="407" r:id="rId18"/>
    <p:sldId id="408" r:id="rId19"/>
    <p:sldId id="409" r:id="rId20"/>
    <p:sldId id="385" r:id="rId21"/>
    <p:sldId id="287" r:id="rId22"/>
    <p:sldId id="27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FALL OF THE INDIAN RUPEE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03648" y="2132856"/>
            <a:ext cx="3312368" cy="923330"/>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Understanding the fall in the </a:t>
            </a:r>
            <a:br>
              <a:rPr lang="en-US" b="1" dirty="0">
                <a:latin typeface="Arial" pitchFamily="34" charset="0"/>
                <a:cs typeface="Arial" pitchFamily="34" charset="0"/>
              </a:rPr>
            </a:br>
            <a:r>
              <a:rPr lang="en-US" b="1" dirty="0">
                <a:latin typeface="Arial" pitchFamily="34" charset="0"/>
                <a:cs typeface="Arial" pitchFamily="34" charset="0"/>
              </a:rPr>
              <a:t>value of the Indian Rupee</a:t>
            </a: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86648" y="4482986"/>
            <a:ext cx="430177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Everyone is asking that if Euro-zone is the cause of economic problems then why </a:t>
            </a:r>
            <a:r>
              <a:rPr lang="en-US" b="1" dirty="0" smtClean="0">
                <a:latin typeface="Arial" pitchFamily="34" charset="0"/>
                <a:cs typeface="Arial" pitchFamily="34" charset="0"/>
              </a:rPr>
              <a:t>is Indian </a:t>
            </a:r>
            <a:r>
              <a:rPr lang="en-US" b="1" dirty="0">
                <a:latin typeface="Arial" pitchFamily="34" charset="0"/>
                <a:cs typeface="Arial" pitchFamily="34" charset="0"/>
              </a:rPr>
              <a:t>Rupee rapidly losing value?</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Tree>
    <p:extLst>
      <p:ext uri="{BB962C8B-B14F-4D97-AF65-F5344CB8AC3E}">
        <p14:creationId xmlns=""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124744"/>
            <a:ext cx="7386044" cy="1295868"/>
          </a:xfrm>
          <a:prstGeom prst="rect">
            <a:avLst/>
          </a:prstGeom>
        </p:spPr>
        <p:txBody>
          <a:bodyPr wrap="square">
            <a:spAutoFit/>
          </a:bodyPr>
          <a:lstStyle/>
          <a:p>
            <a:pPr>
              <a:lnSpc>
                <a:spcPct val="150000"/>
              </a:lnSpc>
            </a:pPr>
            <a:r>
              <a:rPr lang="en-US" b="1" dirty="0">
                <a:latin typeface="Arial" pitchFamily="34" charset="0"/>
                <a:cs typeface="Arial" pitchFamily="34" charset="0"/>
              </a:rPr>
              <a:t>Our “Current Account Deficit” is the main reason for this. In other words we have been spending more than we have been earning and that is causing stress to our economy and also the currency</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124744"/>
            <a:ext cx="7386044" cy="1703030"/>
          </a:xfrm>
          <a:prstGeom prst="rect">
            <a:avLst/>
          </a:prstGeom>
        </p:spPr>
        <p:txBody>
          <a:bodyPr wrap="square">
            <a:spAutoFit/>
          </a:bodyPr>
          <a:lstStyle/>
          <a:p>
            <a:pPr>
              <a:lnSpc>
                <a:spcPct val="150000"/>
              </a:lnSpc>
            </a:pPr>
            <a:r>
              <a:rPr lang="en-US" b="1" dirty="0">
                <a:latin typeface="Arial" pitchFamily="34" charset="0"/>
                <a:cs typeface="Arial" pitchFamily="34" charset="0"/>
              </a:rPr>
              <a:t>Current Account Deficit is the difference between our income from exports of goods &amp; services and imports. When we import and spend abroad more than we export and earn from abroad causes Current Account Deficit</a:t>
            </a:r>
          </a:p>
        </p:txBody>
      </p:sp>
    </p:spTree>
    <p:extLst>
      <p:ext uri="{BB962C8B-B14F-4D97-AF65-F5344CB8AC3E}">
        <p14:creationId xmlns="" xmlns:p14="http://schemas.microsoft.com/office/powerpoint/2010/main" val="2579785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124744"/>
            <a:ext cx="7386044" cy="1703030"/>
          </a:xfrm>
          <a:prstGeom prst="rect">
            <a:avLst/>
          </a:prstGeom>
        </p:spPr>
        <p:txBody>
          <a:bodyPr wrap="square">
            <a:spAutoFit/>
          </a:bodyPr>
          <a:lstStyle/>
          <a:p>
            <a:pPr>
              <a:lnSpc>
                <a:spcPct val="150000"/>
              </a:lnSpc>
            </a:pPr>
            <a:r>
              <a:rPr lang="en-US" b="1" dirty="0">
                <a:latin typeface="Arial" pitchFamily="34" charset="0"/>
                <a:cs typeface="Arial" pitchFamily="34" charset="0"/>
              </a:rPr>
              <a:t>The Value of any currency is a function of its demand </a:t>
            </a:r>
            <a:r>
              <a:rPr lang="en-US" b="1" dirty="0" smtClean="0">
                <a:latin typeface="Arial" pitchFamily="34" charset="0"/>
                <a:cs typeface="Arial" pitchFamily="34" charset="0"/>
              </a:rPr>
              <a:t>and</a:t>
            </a:r>
            <a:br>
              <a:rPr lang="en-US" b="1" dirty="0" smtClean="0">
                <a:latin typeface="Arial" pitchFamily="34" charset="0"/>
                <a:cs typeface="Arial" pitchFamily="34" charset="0"/>
              </a:rPr>
            </a:br>
            <a:r>
              <a:rPr lang="en-US" b="1" dirty="0" smtClean="0">
                <a:latin typeface="Arial" pitchFamily="34" charset="0"/>
                <a:cs typeface="Arial" pitchFamily="34" charset="0"/>
              </a:rPr>
              <a:t>supply </a:t>
            </a:r>
            <a:r>
              <a:rPr lang="en-US" b="1" dirty="0">
                <a:latin typeface="Arial" pitchFamily="34" charset="0"/>
                <a:cs typeface="Arial" pitchFamily="34" charset="0"/>
              </a:rPr>
              <a:t>i.e. if people demand more Rupees then Rupee appreciates in value while if there is more demand for US dollars then Rupee depreciates vis-à-vis dollar (i.e. Dollar appreciates)</a:t>
            </a:r>
          </a:p>
        </p:txBody>
      </p:sp>
    </p:spTree>
    <p:extLst>
      <p:ext uri="{BB962C8B-B14F-4D97-AF65-F5344CB8AC3E}">
        <p14:creationId xmlns="" xmlns:p14="http://schemas.microsoft.com/office/powerpoint/2010/main" val="41162435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124744"/>
            <a:ext cx="7602068" cy="3831818"/>
          </a:xfrm>
          <a:prstGeom prst="rect">
            <a:avLst/>
          </a:prstGeom>
        </p:spPr>
        <p:txBody>
          <a:bodyPr wrap="square">
            <a:spAutoFit/>
          </a:bodyPr>
          <a:lstStyle/>
          <a:p>
            <a:pPr>
              <a:lnSpc>
                <a:spcPct val="150000"/>
              </a:lnSpc>
            </a:pPr>
            <a:r>
              <a:rPr lang="en-US" b="1" dirty="0">
                <a:latin typeface="Arial" pitchFamily="34" charset="0"/>
                <a:cs typeface="Arial" pitchFamily="34" charset="0"/>
              </a:rPr>
              <a:t>Let’s understand the background.</a:t>
            </a:r>
            <a:br>
              <a:rPr lang="en-US" b="1" dirty="0">
                <a:latin typeface="Arial" pitchFamily="34" charset="0"/>
                <a:cs typeface="Arial" pitchFamily="34" charset="0"/>
              </a:rPr>
            </a:br>
            <a:r>
              <a:rPr lang="en-US" b="1" dirty="0">
                <a:latin typeface="Arial" pitchFamily="34" charset="0"/>
                <a:cs typeface="Arial" pitchFamily="34" charset="0"/>
              </a:rPr>
              <a:t>In the wake of the financial crisis the government </a:t>
            </a:r>
            <a:r>
              <a:rPr lang="en-US" b="1" dirty="0" smtClean="0">
                <a:latin typeface="Arial" pitchFamily="34" charset="0"/>
                <a:cs typeface="Arial" pitchFamily="34" charset="0"/>
              </a:rPr>
              <a:t>in order </a:t>
            </a:r>
            <a:r>
              <a:rPr lang="en-US" b="1" dirty="0">
                <a:latin typeface="Arial" pitchFamily="34" charset="0"/>
                <a:cs typeface="Arial" pitchFamily="34" charset="0"/>
              </a:rPr>
              <a:t>to stimulate the economy enhanced its spends and </a:t>
            </a:r>
            <a:r>
              <a:rPr lang="en-US" b="1" dirty="0" smtClean="0">
                <a:latin typeface="Arial" pitchFamily="34" charset="0"/>
                <a:cs typeface="Arial" pitchFamily="34" charset="0"/>
              </a:rPr>
              <a:t>reduced</a:t>
            </a:r>
            <a:br>
              <a:rPr lang="en-US" b="1" dirty="0" smtClean="0">
                <a:latin typeface="Arial" pitchFamily="34" charset="0"/>
                <a:cs typeface="Arial" pitchFamily="34" charset="0"/>
              </a:rPr>
            </a:br>
            <a:r>
              <a:rPr lang="en-US" b="1" dirty="0" smtClean="0">
                <a:latin typeface="Arial" pitchFamily="34" charset="0"/>
                <a:cs typeface="Arial" pitchFamily="34" charset="0"/>
              </a:rPr>
              <a:t>interest </a:t>
            </a:r>
            <a:r>
              <a:rPr lang="en-US" b="1" dirty="0">
                <a:latin typeface="Arial" pitchFamily="34" charset="0"/>
                <a:cs typeface="Arial" pitchFamily="34" charset="0"/>
              </a:rPr>
              <a:t>rates. </a:t>
            </a:r>
            <a:br>
              <a:rPr lang="en-US" b="1" dirty="0">
                <a:latin typeface="Arial" pitchFamily="34" charset="0"/>
                <a:cs typeface="Arial" pitchFamily="34" charset="0"/>
              </a:rPr>
            </a:b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added liquidity into the economy.</a:t>
            </a:r>
          </a:p>
          <a:p>
            <a:pPr>
              <a:lnSpc>
                <a:spcPct val="150000"/>
              </a:lnSpc>
            </a:pPr>
            <a:r>
              <a:rPr lang="en-US" b="1" dirty="0">
                <a:latin typeface="Arial" pitchFamily="34" charset="0"/>
                <a:cs typeface="Arial" pitchFamily="34" charset="0"/>
              </a:rPr>
              <a:t>Had the additional liquidity got sufficiently deployed in investments such as infrastructure projects and other capital intensive projects, it would have resulted in genuine capital formation </a:t>
            </a:r>
          </a:p>
        </p:txBody>
      </p:sp>
    </p:spTree>
    <p:extLst>
      <p:ext uri="{BB962C8B-B14F-4D97-AF65-F5344CB8AC3E}">
        <p14:creationId xmlns="" xmlns:p14="http://schemas.microsoft.com/office/powerpoint/2010/main" val="33103417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602068" cy="4247317"/>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However, </a:t>
            </a:r>
            <a:r>
              <a:rPr lang="en-US" b="1" dirty="0">
                <a:latin typeface="Arial" pitchFamily="34" charset="0"/>
                <a:cs typeface="Arial" pitchFamily="34" charset="0"/>
              </a:rPr>
              <a:t>the investments that took place was not </a:t>
            </a:r>
            <a:r>
              <a:rPr lang="en-US" b="1" dirty="0" smtClean="0">
                <a:latin typeface="Arial" pitchFamily="34" charset="0"/>
                <a:cs typeface="Arial" pitchFamily="34" charset="0"/>
              </a:rPr>
              <a:t>sufficient.</a:t>
            </a:r>
            <a:br>
              <a:rPr lang="en-US" b="1" dirty="0" smtClean="0">
                <a:latin typeface="Arial" pitchFamily="34" charset="0"/>
                <a:cs typeface="Arial" pitchFamily="34" charset="0"/>
              </a:rPr>
            </a:br>
            <a:r>
              <a:rPr lang="en-US" b="1" dirty="0" smtClean="0">
                <a:latin typeface="Arial" pitchFamily="34" charset="0"/>
                <a:cs typeface="Arial" pitchFamily="34" charset="0"/>
              </a:rPr>
              <a:t>Instead </a:t>
            </a:r>
            <a:r>
              <a:rPr lang="en-US" b="1" dirty="0">
                <a:latin typeface="Arial" pitchFamily="34" charset="0"/>
                <a:cs typeface="Arial" pitchFamily="34" charset="0"/>
              </a:rPr>
              <a:t>the additional liquidity or money moved into the hands of consumers leading to consumption demand. Consumer good companies benefited from this</a:t>
            </a:r>
            <a:r>
              <a:rPr lang="en-US" b="1" dirty="0" smtClean="0">
                <a:latin typeface="Arial" pitchFamily="34" charset="0"/>
                <a:cs typeface="Arial" pitchFamily="34" charset="0"/>
              </a:rPr>
              <a:t>.</a:t>
            </a:r>
          </a:p>
          <a:p>
            <a:pPr>
              <a:lnSpc>
                <a:spcPct val="150000"/>
              </a:lnSpc>
            </a:pP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But this also meant that for the same amount of goods the amount of money increased</a:t>
            </a:r>
            <a:r>
              <a:rPr lang="en-US" b="1" dirty="0" smtClean="0">
                <a:latin typeface="Arial" pitchFamily="34" charset="0"/>
                <a:cs typeface="Arial" pitchFamily="34" charset="0"/>
              </a:rPr>
              <a:t>.</a:t>
            </a:r>
          </a:p>
          <a:p>
            <a:pPr>
              <a:lnSpc>
                <a:spcPct val="150000"/>
              </a:lnSpc>
            </a:pPr>
            <a:r>
              <a:rPr lang="en-US" b="1" dirty="0">
                <a:latin typeface="Arial" pitchFamily="34" charset="0"/>
                <a:cs typeface="Arial" pitchFamily="34" charset="0"/>
              </a:rPr>
              <a:t/>
            </a:r>
            <a:br>
              <a:rPr lang="en-US" b="1" dirty="0">
                <a:latin typeface="Arial" pitchFamily="34" charset="0"/>
                <a:cs typeface="Arial" pitchFamily="34" charset="0"/>
              </a:rPr>
            </a:br>
            <a:r>
              <a:rPr lang="en-US" b="1" dirty="0">
                <a:latin typeface="Arial" pitchFamily="34" charset="0"/>
                <a:cs typeface="Arial" pitchFamily="34" charset="0"/>
              </a:rPr>
              <a:t>This naturally led to inflation or in other words the value of the money reduced.</a:t>
            </a:r>
          </a:p>
        </p:txBody>
      </p:sp>
    </p:spTree>
    <p:extLst>
      <p:ext uri="{BB962C8B-B14F-4D97-AF65-F5344CB8AC3E}">
        <p14:creationId xmlns="" xmlns:p14="http://schemas.microsoft.com/office/powerpoint/2010/main" val="14789539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To understand this a little better let’s look at an analogy. Imagine there is dam which is storing a lot of water. Now imagine we add more water to the current stock of water. So in a sense we can say that the liquidity in the dam has increased</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such a case what options do the dam authorities have?</a:t>
            </a:r>
          </a:p>
        </p:txBody>
      </p:sp>
    </p:spTree>
    <p:extLst>
      <p:ext uri="{BB962C8B-B14F-4D97-AF65-F5344CB8AC3E}">
        <p14:creationId xmlns="" xmlns:p14="http://schemas.microsoft.com/office/powerpoint/2010/main" val="35701758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Ideally they should release water into the agricultural fields so that it could result in a better crop output. But for that to happen it is mandatory that the channels carry water to the fields. However if the water intended for the fields does not get there and instead is used up for domestic purposes then this adversely affects the crop output. </a:t>
            </a:r>
          </a:p>
        </p:txBody>
      </p:sp>
    </p:spTree>
    <p:extLst>
      <p:ext uri="{BB962C8B-B14F-4D97-AF65-F5344CB8AC3E}">
        <p14:creationId xmlns="" xmlns:p14="http://schemas.microsoft.com/office/powerpoint/2010/main" val="35509427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1711366"/>
          </a:xfrm>
          <a:prstGeom prst="rect">
            <a:avLst/>
          </a:prstGeom>
        </p:spPr>
        <p:txBody>
          <a:bodyPr wrap="square">
            <a:spAutoFit/>
          </a:bodyPr>
          <a:lstStyle/>
          <a:p>
            <a:pPr>
              <a:lnSpc>
                <a:spcPct val="150000"/>
              </a:lnSpc>
            </a:pPr>
            <a:r>
              <a:rPr lang="en-US" b="1" dirty="0">
                <a:latin typeface="Arial" pitchFamily="34" charset="0"/>
                <a:cs typeface="Arial" pitchFamily="34" charset="0"/>
              </a:rPr>
              <a:t>In this example the water is like the money that was released in to the economy. The channels are like the policy execution mechanisms that help to deploy capital and the crop produce is like the economic growth that takes place in the economy</a:t>
            </a:r>
          </a:p>
        </p:txBody>
      </p:sp>
    </p:spTree>
    <p:extLst>
      <p:ext uri="{BB962C8B-B14F-4D97-AF65-F5344CB8AC3E}">
        <p14:creationId xmlns="" xmlns:p14="http://schemas.microsoft.com/office/powerpoint/2010/main" val="22633901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 </a:t>
            </a:r>
            <a:r>
              <a:rPr lang="en-US" b="1" dirty="0" smtClean="0">
                <a:latin typeface="Arial" pitchFamily="34" charset="0"/>
                <a:cs typeface="Arial" pitchFamily="34" charset="0"/>
              </a:rPr>
              <a:t>Now, </a:t>
            </a:r>
            <a:r>
              <a:rPr lang="en-US" b="1" dirty="0">
                <a:latin typeface="Arial" pitchFamily="34" charset="0"/>
                <a:cs typeface="Arial" pitchFamily="34" charset="0"/>
              </a:rPr>
              <a:t>since the policies meant to support investments </a:t>
            </a:r>
            <a:r>
              <a:rPr lang="en-US" b="1" dirty="0" smtClean="0">
                <a:latin typeface="Arial" pitchFamily="34" charset="0"/>
                <a:cs typeface="Arial" pitchFamily="34" charset="0"/>
              </a:rPr>
              <a:t>did</a:t>
            </a:r>
            <a:br>
              <a:rPr lang="en-US" b="1" dirty="0" smtClean="0">
                <a:latin typeface="Arial" pitchFamily="34" charset="0"/>
                <a:cs typeface="Arial" pitchFamily="34" charset="0"/>
              </a:rPr>
            </a:br>
            <a:r>
              <a:rPr lang="en-US" b="1" dirty="0" smtClean="0">
                <a:latin typeface="Arial" pitchFamily="34" charset="0"/>
                <a:cs typeface="Arial" pitchFamily="34" charset="0"/>
              </a:rPr>
              <a:t>not </a:t>
            </a:r>
            <a:r>
              <a:rPr lang="en-US" b="1" dirty="0">
                <a:latin typeface="Arial" pitchFamily="34" charset="0"/>
                <a:cs typeface="Arial" pitchFamily="34" charset="0"/>
              </a:rPr>
              <a:t>get executed on time the stimulus capital could not get deployed as intended and hence the capital formation for the needed economic growth that was expected did not take place.</a:t>
            </a:r>
          </a:p>
        </p:txBody>
      </p:sp>
    </p:spTree>
    <p:extLst>
      <p:ext uri="{BB962C8B-B14F-4D97-AF65-F5344CB8AC3E}">
        <p14:creationId xmlns="" xmlns:p14="http://schemas.microsoft.com/office/powerpoint/2010/main" val="39490501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3693319"/>
          </a:xfrm>
          <a:prstGeom prst="rect">
            <a:avLst/>
          </a:prstGeom>
        </p:spPr>
        <p:txBody>
          <a:bodyPr wrap="square">
            <a:spAutoFit/>
          </a:bodyPr>
          <a:lstStyle/>
          <a:p>
            <a:pPr>
              <a:lnSpc>
                <a:spcPct val="150000"/>
              </a:lnSpc>
            </a:pPr>
            <a:r>
              <a:rPr lang="en-US" b="1" dirty="0">
                <a:latin typeface="Arial" pitchFamily="34" charset="0"/>
                <a:cs typeface="Arial" pitchFamily="34" charset="0"/>
              </a:rPr>
              <a:t>So as the channels taking water to the fields were blocked, the released water by dam authorities ended up being used for domestic consumption purpose by the villagers</a:t>
            </a:r>
            <a:r>
              <a:rPr lang="en-US" b="1" dirty="0" smtClean="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When there was excess water </a:t>
            </a:r>
            <a:r>
              <a:rPr lang="en-US" b="1" dirty="0" smtClean="0">
                <a:latin typeface="Arial" pitchFamily="34" charset="0"/>
                <a:cs typeface="Arial" pitchFamily="34" charset="0"/>
              </a:rPr>
              <a:t>available, </a:t>
            </a:r>
            <a:r>
              <a:rPr lang="en-US" b="1" dirty="0">
                <a:latin typeface="Arial" pitchFamily="34" charset="0"/>
                <a:cs typeface="Arial" pitchFamily="34" charset="0"/>
              </a:rPr>
              <a:t>the villagers used more water for the same work than they used earlier</a:t>
            </a:r>
            <a:r>
              <a:rPr lang="en-US" b="1" dirty="0" smtClean="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just like the currency that loses value due to inflation the excess water released into the village too lost value from the villager’s perspective</a:t>
            </a:r>
          </a:p>
        </p:txBody>
      </p:sp>
    </p:spTree>
    <p:extLst>
      <p:ext uri="{BB962C8B-B14F-4D97-AF65-F5344CB8AC3E}">
        <p14:creationId xmlns="" xmlns:p14="http://schemas.microsoft.com/office/powerpoint/2010/main" val="11995094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Thus, </a:t>
            </a:r>
            <a:r>
              <a:rPr lang="en-US" b="1" dirty="0">
                <a:latin typeface="Arial" pitchFamily="34" charset="0"/>
                <a:cs typeface="Arial" pitchFamily="34" charset="0"/>
              </a:rPr>
              <a:t>as in the case of the dam, the liquidity in our economic system increased but instead of being deployed by way of investments that would have created commensurate economic growth instead got into the system as additional consumption leading to inflation.</a:t>
            </a:r>
          </a:p>
        </p:txBody>
      </p:sp>
    </p:spTree>
    <p:extLst>
      <p:ext uri="{BB962C8B-B14F-4D97-AF65-F5344CB8AC3E}">
        <p14:creationId xmlns="" xmlns:p14="http://schemas.microsoft.com/office/powerpoint/2010/main" val="40704399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695399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As a consequence of additional money in the system without commensurate increase in country’s economic </a:t>
            </a:r>
            <a:r>
              <a:rPr lang="en-US" b="1" dirty="0" smtClean="0">
                <a:latin typeface="Arial" pitchFamily="34" charset="0"/>
                <a:cs typeface="Arial" pitchFamily="34" charset="0"/>
              </a:rPr>
              <a:t>growth,</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value of Rupee has depreciated as we pay more for the same quantity of goods and services.</a:t>
            </a:r>
          </a:p>
        </p:txBody>
      </p:sp>
    </p:spTree>
    <p:extLst>
      <p:ext uri="{BB962C8B-B14F-4D97-AF65-F5344CB8AC3E}">
        <p14:creationId xmlns="" xmlns:p14="http://schemas.microsoft.com/office/powerpoint/2010/main" val="3714531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24202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Our current account deficit has also increased in recent periods due to increase in oil prices internationally which increases our dollar payments. Increase in dollar payment leads to  increase in its demand.</a:t>
            </a:r>
          </a:p>
        </p:txBody>
      </p:sp>
    </p:spTree>
    <p:extLst>
      <p:ext uri="{BB962C8B-B14F-4D97-AF65-F5344CB8AC3E}">
        <p14:creationId xmlns="" xmlns:p14="http://schemas.microsoft.com/office/powerpoint/2010/main" val="15275802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674076" cy="4247317"/>
          </a:xfrm>
          <a:prstGeom prst="rect">
            <a:avLst/>
          </a:prstGeom>
        </p:spPr>
        <p:txBody>
          <a:bodyPr wrap="square">
            <a:spAutoFit/>
          </a:bodyPr>
          <a:lstStyle/>
          <a:p>
            <a:pPr>
              <a:lnSpc>
                <a:spcPct val="150000"/>
              </a:lnSpc>
              <a:defRPr/>
            </a:pPr>
            <a:r>
              <a:rPr lang="en-US" b="1" dirty="0">
                <a:latin typeface="Arial" pitchFamily="34" charset="0"/>
                <a:cs typeface="Arial" pitchFamily="34" charset="0"/>
              </a:rPr>
              <a:t>An example of how depreciation of Indian Rupee leads to losses to foreign investors can be given as:</a:t>
            </a:r>
          </a:p>
          <a:p>
            <a:pPr>
              <a:lnSpc>
                <a:spcPct val="150000"/>
              </a:lnSpc>
              <a:defRPr/>
            </a:pPr>
            <a:r>
              <a:rPr lang="en-US" b="1" dirty="0">
                <a:latin typeface="Arial" pitchFamily="34" charset="0"/>
                <a:cs typeface="Arial" pitchFamily="34" charset="0"/>
              </a:rPr>
              <a:t>Assume a foreign investor invests $</a:t>
            </a:r>
            <a:r>
              <a:rPr lang="en-US" b="1" dirty="0" smtClean="0">
                <a:latin typeface="Arial" pitchFamily="34" charset="0"/>
                <a:cs typeface="Arial" pitchFamily="34" charset="0"/>
              </a:rPr>
              <a:t>1million in </a:t>
            </a:r>
            <a:r>
              <a:rPr lang="en-US" b="1" dirty="0">
                <a:latin typeface="Arial" pitchFamily="34" charset="0"/>
                <a:cs typeface="Arial" pitchFamily="34" charset="0"/>
              </a:rPr>
              <a:t>Indian market as on 01</a:t>
            </a:r>
            <a:r>
              <a:rPr lang="en-US" b="1" baseline="30000" dirty="0">
                <a:latin typeface="Arial" pitchFamily="34" charset="0"/>
                <a:cs typeface="Arial" pitchFamily="34" charset="0"/>
              </a:rPr>
              <a:t>st</a:t>
            </a:r>
            <a:r>
              <a:rPr lang="en-US" b="1" dirty="0">
                <a:latin typeface="Arial" pitchFamily="34" charset="0"/>
                <a:cs typeface="Arial" pitchFamily="34" charset="0"/>
              </a:rPr>
              <a:t> Jan 2010. The rate of 1$ was Rs.45 so he invested Rs.4.5 </a:t>
            </a:r>
            <a:r>
              <a:rPr lang="en-US" b="1" dirty="0" err="1">
                <a:latin typeface="Arial" pitchFamily="34" charset="0"/>
                <a:cs typeface="Arial" pitchFamily="34" charset="0"/>
              </a:rPr>
              <a:t>crore</a:t>
            </a:r>
            <a:r>
              <a:rPr lang="en-US" b="1" dirty="0">
                <a:latin typeface="Arial" pitchFamily="34" charset="0"/>
                <a:cs typeface="Arial" pitchFamily="34" charset="0"/>
              </a:rPr>
              <a:t>. He earns a returns of 10% in the first year.</a:t>
            </a:r>
          </a:p>
          <a:p>
            <a:pPr>
              <a:lnSpc>
                <a:spcPct val="150000"/>
              </a:lnSpc>
              <a:defRPr/>
            </a:pPr>
            <a:r>
              <a:rPr lang="en-US" b="1" dirty="0">
                <a:latin typeface="Arial" pitchFamily="34" charset="0"/>
                <a:cs typeface="Arial" pitchFamily="34" charset="0"/>
              </a:rPr>
              <a:t> On 01</a:t>
            </a:r>
            <a:r>
              <a:rPr lang="en-US" b="1" baseline="30000" dirty="0">
                <a:latin typeface="Arial" pitchFamily="34" charset="0"/>
                <a:cs typeface="Arial" pitchFamily="34" charset="0"/>
              </a:rPr>
              <a:t>st</a:t>
            </a:r>
            <a:r>
              <a:rPr lang="en-US" b="1" dirty="0">
                <a:latin typeface="Arial" pitchFamily="34" charset="0"/>
                <a:cs typeface="Arial" pitchFamily="34" charset="0"/>
              </a:rPr>
              <a:t> Jan 2011, he decides to sell his investments and take back money. With 10% return his investment value was Rs.4.95crore, however, due to Rupee depreciating to Rs.50 he actually takes U.S $ 9,90,000 back which means he not only lost the returns he earned, he also lost his capital to the tune of U.S $ 10,000</a:t>
            </a:r>
          </a:p>
        </p:txBody>
      </p:sp>
    </p:spTree>
    <p:extLst>
      <p:ext uri="{BB962C8B-B14F-4D97-AF65-F5344CB8AC3E}">
        <p14:creationId xmlns="" xmlns:p14="http://schemas.microsoft.com/office/powerpoint/2010/main" val="24838263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09801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When FIIs start pulling out they sell rupees which again adds to fall in its value</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increase in current account </a:t>
            </a:r>
            <a:r>
              <a:rPr lang="en-US" b="1" dirty="0" smtClean="0">
                <a:latin typeface="Arial" pitchFamily="34" charset="0"/>
                <a:cs typeface="Arial" pitchFamily="34" charset="0"/>
              </a:rPr>
              <a:t>deficit, weakening </a:t>
            </a:r>
            <a:r>
              <a:rPr lang="en-US" b="1" dirty="0">
                <a:latin typeface="Arial" pitchFamily="34" charset="0"/>
                <a:cs typeface="Arial" pitchFamily="34" charset="0"/>
              </a:rPr>
              <a:t>risk appetite of FIIs, their pulling out investments have all lead to the fall of the Indian Rupee vis-à-vis U.S dollar.</a:t>
            </a:r>
          </a:p>
        </p:txBody>
      </p:sp>
    </p:spTree>
    <p:extLst>
      <p:ext uri="{BB962C8B-B14F-4D97-AF65-F5344CB8AC3E}">
        <p14:creationId xmlns="" xmlns:p14="http://schemas.microsoft.com/office/powerpoint/2010/main" val="41274260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
        <p:nvSpPr>
          <p:cNvPr id="3" name="Rectangle 2"/>
          <p:cNvSpPr/>
          <p:nvPr/>
        </p:nvSpPr>
        <p:spPr>
          <a:xfrm>
            <a:off x="714348" y="1052736"/>
            <a:ext cx="745805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However, we must also remember that the weakening of the Indian Rupee will help make the country’s exports more competitive which will help exporters</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Secondly, </a:t>
            </a:r>
            <a:r>
              <a:rPr lang="en-US" b="1" dirty="0">
                <a:latin typeface="Arial" pitchFamily="34" charset="0"/>
                <a:cs typeface="Arial" pitchFamily="34" charset="0"/>
              </a:rPr>
              <a:t>any correction in global commodity prices will also help the Indian Rupee</a:t>
            </a:r>
          </a:p>
        </p:txBody>
      </p:sp>
    </p:spTree>
    <p:extLst>
      <p:ext uri="{BB962C8B-B14F-4D97-AF65-F5344CB8AC3E}">
        <p14:creationId xmlns="" xmlns:p14="http://schemas.microsoft.com/office/powerpoint/2010/main" val="15010127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953942"/>
            <a:ext cx="4248472" cy="923330"/>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this story has clarified the loss in the value of the Indian Rupee</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FALL OF THE INDIAN RUPEE</a:t>
            </a:r>
          </a:p>
        </p:txBody>
      </p:sp>
    </p:spTree>
    <p:extLst>
      <p:ext uri="{BB962C8B-B14F-4D97-AF65-F5344CB8AC3E}">
        <p14:creationId xmlns="" xmlns:p14="http://schemas.microsoft.com/office/powerpoint/2010/main" val="7779845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2060848"/>
            <a:ext cx="4032448" cy="93576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2327</TotalTime>
  <Words>993</Words>
  <Application>Microsoft Office PowerPoint</Application>
  <PresentationFormat>On-screen Show (4:3)</PresentationFormat>
  <Paragraphs>60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273</cp:revision>
  <dcterms:created xsi:type="dcterms:W3CDTF">2013-10-22T09:41:31Z</dcterms:created>
  <dcterms:modified xsi:type="dcterms:W3CDTF">2014-09-23T12:47:03Z</dcterms:modified>
</cp:coreProperties>
</file>