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358" r:id="rId3"/>
    <p:sldId id="318" r:id="rId4"/>
    <p:sldId id="412" r:id="rId5"/>
    <p:sldId id="413" r:id="rId6"/>
    <p:sldId id="414" r:id="rId7"/>
    <p:sldId id="415" r:id="rId8"/>
    <p:sldId id="416" r:id="rId9"/>
    <p:sldId id="27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EB668AB-C63D-4440-94A6-D2F9803DC4C7}" type="datetimeFigureOut">
              <a:rPr lang="en-US" smtClean="0"/>
              <a:t>9/22/2014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43B06B-A7D1-4D23-A28F-45D5F1955DE6}"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9/22/2014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9/22/2014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9/22/2014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9/22/2014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9/22/2014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FISCAL DEFICIT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75656" y="1972567"/>
            <a:ext cx="3312368" cy="880369"/>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Explaining Fiscal </a:t>
            </a:r>
            <a:r>
              <a:rPr lang="en-US" b="1" dirty="0" smtClean="0">
                <a:latin typeface="Arial" pitchFamily="34" charset="0"/>
                <a:cs typeface="Arial" pitchFamily="34" charset="0"/>
              </a:rPr>
              <a:t>Deficit</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a:latin typeface="Arial" pitchFamily="34" charset="0"/>
                <a:cs typeface="Arial" pitchFamily="34" charset="0"/>
              </a:rPr>
              <a:t>By Prof. Simply Simple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DEFICIT</a:t>
            </a:r>
          </a:p>
        </p:txBody>
      </p:sp>
      <p:sp>
        <p:nvSpPr>
          <p:cNvPr id="3" name="Rectangle 2"/>
          <p:cNvSpPr/>
          <p:nvPr/>
        </p:nvSpPr>
        <p:spPr>
          <a:xfrm>
            <a:off x="714348" y="1124744"/>
            <a:ext cx="7386044" cy="3323987"/>
          </a:xfrm>
          <a:prstGeom prst="rect">
            <a:avLst/>
          </a:prstGeom>
        </p:spPr>
        <p:txBody>
          <a:bodyPr wrap="square">
            <a:spAutoFit/>
          </a:bodyPr>
          <a:lstStyle/>
          <a:p>
            <a:pPr>
              <a:lnSpc>
                <a:spcPct val="150000"/>
              </a:lnSpc>
            </a:pPr>
            <a:r>
              <a:rPr lang="en-US" sz="2000" b="1" dirty="0">
                <a:latin typeface="Arial" pitchFamily="34" charset="0"/>
                <a:cs typeface="Arial" pitchFamily="34" charset="0"/>
              </a:rPr>
              <a:t>The government needs money for its huge </a:t>
            </a:r>
            <a:r>
              <a:rPr lang="en-US" sz="2000" b="1" dirty="0" smtClean="0">
                <a:latin typeface="Arial" pitchFamily="34" charset="0"/>
                <a:cs typeface="Arial" pitchFamily="34" charset="0"/>
              </a:rPr>
              <a:t>expenses.</a:t>
            </a:r>
            <a:br>
              <a:rPr lang="en-US" sz="2000" b="1" dirty="0" smtClean="0">
                <a:latin typeface="Arial" pitchFamily="34" charset="0"/>
                <a:cs typeface="Arial" pitchFamily="34" charset="0"/>
              </a:rPr>
            </a:br>
            <a:r>
              <a:rPr lang="en-US" sz="2000" b="1" dirty="0" smtClean="0">
                <a:latin typeface="Arial" pitchFamily="34" charset="0"/>
                <a:cs typeface="Arial" pitchFamily="34" charset="0"/>
              </a:rPr>
              <a:t>We </a:t>
            </a:r>
            <a:r>
              <a:rPr lang="en-US" sz="2000" b="1" dirty="0">
                <a:latin typeface="Arial" pitchFamily="34" charset="0"/>
                <a:cs typeface="Arial" pitchFamily="34" charset="0"/>
              </a:rPr>
              <a:t>can broadly divide govt. expenses into two types:</a:t>
            </a:r>
          </a:p>
          <a:p>
            <a:pPr marL="465138" lvl="1" indent="-465138">
              <a:lnSpc>
                <a:spcPct val="150000"/>
              </a:lnSpc>
              <a:buFontTx/>
              <a:buAutoNum type="arabicPeriod"/>
              <a:tabLst>
                <a:tab pos="465138" algn="l"/>
              </a:tabLst>
            </a:pPr>
            <a:r>
              <a:rPr lang="en-US" sz="2000" b="1" dirty="0" smtClean="0">
                <a:latin typeface="Arial" pitchFamily="34" charset="0"/>
                <a:cs typeface="Arial" pitchFamily="34" charset="0"/>
              </a:rPr>
              <a:t>Revenue expenses</a:t>
            </a:r>
            <a:endParaRPr lang="en-US" sz="2000" b="1" dirty="0">
              <a:latin typeface="Arial" pitchFamily="34" charset="0"/>
              <a:cs typeface="Arial" pitchFamily="34" charset="0"/>
            </a:endParaRPr>
          </a:p>
          <a:p>
            <a:pPr marL="465138" lvl="1" indent="-465138">
              <a:lnSpc>
                <a:spcPct val="150000"/>
              </a:lnSpc>
              <a:buFontTx/>
              <a:buAutoNum type="arabicPeriod"/>
              <a:tabLst>
                <a:tab pos="465138" algn="l"/>
              </a:tabLst>
            </a:pPr>
            <a:r>
              <a:rPr lang="en-US" sz="2000" b="1" dirty="0">
                <a:latin typeface="Arial" pitchFamily="34" charset="0"/>
                <a:cs typeface="Arial" pitchFamily="34" charset="0"/>
              </a:rPr>
              <a:t>Capital </a:t>
            </a:r>
            <a:r>
              <a:rPr lang="en-US" sz="2000" b="1" dirty="0" smtClean="0">
                <a:latin typeface="Arial" pitchFamily="34" charset="0"/>
                <a:cs typeface="Arial" pitchFamily="34" charset="0"/>
              </a:rPr>
              <a:t>expenses</a:t>
            </a:r>
            <a:endParaRPr lang="en-US" sz="3000" b="1" dirty="0">
              <a:latin typeface="Arial" pitchFamily="34" charset="0"/>
              <a:cs typeface="Arial" pitchFamily="34" charset="0"/>
            </a:endParaRPr>
          </a:p>
          <a:p>
            <a:pPr>
              <a:lnSpc>
                <a:spcPct val="150000"/>
              </a:lnSpc>
            </a:pPr>
            <a:r>
              <a:rPr lang="en-US" sz="2000" b="1" dirty="0">
                <a:latin typeface="Arial" pitchFamily="34" charset="0"/>
                <a:cs typeface="Arial" pitchFamily="34" charset="0"/>
              </a:rPr>
              <a:t>The money spent by the government for paying salary to its staff is revenue </a:t>
            </a:r>
            <a:r>
              <a:rPr lang="en-US" sz="2000" b="1" dirty="0" smtClean="0">
                <a:latin typeface="Arial" pitchFamily="34" charset="0"/>
                <a:cs typeface="Arial" pitchFamily="34" charset="0"/>
              </a:rPr>
              <a:t>expense </a:t>
            </a:r>
            <a:r>
              <a:rPr lang="en-US" sz="2000" b="1" dirty="0">
                <a:latin typeface="Arial" pitchFamily="34" charset="0"/>
                <a:cs typeface="Arial" pitchFamily="34" charset="0"/>
              </a:rPr>
              <a:t>and the money spent for constructing a hospital is capital expense.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DEFICIT</a:t>
            </a:r>
          </a:p>
        </p:txBody>
      </p:sp>
      <p:sp>
        <p:nvSpPr>
          <p:cNvPr id="3" name="Rectangle 2"/>
          <p:cNvSpPr/>
          <p:nvPr/>
        </p:nvSpPr>
        <p:spPr>
          <a:xfrm>
            <a:off x="714348" y="956241"/>
            <a:ext cx="738604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how does the govt. meet these expenses?</a:t>
            </a:r>
          </a:p>
        </p:txBody>
      </p:sp>
      <p:sp>
        <p:nvSpPr>
          <p:cNvPr id="5" name="Rectangle 4"/>
          <p:cNvSpPr/>
          <p:nvPr/>
        </p:nvSpPr>
        <p:spPr>
          <a:xfrm>
            <a:off x="722096" y="1412776"/>
            <a:ext cx="8026368" cy="3901068"/>
          </a:xfrm>
          <a:prstGeom prst="rect">
            <a:avLst/>
          </a:prstGeom>
        </p:spPr>
        <p:txBody>
          <a:bodyPr wrap="square">
            <a:spAutoFit/>
          </a:bodyPr>
          <a:lstStyle/>
          <a:p>
            <a:pPr>
              <a:lnSpc>
                <a:spcPct val="150000"/>
              </a:lnSpc>
            </a:pPr>
            <a:r>
              <a:rPr lang="en-US" sz="1500" b="1" dirty="0">
                <a:latin typeface="Arial" pitchFamily="34" charset="0"/>
                <a:cs typeface="Arial" pitchFamily="34" charset="0"/>
              </a:rPr>
              <a:t>The government finances its expenses by</a:t>
            </a:r>
          </a:p>
          <a:p>
            <a:pPr marL="465138" indent="-465138">
              <a:lnSpc>
                <a:spcPct val="150000"/>
              </a:lnSpc>
              <a:buFontTx/>
              <a:buAutoNum type="arabicPeriod"/>
              <a:tabLst>
                <a:tab pos="465138" algn="l"/>
              </a:tabLst>
            </a:pPr>
            <a:r>
              <a:rPr lang="en-US" sz="1500" b="1" dirty="0" smtClean="0">
                <a:latin typeface="Arial" pitchFamily="34" charset="0"/>
                <a:cs typeface="Arial" pitchFamily="34" charset="0"/>
              </a:rPr>
              <a:t>Revenue </a:t>
            </a:r>
            <a:r>
              <a:rPr lang="en-US" sz="1500" b="1" dirty="0">
                <a:latin typeface="Arial" pitchFamily="34" charset="0"/>
                <a:cs typeface="Arial" pitchFamily="34" charset="0"/>
              </a:rPr>
              <a:t>by direct and indirect taxes</a:t>
            </a:r>
          </a:p>
          <a:p>
            <a:pPr marL="465138" indent="-465138">
              <a:lnSpc>
                <a:spcPct val="150000"/>
              </a:lnSpc>
              <a:buFontTx/>
              <a:buAutoNum type="arabicPeriod"/>
              <a:tabLst>
                <a:tab pos="465138" algn="l"/>
              </a:tabLst>
            </a:pPr>
            <a:r>
              <a:rPr lang="en-US" sz="1500" b="1" dirty="0">
                <a:latin typeface="Arial" pitchFamily="34" charset="0"/>
                <a:cs typeface="Arial" pitchFamily="34" charset="0"/>
              </a:rPr>
              <a:t>Revenue by non-tax means include</a:t>
            </a:r>
          </a:p>
          <a:p>
            <a:pPr marL="914400" lvl="1" indent="-449263">
              <a:lnSpc>
                <a:spcPct val="150000"/>
              </a:lnSpc>
              <a:buFont typeface="Wingdings" pitchFamily="2" charset="2"/>
              <a:buChar char="q"/>
              <a:tabLst>
                <a:tab pos="465138" algn="l"/>
                <a:tab pos="914400" algn="l"/>
              </a:tabLst>
            </a:pPr>
            <a:r>
              <a:rPr lang="en-US" sz="1500" b="1" u="sng" dirty="0">
                <a:latin typeface="Arial" pitchFamily="34" charset="0"/>
                <a:cs typeface="Arial" pitchFamily="34" charset="0"/>
              </a:rPr>
              <a:t>Revenue receipts</a:t>
            </a:r>
            <a:br>
              <a:rPr lang="en-US" sz="1500" b="1" u="sng" dirty="0">
                <a:latin typeface="Arial" pitchFamily="34" charset="0"/>
                <a:cs typeface="Arial" pitchFamily="34" charset="0"/>
              </a:rPr>
            </a:br>
            <a:r>
              <a:rPr lang="en-US" sz="1500" b="1" dirty="0">
                <a:latin typeface="Arial" pitchFamily="34" charset="0"/>
                <a:cs typeface="Arial" pitchFamily="34" charset="0"/>
              </a:rPr>
              <a:t>These include dividends received from public sector </a:t>
            </a:r>
            <a:r>
              <a:rPr lang="en-US" sz="1500" b="1" dirty="0" smtClean="0">
                <a:latin typeface="Arial" pitchFamily="34" charset="0"/>
                <a:cs typeface="Arial" pitchFamily="34" charset="0"/>
              </a:rPr>
              <a:t>companies,</a:t>
            </a:r>
            <a:br>
              <a:rPr lang="en-US" sz="1500" b="1" dirty="0" smtClean="0">
                <a:latin typeface="Arial" pitchFamily="34" charset="0"/>
                <a:cs typeface="Arial" pitchFamily="34" charset="0"/>
              </a:rPr>
            </a:br>
            <a:r>
              <a:rPr lang="en-US" sz="1500" b="1" dirty="0" smtClean="0">
                <a:latin typeface="Arial" pitchFamily="34" charset="0"/>
                <a:cs typeface="Arial" pitchFamily="34" charset="0"/>
              </a:rPr>
              <a:t>fees</a:t>
            </a:r>
            <a:r>
              <a:rPr lang="en-US" sz="1500" b="1" dirty="0">
                <a:latin typeface="Arial" pitchFamily="34" charset="0"/>
                <a:cs typeface="Arial" pitchFamily="34" charset="0"/>
              </a:rPr>
              <a:t>, fines, forfeitures etc.</a:t>
            </a:r>
          </a:p>
          <a:p>
            <a:pPr marL="914400" lvl="1" indent="-449263">
              <a:lnSpc>
                <a:spcPct val="150000"/>
              </a:lnSpc>
              <a:buFont typeface="Wingdings" pitchFamily="2" charset="2"/>
              <a:buChar char="q"/>
              <a:tabLst>
                <a:tab pos="465138" algn="l"/>
                <a:tab pos="914400" algn="l"/>
              </a:tabLst>
            </a:pPr>
            <a:r>
              <a:rPr lang="en-US" sz="1500" b="1" u="sng" dirty="0">
                <a:latin typeface="Arial" pitchFamily="34" charset="0"/>
                <a:cs typeface="Arial" pitchFamily="34" charset="0"/>
              </a:rPr>
              <a:t>Capital receipts</a:t>
            </a:r>
            <a:br>
              <a:rPr lang="en-US" sz="1500" b="1" u="sng" dirty="0">
                <a:latin typeface="Arial" pitchFamily="34" charset="0"/>
                <a:cs typeface="Arial" pitchFamily="34" charset="0"/>
              </a:rPr>
            </a:br>
            <a:r>
              <a:rPr lang="en-US" sz="1500" b="1" dirty="0">
                <a:latin typeface="Arial" pitchFamily="34" charset="0"/>
                <a:cs typeface="Arial" pitchFamily="34" charset="0"/>
              </a:rPr>
              <a:t>These include sale of PSUs, recovery of loans, borrowings of the government </a:t>
            </a:r>
          </a:p>
          <a:p>
            <a:pPr>
              <a:lnSpc>
                <a:spcPct val="150000"/>
              </a:lnSpc>
            </a:pPr>
            <a:r>
              <a:rPr lang="en-US" sz="1500" b="1" dirty="0">
                <a:latin typeface="Arial" pitchFamily="34" charset="0"/>
                <a:cs typeface="Arial" pitchFamily="34" charset="0"/>
              </a:rPr>
              <a:t>Revenue receipts are recurring in nature like the salary you earn while capital receipts are occasional in-flows like the proceeds you may receive on selling your house</a:t>
            </a:r>
          </a:p>
        </p:txBody>
      </p:sp>
    </p:spTree>
    <p:extLst>
      <p:ext uri="{BB962C8B-B14F-4D97-AF65-F5344CB8AC3E}">
        <p14:creationId xmlns:p14="http://schemas.microsoft.com/office/powerpoint/2010/main" xmlns="" val="20919843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DEFICIT</a:t>
            </a:r>
          </a:p>
        </p:txBody>
      </p:sp>
      <p:sp>
        <p:nvSpPr>
          <p:cNvPr id="3" name="Rectangle 2"/>
          <p:cNvSpPr/>
          <p:nvPr/>
        </p:nvSpPr>
        <p:spPr>
          <a:xfrm>
            <a:off x="714348" y="956241"/>
            <a:ext cx="738604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where is the deficit?</a:t>
            </a:r>
          </a:p>
        </p:txBody>
      </p:sp>
      <p:sp>
        <p:nvSpPr>
          <p:cNvPr id="5" name="Rectangle 4"/>
          <p:cNvSpPr/>
          <p:nvPr/>
        </p:nvSpPr>
        <p:spPr>
          <a:xfrm>
            <a:off x="722096" y="1526495"/>
            <a:ext cx="7234280" cy="2169825"/>
          </a:xfrm>
          <a:prstGeom prst="rect">
            <a:avLst/>
          </a:prstGeom>
        </p:spPr>
        <p:txBody>
          <a:bodyPr wrap="square">
            <a:spAutoFit/>
          </a:bodyPr>
          <a:lstStyle/>
          <a:p>
            <a:pPr marL="463550" indent="-463550">
              <a:lnSpc>
                <a:spcPct val="150000"/>
              </a:lnSpc>
              <a:buFont typeface="Wingdings" pitchFamily="2" charset="2"/>
              <a:buChar char="q"/>
              <a:tabLst>
                <a:tab pos="465138" algn="l"/>
              </a:tabLst>
            </a:pPr>
            <a:r>
              <a:rPr lang="en-US" b="1" dirty="0">
                <a:latin typeface="Arial" pitchFamily="34" charset="0"/>
                <a:cs typeface="Arial" pitchFamily="34" charset="0"/>
              </a:rPr>
              <a:t>The expenses that the government incurs is always more than the income it makes. This difference or deficit is known as “Fiscal Deficit”. It is expressed as a percentage of GDP</a:t>
            </a:r>
          </a:p>
          <a:p>
            <a:pPr marL="463550" indent="-463550">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3550" indent="-463550">
              <a:lnSpc>
                <a:spcPct val="150000"/>
              </a:lnSpc>
              <a:buFont typeface="Wingdings" pitchFamily="2" charset="2"/>
              <a:buChar char="q"/>
              <a:tabLst>
                <a:tab pos="465138" algn="l"/>
              </a:tabLst>
            </a:pPr>
            <a:r>
              <a:rPr lang="en-US" b="1" dirty="0">
                <a:latin typeface="Arial" pitchFamily="34" charset="0"/>
                <a:cs typeface="Arial" pitchFamily="34" charset="0"/>
              </a:rPr>
              <a:t>The financing of this deficit is known as “deficit financing”</a:t>
            </a:r>
          </a:p>
        </p:txBody>
      </p:sp>
    </p:spTree>
    <p:extLst>
      <p:ext uri="{BB962C8B-B14F-4D97-AF65-F5344CB8AC3E}">
        <p14:creationId xmlns:p14="http://schemas.microsoft.com/office/powerpoint/2010/main" xmlns="" val="23690276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DEFICIT</a:t>
            </a:r>
          </a:p>
        </p:txBody>
      </p:sp>
      <p:sp>
        <p:nvSpPr>
          <p:cNvPr id="3" name="Rectangle 2"/>
          <p:cNvSpPr/>
          <p:nvPr/>
        </p:nvSpPr>
        <p:spPr>
          <a:xfrm>
            <a:off x="714348" y="956241"/>
            <a:ext cx="738604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how is this deficit financed???</a:t>
            </a:r>
          </a:p>
        </p:txBody>
      </p:sp>
      <p:sp>
        <p:nvSpPr>
          <p:cNvPr id="5" name="Rectangle 4"/>
          <p:cNvSpPr/>
          <p:nvPr/>
        </p:nvSpPr>
        <p:spPr>
          <a:xfrm>
            <a:off x="722096" y="1526495"/>
            <a:ext cx="7234280" cy="212686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Through government borrowings. </a:t>
            </a:r>
            <a:br>
              <a:rPr lang="en-US" b="1" dirty="0">
                <a:latin typeface="Arial" pitchFamily="34" charset="0"/>
                <a:cs typeface="Arial" pitchFamily="34" charset="0"/>
              </a:rPr>
            </a:br>
            <a:r>
              <a:rPr lang="en-US" b="1" dirty="0">
                <a:latin typeface="Arial" pitchFamily="34" charset="0"/>
                <a:cs typeface="Arial" pitchFamily="34" charset="0"/>
              </a:rPr>
              <a:t>It is due to this reason we had included borrowings of the government as revenue in one of our earlier slides</a:t>
            </a:r>
            <a:br>
              <a:rPr lang="en-US" b="1" dirty="0">
                <a:latin typeface="Arial" pitchFamily="34" charset="0"/>
                <a:cs typeface="Arial" pitchFamily="34" charset="0"/>
              </a:rPr>
            </a:br>
            <a:r>
              <a:rPr lang="en-US" b="1" dirty="0">
                <a:latin typeface="Arial" pitchFamily="34" charset="0"/>
                <a:cs typeface="Arial" pitchFamily="34" charset="0"/>
              </a:rPr>
              <a:t>			OR</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Through printing of additional currency notes.</a:t>
            </a:r>
          </a:p>
        </p:txBody>
      </p:sp>
    </p:spTree>
    <p:extLst>
      <p:ext uri="{BB962C8B-B14F-4D97-AF65-F5344CB8AC3E}">
        <p14:creationId xmlns:p14="http://schemas.microsoft.com/office/powerpoint/2010/main" xmlns="" val="20065297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DEFICIT</a:t>
            </a:r>
          </a:p>
        </p:txBody>
      </p:sp>
      <p:sp>
        <p:nvSpPr>
          <p:cNvPr id="3" name="Rectangle 2"/>
          <p:cNvSpPr/>
          <p:nvPr/>
        </p:nvSpPr>
        <p:spPr>
          <a:xfrm>
            <a:off x="714348" y="956241"/>
            <a:ext cx="738604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Which is a better option then???</a:t>
            </a:r>
          </a:p>
        </p:txBody>
      </p:sp>
      <p:sp>
        <p:nvSpPr>
          <p:cNvPr id="5" name="Rectangle 4"/>
          <p:cNvSpPr/>
          <p:nvPr/>
        </p:nvSpPr>
        <p:spPr>
          <a:xfrm>
            <a:off x="722096" y="1526495"/>
            <a:ext cx="7378296"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Borrowing money from the market is a better option because if the government were to print more notes it would increase supply of money in the economy thereby reducing its “buying power” and causing inflation. </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Inflation would hurt one and all making the government un-popular.</a:t>
            </a: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Therefore, </a:t>
            </a:r>
            <a:r>
              <a:rPr lang="en-US" b="1" dirty="0">
                <a:latin typeface="Arial" pitchFamily="34" charset="0"/>
                <a:cs typeface="Arial" pitchFamily="34" charset="0"/>
              </a:rPr>
              <a:t>borrowing from the market is a better option as it does not alter money supply. But this too cannot go on endlessly. To understand this let’s look at the next </a:t>
            </a:r>
            <a:r>
              <a:rPr lang="en-US" b="1" dirty="0" smtClean="0">
                <a:latin typeface="Arial" pitchFamily="34" charset="0"/>
                <a:cs typeface="Arial" pitchFamily="34" charset="0"/>
              </a:rPr>
              <a:t>slide.</a:t>
            </a:r>
            <a:endParaRPr lang="en-US" b="1" dirty="0">
              <a:latin typeface="Arial" pitchFamily="34" charset="0"/>
              <a:cs typeface="Arial" pitchFamily="34" charset="0"/>
            </a:endParaRPr>
          </a:p>
        </p:txBody>
      </p:sp>
    </p:spTree>
    <p:extLst>
      <p:ext uri="{BB962C8B-B14F-4D97-AF65-F5344CB8AC3E}">
        <p14:creationId xmlns:p14="http://schemas.microsoft.com/office/powerpoint/2010/main" xmlns="" val="14072946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DEFICIT</a:t>
            </a:r>
          </a:p>
        </p:txBody>
      </p:sp>
      <p:sp>
        <p:nvSpPr>
          <p:cNvPr id="3" name="Rectangle 2"/>
          <p:cNvSpPr/>
          <p:nvPr/>
        </p:nvSpPr>
        <p:spPr>
          <a:xfrm>
            <a:off x="714348" y="956241"/>
            <a:ext cx="738604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Government borrowings too have a limit</a:t>
            </a:r>
          </a:p>
        </p:txBody>
      </p:sp>
      <p:sp>
        <p:nvSpPr>
          <p:cNvPr id="5" name="Rectangle 4"/>
          <p:cNvSpPr/>
          <p:nvPr/>
        </p:nvSpPr>
        <p:spPr>
          <a:xfrm>
            <a:off x="722096" y="1526495"/>
            <a:ext cx="7378296"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Borrowing money from the market cannot be an endless strategy purely because there is limited money in the market and needs to be made available for other borrowers as </a:t>
            </a:r>
            <a:r>
              <a:rPr lang="en-US" b="1" dirty="0" smtClean="0">
                <a:latin typeface="Arial" pitchFamily="34" charset="0"/>
                <a:cs typeface="Arial" pitchFamily="34" charset="0"/>
              </a:rPr>
              <a:t>well</a:t>
            </a:r>
          </a:p>
          <a:p>
            <a:pPr>
              <a:lnSpc>
                <a:spcPct val="150000"/>
              </a:lnSpc>
              <a:tabLst>
                <a:tab pos="465138" algn="l"/>
              </a:tabLst>
            </a:pPr>
            <a:r>
              <a:rPr lang="en-US" b="1" dirty="0" smtClean="0">
                <a:latin typeface="Arial" pitchFamily="34" charset="0"/>
                <a:cs typeface="Arial" pitchFamily="34" charset="0"/>
              </a:rPr>
              <a:t> </a:t>
            </a: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Too much of borrowings will drive up interest rates making credit expensive and thereby putting pressure on prices</a:t>
            </a:r>
            <a:r>
              <a:rPr lang="en-US" b="1" dirty="0" smtClean="0">
                <a:latin typeface="Arial" pitchFamily="34" charset="0"/>
                <a:cs typeface="Arial" pitchFamily="34" charset="0"/>
              </a:rPr>
              <a:t>.</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Hence, </a:t>
            </a:r>
            <a:r>
              <a:rPr lang="en-US" b="1" dirty="0">
                <a:latin typeface="Arial" pitchFamily="34" charset="0"/>
                <a:cs typeface="Arial" pitchFamily="34" charset="0"/>
              </a:rPr>
              <a:t>the only way to control the deficit in the long run is by spending less and earning more.</a:t>
            </a:r>
          </a:p>
        </p:txBody>
      </p:sp>
    </p:spTree>
    <p:extLst>
      <p:ext uri="{BB962C8B-B14F-4D97-AF65-F5344CB8AC3E}">
        <p14:creationId xmlns:p14="http://schemas.microsoft.com/office/powerpoint/2010/main" xmlns="" val="10651681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2421</TotalTime>
  <Words>465</Words>
  <Application>Microsoft Office PowerPoint</Application>
  <PresentationFormat>On-screen Show (4:3)</PresentationFormat>
  <Paragraphs>40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283</cp:revision>
  <dcterms:created xsi:type="dcterms:W3CDTF">2013-10-22T09:41:31Z</dcterms:created>
  <dcterms:modified xsi:type="dcterms:W3CDTF">2014-09-22T08:58:48Z</dcterms:modified>
</cp:coreProperties>
</file>