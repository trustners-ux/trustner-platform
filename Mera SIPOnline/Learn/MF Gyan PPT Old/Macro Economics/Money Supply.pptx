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58" r:id="rId3"/>
    <p:sldId id="416" r:id="rId4"/>
    <p:sldId id="418" r:id="rId5"/>
    <p:sldId id="456" r:id="rId6"/>
    <p:sldId id="457" r:id="rId7"/>
    <p:sldId id="448" r:id="rId8"/>
    <p:sldId id="449" r:id="rId9"/>
    <p:sldId id="461" r:id="rId10"/>
    <p:sldId id="458" r:id="rId11"/>
    <p:sldId id="462" r:id="rId12"/>
    <p:sldId id="463" r:id="rId13"/>
    <p:sldId id="464" r:id="rId14"/>
    <p:sldId id="460" r:id="rId15"/>
    <p:sldId id="287"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23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10/1/2014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10/1/2014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10/1/2014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10/1/2014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10/1/2014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85852" y="1978922"/>
            <a:ext cx="3714776" cy="878574"/>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 Money Supply </a:t>
            </a:r>
            <a:br>
              <a:rPr lang="en-US" b="1" dirty="0" smtClean="0">
                <a:latin typeface="Arial" pitchFamily="34" charset="0"/>
                <a:cs typeface="Arial" pitchFamily="34" charset="0"/>
              </a:rPr>
            </a:br>
            <a:r>
              <a:rPr lang="en-US" b="1" dirty="0" smtClean="0">
                <a:latin typeface="Arial" pitchFamily="34" charset="0"/>
                <a:cs typeface="Arial" pitchFamily="34" charset="0"/>
              </a:rPr>
              <a:t>–  By Prof. Simply Simple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71546"/>
            <a:ext cx="7883464" cy="3000821"/>
          </a:xfrm>
          <a:prstGeom prst="rect">
            <a:avLst/>
          </a:prstGeom>
        </p:spPr>
        <p:txBody>
          <a:bodyPr wrap="square">
            <a:spAutoFit/>
          </a:bodyPr>
          <a:lstStyle/>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How is the money supply in the economy regulated?</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Who governs it?</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What are its implications on the economy?</a:t>
            </a:r>
          </a:p>
          <a:p>
            <a:pPr marL="542925" indent="-542925">
              <a:lnSpc>
                <a:spcPct val="150000"/>
              </a:lnSpc>
              <a:buFont typeface="Wingdings" pitchFamily="2" charset="2"/>
              <a:buChar char="q"/>
              <a:tabLst>
                <a:tab pos="542925" algn="l"/>
              </a:tabLst>
            </a:pPr>
            <a:endParaRPr lang="en-US"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Let ‘s try and understand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71546"/>
            <a:ext cx="7242028" cy="463075"/>
          </a:xfrm>
          <a:prstGeom prst="rect">
            <a:avLst/>
          </a:prstGeom>
        </p:spPr>
        <p:txBody>
          <a:bodyPr wrap="square">
            <a:spAutoFit/>
          </a:bodyPr>
          <a:lstStyle/>
          <a:p>
            <a:pPr marL="357188" indent="-357188" algn="ctr">
              <a:lnSpc>
                <a:spcPct val="150000"/>
              </a:lnSpc>
              <a:tabLst>
                <a:tab pos="357188" algn="l"/>
              </a:tabLst>
            </a:pPr>
            <a:r>
              <a:rPr lang="en-US" b="1" dirty="0" smtClean="0">
                <a:latin typeface="Arial" pitchFamily="34" charset="0"/>
                <a:cs typeface="Arial" pitchFamily="34" charset="0"/>
              </a:rPr>
              <a:t>So how is money supply regulated?</a:t>
            </a:r>
            <a:endParaRPr lang="en-US" b="1" dirty="0">
              <a:latin typeface="Arial" pitchFamily="34" charset="0"/>
              <a:cs typeface="Arial" pitchFamily="34" charset="0"/>
            </a:endParaRPr>
          </a:p>
        </p:txBody>
      </p:sp>
      <p:sp>
        <p:nvSpPr>
          <p:cNvPr id="5" name="Rectangle 4"/>
          <p:cNvSpPr/>
          <p:nvPr/>
        </p:nvSpPr>
        <p:spPr>
          <a:xfrm>
            <a:off x="571472" y="1595021"/>
            <a:ext cx="8001056" cy="3901068"/>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sz="1650" b="1" dirty="0" smtClean="0">
                <a:latin typeface="Arial" pitchFamily="34" charset="0"/>
                <a:cs typeface="Arial" pitchFamily="34" charset="0"/>
              </a:rPr>
              <a:t>What could cause increase in money supply?</a:t>
            </a:r>
          </a:p>
          <a:p>
            <a:pPr marL="357188" indent="-357188">
              <a:lnSpc>
                <a:spcPct val="150000"/>
              </a:lnSpc>
              <a:buFont typeface="Wingdings" pitchFamily="2" charset="2"/>
              <a:buChar char="q"/>
              <a:tabLst>
                <a:tab pos="357188" algn="l"/>
              </a:tabLst>
            </a:pPr>
            <a:r>
              <a:rPr lang="en-US" sz="1650" b="1" dirty="0" smtClean="0">
                <a:latin typeface="Arial" pitchFamily="34" charset="0"/>
                <a:cs typeface="Arial" pitchFamily="34" charset="0"/>
              </a:rPr>
              <a:t>The answer seems simple. The government has the power to print notes, they can hence release more money into the economy.</a:t>
            </a:r>
          </a:p>
          <a:p>
            <a:pPr marL="357188" indent="-357188">
              <a:lnSpc>
                <a:spcPct val="150000"/>
              </a:lnSpc>
              <a:buFont typeface="Wingdings" pitchFamily="2" charset="2"/>
              <a:buChar char="q"/>
              <a:tabLst>
                <a:tab pos="357188" algn="l"/>
              </a:tabLst>
            </a:pPr>
            <a:r>
              <a:rPr lang="en-US" sz="1650" b="1" dirty="0" smtClean="0">
                <a:latin typeface="Arial" pitchFamily="34" charset="0"/>
                <a:cs typeface="Arial" pitchFamily="34" charset="0"/>
              </a:rPr>
              <a:t>However it is only partly true. Such a process cannot be sustained as more notes for the same quantity of physical goods in the economy will only bring down the value of the currency and hence will not benefit anyone.  After all increase in money supply should be done with an objective to benefit the economy as a whole by protecting the value of the currency. So, a government has to exercise restraint in printing notes.	</a:t>
            </a:r>
            <a:endParaRPr lang="en-US" sz="1650"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71546"/>
            <a:ext cx="7242028"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 Treasury Bills (T-Bills)</a:t>
            </a:r>
            <a:endParaRPr lang="en-US" b="1" dirty="0">
              <a:latin typeface="Arial" pitchFamily="34" charset="0"/>
              <a:cs typeface="Arial" pitchFamily="34" charset="0"/>
            </a:endParaRPr>
          </a:p>
        </p:txBody>
      </p:sp>
      <p:sp>
        <p:nvSpPr>
          <p:cNvPr id="5" name="Rectangle 4"/>
          <p:cNvSpPr/>
          <p:nvPr/>
        </p:nvSpPr>
        <p:spPr>
          <a:xfrm>
            <a:off x="785786" y="1643050"/>
            <a:ext cx="7572428" cy="2118529"/>
          </a:xfrm>
          <a:prstGeom prst="rect">
            <a:avLst/>
          </a:prstGeom>
        </p:spPr>
        <p:txBody>
          <a:bodyPr wrap="square">
            <a:spAutoFit/>
          </a:bodyPr>
          <a:lstStyle/>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But printing notes is not the only method to increase the supply of money in the economy</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Our banks also have the power to “create” money by their lending activities.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
        <p:nvSpPr>
          <p:cNvPr id="5" name="Rectangle 4"/>
          <p:cNvSpPr/>
          <p:nvPr/>
        </p:nvSpPr>
        <p:spPr>
          <a:xfrm>
            <a:off x="785786" y="1000108"/>
            <a:ext cx="7215238" cy="463075"/>
          </a:xfrm>
          <a:prstGeom prst="rect">
            <a:avLst/>
          </a:prstGeom>
        </p:spPr>
        <p:txBody>
          <a:bodyPr wrap="square">
            <a:spAutoFit/>
          </a:bodyPr>
          <a:lstStyle/>
          <a:p>
            <a:pPr marL="357188" indent="-357188" algn="ctr">
              <a:lnSpc>
                <a:spcPct val="150000"/>
              </a:lnSpc>
              <a:tabLst>
                <a:tab pos="357188" algn="l"/>
              </a:tabLst>
            </a:pPr>
            <a:r>
              <a:rPr lang="en-US" b="1" dirty="0" smtClean="0">
                <a:latin typeface="Arial" pitchFamily="34" charset="0"/>
                <a:cs typeface="Arial" pitchFamily="34" charset="0"/>
              </a:rPr>
              <a:t>So how do banks increase money supply?</a:t>
            </a:r>
            <a:endParaRPr lang="en-US" b="1" dirty="0">
              <a:latin typeface="Arial" pitchFamily="34" charset="0"/>
              <a:cs typeface="Arial" pitchFamily="34" charset="0"/>
            </a:endParaRPr>
          </a:p>
        </p:txBody>
      </p:sp>
      <p:sp>
        <p:nvSpPr>
          <p:cNvPr id="6" name="Rectangle 5"/>
          <p:cNvSpPr/>
          <p:nvPr/>
        </p:nvSpPr>
        <p:spPr>
          <a:xfrm>
            <a:off x="642910" y="1571612"/>
            <a:ext cx="8215370" cy="3624069"/>
          </a:xfrm>
          <a:prstGeom prst="rect">
            <a:avLst/>
          </a:prstGeom>
        </p:spPr>
        <p:txBody>
          <a:bodyPr wrap="square">
            <a:spAutoFit/>
          </a:bodyPr>
          <a:lstStyle/>
          <a:p>
            <a:pPr marL="542925" indent="-542925">
              <a:lnSpc>
                <a:spcPct val="150000"/>
              </a:lnSpc>
              <a:spcBef>
                <a:spcPct val="0"/>
              </a:spcBef>
              <a:buFont typeface="Wingdings" pitchFamily="2" charset="2"/>
              <a:buChar char="q"/>
              <a:tabLst>
                <a:tab pos="542925" algn="l"/>
              </a:tabLst>
            </a:pPr>
            <a:r>
              <a:rPr lang="en-US" sz="1700" b="1" dirty="0" smtClean="0">
                <a:latin typeface="Arial" pitchFamily="34" charset="0"/>
                <a:cs typeface="Arial" pitchFamily="34" charset="0"/>
              </a:rPr>
              <a:t>Okay, let us take an example. Suppose you deposit </a:t>
            </a:r>
            <a:r>
              <a:rPr lang="en-US" sz="1700" b="1" dirty="0" smtClean="0">
                <a:latin typeface="Arial" pitchFamily="34" charset="0"/>
                <a:cs typeface="Arial" pitchFamily="34" charset="0"/>
              </a:rPr>
              <a:t>Rs100 in your </a:t>
            </a:r>
            <a:r>
              <a:rPr lang="en-US" sz="1700" b="1" dirty="0" smtClean="0">
                <a:latin typeface="Arial" pitchFamily="34" charset="0"/>
                <a:cs typeface="Arial" pitchFamily="34" charset="0"/>
              </a:rPr>
              <a:t>savings bank account. Your </a:t>
            </a:r>
            <a:r>
              <a:rPr lang="en-US" sz="1700" b="1" dirty="0" smtClean="0">
                <a:latin typeface="Arial" pitchFamily="34" charset="0"/>
                <a:cs typeface="Arial" pitchFamily="34" charset="0"/>
              </a:rPr>
              <a:t>savings bank </a:t>
            </a:r>
            <a:r>
              <a:rPr lang="en-US" sz="1700" b="1" dirty="0" smtClean="0">
                <a:latin typeface="Arial" pitchFamily="34" charset="0"/>
                <a:cs typeface="Arial" pitchFamily="34" charset="0"/>
              </a:rPr>
              <a:t>account will reflect the Rs100 as deposit. Although the </a:t>
            </a:r>
            <a:r>
              <a:rPr lang="en-US" sz="1700" b="1" dirty="0" smtClean="0">
                <a:latin typeface="Arial" pitchFamily="34" charset="0"/>
                <a:cs typeface="Arial" pitchFamily="34" charset="0"/>
              </a:rPr>
              <a:t>Rs100 </a:t>
            </a:r>
            <a:r>
              <a:rPr lang="en-US" sz="1700" b="1" dirty="0" smtClean="0">
                <a:latin typeface="Arial" pitchFamily="34" charset="0"/>
                <a:cs typeface="Arial" pitchFamily="34" charset="0"/>
              </a:rPr>
              <a:t>is deposited in the bank it still constitutes a part of the money supply because you still have the right to withdraw and spend it. </a:t>
            </a:r>
          </a:p>
          <a:p>
            <a:pPr marL="542925" indent="-542925">
              <a:lnSpc>
                <a:spcPct val="150000"/>
              </a:lnSpc>
              <a:spcBef>
                <a:spcPct val="0"/>
              </a:spcBef>
              <a:buFont typeface="Wingdings" pitchFamily="2" charset="2"/>
              <a:buChar char="q"/>
              <a:tabLst>
                <a:tab pos="542925" algn="l"/>
              </a:tabLst>
            </a:pPr>
            <a:r>
              <a:rPr lang="en-US" sz="1700" b="1" dirty="0" smtClean="0">
                <a:latin typeface="Arial" pitchFamily="34" charset="0"/>
                <a:cs typeface="Arial" pitchFamily="34" charset="0"/>
              </a:rPr>
              <a:t>Now, what is your bank going to do with the money you have deposited? </a:t>
            </a:r>
          </a:p>
          <a:p>
            <a:pPr marL="542925" indent="-542925">
              <a:lnSpc>
                <a:spcPct val="150000"/>
              </a:lnSpc>
              <a:spcBef>
                <a:spcPct val="0"/>
              </a:spcBef>
              <a:buFont typeface="Wingdings" pitchFamily="2" charset="2"/>
              <a:buChar char="q"/>
              <a:tabLst>
                <a:tab pos="542925" algn="l"/>
              </a:tabLst>
            </a:pPr>
            <a:r>
              <a:rPr lang="en-US" sz="1700" b="1" dirty="0" smtClean="0">
                <a:latin typeface="Arial" pitchFamily="34" charset="0"/>
                <a:cs typeface="Arial" pitchFamily="34" charset="0"/>
              </a:rPr>
              <a:t>It is surely not going to keep all of your money with </a:t>
            </a:r>
            <a:r>
              <a:rPr lang="en-US" sz="1700" b="1" dirty="0" err="1" smtClean="0">
                <a:latin typeface="Arial" pitchFamily="34" charset="0"/>
                <a:cs typeface="Arial" pitchFamily="34" charset="0"/>
              </a:rPr>
              <a:t>tself</a:t>
            </a:r>
            <a:r>
              <a:rPr lang="en-US" sz="1700" b="1" dirty="0" smtClean="0">
                <a:latin typeface="Arial" pitchFamily="34" charset="0"/>
                <a:cs typeface="Arial" pitchFamily="34" charset="0"/>
              </a:rPr>
              <a:t> till the time you come back to claim it. If it were to do that then your money instead of earning interest in the bank would actually depreciate. </a:t>
            </a:r>
            <a:endParaRPr lang="en-US" sz="1700"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48" y="1412776"/>
            <a:ext cx="7643866" cy="3831818"/>
          </a:xfrm>
          <a:prstGeom prst="rect">
            <a:avLst/>
          </a:prstGeom>
        </p:spPr>
        <p:txBody>
          <a:bodyPr wrap="square">
            <a:spAutoFit/>
          </a:bodyPr>
          <a:lstStyle/>
          <a:p>
            <a:pPr marL="357188" indent="-357188">
              <a:lnSpc>
                <a:spcPct val="150000"/>
              </a:lnSpc>
              <a:spcBef>
                <a:spcPct val="0"/>
              </a:spcBef>
              <a:buFont typeface="Wingdings" pitchFamily="2" charset="2"/>
              <a:buChar char="q"/>
              <a:tabLst>
                <a:tab pos="357188" algn="l"/>
              </a:tabLst>
            </a:pPr>
            <a:r>
              <a:rPr lang="en-US" b="1" dirty="0" smtClean="0">
                <a:latin typeface="Arial" pitchFamily="34" charset="0"/>
                <a:cs typeface="Arial" pitchFamily="34" charset="0"/>
              </a:rPr>
              <a:t>All our banks work on what is known as fractional reserve system.</a:t>
            </a:r>
          </a:p>
          <a:p>
            <a:pPr marL="357188" indent="-357188">
              <a:lnSpc>
                <a:spcPct val="150000"/>
              </a:lnSpc>
              <a:spcBef>
                <a:spcPct val="0"/>
              </a:spcBef>
              <a:tabLst>
                <a:tab pos="357188" algn="l"/>
              </a:tabLst>
            </a:pPr>
            <a:r>
              <a:rPr lang="en-US" b="1" dirty="0" smtClean="0">
                <a:latin typeface="Arial" pitchFamily="34" charset="0"/>
                <a:cs typeface="Arial" pitchFamily="34" charset="0"/>
              </a:rPr>
              <a:t> </a:t>
            </a:r>
          </a:p>
          <a:p>
            <a:pPr marL="357188" indent="-357188">
              <a:lnSpc>
                <a:spcPct val="150000"/>
              </a:lnSpc>
              <a:spcBef>
                <a:spcPct val="0"/>
              </a:spcBef>
              <a:buFont typeface="Wingdings" pitchFamily="2" charset="2"/>
              <a:buChar char="q"/>
              <a:tabLst>
                <a:tab pos="357188" algn="l"/>
              </a:tabLst>
            </a:pPr>
            <a:r>
              <a:rPr lang="en-US" b="1" dirty="0" smtClean="0">
                <a:latin typeface="Arial" pitchFamily="34" charset="0"/>
                <a:cs typeface="Arial" pitchFamily="34" charset="0"/>
              </a:rPr>
              <a:t>They keep part of the deposits as reserves for meeting 	the</a:t>
            </a:r>
            <a:br>
              <a:rPr lang="en-US" b="1" dirty="0" smtClean="0">
                <a:latin typeface="Arial" pitchFamily="34" charset="0"/>
                <a:cs typeface="Arial" pitchFamily="34" charset="0"/>
              </a:rPr>
            </a:br>
            <a:r>
              <a:rPr lang="en-US" b="1" dirty="0" smtClean="0">
                <a:latin typeface="Arial" pitchFamily="34" charset="0"/>
                <a:cs typeface="Arial" pitchFamily="34" charset="0"/>
              </a:rPr>
              <a:t>day-to-day redemption of other depositors and lend the remainder to their borrowers. </a:t>
            </a:r>
          </a:p>
          <a:p>
            <a:pPr marL="357188" indent="-357188">
              <a:lnSpc>
                <a:spcPct val="150000"/>
              </a:lnSpc>
              <a:spcBef>
                <a:spcPct val="0"/>
              </a:spcBef>
              <a:buFont typeface="Wingdings" pitchFamily="2" charset="2"/>
              <a:buChar char="q"/>
              <a:tabLst>
                <a:tab pos="357188" algn="l"/>
              </a:tabLst>
            </a:pPr>
            <a:endParaRPr lang="en-US" b="1" dirty="0" smtClean="0">
              <a:latin typeface="Arial" pitchFamily="34" charset="0"/>
              <a:cs typeface="Arial" pitchFamily="34" charset="0"/>
            </a:endParaRPr>
          </a:p>
          <a:p>
            <a:pPr marL="357188" indent="-357188">
              <a:lnSpc>
                <a:spcPct val="150000"/>
              </a:lnSpc>
              <a:spcBef>
                <a:spcPct val="0"/>
              </a:spcBef>
              <a:buFont typeface="Wingdings" pitchFamily="2" charset="2"/>
              <a:buChar char="q"/>
              <a:tabLst>
                <a:tab pos="357188" algn="l"/>
              </a:tabLst>
            </a:pPr>
            <a:r>
              <a:rPr lang="en-US" b="1" dirty="0" smtClean="0">
                <a:latin typeface="Arial" pitchFamily="34" charset="0"/>
                <a:cs typeface="Arial" pitchFamily="34" charset="0"/>
              </a:rPr>
              <a:t>This is how banks are able to earn money and share a part their earning with 	you which is popularly known as interest.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7071699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80" y="1518996"/>
            <a:ext cx="7858148" cy="3416320"/>
          </a:xfrm>
          <a:prstGeom prst="rect">
            <a:avLst/>
          </a:prstGeom>
        </p:spPr>
        <p:txBody>
          <a:bodyPr wrap="square">
            <a:spAutoFit/>
          </a:bodyPr>
          <a:lstStyle/>
          <a:p>
            <a:pPr marL="542925" indent="-542925">
              <a:lnSpc>
                <a:spcPct val="150000"/>
              </a:lnSpc>
              <a:spcBef>
                <a:spcPct val="0"/>
              </a:spcBef>
              <a:buFont typeface="Wingdings" pitchFamily="2" charset="2"/>
              <a:buChar char="q"/>
              <a:tabLst>
                <a:tab pos="542925" algn="l"/>
              </a:tabLst>
            </a:pPr>
            <a:r>
              <a:rPr lang="en-US" b="1" dirty="0" smtClean="0">
                <a:latin typeface="Arial" pitchFamily="34" charset="0"/>
                <a:cs typeface="Arial" pitchFamily="34" charset="0"/>
              </a:rPr>
              <a:t>Now suppose the bank maintains a reserve of 10%, then it will keep Rs10 with itself and lend Rs90 to someone else.</a:t>
            </a:r>
          </a:p>
          <a:p>
            <a:pPr marL="542925" indent="-542925">
              <a:lnSpc>
                <a:spcPct val="150000"/>
              </a:lnSpc>
              <a:spcBef>
                <a:spcPct val="0"/>
              </a:spcBef>
              <a:buFont typeface="Wingdings" pitchFamily="2" charset="2"/>
              <a:buChar char="q"/>
              <a:tabLst>
                <a:tab pos="542925" algn="l"/>
              </a:tabLst>
            </a:pPr>
            <a:r>
              <a:rPr lang="en-US" b="1" dirty="0" smtClean="0">
                <a:latin typeface="Arial" pitchFamily="34" charset="0"/>
                <a:cs typeface="Arial" pitchFamily="34" charset="0"/>
              </a:rPr>
              <a:t> The borrower can either take the loan of Rs90 and utilize it for value creation. Perhaps he funds his working capital and after the designated period returns the money to the bank 	along with some interest for the money supplied to him. At the same time the borrower due to economic activities earns  a profit as well which was made possible due to the loan that he received.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80" y="1142984"/>
            <a:ext cx="7858148" cy="1711366"/>
          </a:xfrm>
          <a:prstGeom prst="rect">
            <a:avLst/>
          </a:prstGeom>
        </p:spPr>
        <p:txBody>
          <a:bodyPr wrap="square">
            <a:spAutoFit/>
          </a:bodyPr>
          <a:lstStyle/>
          <a:p>
            <a:pPr>
              <a:lnSpc>
                <a:spcPct val="150000"/>
              </a:lnSpc>
              <a:spcBef>
                <a:spcPct val="0"/>
              </a:spcBef>
            </a:pPr>
            <a:r>
              <a:rPr lang="en-US" b="1" dirty="0" smtClean="0">
                <a:latin typeface="Arial" pitchFamily="34" charset="0"/>
                <a:cs typeface="Arial" pitchFamily="34" charset="0"/>
              </a:rPr>
              <a:t>Remember that all this while the lending of Rs90 by the bank in any way does not lead to reduction of Rs90 from your demand deposit, which also continues to be part of the money supply. After all you can always 	break your deposit and recover your money.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80" y="1142984"/>
            <a:ext cx="7143768" cy="3416320"/>
          </a:xfrm>
          <a:prstGeom prst="rect">
            <a:avLst/>
          </a:prstGeom>
        </p:spPr>
        <p:txBody>
          <a:bodyPr wrap="square">
            <a:spAutoFit/>
          </a:bodyPr>
          <a:lstStyle/>
          <a:p>
            <a:pPr marL="542925" indent="-542925">
              <a:lnSpc>
                <a:spcPct val="150000"/>
              </a:lnSpc>
              <a:spcBef>
                <a:spcPct val="0"/>
              </a:spcBef>
              <a:buFont typeface="Wingdings" pitchFamily="2" charset="2"/>
              <a:buChar char="q"/>
              <a:tabLst>
                <a:tab pos="542925" algn="l"/>
              </a:tabLst>
            </a:pPr>
            <a:r>
              <a:rPr lang="en-US" b="1" dirty="0" smtClean="0">
                <a:latin typeface="Arial" pitchFamily="34" charset="0"/>
                <a:cs typeface="Arial" pitchFamily="34" charset="0"/>
              </a:rPr>
              <a:t>So how does the bank fund this redemption?</a:t>
            </a:r>
          </a:p>
          <a:p>
            <a:pPr marL="542925" indent="-542925">
              <a:lnSpc>
                <a:spcPct val="150000"/>
              </a:lnSpc>
              <a:spcBef>
                <a:spcPct val="0"/>
              </a:spcBef>
              <a:buFont typeface="Wingdings" pitchFamily="2" charset="2"/>
              <a:buChar char="q"/>
              <a:tabLst>
                <a:tab pos="542925" algn="l"/>
              </a:tabLst>
            </a:pPr>
            <a:endParaRPr lang="en-US" b="1" dirty="0" smtClean="0">
              <a:latin typeface="Arial" pitchFamily="34" charset="0"/>
              <a:cs typeface="Arial" pitchFamily="34" charset="0"/>
            </a:endParaRPr>
          </a:p>
          <a:p>
            <a:pPr marL="542925" indent="-542925">
              <a:lnSpc>
                <a:spcPct val="150000"/>
              </a:lnSpc>
              <a:spcBef>
                <a:spcPct val="0"/>
              </a:spcBef>
              <a:buFont typeface="Wingdings" pitchFamily="2" charset="2"/>
              <a:buChar char="q"/>
              <a:tabLst>
                <a:tab pos="542925" algn="l"/>
              </a:tabLst>
            </a:pPr>
            <a:r>
              <a:rPr lang="en-US" b="1" dirty="0" smtClean="0">
                <a:latin typeface="Arial" pitchFamily="34" charset="0"/>
                <a:cs typeface="Arial" pitchFamily="34" charset="0"/>
              </a:rPr>
              <a:t>It does through the help of the 10% reserves that it holds from all depositors.</a:t>
            </a:r>
          </a:p>
          <a:p>
            <a:pPr marL="542925" indent="-542925">
              <a:lnSpc>
                <a:spcPct val="150000"/>
              </a:lnSpc>
              <a:spcBef>
                <a:spcPct val="0"/>
              </a:spcBef>
              <a:buFont typeface="Wingdings" pitchFamily="2" charset="2"/>
              <a:buChar char="q"/>
              <a:tabLst>
                <a:tab pos="542925" algn="l"/>
              </a:tabLst>
            </a:pPr>
            <a:endParaRPr lang="en-US" b="1" dirty="0" smtClean="0">
              <a:latin typeface="Arial" pitchFamily="34" charset="0"/>
              <a:cs typeface="Arial" pitchFamily="34" charset="0"/>
            </a:endParaRPr>
          </a:p>
          <a:p>
            <a:pPr marL="542925" indent="-542925">
              <a:lnSpc>
                <a:spcPct val="150000"/>
              </a:lnSpc>
              <a:spcBef>
                <a:spcPct val="0"/>
              </a:spcBef>
              <a:buFont typeface="Wingdings" pitchFamily="2" charset="2"/>
              <a:buChar char="q"/>
              <a:tabLst>
                <a:tab pos="542925" algn="l"/>
              </a:tabLst>
            </a:pPr>
            <a:r>
              <a:rPr lang="en-US" b="1" dirty="0" smtClean="0">
                <a:latin typeface="Arial" pitchFamily="34" charset="0"/>
                <a:cs typeface="Arial" pitchFamily="34" charset="0"/>
              </a:rPr>
              <a:t>The aggregation of the 10% that it holds becomes a large enough reserve to fund some of the expected redemptions.</a:t>
            </a: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80" y="1142984"/>
            <a:ext cx="7143768" cy="878574"/>
          </a:xfrm>
          <a:prstGeom prst="rect">
            <a:avLst/>
          </a:prstGeom>
        </p:spPr>
        <p:txBody>
          <a:bodyPr wrap="square">
            <a:spAutoFit/>
          </a:bodyPr>
          <a:lstStyle/>
          <a:p>
            <a:pPr algn="ctr">
              <a:lnSpc>
                <a:spcPct val="150000"/>
              </a:lnSpc>
              <a:spcBef>
                <a:spcPct val="0"/>
              </a:spcBef>
            </a:pPr>
            <a:r>
              <a:rPr lang="en-US" b="1" dirty="0" smtClean="0">
                <a:latin typeface="Arial" pitchFamily="34" charset="0"/>
                <a:cs typeface="Arial" pitchFamily="34" charset="0"/>
              </a:rPr>
              <a:t>What is the underlying principle that the banks use</a:t>
            </a:r>
            <a:br>
              <a:rPr lang="en-US" b="1" dirty="0" smtClean="0">
                <a:latin typeface="Arial" pitchFamily="34" charset="0"/>
                <a:cs typeface="Arial" pitchFamily="34" charset="0"/>
              </a:rPr>
            </a:br>
            <a:r>
              <a:rPr lang="en-US" b="1" dirty="0" smtClean="0">
                <a:latin typeface="Arial" pitchFamily="34" charset="0"/>
                <a:cs typeface="Arial" pitchFamily="34" charset="0"/>
              </a:rPr>
              <a:t>to increase money supply</a:t>
            </a:r>
          </a:p>
        </p:txBody>
      </p:sp>
      <p:sp>
        <p:nvSpPr>
          <p:cNvPr id="6" name="Rectangle 5"/>
          <p:cNvSpPr/>
          <p:nvPr/>
        </p:nvSpPr>
        <p:spPr>
          <a:xfrm>
            <a:off x="642910" y="2110641"/>
            <a:ext cx="7929618" cy="3077766"/>
          </a:xfrm>
          <a:prstGeom prst="rect">
            <a:avLst/>
          </a:prstGeom>
        </p:spPr>
        <p:txBody>
          <a:bodyPr wrap="square">
            <a:spAutoFit/>
          </a:bodyPr>
          <a:lstStyle/>
          <a:p>
            <a:pPr marL="542925" indent="-542925">
              <a:buFont typeface="Wingdings" pitchFamily="2" charset="2"/>
              <a:buChar char="q"/>
              <a:tabLst>
                <a:tab pos="542925" algn="l"/>
              </a:tabLst>
            </a:pPr>
            <a:r>
              <a:rPr lang="en-US" sz="1700" b="1" dirty="0" smtClean="0">
                <a:latin typeface="Arial" pitchFamily="34" charset="0"/>
                <a:cs typeface="Arial" pitchFamily="34" charset="0"/>
              </a:rPr>
              <a:t>Remember not all depositors break their deposits. The probability of depositors doing so is quite less. </a:t>
            </a:r>
          </a:p>
          <a:p>
            <a:pPr marL="542925" indent="-542925">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buFont typeface="Wingdings" pitchFamily="2" charset="2"/>
              <a:buChar char="q"/>
              <a:tabLst>
                <a:tab pos="542925" algn="l"/>
              </a:tabLst>
            </a:pPr>
            <a:r>
              <a:rPr lang="en-US" sz="1700" b="1" dirty="0" smtClean="0">
                <a:latin typeface="Arial" pitchFamily="34" charset="0"/>
                <a:cs typeface="Arial" pitchFamily="34" charset="0"/>
              </a:rPr>
              <a:t>This is the key principle that is the engine for money supply</a:t>
            </a:r>
          </a:p>
          <a:p>
            <a:pPr marL="542925" indent="-542925">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buFont typeface="Wingdings" pitchFamily="2" charset="2"/>
              <a:buChar char="q"/>
              <a:tabLst>
                <a:tab pos="542925" algn="l"/>
              </a:tabLst>
            </a:pPr>
            <a:r>
              <a:rPr lang="en-US" sz="1700" b="1" dirty="0" smtClean="0">
                <a:latin typeface="Arial" pitchFamily="34" charset="0"/>
                <a:cs typeface="Arial" pitchFamily="34" charset="0"/>
              </a:rPr>
              <a:t>Hence the 10% reserve of CRR as it is popularly known as is good enough to handle redemptions.</a:t>
            </a:r>
          </a:p>
          <a:p>
            <a:pPr marL="542925" indent="-542925">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buFont typeface="Wingdings" pitchFamily="2" charset="2"/>
              <a:buChar char="q"/>
              <a:tabLst>
                <a:tab pos="542925" algn="l"/>
              </a:tabLst>
            </a:pPr>
            <a:r>
              <a:rPr lang="en-US" sz="1700" b="1" dirty="0" smtClean="0">
                <a:latin typeface="Arial" pitchFamily="34" charset="0"/>
                <a:cs typeface="Arial" pitchFamily="34" charset="0"/>
              </a:rPr>
              <a:t>Therefore the 90% that is given as loans to borrowers constitutes additional money supply for the economy.</a:t>
            </a:r>
          </a:p>
          <a:p>
            <a:pPr marL="542925" indent="-542925">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buFont typeface="Wingdings" pitchFamily="2" charset="2"/>
              <a:buChar char="q"/>
              <a:tabLst>
                <a:tab pos="542925" algn="l"/>
              </a:tabLst>
            </a:pPr>
            <a:r>
              <a:rPr lang="en-US" sz="1700" b="1" dirty="0" smtClean="0">
                <a:latin typeface="Arial" pitchFamily="34" charset="0"/>
                <a:cs typeface="Arial" pitchFamily="34" charset="0"/>
              </a:rPr>
              <a:t>In other words money that would otherwise lie idle is made to sweat to achieve more action in the economy leading to the creation of more wealth without having to resort to printing additional currency</a:t>
            </a:r>
            <a:endParaRPr lang="en-US" sz="1700" b="1" dirty="0">
              <a:latin typeface="Arial" pitchFamily="34" charset="0"/>
              <a:cs typeface="Arial" pitchFamily="34" charset="0"/>
            </a:endParaRP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
        <p:nvSpPr>
          <p:cNvPr id="6" name="Rectangle 5"/>
          <p:cNvSpPr/>
          <p:nvPr/>
        </p:nvSpPr>
        <p:spPr>
          <a:xfrm>
            <a:off x="642910" y="1142984"/>
            <a:ext cx="7929618" cy="4108817"/>
          </a:xfrm>
          <a:prstGeom prst="rect">
            <a:avLst/>
          </a:prstGeom>
        </p:spPr>
        <p:txBody>
          <a:bodyPr wrap="square">
            <a:spAutoFit/>
          </a:bodyPr>
          <a:lstStyle/>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Thus the Rs 100 which was deposited with the bank created</a:t>
            </a:r>
            <a:br>
              <a:rPr lang="en-US" b="1" dirty="0" smtClean="0">
                <a:latin typeface="Arial" pitchFamily="34" charset="0"/>
                <a:cs typeface="Arial" pitchFamily="34" charset="0"/>
              </a:rPr>
            </a:br>
            <a:r>
              <a:rPr lang="en-US" b="1" dirty="0" smtClean="0">
                <a:latin typeface="Arial" pitchFamily="34" charset="0"/>
                <a:cs typeface="Arial" pitchFamily="34" charset="0"/>
              </a:rPr>
              <a:t>Rs 190 for a borrower.</a:t>
            </a:r>
          </a:p>
          <a:p>
            <a:pPr marL="542925" indent="-542925">
              <a:lnSpc>
                <a:spcPct val="150000"/>
              </a:lnSpc>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Had the borrower deposited Rs 50 and used Rs 40, the bank would have kept Rs 5 ( 10% ) as reserves and would have lent</a:t>
            </a:r>
            <a:br>
              <a:rPr lang="en-US" b="1" dirty="0" smtClean="0">
                <a:latin typeface="Arial" pitchFamily="34" charset="0"/>
                <a:cs typeface="Arial" pitchFamily="34" charset="0"/>
              </a:rPr>
            </a:br>
            <a:r>
              <a:rPr lang="en-US" b="1" dirty="0" smtClean="0">
                <a:latin typeface="Arial" pitchFamily="34" charset="0"/>
                <a:cs typeface="Arial" pitchFamily="34" charset="0"/>
              </a:rPr>
              <a:t>Rs 45 to another borrower. Thus money supply would have increased by another Rs 45 making the total supply equal to</a:t>
            </a:r>
            <a:br>
              <a:rPr lang="en-US" b="1" dirty="0" smtClean="0">
                <a:latin typeface="Arial" pitchFamily="34" charset="0"/>
                <a:cs typeface="Arial" pitchFamily="34" charset="0"/>
              </a:rPr>
            </a:br>
            <a:r>
              <a:rPr lang="en-US" b="1" dirty="0" smtClean="0">
                <a:latin typeface="Arial" pitchFamily="34" charset="0"/>
                <a:cs typeface="Arial" pitchFamily="34" charset="0"/>
              </a:rPr>
              <a:t>Rs 100 + Rs 90 + Rs 45 = Rs 235.</a:t>
            </a:r>
          </a:p>
          <a:p>
            <a:pPr marL="542925" indent="-542925">
              <a:lnSpc>
                <a:spcPct val="150000"/>
              </a:lnSpc>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This process at a macro level lands up in expanding the money supply substantially.</a:t>
            </a: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80" y="1000108"/>
            <a:ext cx="7143768" cy="878574"/>
          </a:xfrm>
          <a:prstGeom prst="rect">
            <a:avLst/>
          </a:prstGeom>
        </p:spPr>
        <p:txBody>
          <a:bodyPr wrap="square">
            <a:spAutoFit/>
          </a:bodyPr>
          <a:lstStyle/>
          <a:p>
            <a:pPr algn="ctr">
              <a:lnSpc>
                <a:spcPct val="150000"/>
              </a:lnSpc>
              <a:spcBef>
                <a:spcPct val="0"/>
              </a:spcBef>
            </a:pPr>
            <a:r>
              <a:rPr lang="en-US" b="1" dirty="0" smtClean="0">
                <a:latin typeface="Arial" pitchFamily="34" charset="0"/>
                <a:cs typeface="Arial" pitchFamily="34" charset="0"/>
              </a:rPr>
              <a:t>Now I guess you understand how CRR becomes a tool</a:t>
            </a:r>
          </a:p>
          <a:p>
            <a:pPr algn="ctr">
              <a:lnSpc>
                <a:spcPct val="150000"/>
              </a:lnSpc>
              <a:spcBef>
                <a:spcPct val="0"/>
              </a:spcBef>
            </a:pPr>
            <a:r>
              <a:rPr lang="en-US" b="1" dirty="0" smtClean="0">
                <a:latin typeface="Arial" pitchFamily="34" charset="0"/>
                <a:cs typeface="Arial" pitchFamily="34" charset="0"/>
              </a:rPr>
              <a:t>to control money supply?</a:t>
            </a:r>
          </a:p>
        </p:txBody>
      </p:sp>
      <p:sp>
        <p:nvSpPr>
          <p:cNvPr id="6" name="Rectangle 5"/>
          <p:cNvSpPr/>
          <p:nvPr/>
        </p:nvSpPr>
        <p:spPr>
          <a:xfrm>
            <a:off x="642910" y="1928802"/>
            <a:ext cx="7929618" cy="3365024"/>
          </a:xfrm>
          <a:prstGeom prst="rect">
            <a:avLst/>
          </a:prstGeom>
        </p:spPr>
        <p:txBody>
          <a:bodyPr wrap="square">
            <a:spAutoFit/>
          </a:bodyPr>
          <a:lstStyle/>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If not, let me explain.</a:t>
            </a: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If the government increases the reserve ratio from 10% to 20%, the money available for lending will get reduced from 90% to 80%. </a:t>
            </a: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Thus to the extent of 10% supply is reduced. </a:t>
            </a: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Now when you aggregate all such deposits the reduction becomes substantial.</a:t>
            </a: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Thus CRR becomes a much better tool for regulating money supply rather than simply printing notes.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857488" y="1500174"/>
            <a:ext cx="4214842" cy="878574"/>
          </a:xfrm>
          <a:prstGeom prst="rect">
            <a:avLst/>
          </a:prstGeom>
        </p:spPr>
        <p:txBody>
          <a:bodyPr wrap="square">
            <a:spAutoFit/>
          </a:bodyPr>
          <a:lstStyle/>
          <a:p>
            <a:pPr>
              <a:lnSpc>
                <a:spcPct val="150000"/>
              </a:lnSpc>
              <a:spcBef>
                <a:spcPct val="50000"/>
              </a:spcBef>
            </a:pPr>
            <a:r>
              <a:rPr lang="en-US" b="1" dirty="0" smtClean="0">
                <a:latin typeface="Arial" pitchFamily="34" charset="0"/>
                <a:cs typeface="Arial" pitchFamily="34" charset="0"/>
              </a:rPr>
              <a:t>Hope you have now 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concept of Money Market</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071678"/>
            <a:ext cx="4032448" cy="1338828"/>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In case of any query please email to </a:t>
            </a:r>
            <a:r>
              <a:rPr lang="en-US" b="1" dirty="0" smtClean="0">
                <a:latin typeface="Arial" pitchFamily="34" charset="0"/>
                <a:cs typeface="Arial" pitchFamily="34" charset="0"/>
                <a:hlinkClick r:id="rId4"/>
              </a:rPr>
              <a:t>professor@tataamc.com</a:t>
            </a:r>
            <a:endParaRPr lang="en-US" b="1" dirty="0" smtClean="0">
              <a:latin typeface="Arial" pitchFamily="34" charset="0"/>
              <a:cs typeface="Arial" pitchFamily="34" charset="0"/>
            </a:endParaRPr>
          </a:p>
          <a:p>
            <a:pPr algn="ctr">
              <a:lnSpc>
                <a:spcPct val="150000"/>
              </a:lnSpc>
            </a:pP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2975</TotalTime>
  <Words>885</Words>
  <Application>Microsoft Office PowerPoint</Application>
  <PresentationFormat>On-screen Show (4:3)</PresentationFormat>
  <Paragraphs>71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Heena Uttamchandani TAM HO</cp:lastModifiedBy>
  <cp:revision>425</cp:revision>
  <dcterms:created xsi:type="dcterms:W3CDTF">2013-10-22T09:41:31Z</dcterms:created>
  <dcterms:modified xsi:type="dcterms:W3CDTF">2014-10-01T07:00:26Z</dcterms:modified>
</cp:coreProperties>
</file>