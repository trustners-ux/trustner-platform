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58" r:id="rId3"/>
    <p:sldId id="318" r:id="rId4"/>
    <p:sldId id="416" r:id="rId5"/>
    <p:sldId id="417" r:id="rId6"/>
    <p:sldId id="418" r:id="rId7"/>
    <p:sldId id="419" r:id="rId8"/>
    <p:sldId id="420" r:id="rId9"/>
    <p:sldId id="421" r:id="rId10"/>
    <p:sldId id="422" r:id="rId11"/>
    <p:sldId id="423" r:id="rId12"/>
    <p:sldId id="385"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20"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833191"/>
            <a:ext cx="4392488" cy="307777"/>
          </a:xfrm>
          <a:prstGeom prst="rect">
            <a:avLst/>
          </a:prstGeom>
          <a:noFill/>
        </p:spPr>
        <p:txBody>
          <a:bodyPr wrap="square" rtlCol="0">
            <a:spAutoFit/>
          </a:bodyPr>
          <a:lstStyle/>
          <a:p>
            <a:pPr algn="ctr"/>
            <a:r>
              <a:rPr lang="en-US" sz="1400" b="1" dirty="0" smtClean="0">
                <a:solidFill>
                  <a:schemeClr val="bg1"/>
                </a:solidFill>
                <a:latin typeface="Arial" pitchFamily="34" charset="0"/>
                <a:cs typeface="Arial" pitchFamily="34" charset="0"/>
              </a:rPr>
              <a:t>FOUR IMPORTANT MONETARY TERMS (PART 1)</a:t>
            </a:r>
            <a:endParaRPr lang="en-US" sz="14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314634"/>
            <a:ext cx="3744416" cy="175432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A Quick Guide </a:t>
            </a:r>
            <a:r>
              <a:rPr lang="en-US" b="1" dirty="0" smtClean="0">
                <a:latin typeface="Arial" pitchFamily="34" charset="0"/>
                <a:cs typeface="Arial" pitchFamily="34" charset="0"/>
              </a:rPr>
              <a:t>To</a:t>
            </a:r>
            <a:br>
              <a:rPr lang="en-US" b="1" dirty="0" smtClean="0">
                <a:latin typeface="Arial" pitchFamily="34" charset="0"/>
                <a:cs typeface="Arial" pitchFamily="34" charset="0"/>
              </a:rPr>
            </a:br>
            <a:r>
              <a:rPr lang="en-US" b="1" dirty="0" smtClean="0">
                <a:latin typeface="Arial" pitchFamily="34" charset="0"/>
                <a:cs typeface="Arial" pitchFamily="34" charset="0"/>
              </a:rPr>
              <a:t>Four Important </a:t>
            </a:r>
            <a:r>
              <a:rPr lang="en-US" b="1" dirty="0">
                <a:latin typeface="Arial" pitchFamily="34" charset="0"/>
                <a:cs typeface="Arial" pitchFamily="34" charset="0"/>
              </a:rPr>
              <a:t>Monetary </a:t>
            </a:r>
            <a:r>
              <a:rPr lang="en-US" b="1" dirty="0" smtClean="0">
                <a:latin typeface="Arial" pitchFamily="34" charset="0"/>
                <a:cs typeface="Arial" pitchFamily="34" charset="0"/>
              </a:rPr>
              <a:t>Terms (Part 1</a:t>
            </a:r>
            <a:r>
              <a:rPr lang="en-US" b="1" dirty="0">
                <a:latin typeface="Arial" pitchFamily="34" charset="0"/>
                <a:cs typeface="Arial" pitchFamily="34" charset="0"/>
              </a:rPr>
              <a:t>) </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a:latin typeface="Arial" pitchFamily="34" charset="0"/>
                <a:cs typeface="Arial" pitchFamily="34" charset="0"/>
              </a:rPr>
              <a:t>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980728"/>
            <a:ext cx="7746084" cy="4293483"/>
          </a:xfrm>
          <a:prstGeom prst="rect">
            <a:avLst/>
          </a:prstGeom>
        </p:spPr>
        <p:txBody>
          <a:bodyPr wrap="square">
            <a:spAutoFit/>
          </a:bodyPr>
          <a:lstStyle/>
          <a:p>
            <a:pPr marL="465138" indent="-465138" fontAlgn="t">
              <a:lnSpc>
                <a:spcPct val="150000"/>
              </a:lnSpc>
              <a:buFont typeface="Wingdings" pitchFamily="2" charset="2"/>
              <a:buChar char="q"/>
              <a:tabLst>
                <a:tab pos="465138" algn="l"/>
              </a:tabLst>
            </a:pPr>
            <a:r>
              <a:rPr lang="en-US" b="1" dirty="0">
                <a:latin typeface="Arial" pitchFamily="34" charset="0"/>
                <a:cs typeface="Arial" pitchFamily="34" charset="0"/>
              </a:rPr>
              <a:t>As the RBI has dealt with financial and economic turmoil, acronyms unique to monetary policy and banking such as cash reserve ratio (CRR), market stabilization scheme (MSS), statutory liquidity ratio (SLR) and repo rate have repeatedly made the headlines. </a:t>
            </a:r>
          </a:p>
          <a:p>
            <a:pPr marL="465138" indent="-465138" fontAlgn="t">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fontAlgn="t">
              <a:lnSpc>
                <a:spcPct val="150000"/>
              </a:lnSpc>
              <a:buFont typeface="Wingdings" pitchFamily="2" charset="2"/>
              <a:buChar char="q"/>
              <a:tabLst>
                <a:tab pos="465138" algn="l"/>
              </a:tabLst>
            </a:pPr>
            <a:r>
              <a:rPr lang="en-US" b="1" dirty="0">
                <a:latin typeface="Arial" pitchFamily="34" charset="0"/>
                <a:cs typeface="Arial" pitchFamily="34" charset="0"/>
              </a:rPr>
              <a:t>But what do all these measures signify for the larger economy, the banking industry and consumers? And what do they mean? </a:t>
            </a:r>
          </a:p>
          <a:p>
            <a:pPr marL="465138" indent="-465138" fontAlgn="t">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fontAlgn="t">
              <a:lnSpc>
                <a:spcPct val="150000"/>
              </a:lnSpc>
              <a:buFont typeface="Wingdings" pitchFamily="2" charset="2"/>
              <a:buChar char="q"/>
              <a:tabLst>
                <a:tab pos="465138" algn="l"/>
              </a:tabLst>
            </a:pPr>
            <a:r>
              <a:rPr lang="en-US" b="1" dirty="0">
                <a:latin typeface="Arial" pitchFamily="34" charset="0"/>
                <a:cs typeface="Arial" pitchFamily="34" charset="0"/>
              </a:rPr>
              <a:t>In this edition, we will target repo rate &amp; statutory liquidity ratio (SLR) </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908720"/>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The Repurchase Rate or </a:t>
            </a:r>
            <a:r>
              <a:rPr lang="en-US" b="1" dirty="0" smtClean="0">
                <a:latin typeface="Arial" pitchFamily="34" charset="0"/>
                <a:cs typeface="Arial" pitchFamily="34" charset="0"/>
              </a:rPr>
              <a:t>Repo </a:t>
            </a:r>
            <a:r>
              <a:rPr lang="en-US" b="1" dirty="0">
                <a:latin typeface="Arial" pitchFamily="34" charset="0"/>
                <a:cs typeface="Arial" pitchFamily="34" charset="0"/>
              </a:rPr>
              <a:t>Rate</a:t>
            </a:r>
            <a:endParaRPr lang="en-US" b="1" dirty="0">
              <a:latin typeface="Arial" pitchFamily="34" charset="0"/>
              <a:cs typeface="Arial" pitchFamily="34" charset="0"/>
            </a:endParaRPr>
          </a:p>
        </p:txBody>
      </p:sp>
      <p:sp>
        <p:nvSpPr>
          <p:cNvPr id="5" name="Rectangle 4"/>
          <p:cNvSpPr/>
          <p:nvPr/>
        </p:nvSpPr>
        <p:spPr>
          <a:xfrm>
            <a:off x="689064" y="1340768"/>
            <a:ext cx="7483335" cy="4062651"/>
          </a:xfrm>
          <a:prstGeom prst="rect">
            <a:avLst/>
          </a:prstGeom>
        </p:spPr>
        <p:txBody>
          <a:bodyPr wrap="square">
            <a:spAutoFit/>
          </a:bodyPr>
          <a:lstStyle/>
          <a:p>
            <a:pPr marL="465138" indent="-465138" fontAlgn="t">
              <a:lnSpc>
                <a:spcPct val="150000"/>
              </a:lnSpc>
              <a:buFont typeface="Wingdings" pitchFamily="2" charset="2"/>
              <a:buChar char="q"/>
              <a:tabLst>
                <a:tab pos="465138" algn="l"/>
              </a:tabLst>
            </a:pPr>
            <a:r>
              <a:rPr lang="en-US" sz="1600" b="1" dirty="0">
                <a:latin typeface="Arial" pitchFamily="34" charset="0"/>
                <a:cs typeface="Arial" pitchFamily="34" charset="0"/>
              </a:rPr>
              <a:t>Unlike other central banks, RBI has two policy rates—the repo </a:t>
            </a:r>
            <a:r>
              <a:rPr lang="en-US" sz="1600" b="1" dirty="0" smtClean="0">
                <a:latin typeface="Arial" pitchFamily="34" charset="0"/>
                <a:cs typeface="Arial" pitchFamily="34" charset="0"/>
              </a:rPr>
              <a:t>rate,</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at </a:t>
            </a:r>
            <a:r>
              <a:rPr lang="en-US" sz="1600" b="1" dirty="0">
                <a:latin typeface="Arial" pitchFamily="34" charset="0"/>
                <a:cs typeface="Arial" pitchFamily="34" charset="0"/>
              </a:rPr>
              <a:t>which it injects money into the financial system or lends money to banks, and the reverse repo rate, at which it sucks out excess money or borrows money from banks. </a:t>
            </a:r>
          </a:p>
          <a:p>
            <a:pPr marL="465138" indent="-465138" fontAlgn="t">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fontAlgn="t">
              <a:lnSpc>
                <a:spcPct val="150000"/>
              </a:lnSpc>
              <a:buFont typeface="Wingdings" pitchFamily="2" charset="2"/>
              <a:buChar char="q"/>
              <a:tabLst>
                <a:tab pos="465138" algn="l"/>
              </a:tabLst>
            </a:pPr>
            <a:r>
              <a:rPr lang="en-US" sz="1600" b="1" dirty="0">
                <a:latin typeface="Arial" pitchFamily="34" charset="0"/>
                <a:cs typeface="Arial" pitchFamily="34" charset="0"/>
              </a:rPr>
              <a:t>If liquidity is abundant in the system, then reverse repo becomes the key policy rate, but when money is scarce—as is the case now—and banks borrow from RBI, the repo rate is the policy rate. </a:t>
            </a:r>
          </a:p>
          <a:p>
            <a:pPr marL="465138" indent="-465138" fontAlgn="t">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Also, these two rates create the corridor or band within which the overnight call money rate—the rate at which banks borrow from each other —should move. </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1052736"/>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Therefore…</a:t>
            </a:r>
            <a:endParaRPr lang="en-US" b="1" dirty="0">
              <a:latin typeface="Arial" pitchFamily="34" charset="0"/>
              <a:cs typeface="Arial" pitchFamily="34" charset="0"/>
            </a:endParaRPr>
          </a:p>
        </p:txBody>
      </p:sp>
      <p:sp>
        <p:nvSpPr>
          <p:cNvPr id="5" name="Rectangle 4"/>
          <p:cNvSpPr/>
          <p:nvPr/>
        </p:nvSpPr>
        <p:spPr>
          <a:xfrm>
            <a:off x="689064" y="1625793"/>
            <a:ext cx="7483335"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By cutting the repo rate, this corridor has shrunk to 150 basis points (the reverse repo rate is 6% now, unchanged since October 2006).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Following the cut, the overnight call money rate should be less volatile because it has less room to move about in.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Ideally, it should vary between 6% and 7.5%.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960982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980728"/>
            <a:ext cx="7483335" cy="456535"/>
          </a:xfrm>
          <a:prstGeom prst="rect">
            <a:avLst/>
          </a:prstGeom>
        </p:spPr>
        <p:txBody>
          <a:bodyPr wrap="square">
            <a:spAutoFit/>
          </a:bodyPr>
          <a:lstStyle/>
          <a:p>
            <a:pPr algn="ctr">
              <a:lnSpc>
                <a:spcPct val="150000"/>
              </a:lnSpc>
              <a:tabLst>
                <a:tab pos="465138" algn="l"/>
              </a:tabLst>
            </a:pPr>
            <a:r>
              <a:rPr lang="en-US" b="1" dirty="0">
                <a:latin typeface="Arial" pitchFamily="34" charset="0"/>
                <a:cs typeface="Arial" pitchFamily="34" charset="0"/>
              </a:rPr>
              <a:t>Recent Update!</a:t>
            </a:r>
            <a:endParaRPr lang="en-US" b="1" dirty="0">
              <a:latin typeface="Arial" pitchFamily="34" charset="0"/>
              <a:cs typeface="Arial" pitchFamily="34" charset="0"/>
            </a:endParaRPr>
          </a:p>
        </p:txBody>
      </p:sp>
      <p:sp>
        <p:nvSpPr>
          <p:cNvPr id="6" name="Rectangle 5"/>
          <p:cNvSpPr/>
          <p:nvPr/>
        </p:nvSpPr>
        <p:spPr>
          <a:xfrm>
            <a:off x="714348" y="1484784"/>
            <a:ext cx="7242028" cy="3595856"/>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smtClean="0">
                <a:latin typeface="Arial" pitchFamily="34" charset="0"/>
                <a:cs typeface="Arial" pitchFamily="34" charset="0"/>
              </a:rPr>
              <a:t>A </a:t>
            </a:r>
            <a:r>
              <a:rPr lang="en-US" b="1" dirty="0">
                <a:latin typeface="Arial" pitchFamily="34" charset="0"/>
                <a:cs typeface="Arial" pitchFamily="34" charset="0"/>
              </a:rPr>
              <a:t>reduction in the repo rate will help banks to get </a:t>
            </a:r>
            <a:r>
              <a:rPr lang="en-US" b="1" dirty="0" smtClean="0">
                <a:latin typeface="Arial" pitchFamily="34" charset="0"/>
                <a:cs typeface="Arial" pitchFamily="34" charset="0"/>
              </a:rPr>
              <a:t>money</a:t>
            </a:r>
            <a:br>
              <a:rPr lang="en-US" b="1" dirty="0" smtClean="0">
                <a:latin typeface="Arial" pitchFamily="34" charset="0"/>
                <a:cs typeface="Arial" pitchFamily="34" charset="0"/>
              </a:rPr>
            </a:br>
            <a:r>
              <a:rPr lang="en-US" b="1" dirty="0" smtClean="0">
                <a:latin typeface="Arial" pitchFamily="34" charset="0"/>
                <a:cs typeface="Arial" pitchFamily="34" charset="0"/>
              </a:rPr>
              <a:t>at </a:t>
            </a:r>
            <a:r>
              <a:rPr lang="en-US" b="1" dirty="0">
                <a:latin typeface="Arial" pitchFamily="34" charset="0"/>
                <a:cs typeface="Arial" pitchFamily="34" charset="0"/>
              </a:rPr>
              <a:t>a cheaper rate. When the repo rate increases, borrowing from RBI becomes more expensive.</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repo rate —RBI’s main short-term lending rate—has now been cut by 150 basis points to 7.5% from the earlier level of 9% last month. </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100 basis points is equal to 1%.</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1052736"/>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The Statutory Liquidity Ratio </a:t>
            </a:r>
            <a:endParaRPr lang="en-US" b="1" dirty="0">
              <a:latin typeface="Arial" pitchFamily="34" charset="0"/>
              <a:cs typeface="Arial" pitchFamily="34" charset="0"/>
            </a:endParaRPr>
          </a:p>
        </p:txBody>
      </p:sp>
      <p:sp>
        <p:nvSpPr>
          <p:cNvPr id="5" name="Rectangle 4"/>
          <p:cNvSpPr/>
          <p:nvPr/>
        </p:nvSpPr>
        <p:spPr>
          <a:xfrm>
            <a:off x="689064" y="1625793"/>
            <a:ext cx="7483335" cy="2542363"/>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SLR is the amount a commercial bank needs to maintain in the form of cash, or gold or govt. approved securities (Bonds) before providing credit to its customers.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SLR rate is determined and maintained by the RBI in order to control the expansion of bank credit.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2808151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1052736"/>
            <a:ext cx="7746084"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Now…</a:t>
            </a:r>
            <a:r>
              <a:rPr lang="en-US" sz="1200" b="1" dirty="0">
                <a:latin typeface="Arial" pitchFamily="34" charset="0"/>
                <a:cs typeface="Arial" pitchFamily="34" charset="0"/>
              </a:rPr>
              <a:t> </a:t>
            </a:r>
            <a:endParaRPr lang="en-US" b="1" dirty="0">
              <a:latin typeface="Arial" pitchFamily="34" charset="0"/>
              <a:cs typeface="Arial" pitchFamily="34" charset="0"/>
            </a:endParaRPr>
          </a:p>
        </p:txBody>
      </p:sp>
      <p:sp>
        <p:nvSpPr>
          <p:cNvPr id="5" name="Rectangle 4"/>
          <p:cNvSpPr/>
          <p:nvPr/>
        </p:nvSpPr>
        <p:spPr>
          <a:xfrm>
            <a:off x="689064" y="1625793"/>
            <a:ext cx="7267312"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Higher reserve requirements such as SLR make banks relatively safe (as a certain portion of their deposits are always redeemable) but at the same time restrict their capacity to lend.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To that extent, lowering of reserve requirement increases the resources available with a bank to lend &amp; helps control inflation and propel growth.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409960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1052736"/>
            <a:ext cx="774608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SLR - A key tool for credit expansion!</a:t>
            </a:r>
            <a:endParaRPr lang="en-US" b="1" dirty="0">
              <a:latin typeface="Arial" pitchFamily="34" charset="0"/>
              <a:cs typeface="Arial" pitchFamily="34" charset="0"/>
            </a:endParaRPr>
          </a:p>
        </p:txBody>
      </p:sp>
      <p:sp>
        <p:nvSpPr>
          <p:cNvPr id="5" name="Rectangle 4"/>
          <p:cNvSpPr/>
          <p:nvPr/>
        </p:nvSpPr>
        <p:spPr>
          <a:xfrm>
            <a:off x="689064" y="1556792"/>
            <a:ext cx="7771368"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By changing the SLR rates, RBI can increase or decrease bank credit expansion.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Also through SLR, RBI compels the commercial banks to invest in government securities like Government bonds.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If any Indian Bank fails to maintain the required level of Statutory Liquidity Ratio, then it becomes liable to pay a penalty to the RBI.</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5849585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052736"/>
            <a:ext cx="7555344" cy="464871"/>
          </a:xfrm>
          <a:prstGeom prst="rect">
            <a:avLst/>
          </a:prstGeom>
        </p:spPr>
        <p:txBody>
          <a:bodyPr wrap="square">
            <a:spAutoFit/>
          </a:bodyPr>
          <a:lstStyle/>
          <a:p>
            <a:pPr algn="ctr">
              <a:lnSpc>
                <a:spcPct val="150000"/>
              </a:lnSpc>
              <a:tabLst>
                <a:tab pos="465138" algn="l"/>
              </a:tabLst>
            </a:pPr>
            <a:r>
              <a:rPr lang="en-US" b="1" dirty="0">
                <a:latin typeface="Arial" pitchFamily="34" charset="0"/>
                <a:cs typeface="Arial" pitchFamily="34" charset="0"/>
              </a:rPr>
              <a:t>Recent Update!</a:t>
            </a:r>
            <a:r>
              <a:rPr lang="en-US" sz="1400" b="1" dirty="0">
                <a:latin typeface="Arial" pitchFamily="34" charset="0"/>
                <a:cs typeface="Arial" pitchFamily="34" charset="0"/>
              </a:rPr>
              <a:t> </a:t>
            </a:r>
            <a:endParaRPr lang="en-US" b="1" dirty="0">
              <a:latin typeface="Arial" pitchFamily="34" charset="0"/>
              <a:cs typeface="Arial" pitchFamily="34" charset="0"/>
            </a:endParaRPr>
          </a:p>
        </p:txBody>
      </p:sp>
      <p:sp>
        <p:nvSpPr>
          <p:cNvPr id="6" name="Rectangle 5"/>
          <p:cNvSpPr/>
          <p:nvPr/>
        </p:nvSpPr>
        <p:spPr>
          <a:xfrm>
            <a:off x="681906" y="1628800"/>
            <a:ext cx="7706518" cy="300082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SLR has been cut by 100 basis points to 24%, the first such reduction since 1997.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Following the cut, banks will be required to invest 24% of their deposits in government bonds, instead of 25%.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means they will have more cash in hand to lend to industry.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4199924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
        <p:nvSpPr>
          <p:cNvPr id="3" name="Rectangle 2"/>
          <p:cNvSpPr/>
          <p:nvPr/>
        </p:nvSpPr>
        <p:spPr>
          <a:xfrm>
            <a:off x="714348" y="980728"/>
            <a:ext cx="7746084"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endParaRPr lang="en-US" b="1" dirty="0">
              <a:latin typeface="Arial" pitchFamily="34" charset="0"/>
              <a:cs typeface="Arial" pitchFamily="34" charset="0"/>
            </a:endParaRPr>
          </a:p>
        </p:txBody>
      </p:sp>
      <p:sp>
        <p:nvSpPr>
          <p:cNvPr id="5" name="Rectangle 4"/>
          <p:cNvSpPr/>
          <p:nvPr/>
        </p:nvSpPr>
        <p:spPr>
          <a:xfrm>
            <a:off x="689064" y="1484784"/>
            <a:ext cx="7555344" cy="383233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The Repo rate is the rate at which our banks borrow rupees from </a:t>
            </a:r>
            <a:r>
              <a:rPr lang="en-US" sz="1600" b="1" dirty="0" smtClean="0">
                <a:latin typeface="Arial" pitchFamily="34" charset="0"/>
                <a:cs typeface="Arial" pitchFamily="34" charset="0"/>
              </a:rPr>
              <a:t>RBI.</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A </a:t>
            </a:r>
            <a:r>
              <a:rPr lang="en-US" sz="1600" b="1" dirty="0">
                <a:latin typeface="Arial" pitchFamily="34" charset="0"/>
                <a:cs typeface="Arial" pitchFamily="34" charset="0"/>
              </a:rPr>
              <a:t>reduction in the repo rate will help banks to get money at a cheaper rate. When the repo rate increases, borrowing from RBI becomes more expensive. </a:t>
            </a:r>
          </a:p>
          <a:p>
            <a:pPr marL="465138" indent="-465138">
              <a:lnSpc>
                <a:spcPct val="150000"/>
              </a:lnSpc>
              <a:buFont typeface="Wingdings" pitchFamily="2" charset="2"/>
              <a:buChar char="q"/>
              <a:tabLst>
                <a:tab pos="465138" algn="l"/>
              </a:tabLst>
            </a:pP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The Statutory Liquidity Ratio (SLR) is the amount a commercial bank needs to maintain in the form of cash, or gold or govt. approved securities (Bonds) before providing credit to its customers. </a:t>
            </a:r>
            <a:br>
              <a:rPr lang="en-US" sz="1600" b="1" dirty="0">
                <a:latin typeface="Arial" pitchFamily="34" charset="0"/>
                <a:cs typeface="Arial" pitchFamily="34" charset="0"/>
              </a:rPr>
            </a:br>
            <a:endParaRPr lang="en-US" sz="10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The SLR rate is determined and maintained by the RBI in order to control the expansion of bank credit.</a:t>
            </a:r>
            <a:endParaRPr lang="en-US" sz="1600" b="1" dirty="0">
              <a:latin typeface="Arial" pitchFamily="34" charset="0"/>
              <a:cs typeface="Arial" pitchFamily="34" charset="0"/>
            </a:endParaRPr>
          </a:p>
        </p:txBody>
      </p:sp>
    </p:spTree>
    <p:extLst>
      <p:ext uri="{BB962C8B-B14F-4D97-AF65-F5344CB8AC3E}">
        <p14:creationId xmlns:p14="http://schemas.microsoft.com/office/powerpoint/2010/main" val="14208000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607298" y="2852936"/>
            <a:ext cx="3744416" cy="3373359"/>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understood the concept of</a:t>
            </a:r>
          </a:p>
          <a:p>
            <a:pPr>
              <a:lnSpc>
                <a:spcPct val="150000"/>
              </a:lnSpc>
              <a:buFontTx/>
              <a:buNone/>
            </a:pPr>
            <a:r>
              <a:rPr lang="en-US" b="1" dirty="0">
                <a:latin typeface="Arial" pitchFamily="34" charset="0"/>
                <a:cs typeface="Arial" pitchFamily="34" charset="0"/>
              </a:rPr>
              <a:t>Repo Rate &amp; SLR.</a:t>
            </a:r>
          </a:p>
          <a:p>
            <a:pPr>
              <a:lnSpc>
                <a:spcPct val="150000"/>
              </a:lnSpc>
              <a:buFontTx/>
              <a:buNone/>
            </a:pPr>
            <a:endParaRPr lang="en-US" b="1" dirty="0">
              <a:latin typeface="Arial" pitchFamily="34" charset="0"/>
              <a:cs typeface="Arial" pitchFamily="34" charset="0"/>
            </a:endParaRPr>
          </a:p>
          <a:p>
            <a:pPr>
              <a:lnSpc>
                <a:spcPct val="150000"/>
              </a:lnSpc>
              <a:buFontTx/>
              <a:buNone/>
            </a:pPr>
            <a:r>
              <a:rPr lang="en-US" b="1" dirty="0">
                <a:latin typeface="Arial" pitchFamily="34" charset="0"/>
                <a:cs typeface="Arial" pitchFamily="34" charset="0"/>
              </a:rPr>
              <a:t>We will understand the concepts of Cash Reserve Ratio (CRR) and Market Stabilization Scheme (MSS) in the next edition.</a:t>
            </a:r>
            <a:endParaRPr lang="en-US" b="1" dirty="0">
              <a:latin typeface="Arial" pitchFamily="34" charset="0"/>
              <a:cs typeface="Arial" pitchFamily="34" charset="0"/>
            </a:endParaRP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FOUR IMPORTANT MONETARY TERMS (PART 1)</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7779845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971600" y="1484784"/>
            <a:ext cx="4032448" cy="1342932"/>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In case of any </a:t>
            </a:r>
            <a:r>
              <a:rPr lang="en-US" b="1" dirty="0" smtClean="0">
                <a:latin typeface="Arial" pitchFamily="34" charset="0"/>
                <a:cs typeface="Arial" pitchFamily="34" charset="0"/>
              </a:rPr>
              <a:t>query,</a:t>
            </a:r>
            <a:br>
              <a:rPr lang="en-US" b="1" dirty="0" smtClean="0">
                <a:latin typeface="Arial" pitchFamily="34" charset="0"/>
                <a:cs typeface="Arial" pitchFamily="34" charset="0"/>
              </a:rPr>
            </a:br>
            <a:r>
              <a:rPr lang="en-US" b="1" dirty="0" smtClean="0">
                <a:latin typeface="Arial" pitchFamily="34" charset="0"/>
                <a:cs typeface="Arial" pitchFamily="34" charset="0"/>
              </a:rPr>
              <a:t>please </a:t>
            </a:r>
            <a:r>
              <a:rPr lang="en-US" b="1" dirty="0">
                <a:latin typeface="Arial" pitchFamily="34" charset="0"/>
                <a:cs typeface="Arial" pitchFamily="34" charset="0"/>
              </a:rPr>
              <a:t>e-mail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2450</TotalTime>
  <Words>762</Words>
  <Application>Microsoft Office PowerPoint</Application>
  <PresentationFormat>On-screen Show (4:3)</PresentationFormat>
  <Paragraphs>70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307</cp:revision>
  <dcterms:created xsi:type="dcterms:W3CDTF">2013-10-22T09:41:31Z</dcterms:created>
  <dcterms:modified xsi:type="dcterms:W3CDTF">2014-03-06T14:19:03Z</dcterms:modified>
</cp:coreProperties>
</file>