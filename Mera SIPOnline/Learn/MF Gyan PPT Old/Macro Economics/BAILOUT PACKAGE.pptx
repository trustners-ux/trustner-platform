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58" r:id="rId3"/>
    <p:sldId id="353" r:id="rId4"/>
    <p:sldId id="318" r:id="rId5"/>
    <p:sldId id="334" r:id="rId6"/>
    <p:sldId id="335" r:id="rId7"/>
    <p:sldId id="346" r:id="rId8"/>
    <p:sldId id="360" r:id="rId9"/>
    <p:sldId id="347" r:id="rId10"/>
    <p:sldId id="361" r:id="rId11"/>
    <p:sldId id="362" r:id="rId12"/>
    <p:sldId id="348" r:id="rId13"/>
    <p:sldId id="363" r:id="rId14"/>
    <p:sldId id="364" r:id="rId15"/>
    <p:sldId id="365" r:id="rId16"/>
    <p:sldId id="366" r:id="rId17"/>
    <p:sldId id="367" r:id="rId18"/>
    <p:sldId id="368" r:id="rId19"/>
    <p:sldId id="369" r:id="rId20"/>
    <p:sldId id="355" r:id="rId21"/>
    <p:sldId id="287" r:id="rId22"/>
    <p:sldId id="27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19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BAILOUT PACKAGE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475656" y="1988840"/>
            <a:ext cx="2952328" cy="9233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Understanding </a:t>
            </a:r>
            <a:r>
              <a:rPr lang="en-US" b="1" dirty="0" smtClean="0">
                <a:latin typeface="Arial" pitchFamily="34" charset="0"/>
                <a:cs typeface="Arial" pitchFamily="34" charset="0"/>
              </a:rPr>
              <a:t>a</a:t>
            </a:r>
            <a:br>
              <a:rPr lang="en-US" b="1" dirty="0" smtClean="0">
                <a:latin typeface="Arial" pitchFamily="34" charset="0"/>
                <a:cs typeface="Arial" pitchFamily="34" charset="0"/>
              </a:rPr>
            </a:br>
            <a:r>
              <a:rPr lang="en-US" b="1" dirty="0" smtClean="0">
                <a:latin typeface="Arial" pitchFamily="34" charset="0"/>
                <a:cs typeface="Arial" pitchFamily="34" charset="0"/>
              </a:rPr>
              <a:t>Typical </a:t>
            </a:r>
            <a:r>
              <a:rPr lang="en-US" b="1" dirty="0">
                <a:latin typeface="Arial" pitchFamily="34" charset="0"/>
                <a:cs typeface="Arial" pitchFamily="34" charset="0"/>
              </a:rPr>
              <a:t>Bailout </a:t>
            </a:r>
            <a:r>
              <a:rPr lang="en-US" b="1" dirty="0" smtClean="0">
                <a:latin typeface="Arial" pitchFamily="34" charset="0"/>
                <a:cs typeface="Arial" pitchFamily="34" charset="0"/>
              </a:rPr>
              <a:t> Package</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3717032"/>
            <a:ext cx="4248472" cy="2585323"/>
          </a:xfrm>
          <a:prstGeom prst="rect">
            <a:avLst/>
          </a:prstGeom>
        </p:spPr>
        <p:txBody>
          <a:bodyPr wrap="square">
            <a:spAutoFit/>
          </a:bodyPr>
          <a:lstStyle/>
          <a:p>
            <a:pPr>
              <a:lnSpc>
                <a:spcPct val="150000"/>
              </a:lnSpc>
            </a:pPr>
            <a:r>
              <a:rPr lang="en-US" b="1" dirty="0">
                <a:latin typeface="Arial" pitchFamily="34" charset="0"/>
                <a:cs typeface="Arial" pitchFamily="34" charset="0"/>
              </a:rPr>
              <a:t>We keep hearing about companies defaulting on their debt from time to </a:t>
            </a:r>
            <a:r>
              <a:rPr lang="en-US" b="1" dirty="0" smtClean="0">
                <a:latin typeface="Arial" pitchFamily="34" charset="0"/>
                <a:cs typeface="Arial" pitchFamily="34" charset="0"/>
              </a:rPr>
              <a:t>time. This </a:t>
            </a:r>
            <a:r>
              <a:rPr lang="en-US" b="1" dirty="0">
                <a:latin typeface="Arial" pitchFamily="34" charset="0"/>
                <a:cs typeface="Arial" pitchFamily="34" charset="0"/>
              </a:rPr>
              <a:t>is followed by “Bail Out” </a:t>
            </a:r>
            <a:r>
              <a:rPr lang="en-US" b="1" dirty="0" smtClean="0">
                <a:latin typeface="Arial" pitchFamily="34" charset="0"/>
                <a:cs typeface="Arial" pitchFamily="34" charset="0"/>
              </a:rPr>
              <a:t>requests. What </a:t>
            </a:r>
            <a:r>
              <a:rPr lang="en-US" b="1" dirty="0">
                <a:latin typeface="Arial" pitchFamily="34" charset="0"/>
                <a:cs typeface="Arial" pitchFamily="34" charset="0"/>
              </a:rPr>
              <a:t>are “Bail </a:t>
            </a:r>
            <a:r>
              <a:rPr lang="en-US" b="1" dirty="0" smtClean="0">
                <a:latin typeface="Arial" pitchFamily="34" charset="0"/>
                <a:cs typeface="Arial" pitchFamily="34" charset="0"/>
              </a:rPr>
              <a:t>Outs”</a:t>
            </a:r>
            <a:br>
              <a:rPr lang="en-US" b="1" dirty="0" smtClean="0">
                <a:latin typeface="Arial" pitchFamily="34" charset="0"/>
                <a:cs typeface="Arial" pitchFamily="34" charset="0"/>
              </a:rPr>
            </a:br>
            <a:r>
              <a:rPr lang="en-US" b="1" dirty="0" smtClean="0">
                <a:latin typeface="Arial" pitchFamily="34" charset="0"/>
                <a:cs typeface="Arial" pitchFamily="34" charset="0"/>
              </a:rPr>
              <a:t>all </a:t>
            </a:r>
            <a:r>
              <a:rPr lang="en-US" b="1" dirty="0">
                <a:latin typeface="Arial" pitchFamily="34" charset="0"/>
                <a:cs typeface="Arial" pitchFamily="34" charset="0"/>
              </a:rPr>
              <a:t>about?</a:t>
            </a:r>
          </a:p>
          <a:p>
            <a:pPr>
              <a:lnSpc>
                <a:spcPct val="150000"/>
              </a:lnSpc>
            </a:pPr>
            <a:r>
              <a:rPr lang="en-US" b="1" dirty="0">
                <a:latin typeface="Arial" pitchFamily="34" charset="0"/>
                <a:cs typeface="Arial" pitchFamily="34" charset="0"/>
              </a:rPr>
              <a:t>Let’s try and discover</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818092" cy="2169825"/>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The bailout package is nothing but creating a fund which will provide money to the debt ridden company</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This kind of a fund is usually constructed with the help of government to provide the company a chance to repay its debts</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063753"/>
            <a:ext cx="7416824" cy="3000821"/>
          </a:xfrm>
          <a:prstGeom prst="rect">
            <a:avLst/>
          </a:prstGeom>
        </p:spPr>
        <p:txBody>
          <a:bodyPr wrap="square">
            <a:spAutoFit/>
          </a:bodyPr>
          <a:lstStyle/>
          <a:p>
            <a:pPr>
              <a:lnSpc>
                <a:spcPct val="150000"/>
              </a:lnSpc>
            </a:pPr>
            <a:r>
              <a:rPr lang="en-US" b="1" dirty="0">
                <a:latin typeface="Arial" pitchFamily="34" charset="0"/>
                <a:cs typeface="Arial" pitchFamily="34" charset="0"/>
              </a:rPr>
              <a:t>With the help of this fund the debt ridden </a:t>
            </a:r>
            <a:r>
              <a:rPr lang="en-US" b="1" dirty="0" smtClean="0">
                <a:latin typeface="Arial" pitchFamily="34" charset="0"/>
                <a:cs typeface="Arial" pitchFamily="34" charset="0"/>
              </a:rPr>
              <a:t>company </a:t>
            </a:r>
            <a:r>
              <a:rPr lang="en-US" b="1" dirty="0">
                <a:latin typeface="Arial" pitchFamily="34" charset="0"/>
                <a:cs typeface="Arial" pitchFamily="34" charset="0"/>
              </a:rPr>
              <a:t>gets a chance to reform its processes so that it can manage its debt obligations smoothly.</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In a sense it is taking a new loan to pay for the old loan.</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So what is the big idea? </a:t>
            </a:r>
          </a:p>
          <a:p>
            <a:pPr>
              <a:lnSpc>
                <a:spcPct val="150000"/>
              </a:lnSpc>
            </a:pPr>
            <a:endParaRPr lang="en-US" sz="600" b="1" dirty="0">
              <a:latin typeface="Arial" pitchFamily="34" charset="0"/>
              <a:cs typeface="Arial" pitchFamily="34" charset="0"/>
            </a:endParaRPr>
          </a:p>
          <a:p>
            <a:pPr>
              <a:lnSpc>
                <a:spcPct val="150000"/>
              </a:lnSpc>
            </a:pPr>
            <a:r>
              <a:rPr lang="en-US" b="1" dirty="0">
                <a:latin typeface="Arial" pitchFamily="34" charset="0"/>
                <a:cs typeface="Arial" pitchFamily="34" charset="0"/>
              </a:rPr>
              <a:t>Why is this done?</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3416320"/>
          </a:xfrm>
          <a:prstGeom prst="rect">
            <a:avLst/>
          </a:prstGeom>
        </p:spPr>
        <p:txBody>
          <a:bodyPr wrap="square">
            <a:spAutoFit/>
          </a:bodyPr>
          <a:lstStyle/>
          <a:p>
            <a:pPr>
              <a:lnSpc>
                <a:spcPct val="150000"/>
              </a:lnSpc>
            </a:pPr>
            <a:r>
              <a:rPr lang="en-US" b="1" dirty="0">
                <a:latin typeface="Arial" pitchFamily="34" charset="0"/>
                <a:cs typeface="Arial" pitchFamily="34" charset="0"/>
              </a:rPr>
              <a:t>If this bailout package was not put together, there are chances that the company would default</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A default leads to panic selling by investors of </a:t>
            </a:r>
            <a:r>
              <a:rPr lang="en-US" b="1" dirty="0" smtClean="0">
                <a:latin typeface="Arial" pitchFamily="34" charset="0"/>
                <a:cs typeface="Arial" pitchFamily="34" charset="0"/>
              </a:rPr>
              <a:t>the </a:t>
            </a:r>
            <a:r>
              <a:rPr lang="en-US" b="1" dirty="0">
                <a:latin typeface="Arial" pitchFamily="34" charset="0"/>
                <a:cs typeface="Arial" pitchFamily="34" charset="0"/>
              </a:rPr>
              <a:t>shares and bonds of the defaulting company</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This is not desirable because the company’s abilities to raise resources to run their business gets adversely impacted. </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2949525"/>
          </a:xfrm>
          <a:prstGeom prst="rect">
            <a:avLst/>
          </a:prstGeom>
        </p:spPr>
        <p:txBody>
          <a:bodyPr wrap="square">
            <a:spAutoFit/>
          </a:bodyPr>
          <a:lstStyle/>
          <a:p>
            <a:pPr>
              <a:lnSpc>
                <a:spcPct val="150000"/>
              </a:lnSpc>
            </a:pPr>
            <a:r>
              <a:rPr lang="en-US" b="1" dirty="0">
                <a:latin typeface="Arial" pitchFamily="34" charset="0"/>
                <a:cs typeface="Arial" pitchFamily="34" charset="0"/>
              </a:rPr>
              <a:t>Thus the idea of creating the fund is to provide a lifeline to the company for the time being so that it uses the money and time to reform its processes and brings down its costs to enable it to get into a position whereby it can pay off its debt.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a sense it gives the company time and chance to heal the situation</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3417281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2534027"/>
          </a:xfrm>
          <a:prstGeom prst="rect">
            <a:avLst/>
          </a:prstGeom>
        </p:spPr>
        <p:txBody>
          <a:bodyPr wrap="square">
            <a:spAutoFit/>
          </a:bodyPr>
          <a:lstStyle/>
          <a:p>
            <a:pPr>
              <a:lnSpc>
                <a:spcPct val="150000"/>
              </a:lnSpc>
            </a:pPr>
            <a:r>
              <a:rPr lang="en-US" b="1" dirty="0">
                <a:latin typeface="Arial" pitchFamily="34" charset="0"/>
                <a:cs typeface="Arial" pitchFamily="34" charset="0"/>
              </a:rPr>
              <a:t>To draw a parallel tank of a car whose fuel has drained out in the middle of a highway. </a:t>
            </a:r>
            <a:endParaRPr lang="en-US" b="1" dirty="0" smtClean="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There is no petrol pump in the vicinity and the place is desolate. </a:t>
            </a:r>
          </a:p>
          <a:p>
            <a:pPr>
              <a:lnSpc>
                <a:spcPct val="150000"/>
              </a:lnSpc>
            </a:pPr>
            <a:r>
              <a:rPr lang="en-US" b="1" dirty="0">
                <a:latin typeface="Arial" pitchFamily="34" charset="0"/>
                <a:cs typeface="Arial" pitchFamily="34" charset="0"/>
              </a:rPr>
              <a:t>The passengers are in a fix because if nobody comes to their recue they’ll all die from starvation. </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5942471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6957242" cy="2776401"/>
          </a:xfrm>
          <a:prstGeom prst="rect">
            <a:avLst/>
          </a:prstGeom>
        </p:spPr>
        <p:txBody>
          <a:bodyPr wrap="square">
            <a:spAutoFit/>
          </a:bodyPr>
          <a:lstStyle/>
          <a:p>
            <a:pPr>
              <a:lnSpc>
                <a:spcPct val="200000"/>
              </a:lnSpc>
            </a:pPr>
            <a:r>
              <a:rPr lang="en-US" b="1" dirty="0">
                <a:latin typeface="Arial" pitchFamily="34" charset="0"/>
                <a:cs typeface="Arial" pitchFamily="34" charset="0"/>
              </a:rPr>
              <a:t> Now all of a sudden a truck passes by. </a:t>
            </a:r>
          </a:p>
          <a:p>
            <a:pPr>
              <a:lnSpc>
                <a:spcPct val="200000"/>
              </a:lnSpc>
            </a:pPr>
            <a:r>
              <a:rPr lang="en-US" b="1" dirty="0">
                <a:latin typeface="Arial" pitchFamily="34" charset="0"/>
                <a:cs typeface="Arial" pitchFamily="34" charset="0"/>
              </a:rPr>
              <a:t>The passengers request for fuel. </a:t>
            </a:r>
          </a:p>
          <a:p>
            <a:pPr>
              <a:lnSpc>
                <a:spcPct val="200000"/>
              </a:lnSpc>
            </a:pPr>
            <a:r>
              <a:rPr lang="en-US" b="1" dirty="0">
                <a:latin typeface="Arial" pitchFamily="34" charset="0"/>
                <a:cs typeface="Arial" pitchFamily="34" charset="0"/>
              </a:rPr>
              <a:t>The truck driver is gracious to lend them fuel. </a:t>
            </a:r>
          </a:p>
          <a:p>
            <a:pPr>
              <a:lnSpc>
                <a:spcPct val="200000"/>
              </a:lnSpc>
            </a:pPr>
            <a:r>
              <a:rPr lang="en-US" b="1" dirty="0">
                <a:latin typeface="Arial" pitchFamily="34" charset="0"/>
                <a:cs typeface="Arial" pitchFamily="34" charset="0"/>
              </a:rPr>
              <a:t>But there is a problem. </a:t>
            </a:r>
          </a:p>
          <a:p>
            <a:pPr>
              <a:lnSpc>
                <a:spcPct val="200000"/>
              </a:lnSpc>
            </a:pPr>
            <a:r>
              <a:rPr lang="en-US" b="1" dirty="0">
                <a:latin typeface="Arial" pitchFamily="34" charset="0"/>
                <a:cs typeface="Arial" pitchFamily="34" charset="0"/>
              </a:rPr>
              <a:t>The fuel that he has is not of the grade that the car needs</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11638178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4108817"/>
          </a:xfrm>
          <a:prstGeom prst="rect">
            <a:avLst/>
          </a:prstGeom>
        </p:spPr>
        <p:txBody>
          <a:bodyPr wrap="square">
            <a:spAutoFit/>
          </a:bodyPr>
          <a:lstStyle/>
          <a:p>
            <a:pPr>
              <a:lnSpc>
                <a:spcPct val="150000"/>
              </a:lnSpc>
            </a:pPr>
            <a:r>
              <a:rPr lang="en-US" b="1" dirty="0">
                <a:latin typeface="Arial" pitchFamily="34" charset="0"/>
                <a:cs typeface="Arial" pitchFamily="34" charset="0"/>
              </a:rPr>
              <a:t>The car driver realizes that this is his only chance to survive to see another day.</a:t>
            </a:r>
            <a:br>
              <a:rPr lang="en-US" b="1" dirty="0">
                <a:latin typeface="Arial" pitchFamily="34" charset="0"/>
                <a:cs typeface="Arial" pitchFamily="34" charset="0"/>
              </a:rPr>
            </a:br>
            <a:endParaRPr lang="en-US" sz="1000"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If </a:t>
            </a:r>
            <a:r>
              <a:rPr lang="en-US" b="1" dirty="0">
                <a:latin typeface="Arial" pitchFamily="34" charset="0"/>
                <a:cs typeface="Arial" pitchFamily="34" charset="0"/>
              </a:rPr>
              <a:t>he uses this fuel, the car will certainly travel some distance up to the nearest city but his engine would get damaged.</a:t>
            </a:r>
            <a:br>
              <a:rPr lang="en-US" b="1" dirty="0">
                <a:latin typeface="Arial" pitchFamily="34" charset="0"/>
                <a:cs typeface="Arial" pitchFamily="34" charset="0"/>
              </a:rPr>
            </a:br>
            <a:endParaRPr lang="en-US" sz="1000" b="1" dirty="0">
              <a:latin typeface="Arial" pitchFamily="34" charset="0"/>
              <a:cs typeface="Arial" pitchFamily="34" charset="0"/>
            </a:endParaRPr>
          </a:p>
          <a:p>
            <a:pPr>
              <a:lnSpc>
                <a:spcPct val="150000"/>
              </a:lnSpc>
            </a:pPr>
            <a:r>
              <a:rPr lang="en-US" b="1" dirty="0">
                <a:latin typeface="Arial" pitchFamily="34" charset="0"/>
                <a:cs typeface="Arial" pitchFamily="34" charset="0"/>
              </a:rPr>
              <a:t> But he has no other option.</a:t>
            </a:r>
          </a:p>
          <a:p>
            <a:pPr>
              <a:lnSpc>
                <a:spcPct val="150000"/>
              </a:lnSpc>
            </a:pPr>
            <a:r>
              <a:rPr lang="en-US" b="1" dirty="0">
                <a:latin typeface="Arial" pitchFamily="34" charset="0"/>
                <a:cs typeface="Arial" pitchFamily="34" charset="0"/>
              </a:rPr>
              <a:t> If they remain stranded  they all </a:t>
            </a:r>
            <a:r>
              <a:rPr lang="en-US" b="1">
                <a:latin typeface="Arial" pitchFamily="34" charset="0"/>
                <a:cs typeface="Arial" pitchFamily="34" charset="0"/>
              </a:rPr>
              <a:t>will </a:t>
            </a:r>
            <a:r>
              <a:rPr lang="en-US" b="1" smtClean="0">
                <a:latin typeface="Arial" pitchFamily="34" charset="0"/>
                <a:cs typeface="Arial" pitchFamily="34" charset="0"/>
              </a:rPr>
              <a:t>die</a:t>
            </a:r>
            <a:r>
              <a:rPr lang="en-US" b="1" dirty="0">
                <a:latin typeface="Arial" pitchFamily="34" charset="0"/>
                <a:cs typeface="Arial" pitchFamily="34" charset="0"/>
              </a:rPr>
              <a:t>.</a:t>
            </a:r>
          </a:p>
          <a:p>
            <a:pPr>
              <a:lnSpc>
                <a:spcPct val="150000"/>
              </a:lnSpc>
            </a:pPr>
            <a:endParaRPr lang="en-US" sz="1000" b="1" dirty="0">
              <a:latin typeface="Arial" pitchFamily="34" charset="0"/>
              <a:cs typeface="Arial" pitchFamily="34" charset="0"/>
            </a:endParaRPr>
          </a:p>
          <a:p>
            <a:pPr>
              <a:lnSpc>
                <a:spcPct val="150000"/>
              </a:lnSpc>
            </a:pPr>
            <a:r>
              <a:rPr lang="en-US" b="1" dirty="0">
                <a:latin typeface="Arial" pitchFamily="34" charset="0"/>
                <a:cs typeface="Arial" pitchFamily="34" charset="0"/>
              </a:rPr>
              <a:t> At least if the car reaches the city, the engine can be repaired for the onward journey</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3561220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4247317"/>
          </a:xfrm>
          <a:prstGeom prst="rect">
            <a:avLst/>
          </a:prstGeom>
        </p:spPr>
        <p:txBody>
          <a:bodyPr wrap="square">
            <a:spAutoFit/>
          </a:bodyPr>
          <a:lstStyle/>
          <a:p>
            <a:pPr>
              <a:lnSpc>
                <a:spcPct val="150000"/>
              </a:lnSpc>
            </a:pPr>
            <a:r>
              <a:rPr lang="en-US" b="1" dirty="0">
                <a:latin typeface="Arial" pitchFamily="34" charset="0"/>
                <a:cs typeface="Arial" pitchFamily="34" charset="0"/>
              </a:rPr>
              <a:t>So the car uses the truck fuel. Reaches the city and goes to the garage immediately</a:t>
            </a:r>
            <a:r>
              <a:rPr lang="en-US" b="1" dirty="0" smtClean="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 engine due to running on truck fuel has got damaged. </a:t>
            </a:r>
          </a:p>
          <a:p>
            <a:pPr>
              <a:lnSpc>
                <a:spcPct val="150000"/>
              </a:lnSpc>
            </a:pPr>
            <a:r>
              <a:rPr lang="en-US" b="1" dirty="0">
                <a:latin typeface="Arial" pitchFamily="34" charset="0"/>
                <a:cs typeface="Arial" pitchFamily="34" charset="0"/>
              </a:rPr>
              <a:t>However the mechanic is able to bring it back into good condition and the car moves on its onward journey after paying off the mechanic.</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Thus although the car got back on the road, there was a price that was paid by way of repairs to the engine</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3947099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461298" cy="2585323"/>
          </a:xfrm>
          <a:prstGeom prst="rect">
            <a:avLst/>
          </a:prstGeom>
        </p:spPr>
        <p:txBody>
          <a:bodyPr wrap="square">
            <a:spAutoFit/>
          </a:bodyPr>
          <a:lstStyle/>
          <a:p>
            <a:pPr>
              <a:lnSpc>
                <a:spcPct val="150000"/>
              </a:lnSpc>
            </a:pPr>
            <a:r>
              <a:rPr lang="en-US" b="1" dirty="0">
                <a:latin typeface="Arial" pitchFamily="34" charset="0"/>
                <a:cs typeface="Arial" pitchFamily="34" charset="0"/>
              </a:rPr>
              <a:t>Please note that because of the lifeline that the car got in the middle of nowhere it got a chance to get back into shape</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Even if there was some cost involved in getting the car </a:t>
            </a:r>
            <a:r>
              <a:rPr lang="en-US" b="1" dirty="0" smtClean="0">
                <a:latin typeface="Arial" pitchFamily="34" charset="0"/>
                <a:cs typeface="Arial" pitchFamily="34" charset="0"/>
              </a:rPr>
              <a:t> in </a:t>
            </a:r>
            <a:r>
              <a:rPr lang="en-US" b="1" dirty="0">
                <a:latin typeface="Arial" pitchFamily="34" charset="0"/>
                <a:cs typeface="Arial" pitchFamily="34" charset="0"/>
              </a:rPr>
              <a:t>order it was well worth the effort as the benefits of saving the passengers and the car was much more crucial</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2954057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461298" cy="3831818"/>
          </a:xfrm>
          <a:prstGeom prst="rect">
            <a:avLst/>
          </a:prstGeom>
        </p:spPr>
        <p:txBody>
          <a:bodyPr wrap="square">
            <a:spAutoFit/>
          </a:bodyPr>
          <a:lstStyle/>
          <a:p>
            <a:pPr>
              <a:lnSpc>
                <a:spcPct val="150000"/>
              </a:lnSpc>
            </a:pPr>
            <a:r>
              <a:rPr lang="en-US" b="1" dirty="0">
                <a:latin typeface="Arial" pitchFamily="34" charset="0"/>
                <a:cs typeface="Arial" pitchFamily="34" charset="0"/>
              </a:rPr>
              <a:t>Now the bail out package should be seen in this context. </a:t>
            </a:r>
          </a:p>
          <a:p>
            <a:pPr>
              <a:lnSpc>
                <a:spcPct val="150000"/>
              </a:lnSpc>
            </a:pPr>
            <a:r>
              <a:rPr lang="en-US" b="1" dirty="0">
                <a:latin typeface="Arial" pitchFamily="34" charset="0"/>
                <a:cs typeface="Arial" pitchFamily="34" charset="0"/>
              </a:rPr>
              <a:t>If one allowed the company to default, not only the </a:t>
            </a:r>
            <a:r>
              <a:rPr lang="en-US" b="1" dirty="0" smtClean="0">
                <a:latin typeface="Arial" pitchFamily="34" charset="0"/>
                <a:cs typeface="Arial" pitchFamily="34" charset="0"/>
              </a:rPr>
              <a:t>company</a:t>
            </a:r>
            <a:br>
              <a:rPr lang="en-US" b="1" dirty="0" smtClean="0">
                <a:latin typeface="Arial" pitchFamily="34" charset="0"/>
                <a:cs typeface="Arial" pitchFamily="34" charset="0"/>
              </a:rPr>
            </a:br>
            <a:r>
              <a:rPr lang="en-US" b="1" dirty="0" smtClean="0">
                <a:latin typeface="Arial" pitchFamily="34" charset="0"/>
                <a:cs typeface="Arial" pitchFamily="34" charset="0"/>
              </a:rPr>
              <a:t>but </a:t>
            </a:r>
            <a:r>
              <a:rPr lang="en-US" b="1" dirty="0">
                <a:latin typeface="Arial" pitchFamily="34" charset="0"/>
                <a:cs typeface="Arial" pitchFamily="34" charset="0"/>
              </a:rPr>
              <a:t>even investors would get adversely affected.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By providing the company a lifeline, it may be possible for the company to put its house in order and pay back its debts</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 So the company is like the car and the investors are like the passengers who too stand to get into problem if the company fails</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6936065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461298" cy="3780522"/>
          </a:xfrm>
          <a:prstGeom prst="rect">
            <a:avLst/>
          </a:prstGeom>
        </p:spPr>
        <p:txBody>
          <a:bodyPr wrap="square">
            <a:spAutoFit/>
          </a:bodyPr>
          <a:lstStyle/>
          <a:p>
            <a:pPr>
              <a:lnSpc>
                <a:spcPct val="150000"/>
              </a:lnSpc>
            </a:pPr>
            <a:r>
              <a:rPr lang="en-US" b="1" dirty="0">
                <a:latin typeface="Arial" pitchFamily="34" charset="0"/>
                <a:cs typeface="Arial" pitchFamily="34" charset="0"/>
              </a:rPr>
              <a:t>Also, just as the car owner had to spend some money in repairing his engine due to the usage of truck fuel instead of car fuel, the company which seeks a bail out too pays a price by way of a downgrade that its bonds receive and perhaps a fall in its share prices.</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In short this company’s borrowing power in the open market gets adversely affected and this is the cost that the company has to pay for the bail out</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16585340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461298" cy="2949525"/>
          </a:xfrm>
          <a:prstGeom prst="rect">
            <a:avLst/>
          </a:prstGeom>
        </p:spPr>
        <p:txBody>
          <a:bodyPr wrap="square">
            <a:spAutoFit/>
          </a:bodyPr>
          <a:lstStyle/>
          <a:p>
            <a:pPr>
              <a:lnSpc>
                <a:spcPct val="150000"/>
              </a:lnSpc>
            </a:pPr>
            <a:r>
              <a:rPr lang="en-US" b="1" dirty="0">
                <a:latin typeface="Arial" pitchFamily="34" charset="0"/>
                <a:cs typeface="Arial" pitchFamily="34" charset="0"/>
              </a:rPr>
              <a:t>This is the reason why everything possible should be done to prevent the company from filing for bankruptcy</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 bail out package may be an additional loan to service a previous loan. However this loan gives time and chance to the company to set its house in order under guidance of those who are providing the loan</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33969222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101258" cy="1338828"/>
          </a:xfrm>
          <a:prstGeom prst="rect">
            <a:avLst/>
          </a:prstGeom>
        </p:spPr>
        <p:txBody>
          <a:bodyPr wrap="square">
            <a:spAutoFit/>
          </a:bodyPr>
          <a:lstStyle/>
          <a:p>
            <a:pPr>
              <a:lnSpc>
                <a:spcPct val="150000"/>
              </a:lnSpc>
            </a:pPr>
            <a:r>
              <a:rPr lang="en-US" b="1" dirty="0">
                <a:latin typeface="Arial" pitchFamily="34" charset="0"/>
                <a:cs typeface="Arial" pitchFamily="34" charset="0"/>
              </a:rPr>
              <a:t>For a company to set its house in order, it has to reform its business plan in such a way that while its revenue does not get impacted, its costs come down.</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36720305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101258" cy="1711366"/>
          </a:xfrm>
          <a:prstGeom prst="rect">
            <a:avLst/>
          </a:prstGeom>
        </p:spPr>
        <p:txBody>
          <a:bodyPr wrap="square">
            <a:spAutoFit/>
          </a:bodyPr>
          <a:lstStyle/>
          <a:p>
            <a:pPr>
              <a:lnSpc>
                <a:spcPct val="150000"/>
              </a:lnSpc>
            </a:pPr>
            <a:r>
              <a:rPr lang="en-US" b="1" dirty="0">
                <a:latin typeface="Arial" pitchFamily="34" charset="0"/>
                <a:cs typeface="Arial" pitchFamily="34" charset="0"/>
              </a:rPr>
              <a:t>The reformed business plan has to be thus managed in an astute manner to ensure that the overall profits of the company goes up by smartly managing the cost structure. This would enable the company to pay off its debt obligations</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44538083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101258" cy="3373359"/>
          </a:xfrm>
          <a:prstGeom prst="rect">
            <a:avLst/>
          </a:prstGeom>
        </p:spPr>
        <p:txBody>
          <a:bodyPr wrap="square">
            <a:spAutoFit/>
          </a:bodyPr>
          <a:lstStyle/>
          <a:p>
            <a:pPr>
              <a:lnSpc>
                <a:spcPct val="150000"/>
              </a:lnSpc>
            </a:pPr>
            <a:r>
              <a:rPr lang="en-US" b="1" dirty="0">
                <a:latin typeface="Arial" pitchFamily="34" charset="0"/>
                <a:cs typeface="Arial" pitchFamily="34" charset="0"/>
              </a:rPr>
              <a:t>This will require every employee to make some personal sacrifice. For example they may have to agree to take a pay cut if need be for the overall betterment of the organization</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Employees usually do not like this and hence do not cooperate with their leaders’ directions.</a:t>
            </a:r>
          </a:p>
          <a:p>
            <a:pPr>
              <a:lnSpc>
                <a:spcPct val="150000"/>
              </a:lnSpc>
            </a:pPr>
            <a:r>
              <a:rPr lang="en-US" b="1" dirty="0">
                <a:latin typeface="Arial" pitchFamily="34" charset="0"/>
                <a:cs typeface="Arial" pitchFamily="34" charset="0"/>
              </a:rPr>
              <a:t> </a:t>
            </a:r>
          </a:p>
          <a:p>
            <a:pPr>
              <a:lnSpc>
                <a:spcPct val="150000"/>
              </a:lnSpc>
            </a:pPr>
            <a:r>
              <a:rPr lang="en-US" b="1" dirty="0">
                <a:latin typeface="Arial" pitchFamily="34" charset="0"/>
                <a:cs typeface="Arial" pitchFamily="34" charset="0"/>
              </a:rPr>
              <a:t>Hence astute handling is a prerequisite in such cases</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818807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461298" cy="4247317"/>
          </a:xfrm>
          <a:prstGeom prst="rect">
            <a:avLst/>
          </a:prstGeom>
        </p:spPr>
        <p:txBody>
          <a:bodyPr wrap="square">
            <a:spAutoFit/>
          </a:bodyPr>
          <a:lstStyle/>
          <a:p>
            <a:pPr>
              <a:lnSpc>
                <a:spcPct val="150000"/>
              </a:lnSpc>
            </a:pPr>
            <a:r>
              <a:rPr lang="en-US" b="1" dirty="0">
                <a:latin typeface="Arial" pitchFamily="34" charset="0"/>
                <a:cs typeface="Arial" pitchFamily="34" charset="0"/>
              </a:rPr>
              <a:t>In this manner just as the car got repaired back into good health one expects the company to recover and payoff its debts gradually.</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If the company does not comply with the reform plan the situation of bankruptcy will repeat itself</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Therefore it becomes very vital for the company to manage its operations in a very disciplined manner so that it keeps costs under control</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Tree>
    <p:extLst>
      <p:ext uri="{BB962C8B-B14F-4D97-AF65-F5344CB8AC3E}">
        <p14:creationId xmlns:p14="http://schemas.microsoft.com/office/powerpoint/2010/main" xmlns="" val="38005712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3645024"/>
            <a:ext cx="3816424" cy="1295868"/>
          </a:xfrm>
          <a:prstGeom prst="rect">
            <a:avLst/>
          </a:prstGeom>
        </p:spPr>
        <p:txBody>
          <a:bodyPr wrap="square">
            <a:spAutoFit/>
          </a:bodyPr>
          <a:lstStyle/>
          <a:p>
            <a:pPr>
              <a:lnSpc>
                <a:spcPct val="150000"/>
              </a:lnSpc>
            </a:pPr>
            <a:r>
              <a:rPr lang="en-US" b="1" dirty="0">
                <a:latin typeface="Arial" pitchFamily="34" charset="0"/>
                <a:cs typeface="Arial" pitchFamily="34" charset="0"/>
              </a:rPr>
              <a:t>Hope this explanation has given you an idea of how bail out packages are intended to work</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BAILOUT PACKAGE</a:t>
            </a:r>
          </a:p>
        </p:txBody>
      </p:sp>
      <p:sp>
        <p:nvSpPr>
          <p:cNvPr id="4" name="Rectangle 3"/>
          <p:cNvSpPr/>
          <p:nvPr/>
        </p:nvSpPr>
        <p:spPr>
          <a:xfrm>
            <a:off x="4211960" y="5229200"/>
            <a:ext cx="3482032" cy="880369"/>
          </a:xfrm>
          <a:prstGeom prst="rect">
            <a:avLst/>
          </a:prstGeom>
        </p:spPr>
        <p:txBody>
          <a:bodyPr wrap="square">
            <a:spAutoFit/>
          </a:bodyPr>
          <a:lstStyle/>
          <a:p>
            <a:pPr>
              <a:lnSpc>
                <a:spcPct val="150000"/>
              </a:lnSpc>
            </a:pPr>
            <a:r>
              <a:rPr lang="en-US" b="1" dirty="0">
                <a:latin typeface="Arial" pitchFamily="34" charset="0"/>
                <a:cs typeface="Arial" pitchFamily="34" charset="0"/>
              </a:rPr>
              <a:t>Hope this story has clarified the role of a bailout package</a:t>
            </a:r>
          </a:p>
        </p:txBody>
      </p:sp>
    </p:spTree>
    <p:extLst>
      <p:ext uri="{BB962C8B-B14F-4D97-AF65-F5344CB8AC3E}">
        <p14:creationId xmlns:p14="http://schemas.microsoft.com/office/powerpoint/2010/main" xmlns="" val="26834514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187624" y="1988840"/>
            <a:ext cx="3744416" cy="927433"/>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2132</TotalTime>
  <Words>1126</Words>
  <Application>Microsoft Office PowerPoint</Application>
  <PresentationFormat>On-screen Show (4:3)</PresentationFormat>
  <Paragraphs>96</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230</cp:revision>
  <dcterms:created xsi:type="dcterms:W3CDTF">2013-10-22T09:41:31Z</dcterms:created>
  <dcterms:modified xsi:type="dcterms:W3CDTF">2014-09-18T09:53:05Z</dcterms:modified>
</cp:coreProperties>
</file>