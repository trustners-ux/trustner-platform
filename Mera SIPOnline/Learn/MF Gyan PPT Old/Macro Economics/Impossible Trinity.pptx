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256" r:id="rId2"/>
    <p:sldId id="358" r:id="rId3"/>
    <p:sldId id="416" r:id="rId4"/>
    <p:sldId id="424" r:id="rId5"/>
    <p:sldId id="417" r:id="rId6"/>
    <p:sldId id="418" r:id="rId7"/>
    <p:sldId id="448" r:id="rId8"/>
    <p:sldId id="449" r:id="rId9"/>
    <p:sldId id="450" r:id="rId10"/>
    <p:sldId id="451" r:id="rId11"/>
    <p:sldId id="452" r:id="rId12"/>
    <p:sldId id="453" r:id="rId13"/>
    <p:sldId id="454" r:id="rId14"/>
    <p:sldId id="455" r:id="rId15"/>
    <p:sldId id="456" r:id="rId16"/>
    <p:sldId id="318" r:id="rId17"/>
    <p:sldId id="440" r:id="rId18"/>
    <p:sldId id="436" r:id="rId19"/>
    <p:sldId id="457" r:id="rId20"/>
    <p:sldId id="437" r:id="rId21"/>
    <p:sldId id="438" r:id="rId22"/>
    <p:sldId id="458" r:id="rId23"/>
    <p:sldId id="459" r:id="rId24"/>
    <p:sldId id="447" r:id="rId25"/>
    <p:sldId id="287" r:id="rId26"/>
    <p:sldId id="273" r:id="rId27"/>
  </p:sldIdLst>
  <p:sldSz cx="9144000" cy="6858000" type="screen4x3"/>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p:scale>
          <a:sx n="61" d="100"/>
          <a:sy n="61" d="100"/>
        </p:scale>
        <p:origin x="-1398" y="-9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8C07A61E-76C3-4689-98C8-6136FE77C6DD}" type="datetimeFigureOut">
              <a:rPr lang="en-US" smtClean="0"/>
              <a:t>9/26/2014</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8AA5908C-11C1-4C47-A724-A908BAB73850}"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endParaRPr lang="en-IN"/>
          </a:p>
        </p:txBody>
      </p:sp>
      <p:sp>
        <p:nvSpPr>
          <p:cNvPr id="3" name="Date Placeholder 2"/>
          <p:cNvSpPr>
            <a:spLocks noGrp="1"/>
          </p:cNvSpPr>
          <p:nvPr>
            <p:ph type="dt" idx="1"/>
          </p:nvPr>
        </p:nvSpPr>
        <p:spPr>
          <a:xfrm>
            <a:off x="3898102" y="0"/>
            <a:ext cx="2982119" cy="464820"/>
          </a:xfrm>
          <a:prstGeom prst="rect">
            <a:avLst/>
          </a:prstGeom>
        </p:spPr>
        <p:txBody>
          <a:bodyPr vert="horz" lIns="92446" tIns="46223" rIns="92446" bIns="46223" rtlCol="0"/>
          <a:lstStyle>
            <a:lvl1pPr algn="r">
              <a:defRPr sz="1200"/>
            </a:lvl1pPr>
          </a:lstStyle>
          <a:p>
            <a:fld id="{B10E05B8-715C-4FAF-BC8A-A5F0580F534E}" type="datetimeFigureOut">
              <a:rPr lang="en-US" smtClean="0"/>
              <a:pPr/>
              <a:t>9/26/2014</a:t>
            </a:fld>
            <a:endParaRPr lang="en-IN"/>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2446" tIns="46223" rIns="92446" bIns="46223" rtlCol="0" anchor="ctr"/>
          <a:lstStyle/>
          <a:p>
            <a:endParaRPr lang="en-IN"/>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2446" tIns="46223" rIns="92446" bIns="46223"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829967"/>
            <a:ext cx="2982119" cy="464820"/>
          </a:xfrm>
          <a:prstGeom prst="rect">
            <a:avLst/>
          </a:prstGeom>
        </p:spPr>
        <p:txBody>
          <a:bodyPr vert="horz" lIns="92446" tIns="46223" rIns="92446" bIns="46223" rtlCol="0" anchor="b"/>
          <a:lstStyle>
            <a:lvl1pPr algn="l">
              <a:defRPr sz="1200"/>
            </a:lvl1pPr>
          </a:lstStyle>
          <a:p>
            <a:endParaRPr lang="en-IN"/>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2446" tIns="46223" rIns="92446" bIns="46223"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hyperlink" Target="http://www.tatamutualfund.com/" TargetMode="External"/><Relationship Id="rId4" Type="http://schemas.openxmlformats.org/officeDocument/2006/relationships/hyperlink" Target="mailto:professor@tataamc.com"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392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IMPOSSIBLE TRINITY</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115616" y="2324393"/>
            <a:ext cx="3888432" cy="456535"/>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Understanding </a:t>
            </a:r>
            <a:r>
              <a:rPr lang="en-US" b="1" dirty="0" smtClean="0">
                <a:latin typeface="Arial" pitchFamily="34" charset="0"/>
                <a:cs typeface="Arial" pitchFamily="34" charset="0"/>
              </a:rPr>
              <a:t>Impossible </a:t>
            </a:r>
            <a:r>
              <a:rPr lang="en-US" b="1" dirty="0">
                <a:latin typeface="Arial" pitchFamily="34" charset="0"/>
                <a:cs typeface="Arial" pitchFamily="34" charset="0"/>
              </a:rPr>
              <a:t>Trinity</a:t>
            </a: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5" name="Rectangle 4"/>
          <p:cNvSpPr/>
          <p:nvPr/>
        </p:nvSpPr>
        <p:spPr>
          <a:xfrm>
            <a:off x="689064" y="1124744"/>
            <a:ext cx="7627352" cy="2957861"/>
          </a:xfrm>
          <a:prstGeom prst="rect">
            <a:avLst/>
          </a:prstGeom>
        </p:spPr>
        <p:txBody>
          <a:bodyPr wrap="square">
            <a:spAutoFit/>
          </a:bodyPr>
          <a:lstStyle/>
          <a:p>
            <a:pPr>
              <a:lnSpc>
                <a:spcPct val="150000"/>
              </a:lnSpc>
            </a:pPr>
            <a:r>
              <a:rPr lang="en-US" b="1" dirty="0">
                <a:latin typeface="Arial" pitchFamily="34" charset="0"/>
                <a:cs typeface="Arial" pitchFamily="34" charset="0"/>
              </a:rPr>
              <a:t>The Impossible trinity is a </a:t>
            </a:r>
            <a:r>
              <a:rPr lang="en-US" b="1" dirty="0" err="1">
                <a:latin typeface="Arial" pitchFamily="34" charset="0"/>
                <a:cs typeface="Arial" pitchFamily="34" charset="0"/>
              </a:rPr>
              <a:t>trilemma</a:t>
            </a:r>
            <a:r>
              <a:rPr lang="en-US" b="1" dirty="0">
                <a:latin typeface="Arial" pitchFamily="34" charset="0"/>
                <a:cs typeface="Arial" pitchFamily="34" charset="0"/>
              </a:rPr>
              <a:t> (difficult choice from three options) in international economics which states that it is impossible to have all three of the following at the same time:</a:t>
            </a:r>
          </a:p>
          <a:p>
            <a:pPr>
              <a:lnSpc>
                <a:spcPct val="150000"/>
              </a:lnSpc>
            </a:pPr>
            <a:r>
              <a:rPr lang="en-US" b="1" dirty="0">
                <a:latin typeface="Arial" pitchFamily="34" charset="0"/>
                <a:cs typeface="Arial" pitchFamily="34" charset="0"/>
              </a:rPr>
              <a:t> </a:t>
            </a:r>
          </a:p>
          <a:p>
            <a:pPr marL="463550" indent="-463550">
              <a:lnSpc>
                <a:spcPct val="150000"/>
              </a:lnSpc>
              <a:buFont typeface="Wingdings" pitchFamily="2" charset="2"/>
              <a:buChar char="q"/>
              <a:tabLst>
                <a:tab pos="465138" algn="l"/>
              </a:tabLst>
            </a:pPr>
            <a:r>
              <a:rPr lang="en-US" b="1" dirty="0">
                <a:latin typeface="Arial" pitchFamily="34" charset="0"/>
                <a:cs typeface="Arial" pitchFamily="34" charset="0"/>
              </a:rPr>
              <a:t>A fixed exchange rate.</a:t>
            </a:r>
          </a:p>
          <a:p>
            <a:pPr marL="463550" indent="-463550">
              <a:lnSpc>
                <a:spcPct val="150000"/>
              </a:lnSpc>
              <a:buFont typeface="Wingdings" pitchFamily="2" charset="2"/>
              <a:buChar char="q"/>
              <a:tabLst>
                <a:tab pos="465138" algn="l"/>
              </a:tabLst>
            </a:pPr>
            <a:r>
              <a:rPr lang="en-US" b="1" dirty="0">
                <a:latin typeface="Arial" pitchFamily="34" charset="0"/>
                <a:cs typeface="Arial" pitchFamily="34" charset="0"/>
              </a:rPr>
              <a:t>Free capital movement (absence of capital controls).</a:t>
            </a:r>
          </a:p>
          <a:p>
            <a:pPr marL="463550" indent="-463550">
              <a:lnSpc>
                <a:spcPct val="150000"/>
              </a:lnSpc>
              <a:buFont typeface="Wingdings" pitchFamily="2" charset="2"/>
              <a:buChar char="q"/>
              <a:tabLst>
                <a:tab pos="465138" algn="l"/>
              </a:tabLst>
            </a:pPr>
            <a:r>
              <a:rPr lang="en-US" b="1" dirty="0">
                <a:latin typeface="Arial" pitchFamily="34" charset="0"/>
                <a:cs typeface="Arial" pitchFamily="34" charset="0"/>
              </a:rPr>
              <a:t>An independent monetary policy.</a:t>
            </a: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23929" y="5025950"/>
            <a:ext cx="4320479" cy="880369"/>
          </a:xfrm>
          <a:prstGeom prst="rect">
            <a:avLst/>
          </a:prstGeom>
        </p:spPr>
        <p:txBody>
          <a:bodyPr wrap="square">
            <a:spAutoFit/>
          </a:bodyPr>
          <a:lstStyle/>
          <a:p>
            <a:pPr>
              <a:lnSpc>
                <a:spcPct val="150000"/>
              </a:lnSpc>
            </a:pPr>
            <a:r>
              <a:rPr lang="en-US" b="1" dirty="0">
                <a:latin typeface="Arial" pitchFamily="34" charset="0"/>
                <a:cs typeface="Arial" pitchFamily="34" charset="0"/>
              </a:rPr>
              <a:t>Let us understand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impossible </a:t>
            </a:r>
            <a:r>
              <a:rPr lang="en-US" b="1" dirty="0">
                <a:latin typeface="Arial" pitchFamily="34" charset="0"/>
                <a:cs typeface="Arial" pitchFamily="34" charset="0"/>
              </a:rPr>
              <a:t>trinity by way of a story.</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Tree>
    <p:extLst>
      <p:ext uri="{BB962C8B-B14F-4D97-AF65-F5344CB8AC3E}">
        <p14:creationId xmlns:p14="http://schemas.microsoft.com/office/powerpoint/2010/main" xmlns="" val="14726332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6" name="Rectangle 5"/>
          <p:cNvSpPr/>
          <p:nvPr/>
        </p:nvSpPr>
        <p:spPr>
          <a:xfrm>
            <a:off x="722096" y="980728"/>
            <a:ext cx="7018256" cy="2118529"/>
          </a:xfrm>
          <a:prstGeom prst="rect">
            <a:avLst/>
          </a:prstGeom>
        </p:spPr>
        <p:txBody>
          <a:bodyPr wrap="square">
            <a:spAutoFit/>
          </a:bodyPr>
          <a:lstStyle/>
          <a:p>
            <a:pPr>
              <a:lnSpc>
                <a:spcPct val="150000"/>
              </a:lnSpc>
            </a:pPr>
            <a:r>
              <a:rPr lang="en-US" b="1" dirty="0" err="1">
                <a:latin typeface="Arial" pitchFamily="34" charset="0"/>
                <a:cs typeface="Arial" pitchFamily="34" charset="0"/>
              </a:rPr>
              <a:t>Ashutosh</a:t>
            </a:r>
            <a:r>
              <a:rPr lang="en-US" b="1" dirty="0">
                <a:latin typeface="Arial" pitchFamily="34" charset="0"/>
                <a:cs typeface="Arial" pitchFamily="34" charset="0"/>
              </a:rPr>
              <a:t> is a young man in his late 20s who belongs to a not so rich family. His parents have taken a lot of pain to provide him all that he needed to become a successful person. He was never denied anything - whether it was clothes, bikes, education, money etc. </a:t>
            </a:r>
          </a:p>
        </p:txBody>
      </p:sp>
    </p:spTree>
    <p:extLst>
      <p:ext uri="{BB962C8B-B14F-4D97-AF65-F5344CB8AC3E}">
        <p14:creationId xmlns:p14="http://schemas.microsoft.com/office/powerpoint/2010/main" xmlns="" val="29609829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7" name="Rectangle 6"/>
          <p:cNvSpPr/>
          <p:nvPr/>
        </p:nvSpPr>
        <p:spPr>
          <a:xfrm>
            <a:off x="714348" y="1124744"/>
            <a:ext cx="724202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His parents did everything and beyond for their son. There was no way in which </a:t>
            </a:r>
            <a:r>
              <a:rPr lang="en-US" b="1" dirty="0" err="1">
                <a:latin typeface="Arial" pitchFamily="34" charset="0"/>
                <a:cs typeface="Arial" pitchFamily="34" charset="0"/>
              </a:rPr>
              <a:t>Ashutosh</a:t>
            </a:r>
            <a:r>
              <a:rPr lang="en-US" b="1" dirty="0">
                <a:latin typeface="Arial" pitchFamily="34" charset="0"/>
                <a:cs typeface="Arial" pitchFamily="34" charset="0"/>
              </a:rPr>
              <a:t> would be able to pay off the </a:t>
            </a:r>
            <a:r>
              <a:rPr lang="en-US" b="1" dirty="0" smtClean="0">
                <a:latin typeface="Arial" pitchFamily="34" charset="0"/>
                <a:cs typeface="Arial" pitchFamily="34" charset="0"/>
              </a:rPr>
              <a:t>debts</a:t>
            </a:r>
            <a:br>
              <a:rPr lang="en-US" b="1" dirty="0" smtClean="0">
                <a:latin typeface="Arial" pitchFamily="34" charset="0"/>
                <a:cs typeface="Arial" pitchFamily="34" charset="0"/>
              </a:rPr>
            </a:br>
            <a:r>
              <a:rPr lang="en-US" b="1" dirty="0" smtClean="0">
                <a:latin typeface="Arial" pitchFamily="34" charset="0"/>
                <a:cs typeface="Arial" pitchFamily="34" charset="0"/>
              </a:rPr>
              <a:t>he </a:t>
            </a:r>
            <a:r>
              <a:rPr lang="en-US" b="1" dirty="0">
                <a:latin typeface="Arial" pitchFamily="34" charset="0"/>
                <a:cs typeface="Arial" pitchFamily="34" charset="0"/>
              </a:rPr>
              <a:t>owed his parents. After all how much can you value such selfless sacrifice? </a:t>
            </a: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7" name="Rectangle 6"/>
          <p:cNvSpPr/>
          <p:nvPr/>
        </p:nvSpPr>
        <p:spPr>
          <a:xfrm>
            <a:off x="714348" y="1124744"/>
            <a:ext cx="7242028" cy="880369"/>
          </a:xfrm>
          <a:prstGeom prst="rect">
            <a:avLst/>
          </a:prstGeom>
        </p:spPr>
        <p:txBody>
          <a:bodyPr wrap="square">
            <a:spAutoFit/>
          </a:bodyPr>
          <a:lstStyle/>
          <a:p>
            <a:pPr>
              <a:lnSpc>
                <a:spcPct val="150000"/>
              </a:lnSpc>
            </a:pPr>
            <a:r>
              <a:rPr lang="en-US" b="1" dirty="0">
                <a:latin typeface="Arial" pitchFamily="34" charset="0"/>
                <a:cs typeface="Arial" pitchFamily="34" charset="0"/>
              </a:rPr>
              <a:t>Being young and eligible, </a:t>
            </a:r>
            <a:r>
              <a:rPr lang="en-US" b="1" dirty="0" err="1">
                <a:latin typeface="Arial" pitchFamily="34" charset="0"/>
                <a:cs typeface="Arial" pitchFamily="34" charset="0"/>
              </a:rPr>
              <a:t>Ashutosh’s</a:t>
            </a:r>
            <a:r>
              <a:rPr lang="en-US" b="1" dirty="0">
                <a:latin typeface="Arial" pitchFamily="34" charset="0"/>
                <a:cs typeface="Arial" pitchFamily="34" charset="0"/>
              </a:rPr>
              <a:t> parents are keen to get him married to a girl from their community. </a:t>
            </a:r>
          </a:p>
        </p:txBody>
      </p:sp>
    </p:spTree>
    <p:extLst>
      <p:ext uri="{BB962C8B-B14F-4D97-AF65-F5344CB8AC3E}">
        <p14:creationId xmlns:p14="http://schemas.microsoft.com/office/powerpoint/2010/main" xmlns="" val="27071699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7" name="Rectangle 6"/>
          <p:cNvSpPr/>
          <p:nvPr/>
        </p:nvSpPr>
        <p:spPr>
          <a:xfrm>
            <a:off x="714348" y="1124744"/>
            <a:ext cx="7386044" cy="1754326"/>
          </a:xfrm>
          <a:prstGeom prst="rect">
            <a:avLst/>
          </a:prstGeom>
        </p:spPr>
        <p:txBody>
          <a:bodyPr wrap="square">
            <a:spAutoFit/>
          </a:bodyPr>
          <a:lstStyle/>
          <a:p>
            <a:pPr>
              <a:lnSpc>
                <a:spcPct val="150000"/>
              </a:lnSpc>
            </a:pPr>
            <a:r>
              <a:rPr lang="en-US" b="1" dirty="0">
                <a:latin typeface="Arial" pitchFamily="34" charset="0"/>
                <a:cs typeface="Arial" pitchFamily="34" charset="0"/>
              </a:rPr>
              <a:t>And here comes the twist in the tale.  </a:t>
            </a:r>
            <a:r>
              <a:rPr lang="en-US" b="1" dirty="0" err="1">
                <a:latin typeface="Arial" pitchFamily="34" charset="0"/>
                <a:cs typeface="Arial" pitchFamily="34" charset="0"/>
              </a:rPr>
              <a:t>Ashutosh</a:t>
            </a:r>
            <a:r>
              <a:rPr lang="en-US" b="1" dirty="0">
                <a:latin typeface="Arial" pitchFamily="34" charset="0"/>
                <a:cs typeface="Arial" pitchFamily="34" charset="0"/>
              </a:rPr>
              <a:t> is in love with a girl from his office. She is beautiful, educated, fantastic performer and more importantly she too loves </a:t>
            </a:r>
            <a:r>
              <a:rPr lang="en-US" b="1" dirty="0" err="1">
                <a:latin typeface="Arial" pitchFamily="34" charset="0"/>
                <a:cs typeface="Arial" pitchFamily="34" charset="0"/>
              </a:rPr>
              <a:t>Ashutosh</a:t>
            </a:r>
            <a:r>
              <a:rPr lang="en-US" b="1" dirty="0">
                <a:latin typeface="Arial" pitchFamily="34" charset="0"/>
                <a:cs typeface="Arial" pitchFamily="34" charset="0"/>
              </a:rPr>
              <a:t>. She seems to be the perfect match for </a:t>
            </a:r>
            <a:r>
              <a:rPr lang="en-US" b="1" dirty="0" err="1">
                <a:latin typeface="Arial" pitchFamily="34" charset="0"/>
                <a:cs typeface="Arial" pitchFamily="34" charset="0"/>
              </a:rPr>
              <a:t>Ashutosh</a:t>
            </a:r>
            <a:r>
              <a:rPr lang="en-US" b="1" dirty="0">
                <a:latin typeface="Arial" pitchFamily="34" charset="0"/>
                <a:cs typeface="Arial" pitchFamily="34" charset="0"/>
              </a:rPr>
              <a:t> according to all his friends. </a:t>
            </a:r>
          </a:p>
        </p:txBody>
      </p:sp>
    </p:spTree>
    <p:extLst>
      <p:ext uri="{BB962C8B-B14F-4D97-AF65-F5344CB8AC3E}">
        <p14:creationId xmlns:p14="http://schemas.microsoft.com/office/powerpoint/2010/main" xmlns="" val="29140819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7" name="Rectangle 6"/>
          <p:cNvSpPr/>
          <p:nvPr/>
        </p:nvSpPr>
        <p:spPr>
          <a:xfrm>
            <a:off x="714348" y="1124744"/>
            <a:ext cx="7386044" cy="1711366"/>
          </a:xfrm>
          <a:prstGeom prst="rect">
            <a:avLst/>
          </a:prstGeom>
        </p:spPr>
        <p:txBody>
          <a:bodyPr wrap="square">
            <a:spAutoFit/>
          </a:bodyPr>
          <a:lstStyle/>
          <a:p>
            <a:pPr>
              <a:lnSpc>
                <a:spcPct val="150000"/>
              </a:lnSpc>
            </a:pPr>
            <a:r>
              <a:rPr lang="en-US" b="1" dirty="0">
                <a:latin typeface="Arial" pitchFamily="34" charset="0"/>
                <a:cs typeface="Arial" pitchFamily="34" charset="0"/>
              </a:rPr>
              <a:t>However, </a:t>
            </a:r>
            <a:r>
              <a:rPr lang="en-US" b="1" dirty="0" err="1">
                <a:latin typeface="Arial" pitchFamily="34" charset="0"/>
                <a:cs typeface="Arial" pitchFamily="34" charset="0"/>
              </a:rPr>
              <a:t>Ashutosh</a:t>
            </a:r>
            <a:r>
              <a:rPr lang="en-US" b="1" dirty="0">
                <a:latin typeface="Arial" pitchFamily="34" charset="0"/>
                <a:cs typeface="Arial" pitchFamily="34" charset="0"/>
              </a:rPr>
              <a:t> has not yet revealed his fondness for this girl to his parents. Since his parents have obliged him in the past by granting him all his wishes, he believes that they would accept </a:t>
            </a:r>
            <a:r>
              <a:rPr lang="en-US" b="1" dirty="0" err="1">
                <a:latin typeface="Arial" pitchFamily="34" charset="0"/>
                <a:cs typeface="Arial" pitchFamily="34" charset="0"/>
              </a:rPr>
              <a:t>Reena</a:t>
            </a:r>
            <a:r>
              <a:rPr lang="en-US" b="1" dirty="0">
                <a:latin typeface="Arial" pitchFamily="34" charset="0"/>
                <a:cs typeface="Arial" pitchFamily="34" charset="0"/>
              </a:rPr>
              <a:t> without batting an eyelid. </a:t>
            </a:r>
          </a:p>
        </p:txBody>
      </p:sp>
    </p:spTree>
    <p:extLst>
      <p:ext uri="{BB962C8B-B14F-4D97-AF65-F5344CB8AC3E}">
        <p14:creationId xmlns:p14="http://schemas.microsoft.com/office/powerpoint/2010/main" xmlns="" val="23954094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7" name="Rectangle 6"/>
          <p:cNvSpPr/>
          <p:nvPr/>
        </p:nvSpPr>
        <p:spPr>
          <a:xfrm>
            <a:off x="714348" y="1124744"/>
            <a:ext cx="7386044" cy="1338828"/>
          </a:xfrm>
          <a:prstGeom prst="rect">
            <a:avLst/>
          </a:prstGeom>
        </p:spPr>
        <p:txBody>
          <a:bodyPr wrap="square">
            <a:spAutoFit/>
          </a:bodyPr>
          <a:lstStyle/>
          <a:p>
            <a:pPr>
              <a:lnSpc>
                <a:spcPct val="150000"/>
              </a:lnSpc>
            </a:pPr>
            <a:r>
              <a:rPr lang="en-US" b="1" dirty="0">
                <a:latin typeface="Arial" pitchFamily="34" charset="0"/>
                <a:cs typeface="Arial" pitchFamily="34" charset="0"/>
              </a:rPr>
              <a:t>Finally the day arrives when </a:t>
            </a:r>
            <a:r>
              <a:rPr lang="en-US" b="1" dirty="0" err="1">
                <a:latin typeface="Arial" pitchFamily="34" charset="0"/>
                <a:cs typeface="Arial" pitchFamily="34" charset="0"/>
              </a:rPr>
              <a:t>Ashutosh</a:t>
            </a:r>
            <a:r>
              <a:rPr lang="en-US" b="1" dirty="0">
                <a:latin typeface="Arial" pitchFamily="34" charset="0"/>
                <a:cs typeface="Arial" pitchFamily="34" charset="0"/>
              </a:rPr>
              <a:t> makes up his mind to talk to his parents about his lady love </a:t>
            </a:r>
            <a:r>
              <a:rPr lang="en-US" b="1" dirty="0" err="1">
                <a:latin typeface="Arial" pitchFamily="34" charset="0"/>
                <a:cs typeface="Arial" pitchFamily="34" charset="0"/>
              </a:rPr>
              <a:t>Reena</a:t>
            </a:r>
            <a:r>
              <a:rPr lang="en-US" b="1" dirty="0">
                <a:latin typeface="Arial" pitchFamily="34" charset="0"/>
                <a:cs typeface="Arial" pitchFamily="34" charset="0"/>
              </a:rPr>
              <a:t>. </a:t>
            </a:r>
            <a:r>
              <a:rPr lang="en-US" b="1" dirty="0" smtClean="0">
                <a:latin typeface="Arial" pitchFamily="34" charset="0"/>
                <a:cs typeface="Arial" pitchFamily="34" charset="0"/>
              </a:rPr>
              <a:t>To </a:t>
            </a:r>
            <a:r>
              <a:rPr lang="en-US" b="1" dirty="0">
                <a:latin typeface="Arial" pitchFamily="34" charset="0"/>
                <a:cs typeface="Arial" pitchFamily="34" charset="0"/>
              </a:rPr>
              <a:t>his utter dismay his parents are aghast at his temerity. </a:t>
            </a:r>
          </a:p>
        </p:txBody>
      </p:sp>
    </p:spTree>
    <p:extLst>
      <p:ext uri="{BB962C8B-B14F-4D97-AF65-F5344CB8AC3E}">
        <p14:creationId xmlns:p14="http://schemas.microsoft.com/office/powerpoint/2010/main" xmlns="" val="42686417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7" name="Rectangle 6"/>
          <p:cNvSpPr/>
          <p:nvPr/>
        </p:nvSpPr>
        <p:spPr>
          <a:xfrm>
            <a:off x="714348" y="1124744"/>
            <a:ext cx="7386044" cy="1754326"/>
          </a:xfrm>
          <a:prstGeom prst="rect">
            <a:avLst/>
          </a:prstGeom>
        </p:spPr>
        <p:txBody>
          <a:bodyPr wrap="square">
            <a:spAutoFit/>
          </a:bodyPr>
          <a:lstStyle/>
          <a:p>
            <a:pPr>
              <a:lnSpc>
                <a:spcPct val="150000"/>
              </a:lnSpc>
            </a:pPr>
            <a:r>
              <a:rPr lang="en-US" b="1" dirty="0">
                <a:latin typeface="Arial" pitchFamily="34" charset="0"/>
                <a:cs typeface="Arial" pitchFamily="34" charset="0"/>
              </a:rPr>
              <a:t>How could </a:t>
            </a:r>
            <a:r>
              <a:rPr lang="en-US" b="1" dirty="0" err="1">
                <a:latin typeface="Arial" pitchFamily="34" charset="0"/>
                <a:cs typeface="Arial" pitchFamily="34" charset="0"/>
              </a:rPr>
              <a:t>Ashutosh</a:t>
            </a:r>
            <a:r>
              <a:rPr lang="en-US" b="1" dirty="0">
                <a:latin typeface="Arial" pitchFamily="34" charset="0"/>
                <a:cs typeface="Arial" pitchFamily="34" charset="0"/>
              </a:rPr>
              <a:t> select a girl outside their </a:t>
            </a:r>
            <a:r>
              <a:rPr lang="en-US" b="1" dirty="0" smtClean="0">
                <a:latin typeface="Arial" pitchFamily="34" charset="0"/>
                <a:cs typeface="Arial" pitchFamily="34" charset="0"/>
              </a:rPr>
              <a:t>community?</a:t>
            </a:r>
            <a:br>
              <a:rPr lang="en-US" b="1" dirty="0" smtClean="0">
                <a:latin typeface="Arial" pitchFamily="34" charset="0"/>
                <a:cs typeface="Arial" pitchFamily="34" charset="0"/>
              </a:rPr>
            </a:br>
            <a:r>
              <a:rPr lang="en-US" b="1" dirty="0" smtClean="0">
                <a:latin typeface="Arial" pitchFamily="34" charset="0"/>
                <a:cs typeface="Arial" pitchFamily="34" charset="0"/>
              </a:rPr>
              <a:t>How </a:t>
            </a:r>
            <a:r>
              <a:rPr lang="en-US" b="1" dirty="0">
                <a:latin typeface="Arial" pitchFamily="34" charset="0"/>
                <a:cs typeface="Arial" pitchFamily="34" charset="0"/>
              </a:rPr>
              <a:t>dare he steal their right of making this choice? How </a:t>
            </a:r>
            <a:r>
              <a:rPr lang="en-US" b="1" dirty="0" smtClean="0">
                <a:latin typeface="Arial" pitchFamily="34" charset="0"/>
                <a:cs typeface="Arial" pitchFamily="34" charset="0"/>
              </a:rPr>
              <a:t>could</a:t>
            </a:r>
            <a:br>
              <a:rPr lang="en-US" b="1" dirty="0" smtClean="0">
                <a:latin typeface="Arial" pitchFamily="34" charset="0"/>
                <a:cs typeface="Arial" pitchFamily="34" charset="0"/>
              </a:rPr>
            </a:br>
            <a:r>
              <a:rPr lang="en-US" b="1" dirty="0" smtClean="0">
                <a:latin typeface="Arial" pitchFamily="34" charset="0"/>
                <a:cs typeface="Arial" pitchFamily="34" charset="0"/>
              </a:rPr>
              <a:t>he </a:t>
            </a:r>
            <a:r>
              <a:rPr lang="en-US" b="1" dirty="0">
                <a:latin typeface="Arial" pitchFamily="34" charset="0"/>
                <a:cs typeface="Arial" pitchFamily="34" charset="0"/>
              </a:rPr>
              <a:t>overlook their point of view? How could they stay with her? Would she even stay with them?</a:t>
            </a:r>
          </a:p>
        </p:txBody>
      </p:sp>
    </p:spTree>
    <p:extLst>
      <p:ext uri="{BB962C8B-B14F-4D97-AF65-F5344CB8AC3E}">
        <p14:creationId xmlns:p14="http://schemas.microsoft.com/office/powerpoint/2010/main" xmlns="" val="38680064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7" name="Rectangle 6"/>
          <p:cNvSpPr/>
          <p:nvPr/>
        </p:nvSpPr>
        <p:spPr>
          <a:xfrm>
            <a:off x="714348" y="1124744"/>
            <a:ext cx="7242028" cy="2169825"/>
          </a:xfrm>
          <a:prstGeom prst="rect">
            <a:avLst/>
          </a:prstGeom>
        </p:spPr>
        <p:txBody>
          <a:bodyPr wrap="square">
            <a:spAutoFit/>
          </a:bodyPr>
          <a:lstStyle/>
          <a:p>
            <a:pPr>
              <a:lnSpc>
                <a:spcPct val="150000"/>
              </a:lnSpc>
            </a:pPr>
            <a:r>
              <a:rPr lang="en-US" b="1" dirty="0">
                <a:latin typeface="Arial" pitchFamily="34" charset="0"/>
                <a:cs typeface="Arial" pitchFamily="34" charset="0"/>
              </a:rPr>
              <a:t>This single announcement by </a:t>
            </a:r>
            <a:r>
              <a:rPr lang="en-US" b="1" dirty="0" err="1">
                <a:latin typeface="Arial" pitchFamily="34" charset="0"/>
                <a:cs typeface="Arial" pitchFamily="34" charset="0"/>
              </a:rPr>
              <a:t>Ashutosh</a:t>
            </a:r>
            <a:r>
              <a:rPr lang="en-US" b="1" dirty="0">
                <a:latin typeface="Arial" pitchFamily="34" charset="0"/>
                <a:cs typeface="Arial" pitchFamily="34" charset="0"/>
              </a:rPr>
              <a:t> was enough to bring the house down</a:t>
            </a:r>
            <a:r>
              <a:rPr lang="en-US" b="1">
                <a:latin typeface="Arial" pitchFamily="34" charset="0"/>
                <a:cs typeface="Arial" pitchFamily="34" charset="0"/>
              </a:rPr>
              <a:t>. </a:t>
            </a:r>
            <a:r>
              <a:rPr lang="en-US" b="1" smtClean="0">
                <a:latin typeface="Arial" pitchFamily="34" charset="0"/>
                <a:cs typeface="Arial" pitchFamily="34" charset="0"/>
              </a:rPr>
              <a:t>The </a:t>
            </a:r>
            <a:r>
              <a:rPr lang="en-US" b="1" dirty="0">
                <a:latin typeface="Arial" pitchFamily="34" charset="0"/>
                <a:cs typeface="Arial" pitchFamily="34" charset="0"/>
              </a:rPr>
              <a:t>situation at home goes out of hand leaving </a:t>
            </a:r>
            <a:r>
              <a:rPr lang="en-US" b="1" dirty="0" err="1">
                <a:latin typeface="Arial" pitchFamily="34" charset="0"/>
                <a:cs typeface="Arial" pitchFamily="34" charset="0"/>
              </a:rPr>
              <a:t>Ashutosh</a:t>
            </a:r>
            <a:r>
              <a:rPr lang="en-US" b="1" dirty="0">
                <a:latin typeface="Arial" pitchFamily="34" charset="0"/>
                <a:cs typeface="Arial" pitchFamily="34" charset="0"/>
              </a:rPr>
              <a:t> in a state of turmoil. He is now in a big fix</a:t>
            </a:r>
            <a:r>
              <a:rPr lang="en-US" b="1" dirty="0" smtClean="0">
                <a:latin typeface="Arial" pitchFamily="34" charset="0"/>
                <a:cs typeface="Arial" pitchFamily="34" charset="0"/>
              </a:rPr>
              <a:t>. Should </a:t>
            </a:r>
            <a:r>
              <a:rPr lang="en-US" b="1" dirty="0">
                <a:latin typeface="Arial" pitchFamily="34" charset="0"/>
                <a:cs typeface="Arial" pitchFamily="34" charset="0"/>
              </a:rPr>
              <a:t>he let go off his lady love, his lucky charm, his future ticket to a new world. Or should he toe the line of his parents. </a:t>
            </a:r>
          </a:p>
        </p:txBody>
      </p:sp>
    </p:spTree>
    <p:extLst>
      <p:ext uri="{BB962C8B-B14F-4D97-AF65-F5344CB8AC3E}">
        <p14:creationId xmlns:p14="http://schemas.microsoft.com/office/powerpoint/2010/main" xmlns="" val="32677454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7" name="Rectangle 6"/>
          <p:cNvSpPr/>
          <p:nvPr/>
        </p:nvSpPr>
        <p:spPr>
          <a:xfrm>
            <a:off x="714348" y="1124744"/>
            <a:ext cx="7242028" cy="1711366"/>
          </a:xfrm>
          <a:prstGeom prst="rect">
            <a:avLst/>
          </a:prstGeom>
        </p:spPr>
        <p:txBody>
          <a:bodyPr wrap="square">
            <a:spAutoFit/>
          </a:bodyPr>
          <a:lstStyle/>
          <a:p>
            <a:pPr>
              <a:lnSpc>
                <a:spcPct val="150000"/>
              </a:lnSpc>
            </a:pPr>
            <a:r>
              <a:rPr lang="en-US" b="1" dirty="0">
                <a:latin typeface="Arial" pitchFamily="34" charset="0"/>
                <a:cs typeface="Arial" pitchFamily="34" charset="0"/>
              </a:rPr>
              <a:t>While he is still contemplating what needs to be done, his father drops another bombshell. He tells </a:t>
            </a:r>
            <a:r>
              <a:rPr lang="en-US" b="1" dirty="0" err="1">
                <a:latin typeface="Arial" pitchFamily="34" charset="0"/>
                <a:cs typeface="Arial" pitchFamily="34" charset="0"/>
              </a:rPr>
              <a:t>Ashutosh</a:t>
            </a:r>
            <a:r>
              <a:rPr lang="en-US" b="1" dirty="0">
                <a:latin typeface="Arial" pitchFamily="34" charset="0"/>
                <a:cs typeface="Arial" pitchFamily="34" charset="0"/>
              </a:rPr>
              <a:t> that he is burdened with enormous debt as the expenses that were made for </a:t>
            </a:r>
            <a:r>
              <a:rPr lang="en-US" b="1" dirty="0" err="1">
                <a:latin typeface="Arial" pitchFamily="34" charset="0"/>
                <a:cs typeface="Arial" pitchFamily="34" charset="0"/>
              </a:rPr>
              <a:t>Ashutosh</a:t>
            </a:r>
            <a:r>
              <a:rPr lang="en-US" b="1" dirty="0">
                <a:latin typeface="Arial" pitchFamily="34" charset="0"/>
                <a:cs typeface="Arial" pitchFamily="34" charset="0"/>
              </a:rPr>
              <a:t> during his growing up years swelled year by year.</a:t>
            </a:r>
          </a:p>
        </p:txBody>
      </p:sp>
    </p:spTree>
    <p:extLst>
      <p:ext uri="{BB962C8B-B14F-4D97-AF65-F5344CB8AC3E}">
        <p14:creationId xmlns:p14="http://schemas.microsoft.com/office/powerpoint/2010/main" xmlns="" val="39607948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7" name="Rectangle 6"/>
          <p:cNvSpPr/>
          <p:nvPr/>
        </p:nvSpPr>
        <p:spPr>
          <a:xfrm>
            <a:off x="714348" y="1124744"/>
            <a:ext cx="7242028" cy="2118529"/>
          </a:xfrm>
          <a:prstGeom prst="rect">
            <a:avLst/>
          </a:prstGeom>
        </p:spPr>
        <p:txBody>
          <a:bodyPr wrap="square">
            <a:spAutoFit/>
          </a:bodyPr>
          <a:lstStyle/>
          <a:p>
            <a:pPr>
              <a:lnSpc>
                <a:spcPct val="150000"/>
              </a:lnSpc>
            </a:pPr>
            <a:r>
              <a:rPr lang="en-US" b="1" dirty="0">
                <a:latin typeface="Arial" pitchFamily="34" charset="0"/>
                <a:cs typeface="Arial" pitchFamily="34" charset="0"/>
              </a:rPr>
              <a:t>Now it was getting unwieldy to manage the debt. The father of the girl who they had selected has promised to pay off their debt. This would have eased his burden at this ripe old age and he could die in peace without the burden getting transmitted to his mother.</a:t>
            </a:r>
          </a:p>
        </p:txBody>
      </p:sp>
    </p:spTree>
    <p:extLst>
      <p:ext uri="{BB962C8B-B14F-4D97-AF65-F5344CB8AC3E}">
        <p14:creationId xmlns:p14="http://schemas.microsoft.com/office/powerpoint/2010/main" xmlns="" val="1770193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7" name="Rectangle 6"/>
          <p:cNvSpPr/>
          <p:nvPr/>
        </p:nvSpPr>
        <p:spPr>
          <a:xfrm>
            <a:off x="714348" y="1124744"/>
            <a:ext cx="7242028" cy="2585323"/>
          </a:xfrm>
          <a:prstGeom prst="rect">
            <a:avLst/>
          </a:prstGeom>
        </p:spPr>
        <p:txBody>
          <a:bodyPr wrap="square">
            <a:spAutoFit/>
          </a:bodyPr>
          <a:lstStyle/>
          <a:p>
            <a:pPr>
              <a:lnSpc>
                <a:spcPct val="150000"/>
              </a:lnSpc>
            </a:pPr>
            <a:r>
              <a:rPr lang="en-US" b="1" dirty="0">
                <a:latin typeface="Arial" pitchFamily="34" charset="0"/>
                <a:cs typeface="Arial" pitchFamily="34" charset="0"/>
              </a:rPr>
              <a:t>The matter was getting more and more complicated </a:t>
            </a:r>
            <a:r>
              <a:rPr lang="en-US" b="1" dirty="0" smtClean="0">
                <a:latin typeface="Arial" pitchFamily="34" charset="0"/>
                <a:cs typeface="Arial" pitchFamily="34" charset="0"/>
              </a:rPr>
              <a:t>now. First </a:t>
            </a:r>
            <a:r>
              <a:rPr lang="en-US" b="1" dirty="0">
                <a:latin typeface="Arial" pitchFamily="34" charset="0"/>
                <a:cs typeface="Arial" pitchFamily="34" charset="0"/>
              </a:rPr>
              <a:t>it was a dilemma between making one party happy - Parents or Sweetheart. Now this third dimension just opened up - The curse of debt for which he found himself responsible.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The dilemma had transformed into a </a:t>
            </a:r>
            <a:r>
              <a:rPr lang="en-US" b="1" dirty="0" err="1">
                <a:latin typeface="Arial" pitchFamily="34" charset="0"/>
                <a:cs typeface="Arial" pitchFamily="34" charset="0"/>
              </a:rPr>
              <a:t>trilemma</a:t>
            </a:r>
            <a:r>
              <a:rPr lang="en-US" b="1" dirty="0">
                <a:latin typeface="Arial" pitchFamily="34" charset="0"/>
                <a:cs typeface="Arial" pitchFamily="34" charset="0"/>
              </a:rPr>
              <a:t>.</a:t>
            </a:r>
          </a:p>
        </p:txBody>
      </p:sp>
    </p:spTree>
    <p:extLst>
      <p:ext uri="{BB962C8B-B14F-4D97-AF65-F5344CB8AC3E}">
        <p14:creationId xmlns:p14="http://schemas.microsoft.com/office/powerpoint/2010/main" xmlns="" val="15342245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5" name="Rectangle 4"/>
          <p:cNvSpPr/>
          <p:nvPr/>
        </p:nvSpPr>
        <p:spPr>
          <a:xfrm>
            <a:off x="2987824" y="1043151"/>
            <a:ext cx="3960440" cy="2169825"/>
          </a:xfrm>
          <a:prstGeom prst="rect">
            <a:avLst/>
          </a:prstGeom>
        </p:spPr>
        <p:txBody>
          <a:bodyPr wrap="square">
            <a:spAutoFit/>
          </a:bodyPr>
          <a:lstStyle/>
          <a:p>
            <a:pPr>
              <a:lnSpc>
                <a:spcPct val="150000"/>
              </a:lnSpc>
            </a:pPr>
            <a:r>
              <a:rPr lang="en-US" b="1" dirty="0">
                <a:latin typeface="Arial" pitchFamily="34" charset="0"/>
                <a:cs typeface="Arial" pitchFamily="34" charset="0"/>
              </a:rPr>
              <a:t>This story explains the </a:t>
            </a:r>
            <a:r>
              <a:rPr lang="en-US" b="1" dirty="0" err="1">
                <a:latin typeface="Arial" pitchFamily="34" charset="0"/>
                <a:cs typeface="Arial" pitchFamily="34" charset="0"/>
              </a:rPr>
              <a:t>trilemma</a:t>
            </a:r>
            <a:r>
              <a:rPr lang="en-US" b="1" dirty="0">
                <a:latin typeface="Arial" pitchFamily="34" charset="0"/>
                <a:cs typeface="Arial" pitchFamily="34" charset="0"/>
              </a:rPr>
              <a:t> before the RBI governor when he was to announce the monetary policy due to the rupee slipping and losing value.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23928" y="4067487"/>
            <a:ext cx="4608512" cy="2169825"/>
          </a:xfrm>
          <a:prstGeom prst="rect">
            <a:avLst/>
          </a:prstGeom>
        </p:spPr>
        <p:txBody>
          <a:bodyPr wrap="square">
            <a:spAutoFit/>
          </a:bodyPr>
          <a:lstStyle/>
          <a:p>
            <a:pPr>
              <a:lnSpc>
                <a:spcPct val="150000"/>
              </a:lnSpc>
            </a:pPr>
            <a:r>
              <a:rPr lang="en-US" b="1" dirty="0">
                <a:latin typeface="Arial" pitchFamily="34" charset="0"/>
                <a:cs typeface="Arial" pitchFamily="34" charset="0"/>
              </a:rPr>
              <a:t>The governor was compelled to raise interest rates and go against the market expectation of reducing interest rates and encouraging growth which of late had slowed down dramatically.</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Tree>
    <p:extLst>
      <p:ext uri="{BB962C8B-B14F-4D97-AF65-F5344CB8AC3E}">
        <p14:creationId xmlns:p14="http://schemas.microsoft.com/office/powerpoint/2010/main" xmlns="" val="15335680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7" name="Rectangle 6"/>
          <p:cNvSpPr/>
          <p:nvPr/>
        </p:nvSpPr>
        <p:spPr>
          <a:xfrm>
            <a:off x="714348" y="1052736"/>
            <a:ext cx="7674076" cy="2585323"/>
          </a:xfrm>
          <a:prstGeom prst="rect">
            <a:avLst/>
          </a:prstGeom>
        </p:spPr>
        <p:txBody>
          <a:bodyPr wrap="square">
            <a:spAutoFit/>
          </a:bodyPr>
          <a:lstStyle/>
          <a:p>
            <a:pPr>
              <a:lnSpc>
                <a:spcPct val="150000"/>
              </a:lnSpc>
            </a:pPr>
            <a:r>
              <a:rPr lang="en-US" b="1" dirty="0">
                <a:latin typeface="Arial" pitchFamily="34" charset="0"/>
                <a:cs typeface="Arial" pitchFamily="34" charset="0"/>
              </a:rPr>
              <a:t>At the beginning of 2013-14, the scenario was favorable for reducing interest rates because of the following reasons:-</a:t>
            </a: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Inflation under control</a:t>
            </a:r>
          </a:p>
          <a:p>
            <a:pPr marL="465138" lvl="0" indent="-465138">
              <a:lnSpc>
                <a:spcPct val="150000"/>
              </a:lnSpc>
              <a:buFont typeface="Wingdings" pitchFamily="2" charset="2"/>
              <a:buChar char="q"/>
              <a:tabLst>
                <a:tab pos="465138" algn="l"/>
              </a:tabLst>
            </a:pPr>
            <a:r>
              <a:rPr lang="en-US" b="1" dirty="0">
                <a:latin typeface="Arial" pitchFamily="34" charset="0"/>
                <a:cs typeface="Arial" pitchFamily="34" charset="0"/>
              </a:rPr>
              <a:t>Comfortable foreign inflows </a:t>
            </a:r>
          </a:p>
          <a:p>
            <a:pPr marL="465138" lvl="0" indent="-465138">
              <a:lnSpc>
                <a:spcPct val="150000"/>
              </a:lnSpc>
              <a:buFont typeface="Wingdings" pitchFamily="2" charset="2"/>
              <a:buChar char="q"/>
              <a:tabLst>
                <a:tab pos="465138" algn="l"/>
              </a:tabLst>
            </a:pPr>
            <a:r>
              <a:rPr lang="en-US" b="1" dirty="0">
                <a:latin typeface="Arial" pitchFamily="34" charset="0"/>
                <a:cs typeface="Arial" pitchFamily="34" charset="0"/>
              </a:rPr>
              <a:t>Picking up of Reforms in FDI, and</a:t>
            </a:r>
          </a:p>
          <a:p>
            <a:pPr marL="465138" lvl="0" indent="-465138">
              <a:lnSpc>
                <a:spcPct val="150000"/>
              </a:lnSpc>
              <a:buFont typeface="Wingdings" pitchFamily="2" charset="2"/>
              <a:buChar char="q"/>
              <a:tabLst>
                <a:tab pos="465138" algn="l"/>
              </a:tabLst>
            </a:pPr>
            <a:r>
              <a:rPr lang="en-US" b="1" dirty="0">
                <a:latin typeface="Arial" pitchFamily="34" charset="0"/>
                <a:cs typeface="Arial" pitchFamily="34" charset="0"/>
              </a:rPr>
              <a:t>Rupee around </a:t>
            </a:r>
            <a:r>
              <a:rPr lang="en-US" b="1" dirty="0" err="1">
                <a:latin typeface="Arial" pitchFamily="34" charset="0"/>
                <a:cs typeface="Arial" pitchFamily="34" charset="0"/>
              </a:rPr>
              <a:t>Rs</a:t>
            </a:r>
            <a:r>
              <a:rPr lang="en-US" b="1" dirty="0">
                <a:latin typeface="Arial" pitchFamily="34" charset="0"/>
                <a:cs typeface="Arial" pitchFamily="34" charset="0"/>
              </a:rPr>
              <a:t>. 54 per dollar</a:t>
            </a:r>
          </a:p>
        </p:txBody>
      </p:sp>
    </p:spTree>
    <p:extLst>
      <p:ext uri="{BB962C8B-B14F-4D97-AF65-F5344CB8AC3E}">
        <p14:creationId xmlns:p14="http://schemas.microsoft.com/office/powerpoint/2010/main" xmlns="" val="29699543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4" name="Rectangle 3"/>
          <p:cNvSpPr/>
          <p:nvPr/>
        </p:nvSpPr>
        <p:spPr>
          <a:xfrm>
            <a:off x="2843808" y="1340768"/>
            <a:ext cx="4248472" cy="1338828"/>
          </a:xfrm>
          <a:prstGeom prst="rect">
            <a:avLst/>
          </a:prstGeom>
        </p:spPr>
        <p:txBody>
          <a:bodyPr wrap="square">
            <a:spAutoFit/>
          </a:bodyPr>
          <a:lstStyle/>
          <a:p>
            <a:pPr>
              <a:lnSpc>
                <a:spcPct val="150000"/>
              </a:lnSpc>
            </a:pPr>
            <a:r>
              <a:rPr lang="en-US" b="1" dirty="0">
                <a:latin typeface="Arial" pitchFamily="34" charset="0"/>
                <a:cs typeface="Arial" pitchFamily="34" charset="0"/>
              </a:rPr>
              <a:t>Accordingly, the RBI had started to ease the monetary policy to bring back growth and investment.</a:t>
            </a:r>
          </a:p>
        </p:txBody>
      </p:sp>
    </p:spTree>
    <p:extLst>
      <p:ext uri="{BB962C8B-B14F-4D97-AF65-F5344CB8AC3E}">
        <p14:creationId xmlns:p14="http://schemas.microsoft.com/office/powerpoint/2010/main" xmlns="" val="26250007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7" name="Rectangle 6"/>
          <p:cNvSpPr/>
          <p:nvPr/>
        </p:nvSpPr>
        <p:spPr>
          <a:xfrm>
            <a:off x="714348" y="1052736"/>
            <a:ext cx="7026004" cy="1287532"/>
          </a:xfrm>
          <a:prstGeom prst="rect">
            <a:avLst/>
          </a:prstGeom>
        </p:spPr>
        <p:txBody>
          <a:bodyPr wrap="square">
            <a:spAutoFit/>
          </a:bodyPr>
          <a:lstStyle/>
          <a:p>
            <a:pPr>
              <a:lnSpc>
                <a:spcPct val="150000"/>
              </a:lnSpc>
            </a:pPr>
            <a:r>
              <a:rPr lang="en-US" b="1" dirty="0">
                <a:latin typeface="Arial" pitchFamily="34" charset="0"/>
                <a:cs typeface="Arial" pitchFamily="34" charset="0"/>
              </a:rPr>
              <a:t>But, unfortunately since mid-June 2013, emerging markets including India saw huge sell-off by FIIs adversely affecting our exchange reserves.</a:t>
            </a:r>
          </a:p>
        </p:txBody>
      </p:sp>
    </p:spTree>
    <p:extLst>
      <p:ext uri="{BB962C8B-B14F-4D97-AF65-F5344CB8AC3E}">
        <p14:creationId xmlns:p14="http://schemas.microsoft.com/office/powerpoint/2010/main" xmlns="" val="4363334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7" name="Rectangle 6"/>
          <p:cNvSpPr/>
          <p:nvPr/>
        </p:nvSpPr>
        <p:spPr>
          <a:xfrm>
            <a:off x="714348" y="1077898"/>
            <a:ext cx="7386044" cy="1754326"/>
          </a:xfrm>
          <a:prstGeom prst="rect">
            <a:avLst/>
          </a:prstGeom>
        </p:spPr>
        <p:txBody>
          <a:bodyPr wrap="square">
            <a:spAutoFit/>
          </a:bodyPr>
          <a:lstStyle/>
          <a:p>
            <a:pPr>
              <a:lnSpc>
                <a:spcPct val="150000"/>
              </a:lnSpc>
            </a:pPr>
            <a:r>
              <a:rPr lang="en-US" b="1" dirty="0">
                <a:latin typeface="Arial" pitchFamily="34" charset="0"/>
                <a:cs typeface="Arial" pitchFamily="34" charset="0"/>
              </a:rPr>
              <a:t>India’s balance of payments position was getting more and more vulnerable. This resulted in a sharp depreciation of the rupee to </a:t>
            </a:r>
            <a:r>
              <a:rPr lang="en-US" b="1" dirty="0" err="1">
                <a:latin typeface="Arial" pitchFamily="34" charset="0"/>
                <a:cs typeface="Arial" pitchFamily="34" charset="0"/>
              </a:rPr>
              <a:t>Rs</a:t>
            </a:r>
            <a:r>
              <a:rPr lang="en-US" b="1" dirty="0">
                <a:latin typeface="Arial" pitchFamily="34" charset="0"/>
                <a:cs typeface="Arial" pitchFamily="34" charset="0"/>
              </a:rPr>
              <a:t>. 65 per dollar and the march towards the bottom has perhaps not abated as yet. </a:t>
            </a:r>
          </a:p>
        </p:txBody>
      </p:sp>
    </p:spTree>
    <p:extLst>
      <p:ext uri="{BB962C8B-B14F-4D97-AF65-F5344CB8AC3E}">
        <p14:creationId xmlns:p14="http://schemas.microsoft.com/office/powerpoint/2010/main" xmlns="" val="40531702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7" name="Rectangle 6"/>
          <p:cNvSpPr/>
          <p:nvPr/>
        </p:nvSpPr>
        <p:spPr>
          <a:xfrm>
            <a:off x="714348" y="1077898"/>
            <a:ext cx="7386044" cy="1703030"/>
          </a:xfrm>
          <a:prstGeom prst="rect">
            <a:avLst/>
          </a:prstGeom>
        </p:spPr>
        <p:txBody>
          <a:bodyPr wrap="square">
            <a:spAutoFit/>
          </a:bodyPr>
          <a:lstStyle/>
          <a:p>
            <a:pPr>
              <a:lnSpc>
                <a:spcPct val="150000"/>
              </a:lnSpc>
            </a:pPr>
            <a:r>
              <a:rPr lang="en-US" b="1" dirty="0">
                <a:latin typeface="Arial" pitchFamily="34" charset="0"/>
                <a:cs typeface="Arial" pitchFamily="34" charset="0"/>
              </a:rPr>
              <a:t>A weakening rupee is a lead indicator for inflation and hence with the potential threat of rising inflation again, the RBI had to take the unpleasant decision of raising interest rates and hurting growth in the bargain.</a:t>
            </a:r>
          </a:p>
        </p:txBody>
      </p:sp>
    </p:spTree>
    <p:extLst>
      <p:ext uri="{BB962C8B-B14F-4D97-AF65-F5344CB8AC3E}">
        <p14:creationId xmlns:p14="http://schemas.microsoft.com/office/powerpoint/2010/main" xmlns="" val="2237264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
        <p:nvSpPr>
          <p:cNvPr id="7" name="Rectangle 6"/>
          <p:cNvSpPr/>
          <p:nvPr/>
        </p:nvSpPr>
        <p:spPr>
          <a:xfrm>
            <a:off x="714348" y="1077898"/>
            <a:ext cx="7674076" cy="1338828"/>
          </a:xfrm>
          <a:prstGeom prst="rect">
            <a:avLst/>
          </a:prstGeom>
        </p:spPr>
        <p:txBody>
          <a:bodyPr wrap="square">
            <a:spAutoFit/>
          </a:bodyPr>
          <a:lstStyle/>
          <a:p>
            <a:pPr>
              <a:lnSpc>
                <a:spcPct val="150000"/>
              </a:lnSpc>
            </a:pPr>
            <a:r>
              <a:rPr lang="en-US" b="1" dirty="0">
                <a:latin typeface="Arial" pitchFamily="34" charset="0"/>
                <a:cs typeface="Arial" pitchFamily="34" charset="0"/>
              </a:rPr>
              <a:t>This became an impossible trinity or </a:t>
            </a:r>
            <a:r>
              <a:rPr lang="en-US" b="1" dirty="0" err="1">
                <a:latin typeface="Arial" pitchFamily="34" charset="0"/>
                <a:cs typeface="Arial" pitchFamily="34" charset="0"/>
              </a:rPr>
              <a:t>trilemma</a:t>
            </a:r>
            <a:r>
              <a:rPr lang="en-US" b="1" dirty="0">
                <a:latin typeface="Arial" pitchFamily="34" charset="0"/>
                <a:cs typeface="Arial" pitchFamily="34" charset="0"/>
              </a:rPr>
              <a:t> for </a:t>
            </a:r>
            <a:r>
              <a:rPr lang="en-US" b="1" dirty="0" smtClean="0">
                <a:latin typeface="Arial" pitchFamily="34" charset="0"/>
                <a:cs typeface="Arial" pitchFamily="34" charset="0"/>
              </a:rPr>
              <a:t>RBI. The </a:t>
            </a:r>
            <a:r>
              <a:rPr lang="en-US" b="1" dirty="0">
                <a:latin typeface="Arial" pitchFamily="34" charset="0"/>
                <a:cs typeface="Arial" pitchFamily="34" charset="0"/>
              </a:rPr>
              <a:t>dilemma initially was between inflation and </a:t>
            </a:r>
            <a:r>
              <a:rPr lang="en-US" b="1" dirty="0" smtClean="0">
                <a:latin typeface="Arial" pitchFamily="34" charset="0"/>
                <a:cs typeface="Arial" pitchFamily="34" charset="0"/>
              </a:rPr>
              <a:t>growth. All </a:t>
            </a:r>
            <a:r>
              <a:rPr lang="en-US" b="1" dirty="0">
                <a:latin typeface="Arial" pitchFamily="34" charset="0"/>
                <a:cs typeface="Arial" pitchFamily="34" charset="0"/>
              </a:rPr>
              <a:t>of a sudden </a:t>
            </a:r>
            <a:r>
              <a:rPr lang="en-US" b="1" dirty="0" smtClean="0">
                <a:latin typeface="Arial" pitchFamily="34" charset="0"/>
                <a:cs typeface="Arial" pitchFamily="34" charset="0"/>
              </a:rPr>
              <a:t>there</a:t>
            </a:r>
            <a:br>
              <a:rPr lang="en-US" b="1" dirty="0" smtClean="0">
                <a:latin typeface="Arial" pitchFamily="34" charset="0"/>
                <a:cs typeface="Arial" pitchFamily="34" charset="0"/>
              </a:rPr>
            </a:br>
            <a:r>
              <a:rPr lang="en-US" b="1" dirty="0" smtClean="0">
                <a:latin typeface="Arial" pitchFamily="34" charset="0"/>
                <a:cs typeface="Arial" pitchFamily="34" charset="0"/>
              </a:rPr>
              <a:t>was </a:t>
            </a:r>
            <a:r>
              <a:rPr lang="en-US" b="1" dirty="0">
                <a:latin typeface="Arial" pitchFamily="34" charset="0"/>
                <a:cs typeface="Arial" pitchFamily="34" charset="0"/>
              </a:rPr>
              <a:t>a new demon on the front door called rupee depreciation.</a:t>
            </a:r>
          </a:p>
        </p:txBody>
      </p:sp>
    </p:spTree>
    <p:extLst>
      <p:ext uri="{BB962C8B-B14F-4D97-AF65-F5344CB8AC3E}">
        <p14:creationId xmlns:p14="http://schemas.microsoft.com/office/powerpoint/2010/main" xmlns="" val="226947905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4397" y="4725144"/>
            <a:ext cx="4320480" cy="1338828"/>
          </a:xfrm>
          <a:prstGeom prst="rect">
            <a:avLst/>
          </a:prstGeom>
        </p:spPr>
        <p:txBody>
          <a:bodyPr wrap="square">
            <a:spAutoFit/>
          </a:bodyPr>
          <a:lstStyle/>
          <a:p>
            <a:pPr>
              <a:lnSpc>
                <a:spcPct val="150000"/>
              </a:lnSpc>
            </a:pPr>
            <a:r>
              <a:rPr lang="en-US" b="1" dirty="0">
                <a:latin typeface="Arial" pitchFamily="34" charset="0"/>
                <a:cs typeface="Arial" pitchFamily="34" charset="0"/>
              </a:rPr>
              <a:t>Hope the above </a:t>
            </a:r>
            <a:r>
              <a:rPr lang="en-US" b="1" dirty="0" smtClean="0">
                <a:latin typeface="Arial" pitchFamily="34" charset="0"/>
                <a:cs typeface="Arial" pitchFamily="34" charset="0"/>
              </a:rPr>
              <a:t>explanation</a:t>
            </a:r>
            <a:br>
              <a:rPr lang="en-US" b="1" dirty="0" smtClean="0">
                <a:latin typeface="Arial" pitchFamily="34" charset="0"/>
                <a:cs typeface="Arial" pitchFamily="34" charset="0"/>
              </a:rPr>
            </a:br>
            <a:r>
              <a:rPr lang="en-US" b="1" dirty="0" smtClean="0">
                <a:latin typeface="Arial" pitchFamily="34" charset="0"/>
                <a:cs typeface="Arial" pitchFamily="34" charset="0"/>
              </a:rPr>
              <a:t>would </a:t>
            </a:r>
            <a:r>
              <a:rPr lang="en-US" b="1" dirty="0">
                <a:latin typeface="Arial" pitchFamily="34" charset="0"/>
                <a:cs typeface="Arial" pitchFamily="34" charset="0"/>
              </a:rPr>
              <a:t>have given you an idea of the </a:t>
            </a:r>
            <a:r>
              <a:rPr lang="en-US" b="1" dirty="0" err="1">
                <a:latin typeface="Arial" pitchFamily="34" charset="0"/>
                <a:cs typeface="Arial" pitchFamily="34" charset="0"/>
              </a:rPr>
              <a:t>trilemma</a:t>
            </a:r>
            <a:r>
              <a:rPr lang="en-US" b="1" dirty="0">
                <a:latin typeface="Arial" pitchFamily="34" charset="0"/>
                <a:cs typeface="Arial" pitchFamily="34" charset="0"/>
              </a:rPr>
              <a:t> of RBI.</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IMPOSSIBLE TRINITY</a:t>
            </a:r>
          </a:p>
        </p:txBody>
      </p:sp>
    </p:spTree>
    <p:extLst>
      <p:ext uri="{BB962C8B-B14F-4D97-AF65-F5344CB8AC3E}">
        <p14:creationId xmlns:p14="http://schemas.microsoft.com/office/powerpoint/2010/main" xmlns="" val="19746173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204864"/>
            <a:ext cx="4032448" cy="701731"/>
          </a:xfrm>
          <a:prstGeom prst="rect">
            <a:avLst/>
          </a:prstGeom>
        </p:spPr>
        <p:txBody>
          <a:bodyPr wrap="square">
            <a:spAutoFit/>
          </a:bodyPr>
          <a:lstStyle/>
          <a:p>
            <a:pPr marL="342900" indent="-342900" algn="ctr">
              <a:spcBef>
                <a:spcPct val="20000"/>
              </a:spcBef>
            </a:pPr>
            <a:r>
              <a:rPr lang="en-US" b="1" dirty="0">
                <a:latin typeface="Arial" pitchFamily="34" charset="0"/>
                <a:cs typeface="Arial" pitchFamily="34" charset="0"/>
              </a:rPr>
              <a:t>Please give us your feedback at </a:t>
            </a:r>
          </a:p>
          <a:p>
            <a:pPr marL="342900" indent="-342900" algn="ctr">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
        <p:nvSpPr>
          <p:cNvPr id="3" name="Rectangle 2"/>
          <p:cNvSpPr/>
          <p:nvPr/>
        </p:nvSpPr>
        <p:spPr>
          <a:xfrm>
            <a:off x="1421904" y="1340768"/>
            <a:ext cx="3150096" cy="646331"/>
          </a:xfrm>
          <a:prstGeom prst="rect">
            <a:avLst/>
          </a:prstGeom>
        </p:spPr>
        <p:txBody>
          <a:bodyPr wrap="square">
            <a:spAutoFit/>
          </a:bodyPr>
          <a:lstStyle/>
          <a:p>
            <a:pPr algn="ctr"/>
            <a:r>
              <a:rPr lang="en-US" b="1" dirty="0">
                <a:latin typeface="Arial" pitchFamily="34" charset="0"/>
                <a:cs typeface="Arial" pitchFamily="34" charset="0"/>
              </a:rPr>
              <a:t>For more lessons visit</a:t>
            </a:r>
          </a:p>
          <a:p>
            <a:pPr algn="ctr"/>
            <a:r>
              <a:rPr lang="en-US" b="1" u="sng" dirty="0">
                <a:latin typeface="Arial" pitchFamily="34" charset="0"/>
                <a:cs typeface="Arial" pitchFamily="34" charset="0"/>
                <a:hlinkClick r:id="rId5"/>
              </a:rPr>
              <a:t>www.tatamutualfund.com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3014</TotalTime>
  <Words>945</Words>
  <Application>Microsoft Office PowerPoint</Application>
  <PresentationFormat>On-screen Show (4:3)</PresentationFormat>
  <Paragraphs>64</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397</cp:revision>
  <dcterms:created xsi:type="dcterms:W3CDTF">2013-10-22T09:41:31Z</dcterms:created>
  <dcterms:modified xsi:type="dcterms:W3CDTF">2014-09-26T12:13:44Z</dcterms:modified>
</cp:coreProperties>
</file>