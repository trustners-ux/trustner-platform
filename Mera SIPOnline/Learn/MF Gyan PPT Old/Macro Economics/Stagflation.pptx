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58" r:id="rId3"/>
    <p:sldId id="473" r:id="rId4"/>
    <p:sldId id="484" r:id="rId5"/>
    <p:sldId id="416" r:id="rId6"/>
    <p:sldId id="485" r:id="rId7"/>
    <p:sldId id="486" r:id="rId8"/>
    <p:sldId id="487" r:id="rId9"/>
    <p:sldId id="475" r:id="rId10"/>
    <p:sldId id="469" r:id="rId11"/>
    <p:sldId id="456" r:id="rId12"/>
    <p:sldId id="483"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2" d="100"/>
          <a:sy n="62" d="100"/>
        </p:scale>
        <p:origin x="-1512" y="-1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mailto:lchaturvedi@tataamc.com" TargetMode="Externa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605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28728" y="1934166"/>
            <a:ext cx="3214710"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Stagflation </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86314" y="2143116"/>
            <a:ext cx="3500462" cy="4247317"/>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While we are perhaps overexposed to the term “inflation”, it would be interesting to </a:t>
            </a:r>
            <a:r>
              <a:rPr lang="en-US" b="1" dirty="0" smtClean="0">
                <a:latin typeface="Arial" pitchFamily="34" charset="0"/>
                <a:cs typeface="Arial" pitchFamily="34" charset="0"/>
              </a:rPr>
              <a:t>understand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smtClean="0">
                <a:latin typeface="Arial" pitchFamily="34" charset="0"/>
                <a:cs typeface="Arial" pitchFamily="34" charset="0"/>
              </a:rPr>
              <a:t>concept of </a:t>
            </a:r>
            <a:r>
              <a:rPr lang="en-US" b="1" dirty="0" smtClean="0">
                <a:latin typeface="Arial" pitchFamily="34" charset="0"/>
                <a:cs typeface="Arial" pitchFamily="34" charset="0"/>
              </a:rPr>
              <a:t>stagflation</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smtClean="0">
                <a:latin typeface="Arial" pitchFamily="34" charset="0"/>
                <a:cs typeface="Arial" pitchFamily="34" charset="0"/>
              </a:rPr>
              <a:t>this context.</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In the next few slides </a:t>
            </a:r>
            <a:r>
              <a:rPr lang="en-US" b="1" dirty="0" smtClean="0">
                <a:latin typeface="Arial" pitchFamily="34" charset="0"/>
                <a:cs typeface="Arial" pitchFamily="34" charset="0"/>
              </a:rPr>
              <a:t>let</a:t>
            </a:r>
            <a:br>
              <a:rPr lang="en-US" b="1" dirty="0" smtClean="0">
                <a:latin typeface="Arial" pitchFamily="34" charset="0"/>
                <a:cs typeface="Arial" pitchFamily="34" charset="0"/>
              </a:rPr>
            </a:br>
            <a:r>
              <a:rPr lang="en-US" b="1" dirty="0" smtClean="0">
                <a:latin typeface="Arial" pitchFamily="34" charset="0"/>
                <a:cs typeface="Arial" pitchFamily="34" charset="0"/>
              </a:rPr>
              <a:t>me </a:t>
            </a:r>
            <a:r>
              <a:rPr lang="en-US" b="1" dirty="0" smtClean="0">
                <a:latin typeface="Arial" pitchFamily="34" charset="0"/>
                <a:cs typeface="Arial" pitchFamily="34" charset="0"/>
              </a:rPr>
              <a:t>try and explain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same </a:t>
            </a:r>
            <a:r>
              <a:rPr lang="en-US" b="1" dirty="0" smtClean="0">
                <a:latin typeface="Arial" pitchFamily="34" charset="0"/>
                <a:cs typeface="Arial" pitchFamily="34" charset="0"/>
              </a:rPr>
              <a:t>to you.</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785918" y="2278227"/>
            <a:ext cx="2428892" cy="50783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What is Stagflation?</a:t>
            </a:r>
            <a:endParaRPr lang="en-US" b="1" baseline="70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597712" cy="4108817"/>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While inflation refers to rising prices in a growing economy, stagflation takes place when price rises are accompanied by a stagnant economy.</a:t>
            </a:r>
          </a:p>
          <a:p>
            <a:pPr marL="441325" indent="-441325">
              <a:lnSpc>
                <a:spcPct val="150000"/>
              </a:lnSpc>
              <a:buFont typeface="Wingdings" pitchFamily="2" charset="2"/>
              <a:buChar char="q"/>
              <a:tabLst>
                <a:tab pos="441325" algn="l"/>
              </a:tabLst>
            </a:pPr>
            <a:endParaRPr lang="en-US" sz="6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Thus in stagflation:</a:t>
            </a:r>
          </a:p>
          <a:p>
            <a:pPr marL="898525" lvl="1" indent="-457200">
              <a:lnSpc>
                <a:spcPct val="150000"/>
              </a:lnSpc>
              <a:tabLst>
                <a:tab pos="898525" algn="l"/>
              </a:tabLst>
            </a:pPr>
            <a:r>
              <a:rPr lang="en-US" b="1" dirty="0" smtClean="0">
                <a:latin typeface="Arial" pitchFamily="34" charset="0"/>
                <a:cs typeface="Arial" pitchFamily="34" charset="0"/>
              </a:rPr>
              <a:t>-	Prices </a:t>
            </a:r>
            <a:r>
              <a:rPr lang="en-US" b="1" dirty="0" smtClean="0">
                <a:latin typeface="Arial" pitchFamily="34" charset="0"/>
                <a:cs typeface="Arial" pitchFamily="34" charset="0"/>
              </a:rPr>
              <a:t>of goods rise</a:t>
            </a:r>
          </a:p>
          <a:p>
            <a:pPr marL="898525" lvl="1" indent="-457200">
              <a:lnSpc>
                <a:spcPct val="150000"/>
              </a:lnSpc>
              <a:tabLst>
                <a:tab pos="898525" algn="l"/>
              </a:tabLst>
            </a:pPr>
            <a:r>
              <a:rPr lang="en-US" b="1" dirty="0" smtClean="0">
                <a:latin typeface="Arial" pitchFamily="34" charset="0"/>
                <a:cs typeface="Arial" pitchFamily="34" charset="0"/>
              </a:rPr>
              <a:t>-	Economy </a:t>
            </a:r>
            <a:r>
              <a:rPr lang="en-US" b="1" dirty="0" smtClean="0">
                <a:latin typeface="Arial" pitchFamily="34" charset="0"/>
                <a:cs typeface="Arial" pitchFamily="34" charset="0"/>
              </a:rPr>
              <a:t>does not exhibit growth </a:t>
            </a:r>
          </a:p>
          <a:p>
            <a:pPr marL="898525" lvl="1" indent="-457200">
              <a:lnSpc>
                <a:spcPct val="150000"/>
              </a:lnSpc>
              <a:tabLst>
                <a:tab pos="898525" algn="l"/>
              </a:tabLst>
            </a:pPr>
            <a:r>
              <a:rPr lang="en-US" b="1" dirty="0" smtClean="0">
                <a:latin typeface="Arial" pitchFamily="34" charset="0"/>
                <a:cs typeface="Arial" pitchFamily="34" charset="0"/>
              </a:rPr>
              <a:t>-	Hence </a:t>
            </a:r>
            <a:r>
              <a:rPr lang="en-US" b="1" dirty="0" smtClean="0">
                <a:latin typeface="Arial" pitchFamily="34" charset="0"/>
                <a:cs typeface="Arial" pitchFamily="34" charset="0"/>
              </a:rPr>
              <a:t>employment &amp; consumption both dwindle</a:t>
            </a:r>
          </a:p>
          <a:p>
            <a:pPr marL="441325" lvl="1" indent="-441325">
              <a:lnSpc>
                <a:spcPct val="150000"/>
              </a:lnSpc>
              <a:buFont typeface="Wingdings" pitchFamily="2" charset="2"/>
              <a:buChar char="q"/>
              <a:tabLst>
                <a:tab pos="441325" algn="l"/>
              </a:tabLst>
            </a:pPr>
            <a:endParaRPr lang="en-US" sz="6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While inflation, which seems to be making all the news is bad; stagflation is a lot worse. </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597712" cy="463075"/>
          </a:xfrm>
          <a:prstGeom prst="rect">
            <a:avLst/>
          </a:prstGeom>
        </p:spPr>
        <p:txBody>
          <a:bodyPr wrap="square">
            <a:spAutoFit/>
          </a:bodyPr>
          <a:lstStyle/>
          <a:p>
            <a:pPr marL="441325" indent="-441325" algn="ctr">
              <a:lnSpc>
                <a:spcPct val="150000"/>
              </a:lnSpc>
              <a:tabLst>
                <a:tab pos="441325" algn="l"/>
              </a:tabLst>
            </a:pPr>
            <a:r>
              <a:rPr lang="en-US" b="1" dirty="0" smtClean="0">
                <a:latin typeface="Arial" pitchFamily="34" charset="0"/>
                <a:cs typeface="Arial" pitchFamily="34" charset="0"/>
              </a:rPr>
              <a:t>A balancing act</a:t>
            </a:r>
            <a:endParaRPr lang="en-US" b="1" dirty="0">
              <a:latin typeface="Arial" pitchFamily="34" charset="0"/>
              <a:cs typeface="Arial" pitchFamily="34" charset="0"/>
            </a:endParaRPr>
          </a:p>
        </p:txBody>
      </p:sp>
      <p:sp>
        <p:nvSpPr>
          <p:cNvPr id="6" name="Rectangle 5"/>
          <p:cNvSpPr/>
          <p:nvPr/>
        </p:nvSpPr>
        <p:spPr>
          <a:xfrm>
            <a:off x="714348" y="1643050"/>
            <a:ext cx="7500990" cy="3365024"/>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In this context, you will understand the role that the RBI Governor plays and the criticality of his role.</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While the RBI, through its monetary policy aims to rein in inflation by increasing interest rates and CRR rates, it has to do a balancing act to ensure that the measures being enforced do not strangle economic growth and send the economy into stagflation.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42984"/>
            <a:ext cx="7500990"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While this may not be such a big problem for an economy like India which still has substantial growth potential in spite of inflation; for countries growing at 1% to 2%, the balancing act by the central bank gets extremely crucial to prevent the economy from slipping into stagflation.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42984"/>
            <a:ext cx="7500990" cy="129586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why we describe the Indian economy as being robust, based on sound fundamentals of consumption potential </a:t>
            </a:r>
            <a:r>
              <a:rPr lang="en-US" b="1" dirty="0" smtClean="0">
                <a:latin typeface="Arial" pitchFamily="34" charset="0"/>
                <a:cs typeface="Arial" pitchFamily="34" charset="0"/>
              </a:rPr>
              <a:t>which,</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smtClean="0">
                <a:latin typeface="Arial" pitchFamily="34" charset="0"/>
                <a:cs typeface="Arial" pitchFamily="34" charset="0"/>
              </a:rPr>
              <a:t>a sense, hedge the economy from the forces of stagflation.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916956" y="1828455"/>
            <a:ext cx="4083936" cy="45653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What is the remedy for stagflation? </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
        <p:nvSpPr>
          <p:cNvPr id="7" name="Rectangle 6"/>
          <p:cNvSpPr/>
          <p:nvPr/>
        </p:nvSpPr>
        <p:spPr>
          <a:xfrm>
            <a:off x="785786" y="1125222"/>
            <a:ext cx="7286676" cy="2644827"/>
          </a:xfrm>
          <a:prstGeom prst="rect">
            <a:avLst/>
          </a:prstGeom>
        </p:spPr>
        <p:txBody>
          <a:bodyPr wrap="square">
            <a:spAutoFit/>
          </a:bodyPr>
          <a:lstStyle/>
          <a:p>
            <a:pPr marL="533400" lvl="1" indent="-533400">
              <a:lnSpc>
                <a:spcPct val="150000"/>
              </a:lnSpc>
              <a:spcBef>
                <a:spcPct val="20000"/>
              </a:spcBef>
              <a:buFont typeface="Wingdings" pitchFamily="2" charset="2"/>
              <a:buChar char="q"/>
              <a:tabLst>
                <a:tab pos="441325" algn="l"/>
              </a:tabLst>
            </a:pPr>
            <a:r>
              <a:rPr lang="en-US" b="1" dirty="0" smtClean="0">
                <a:latin typeface="Arial" pitchFamily="34" charset="0"/>
                <a:cs typeface="Arial" pitchFamily="34" charset="0"/>
              </a:rPr>
              <a:t>Removal of structural bottlenecks by introducing reforms would help unlock the economy’s growth potential.</a:t>
            </a:r>
          </a:p>
          <a:p>
            <a:pPr marL="533400" lvl="1" indent="-533400">
              <a:lnSpc>
                <a:spcPct val="150000"/>
              </a:lnSpc>
              <a:spcBef>
                <a:spcPct val="20000"/>
              </a:spcBef>
              <a:buFont typeface="Wingdings" pitchFamily="2" charset="2"/>
              <a:buChar char="q"/>
              <a:tabLst>
                <a:tab pos="441325" algn="l"/>
              </a:tabLst>
            </a:pPr>
            <a:endParaRPr lang="en-US" b="1" dirty="0" smtClean="0">
              <a:latin typeface="Arial" pitchFamily="34" charset="0"/>
              <a:cs typeface="Arial" pitchFamily="34" charset="0"/>
            </a:endParaRPr>
          </a:p>
          <a:p>
            <a:pPr marL="533400" lvl="1" indent="-533400">
              <a:lnSpc>
                <a:spcPct val="150000"/>
              </a:lnSpc>
              <a:spcBef>
                <a:spcPct val="20000"/>
              </a:spcBef>
              <a:buFont typeface="Wingdings" pitchFamily="2" charset="2"/>
              <a:buChar char="q"/>
              <a:tabLst>
                <a:tab pos="441325" algn="l"/>
              </a:tabLst>
            </a:pPr>
            <a:r>
              <a:rPr lang="en-US" b="1" dirty="0" smtClean="0">
                <a:latin typeface="Arial" pitchFamily="34" charset="0"/>
                <a:cs typeface="Arial" pitchFamily="34" charset="0"/>
              </a:rPr>
              <a:t>Along with introducing reforms, tightening of monetary screws by the central bank can further stir the economy out of stagflation. </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035303"/>
            <a:ext cx="7358114"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
        <p:nvSpPr>
          <p:cNvPr id="5" name="Rectangle 4"/>
          <p:cNvSpPr/>
          <p:nvPr/>
        </p:nvSpPr>
        <p:spPr>
          <a:xfrm>
            <a:off x="642910" y="1428736"/>
            <a:ext cx="7358114" cy="4201150"/>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sz="1600" b="1" dirty="0" smtClean="0">
                <a:latin typeface="Arial" pitchFamily="34" charset="0"/>
                <a:cs typeface="Arial" pitchFamily="34" charset="0"/>
              </a:rPr>
              <a:t>Recession can be held at bay by lowering interest rates, while inflation is usually tamed by raising interest rates.</a:t>
            </a:r>
          </a:p>
          <a:p>
            <a:pPr marL="441325" indent="-441325">
              <a:lnSpc>
                <a:spcPct val="150000"/>
              </a:lnSpc>
              <a:buFont typeface="Wingdings" pitchFamily="2" charset="2"/>
              <a:buChar char="q"/>
              <a:tabLst>
                <a:tab pos="441325" algn="l"/>
              </a:tabLst>
            </a:pPr>
            <a:endParaRPr lang="en-US" sz="5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sz="1600" b="1" dirty="0" smtClean="0">
                <a:latin typeface="Arial" pitchFamily="34" charset="0"/>
                <a:cs typeface="Arial" pitchFamily="34" charset="0"/>
              </a:rPr>
              <a:t>Given the impossibility of pursuing both courses of action simultaneously, priorities come into play. This is where the actions of the RBI become crucial.</a:t>
            </a:r>
          </a:p>
          <a:p>
            <a:pPr marL="441325" indent="-441325">
              <a:lnSpc>
                <a:spcPct val="150000"/>
              </a:lnSpc>
              <a:buFont typeface="Wingdings" pitchFamily="2" charset="2"/>
              <a:buChar char="q"/>
              <a:tabLst>
                <a:tab pos="441325" algn="l"/>
              </a:tabLst>
            </a:pPr>
            <a:endParaRPr lang="en-US" sz="5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sz="1600" b="1" dirty="0" smtClean="0">
                <a:latin typeface="Arial" pitchFamily="34" charset="0"/>
                <a:cs typeface="Arial" pitchFamily="34" charset="0"/>
              </a:rPr>
              <a:t>Historically, inflation has been considered the greater long term economic menace and has therefore been dealt with first but taking care that the growth engine is not derailed leading to stagflation.</a:t>
            </a:r>
          </a:p>
          <a:p>
            <a:pPr marL="441325" indent="-441325">
              <a:lnSpc>
                <a:spcPct val="150000"/>
              </a:lnSpc>
              <a:buFont typeface="Wingdings" pitchFamily="2" charset="2"/>
              <a:buChar char="q"/>
              <a:tabLst>
                <a:tab pos="441325" algn="l"/>
              </a:tabLst>
            </a:pPr>
            <a:endParaRPr lang="en-US" sz="5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sz="1600" b="1" dirty="0" smtClean="0">
                <a:latin typeface="Arial" pitchFamily="34" charset="0"/>
                <a:cs typeface="Arial" pitchFamily="34" charset="0"/>
              </a:rPr>
              <a:t>As our economic growth is based on strong fundamentals, we need not fear stagflation but need to overcome inflationary forces.</a:t>
            </a:r>
            <a:endParaRPr lang="en-US" sz="1600" b="1" dirty="0">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00496" y="5000636"/>
            <a:ext cx="4500594" cy="923330"/>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 </a:t>
            </a:r>
            <a:r>
              <a:rPr lang="en-US" b="1" dirty="0" err="1" smtClean="0">
                <a:latin typeface="Arial" pitchFamily="34" charset="0"/>
                <a:cs typeface="Arial" pitchFamily="34" charset="0"/>
              </a:rPr>
              <a:t>understoo</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smtClean="0">
                <a:latin typeface="Arial" pitchFamily="34" charset="0"/>
                <a:cs typeface="Arial" pitchFamily="34" charset="0"/>
              </a:rPr>
              <a:t>the concept </a:t>
            </a:r>
            <a:r>
              <a:rPr lang="en-US" b="1" dirty="0" smtClean="0">
                <a:latin typeface="Arial" pitchFamily="34" charset="0"/>
                <a:cs typeface="Arial" pitchFamily="34" charset="0"/>
              </a:rPr>
              <a:t>of Stagflation</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STAGFLATION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072939"/>
            <a:ext cx="4032448" cy="927433"/>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In case of any query, please e-mail </a:t>
            </a:r>
          </a:p>
          <a:p>
            <a:pPr marL="342900" indent="-342900" algn="ctr">
              <a:lnSpc>
                <a:spcPct val="150000"/>
              </a:lnSpc>
              <a:spcBef>
                <a:spcPct val="20000"/>
              </a:spcBef>
            </a:pPr>
            <a:r>
              <a:rPr lang="en-US" b="1" dirty="0" smtClean="0">
                <a:latin typeface="Arial" pitchFamily="34" charset="0"/>
                <a:cs typeface="Arial" pitchFamily="34" charset="0"/>
                <a:hlinkClick r:id="rId5"/>
              </a:rPr>
              <a:t>lchaturvedi@tataamc.com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3423</TotalTime>
  <Words>550</Words>
  <Application>Microsoft Office PowerPoint</Application>
  <PresentationFormat>On-screen Show (4:3)</PresentationFormat>
  <Paragraphs>49</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470</cp:revision>
  <dcterms:created xsi:type="dcterms:W3CDTF">2013-10-22T09:41:31Z</dcterms:created>
  <dcterms:modified xsi:type="dcterms:W3CDTF">2014-03-08T21:20:32Z</dcterms:modified>
</cp:coreProperties>
</file>