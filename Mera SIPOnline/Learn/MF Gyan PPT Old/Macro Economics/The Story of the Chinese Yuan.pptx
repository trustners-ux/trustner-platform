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358" r:id="rId3"/>
    <p:sldId id="496" r:id="rId4"/>
    <p:sldId id="416" r:id="rId5"/>
    <p:sldId id="485" r:id="rId6"/>
    <p:sldId id="486" r:id="rId7"/>
    <p:sldId id="487" r:id="rId8"/>
    <p:sldId id="498" r:id="rId9"/>
    <p:sldId id="499" r:id="rId10"/>
    <p:sldId id="500" r:id="rId11"/>
    <p:sldId id="501" r:id="rId12"/>
    <p:sldId id="502" r:id="rId13"/>
    <p:sldId id="503" r:id="rId14"/>
    <p:sldId id="504" r:id="rId15"/>
    <p:sldId id="505" r:id="rId16"/>
    <p:sldId id="506" r:id="rId17"/>
    <p:sldId id="507" r:id="rId18"/>
    <p:sldId id="508" r:id="rId19"/>
    <p:sldId id="509" r:id="rId20"/>
    <p:sldId id="473" r:id="rId21"/>
    <p:sldId id="510" r:id="rId22"/>
    <p:sldId id="511" r:id="rId23"/>
    <p:sldId id="497" r:id="rId24"/>
    <p:sldId id="287"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24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2005604"/>
            <a:ext cx="3571900"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Story of the Chinese Yuan </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smtClean="0">
                <a:latin typeface="Arial" pitchFamily="34" charset="0"/>
                <a:cs typeface="Arial" pitchFamily="34" charset="0"/>
              </a:rPr>
              <a:t>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 </a:t>
            </a:r>
            <a:r>
              <a:rPr lang="en-US" b="1" baseline="70000" dirty="0" smtClean="0">
                <a:latin typeface="Arial" pitchFamily="34" charset="0"/>
                <a:cs typeface="Arial" pitchFamily="34" charset="0"/>
              </a:rPr>
              <a:t>TM</a:t>
            </a:r>
            <a:endParaRPr lang="en-US" b="1" i="1"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14876" y="2655886"/>
            <a:ext cx="3643338"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You would have read in several newspapers about the pressure on China to appreciate its currency – Yuan.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try and understand the reason why China likes to keep its currency undervalued.</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597712"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Throughout the 1990s, China was highly successful at maintaining a currency peg against the US dollar (USD) using a government monopoly.</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earlier this year, China said it would allow a more flexible Yuan, signaling an end to the currency’s peg to the USD.</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move has helped deflect criticism from global </a:t>
            </a:r>
            <a:r>
              <a:rPr lang="en-US" b="1" dirty="0" smtClean="0">
                <a:latin typeface="Arial" pitchFamily="34" charset="0"/>
                <a:cs typeface="Arial" pitchFamily="34" charset="0"/>
              </a:rPr>
              <a:t>economies,</a:t>
            </a:r>
            <a:br>
              <a:rPr lang="en-US" b="1" dirty="0" smtClean="0">
                <a:latin typeface="Arial" pitchFamily="34" charset="0"/>
                <a:cs typeface="Arial" pitchFamily="34" charset="0"/>
              </a:rPr>
            </a:br>
            <a:r>
              <a:rPr lang="en-US" b="1" dirty="0" smtClean="0">
                <a:latin typeface="Arial" pitchFamily="34" charset="0"/>
                <a:cs typeface="Arial" pitchFamily="34" charset="0"/>
              </a:rPr>
              <a:t>who </a:t>
            </a:r>
            <a:r>
              <a:rPr lang="en-US" b="1" dirty="0" smtClean="0">
                <a:latin typeface="Arial" pitchFamily="34" charset="0"/>
                <a:cs typeface="Arial" pitchFamily="34" charset="0"/>
              </a:rPr>
              <a:t>have blamed China for relying on an undervalued </a:t>
            </a:r>
            <a:r>
              <a:rPr lang="en-US" b="1" dirty="0" smtClean="0">
                <a:latin typeface="Arial" pitchFamily="34" charset="0"/>
                <a:cs typeface="Arial" pitchFamily="34" charset="0"/>
              </a:rPr>
              <a:t>currency</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smtClean="0">
                <a:latin typeface="Arial" pitchFamily="34" charset="0"/>
                <a:cs typeface="Arial" pitchFamily="34" charset="0"/>
              </a:rPr>
              <a:t>promote exports. </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
        <p:nvSpPr>
          <p:cNvPr id="8" name="Rectangle 7"/>
          <p:cNvSpPr/>
          <p:nvPr/>
        </p:nvSpPr>
        <p:spPr>
          <a:xfrm>
            <a:off x="714348" y="1144142"/>
            <a:ext cx="7429552" cy="171335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By reducing the value of its currency against the USD, China stands to gain in the following ways:-</a:t>
            </a:r>
          </a:p>
          <a:p>
            <a:pPr marL="342900" indent="-342900">
              <a:lnSpc>
                <a:spcPct val="150000"/>
              </a:lnSpc>
              <a:buFontTx/>
              <a:buAutoNum type="arabicPeriod"/>
              <a:tabLst>
                <a:tab pos="365125" algn="l"/>
              </a:tabLst>
            </a:pPr>
            <a:r>
              <a:rPr lang="en-US" b="1" dirty="0" smtClean="0">
                <a:latin typeface="Arial" pitchFamily="34" charset="0"/>
                <a:cs typeface="Arial" pitchFamily="34" charset="0"/>
              </a:rPr>
              <a:t>Its exports become more competitive.</a:t>
            </a:r>
          </a:p>
          <a:p>
            <a:pPr marL="342900" indent="-342900">
              <a:lnSpc>
                <a:spcPct val="150000"/>
              </a:lnSpc>
              <a:buFontTx/>
              <a:buAutoNum type="arabicPeriod"/>
              <a:tabLst>
                <a:tab pos="365125" algn="l"/>
              </a:tabLst>
            </a:pPr>
            <a:r>
              <a:rPr lang="en-US" b="1" dirty="0" smtClean="0">
                <a:latin typeface="Arial" pitchFamily="34" charset="0"/>
                <a:cs typeface="Arial" pitchFamily="34" charset="0"/>
              </a:rPr>
              <a:t>It attracts higher foreign investment.</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29495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how does this happen? </a:t>
            </a:r>
          </a:p>
          <a:p>
            <a:pPr>
              <a:lnSpc>
                <a:spcPct val="150000"/>
              </a:lnSpc>
            </a:pPr>
            <a:r>
              <a:rPr lang="en-US" b="1" dirty="0" smtClean="0">
                <a:latin typeface="Arial" pitchFamily="34" charset="0"/>
                <a:cs typeface="Arial" pitchFamily="34" charset="0"/>
              </a:rPr>
              <a:t>As always, an example will help us to understand.</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presume the exchange rate is </a:t>
            </a:r>
            <a:r>
              <a:rPr lang="en-US" b="1" dirty="0" smtClean="0">
                <a:latin typeface="Arial" pitchFamily="34" charset="0"/>
                <a:cs typeface="Arial" pitchFamily="34" charset="0"/>
              </a:rPr>
              <a:t>USD </a:t>
            </a:r>
            <a:r>
              <a:rPr lang="en-US" b="1" dirty="0" smtClean="0">
                <a:latin typeface="Arial" pitchFamily="34" charset="0"/>
                <a:cs typeface="Arial" pitchFamily="34" charset="0"/>
              </a:rPr>
              <a:t>1 = Yuan 100</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Now if a good costs Yuan 200 in China, a buyer in the US would have to pay USD 2.</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424731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a:t>
            </a:r>
            <a:r>
              <a:rPr lang="en-US" b="1" dirty="0" smtClean="0">
                <a:latin typeface="Arial" pitchFamily="34" charset="0"/>
                <a:cs typeface="Arial" pitchFamily="34" charset="0"/>
              </a:rPr>
              <a:t>if China were to devalue its currency to USD 1=Yuan 200, what would happen???</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Quite clearly the same product which was costing Yuan 200 in China would now cost the American buyer only USD 1 instead of USD 2.</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While such drastic changes in exchange rates normally do not happen in real life, use of this example was to explain the concept.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 So you can see why Chinese exporters would always be happy with a weak Yuan. This is one of the reasons why Chinese goods have been selling across the world. Most countries find it inexpensive to buy from China.</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As China gets access to larger global markets, it further gains from economies of scale which if may pass on to its customers, thereby, making their goods even more competitive.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95869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And now let’s look at the second advantage, that of attracting foreign investment (foreign capital)</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say, I am a US investor looking for avenues to </a:t>
            </a:r>
            <a:r>
              <a:rPr lang="en-US" b="1" dirty="0" smtClean="0">
                <a:latin typeface="Arial" pitchFamily="34" charset="0"/>
                <a:cs typeface="Arial" pitchFamily="34" charset="0"/>
              </a:rPr>
              <a:t>invest</a:t>
            </a:r>
            <a:br>
              <a:rPr lang="en-US" b="1" dirty="0" smtClean="0">
                <a:latin typeface="Arial" pitchFamily="34" charset="0"/>
                <a:cs typeface="Arial" pitchFamily="34" charset="0"/>
              </a:rPr>
            </a:br>
            <a:r>
              <a:rPr lang="en-US" b="1" dirty="0" smtClean="0">
                <a:latin typeface="Arial" pitchFamily="34" charset="0"/>
                <a:cs typeface="Arial" pitchFamily="34" charset="0"/>
              </a:rPr>
              <a:t>my </a:t>
            </a:r>
            <a:r>
              <a:rPr lang="en-US" b="1" dirty="0" smtClean="0">
                <a:latin typeface="Arial" pitchFamily="34" charset="0"/>
                <a:cs typeface="Arial" pitchFamily="34" charset="0"/>
              </a:rPr>
              <a:t>money.</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 would naturally seek a destination where I can get good returns.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2585323"/>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And </a:t>
            </a:r>
            <a:r>
              <a:rPr lang="en-US" b="1" dirty="0" smtClean="0">
                <a:latin typeface="Arial" pitchFamily="34" charset="0"/>
                <a:cs typeface="Arial" pitchFamily="34" charset="0"/>
              </a:rPr>
              <a:t>good returns are dependent on the following:-</a:t>
            </a:r>
          </a:p>
          <a:p>
            <a:pPr marL="342900" indent="-342900">
              <a:lnSpc>
                <a:spcPct val="150000"/>
              </a:lnSpc>
            </a:pPr>
            <a:endParaRPr lang="en-US" b="1" dirty="0" smtClean="0">
              <a:latin typeface="Arial" pitchFamily="34" charset="0"/>
              <a:cs typeface="Arial" pitchFamily="34" charset="0"/>
            </a:endParaRPr>
          </a:p>
          <a:p>
            <a:pPr marL="342900" indent="-342900">
              <a:lnSpc>
                <a:spcPct val="150000"/>
              </a:lnSpc>
              <a:buFontTx/>
              <a:buAutoNum type="arabicPeriod"/>
            </a:pPr>
            <a:r>
              <a:rPr lang="en-US" b="1" dirty="0" smtClean="0">
                <a:latin typeface="Arial" pitchFamily="34" charset="0"/>
                <a:cs typeface="Arial" pitchFamily="34" charset="0"/>
              </a:rPr>
              <a:t>A large market that can absorb the production easily at a good price</a:t>
            </a:r>
            <a:r>
              <a:rPr lang="en-US" b="1" dirty="0" smtClean="0">
                <a:latin typeface="Arial" pitchFamily="34" charset="0"/>
                <a:cs typeface="Arial" pitchFamily="34" charset="0"/>
              </a:rPr>
              <a:t>.</a:t>
            </a:r>
          </a:p>
          <a:p>
            <a:pPr marL="342900" indent="-342900">
              <a:lnSpc>
                <a:spcPct val="150000"/>
              </a:lnSpc>
              <a:buFontTx/>
              <a:buAutoNum type="arabicPeriod"/>
            </a:pPr>
            <a:endParaRPr lang="en-US" b="1" dirty="0" smtClean="0">
              <a:latin typeface="Arial" pitchFamily="34" charset="0"/>
              <a:cs typeface="Arial" pitchFamily="34" charset="0"/>
            </a:endParaRPr>
          </a:p>
          <a:p>
            <a:pPr marL="342900" indent="-342900">
              <a:lnSpc>
                <a:spcPct val="150000"/>
              </a:lnSpc>
              <a:buFontTx/>
              <a:buAutoNum type="arabicPeriod"/>
            </a:pPr>
            <a:r>
              <a:rPr lang="en-US" b="1" dirty="0" smtClean="0">
                <a:latin typeface="Arial" pitchFamily="34" charset="0"/>
                <a:cs typeface="Arial" pitchFamily="34" charset="0"/>
              </a:rPr>
              <a:t>Low cost of the factors of production like land and </a:t>
            </a:r>
            <a:r>
              <a:rPr lang="en-US" b="1" dirty="0" err="1" smtClean="0">
                <a:latin typeface="Arial" pitchFamily="34" charset="0"/>
                <a:cs typeface="Arial" pitchFamily="34" charset="0"/>
              </a:rPr>
              <a:t>labour</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2128853"/>
          </a:xfrm>
          <a:prstGeom prst="rect">
            <a:avLst/>
          </a:prstGeom>
        </p:spPr>
        <p:txBody>
          <a:bodyPr wrap="square">
            <a:spAutoFit/>
          </a:bodyPr>
          <a:lstStyle/>
          <a:p>
            <a:pPr marL="342900" indent="-342900">
              <a:lnSpc>
                <a:spcPct val="150000"/>
              </a:lnSpc>
            </a:pPr>
            <a:r>
              <a:rPr lang="en-US" b="1" dirty="0" smtClean="0">
                <a:latin typeface="Arial" pitchFamily="34" charset="0"/>
                <a:cs typeface="Arial" pitchFamily="34" charset="0"/>
              </a:rPr>
              <a:t>Now China offers both:</a:t>
            </a:r>
          </a:p>
          <a:p>
            <a:pPr marL="342900" indent="-342900">
              <a:lnSpc>
                <a:spcPct val="150000"/>
              </a:lnSpc>
              <a:buFontTx/>
              <a:buAutoNum type="arabicParenR"/>
            </a:pPr>
            <a:r>
              <a:rPr lang="en-US" b="1" dirty="0" smtClean="0">
                <a:latin typeface="Arial" pitchFamily="34" charset="0"/>
                <a:cs typeface="Arial" pitchFamily="34" charset="0"/>
              </a:rPr>
              <a:t>It’s a large market due to its population. It also has access to global markets for finished goods. </a:t>
            </a:r>
          </a:p>
          <a:p>
            <a:pPr marL="342900" indent="-342900">
              <a:lnSpc>
                <a:spcPct val="150000"/>
              </a:lnSpc>
              <a:buFontTx/>
              <a:buAutoNum type="arabicParenR"/>
            </a:pPr>
            <a:r>
              <a:rPr lang="en-US" b="1" dirty="0" smtClean="0">
                <a:latin typeface="Arial" pitchFamily="34" charset="0"/>
                <a:cs typeface="Arial" pitchFamily="34" charset="0"/>
              </a:rPr>
              <a:t>Due to its depreciated currency the cost of land and </a:t>
            </a:r>
            <a:r>
              <a:rPr lang="en-US" b="1" dirty="0" err="1" smtClean="0">
                <a:latin typeface="Arial" pitchFamily="34" charset="0"/>
                <a:cs typeface="Arial" pitchFamily="34" charset="0"/>
              </a:rPr>
              <a:t>labour</a:t>
            </a:r>
            <a:r>
              <a:rPr lang="en-US" b="1" dirty="0" smtClean="0">
                <a:latin typeface="Arial" pitchFamily="34" charset="0"/>
                <a:cs typeface="Arial" pitchFamily="34" charset="0"/>
              </a:rPr>
              <a:t> for a foreign investor works out to be very attractive.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again fall back on our example.</a:t>
            </a:r>
          </a:p>
          <a:p>
            <a:pPr>
              <a:lnSpc>
                <a:spcPct val="150000"/>
              </a:lnSpc>
            </a:pPr>
            <a:r>
              <a:rPr lang="en-US" b="1" dirty="0" smtClean="0">
                <a:latin typeface="Arial" pitchFamily="34" charset="0"/>
                <a:cs typeface="Arial" pitchFamily="34" charset="0"/>
              </a:rPr>
              <a:t>Say the cost of land in China was </a:t>
            </a:r>
            <a:r>
              <a:rPr lang="en-US" b="1" dirty="0" smtClean="0">
                <a:latin typeface="Arial" pitchFamily="34" charset="0"/>
                <a:cs typeface="Arial" pitchFamily="34" charset="0"/>
              </a:rPr>
              <a:t>Yuan </a:t>
            </a:r>
            <a:r>
              <a:rPr lang="en-US" b="1" dirty="0" smtClean="0">
                <a:latin typeface="Arial" pitchFamily="34" charset="0"/>
                <a:cs typeface="Arial" pitchFamily="34" charset="0"/>
              </a:rPr>
              <a:t>100,000 &amp; the exchange rate was </a:t>
            </a:r>
            <a:r>
              <a:rPr lang="en-US" b="1" dirty="0" smtClean="0">
                <a:latin typeface="Arial" pitchFamily="34" charset="0"/>
                <a:cs typeface="Arial" pitchFamily="34" charset="0"/>
              </a:rPr>
              <a:t>USD </a:t>
            </a:r>
            <a:r>
              <a:rPr lang="en-US" b="1" dirty="0" smtClean="0">
                <a:latin typeface="Arial" pitchFamily="34" charset="0"/>
                <a:cs typeface="Arial" pitchFamily="34" charset="0"/>
              </a:rPr>
              <a:t>1 = Yuan 100.</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land would then would have cost USD 1000.</a:t>
            </a:r>
          </a:p>
          <a:p>
            <a:pPr>
              <a:lnSpc>
                <a:spcPct val="150000"/>
              </a:lnSpc>
            </a:pPr>
            <a:r>
              <a:rPr lang="en-US" b="1" dirty="0" smtClean="0">
                <a:latin typeface="Arial" pitchFamily="34" charset="0"/>
                <a:cs typeface="Arial" pitchFamily="34" charset="0"/>
              </a:rPr>
              <a:t>If China were to depreciate its currency to </a:t>
            </a:r>
            <a:r>
              <a:rPr lang="en-US" b="1" dirty="0" smtClean="0">
                <a:latin typeface="Arial" pitchFamily="34" charset="0"/>
                <a:cs typeface="Arial" pitchFamily="34" charset="0"/>
              </a:rPr>
              <a:t>USD </a:t>
            </a:r>
            <a:r>
              <a:rPr lang="en-US" b="1" dirty="0" smtClean="0">
                <a:latin typeface="Arial" pitchFamily="34" charset="0"/>
                <a:cs typeface="Arial" pitchFamily="34" charset="0"/>
              </a:rPr>
              <a:t>1 = Yuan 200, then the land would cost </a:t>
            </a:r>
            <a:r>
              <a:rPr lang="en-US" b="1" dirty="0" smtClean="0">
                <a:latin typeface="Arial" pitchFamily="34" charset="0"/>
                <a:cs typeface="Arial" pitchFamily="34" charset="0"/>
              </a:rPr>
              <a:t>USD </a:t>
            </a:r>
            <a:r>
              <a:rPr lang="en-US" b="1" dirty="0" smtClean="0">
                <a:latin typeface="Arial" pitchFamily="34" charset="0"/>
                <a:cs typeface="Arial" pitchFamily="34" charset="0"/>
              </a:rPr>
              <a:t>500.</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295984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Again in the example, we have shown a case of extreme depreciation which is not the case in a practical scenario.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the impact is similar.</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 depreciated Yuan makes both land and </a:t>
            </a:r>
            <a:r>
              <a:rPr lang="en-US" b="1" dirty="0" err="1" smtClean="0">
                <a:latin typeface="Arial" pitchFamily="34" charset="0"/>
                <a:cs typeface="Arial" pitchFamily="34" charset="0"/>
              </a:rPr>
              <a:t>labour</a:t>
            </a:r>
            <a:r>
              <a:rPr lang="en-US" b="1" dirty="0" smtClean="0">
                <a:latin typeface="Arial" pitchFamily="34" charset="0"/>
                <a:cs typeface="Arial" pitchFamily="34" charset="0"/>
              </a:rPr>
              <a:t> inexpensive for a foreign investor.</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420634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then why do other countries, let’s say a Singapore not devalue its currency.</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Actually they too can. But then this move may not attract as many foreign investors into Singapore as it does into China.</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Now why does this happen??????</a:t>
            </a:r>
          </a:p>
          <a:p>
            <a:pPr>
              <a:lnSpc>
                <a:spcPct val="150000"/>
              </a:lnSpc>
            </a:pPr>
            <a:r>
              <a:rPr lang="en-US" b="1" dirty="0" smtClean="0">
                <a:latin typeface="Arial" pitchFamily="34" charset="0"/>
                <a:cs typeface="Arial" pitchFamily="34" charset="0"/>
              </a:rPr>
              <a:t>Think about it </a:t>
            </a:r>
          </a:p>
          <a:p>
            <a:pPr>
              <a:lnSpc>
                <a:spcPct val="150000"/>
              </a:lnSpc>
            </a:pPr>
            <a:r>
              <a:rPr lang="en-US" b="1" dirty="0" smtClean="0">
                <a:latin typeface="Arial" pitchFamily="34" charset="0"/>
                <a:cs typeface="Arial" pitchFamily="34" charset="0"/>
              </a:rPr>
              <a:t>or </a:t>
            </a:r>
          </a:p>
          <a:p>
            <a:pPr>
              <a:lnSpc>
                <a:spcPct val="150000"/>
              </a:lnSpc>
            </a:pPr>
            <a:r>
              <a:rPr lang="en-US" b="1" dirty="0" smtClean="0">
                <a:latin typeface="Arial" pitchFamily="34" charset="0"/>
                <a:cs typeface="Arial" pitchFamily="34" charset="0"/>
              </a:rPr>
              <a:t>go to the next slide…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129785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reason is clear. Singapore cannot offer a market as large as China. And hence simply depreciating its currency will not be enough for Singapore to compete with China.</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212885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one must understand the flip side of depreciating its currency. A depreciated currency makes China’s import more expensive.</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But quite clearly, China’s exports surpass its import requirement and hence the trade-off is in China’s </a:t>
            </a:r>
            <a:r>
              <a:rPr lang="en-US" b="1" dirty="0" err="1" smtClean="0">
                <a:latin typeface="Arial" pitchFamily="34" charset="0"/>
                <a:cs typeface="Arial" pitchFamily="34" charset="0"/>
              </a:rPr>
              <a:t>favour</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295984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second challenge is of rising inflation. As the Yuan depreciates, the central bank will have to print more Yuan to balance the surge in dollars through increased trade.</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But as China has abundant land and </a:t>
            </a:r>
            <a:r>
              <a:rPr lang="en-US" b="1" dirty="0" err="1" smtClean="0">
                <a:latin typeface="Arial" pitchFamily="34" charset="0"/>
                <a:cs typeface="Arial" pitchFamily="34" charset="0"/>
              </a:rPr>
              <a:t>labour</a:t>
            </a:r>
            <a:r>
              <a:rPr lang="en-US" b="1" dirty="0" smtClean="0">
                <a:latin typeface="Arial" pitchFamily="34" charset="0"/>
                <a:cs typeface="Arial" pitchFamily="34" charset="0"/>
              </a:rPr>
              <a:t>, they are able to off-set the inflationary pressures by higher productivity through economies of scale.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8001056"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It is also interesting to note that unlike India, China is not a democracy.</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it is a nation where the people’s voice against </a:t>
            </a:r>
            <a:r>
              <a:rPr lang="en-US" b="1" dirty="0" smtClean="0">
                <a:latin typeface="Arial" pitchFamily="34" charset="0"/>
                <a:cs typeface="Arial" pitchFamily="34" charset="0"/>
              </a:rPr>
              <a:t>inflation</a:t>
            </a:r>
            <a:br>
              <a:rPr lang="en-US" b="1" dirty="0" smtClean="0">
                <a:latin typeface="Arial" pitchFamily="34" charset="0"/>
                <a:cs typeface="Arial" pitchFamily="34" charset="0"/>
              </a:rPr>
            </a:br>
            <a:r>
              <a:rPr lang="en-US" b="1" dirty="0" smtClean="0">
                <a:latin typeface="Arial" pitchFamily="34" charset="0"/>
                <a:cs typeface="Arial" pitchFamily="34" charset="0"/>
              </a:rPr>
              <a:t>could </a:t>
            </a:r>
            <a:r>
              <a:rPr lang="en-US" b="1" dirty="0" smtClean="0">
                <a:latin typeface="Arial" pitchFamily="34" charset="0"/>
                <a:cs typeface="Arial" pitchFamily="34" charset="0"/>
              </a:rPr>
              <a:t>be silenced.</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43438" y="2839734"/>
            <a:ext cx="3786214" cy="337534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it makes sense for China to depreciate its currency and laugh all its way to the bank.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But such a situation is not conducive politically and strains relations between China and other nations.</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429552"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After all China takes away a larger proportion of global markets on one hand and global capital on the other depriving other nations from their share.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there was global pressure on China to appreciate its currency.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you have now got some idea as to why China was under pressure to appreciate its currency and how currency depreciation can be used as a tool by nations to increase their competitiveness.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the underlying fact is that if one wants to benefit from such policies one will have to have the prowess to manufacture quality products in the first place.</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5518" y="1214422"/>
            <a:ext cx="4083936" cy="171309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 </a:t>
            </a:r>
            <a:r>
              <a:rPr lang="en-US" b="1" dirty="0" smtClean="0">
                <a:latin typeface="Arial" pitchFamily="34" charset="0"/>
                <a:cs typeface="Arial" pitchFamily="34" charset="0"/>
              </a:rPr>
              <a:t>understood the </a:t>
            </a:r>
            <a:r>
              <a:rPr lang="en-US" b="1" dirty="0" smtClean="0">
                <a:latin typeface="Arial" pitchFamily="34" charset="0"/>
                <a:cs typeface="Arial" pitchFamily="34" charset="0"/>
              </a:rPr>
              <a:t>larger role of currency exchange rates in trading strategies </a:t>
            </a:r>
          </a:p>
          <a:p>
            <a:pPr>
              <a:lnSpc>
                <a:spcPct val="150000"/>
              </a:lnSpc>
              <a:buFontTx/>
              <a:buNone/>
            </a:pPr>
            <a:r>
              <a:rPr lang="en-US" b="1" dirty="0" smtClean="0">
                <a:latin typeface="Arial" pitchFamily="34" charset="0"/>
                <a:cs typeface="Arial" pitchFamily="34" charset="0"/>
              </a:rPr>
              <a:t>vis-à-vis China.</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THE STORY OF THE CHINESE YUAN</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598434"/>
          </a:xfrm>
          <a:prstGeom prst="rect">
            <a:avLst/>
          </a:prstGeom>
        </p:spPr>
        <p:txBody>
          <a:bodyPr wrap="square">
            <a:spAutoFit/>
          </a:bodyPr>
          <a:lstStyle/>
          <a:p>
            <a:pPr marL="342900" indent="-342900" algn="ctr">
              <a:lnSpc>
                <a:spcPct val="80000"/>
              </a:lnSpc>
              <a:spcBef>
                <a:spcPct val="20000"/>
              </a:spcBef>
            </a:pPr>
            <a:r>
              <a:rPr lang="en-US" b="1" dirty="0" smtClean="0">
                <a:latin typeface="Arial" pitchFamily="34" charset="0"/>
                <a:cs typeface="Arial" pitchFamily="34" charset="0"/>
              </a:rPr>
              <a:t>Do write to me at </a:t>
            </a:r>
          </a:p>
          <a:p>
            <a:pPr marL="342900" indent="-342900" algn="ctr">
              <a:lnSpc>
                <a:spcPct val="8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3550</TotalTime>
  <Words>1234</Words>
  <Application>Microsoft Office PowerPoint</Application>
  <PresentationFormat>On-screen Show (4:3)</PresentationFormat>
  <Paragraphs>106</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489</cp:revision>
  <dcterms:created xsi:type="dcterms:W3CDTF">2013-10-22T09:41:31Z</dcterms:created>
  <dcterms:modified xsi:type="dcterms:W3CDTF">2014-03-08T23:27:50Z</dcterms:modified>
</cp:coreProperties>
</file>