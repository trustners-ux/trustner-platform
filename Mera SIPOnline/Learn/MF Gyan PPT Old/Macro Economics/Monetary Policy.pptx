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58" r:id="rId3"/>
    <p:sldId id="416" r:id="rId4"/>
    <p:sldId id="418" r:id="rId5"/>
    <p:sldId id="456" r:id="rId6"/>
    <p:sldId id="457" r:id="rId7"/>
    <p:sldId id="448" r:id="rId8"/>
    <p:sldId id="449" r:id="rId9"/>
    <p:sldId id="424" r:id="rId10"/>
    <p:sldId id="287" r:id="rId11"/>
    <p:sldId id="273"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23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10/1/2014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10/1/2014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10/1/2014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10/1/2014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10/1/2014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MONETARY POLICY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14414" y="1661544"/>
            <a:ext cx="3714776" cy="878574"/>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Monetary Policy </a:t>
            </a:r>
            <a:br>
              <a:rPr lang="en-US" b="1" dirty="0" smtClean="0">
                <a:latin typeface="Arial" pitchFamily="34" charset="0"/>
                <a:cs typeface="Arial" pitchFamily="34" charset="0"/>
              </a:rPr>
            </a:br>
            <a:r>
              <a:rPr lang="en-US" b="1" dirty="0" smtClean="0">
                <a:latin typeface="Arial" pitchFamily="34" charset="0"/>
                <a:cs typeface="Arial" pitchFamily="34" charset="0"/>
              </a:rPr>
              <a:t>–  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MONETARY POLICY</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124744"/>
            <a:ext cx="7240522" cy="3780522"/>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The Monetary Policy is the policy statement, announced annually in April, but reviewed four times a year at the end of each quarter, through which the Reserve Bank of India seeks to ensure price stability for the economy. </a:t>
            </a:r>
          </a:p>
          <a:p>
            <a:pPr marL="357188" indent="-357188">
              <a:lnSpc>
                <a:spcPct val="150000"/>
              </a:lnSpc>
              <a:buFont typeface="Wingdings" pitchFamily="2" charset="2"/>
              <a:buChar char="q"/>
              <a:tabLst>
                <a:tab pos="357188" algn="l"/>
              </a:tabLst>
            </a:pPr>
            <a:endParaRPr lang="en-US"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Its constituents include - money supply, interest rates and the inflation. In banking and economic terms, money supply is referred to as M3 - which indicates the level (stock) of legal currency in the economy.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MONETARY POLICY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71546"/>
            <a:ext cx="7242028" cy="456535"/>
          </a:xfrm>
          <a:prstGeom prst="rect">
            <a:avLst/>
          </a:prstGeom>
        </p:spPr>
        <p:txBody>
          <a:bodyPr wrap="square">
            <a:spAutoFit/>
          </a:bodyPr>
          <a:lstStyle/>
          <a:p>
            <a:pPr marL="357188" indent="-357188" algn="ctr">
              <a:lnSpc>
                <a:spcPct val="150000"/>
              </a:lnSpc>
              <a:tabLst>
                <a:tab pos="357188" algn="l"/>
              </a:tabLst>
            </a:pPr>
            <a:r>
              <a:rPr lang="en-US" b="1" dirty="0" smtClean="0">
                <a:latin typeface="Arial" pitchFamily="34" charset="0"/>
                <a:cs typeface="Arial" pitchFamily="34" charset="0"/>
              </a:rPr>
              <a:t>Besides…</a:t>
            </a:r>
            <a:endParaRPr lang="en-US" b="1" dirty="0">
              <a:latin typeface="Arial" pitchFamily="34" charset="0"/>
              <a:cs typeface="Arial" pitchFamily="34" charset="0"/>
            </a:endParaRPr>
          </a:p>
        </p:txBody>
      </p:sp>
      <p:sp>
        <p:nvSpPr>
          <p:cNvPr id="5" name="Rectangle 4"/>
          <p:cNvSpPr/>
          <p:nvPr/>
        </p:nvSpPr>
        <p:spPr>
          <a:xfrm>
            <a:off x="571472" y="1595021"/>
            <a:ext cx="7572428" cy="3780522"/>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The RBI also announces norms for the banking and financial sector and the institutions which are governed by it. </a:t>
            </a:r>
          </a:p>
          <a:p>
            <a:pPr marL="357188" indent="-357188">
              <a:lnSpc>
                <a:spcPct val="150000"/>
              </a:lnSpc>
              <a:buFont typeface="Wingdings" pitchFamily="2" charset="2"/>
              <a:buChar char="q"/>
              <a:tabLst>
                <a:tab pos="357188" algn="l"/>
              </a:tabLst>
            </a:pPr>
            <a:endParaRPr lang="en-US"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These financial institutions include:</a:t>
            </a:r>
          </a:p>
          <a:p>
            <a:pPr marL="357188" lvl="1">
              <a:lnSpc>
                <a:spcPct val="150000"/>
              </a:lnSpc>
              <a:tabLst>
                <a:tab pos="357188" algn="l"/>
                <a:tab pos="806450" algn="l"/>
              </a:tabLst>
            </a:pPr>
            <a:r>
              <a:rPr lang="en-US" b="1" dirty="0" smtClean="0">
                <a:latin typeface="Arial" pitchFamily="34" charset="0"/>
                <a:cs typeface="Arial" pitchFamily="34" charset="0"/>
              </a:rPr>
              <a:t>-	Banks, </a:t>
            </a:r>
          </a:p>
          <a:p>
            <a:pPr marL="357188" lvl="1">
              <a:lnSpc>
                <a:spcPct val="150000"/>
              </a:lnSpc>
              <a:tabLst>
                <a:tab pos="357188" algn="l"/>
                <a:tab pos="806450" algn="l"/>
              </a:tabLst>
            </a:pPr>
            <a:r>
              <a:rPr lang="en-US" b="1" dirty="0" smtClean="0">
                <a:latin typeface="Arial" pitchFamily="34" charset="0"/>
                <a:cs typeface="Arial" pitchFamily="34" charset="0"/>
              </a:rPr>
              <a:t>-	Financial institutions, </a:t>
            </a:r>
          </a:p>
          <a:p>
            <a:pPr marL="357188" lvl="1">
              <a:lnSpc>
                <a:spcPct val="150000"/>
              </a:lnSpc>
              <a:tabLst>
                <a:tab pos="357188" algn="l"/>
                <a:tab pos="806450" algn="l"/>
              </a:tabLst>
            </a:pPr>
            <a:r>
              <a:rPr lang="en-US" b="1" dirty="0" smtClean="0">
                <a:latin typeface="Arial" pitchFamily="34" charset="0"/>
                <a:cs typeface="Arial" pitchFamily="34" charset="0"/>
              </a:rPr>
              <a:t>-	Non-banking financial institutions, </a:t>
            </a:r>
          </a:p>
          <a:p>
            <a:pPr marL="357188" lvl="1">
              <a:lnSpc>
                <a:spcPct val="150000"/>
              </a:lnSpc>
              <a:tabLst>
                <a:tab pos="357188" algn="l"/>
                <a:tab pos="806450" algn="l"/>
              </a:tabLst>
            </a:pPr>
            <a:r>
              <a:rPr lang="en-US" b="1" dirty="0" smtClean="0">
                <a:latin typeface="Arial" pitchFamily="34" charset="0"/>
                <a:cs typeface="Arial" pitchFamily="34" charset="0"/>
              </a:rPr>
              <a:t>-	</a:t>
            </a:r>
            <a:r>
              <a:rPr lang="en-US" b="1" dirty="0" err="1" smtClean="0">
                <a:latin typeface="Arial" pitchFamily="34" charset="0"/>
                <a:cs typeface="Arial" pitchFamily="34" charset="0"/>
              </a:rPr>
              <a:t>Nidhis</a:t>
            </a:r>
            <a:r>
              <a:rPr lang="en-US" b="1" dirty="0" smtClean="0">
                <a:latin typeface="Arial" pitchFamily="34" charset="0"/>
                <a:cs typeface="Arial" pitchFamily="34" charset="0"/>
              </a:rPr>
              <a:t> and primary dealers (money markets) </a:t>
            </a:r>
          </a:p>
          <a:p>
            <a:pPr marL="357188" lvl="1">
              <a:lnSpc>
                <a:spcPct val="150000"/>
              </a:lnSpc>
              <a:tabLst>
                <a:tab pos="357188" algn="l"/>
                <a:tab pos="806450" algn="l"/>
              </a:tabLst>
            </a:pPr>
            <a:r>
              <a:rPr lang="en-US" b="1" dirty="0" smtClean="0">
                <a:latin typeface="Arial" pitchFamily="34" charset="0"/>
                <a:cs typeface="Arial" pitchFamily="34" charset="0"/>
              </a:rPr>
              <a:t>-	Dealers in the foreign exchange (</a:t>
            </a:r>
            <a:r>
              <a:rPr lang="en-US" b="1" dirty="0" err="1" smtClean="0">
                <a:latin typeface="Arial" pitchFamily="34" charset="0"/>
                <a:cs typeface="Arial" pitchFamily="34" charset="0"/>
              </a:rPr>
              <a:t>forex</a:t>
            </a:r>
            <a:r>
              <a:rPr lang="en-US" b="1" dirty="0" smtClean="0">
                <a:latin typeface="Arial" pitchFamily="34" charset="0"/>
                <a:cs typeface="Arial" pitchFamily="34" charset="0"/>
              </a:rPr>
              <a:t>) market.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MONETARY POLICY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71546"/>
            <a:ext cx="7242028" cy="45653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How is the Monetary Policy different from the Fiscal Policy? </a:t>
            </a:r>
            <a:endParaRPr lang="en-US" b="1" dirty="0">
              <a:latin typeface="Arial" pitchFamily="34" charset="0"/>
              <a:cs typeface="Arial" pitchFamily="34" charset="0"/>
            </a:endParaRPr>
          </a:p>
        </p:txBody>
      </p:sp>
      <p:sp>
        <p:nvSpPr>
          <p:cNvPr id="5" name="Rectangle 4"/>
          <p:cNvSpPr/>
          <p:nvPr/>
        </p:nvSpPr>
        <p:spPr>
          <a:xfrm>
            <a:off x="785786" y="1692180"/>
            <a:ext cx="7215238" cy="3780522"/>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The Monetary Policy is different from Fiscal Policy as the former brings about a change in the economy by changing money supply and interest rates, whereas the latter is a broader tool with the Government. </a:t>
            </a:r>
          </a:p>
          <a:p>
            <a:pPr marL="357188" indent="-357188">
              <a:lnSpc>
                <a:spcPct val="150000"/>
              </a:lnSpc>
              <a:buFont typeface="Wingdings" pitchFamily="2" charset="2"/>
              <a:buChar char="q"/>
              <a:tabLst>
                <a:tab pos="357188" algn="l"/>
              </a:tabLst>
            </a:pPr>
            <a:endParaRPr lang="en-US" sz="10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The Fiscal Policy can be used to overcome recession and control inflation. It may be defined as a deliberate change in Government revenue and expenditure to influence the level of national output and prices.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MONETARY POLICY</a:t>
            </a:r>
            <a:endParaRPr lang="en-US" sz="2000" b="1" dirty="0">
              <a:solidFill>
                <a:schemeClr val="bg1"/>
              </a:solidFill>
              <a:latin typeface="Arial" pitchFamily="34" charset="0"/>
              <a:cs typeface="Arial" pitchFamily="34" charset="0"/>
            </a:endParaRPr>
          </a:p>
        </p:txBody>
      </p:sp>
      <p:sp>
        <p:nvSpPr>
          <p:cNvPr id="5" name="Rectangle 4"/>
          <p:cNvSpPr/>
          <p:nvPr/>
        </p:nvSpPr>
        <p:spPr>
          <a:xfrm>
            <a:off x="785786" y="1214422"/>
            <a:ext cx="7215238" cy="3365024"/>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 For instance, the Government can reduce its expenditures or raise taxes during inflationary times. </a:t>
            </a:r>
          </a:p>
          <a:p>
            <a:pPr marL="357188" indent="-357188">
              <a:lnSpc>
                <a:spcPct val="150000"/>
              </a:lnSpc>
              <a:buFont typeface="Wingdings" pitchFamily="2" charset="2"/>
              <a:buChar char="q"/>
              <a:tabLst>
                <a:tab pos="357188" algn="l"/>
              </a:tabLst>
            </a:pPr>
            <a:endParaRPr lang="en-US"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Fiscal policy aims at changing aggregate demand by suitable changes in government spending and taxes. </a:t>
            </a:r>
          </a:p>
          <a:p>
            <a:pPr marL="357188" indent="-357188">
              <a:lnSpc>
                <a:spcPct val="150000"/>
              </a:lnSpc>
              <a:buFont typeface="Wingdings" pitchFamily="2" charset="2"/>
              <a:buChar char="q"/>
              <a:tabLst>
                <a:tab pos="357188" algn="l"/>
              </a:tabLst>
            </a:pPr>
            <a:endParaRPr lang="en-US"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 The annual Union Budget showcases the Government's Fiscal Policy.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MONETARY POLICY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7" y="1094979"/>
            <a:ext cx="7572429" cy="369332"/>
          </a:xfrm>
          <a:prstGeom prst="rect">
            <a:avLst/>
          </a:prstGeom>
        </p:spPr>
        <p:txBody>
          <a:bodyPr wrap="square">
            <a:spAutoFit/>
          </a:bodyPr>
          <a:lstStyle/>
          <a:p>
            <a:pPr algn="ctr"/>
            <a:r>
              <a:rPr lang="en-US" b="1" dirty="0" smtClean="0">
                <a:latin typeface="Arial" pitchFamily="34" charset="0"/>
                <a:cs typeface="Arial" pitchFamily="34" charset="0"/>
              </a:rPr>
              <a:t>What are the objectives of the Monetary Policy? </a:t>
            </a:r>
            <a:endParaRPr lang="en-US" b="1" dirty="0">
              <a:latin typeface="Arial" pitchFamily="34" charset="0"/>
              <a:cs typeface="Arial" pitchFamily="34" charset="0"/>
            </a:endParaRPr>
          </a:p>
        </p:txBody>
      </p:sp>
      <p:sp>
        <p:nvSpPr>
          <p:cNvPr id="5" name="Rectangle 4"/>
          <p:cNvSpPr/>
          <p:nvPr/>
        </p:nvSpPr>
        <p:spPr>
          <a:xfrm>
            <a:off x="714348" y="1585784"/>
            <a:ext cx="7858180" cy="3425553"/>
          </a:xfrm>
          <a:prstGeom prst="rect">
            <a:avLst/>
          </a:prstGeom>
        </p:spPr>
        <p:txBody>
          <a:bodyPr wrap="square">
            <a:spAutoFit/>
          </a:bodyPr>
          <a:lstStyle/>
          <a:p>
            <a:pPr marL="542925" indent="-542925">
              <a:lnSpc>
                <a:spcPct val="150000"/>
              </a:lnSpc>
              <a:spcBef>
                <a:spcPct val="20000"/>
              </a:spcBef>
              <a:buFont typeface="Wingdings" pitchFamily="2" charset="2"/>
              <a:buChar char="q"/>
              <a:tabLst>
                <a:tab pos="542925" algn="l"/>
              </a:tabLst>
            </a:pPr>
            <a:r>
              <a:rPr lang="en-US" b="1" dirty="0" smtClean="0">
                <a:latin typeface="Arial" pitchFamily="34" charset="0"/>
                <a:cs typeface="Arial" pitchFamily="34" charset="0"/>
              </a:rPr>
              <a:t>The objectives are to maintain price stability and ensure adequate flow of credit to the productive sectors of the economy. </a:t>
            </a:r>
          </a:p>
          <a:p>
            <a:pPr marL="542925" indent="-542925">
              <a:lnSpc>
                <a:spcPct val="150000"/>
              </a:lnSpc>
              <a:spcBef>
                <a:spcPct val="20000"/>
              </a:spcBef>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spcBef>
                <a:spcPct val="20000"/>
              </a:spcBef>
              <a:buFont typeface="Wingdings" pitchFamily="2" charset="2"/>
              <a:buChar char="q"/>
              <a:tabLst>
                <a:tab pos="542925" algn="l"/>
              </a:tabLst>
            </a:pPr>
            <a:r>
              <a:rPr lang="en-US" b="1" dirty="0" smtClean="0">
                <a:latin typeface="Arial" pitchFamily="34" charset="0"/>
                <a:cs typeface="Arial" pitchFamily="34" charset="0"/>
              </a:rPr>
              <a:t>Stability for the national currency (after looking at prevailing economic conditions), growth in employment and income are also looked into. </a:t>
            </a:r>
          </a:p>
          <a:p>
            <a:pPr marL="542925" indent="-542925">
              <a:lnSpc>
                <a:spcPct val="150000"/>
              </a:lnSpc>
              <a:spcBef>
                <a:spcPct val="20000"/>
              </a:spcBef>
              <a:buFont typeface="Wingdings" pitchFamily="2" charset="2"/>
              <a:buChar char="q"/>
              <a:tabLst>
                <a:tab pos="542925" algn="l"/>
              </a:tabLst>
            </a:pPr>
            <a:endParaRPr lang="en-US" sz="600" b="1" dirty="0" smtClean="0">
              <a:latin typeface="Arial" pitchFamily="34" charset="0"/>
              <a:cs typeface="Arial" pitchFamily="34" charset="0"/>
            </a:endParaRPr>
          </a:p>
          <a:p>
            <a:pPr marL="542925" indent="-542925">
              <a:lnSpc>
                <a:spcPct val="150000"/>
              </a:lnSpc>
              <a:spcBef>
                <a:spcPct val="20000"/>
              </a:spcBef>
              <a:buFont typeface="Wingdings" pitchFamily="2" charset="2"/>
              <a:buChar char="q"/>
              <a:tabLst>
                <a:tab pos="542925" algn="l"/>
              </a:tabLst>
            </a:pPr>
            <a:r>
              <a:rPr lang="en-US" b="1" dirty="0" smtClean="0">
                <a:latin typeface="Arial" pitchFamily="34" charset="0"/>
                <a:cs typeface="Arial" pitchFamily="34" charset="0"/>
              </a:rPr>
              <a:t>The monetary policy affects the financial markets through short-term quarterly implications as it is reviewed four times a year.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MONETARY POLICY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37099"/>
            <a:ext cx="7386044"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OK…but how does the Monetary Policy impact me?</a:t>
            </a:r>
            <a:endParaRPr lang="en-US" b="1" dirty="0">
              <a:latin typeface="Arial" pitchFamily="34" charset="0"/>
              <a:cs typeface="Arial" pitchFamily="34" charset="0"/>
            </a:endParaRPr>
          </a:p>
        </p:txBody>
      </p:sp>
      <p:sp>
        <p:nvSpPr>
          <p:cNvPr id="5" name="Rectangle 4"/>
          <p:cNvSpPr/>
          <p:nvPr/>
        </p:nvSpPr>
        <p:spPr>
          <a:xfrm>
            <a:off x="714380" y="1518996"/>
            <a:ext cx="7358082" cy="2949525"/>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In recent years, the policy has gained in importance due to announcements of the interest rates, which impact our lives. </a:t>
            </a:r>
          </a:p>
          <a:p>
            <a:pPr marL="357188" indent="-357188">
              <a:lnSpc>
                <a:spcPct val="150000"/>
              </a:lnSpc>
              <a:buFont typeface="Wingdings" pitchFamily="2" charset="2"/>
              <a:buChar char="q"/>
              <a:tabLst>
                <a:tab pos="357188" algn="l"/>
              </a:tabLst>
            </a:pPr>
            <a:endParaRPr lang="en-US"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Over the past few years, the RBI Governor has preferred not to wait for the Monetary Policy (which is annual) to announce a revision in interest rates and these revisions have been made (in the quarterly reviews) as &amp; when the situation arises.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4810" y="5026895"/>
            <a:ext cx="3857652" cy="830997"/>
          </a:xfrm>
          <a:prstGeom prst="rect">
            <a:avLst/>
          </a:prstGeom>
        </p:spPr>
        <p:txBody>
          <a:bodyPr wrap="square">
            <a:spAutoFit/>
          </a:bodyPr>
          <a:lstStyle/>
          <a:p>
            <a:pPr>
              <a:lnSpc>
                <a:spcPct val="150000"/>
              </a:lnSpc>
              <a:buFontTx/>
              <a:buNone/>
            </a:pPr>
            <a:r>
              <a:rPr lang="en-US" sz="1600" b="1" dirty="0" smtClean="0">
                <a:latin typeface="Arial" pitchFamily="34" charset="0"/>
                <a:cs typeface="Arial" pitchFamily="34" charset="0"/>
              </a:rPr>
              <a:t>Hope you have now understood</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the concept of Monetary Policy</a:t>
            </a:r>
            <a:endParaRPr lang="en-US" sz="1600"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MONETARY POLICY</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4726332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71678"/>
            <a:ext cx="4032448" cy="978729"/>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In case of any query, please e-mail </a:t>
            </a:r>
          </a:p>
          <a:p>
            <a:pPr marL="342900" indent="-342900" algn="ctr">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2910</TotalTime>
  <Words>604</Words>
  <Application>Microsoft Office PowerPoint</Application>
  <PresentationFormat>On-screen Show (4:3)</PresentationFormat>
  <Paragraphs>47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Heena Uttamchandani TAM HO</cp:lastModifiedBy>
  <cp:revision>401</cp:revision>
  <dcterms:created xsi:type="dcterms:W3CDTF">2013-10-22T09:41:31Z</dcterms:created>
  <dcterms:modified xsi:type="dcterms:W3CDTF">2014-10-01T07:31:46Z</dcterms:modified>
</cp:coreProperties>
</file>