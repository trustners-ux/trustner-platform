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58" r:id="rId3"/>
    <p:sldId id="473" r:id="rId4"/>
    <p:sldId id="416" r:id="rId5"/>
    <p:sldId id="418" r:id="rId6"/>
    <p:sldId id="469" r:id="rId7"/>
    <p:sldId id="456" r:id="rId8"/>
    <p:sldId id="470" r:id="rId9"/>
    <p:sldId id="457" r:id="rId10"/>
    <p:sldId id="471" r:id="rId11"/>
    <p:sldId id="448" r:id="rId12"/>
    <p:sldId id="474" r:id="rId13"/>
    <p:sldId id="465" r:id="rId14"/>
    <p:sldId id="287" r:id="rId15"/>
    <p:sldId id="273"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1" d="100"/>
          <a:sy n="61" d="100"/>
        </p:scale>
        <p:origin x="-1542"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4313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28728" y="1447230"/>
            <a:ext cx="3357586"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QE </a:t>
            </a:r>
            <a:r>
              <a:rPr lang="en-US" b="1" dirty="0" smtClean="0">
                <a:latin typeface="Arial" pitchFamily="34" charset="0"/>
                <a:cs typeface="Arial" pitchFamily="34" charset="0"/>
              </a:rPr>
              <a:t>&amp; Capital Flows </a:t>
            </a:r>
          </a:p>
          <a:p>
            <a:pPr>
              <a:lnSpc>
                <a:spcPct val="150000"/>
              </a:lnSpc>
            </a:pPr>
            <a:r>
              <a:rPr lang="en-US" b="1" dirty="0" smtClean="0">
                <a:latin typeface="Arial" pitchFamily="34" charset="0"/>
                <a:cs typeface="Arial" pitchFamily="34" charset="0"/>
              </a:rPr>
              <a:t>–  </a:t>
            </a:r>
            <a:r>
              <a:rPr lang="en-US" b="1" dirty="0" smtClean="0">
                <a:latin typeface="Arial" pitchFamily="34" charset="0"/>
                <a:cs typeface="Arial" pitchFamily="34" charset="0"/>
              </a:rPr>
              <a:t>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 </a:t>
            </a:r>
            <a:r>
              <a:rPr lang="en-US" b="1" baseline="70000" dirty="0" smtClean="0">
                <a:latin typeface="Arial" pitchFamily="34" charset="0"/>
                <a:cs typeface="Arial" pitchFamily="34" charset="0"/>
              </a:rPr>
              <a:t>TM</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643438" y="2857496"/>
            <a:ext cx="3714776" cy="212885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These days we read a lot about “QE &amp; Capital Flows”.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They appear to be a part of most discussions going around.</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5" name="Rectangle 4"/>
          <p:cNvSpPr/>
          <p:nvPr/>
        </p:nvSpPr>
        <p:spPr>
          <a:xfrm>
            <a:off x="4643470" y="5214950"/>
            <a:ext cx="3571868" cy="9233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what is QE and how </a:t>
            </a:r>
            <a:r>
              <a:rPr lang="en-US" b="1" dirty="0" smtClean="0">
                <a:latin typeface="Arial" pitchFamily="34" charset="0"/>
                <a:cs typeface="Arial" pitchFamily="34" charset="0"/>
              </a:rPr>
              <a:t>is</a:t>
            </a:r>
            <a:br>
              <a:rPr lang="en-US" b="1" dirty="0" smtClean="0">
                <a:latin typeface="Arial" pitchFamily="34" charset="0"/>
                <a:cs typeface="Arial" pitchFamily="34" charset="0"/>
              </a:rPr>
            </a:br>
            <a:r>
              <a:rPr lang="en-US" b="1" dirty="0" smtClean="0">
                <a:latin typeface="Arial" pitchFamily="34" charset="0"/>
                <a:cs typeface="Arial" pitchFamily="34" charset="0"/>
              </a:rPr>
              <a:t>it </a:t>
            </a:r>
            <a:r>
              <a:rPr lang="en-US" b="1" dirty="0" smtClean="0">
                <a:latin typeface="Arial" pitchFamily="34" charset="0"/>
                <a:cs typeface="Arial" pitchFamily="34" charset="0"/>
              </a:rPr>
              <a:t>connected to capital flows?</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7597712" cy="4247317"/>
          </a:xfrm>
          <a:prstGeom prst="rect">
            <a:avLst/>
          </a:prstGeom>
        </p:spPr>
        <p:txBody>
          <a:bodyPr wrap="square">
            <a:spAutoFit/>
          </a:bodyPr>
          <a:lstStyle/>
          <a:p>
            <a:pPr marL="342900" indent="-342900">
              <a:lnSpc>
                <a:spcPct val="150000"/>
              </a:lnSpc>
              <a:buFontTx/>
              <a:buAutoNum type="arabicPeriod"/>
            </a:pPr>
            <a:r>
              <a:rPr lang="en-US" b="1" dirty="0" smtClean="0">
                <a:latin typeface="Arial" pitchFamily="34" charset="0"/>
                <a:cs typeface="Arial" pitchFamily="34" charset="0"/>
              </a:rPr>
              <a:t>QE or Quantitative easing refers to the printing of excess dollars by the US.</a:t>
            </a:r>
          </a:p>
          <a:p>
            <a:pPr marL="342900" indent="-342900">
              <a:lnSpc>
                <a:spcPct val="150000"/>
              </a:lnSpc>
              <a:buFontTx/>
              <a:buAutoNum type="arabicPeriod"/>
            </a:pPr>
            <a:r>
              <a:rPr lang="en-US" b="1" dirty="0" smtClean="0">
                <a:latin typeface="Arial" pitchFamily="34" charset="0"/>
                <a:cs typeface="Arial" pitchFamily="34" charset="0"/>
              </a:rPr>
              <a:t>The reason US prints dollars is for their Federal Reserve to purchase government bonds, mortgage securities &amp; stakes in financial institutions.</a:t>
            </a:r>
          </a:p>
          <a:p>
            <a:pPr marL="342900" indent="-342900">
              <a:lnSpc>
                <a:spcPct val="150000"/>
              </a:lnSpc>
              <a:buFontTx/>
              <a:buAutoNum type="arabicPeriod"/>
            </a:pPr>
            <a:r>
              <a:rPr lang="en-US" b="1" dirty="0" smtClean="0">
                <a:latin typeface="Arial" pitchFamily="34" charset="0"/>
                <a:cs typeface="Arial" pitchFamily="34" charset="0"/>
              </a:rPr>
              <a:t>Thus it increases bond prices which improves credit availability &amp; stabilizes financial balance sheets.</a:t>
            </a:r>
          </a:p>
          <a:p>
            <a:pPr marL="342900" indent="-342900">
              <a:lnSpc>
                <a:spcPct val="150000"/>
              </a:lnSpc>
              <a:buFontTx/>
              <a:buAutoNum type="arabicPeriod"/>
            </a:pPr>
            <a:r>
              <a:rPr lang="en-US" b="1" dirty="0" smtClean="0">
                <a:latin typeface="Arial" pitchFamily="34" charset="0"/>
                <a:cs typeface="Arial" pitchFamily="34" charset="0"/>
              </a:rPr>
              <a:t>Due to a slowing economy, the US does not want to raise interest rates. </a:t>
            </a:r>
          </a:p>
          <a:p>
            <a:pPr marL="342900" indent="-342900">
              <a:lnSpc>
                <a:spcPct val="150000"/>
              </a:lnSpc>
              <a:buFontTx/>
              <a:buAutoNum type="arabicPeriod"/>
            </a:pPr>
            <a:r>
              <a:rPr lang="en-US" b="1" dirty="0" smtClean="0">
                <a:latin typeface="Arial" pitchFamily="34" charset="0"/>
                <a:cs typeface="Arial" pitchFamily="34" charset="0"/>
              </a:rPr>
              <a:t>In that sense, QE helps to keep US interest rates low.</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142984"/>
            <a:ext cx="7500990" cy="3416320"/>
          </a:xfrm>
          <a:prstGeom prst="rect">
            <a:avLst/>
          </a:prstGeom>
        </p:spPr>
        <p:txBody>
          <a:bodyPr wrap="square">
            <a:spAutoFit/>
          </a:bodyPr>
          <a:lstStyle/>
          <a:p>
            <a:pPr marL="342900" indent="-342900">
              <a:lnSpc>
                <a:spcPct val="150000"/>
              </a:lnSpc>
            </a:pPr>
            <a:r>
              <a:rPr lang="en-US" b="1" dirty="0" smtClean="0">
                <a:latin typeface="Arial" pitchFamily="34" charset="0"/>
                <a:cs typeface="Arial" pitchFamily="34" charset="0"/>
              </a:rPr>
              <a:t>6.	However the excess dollars that buy bonds &amp; other securities have to find some outlet for further investment.</a:t>
            </a:r>
          </a:p>
          <a:p>
            <a:pPr marL="342900" indent="-342900">
              <a:lnSpc>
                <a:spcPct val="150000"/>
              </a:lnSpc>
              <a:buAutoNum type="arabicPeriod" startAt="7"/>
            </a:pPr>
            <a:r>
              <a:rPr lang="en-US" b="1" dirty="0" smtClean="0">
                <a:latin typeface="Arial" pitchFamily="34" charset="0"/>
                <a:cs typeface="Arial" pitchFamily="34" charset="0"/>
              </a:rPr>
              <a:t>Some </a:t>
            </a:r>
            <a:r>
              <a:rPr lang="en-US" b="1" dirty="0" smtClean="0">
                <a:latin typeface="Arial" pitchFamily="34" charset="0"/>
                <a:cs typeface="Arial" pitchFamily="34" charset="0"/>
              </a:rPr>
              <a:t>amount perhaps goes towards government spending while the balance finds its way for investments</a:t>
            </a:r>
            <a:r>
              <a:rPr lang="en-US" b="1" dirty="0" smtClean="0">
                <a:latin typeface="Arial" pitchFamily="34" charset="0"/>
                <a:cs typeface="Arial" pitchFamily="34" charset="0"/>
              </a:rPr>
              <a:t>.</a:t>
            </a:r>
          </a:p>
          <a:p>
            <a:pPr marL="342900" indent="-342900">
              <a:lnSpc>
                <a:spcPct val="150000"/>
              </a:lnSpc>
              <a:buAutoNum type="arabicPeriod" startAt="7"/>
            </a:pPr>
            <a:endParaRPr lang="en-US" b="1" dirty="0" smtClean="0">
              <a:latin typeface="Arial" pitchFamily="34" charset="0"/>
              <a:cs typeface="Arial" pitchFamily="34" charset="0"/>
            </a:endParaRPr>
          </a:p>
          <a:p>
            <a:pPr marL="342900" indent="-342900">
              <a:lnSpc>
                <a:spcPct val="150000"/>
              </a:lnSpc>
            </a:pPr>
            <a:r>
              <a:rPr lang="en-US" b="1" dirty="0" smtClean="0">
                <a:latin typeface="Arial" pitchFamily="34" charset="0"/>
                <a:cs typeface="Arial" pitchFamily="34" charset="0"/>
              </a:rPr>
              <a:t>	In search of potentially attractive investment avenues, the excess dollars find their way into emerging economies like India as part of “Capital Flows”.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7" name="Rectangle 6"/>
          <p:cNvSpPr/>
          <p:nvPr/>
        </p:nvSpPr>
        <p:spPr>
          <a:xfrm>
            <a:off x="785786" y="1125222"/>
            <a:ext cx="7286676" cy="337534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Capital Flows, in a sense, represent the flow of US dollars into our economy. In times like these when the returns in US are abysmally low, it is quite natural for investors over there to look at other alternatives to make investments.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this regard, the Indian equity markets are one of the more popular destinations these days. Nearly 25 billion US dollars have flowed into our economy in this calendar year.</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116627"/>
            <a:ext cx="7858180" cy="3780522"/>
          </a:xfrm>
          <a:prstGeom prst="rect">
            <a:avLst/>
          </a:prstGeom>
        </p:spPr>
        <p:txBody>
          <a:bodyPr wrap="square">
            <a:spAutoFit/>
          </a:bodyPr>
          <a:lstStyle/>
          <a:p>
            <a:pPr marL="342900" indent="-342900">
              <a:lnSpc>
                <a:spcPct val="150000"/>
              </a:lnSpc>
            </a:pPr>
            <a:r>
              <a:rPr lang="en-US" b="1" dirty="0" smtClean="0">
                <a:latin typeface="Arial" pitchFamily="34" charset="0"/>
                <a:cs typeface="Arial" pitchFamily="34" charset="0"/>
              </a:rPr>
              <a:t>	When foreign capital flows into the Indian economy the following are its effects:-</a:t>
            </a:r>
          </a:p>
          <a:p>
            <a:pPr marL="342900" indent="-342900">
              <a:lnSpc>
                <a:spcPct val="150000"/>
              </a:lnSpc>
              <a:buFontTx/>
              <a:buAutoNum type="arabicPeriod"/>
            </a:pPr>
            <a:r>
              <a:rPr lang="en-US" b="1" dirty="0" smtClean="0">
                <a:latin typeface="Arial" pitchFamily="34" charset="0"/>
                <a:cs typeface="Arial" pitchFamily="34" charset="0"/>
              </a:rPr>
              <a:t>The value of the rupee goes up because first the international investor has to purchase the rupee to invest in our markets</a:t>
            </a:r>
          </a:p>
          <a:p>
            <a:pPr marL="342900" indent="-342900">
              <a:lnSpc>
                <a:spcPct val="150000"/>
              </a:lnSpc>
              <a:buFontTx/>
              <a:buAutoNum type="arabicPeriod"/>
            </a:pPr>
            <a:r>
              <a:rPr lang="en-US" b="1" dirty="0" smtClean="0">
                <a:latin typeface="Arial" pitchFamily="34" charset="0"/>
                <a:cs typeface="Arial" pitchFamily="34" charset="0"/>
              </a:rPr>
              <a:t>When the value of the rupee goes up, our exports become less competitive and causes job losses.</a:t>
            </a:r>
          </a:p>
          <a:p>
            <a:pPr marL="342900" indent="-342900">
              <a:lnSpc>
                <a:spcPct val="150000"/>
              </a:lnSpc>
              <a:buFontTx/>
              <a:buAutoNum type="arabicPeriod"/>
            </a:pPr>
            <a:r>
              <a:rPr lang="en-US" b="1" dirty="0" smtClean="0">
                <a:latin typeface="Arial" pitchFamily="34" charset="0"/>
                <a:cs typeface="Arial" pitchFamily="34" charset="0"/>
              </a:rPr>
              <a:t>The RBI needs to intervene in the currency markets by buying US dollars to keep a control over the rupee appreciation. </a:t>
            </a:r>
          </a:p>
          <a:p>
            <a:pPr marL="342900" indent="-342900">
              <a:lnSpc>
                <a:spcPct val="150000"/>
              </a:lnSpc>
              <a:buFontTx/>
              <a:buAutoNum type="arabicPeriod"/>
            </a:pPr>
            <a:r>
              <a:rPr lang="en-US" b="1" dirty="0" smtClean="0">
                <a:latin typeface="Arial" pitchFamily="34" charset="0"/>
                <a:cs typeface="Arial" pitchFamily="34" charset="0"/>
              </a:rPr>
              <a:t>Thus foreign exchange reserves go up.</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7" name="Rectangle 6"/>
          <p:cNvSpPr/>
          <p:nvPr/>
        </p:nvSpPr>
        <p:spPr>
          <a:xfrm>
            <a:off x="571472" y="1142984"/>
            <a:ext cx="7929618" cy="3416320"/>
          </a:xfrm>
          <a:prstGeom prst="rect">
            <a:avLst/>
          </a:prstGeom>
        </p:spPr>
        <p:txBody>
          <a:bodyPr wrap="square">
            <a:spAutoFit/>
          </a:bodyPr>
          <a:lstStyle/>
          <a:p>
            <a:pPr marL="342900" indent="-342900">
              <a:lnSpc>
                <a:spcPct val="150000"/>
              </a:lnSpc>
              <a:buFontTx/>
              <a:buAutoNum type="arabicPeriod" startAt="5"/>
            </a:pPr>
            <a:r>
              <a:rPr lang="en-US" b="1" dirty="0" smtClean="0">
                <a:latin typeface="Arial" pitchFamily="34" charset="0"/>
                <a:cs typeface="Arial" pitchFamily="34" charset="0"/>
              </a:rPr>
              <a:t>The flood of rupees to buy the dollars can cause inflation to go up. </a:t>
            </a:r>
          </a:p>
          <a:p>
            <a:pPr marL="342900" indent="-342900">
              <a:lnSpc>
                <a:spcPct val="150000"/>
              </a:lnSpc>
              <a:buFontTx/>
              <a:buAutoNum type="arabicPeriod" startAt="5"/>
            </a:pPr>
            <a:r>
              <a:rPr lang="en-US" b="1" dirty="0" smtClean="0">
                <a:latin typeface="Arial" pitchFamily="34" charset="0"/>
                <a:cs typeface="Arial" pitchFamily="34" charset="0"/>
              </a:rPr>
              <a:t>The RBI may then float bonds to suck out the excess rupees in the system.</a:t>
            </a:r>
          </a:p>
          <a:p>
            <a:pPr marL="342900" indent="-342900">
              <a:lnSpc>
                <a:spcPct val="150000"/>
              </a:lnSpc>
              <a:buFontTx/>
              <a:buAutoNum type="arabicPeriod" startAt="7"/>
            </a:pPr>
            <a:r>
              <a:rPr lang="en-US" b="1" dirty="0" smtClean="0">
                <a:latin typeface="Arial" pitchFamily="34" charset="0"/>
                <a:cs typeface="Arial" pitchFamily="34" charset="0"/>
              </a:rPr>
              <a:t>Excess capital flows inhibit the central bank from raising interest rates as it can induce more foreign capital to flow in due to the arbitrage advantage (our economy offers higher fixed returns than theirs &amp; hence there is an opportunity to borrow there and invest here).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8" name="Rectangle 7"/>
          <p:cNvSpPr/>
          <p:nvPr/>
        </p:nvSpPr>
        <p:spPr>
          <a:xfrm>
            <a:off x="642910" y="1214422"/>
            <a:ext cx="7215238" cy="3790846"/>
          </a:xfrm>
          <a:prstGeom prst="rect">
            <a:avLst/>
          </a:prstGeom>
        </p:spPr>
        <p:txBody>
          <a:bodyPr wrap="square">
            <a:spAutoFit/>
          </a:bodyPr>
          <a:lstStyle/>
          <a:p>
            <a:pPr marL="342900" indent="-342900">
              <a:lnSpc>
                <a:spcPct val="150000"/>
              </a:lnSpc>
            </a:pPr>
            <a:r>
              <a:rPr lang="en-US" b="1" dirty="0" smtClean="0">
                <a:latin typeface="Arial" pitchFamily="34" charset="0"/>
                <a:cs typeface="Arial" pitchFamily="34" charset="0"/>
              </a:rPr>
              <a:t>	So why is it so difficult for the RBI to handle this situation?</a:t>
            </a:r>
          </a:p>
          <a:p>
            <a:pPr marL="342900" indent="-342900">
              <a:lnSpc>
                <a:spcPct val="150000"/>
              </a:lnSpc>
            </a:pPr>
            <a:r>
              <a:rPr lang="en-US" b="1" dirty="0" smtClean="0">
                <a:latin typeface="Arial" pitchFamily="34" charset="0"/>
                <a:cs typeface="Arial" pitchFamily="34" charset="0"/>
              </a:rPr>
              <a:t>	The reason for this is that RBI actions can work at cross purposes. For example:</a:t>
            </a:r>
          </a:p>
          <a:p>
            <a:pPr marL="342900" indent="-342900">
              <a:lnSpc>
                <a:spcPct val="150000"/>
              </a:lnSpc>
              <a:buFontTx/>
              <a:buAutoNum type="arabicParenR"/>
            </a:pPr>
            <a:r>
              <a:rPr lang="en-US" b="1" dirty="0" smtClean="0">
                <a:latin typeface="Arial" pitchFamily="34" charset="0"/>
                <a:cs typeface="Arial" pitchFamily="34" charset="0"/>
              </a:rPr>
              <a:t>If RBI buys US dollars to keep the value of the Indian rupee low for the sake of exporters, it can cause inflation to go up.</a:t>
            </a:r>
          </a:p>
          <a:p>
            <a:pPr marL="342900" indent="-342900">
              <a:lnSpc>
                <a:spcPct val="150000"/>
              </a:lnSpc>
              <a:buFontTx/>
              <a:buAutoNum type="arabicParenR"/>
            </a:pPr>
            <a:r>
              <a:rPr lang="en-US" b="1" dirty="0" smtClean="0">
                <a:latin typeface="Arial" pitchFamily="34" charset="0"/>
                <a:cs typeface="Arial" pitchFamily="34" charset="0"/>
              </a:rPr>
              <a:t>If RBI sucks out the excess “rupees” in the system by issuing bonds, it will have to offer an attractive interest rate which, in turn, will cause overall interest rates to go up and thereby increase the capital flows instead of controlling it.</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7" name="Rectangle 6"/>
          <p:cNvSpPr/>
          <p:nvPr/>
        </p:nvSpPr>
        <p:spPr>
          <a:xfrm>
            <a:off x="785786" y="1142984"/>
            <a:ext cx="7500990" cy="3000821"/>
          </a:xfrm>
          <a:prstGeom prst="rect">
            <a:avLst/>
          </a:prstGeom>
        </p:spPr>
        <p:txBody>
          <a:bodyPr wrap="square">
            <a:spAutoFit/>
          </a:bodyPr>
          <a:lstStyle/>
          <a:p>
            <a:pPr marL="449263" indent="-449263">
              <a:lnSpc>
                <a:spcPct val="150000"/>
              </a:lnSpc>
              <a:buFont typeface="Wingdings" pitchFamily="2" charset="2"/>
              <a:buChar char="q"/>
              <a:tabLst>
                <a:tab pos="449263" algn="l"/>
              </a:tabLst>
            </a:pPr>
            <a:r>
              <a:rPr lang="en-US" b="1" dirty="0" smtClean="0">
                <a:latin typeface="Arial" pitchFamily="34" charset="0"/>
                <a:cs typeface="Arial" pitchFamily="34" charset="0"/>
              </a:rPr>
              <a:t>Hence the RBI has to do a balancing act.</a:t>
            </a:r>
          </a:p>
          <a:p>
            <a:pPr marL="449263" indent="-449263">
              <a:lnSpc>
                <a:spcPct val="150000"/>
              </a:lnSpc>
              <a:buFont typeface="Wingdings" pitchFamily="2" charset="2"/>
              <a:buChar char="q"/>
              <a:tabLst>
                <a:tab pos="449263" algn="l"/>
              </a:tabLst>
            </a:pPr>
            <a:r>
              <a:rPr lang="en-US" b="1" dirty="0" smtClean="0">
                <a:latin typeface="Arial" pitchFamily="34" charset="0"/>
                <a:cs typeface="Arial" pitchFamily="34" charset="0"/>
              </a:rPr>
              <a:t>In the case of India, most of the capital flows are moving towards equities and less towards fixed income instruments.</a:t>
            </a:r>
          </a:p>
          <a:p>
            <a:pPr marL="449263" indent="-449263">
              <a:lnSpc>
                <a:spcPct val="150000"/>
              </a:lnSpc>
              <a:buFont typeface="Wingdings" pitchFamily="2" charset="2"/>
              <a:buChar char="q"/>
              <a:tabLst>
                <a:tab pos="449263" algn="l"/>
              </a:tabLst>
            </a:pPr>
            <a:r>
              <a:rPr lang="en-US" b="1" dirty="0" smtClean="0">
                <a:latin typeface="Arial" pitchFamily="34" charset="0"/>
                <a:cs typeface="Arial" pitchFamily="34" charset="0"/>
              </a:rPr>
              <a:t>Hence the RBI has some room to increase interest rates on one hand and thereby be in a position to intervene in the currency markets and regulate the value of the Indian rupees keeping in mind the needs of exporters.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429552" cy="2585323"/>
          </a:xfrm>
          <a:prstGeom prst="rect">
            <a:avLst/>
          </a:prstGeom>
        </p:spPr>
        <p:txBody>
          <a:bodyPr wrap="square">
            <a:spAutoFit/>
          </a:bodyPr>
          <a:lstStyle/>
          <a:p>
            <a:pPr marL="342900" indent="-342900">
              <a:lnSpc>
                <a:spcPct val="150000"/>
              </a:lnSpc>
            </a:pPr>
            <a:r>
              <a:rPr lang="en-US" b="1" dirty="0" smtClean="0">
                <a:latin typeface="Arial" pitchFamily="34" charset="0"/>
                <a:cs typeface="Arial" pitchFamily="34" charset="0"/>
              </a:rPr>
              <a:t>Why are capital flows a problem?</a:t>
            </a:r>
          </a:p>
          <a:p>
            <a:pPr marL="342900" indent="-342900">
              <a:lnSpc>
                <a:spcPct val="150000"/>
              </a:lnSpc>
              <a:buFontTx/>
              <a:buAutoNum type="arabicPeriod"/>
            </a:pPr>
            <a:r>
              <a:rPr lang="en-US" b="1" dirty="0" smtClean="0">
                <a:latin typeface="Arial" pitchFamily="34" charset="0"/>
                <a:cs typeface="Arial" pitchFamily="34" charset="0"/>
              </a:rPr>
              <a:t>Capital flows can increase the value of the rupee making it difficult for the exporters</a:t>
            </a:r>
          </a:p>
          <a:p>
            <a:pPr marL="342900" indent="-342900">
              <a:lnSpc>
                <a:spcPct val="150000"/>
              </a:lnSpc>
              <a:buFontTx/>
              <a:buAutoNum type="arabicPeriod"/>
            </a:pPr>
            <a:r>
              <a:rPr lang="en-US" b="1" dirty="0" smtClean="0">
                <a:latin typeface="Arial" pitchFamily="34" charset="0"/>
                <a:cs typeface="Arial" pitchFamily="34" charset="0"/>
              </a:rPr>
              <a:t>They can create asset bubbles &amp; increase commodity prices.</a:t>
            </a:r>
          </a:p>
          <a:p>
            <a:pPr marL="342900" indent="-342900">
              <a:lnSpc>
                <a:spcPct val="150000"/>
              </a:lnSpc>
              <a:buFontTx/>
              <a:buAutoNum type="arabicPeriod"/>
            </a:pPr>
            <a:r>
              <a:rPr lang="en-US" b="1" dirty="0" smtClean="0">
                <a:latin typeface="Arial" pitchFamily="34" charset="0"/>
                <a:cs typeface="Arial" pitchFamily="34" charset="0"/>
              </a:rPr>
              <a:t>They can be erratic and in that sense can get withdrawn in a short time interval causing asset markets’ bubble to burst.</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786742" cy="3375348"/>
          </a:xfrm>
          <a:prstGeom prst="rect">
            <a:avLst/>
          </a:prstGeom>
        </p:spPr>
        <p:txBody>
          <a:bodyPr wrap="square">
            <a:spAutoFit/>
          </a:bodyPr>
          <a:lstStyle/>
          <a:p>
            <a:pPr marL="342900" indent="-342900">
              <a:lnSpc>
                <a:spcPct val="150000"/>
              </a:lnSpc>
              <a:buFontTx/>
              <a:buAutoNum type="arabicPeriod"/>
            </a:pPr>
            <a:r>
              <a:rPr lang="en-US" b="1" dirty="0" smtClean="0">
                <a:latin typeface="Arial" pitchFamily="34" charset="0"/>
                <a:cs typeface="Arial" pitchFamily="34" charset="0"/>
              </a:rPr>
              <a:t>But capital flows also have an advantage for a country like India which has a current account deficit.</a:t>
            </a:r>
          </a:p>
          <a:p>
            <a:pPr marL="342900" indent="-342900">
              <a:lnSpc>
                <a:spcPct val="150000"/>
              </a:lnSpc>
              <a:buFontTx/>
              <a:buAutoNum type="arabicPeriod"/>
            </a:pPr>
            <a:r>
              <a:rPr lang="en-US" b="1" dirty="0" smtClean="0">
                <a:latin typeface="Arial" pitchFamily="34" charset="0"/>
                <a:cs typeface="Arial" pitchFamily="34" charset="0"/>
              </a:rPr>
              <a:t>The capital flows can help reduce this deficit in the economy and that makes it easier for the government to borrow at lower rates from the public.</a:t>
            </a:r>
          </a:p>
          <a:p>
            <a:pPr marL="342900" indent="-342900">
              <a:lnSpc>
                <a:spcPct val="150000"/>
              </a:lnSpc>
              <a:buFontTx/>
              <a:buAutoNum type="arabicPeriod"/>
            </a:pPr>
            <a:r>
              <a:rPr lang="en-US" b="1" dirty="0" smtClean="0">
                <a:latin typeface="Arial" pitchFamily="34" charset="0"/>
                <a:cs typeface="Arial" pitchFamily="34" charset="0"/>
              </a:rPr>
              <a:t>However once the deficit is managed, the excess capital flows would overflow into the economy and cause problems such as rupee appreciation and hurt exports.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804816"/>
            <a:ext cx="4214842" cy="1297856"/>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this lesson has succeeded in further clarifying the concept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‘QE </a:t>
            </a:r>
            <a:r>
              <a:rPr lang="en-US" b="1" dirty="0" smtClean="0">
                <a:latin typeface="Arial" pitchFamily="34" charset="0"/>
                <a:cs typeface="Arial" pitchFamily="34" charset="0"/>
              </a:rPr>
              <a:t>as well as Capital </a:t>
            </a:r>
            <a:r>
              <a:rPr lang="en-US" b="1" dirty="0" err="1" smtClean="0">
                <a:latin typeface="Arial" pitchFamily="34" charset="0"/>
                <a:cs typeface="Arial" pitchFamily="34" charset="0"/>
              </a:rPr>
              <a:t>Flows</a:t>
            </a:r>
            <a:r>
              <a:rPr lang="en-US" b="1" dirty="0" err="1" smtClean="0">
                <a:latin typeface="Arial" pitchFamily="34" charset="0"/>
                <a:cs typeface="Arial" pitchFamily="34" charset="0"/>
              </a:rPr>
              <a:t>’.A</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QE &amp; CAPITAL FLOWS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1928802"/>
            <a:ext cx="4032448" cy="937757"/>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Please give me your feedback at </a:t>
            </a:r>
          </a:p>
          <a:p>
            <a:pPr marL="342900" indent="-342900" algn="ctr">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3255</TotalTime>
  <Words>724</Words>
  <Application>Microsoft Office PowerPoint</Application>
  <PresentationFormat>On-screen Show (4:3)</PresentationFormat>
  <Paragraphs>59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449</cp:revision>
  <dcterms:created xsi:type="dcterms:W3CDTF">2013-10-22T09:41:31Z</dcterms:created>
  <dcterms:modified xsi:type="dcterms:W3CDTF">2014-03-08T03:58:58Z</dcterms:modified>
</cp:coreProperties>
</file>