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58" r:id="rId3"/>
    <p:sldId id="416" r:id="rId4"/>
    <p:sldId id="418" r:id="rId5"/>
    <p:sldId id="469" r:id="rId6"/>
    <p:sldId id="456" r:id="rId7"/>
    <p:sldId id="470" r:id="rId8"/>
    <p:sldId id="457" r:id="rId9"/>
    <p:sldId id="471" r:id="rId10"/>
    <p:sldId id="448" r:id="rId11"/>
    <p:sldId id="472" r:id="rId12"/>
    <p:sldId id="465" r:id="rId13"/>
    <p:sldId id="287" r:id="rId14"/>
    <p:sldId id="27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91" autoAdjust="0"/>
    <p:restoredTop sz="94595" autoAdjust="0"/>
  </p:normalViewPr>
  <p:slideViewPr>
    <p:cSldViewPr>
      <p:cViewPr>
        <p:scale>
          <a:sx n="61" d="100"/>
          <a:sy n="61" d="100"/>
        </p:scale>
        <p:origin x="-1542" y="-17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3/8/2014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3/8/2014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3/8/2014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3/8/2014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3/8/2014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lchaturvedi@tataamc.com"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392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STORY OF OIL BONDS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571604" y="1934166"/>
            <a:ext cx="3071834" cy="92333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The Story of Oil Bonds </a:t>
            </a:r>
            <a:br>
              <a:rPr lang="en-US" b="1" dirty="0" smtClean="0">
                <a:latin typeface="Arial" pitchFamily="34" charset="0"/>
                <a:cs typeface="Arial" pitchFamily="34" charset="0"/>
              </a:rPr>
            </a:br>
            <a:r>
              <a:rPr lang="en-US" b="1" dirty="0" smtClean="0">
                <a:latin typeface="Arial" pitchFamily="34" charset="0"/>
                <a:cs typeface="Arial" pitchFamily="34" charset="0"/>
              </a:rPr>
              <a:t>–  By Prof. </a:t>
            </a:r>
            <a:r>
              <a:rPr lang="en-US" b="1" i="1" dirty="0" smtClean="0">
                <a:latin typeface="Arial" pitchFamily="34" charset="0"/>
                <a:cs typeface="Arial" pitchFamily="34" charset="0"/>
              </a:rPr>
              <a:t>Simply</a:t>
            </a:r>
            <a:r>
              <a:rPr lang="en-US" b="1" dirty="0" smtClean="0">
                <a:latin typeface="Arial" pitchFamily="34" charset="0"/>
                <a:cs typeface="Arial" pitchFamily="34" charset="0"/>
              </a:rPr>
              <a:t> Simple</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STORY OF OIL BONDS</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71546"/>
            <a:ext cx="7454836" cy="3000821"/>
          </a:xfrm>
          <a:prstGeom prst="rect">
            <a:avLst/>
          </a:prstGeom>
        </p:spPr>
        <p:txBody>
          <a:bodyPr wrap="square">
            <a:spAutoFit/>
          </a:bodyPr>
          <a:lstStyle/>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The most talked about subject these days is whether petrol prices will rise even further or not and if so how much more?</a:t>
            </a:r>
          </a:p>
          <a:p>
            <a:pPr marL="542925" indent="-542925">
              <a:lnSpc>
                <a:spcPct val="150000"/>
              </a:lnSpc>
              <a:buFont typeface="Wingdings" pitchFamily="2" charset="2"/>
              <a:buChar char="q"/>
              <a:tabLst>
                <a:tab pos="542925" algn="l"/>
              </a:tabLst>
            </a:pPr>
            <a:endParaRPr lang="en-US"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Pricing of petroleum products in India is managed in a different manner as compared to other products.</a:t>
            </a:r>
          </a:p>
          <a:p>
            <a:pPr marL="542925" indent="-542925">
              <a:lnSpc>
                <a:spcPct val="150000"/>
              </a:lnSpc>
              <a:buFont typeface="Wingdings" pitchFamily="2" charset="2"/>
              <a:buChar char="q"/>
              <a:tabLst>
                <a:tab pos="542925" algn="l"/>
              </a:tabLst>
            </a:pPr>
            <a:endParaRPr lang="en-US"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I will try and de-mystify this for your understanding…</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STORY OF OIL BONDS</a:t>
            </a:r>
            <a:endParaRPr lang="en-US" sz="2000" b="1" dirty="0">
              <a:solidFill>
                <a:schemeClr val="bg1"/>
              </a:solidFill>
              <a:latin typeface="Arial" pitchFamily="34" charset="0"/>
              <a:cs typeface="Arial" pitchFamily="34" charset="0"/>
            </a:endParaRPr>
          </a:p>
        </p:txBody>
      </p:sp>
      <p:sp>
        <p:nvSpPr>
          <p:cNvPr id="5" name="Rectangle 4"/>
          <p:cNvSpPr/>
          <p:nvPr/>
        </p:nvSpPr>
        <p:spPr>
          <a:xfrm>
            <a:off x="571472" y="1096157"/>
            <a:ext cx="7429552" cy="46307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Understanding Oil Subsidy</a:t>
            </a:r>
            <a:endParaRPr lang="en-US" b="1" dirty="0">
              <a:latin typeface="Arial" pitchFamily="34" charset="0"/>
              <a:cs typeface="Arial" pitchFamily="34" charset="0"/>
            </a:endParaRPr>
          </a:p>
        </p:txBody>
      </p:sp>
      <p:sp>
        <p:nvSpPr>
          <p:cNvPr id="6" name="Rectangle 5"/>
          <p:cNvSpPr/>
          <p:nvPr/>
        </p:nvSpPr>
        <p:spPr>
          <a:xfrm>
            <a:off x="714348" y="1500174"/>
            <a:ext cx="7715304" cy="3841052"/>
          </a:xfrm>
          <a:prstGeom prst="rect">
            <a:avLst/>
          </a:prstGeom>
        </p:spPr>
        <p:txBody>
          <a:bodyPr wrap="square">
            <a:spAutoFit/>
          </a:bodyPr>
          <a:lstStyle/>
          <a:p>
            <a:pPr marL="357188" indent="-357188">
              <a:lnSpc>
                <a:spcPct val="150000"/>
              </a:lnSpc>
              <a:spcBef>
                <a:spcPct val="20000"/>
              </a:spcBef>
              <a:buFont typeface="Wingdings" pitchFamily="2" charset="2"/>
              <a:buChar char="q"/>
              <a:tabLst>
                <a:tab pos="357188" algn="l"/>
              </a:tabLst>
            </a:pPr>
            <a:r>
              <a:rPr lang="en-US" b="1" dirty="0" smtClean="0">
                <a:latin typeface="Arial" pitchFamily="34" charset="0"/>
                <a:cs typeface="Arial" pitchFamily="34" charset="0"/>
              </a:rPr>
              <a:t>While oil prices are rising in the international markets and have crossed $142 for a barrel, an increase of 100% in one year, the price of petrol that we buy at retail stations had been the same for a long while, before being increased by around Rs. 5 recently.</a:t>
            </a:r>
          </a:p>
          <a:p>
            <a:pPr marL="357188" indent="-357188">
              <a:lnSpc>
                <a:spcPct val="150000"/>
              </a:lnSpc>
              <a:spcBef>
                <a:spcPct val="20000"/>
              </a:spcBef>
              <a:buFont typeface="Wingdings" pitchFamily="2" charset="2"/>
              <a:buChar char="q"/>
              <a:tabLst>
                <a:tab pos="357188" algn="l"/>
              </a:tabLst>
            </a:pPr>
            <a:endParaRPr lang="en-US" sz="600" b="1" dirty="0" smtClean="0">
              <a:latin typeface="Arial" pitchFamily="34" charset="0"/>
              <a:cs typeface="Arial" pitchFamily="34" charset="0"/>
            </a:endParaRPr>
          </a:p>
          <a:p>
            <a:pPr marL="357188" indent="-357188">
              <a:lnSpc>
                <a:spcPct val="150000"/>
              </a:lnSpc>
              <a:spcBef>
                <a:spcPct val="20000"/>
              </a:spcBef>
              <a:buFont typeface="Wingdings" pitchFamily="2" charset="2"/>
              <a:buChar char="q"/>
              <a:tabLst>
                <a:tab pos="357188" algn="l"/>
              </a:tabLst>
            </a:pPr>
            <a:r>
              <a:rPr lang="en-US" b="1" dirty="0" smtClean="0">
                <a:latin typeface="Arial" pitchFamily="34" charset="0"/>
                <a:cs typeface="Arial" pitchFamily="34" charset="0"/>
              </a:rPr>
              <a:t>So who is financing this deficit? </a:t>
            </a:r>
          </a:p>
          <a:p>
            <a:pPr marL="357188" indent="-357188">
              <a:lnSpc>
                <a:spcPct val="150000"/>
              </a:lnSpc>
              <a:spcBef>
                <a:spcPct val="20000"/>
              </a:spcBef>
              <a:buFont typeface="Wingdings" pitchFamily="2" charset="2"/>
              <a:buChar char="q"/>
              <a:tabLst>
                <a:tab pos="357188" algn="l"/>
              </a:tabLst>
            </a:pPr>
            <a:endParaRPr lang="en-US" sz="600" b="1" dirty="0" smtClean="0">
              <a:latin typeface="Arial" pitchFamily="34" charset="0"/>
              <a:cs typeface="Arial" pitchFamily="34" charset="0"/>
            </a:endParaRPr>
          </a:p>
          <a:p>
            <a:pPr marL="357188" indent="-357188">
              <a:lnSpc>
                <a:spcPct val="150000"/>
              </a:lnSpc>
              <a:spcBef>
                <a:spcPct val="20000"/>
              </a:spcBef>
              <a:buFont typeface="Wingdings" pitchFamily="2" charset="2"/>
              <a:buChar char="q"/>
              <a:tabLst>
                <a:tab pos="357188" algn="l"/>
              </a:tabLst>
            </a:pPr>
            <a:r>
              <a:rPr lang="en-US" b="1" dirty="0" smtClean="0">
                <a:latin typeface="Arial" pitchFamily="34" charset="0"/>
                <a:cs typeface="Arial" pitchFamily="34" charset="0"/>
              </a:rPr>
              <a:t>The Government and the oil companies together are responsible for keeping the prices of petrol and diesel under control and have so far guarded us from price hikes.</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STORY OF OIL BONDS</a:t>
            </a:r>
            <a:endParaRPr lang="en-US" sz="2000" b="1" dirty="0">
              <a:solidFill>
                <a:schemeClr val="bg1"/>
              </a:solidFill>
              <a:latin typeface="Arial" pitchFamily="34" charset="0"/>
              <a:cs typeface="Arial" pitchFamily="34" charset="0"/>
            </a:endParaRPr>
          </a:p>
        </p:txBody>
      </p:sp>
      <p:sp>
        <p:nvSpPr>
          <p:cNvPr id="5" name="Rectangle 4"/>
          <p:cNvSpPr/>
          <p:nvPr/>
        </p:nvSpPr>
        <p:spPr>
          <a:xfrm>
            <a:off x="571472" y="1071546"/>
            <a:ext cx="7429552" cy="463075"/>
          </a:xfrm>
          <a:prstGeom prst="rect">
            <a:avLst/>
          </a:prstGeom>
        </p:spPr>
        <p:txBody>
          <a:bodyPr wrap="square">
            <a:spAutoFit/>
          </a:bodyPr>
          <a:lstStyle/>
          <a:p>
            <a:pPr algn="ctr">
              <a:lnSpc>
                <a:spcPct val="150000"/>
              </a:lnSpc>
            </a:pPr>
            <a:r>
              <a:rPr lang="en-US" b="1" dirty="0" smtClean="0">
                <a:solidFill>
                  <a:schemeClr val="bg1"/>
                </a:solidFill>
                <a:latin typeface="Arial" pitchFamily="34" charset="0"/>
                <a:cs typeface="Arial" pitchFamily="34" charset="0"/>
              </a:rPr>
              <a:t> </a:t>
            </a:r>
            <a:r>
              <a:rPr lang="en-US" b="1" dirty="0" smtClean="0">
                <a:latin typeface="Arial" pitchFamily="34" charset="0"/>
                <a:cs typeface="Arial" pitchFamily="34" charset="0"/>
              </a:rPr>
              <a:t>But how do they do it?</a:t>
            </a:r>
            <a:endParaRPr lang="en-US" b="1" dirty="0">
              <a:latin typeface="Arial" pitchFamily="34" charset="0"/>
              <a:cs typeface="Arial" pitchFamily="34" charset="0"/>
            </a:endParaRPr>
          </a:p>
        </p:txBody>
      </p:sp>
      <p:sp>
        <p:nvSpPr>
          <p:cNvPr id="6" name="Rectangle 5"/>
          <p:cNvSpPr/>
          <p:nvPr/>
        </p:nvSpPr>
        <p:spPr>
          <a:xfrm>
            <a:off x="714348" y="1500174"/>
            <a:ext cx="7572428" cy="3791807"/>
          </a:xfrm>
          <a:prstGeom prst="rect">
            <a:avLst/>
          </a:prstGeom>
        </p:spPr>
        <p:txBody>
          <a:bodyPr wrap="square">
            <a:spAutoFit/>
          </a:bodyPr>
          <a:lstStyle/>
          <a:p>
            <a:pPr marL="542925" lvl="1" indent="-542925">
              <a:lnSpc>
                <a:spcPct val="150000"/>
              </a:lnSpc>
              <a:spcBef>
                <a:spcPct val="20000"/>
              </a:spcBef>
              <a:buFont typeface="Wingdings" pitchFamily="2" charset="2"/>
              <a:buChar char="q"/>
              <a:tabLst>
                <a:tab pos="542925" algn="l"/>
              </a:tabLst>
            </a:pPr>
            <a:r>
              <a:rPr lang="en-US" sz="1600" b="1" dirty="0" smtClean="0">
                <a:latin typeface="Arial" pitchFamily="34" charset="0"/>
                <a:cs typeface="Arial" pitchFamily="34" charset="0"/>
              </a:rPr>
              <a:t>To begin with oil cos. such as IOC, BPCL and HPCL purchase crude at a higher price and sell it in the market at a lower price.</a:t>
            </a:r>
            <a:br>
              <a:rPr lang="en-US" sz="1600" b="1" dirty="0" smtClean="0">
                <a:latin typeface="Arial" pitchFamily="34" charset="0"/>
                <a:cs typeface="Arial" pitchFamily="34" charset="0"/>
              </a:rPr>
            </a:br>
            <a:endParaRPr lang="en-US" sz="600" b="1" dirty="0" smtClean="0">
              <a:latin typeface="Arial" pitchFamily="34" charset="0"/>
              <a:cs typeface="Arial" pitchFamily="34" charset="0"/>
            </a:endParaRPr>
          </a:p>
          <a:p>
            <a:pPr marL="542925" lvl="1" indent="-542925">
              <a:lnSpc>
                <a:spcPct val="150000"/>
              </a:lnSpc>
              <a:spcBef>
                <a:spcPct val="20000"/>
              </a:spcBef>
              <a:buFont typeface="Wingdings" pitchFamily="2" charset="2"/>
              <a:buChar char="q"/>
              <a:tabLst>
                <a:tab pos="542925" algn="l"/>
              </a:tabLst>
            </a:pPr>
            <a:r>
              <a:rPr lang="en-US" sz="1600" b="1" dirty="0" smtClean="0">
                <a:latin typeface="Arial" pitchFamily="34" charset="0"/>
                <a:cs typeface="Arial" pitchFamily="34" charset="0"/>
              </a:rPr>
              <a:t>For the sake of understanding, let us assume that they are purchasing crude for Rs. 100 per unit and instead of selling it at Rs. 120 per unit and making a profit of Rs. 20 they are actually selling it for Rs. 80 per unit at a loss of Rs. 20 per unit.</a:t>
            </a:r>
            <a:br>
              <a:rPr lang="en-US" sz="1600" b="1" dirty="0" smtClean="0">
                <a:latin typeface="Arial" pitchFamily="34" charset="0"/>
                <a:cs typeface="Arial" pitchFamily="34" charset="0"/>
              </a:rPr>
            </a:br>
            <a:endParaRPr lang="en-US" sz="600" b="1" dirty="0" smtClean="0">
              <a:latin typeface="Arial" pitchFamily="34" charset="0"/>
              <a:cs typeface="Arial" pitchFamily="34" charset="0"/>
            </a:endParaRPr>
          </a:p>
          <a:p>
            <a:pPr marL="542925" lvl="1" indent="-542925">
              <a:lnSpc>
                <a:spcPct val="150000"/>
              </a:lnSpc>
              <a:spcBef>
                <a:spcPct val="20000"/>
              </a:spcBef>
              <a:buFont typeface="Wingdings" pitchFamily="2" charset="2"/>
              <a:buChar char="q"/>
              <a:tabLst>
                <a:tab pos="542925" algn="l"/>
              </a:tabLst>
            </a:pPr>
            <a:r>
              <a:rPr lang="en-US" sz="1600" b="1" dirty="0" smtClean="0">
                <a:latin typeface="Arial" pitchFamily="34" charset="0"/>
                <a:cs typeface="Arial" pitchFamily="34" charset="0"/>
              </a:rPr>
              <a:t>They are doing this as the Government controls the pricing of petroleum products and under its instructions, the pricing is finalized which the oil cos. have to follow.</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STORY OF OIL BONDS</a:t>
            </a:r>
            <a:endParaRPr lang="en-US" sz="2000" b="1" dirty="0">
              <a:solidFill>
                <a:schemeClr val="bg1"/>
              </a:solidFill>
              <a:latin typeface="Arial" pitchFamily="34" charset="0"/>
              <a:cs typeface="Arial" pitchFamily="34" charset="0"/>
            </a:endParaRPr>
          </a:p>
        </p:txBody>
      </p:sp>
      <p:sp>
        <p:nvSpPr>
          <p:cNvPr id="5" name="Rectangle 4"/>
          <p:cNvSpPr/>
          <p:nvPr/>
        </p:nvSpPr>
        <p:spPr>
          <a:xfrm>
            <a:off x="785786" y="1071546"/>
            <a:ext cx="7358114" cy="46307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So what happens now?...</a:t>
            </a:r>
            <a:endParaRPr lang="en-US" b="1" dirty="0">
              <a:latin typeface="Arial" pitchFamily="34" charset="0"/>
              <a:cs typeface="Arial" pitchFamily="34" charset="0"/>
            </a:endParaRPr>
          </a:p>
        </p:txBody>
      </p:sp>
      <p:sp>
        <p:nvSpPr>
          <p:cNvPr id="6" name="Rectangle 5"/>
          <p:cNvSpPr/>
          <p:nvPr/>
        </p:nvSpPr>
        <p:spPr>
          <a:xfrm>
            <a:off x="714348" y="1571612"/>
            <a:ext cx="7858180" cy="3662541"/>
          </a:xfrm>
          <a:prstGeom prst="rect">
            <a:avLst/>
          </a:prstGeom>
        </p:spPr>
        <p:txBody>
          <a:bodyPr wrap="square">
            <a:spAutoFit/>
          </a:bodyPr>
          <a:lstStyle/>
          <a:p>
            <a:pPr marL="357188" lvl="1" indent="-357188">
              <a:lnSpc>
                <a:spcPct val="150000"/>
              </a:lnSpc>
              <a:spcBef>
                <a:spcPct val="20000"/>
              </a:spcBef>
              <a:buFont typeface="Wingdings" pitchFamily="2" charset="2"/>
              <a:buChar char="q"/>
              <a:tabLst>
                <a:tab pos="357188" algn="l"/>
              </a:tabLst>
            </a:pPr>
            <a:r>
              <a:rPr lang="en-US" sz="1600" b="1" dirty="0" smtClean="0">
                <a:latin typeface="Arial" pitchFamily="34" charset="0"/>
                <a:cs typeface="Arial" pitchFamily="34" charset="0"/>
              </a:rPr>
              <a:t>The oil companies have several problems due to this policy.</a:t>
            </a:r>
          </a:p>
          <a:p>
            <a:pPr marL="806450" lvl="2" indent="-449263">
              <a:lnSpc>
                <a:spcPct val="150000"/>
              </a:lnSpc>
              <a:spcBef>
                <a:spcPct val="20000"/>
              </a:spcBef>
              <a:buFont typeface="Wingdings" pitchFamily="2" charset="2"/>
              <a:buChar char="q"/>
              <a:tabLst>
                <a:tab pos="357188" algn="l"/>
                <a:tab pos="806450" algn="l"/>
              </a:tabLst>
            </a:pPr>
            <a:r>
              <a:rPr lang="en-US" sz="1600" b="1" dirty="0" smtClean="0">
                <a:latin typeface="Arial" pitchFamily="34" charset="0"/>
                <a:cs typeface="Arial" pitchFamily="34" charset="0"/>
              </a:rPr>
              <a:t>First they are losing money for every unit at the rate of Rs. 20 </a:t>
            </a:r>
          </a:p>
          <a:p>
            <a:pPr marL="806450" lvl="2" indent="-449263">
              <a:lnSpc>
                <a:spcPct val="150000"/>
              </a:lnSpc>
              <a:spcBef>
                <a:spcPct val="20000"/>
              </a:spcBef>
              <a:buFont typeface="Wingdings" pitchFamily="2" charset="2"/>
              <a:buChar char="q"/>
              <a:tabLst>
                <a:tab pos="357188" algn="l"/>
                <a:tab pos="806450" algn="l"/>
              </a:tabLst>
            </a:pPr>
            <a:r>
              <a:rPr lang="en-US" sz="1600" b="1" dirty="0" smtClean="0">
                <a:latin typeface="Arial" pitchFamily="34" charset="0"/>
                <a:cs typeface="Arial" pitchFamily="34" charset="0"/>
              </a:rPr>
              <a:t>Hence the more they sell, the more they lose</a:t>
            </a:r>
          </a:p>
          <a:p>
            <a:pPr marL="806450" lvl="2" indent="-449263">
              <a:lnSpc>
                <a:spcPct val="150000"/>
              </a:lnSpc>
              <a:spcBef>
                <a:spcPct val="20000"/>
              </a:spcBef>
              <a:buFont typeface="Wingdings" pitchFamily="2" charset="2"/>
              <a:buChar char="q"/>
              <a:tabLst>
                <a:tab pos="357188" algn="l"/>
                <a:tab pos="806450" algn="l"/>
              </a:tabLst>
            </a:pPr>
            <a:r>
              <a:rPr lang="en-US" sz="1600" b="1" dirty="0" smtClean="0">
                <a:latin typeface="Arial" pitchFamily="34" charset="0"/>
                <a:cs typeface="Arial" pitchFamily="34" charset="0"/>
              </a:rPr>
              <a:t>But since the prices at the retail levels are not being raised, the people at large are unaware of rising prices and their demand for petroleum products does not decrease and in fact may even go up</a:t>
            </a:r>
          </a:p>
          <a:p>
            <a:pPr marL="357188" lvl="1" indent="-357188">
              <a:lnSpc>
                <a:spcPct val="150000"/>
              </a:lnSpc>
              <a:spcBef>
                <a:spcPct val="20000"/>
              </a:spcBef>
              <a:buFont typeface="Wingdings" pitchFamily="2" charset="2"/>
              <a:buChar char="q"/>
              <a:tabLst>
                <a:tab pos="357188" algn="l"/>
              </a:tabLst>
            </a:pPr>
            <a:r>
              <a:rPr lang="en-US" sz="1600" b="1" dirty="0" smtClean="0">
                <a:latin typeface="Arial" pitchFamily="34" charset="0"/>
                <a:cs typeface="Arial" pitchFamily="34" charset="0"/>
              </a:rPr>
              <a:t>The oil cos. approach the government to compensate them for their losses.</a:t>
            </a:r>
          </a:p>
          <a:p>
            <a:pPr marL="357188" lvl="1" indent="-357188">
              <a:lnSpc>
                <a:spcPct val="150000"/>
              </a:lnSpc>
              <a:spcBef>
                <a:spcPct val="20000"/>
              </a:spcBef>
              <a:buFont typeface="Wingdings" pitchFamily="2" charset="2"/>
              <a:buChar char="q"/>
              <a:tabLst>
                <a:tab pos="357188" algn="l"/>
              </a:tabLst>
            </a:pPr>
            <a:r>
              <a:rPr lang="en-US" sz="1600" b="1" dirty="0" smtClean="0">
                <a:latin typeface="Arial" pitchFamily="34" charset="0"/>
                <a:cs typeface="Arial" pitchFamily="34" charset="0"/>
              </a:rPr>
              <a:t>The government therefore pays them to fund this subsidy on petroleum products.</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STORY OF OIL BONDS</a:t>
            </a:r>
            <a:endParaRPr lang="en-US" sz="2000" b="1" dirty="0">
              <a:solidFill>
                <a:schemeClr val="bg1"/>
              </a:solidFill>
              <a:latin typeface="Arial" pitchFamily="34" charset="0"/>
              <a:cs typeface="Arial" pitchFamily="34" charset="0"/>
            </a:endParaRPr>
          </a:p>
        </p:txBody>
      </p:sp>
      <p:sp>
        <p:nvSpPr>
          <p:cNvPr id="5" name="Rectangle 4"/>
          <p:cNvSpPr/>
          <p:nvPr/>
        </p:nvSpPr>
        <p:spPr>
          <a:xfrm>
            <a:off x="785786" y="1071546"/>
            <a:ext cx="7358114" cy="46307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Seems fine. So what is the problem?</a:t>
            </a:r>
            <a:endParaRPr lang="en-US" b="1" dirty="0">
              <a:latin typeface="Arial" pitchFamily="34" charset="0"/>
              <a:cs typeface="Arial" pitchFamily="34" charset="0"/>
            </a:endParaRPr>
          </a:p>
        </p:txBody>
      </p:sp>
      <p:sp>
        <p:nvSpPr>
          <p:cNvPr id="6" name="Rectangle 5"/>
          <p:cNvSpPr/>
          <p:nvPr/>
        </p:nvSpPr>
        <p:spPr>
          <a:xfrm>
            <a:off x="714348" y="1571612"/>
            <a:ext cx="7858180" cy="3416320"/>
          </a:xfrm>
          <a:prstGeom prst="rect">
            <a:avLst/>
          </a:prstGeom>
        </p:spPr>
        <p:txBody>
          <a:bodyPr wrap="square">
            <a:spAutoFit/>
          </a:bodyPr>
          <a:lstStyle/>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The problem is that the government does not pay cash to the oil companies to meet their deficit.</a:t>
            </a:r>
          </a:p>
          <a:p>
            <a:pPr marL="542925" indent="-542925">
              <a:lnSpc>
                <a:spcPct val="150000"/>
              </a:lnSpc>
              <a:buFont typeface="Wingdings" pitchFamily="2" charset="2"/>
              <a:buChar char="q"/>
              <a:tabLst>
                <a:tab pos="542925" algn="l"/>
              </a:tabLst>
            </a:pPr>
            <a:endParaRPr lang="en-US" sz="600"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Instead it gives the oil companies ‘Oil Bonds’ in lieu of the cash. </a:t>
            </a:r>
          </a:p>
          <a:p>
            <a:pPr marL="542925" indent="-542925">
              <a:lnSpc>
                <a:spcPct val="150000"/>
              </a:lnSpc>
              <a:buFont typeface="Wingdings" pitchFamily="2" charset="2"/>
              <a:buChar char="q"/>
              <a:tabLst>
                <a:tab pos="542925" algn="l"/>
              </a:tabLst>
            </a:pPr>
            <a:endParaRPr lang="en-US" sz="600"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Now, a bond is a promise to pay at a later date.</a:t>
            </a:r>
          </a:p>
          <a:p>
            <a:pPr marL="542925" indent="-542925">
              <a:lnSpc>
                <a:spcPct val="150000"/>
              </a:lnSpc>
              <a:buFont typeface="Wingdings" pitchFamily="2" charset="2"/>
              <a:buChar char="q"/>
              <a:tabLst>
                <a:tab pos="542925" algn="l"/>
              </a:tabLst>
            </a:pPr>
            <a:endParaRPr lang="en-US" sz="600"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Thus, although the oil cos. are paying money upfront for purchases, they are being compensated by means of oil bonds which is a deferred payment.</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STORY OF OIL BONDS</a:t>
            </a:r>
            <a:endParaRPr lang="en-US" sz="2000" b="1" dirty="0">
              <a:solidFill>
                <a:schemeClr val="bg1"/>
              </a:solidFill>
              <a:latin typeface="Arial" pitchFamily="34" charset="0"/>
              <a:cs typeface="Arial" pitchFamily="34" charset="0"/>
            </a:endParaRPr>
          </a:p>
        </p:txBody>
      </p:sp>
      <p:sp>
        <p:nvSpPr>
          <p:cNvPr id="6" name="Rectangle 5"/>
          <p:cNvSpPr/>
          <p:nvPr/>
        </p:nvSpPr>
        <p:spPr>
          <a:xfrm>
            <a:off x="642910" y="1071546"/>
            <a:ext cx="7143800" cy="463075"/>
          </a:xfrm>
          <a:prstGeom prst="rect">
            <a:avLst/>
          </a:prstGeom>
        </p:spPr>
        <p:txBody>
          <a:bodyPr wrap="square">
            <a:spAutoFit/>
          </a:bodyPr>
          <a:lstStyle/>
          <a:p>
            <a:pPr algn="ctr">
              <a:lnSpc>
                <a:spcPct val="150000"/>
              </a:lnSpc>
            </a:pPr>
            <a:r>
              <a:rPr lang="en-US" b="1" dirty="0" smtClean="0">
                <a:solidFill>
                  <a:schemeClr val="bg1"/>
                </a:solidFill>
                <a:latin typeface="Arial" pitchFamily="34" charset="0"/>
                <a:cs typeface="Arial" pitchFamily="34" charset="0"/>
              </a:rPr>
              <a:t> </a:t>
            </a:r>
            <a:r>
              <a:rPr lang="en-US" b="1" dirty="0" smtClean="0">
                <a:latin typeface="Arial" pitchFamily="34" charset="0"/>
                <a:cs typeface="Arial" pitchFamily="34" charset="0"/>
              </a:rPr>
              <a:t>Therefore…</a:t>
            </a:r>
            <a:endParaRPr lang="en-US" b="1" dirty="0">
              <a:latin typeface="Arial" pitchFamily="34" charset="0"/>
              <a:cs typeface="Arial" pitchFamily="34" charset="0"/>
            </a:endParaRPr>
          </a:p>
        </p:txBody>
      </p:sp>
      <p:sp>
        <p:nvSpPr>
          <p:cNvPr id="8" name="Rectangle 7"/>
          <p:cNvSpPr/>
          <p:nvPr/>
        </p:nvSpPr>
        <p:spPr>
          <a:xfrm>
            <a:off x="642910" y="1569991"/>
            <a:ext cx="7429552" cy="3111621"/>
          </a:xfrm>
          <a:prstGeom prst="rect">
            <a:avLst/>
          </a:prstGeom>
        </p:spPr>
        <p:txBody>
          <a:bodyPr wrap="square">
            <a:spAutoFit/>
          </a:bodyPr>
          <a:lstStyle/>
          <a:p>
            <a:pPr marL="542925" lvl="1" indent="-542925">
              <a:lnSpc>
                <a:spcPct val="150000"/>
              </a:lnSpc>
              <a:spcBef>
                <a:spcPct val="20000"/>
              </a:spcBef>
              <a:buFont typeface="Wingdings" pitchFamily="2" charset="2"/>
              <a:buChar char="q"/>
              <a:tabLst>
                <a:tab pos="542925" algn="l"/>
              </a:tabLst>
            </a:pPr>
            <a:r>
              <a:rPr lang="en-US" b="1" dirty="0" smtClean="0">
                <a:latin typeface="Arial" pitchFamily="34" charset="0"/>
                <a:cs typeface="Arial" pitchFamily="34" charset="0"/>
              </a:rPr>
              <a:t>The oil companies’ cash flow gets adversely </a:t>
            </a:r>
            <a:r>
              <a:rPr lang="en-US" b="1" dirty="0" smtClean="0">
                <a:latin typeface="Arial" pitchFamily="34" charset="0"/>
                <a:cs typeface="Arial" pitchFamily="34" charset="0"/>
              </a:rPr>
              <a:t>impacted.</a:t>
            </a:r>
            <a:br>
              <a:rPr lang="en-US" b="1" dirty="0" smtClean="0">
                <a:latin typeface="Arial" pitchFamily="34" charset="0"/>
                <a:cs typeface="Arial" pitchFamily="34" charset="0"/>
              </a:rPr>
            </a:br>
            <a:r>
              <a:rPr lang="en-US" b="1" dirty="0" smtClean="0">
                <a:latin typeface="Arial" pitchFamily="34" charset="0"/>
                <a:cs typeface="Arial" pitchFamily="34" charset="0"/>
              </a:rPr>
              <a:t>What </a:t>
            </a:r>
            <a:r>
              <a:rPr lang="en-US" b="1" dirty="0" smtClean="0">
                <a:latin typeface="Arial" pitchFamily="34" charset="0"/>
                <a:cs typeface="Arial" pitchFamily="34" charset="0"/>
              </a:rPr>
              <a:t>is the point of getting money at some future </a:t>
            </a:r>
            <a:r>
              <a:rPr lang="en-US" b="1" dirty="0" smtClean="0">
                <a:latin typeface="Arial" pitchFamily="34" charset="0"/>
                <a:cs typeface="Arial" pitchFamily="34" charset="0"/>
              </a:rPr>
              <a:t>date</a:t>
            </a:r>
            <a:br>
              <a:rPr lang="en-US" b="1" dirty="0" smtClean="0">
                <a:latin typeface="Arial" pitchFamily="34" charset="0"/>
                <a:cs typeface="Arial" pitchFamily="34" charset="0"/>
              </a:rPr>
            </a:br>
            <a:r>
              <a:rPr lang="en-US" b="1" dirty="0" smtClean="0">
                <a:latin typeface="Arial" pitchFamily="34" charset="0"/>
                <a:cs typeface="Arial" pitchFamily="34" charset="0"/>
              </a:rPr>
              <a:t>if it </a:t>
            </a:r>
            <a:r>
              <a:rPr lang="en-US" b="1" dirty="0" smtClean="0">
                <a:latin typeface="Arial" pitchFamily="34" charset="0"/>
                <a:cs typeface="Arial" pitchFamily="34" charset="0"/>
              </a:rPr>
              <a:t>is badly required today?</a:t>
            </a:r>
          </a:p>
          <a:p>
            <a:pPr marL="542925" lvl="1" indent="-542925">
              <a:lnSpc>
                <a:spcPct val="150000"/>
              </a:lnSpc>
              <a:spcBef>
                <a:spcPct val="20000"/>
              </a:spcBef>
              <a:buFont typeface="Wingdings" pitchFamily="2" charset="2"/>
              <a:buChar char="q"/>
              <a:tabLst>
                <a:tab pos="542925" algn="l"/>
              </a:tabLst>
            </a:pPr>
            <a:endParaRPr lang="en-US" b="1" dirty="0" smtClean="0">
              <a:latin typeface="Arial" pitchFamily="34" charset="0"/>
              <a:cs typeface="Arial" pitchFamily="34" charset="0"/>
            </a:endParaRPr>
          </a:p>
          <a:p>
            <a:pPr marL="542925" lvl="1" indent="-542925">
              <a:lnSpc>
                <a:spcPct val="150000"/>
              </a:lnSpc>
              <a:spcBef>
                <a:spcPct val="20000"/>
              </a:spcBef>
              <a:buFont typeface="Wingdings" pitchFamily="2" charset="2"/>
              <a:buChar char="q"/>
              <a:tabLst>
                <a:tab pos="542925" algn="l"/>
              </a:tabLst>
            </a:pPr>
            <a:r>
              <a:rPr lang="en-US" b="1" dirty="0" smtClean="0">
                <a:latin typeface="Arial" pitchFamily="34" charset="0"/>
                <a:cs typeface="Arial" pitchFamily="34" charset="0"/>
              </a:rPr>
              <a:t>So what can the oil cos. do to fund their working </a:t>
            </a:r>
            <a:r>
              <a:rPr lang="en-US" b="1" dirty="0" smtClean="0">
                <a:latin typeface="Arial" pitchFamily="34" charset="0"/>
                <a:cs typeface="Arial" pitchFamily="34" charset="0"/>
              </a:rPr>
              <a:t>capital</a:t>
            </a:r>
            <a:br>
              <a:rPr lang="en-US" b="1" dirty="0" smtClean="0">
                <a:latin typeface="Arial" pitchFamily="34" charset="0"/>
                <a:cs typeface="Arial" pitchFamily="34" charset="0"/>
              </a:rPr>
            </a:br>
            <a:r>
              <a:rPr lang="en-US" b="1" dirty="0" smtClean="0">
                <a:latin typeface="Arial" pitchFamily="34" charset="0"/>
                <a:cs typeface="Arial" pitchFamily="34" charset="0"/>
              </a:rPr>
              <a:t>like </a:t>
            </a:r>
            <a:r>
              <a:rPr lang="en-US" b="1" dirty="0" smtClean="0">
                <a:latin typeface="Arial" pitchFamily="34" charset="0"/>
                <a:cs typeface="Arial" pitchFamily="34" charset="0"/>
              </a:rPr>
              <a:t>new purchases, salaries, selling and </a:t>
            </a:r>
            <a:r>
              <a:rPr lang="en-US" b="1" dirty="0" smtClean="0">
                <a:latin typeface="Arial" pitchFamily="34" charset="0"/>
                <a:cs typeface="Arial" pitchFamily="34" charset="0"/>
              </a:rPr>
              <a:t>marketing</a:t>
            </a:r>
            <a:br>
              <a:rPr lang="en-US" b="1" dirty="0" smtClean="0">
                <a:latin typeface="Arial" pitchFamily="34" charset="0"/>
                <a:cs typeface="Arial" pitchFamily="34" charset="0"/>
              </a:rPr>
            </a:br>
            <a:r>
              <a:rPr lang="en-US" b="1" dirty="0" smtClean="0">
                <a:latin typeface="Arial" pitchFamily="34" charset="0"/>
                <a:cs typeface="Arial" pitchFamily="34" charset="0"/>
              </a:rPr>
              <a:t>expenses </a:t>
            </a:r>
            <a:r>
              <a:rPr lang="en-US" b="1" dirty="0" smtClean="0">
                <a:latin typeface="Arial" pitchFamily="34" charset="0"/>
                <a:cs typeface="Arial" pitchFamily="34" charset="0"/>
              </a:rPr>
              <a:t>etc?</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STORY OF OIL BONDS</a:t>
            </a:r>
            <a:endParaRPr lang="en-US" sz="2000" b="1" dirty="0">
              <a:solidFill>
                <a:schemeClr val="bg1"/>
              </a:solidFill>
              <a:latin typeface="Arial" pitchFamily="34" charset="0"/>
              <a:cs typeface="Arial" pitchFamily="34" charset="0"/>
            </a:endParaRPr>
          </a:p>
        </p:txBody>
      </p:sp>
      <p:sp>
        <p:nvSpPr>
          <p:cNvPr id="6" name="Rectangle 5"/>
          <p:cNvSpPr/>
          <p:nvPr/>
        </p:nvSpPr>
        <p:spPr>
          <a:xfrm>
            <a:off x="642910" y="1000108"/>
            <a:ext cx="7143800" cy="463075"/>
          </a:xfrm>
          <a:prstGeom prst="rect">
            <a:avLst/>
          </a:prstGeom>
        </p:spPr>
        <p:txBody>
          <a:bodyPr wrap="square">
            <a:spAutoFit/>
          </a:bodyPr>
          <a:lstStyle/>
          <a:p>
            <a:pPr algn="ctr">
              <a:lnSpc>
                <a:spcPct val="150000"/>
              </a:lnSpc>
            </a:pPr>
            <a:r>
              <a:rPr lang="en-US" b="1" dirty="0" smtClean="0">
                <a:solidFill>
                  <a:schemeClr val="bg1"/>
                </a:solidFill>
                <a:latin typeface="Arial" pitchFamily="34" charset="0"/>
                <a:cs typeface="Arial" pitchFamily="34" charset="0"/>
              </a:rPr>
              <a:t> </a:t>
            </a:r>
            <a:r>
              <a:rPr lang="en-US" b="1" dirty="0" smtClean="0">
                <a:latin typeface="Arial" pitchFamily="34" charset="0"/>
                <a:cs typeface="Arial" pitchFamily="34" charset="0"/>
              </a:rPr>
              <a:t>So…</a:t>
            </a:r>
            <a:endParaRPr lang="en-US" b="1" dirty="0">
              <a:latin typeface="Arial" pitchFamily="34" charset="0"/>
              <a:cs typeface="Arial" pitchFamily="34" charset="0"/>
            </a:endParaRPr>
          </a:p>
        </p:txBody>
      </p:sp>
      <p:sp>
        <p:nvSpPr>
          <p:cNvPr id="8" name="Rectangle 7"/>
          <p:cNvSpPr/>
          <p:nvPr/>
        </p:nvSpPr>
        <p:spPr>
          <a:xfrm>
            <a:off x="642910" y="1428736"/>
            <a:ext cx="7715304" cy="4016484"/>
          </a:xfrm>
          <a:prstGeom prst="rect">
            <a:avLst/>
          </a:prstGeom>
        </p:spPr>
        <p:txBody>
          <a:bodyPr wrap="square">
            <a:spAutoFit/>
          </a:bodyPr>
          <a:lstStyle/>
          <a:p>
            <a:pPr marL="542925" lvl="1" indent="-542925">
              <a:lnSpc>
                <a:spcPct val="150000"/>
              </a:lnSpc>
              <a:spcBef>
                <a:spcPct val="20000"/>
              </a:spcBef>
              <a:buFont typeface="Wingdings" pitchFamily="2" charset="2"/>
              <a:buChar char="q"/>
              <a:tabLst>
                <a:tab pos="542925" algn="l"/>
              </a:tabLst>
            </a:pPr>
            <a:r>
              <a:rPr lang="en-US" sz="1600" b="1" dirty="0" smtClean="0">
                <a:latin typeface="Arial" pitchFamily="34" charset="0"/>
                <a:cs typeface="Arial" pitchFamily="34" charset="0"/>
              </a:rPr>
              <a:t>They sell the oil bonds in the market. But these bonds may not </a:t>
            </a:r>
            <a:r>
              <a:rPr lang="en-US" sz="1600" b="1" dirty="0" smtClean="0">
                <a:latin typeface="Arial" pitchFamily="34" charset="0"/>
                <a:cs typeface="Arial" pitchFamily="34" charset="0"/>
              </a:rPr>
              <a:t>be</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in </a:t>
            </a:r>
            <a:r>
              <a:rPr lang="en-US" sz="1600" b="1" dirty="0" smtClean="0">
                <a:latin typeface="Arial" pitchFamily="34" charset="0"/>
                <a:cs typeface="Arial" pitchFamily="34" charset="0"/>
              </a:rPr>
              <a:t>demand.</a:t>
            </a:r>
          </a:p>
          <a:p>
            <a:pPr marL="542925" lvl="1" indent="-542925">
              <a:lnSpc>
                <a:spcPct val="150000"/>
              </a:lnSpc>
              <a:spcBef>
                <a:spcPct val="20000"/>
              </a:spcBef>
              <a:buFont typeface="Wingdings" pitchFamily="2" charset="2"/>
              <a:buChar char="q"/>
              <a:tabLst>
                <a:tab pos="542925" algn="l"/>
              </a:tabLst>
            </a:pPr>
            <a:endParaRPr lang="en-US" sz="600" b="1" dirty="0" smtClean="0">
              <a:latin typeface="Arial" pitchFamily="34" charset="0"/>
              <a:cs typeface="Arial" pitchFamily="34" charset="0"/>
            </a:endParaRPr>
          </a:p>
          <a:p>
            <a:pPr marL="542925" lvl="1" indent="-542925">
              <a:lnSpc>
                <a:spcPct val="150000"/>
              </a:lnSpc>
              <a:spcBef>
                <a:spcPct val="20000"/>
              </a:spcBef>
              <a:buFont typeface="Wingdings" pitchFamily="2" charset="2"/>
              <a:buChar char="q"/>
              <a:tabLst>
                <a:tab pos="542925" algn="l"/>
              </a:tabLst>
            </a:pPr>
            <a:r>
              <a:rPr lang="en-US" sz="1600" b="1" dirty="0" smtClean="0">
                <a:latin typeface="Arial" pitchFamily="34" charset="0"/>
                <a:cs typeface="Arial" pitchFamily="34" charset="0"/>
              </a:rPr>
              <a:t>So, they have might have to be sold at a discount (currently </a:t>
            </a:r>
            <a:r>
              <a:rPr lang="en-US" sz="1600" b="1" dirty="0" smtClean="0">
                <a:latin typeface="Arial" pitchFamily="34" charset="0"/>
                <a:cs typeface="Arial" pitchFamily="34" charset="0"/>
              </a:rPr>
              <a:t>around</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12-15</a:t>
            </a:r>
            <a:r>
              <a:rPr lang="en-US" sz="1600" b="1" dirty="0" smtClean="0">
                <a:latin typeface="Arial" pitchFamily="34" charset="0"/>
                <a:cs typeface="Arial" pitchFamily="34" charset="0"/>
              </a:rPr>
              <a:t>%) For example, a Rs. 40 per unit oil bond might recover </a:t>
            </a:r>
            <a:r>
              <a:rPr lang="en-US" sz="1600" b="1" dirty="0" smtClean="0">
                <a:latin typeface="Arial" pitchFamily="34" charset="0"/>
                <a:cs typeface="Arial" pitchFamily="34" charset="0"/>
              </a:rPr>
              <a:t>only</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Rs</a:t>
            </a:r>
            <a:r>
              <a:rPr lang="en-US" sz="1600" b="1" dirty="0" smtClean="0">
                <a:latin typeface="Arial" pitchFamily="34" charset="0"/>
                <a:cs typeface="Arial" pitchFamily="34" charset="0"/>
              </a:rPr>
              <a:t>. 34-36. This means that the oil cos. do not achieve their price targets.</a:t>
            </a:r>
          </a:p>
          <a:p>
            <a:pPr marL="542925" lvl="1" indent="-542925">
              <a:lnSpc>
                <a:spcPct val="150000"/>
              </a:lnSpc>
              <a:spcBef>
                <a:spcPct val="20000"/>
              </a:spcBef>
              <a:buFont typeface="Wingdings" pitchFamily="2" charset="2"/>
              <a:buChar char="q"/>
              <a:tabLst>
                <a:tab pos="542925" algn="l"/>
              </a:tabLst>
            </a:pPr>
            <a:endParaRPr lang="en-US" sz="600" b="1" dirty="0" smtClean="0">
              <a:latin typeface="Arial" pitchFamily="34" charset="0"/>
              <a:cs typeface="Arial" pitchFamily="34" charset="0"/>
            </a:endParaRPr>
          </a:p>
          <a:p>
            <a:pPr marL="542925" lvl="1" indent="-542925">
              <a:lnSpc>
                <a:spcPct val="150000"/>
              </a:lnSpc>
              <a:spcBef>
                <a:spcPct val="20000"/>
              </a:spcBef>
              <a:buFont typeface="Wingdings" pitchFamily="2" charset="2"/>
              <a:buChar char="q"/>
              <a:tabLst>
                <a:tab pos="542925" algn="l"/>
              </a:tabLst>
            </a:pPr>
            <a:r>
              <a:rPr lang="en-US" sz="1600" b="1" dirty="0" smtClean="0">
                <a:latin typeface="Arial" pitchFamily="34" charset="0"/>
                <a:cs typeface="Arial" pitchFamily="34" charset="0"/>
              </a:rPr>
              <a:t>Further, oil companies can sell only 25% of the bonds in a given quarter, thus posing huge financial challenges for the companies.</a:t>
            </a:r>
            <a:br>
              <a:rPr lang="en-US" sz="1600" b="1" dirty="0" smtClean="0">
                <a:latin typeface="Arial" pitchFamily="34" charset="0"/>
                <a:cs typeface="Arial" pitchFamily="34" charset="0"/>
              </a:rPr>
            </a:br>
            <a:endParaRPr lang="en-US" sz="600" b="1" dirty="0" smtClean="0">
              <a:latin typeface="Arial" pitchFamily="34" charset="0"/>
              <a:cs typeface="Arial" pitchFamily="34" charset="0"/>
            </a:endParaRPr>
          </a:p>
          <a:p>
            <a:pPr marL="542925" lvl="1" indent="-542925">
              <a:lnSpc>
                <a:spcPct val="150000"/>
              </a:lnSpc>
              <a:spcBef>
                <a:spcPct val="20000"/>
              </a:spcBef>
              <a:buFont typeface="Wingdings" pitchFamily="2" charset="2"/>
              <a:buChar char="q"/>
              <a:tabLst>
                <a:tab pos="542925" algn="l"/>
              </a:tabLst>
            </a:pPr>
            <a:r>
              <a:rPr lang="en-US" sz="1600" b="1" dirty="0" smtClean="0">
                <a:latin typeface="Arial" pitchFamily="34" charset="0"/>
                <a:cs typeface="Arial" pitchFamily="34" charset="0"/>
              </a:rPr>
              <a:t>Thus, oil bonds, that are long term in nature, are being used to finance immediate expenses. </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STORY OF OIL BONDS</a:t>
            </a:r>
            <a:endParaRPr lang="en-US" sz="2000" b="1" dirty="0">
              <a:solidFill>
                <a:schemeClr val="bg1"/>
              </a:solidFill>
              <a:latin typeface="Arial" pitchFamily="34" charset="0"/>
              <a:cs typeface="Arial" pitchFamily="34" charset="0"/>
            </a:endParaRPr>
          </a:p>
        </p:txBody>
      </p:sp>
      <p:sp>
        <p:nvSpPr>
          <p:cNvPr id="5" name="Rectangle 4"/>
          <p:cNvSpPr/>
          <p:nvPr/>
        </p:nvSpPr>
        <p:spPr>
          <a:xfrm>
            <a:off x="714348" y="1074692"/>
            <a:ext cx="7215238" cy="46307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Are only oil companies affected?</a:t>
            </a:r>
            <a:endParaRPr lang="en-US" b="1" dirty="0">
              <a:latin typeface="Arial" pitchFamily="34" charset="0"/>
              <a:cs typeface="Arial" pitchFamily="34" charset="0"/>
            </a:endParaRPr>
          </a:p>
        </p:txBody>
      </p:sp>
      <p:sp>
        <p:nvSpPr>
          <p:cNvPr id="6" name="Rectangle 5"/>
          <p:cNvSpPr/>
          <p:nvPr/>
        </p:nvSpPr>
        <p:spPr>
          <a:xfrm>
            <a:off x="714348" y="1643050"/>
            <a:ext cx="7286676" cy="3425553"/>
          </a:xfrm>
          <a:prstGeom prst="rect">
            <a:avLst/>
          </a:prstGeom>
        </p:spPr>
        <p:txBody>
          <a:bodyPr wrap="square">
            <a:spAutoFit/>
          </a:bodyPr>
          <a:lstStyle/>
          <a:p>
            <a:pPr marL="542925" indent="-542925">
              <a:lnSpc>
                <a:spcPct val="150000"/>
              </a:lnSpc>
              <a:spcBef>
                <a:spcPct val="20000"/>
              </a:spcBef>
              <a:buFont typeface="Wingdings" pitchFamily="2" charset="2"/>
              <a:buChar char="q"/>
              <a:tabLst>
                <a:tab pos="542925" algn="l"/>
              </a:tabLst>
            </a:pPr>
            <a:r>
              <a:rPr lang="en-US" b="1" dirty="0" smtClean="0">
                <a:latin typeface="Arial" pitchFamily="34" charset="0"/>
                <a:cs typeface="Arial" pitchFamily="34" charset="0"/>
              </a:rPr>
              <a:t>Besides the oil companies’ losses, the Government too has to pay up the money at the end of the stipulated time period.</a:t>
            </a:r>
          </a:p>
          <a:p>
            <a:pPr marL="542925" indent="-542925">
              <a:lnSpc>
                <a:spcPct val="150000"/>
              </a:lnSpc>
              <a:spcBef>
                <a:spcPct val="20000"/>
              </a:spcBef>
              <a:buFont typeface="Wingdings" pitchFamily="2" charset="2"/>
              <a:buChar char="q"/>
              <a:tabLst>
                <a:tab pos="542925" algn="l"/>
              </a:tabLst>
            </a:pPr>
            <a:endParaRPr lang="en-US" sz="600" b="1" dirty="0" smtClean="0">
              <a:latin typeface="Arial" pitchFamily="34" charset="0"/>
              <a:cs typeface="Arial" pitchFamily="34" charset="0"/>
            </a:endParaRPr>
          </a:p>
          <a:p>
            <a:pPr marL="542925" indent="-542925">
              <a:lnSpc>
                <a:spcPct val="150000"/>
              </a:lnSpc>
              <a:spcBef>
                <a:spcPct val="20000"/>
              </a:spcBef>
              <a:buFont typeface="Wingdings" pitchFamily="2" charset="2"/>
              <a:buChar char="q"/>
              <a:tabLst>
                <a:tab pos="542925" algn="l"/>
              </a:tabLst>
            </a:pPr>
            <a:r>
              <a:rPr lang="en-US" b="1" dirty="0" smtClean="0">
                <a:latin typeface="Arial" pitchFamily="34" charset="0"/>
                <a:cs typeface="Arial" pitchFamily="34" charset="0"/>
              </a:rPr>
              <a:t>What these bonds are doing is just postponing the losses, which have to be repaid some day.</a:t>
            </a:r>
          </a:p>
          <a:p>
            <a:pPr marL="542925" indent="-542925">
              <a:lnSpc>
                <a:spcPct val="150000"/>
              </a:lnSpc>
              <a:spcBef>
                <a:spcPct val="20000"/>
              </a:spcBef>
              <a:buFont typeface="Wingdings" pitchFamily="2" charset="2"/>
              <a:buChar char="q"/>
              <a:tabLst>
                <a:tab pos="542925" algn="l"/>
              </a:tabLst>
            </a:pPr>
            <a:endParaRPr lang="en-US" sz="600" b="1" dirty="0" smtClean="0">
              <a:latin typeface="Arial" pitchFamily="34" charset="0"/>
              <a:cs typeface="Arial" pitchFamily="34" charset="0"/>
            </a:endParaRPr>
          </a:p>
          <a:p>
            <a:pPr marL="542925" indent="-542925">
              <a:lnSpc>
                <a:spcPct val="150000"/>
              </a:lnSpc>
              <a:spcBef>
                <a:spcPct val="20000"/>
              </a:spcBef>
              <a:buFont typeface="Wingdings" pitchFamily="2" charset="2"/>
              <a:buChar char="q"/>
              <a:tabLst>
                <a:tab pos="542925" algn="l"/>
              </a:tabLst>
            </a:pPr>
            <a:r>
              <a:rPr lang="en-US" b="1" dirty="0" smtClean="0">
                <a:latin typeface="Arial" pitchFamily="34" charset="0"/>
                <a:cs typeface="Arial" pitchFamily="34" charset="0"/>
              </a:rPr>
              <a:t>And somewhere, at some point in time, the promised doles met out earlier will also eat into the Government’s revenues, thus adding to the fiscal deficit.</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270716995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STORY OF OIL BONDS</a:t>
            </a:r>
            <a:endParaRPr lang="en-US" sz="2000" b="1" dirty="0">
              <a:solidFill>
                <a:schemeClr val="bg1"/>
              </a:solidFill>
              <a:latin typeface="Arial" pitchFamily="34" charset="0"/>
              <a:cs typeface="Arial" pitchFamily="34" charset="0"/>
            </a:endParaRPr>
          </a:p>
        </p:txBody>
      </p:sp>
      <p:sp>
        <p:nvSpPr>
          <p:cNvPr id="5" name="Rectangle 4"/>
          <p:cNvSpPr/>
          <p:nvPr/>
        </p:nvSpPr>
        <p:spPr>
          <a:xfrm>
            <a:off x="714348" y="1000108"/>
            <a:ext cx="7215238" cy="46307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To sum up…</a:t>
            </a:r>
            <a:endParaRPr lang="en-US" b="1" dirty="0">
              <a:latin typeface="Arial" pitchFamily="34" charset="0"/>
              <a:cs typeface="Arial" pitchFamily="34" charset="0"/>
            </a:endParaRPr>
          </a:p>
        </p:txBody>
      </p:sp>
      <p:sp>
        <p:nvSpPr>
          <p:cNvPr id="6" name="Rectangle 5"/>
          <p:cNvSpPr/>
          <p:nvPr/>
        </p:nvSpPr>
        <p:spPr>
          <a:xfrm>
            <a:off x="714348" y="1500174"/>
            <a:ext cx="7500990" cy="3841052"/>
          </a:xfrm>
          <a:prstGeom prst="rect">
            <a:avLst/>
          </a:prstGeom>
        </p:spPr>
        <p:txBody>
          <a:bodyPr wrap="square">
            <a:spAutoFit/>
          </a:bodyPr>
          <a:lstStyle/>
          <a:p>
            <a:pPr marL="449263" indent="-449263">
              <a:lnSpc>
                <a:spcPct val="150000"/>
              </a:lnSpc>
              <a:spcBef>
                <a:spcPct val="20000"/>
              </a:spcBef>
              <a:buFont typeface="Wingdings" pitchFamily="2" charset="2"/>
              <a:buChar char="q"/>
              <a:tabLst>
                <a:tab pos="449263" algn="l"/>
              </a:tabLst>
            </a:pPr>
            <a:r>
              <a:rPr lang="en-US" b="1" dirty="0" smtClean="0">
                <a:latin typeface="Arial" pitchFamily="34" charset="0"/>
                <a:cs typeface="Arial" pitchFamily="34" charset="0"/>
              </a:rPr>
              <a:t>The Government is slowly realizing that raising petroleum product prices to increasingly reflect the hard facts </a:t>
            </a:r>
            <a:r>
              <a:rPr lang="en-US" b="1" dirty="0" smtClean="0">
                <a:latin typeface="Arial" pitchFamily="34" charset="0"/>
                <a:cs typeface="Arial" pitchFamily="34" charset="0"/>
              </a:rPr>
              <a:t>of</a:t>
            </a:r>
            <a:br>
              <a:rPr lang="en-US" b="1" dirty="0" smtClean="0">
                <a:latin typeface="Arial" pitchFamily="34" charset="0"/>
                <a:cs typeface="Arial" pitchFamily="34" charset="0"/>
              </a:rPr>
            </a:br>
            <a:r>
              <a:rPr lang="en-US" b="1" dirty="0" smtClean="0">
                <a:latin typeface="Arial" pitchFamily="34" charset="0"/>
                <a:cs typeface="Arial" pitchFamily="34" charset="0"/>
              </a:rPr>
              <a:t>global </a:t>
            </a:r>
            <a:r>
              <a:rPr lang="en-US" b="1" dirty="0" smtClean="0">
                <a:latin typeface="Arial" pitchFamily="34" charset="0"/>
                <a:cs typeface="Arial" pitchFamily="34" charset="0"/>
              </a:rPr>
              <a:t>scarcity could be a better option than just </a:t>
            </a:r>
            <a:r>
              <a:rPr lang="en-US" b="1" dirty="0" smtClean="0">
                <a:latin typeface="Arial" pitchFamily="34" charset="0"/>
                <a:cs typeface="Arial" pitchFamily="34" charset="0"/>
              </a:rPr>
              <a:t>depending</a:t>
            </a:r>
            <a:br>
              <a:rPr lang="en-US" b="1" dirty="0" smtClean="0">
                <a:latin typeface="Arial" pitchFamily="34" charset="0"/>
                <a:cs typeface="Arial" pitchFamily="34" charset="0"/>
              </a:rPr>
            </a:br>
            <a:r>
              <a:rPr lang="en-US" b="1" dirty="0" smtClean="0">
                <a:latin typeface="Arial" pitchFamily="34" charset="0"/>
                <a:cs typeface="Arial" pitchFamily="34" charset="0"/>
              </a:rPr>
              <a:t>on </a:t>
            </a:r>
            <a:r>
              <a:rPr lang="en-US" b="1" dirty="0" smtClean="0">
                <a:latin typeface="Arial" pitchFamily="34" charset="0"/>
                <a:cs typeface="Arial" pitchFamily="34" charset="0"/>
              </a:rPr>
              <a:t>oil bonds.</a:t>
            </a:r>
          </a:p>
          <a:p>
            <a:pPr marL="449263" indent="-449263">
              <a:lnSpc>
                <a:spcPct val="150000"/>
              </a:lnSpc>
              <a:spcBef>
                <a:spcPct val="20000"/>
              </a:spcBef>
              <a:buFont typeface="Wingdings" pitchFamily="2" charset="2"/>
              <a:buChar char="q"/>
              <a:tabLst>
                <a:tab pos="449263" algn="l"/>
              </a:tabLst>
            </a:pPr>
            <a:endParaRPr lang="en-US" sz="600" b="1" dirty="0" smtClean="0">
              <a:latin typeface="Arial" pitchFamily="34" charset="0"/>
              <a:cs typeface="Arial" pitchFamily="34" charset="0"/>
            </a:endParaRPr>
          </a:p>
          <a:p>
            <a:pPr marL="449263" indent="-449263">
              <a:lnSpc>
                <a:spcPct val="150000"/>
              </a:lnSpc>
              <a:spcBef>
                <a:spcPct val="20000"/>
              </a:spcBef>
              <a:buFont typeface="Wingdings" pitchFamily="2" charset="2"/>
              <a:buChar char="q"/>
              <a:tabLst>
                <a:tab pos="449263" algn="l"/>
              </a:tabLst>
            </a:pPr>
            <a:r>
              <a:rPr lang="en-US" b="1" dirty="0" smtClean="0">
                <a:latin typeface="Arial" pitchFamily="34" charset="0"/>
                <a:cs typeface="Arial" pitchFamily="34" charset="0"/>
              </a:rPr>
              <a:t>This would explain the largest fuel price hike that we have witnessed in recent memory.</a:t>
            </a:r>
          </a:p>
          <a:p>
            <a:pPr marL="449263" indent="-449263">
              <a:lnSpc>
                <a:spcPct val="150000"/>
              </a:lnSpc>
              <a:spcBef>
                <a:spcPct val="20000"/>
              </a:spcBef>
              <a:buFont typeface="Wingdings" pitchFamily="2" charset="2"/>
              <a:buChar char="q"/>
              <a:tabLst>
                <a:tab pos="449263" algn="l"/>
              </a:tabLst>
            </a:pPr>
            <a:endParaRPr lang="en-US" sz="600" b="1" dirty="0" smtClean="0">
              <a:latin typeface="Arial" pitchFamily="34" charset="0"/>
              <a:cs typeface="Arial" pitchFamily="34" charset="0"/>
            </a:endParaRPr>
          </a:p>
          <a:p>
            <a:pPr marL="449263" indent="-449263">
              <a:lnSpc>
                <a:spcPct val="150000"/>
              </a:lnSpc>
              <a:spcBef>
                <a:spcPct val="20000"/>
              </a:spcBef>
              <a:buFont typeface="Wingdings" pitchFamily="2" charset="2"/>
              <a:buChar char="q"/>
              <a:tabLst>
                <a:tab pos="449263" algn="l"/>
              </a:tabLst>
            </a:pPr>
            <a:r>
              <a:rPr lang="en-US" b="1" dirty="0" smtClean="0">
                <a:latin typeface="Arial" pitchFamily="34" charset="0"/>
                <a:cs typeface="Arial" pitchFamily="34" charset="0"/>
              </a:rPr>
              <a:t>Thus, a change in approach to this administered price control mechanism will subsequently auger well for the economy.</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27071699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43372" y="4842982"/>
            <a:ext cx="3857652" cy="923330"/>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Hope you have now </a:t>
            </a:r>
            <a:r>
              <a:rPr lang="en-US" b="1" dirty="0" smtClean="0">
                <a:latin typeface="Arial" pitchFamily="34" charset="0"/>
                <a:cs typeface="Arial" pitchFamily="34" charset="0"/>
              </a:rPr>
              <a:t>understood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smtClean="0">
                <a:latin typeface="Arial" pitchFamily="34" charset="0"/>
                <a:cs typeface="Arial" pitchFamily="34" charset="0"/>
              </a:rPr>
              <a:t>concept of </a:t>
            </a:r>
            <a:r>
              <a:rPr lang="en-US" b="1" dirty="0" smtClean="0">
                <a:latin typeface="Arial" pitchFamily="34" charset="0"/>
                <a:cs typeface="Arial" pitchFamily="34" charset="0"/>
              </a:rPr>
              <a:t>Oil </a:t>
            </a:r>
            <a:r>
              <a:rPr lang="en-US" b="1" dirty="0" smtClean="0">
                <a:latin typeface="Arial" pitchFamily="34" charset="0"/>
                <a:cs typeface="Arial" pitchFamily="34" charset="0"/>
              </a:rPr>
              <a:t>Bonds</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STORY OF OIL BONDS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071678"/>
            <a:ext cx="4032448" cy="935769"/>
          </a:xfrm>
          <a:prstGeom prst="rect">
            <a:avLst/>
          </a:prstGeom>
        </p:spPr>
        <p:txBody>
          <a:bodyPr wrap="square">
            <a:spAutoFit/>
          </a:bodyPr>
          <a:lstStyle/>
          <a:p>
            <a:pPr marL="342900" indent="-342900" algn="ctr">
              <a:lnSpc>
                <a:spcPct val="150000"/>
              </a:lnSpc>
              <a:spcBef>
                <a:spcPct val="20000"/>
              </a:spcBef>
            </a:pPr>
            <a:r>
              <a:rPr lang="en-US" b="1" dirty="0" smtClean="0">
                <a:latin typeface="Arial" pitchFamily="34" charset="0"/>
                <a:cs typeface="Arial" pitchFamily="34" charset="0"/>
              </a:rPr>
              <a:t>In case of any query, please e-mail </a:t>
            </a:r>
          </a:p>
          <a:p>
            <a:pPr marL="342900" indent="-342900" algn="ctr">
              <a:lnSpc>
                <a:spcPct val="150000"/>
              </a:lnSpc>
              <a:spcBef>
                <a:spcPct val="20000"/>
              </a:spcBef>
            </a:pPr>
            <a:r>
              <a:rPr lang="en-US" b="1" dirty="0" smtClean="0">
                <a:latin typeface="Arial" pitchFamily="34" charset="0"/>
                <a:cs typeface="Arial" pitchFamily="34" charset="0"/>
                <a:hlinkClick r:id="rId4"/>
              </a:rPr>
              <a:t>lchaturvedi@tataamc.com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3159</TotalTime>
  <Words>762</Words>
  <Application>Microsoft Office PowerPoint</Application>
  <PresentationFormat>On-screen Show (4:3)</PresentationFormat>
  <Paragraphs>72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cp:lastModifiedBy>
  <cp:revision>436</cp:revision>
  <dcterms:created xsi:type="dcterms:W3CDTF">2013-10-22T09:41:31Z</dcterms:created>
  <dcterms:modified xsi:type="dcterms:W3CDTF">2014-03-08T02:22:43Z</dcterms:modified>
</cp:coreProperties>
</file>