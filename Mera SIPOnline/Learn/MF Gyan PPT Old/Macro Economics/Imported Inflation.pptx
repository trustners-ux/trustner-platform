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56" r:id="rId2"/>
    <p:sldId id="358" r:id="rId3"/>
    <p:sldId id="424" r:id="rId4"/>
    <p:sldId id="318" r:id="rId5"/>
    <p:sldId id="416" r:id="rId6"/>
    <p:sldId id="439" r:id="rId7"/>
    <p:sldId id="417" r:id="rId8"/>
    <p:sldId id="418" r:id="rId9"/>
    <p:sldId id="440" r:id="rId10"/>
    <p:sldId id="436" r:id="rId11"/>
    <p:sldId id="437" r:id="rId12"/>
    <p:sldId id="441" r:id="rId13"/>
    <p:sldId id="438" r:id="rId14"/>
    <p:sldId id="442" r:id="rId15"/>
    <p:sldId id="385" r:id="rId16"/>
    <p:sldId id="443" r:id="rId17"/>
    <p:sldId id="444" r:id="rId18"/>
    <p:sldId id="445" r:id="rId19"/>
    <p:sldId id="446" r:id="rId20"/>
    <p:sldId id="447" r:id="rId21"/>
    <p:sldId id="287" r:id="rId22"/>
    <p:sldId id="273" r:id="rId23"/>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E5432AD8-FD33-4775-ADDC-A749B7E8069C}" type="datetimeFigureOut">
              <a:rPr lang="en-US" smtClean="0"/>
              <a:t>9/26/2014</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ADB13642-A2A5-4739-BCB1-813759B0F0A8}"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IN"/>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IN"/>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IN"/>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hyperlink" Target="http://www.tatamutualfund.com/" TargetMode="External"/><Relationship Id="rId4" Type="http://schemas.openxmlformats.org/officeDocument/2006/relationships/hyperlink" Target="mailto:professor@tataamc.com"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IMPORTED INFLATION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115616" y="2348880"/>
            <a:ext cx="3888432" cy="507831"/>
          </a:xfrm>
          <a:prstGeom prst="rect">
            <a:avLst/>
          </a:prstGeom>
          <a:noFill/>
        </p:spPr>
        <p:txBody>
          <a:bodyPr wrap="square" rtlCol="0">
            <a:spAutoFit/>
          </a:bodyPr>
          <a:lstStyle/>
          <a:p>
            <a:pPr>
              <a:lnSpc>
                <a:spcPct val="150000"/>
              </a:lnSpc>
            </a:pPr>
            <a:r>
              <a:rPr lang="en-US" b="1">
                <a:latin typeface="Arial" pitchFamily="34" charset="0"/>
                <a:cs typeface="Arial" pitchFamily="34" charset="0"/>
              </a:rPr>
              <a:t>Understanding </a:t>
            </a:r>
            <a:r>
              <a:rPr lang="en-US" b="1" smtClean="0">
                <a:latin typeface="Arial" pitchFamily="34" charset="0"/>
                <a:cs typeface="Arial" pitchFamily="34" charset="0"/>
              </a:rPr>
              <a:t>Imported </a:t>
            </a:r>
            <a:r>
              <a:rPr lang="en-US" b="1" dirty="0">
                <a:latin typeface="Arial" pitchFamily="34" charset="0"/>
                <a:cs typeface="Arial" pitchFamily="34" charset="0"/>
              </a:rPr>
              <a:t>Inflation</a:t>
            </a: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23929" y="4381930"/>
            <a:ext cx="439248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We have often heard our parents or grandparents saying that they </a:t>
            </a:r>
            <a:r>
              <a:rPr lang="en-US" b="1" dirty="0" smtClean="0">
                <a:latin typeface="Arial" pitchFamily="34" charset="0"/>
                <a:cs typeface="Arial" pitchFamily="34" charset="0"/>
              </a:rPr>
              <a:t>used</a:t>
            </a:r>
            <a:br>
              <a:rPr lang="en-US" b="1" dirty="0" smtClean="0">
                <a:latin typeface="Arial" pitchFamily="34" charset="0"/>
                <a:cs typeface="Arial" pitchFamily="34" charset="0"/>
              </a:rPr>
            </a:br>
            <a:r>
              <a:rPr lang="en-US" b="1" dirty="0" smtClean="0">
                <a:latin typeface="Arial" pitchFamily="34" charset="0"/>
                <a:cs typeface="Arial" pitchFamily="34" charset="0"/>
              </a:rPr>
              <a:t>to </a:t>
            </a:r>
            <a:r>
              <a:rPr lang="en-US" b="1" dirty="0">
                <a:latin typeface="Arial" pitchFamily="34" charset="0"/>
                <a:cs typeface="Arial" pitchFamily="34" charset="0"/>
              </a:rPr>
              <a:t>manage the entire house for 100 rupees a month in “</a:t>
            </a:r>
            <a:r>
              <a:rPr lang="en-US" b="1" i="1" dirty="0">
                <a:latin typeface="Arial" pitchFamily="34" charset="0"/>
                <a:cs typeface="Arial" pitchFamily="34" charset="0"/>
              </a:rPr>
              <a:t>those days</a:t>
            </a:r>
            <a:r>
              <a:rPr lang="en-US" b="1" dirty="0">
                <a:latin typeface="Arial" pitchFamily="34" charset="0"/>
                <a:cs typeface="Arial" pitchFamily="34" charset="0"/>
              </a:rPr>
              <a:t>”.</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Tree>
    <p:extLst>
      <p:ext uri="{BB962C8B-B14F-4D97-AF65-F5344CB8AC3E}">
        <p14:creationId xmlns:p14="http://schemas.microsoft.com/office/powerpoint/2010/main" xmlns="" val="14726332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5" name="Rectangle 4"/>
          <p:cNvSpPr/>
          <p:nvPr/>
        </p:nvSpPr>
        <p:spPr>
          <a:xfrm>
            <a:off x="3203848" y="1242626"/>
            <a:ext cx="331236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We usually smirk, and </a:t>
            </a:r>
            <a:r>
              <a:rPr lang="en-US" b="1" dirty="0" smtClean="0">
                <a:latin typeface="Arial" pitchFamily="34" charset="0"/>
                <a:cs typeface="Arial" pitchFamily="34" charset="0"/>
              </a:rPr>
              <a:t>say</a:t>
            </a:r>
            <a:br>
              <a:rPr lang="en-US" b="1" dirty="0" smtClean="0">
                <a:latin typeface="Arial" pitchFamily="34" charset="0"/>
                <a:cs typeface="Arial" pitchFamily="34" charset="0"/>
              </a:rPr>
            </a:br>
            <a:r>
              <a:rPr lang="en-US" b="1" dirty="0" smtClean="0">
                <a:latin typeface="Arial" pitchFamily="34" charset="0"/>
                <a:cs typeface="Arial" pitchFamily="34" charset="0"/>
              </a:rPr>
              <a:t>“</a:t>
            </a:r>
            <a:r>
              <a:rPr lang="en-US" b="1" i="1" dirty="0" smtClean="0">
                <a:latin typeface="Arial" pitchFamily="34" charset="0"/>
                <a:cs typeface="Arial" pitchFamily="34" charset="0"/>
              </a:rPr>
              <a:t>Gone </a:t>
            </a:r>
            <a:r>
              <a:rPr lang="en-US" b="1" i="1" dirty="0">
                <a:latin typeface="Arial" pitchFamily="34" charset="0"/>
                <a:cs typeface="Arial" pitchFamily="34" charset="0"/>
              </a:rPr>
              <a:t>are those </a:t>
            </a:r>
            <a:r>
              <a:rPr lang="en-US" b="1" i="1" dirty="0" smtClean="0">
                <a:latin typeface="Arial" pitchFamily="34" charset="0"/>
                <a:cs typeface="Arial" pitchFamily="34" charset="0"/>
              </a:rPr>
              <a:t>days.</a:t>
            </a:r>
            <a:br>
              <a:rPr lang="en-US" b="1" i="1" dirty="0" smtClean="0">
                <a:latin typeface="Arial" pitchFamily="34" charset="0"/>
                <a:cs typeface="Arial" pitchFamily="34" charset="0"/>
              </a:rPr>
            </a:br>
            <a:r>
              <a:rPr lang="en-US" b="1" i="1" dirty="0" smtClean="0">
                <a:latin typeface="Arial" pitchFamily="34" charset="0"/>
                <a:cs typeface="Arial" pitchFamily="34" charset="0"/>
              </a:rPr>
              <a:t>Today </a:t>
            </a:r>
            <a:r>
              <a:rPr lang="en-US" b="1" i="1" dirty="0">
                <a:latin typeface="Arial" pitchFamily="34" charset="0"/>
                <a:cs typeface="Arial" pitchFamily="34" charset="0"/>
              </a:rPr>
              <a:t>we can’t even </a:t>
            </a:r>
            <a:r>
              <a:rPr lang="en-US" b="1" i="1" dirty="0" smtClean="0">
                <a:latin typeface="Arial" pitchFamily="34" charset="0"/>
                <a:cs typeface="Arial" pitchFamily="34" charset="0"/>
              </a:rPr>
              <a:t>have</a:t>
            </a:r>
            <a:br>
              <a:rPr lang="en-US" b="1" i="1" dirty="0" smtClean="0">
                <a:latin typeface="Arial" pitchFamily="34" charset="0"/>
                <a:cs typeface="Arial" pitchFamily="34" charset="0"/>
              </a:rPr>
            </a:br>
            <a:r>
              <a:rPr lang="en-US" b="1" i="1" dirty="0" smtClean="0">
                <a:latin typeface="Arial" pitchFamily="34" charset="0"/>
                <a:cs typeface="Arial" pitchFamily="34" charset="0"/>
              </a:rPr>
              <a:t>one </a:t>
            </a:r>
            <a:r>
              <a:rPr lang="en-US" b="1" i="1" dirty="0">
                <a:latin typeface="Arial" pitchFamily="34" charset="0"/>
                <a:cs typeface="Arial" pitchFamily="34" charset="0"/>
              </a:rPr>
              <a:t>full meal in 100 rupees</a:t>
            </a:r>
            <a:r>
              <a:rPr lang="en-US" b="1" dirty="0">
                <a:latin typeface="Arial" pitchFamily="34" charset="0"/>
                <a:cs typeface="Arial" pitchFamily="34" charset="0"/>
              </a:rPr>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5" name="Rectangle 4"/>
          <p:cNvSpPr/>
          <p:nvPr/>
        </p:nvSpPr>
        <p:spPr>
          <a:xfrm>
            <a:off x="689064" y="1124744"/>
            <a:ext cx="7627352" cy="872034"/>
          </a:xfrm>
          <a:prstGeom prst="rect">
            <a:avLst/>
          </a:prstGeom>
        </p:spPr>
        <p:txBody>
          <a:bodyPr wrap="square">
            <a:spAutoFit/>
          </a:bodyPr>
          <a:lstStyle/>
          <a:p>
            <a:pPr>
              <a:lnSpc>
                <a:spcPct val="150000"/>
              </a:lnSpc>
            </a:pPr>
            <a:r>
              <a:rPr lang="en-US" b="1" dirty="0">
                <a:latin typeface="Arial" pitchFamily="34" charset="0"/>
                <a:cs typeface="Arial" pitchFamily="34" charset="0"/>
              </a:rPr>
              <a:t>Blame it on inflation. Inflation erodes the purchasing power of money such that </a:t>
            </a:r>
            <a:r>
              <a:rPr lang="en-US" b="1" dirty="0" err="1" smtClean="0">
                <a:latin typeface="Arial" pitchFamily="34" charset="0"/>
                <a:cs typeface="Arial" pitchFamily="34" charset="0"/>
              </a:rPr>
              <a:t>Rs</a:t>
            </a:r>
            <a:r>
              <a:rPr lang="en-US" b="1" dirty="0">
                <a:latin typeface="Arial" pitchFamily="34" charset="0"/>
                <a:cs typeface="Arial" pitchFamily="34" charset="0"/>
              </a:rPr>
              <a:t>. 100 today is no longer </a:t>
            </a:r>
            <a:r>
              <a:rPr lang="en-US" b="1" dirty="0" err="1">
                <a:latin typeface="Arial" pitchFamily="34" charset="0"/>
                <a:cs typeface="Arial" pitchFamily="34" charset="0"/>
              </a:rPr>
              <a:t>Rs</a:t>
            </a:r>
            <a:r>
              <a:rPr lang="en-US" b="1" dirty="0">
                <a:latin typeface="Arial" pitchFamily="34" charset="0"/>
                <a:cs typeface="Arial" pitchFamily="34" charset="0"/>
              </a:rPr>
              <a:t>. 100 tomorrow.</a:t>
            </a: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75656" y="1628800"/>
            <a:ext cx="3096344" cy="1338828"/>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We understand </a:t>
            </a:r>
            <a:r>
              <a:rPr lang="en-US" b="1" dirty="0" smtClean="0">
                <a:latin typeface="Arial" pitchFamily="34" charset="0"/>
                <a:cs typeface="Arial" pitchFamily="34" charset="0"/>
              </a:rPr>
              <a:t>inflation,</a:t>
            </a:r>
            <a:br>
              <a:rPr lang="en-US" b="1" dirty="0" smtClean="0">
                <a:latin typeface="Arial" pitchFamily="34" charset="0"/>
                <a:cs typeface="Arial" pitchFamily="34" charset="0"/>
              </a:rPr>
            </a:br>
            <a:r>
              <a:rPr lang="en-US" b="1" dirty="0" smtClean="0">
                <a:latin typeface="Arial" pitchFamily="34" charset="0"/>
                <a:cs typeface="Arial" pitchFamily="34" charset="0"/>
              </a:rPr>
              <a:t>but </a:t>
            </a:r>
            <a:r>
              <a:rPr lang="en-US" b="1" dirty="0">
                <a:latin typeface="Arial" pitchFamily="34" charset="0"/>
                <a:cs typeface="Arial" pitchFamily="34" charset="0"/>
              </a:rPr>
              <a:t>what </a:t>
            </a:r>
            <a:r>
              <a:rPr lang="en-US" b="1" dirty="0" smtClean="0">
                <a:latin typeface="Arial" pitchFamily="34" charset="0"/>
                <a:cs typeface="Arial" pitchFamily="34" charset="0"/>
              </a:rPr>
              <a:t>does</a:t>
            </a:r>
            <a:br>
              <a:rPr lang="en-US" b="1" dirty="0" smtClean="0">
                <a:latin typeface="Arial" pitchFamily="34" charset="0"/>
                <a:cs typeface="Arial" pitchFamily="34" charset="0"/>
              </a:rPr>
            </a:br>
            <a:r>
              <a:rPr lang="en-US" b="1" dirty="0" smtClean="0">
                <a:latin typeface="Arial" pitchFamily="34" charset="0"/>
                <a:cs typeface="Arial" pitchFamily="34" charset="0"/>
              </a:rPr>
              <a:t>imported </a:t>
            </a:r>
            <a:r>
              <a:rPr lang="en-US" b="1" dirty="0">
                <a:latin typeface="Arial" pitchFamily="34" charset="0"/>
                <a:cs typeface="Arial" pitchFamily="34" charset="0"/>
              </a:rPr>
              <a:t>inflation mean?</a:t>
            </a:r>
          </a:p>
        </p:txBody>
      </p:sp>
    </p:spTree>
    <p:extLst>
      <p:ext uri="{BB962C8B-B14F-4D97-AF65-F5344CB8AC3E}">
        <p14:creationId xmlns:p14="http://schemas.microsoft.com/office/powerpoint/2010/main" xmlns="" val="35961396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6" name="Rectangle 5"/>
          <p:cNvSpPr/>
          <p:nvPr/>
        </p:nvSpPr>
        <p:spPr>
          <a:xfrm>
            <a:off x="722096" y="980728"/>
            <a:ext cx="7018256" cy="1338828"/>
          </a:xfrm>
          <a:prstGeom prst="rect">
            <a:avLst/>
          </a:prstGeom>
        </p:spPr>
        <p:txBody>
          <a:bodyPr wrap="square">
            <a:spAutoFit/>
          </a:bodyPr>
          <a:lstStyle/>
          <a:p>
            <a:pPr>
              <a:lnSpc>
                <a:spcPct val="150000"/>
              </a:lnSpc>
            </a:pPr>
            <a:r>
              <a:rPr lang="en-US" b="1" dirty="0">
                <a:latin typeface="Arial" pitchFamily="34" charset="0"/>
                <a:cs typeface="Arial" pitchFamily="34" charset="0"/>
              </a:rPr>
              <a:t>When the general price level rises in a country because </a:t>
            </a:r>
            <a:r>
              <a:rPr lang="en-US" b="1" dirty="0" smtClean="0">
                <a:latin typeface="Arial" pitchFamily="34" charset="0"/>
                <a:cs typeface="Arial" pitchFamily="34" charset="0"/>
              </a:rPr>
              <a:t>of the </a:t>
            </a:r>
            <a:r>
              <a:rPr lang="en-US" b="1" dirty="0">
                <a:latin typeface="Arial" pitchFamily="34" charset="0"/>
                <a:cs typeface="Arial" pitchFamily="34" charset="0"/>
              </a:rPr>
              <a:t>rise in prices of imported commodities, inflation is termed as imported.</a:t>
            </a:r>
          </a:p>
        </p:txBody>
      </p:sp>
    </p:spTree>
    <p:extLst>
      <p:ext uri="{BB962C8B-B14F-4D97-AF65-F5344CB8AC3E}">
        <p14:creationId xmlns:p14="http://schemas.microsoft.com/office/powerpoint/2010/main" xmlns="" val="29609829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7" name="Rectangle 6"/>
          <p:cNvSpPr/>
          <p:nvPr/>
        </p:nvSpPr>
        <p:spPr>
          <a:xfrm>
            <a:off x="714348" y="1124744"/>
            <a:ext cx="7458052" cy="1711366"/>
          </a:xfrm>
          <a:prstGeom prst="rect">
            <a:avLst/>
          </a:prstGeom>
        </p:spPr>
        <p:txBody>
          <a:bodyPr wrap="square">
            <a:spAutoFit/>
          </a:bodyPr>
          <a:lstStyle/>
          <a:p>
            <a:pPr>
              <a:lnSpc>
                <a:spcPct val="150000"/>
              </a:lnSpc>
            </a:pPr>
            <a:r>
              <a:rPr lang="en-US" b="1" dirty="0">
                <a:latin typeface="Arial" pitchFamily="34" charset="0"/>
                <a:cs typeface="Arial" pitchFamily="34" charset="0"/>
              </a:rPr>
              <a:t>No country in the world is self-sufficient by itself.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Each country depends on other countries for goods and services which are not produced domestically.</a:t>
            </a: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733756"/>
            <a:ext cx="4032448" cy="1338828"/>
          </a:xfrm>
          <a:prstGeom prst="rect">
            <a:avLst/>
          </a:prstGeom>
        </p:spPr>
        <p:txBody>
          <a:bodyPr wrap="square">
            <a:spAutoFit/>
          </a:bodyPr>
          <a:lstStyle/>
          <a:p>
            <a:pPr>
              <a:lnSpc>
                <a:spcPct val="150000"/>
              </a:lnSpc>
            </a:pPr>
            <a:r>
              <a:rPr lang="en-US" b="1" dirty="0">
                <a:latin typeface="Arial" pitchFamily="34" charset="0"/>
                <a:cs typeface="Arial" pitchFamily="34" charset="0"/>
              </a:rPr>
              <a:t>For Instance, India imports about three quarters of its total crude oil consumption.</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Tree>
    <p:extLst>
      <p:ext uri="{BB962C8B-B14F-4D97-AF65-F5344CB8AC3E}">
        <p14:creationId xmlns:p14="http://schemas.microsoft.com/office/powerpoint/2010/main" xmlns="" val="15335680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7" name="Rectangle 6"/>
          <p:cNvSpPr/>
          <p:nvPr/>
        </p:nvSpPr>
        <p:spPr>
          <a:xfrm>
            <a:off x="714348" y="1052736"/>
            <a:ext cx="7386044"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Therefore, if oil prices go up in the international </a:t>
            </a:r>
            <a:r>
              <a:rPr lang="en-US" b="1" dirty="0" smtClean="0">
                <a:latin typeface="Arial" pitchFamily="34" charset="0"/>
                <a:cs typeface="Arial" pitchFamily="34" charset="0"/>
              </a:rPr>
              <a:t>market, inflation </a:t>
            </a:r>
            <a:r>
              <a:rPr lang="en-US" b="1" dirty="0">
                <a:latin typeface="Arial" pitchFamily="34" charset="0"/>
                <a:cs typeface="Arial" pitchFamily="34" charset="0"/>
              </a:rPr>
              <a:t>in India will also go up due to higher prices of the petroleum products as fuel and power have 14.91% weightage in the Wholesale Price Index (WPI) in India.</a:t>
            </a:r>
          </a:p>
        </p:txBody>
      </p:sp>
    </p:spTree>
    <p:extLst>
      <p:ext uri="{BB962C8B-B14F-4D97-AF65-F5344CB8AC3E}">
        <p14:creationId xmlns:p14="http://schemas.microsoft.com/office/powerpoint/2010/main" xmlns="" val="29699543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7" name="Rectangle 6"/>
          <p:cNvSpPr/>
          <p:nvPr/>
        </p:nvSpPr>
        <p:spPr>
          <a:xfrm>
            <a:off x="714348" y="1052736"/>
            <a:ext cx="7026004" cy="1338828"/>
          </a:xfrm>
          <a:prstGeom prst="rect">
            <a:avLst/>
          </a:prstGeom>
        </p:spPr>
        <p:txBody>
          <a:bodyPr wrap="square">
            <a:spAutoFit/>
          </a:bodyPr>
          <a:lstStyle/>
          <a:p>
            <a:pPr>
              <a:lnSpc>
                <a:spcPct val="150000"/>
              </a:lnSpc>
            </a:pPr>
            <a:r>
              <a:rPr lang="en-US" b="1" dirty="0">
                <a:latin typeface="Arial" pitchFamily="34" charset="0"/>
                <a:cs typeface="Arial" pitchFamily="34" charset="0"/>
              </a:rPr>
              <a:t>However, it is not necessary that only rise in the price of a traded commodity in the international market fuels imported inflation. </a:t>
            </a:r>
          </a:p>
        </p:txBody>
      </p:sp>
    </p:spTree>
    <p:extLst>
      <p:ext uri="{BB962C8B-B14F-4D97-AF65-F5344CB8AC3E}">
        <p14:creationId xmlns:p14="http://schemas.microsoft.com/office/powerpoint/2010/main" xmlns="" val="4363334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4" name="Rectangle 3"/>
          <p:cNvSpPr/>
          <p:nvPr/>
        </p:nvSpPr>
        <p:spPr>
          <a:xfrm>
            <a:off x="3347864" y="1340768"/>
            <a:ext cx="3312368" cy="1295868"/>
          </a:xfrm>
          <a:prstGeom prst="rect">
            <a:avLst/>
          </a:prstGeom>
        </p:spPr>
        <p:txBody>
          <a:bodyPr wrap="square">
            <a:spAutoFit/>
          </a:bodyPr>
          <a:lstStyle/>
          <a:p>
            <a:pPr>
              <a:lnSpc>
                <a:spcPct val="150000"/>
              </a:lnSpc>
            </a:pPr>
            <a:r>
              <a:rPr lang="en-US" b="1" dirty="0">
                <a:latin typeface="Arial" pitchFamily="34" charset="0"/>
                <a:cs typeface="Arial" pitchFamily="34" charset="0"/>
              </a:rPr>
              <a:t>Inflation may also rise because of depreciation of the domestic currency. </a:t>
            </a:r>
          </a:p>
        </p:txBody>
      </p:sp>
    </p:spTree>
    <p:extLst>
      <p:ext uri="{BB962C8B-B14F-4D97-AF65-F5344CB8AC3E}">
        <p14:creationId xmlns:p14="http://schemas.microsoft.com/office/powerpoint/2010/main" xmlns="" val="40457047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7" name="Rectangle 6"/>
          <p:cNvSpPr/>
          <p:nvPr/>
        </p:nvSpPr>
        <p:spPr>
          <a:xfrm>
            <a:off x="714348" y="1077898"/>
            <a:ext cx="7098012" cy="1754326"/>
          </a:xfrm>
          <a:prstGeom prst="rect">
            <a:avLst/>
          </a:prstGeom>
        </p:spPr>
        <p:txBody>
          <a:bodyPr wrap="square">
            <a:spAutoFit/>
          </a:bodyPr>
          <a:lstStyle/>
          <a:p>
            <a:pPr>
              <a:lnSpc>
                <a:spcPct val="150000"/>
              </a:lnSpc>
            </a:pPr>
            <a:r>
              <a:rPr lang="en-US" b="1" dirty="0">
                <a:latin typeface="Arial" pitchFamily="34" charset="0"/>
                <a:cs typeface="Arial" pitchFamily="34" charset="0"/>
              </a:rPr>
              <a:t>For example, if the rupee depreciates by 15% against the US dollar in a particular period, the landed rupee cost of oil will also go up by a similar proportion and will affect the price and inflation numbers.</a:t>
            </a:r>
          </a:p>
        </p:txBody>
      </p:sp>
    </p:spTree>
    <p:extLst>
      <p:ext uri="{BB962C8B-B14F-4D97-AF65-F5344CB8AC3E}">
        <p14:creationId xmlns:p14="http://schemas.microsoft.com/office/powerpoint/2010/main" xmlns="" val="40531702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7" name="Rectangle 6"/>
          <p:cNvSpPr/>
          <p:nvPr/>
        </p:nvSpPr>
        <p:spPr>
          <a:xfrm>
            <a:off x="714348" y="1077898"/>
            <a:ext cx="7098012" cy="1711366"/>
          </a:xfrm>
          <a:prstGeom prst="rect">
            <a:avLst/>
          </a:prstGeom>
        </p:spPr>
        <p:txBody>
          <a:bodyPr wrap="square">
            <a:spAutoFit/>
          </a:bodyPr>
          <a:lstStyle/>
          <a:p>
            <a:pPr>
              <a:lnSpc>
                <a:spcPct val="150000"/>
              </a:lnSpc>
            </a:pPr>
            <a:r>
              <a:rPr lang="en-US" b="1" dirty="0">
                <a:latin typeface="Arial" pitchFamily="34" charset="0"/>
                <a:cs typeface="Arial" pitchFamily="34" charset="0"/>
              </a:rPr>
              <a:t>Let us consider an example. Suppose we import Petrol at $100 a unit. And the exchange rate is </a:t>
            </a:r>
            <a:r>
              <a:rPr lang="en-US" b="1" dirty="0" err="1">
                <a:latin typeface="Arial" pitchFamily="34" charset="0"/>
                <a:cs typeface="Arial" pitchFamily="34" charset="0"/>
              </a:rPr>
              <a:t>Rs</a:t>
            </a:r>
            <a:r>
              <a:rPr lang="en-US" b="1" dirty="0">
                <a:latin typeface="Arial" pitchFamily="34" charset="0"/>
                <a:cs typeface="Arial" pitchFamily="34" charset="0"/>
              </a:rPr>
              <a:t>. 50 per dollar. This means we actually need </a:t>
            </a:r>
            <a:r>
              <a:rPr lang="en-US" b="1" dirty="0" err="1">
                <a:latin typeface="Arial" pitchFamily="34" charset="0"/>
                <a:cs typeface="Arial" pitchFamily="34" charset="0"/>
              </a:rPr>
              <a:t>Rs</a:t>
            </a:r>
            <a:r>
              <a:rPr lang="en-US" b="1" dirty="0">
                <a:latin typeface="Arial" pitchFamily="34" charset="0"/>
                <a:cs typeface="Arial" pitchFamily="34" charset="0"/>
              </a:rPr>
              <a:t>. 5,000 to first buy $100, and then pay for the Petrol purchase of one unit. </a:t>
            </a:r>
          </a:p>
        </p:txBody>
      </p:sp>
    </p:spTree>
    <p:extLst>
      <p:ext uri="{BB962C8B-B14F-4D97-AF65-F5344CB8AC3E}">
        <p14:creationId xmlns:p14="http://schemas.microsoft.com/office/powerpoint/2010/main" xmlns="" val="27943783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410978"/>
            <a:ext cx="4320480"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Therefore the price of Petrol depends on two factors:</a:t>
            </a:r>
          </a:p>
          <a:p>
            <a:pPr marL="342900" indent="-342900">
              <a:lnSpc>
                <a:spcPct val="150000"/>
              </a:lnSpc>
              <a:buFont typeface="+mj-lt"/>
              <a:buAutoNum type="arabicPeriod"/>
            </a:pPr>
            <a:r>
              <a:rPr lang="en-US" b="1" dirty="0">
                <a:latin typeface="Arial" pitchFamily="34" charset="0"/>
                <a:cs typeface="Arial" pitchFamily="34" charset="0"/>
              </a:rPr>
              <a:t>Price of Petrol (in dollar terms)</a:t>
            </a:r>
          </a:p>
          <a:p>
            <a:pPr marL="342900" indent="-342900">
              <a:lnSpc>
                <a:spcPct val="150000"/>
              </a:lnSpc>
              <a:buFont typeface="+mj-lt"/>
              <a:buAutoNum type="arabicPeriod"/>
            </a:pPr>
            <a:r>
              <a:rPr lang="en-US" b="1" dirty="0">
                <a:latin typeface="Arial" pitchFamily="34" charset="0"/>
                <a:cs typeface="Arial" pitchFamily="34" charset="0"/>
              </a:rPr>
              <a:t>Price of the dollar</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Tree>
    <p:extLst>
      <p:ext uri="{BB962C8B-B14F-4D97-AF65-F5344CB8AC3E}">
        <p14:creationId xmlns:p14="http://schemas.microsoft.com/office/powerpoint/2010/main" xmlns="" val="7779845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7" name="Rectangle 6"/>
          <p:cNvSpPr/>
          <p:nvPr/>
        </p:nvSpPr>
        <p:spPr>
          <a:xfrm>
            <a:off x="714348" y="1077898"/>
            <a:ext cx="7386044" cy="2169825"/>
          </a:xfrm>
          <a:prstGeom prst="rect">
            <a:avLst/>
          </a:prstGeom>
        </p:spPr>
        <p:txBody>
          <a:bodyPr wrap="square">
            <a:spAutoFit/>
          </a:bodyPr>
          <a:lstStyle/>
          <a:p>
            <a:pPr>
              <a:lnSpc>
                <a:spcPct val="150000"/>
              </a:lnSpc>
            </a:pPr>
            <a:r>
              <a:rPr lang="en-US" b="1" dirty="0">
                <a:latin typeface="Arial" pitchFamily="34" charset="0"/>
                <a:cs typeface="Arial" pitchFamily="34" charset="0"/>
              </a:rPr>
              <a:t>As explained above, price of petrol in India is directly proportional to the price of petrol in dollars, but also is impacted by the price of the dollar.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Let’s understand how.</a:t>
            </a:r>
          </a:p>
        </p:txBody>
      </p:sp>
    </p:spTree>
    <p:extLst>
      <p:ext uri="{BB962C8B-B14F-4D97-AF65-F5344CB8AC3E}">
        <p14:creationId xmlns:p14="http://schemas.microsoft.com/office/powerpoint/2010/main" xmlns="" val="10449609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7" name="Rectangle 6"/>
          <p:cNvSpPr/>
          <p:nvPr/>
        </p:nvSpPr>
        <p:spPr>
          <a:xfrm>
            <a:off x="714348" y="1077898"/>
            <a:ext cx="7098012" cy="1338828"/>
          </a:xfrm>
          <a:prstGeom prst="rect">
            <a:avLst/>
          </a:prstGeom>
        </p:spPr>
        <p:txBody>
          <a:bodyPr wrap="square">
            <a:spAutoFit/>
          </a:bodyPr>
          <a:lstStyle/>
          <a:p>
            <a:pPr>
              <a:lnSpc>
                <a:spcPct val="150000"/>
              </a:lnSpc>
            </a:pPr>
            <a:r>
              <a:rPr lang="en-US" b="1" dirty="0">
                <a:latin typeface="Arial" pitchFamily="34" charset="0"/>
                <a:cs typeface="Arial" pitchFamily="34" charset="0"/>
              </a:rPr>
              <a:t>Suppose the price of the dollar goes up to </a:t>
            </a:r>
            <a:r>
              <a:rPr lang="en-US" b="1" dirty="0" err="1">
                <a:latin typeface="Arial" pitchFamily="34" charset="0"/>
                <a:cs typeface="Arial" pitchFamily="34" charset="0"/>
              </a:rPr>
              <a:t>Rs</a:t>
            </a:r>
            <a:r>
              <a:rPr lang="en-US" b="1" dirty="0">
                <a:latin typeface="Arial" pitchFamily="34" charset="0"/>
                <a:cs typeface="Arial" pitchFamily="34" charset="0"/>
              </a:rPr>
              <a:t>. 60 per dollar. This means that we will have to cough up </a:t>
            </a:r>
            <a:r>
              <a:rPr lang="en-US" b="1" dirty="0" err="1">
                <a:latin typeface="Arial" pitchFamily="34" charset="0"/>
                <a:cs typeface="Arial" pitchFamily="34" charset="0"/>
              </a:rPr>
              <a:t>Rs</a:t>
            </a:r>
            <a:r>
              <a:rPr lang="en-US" b="1" dirty="0">
                <a:latin typeface="Arial" pitchFamily="34" charset="0"/>
                <a:cs typeface="Arial" pitchFamily="34" charset="0"/>
              </a:rPr>
              <a:t>. 6,000 to buy $100 for the purchase of one unit of Petrol. </a:t>
            </a:r>
          </a:p>
        </p:txBody>
      </p:sp>
    </p:spTree>
    <p:extLst>
      <p:ext uri="{BB962C8B-B14F-4D97-AF65-F5344CB8AC3E}">
        <p14:creationId xmlns:p14="http://schemas.microsoft.com/office/powerpoint/2010/main" xmlns="" val="21410271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7" name="Rectangle 6"/>
          <p:cNvSpPr/>
          <p:nvPr/>
        </p:nvSpPr>
        <p:spPr>
          <a:xfrm>
            <a:off x="714348" y="1077898"/>
            <a:ext cx="7242028" cy="2169825"/>
          </a:xfrm>
          <a:prstGeom prst="rect">
            <a:avLst/>
          </a:prstGeom>
        </p:spPr>
        <p:txBody>
          <a:bodyPr wrap="square">
            <a:spAutoFit/>
          </a:bodyPr>
          <a:lstStyle/>
          <a:p>
            <a:pPr>
              <a:lnSpc>
                <a:spcPct val="150000"/>
              </a:lnSpc>
            </a:pPr>
            <a:r>
              <a:rPr lang="en-US" b="1" dirty="0">
                <a:latin typeface="Arial" pitchFamily="34" charset="0"/>
                <a:cs typeface="Arial" pitchFamily="34" charset="0"/>
              </a:rPr>
              <a:t>So despite the fact that the price of Petrol continues to be stable in the international market at $100, the price of Petrol in India goes up from </a:t>
            </a:r>
            <a:r>
              <a:rPr lang="en-US" b="1" dirty="0" err="1">
                <a:latin typeface="Arial" pitchFamily="34" charset="0"/>
                <a:cs typeface="Arial" pitchFamily="34" charset="0"/>
              </a:rPr>
              <a:t>Rs</a:t>
            </a:r>
            <a:r>
              <a:rPr lang="en-US" b="1" dirty="0">
                <a:latin typeface="Arial" pitchFamily="34" charset="0"/>
                <a:cs typeface="Arial" pitchFamily="34" charset="0"/>
              </a:rPr>
              <a:t>. 5000 per unit to </a:t>
            </a:r>
            <a:r>
              <a:rPr lang="en-US" b="1" dirty="0" err="1">
                <a:latin typeface="Arial" pitchFamily="34" charset="0"/>
                <a:cs typeface="Arial" pitchFamily="34" charset="0"/>
              </a:rPr>
              <a:t>Rs</a:t>
            </a:r>
            <a:r>
              <a:rPr lang="en-US" b="1" dirty="0">
                <a:latin typeface="Arial" pitchFamily="34" charset="0"/>
                <a:cs typeface="Arial" pitchFamily="34" charset="0"/>
              </a:rPr>
              <a:t>. 6000 per unit. So while there is 0% increase in the price of petrol in the international market, the price of petrol in India increases by 20%. </a:t>
            </a:r>
          </a:p>
        </p:txBody>
      </p:sp>
    </p:spTree>
    <p:extLst>
      <p:ext uri="{BB962C8B-B14F-4D97-AF65-F5344CB8AC3E}">
        <p14:creationId xmlns:p14="http://schemas.microsoft.com/office/powerpoint/2010/main" xmlns="" val="25798598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
        <p:nvSpPr>
          <p:cNvPr id="7" name="Rectangle 6"/>
          <p:cNvSpPr/>
          <p:nvPr/>
        </p:nvSpPr>
        <p:spPr>
          <a:xfrm>
            <a:off x="714348" y="1077898"/>
            <a:ext cx="7242028" cy="880369"/>
          </a:xfrm>
          <a:prstGeom prst="rect">
            <a:avLst/>
          </a:prstGeom>
        </p:spPr>
        <p:txBody>
          <a:bodyPr wrap="square">
            <a:spAutoFit/>
          </a:bodyPr>
          <a:lstStyle/>
          <a:p>
            <a:pPr>
              <a:lnSpc>
                <a:spcPct val="150000"/>
              </a:lnSpc>
            </a:pPr>
            <a:r>
              <a:rPr lang="en-US" b="1" dirty="0">
                <a:latin typeface="Arial" pitchFamily="34" charset="0"/>
                <a:cs typeface="Arial" pitchFamily="34" charset="0"/>
              </a:rPr>
              <a:t>Therefore one often reads that the devaluation of the rupee will bring in imported inflation.</a:t>
            </a:r>
          </a:p>
        </p:txBody>
      </p:sp>
    </p:spTree>
    <p:extLst>
      <p:ext uri="{BB962C8B-B14F-4D97-AF65-F5344CB8AC3E}">
        <p14:creationId xmlns:p14="http://schemas.microsoft.com/office/powerpoint/2010/main" xmlns="" val="17212366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410978"/>
            <a:ext cx="4320480" cy="1703030"/>
          </a:xfrm>
          <a:prstGeom prst="rect">
            <a:avLst/>
          </a:prstGeom>
        </p:spPr>
        <p:txBody>
          <a:bodyPr wrap="square">
            <a:spAutoFit/>
          </a:bodyPr>
          <a:lstStyle/>
          <a:p>
            <a:pPr>
              <a:lnSpc>
                <a:spcPct val="150000"/>
              </a:lnSpc>
            </a:pPr>
            <a:r>
              <a:rPr lang="en-US" b="1" dirty="0">
                <a:latin typeface="Arial" pitchFamily="34" charset="0"/>
                <a:cs typeface="Arial" pitchFamily="34" charset="0"/>
              </a:rPr>
              <a:t>Hope the above explanation helped you to understand the concept of imported inflation as against domestic inflation.</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IMPORTED INFLATION</a:t>
            </a:r>
          </a:p>
        </p:txBody>
      </p:sp>
    </p:spTree>
    <p:extLst>
      <p:ext uri="{BB962C8B-B14F-4D97-AF65-F5344CB8AC3E}">
        <p14:creationId xmlns:p14="http://schemas.microsoft.com/office/powerpoint/2010/main" xmlns="" val="19746173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204864"/>
            <a:ext cx="4032448" cy="701731"/>
          </a:xfrm>
          <a:prstGeom prst="rect">
            <a:avLst/>
          </a:prstGeom>
        </p:spPr>
        <p:txBody>
          <a:bodyPr wrap="square">
            <a:spAutoFit/>
          </a:bodyPr>
          <a:lstStyle/>
          <a:p>
            <a:pPr marL="342900" indent="-342900" algn="ctr">
              <a:spcBef>
                <a:spcPct val="20000"/>
              </a:spcBef>
            </a:pPr>
            <a:r>
              <a:rPr lang="en-US" b="1" dirty="0">
                <a:latin typeface="Arial" pitchFamily="34" charset="0"/>
                <a:cs typeface="Arial" pitchFamily="34" charset="0"/>
              </a:rPr>
              <a:t>Please give us your feedback at </a:t>
            </a:r>
          </a:p>
          <a:p>
            <a:pPr marL="342900" indent="-342900" algn="ctr">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
        <p:nvSpPr>
          <p:cNvPr id="3" name="Rectangle 2"/>
          <p:cNvSpPr/>
          <p:nvPr/>
        </p:nvSpPr>
        <p:spPr>
          <a:xfrm>
            <a:off x="1421904" y="1340768"/>
            <a:ext cx="3150096" cy="646331"/>
          </a:xfrm>
          <a:prstGeom prst="rect">
            <a:avLst/>
          </a:prstGeom>
        </p:spPr>
        <p:txBody>
          <a:bodyPr wrap="square">
            <a:spAutoFit/>
          </a:bodyPr>
          <a:lstStyle/>
          <a:p>
            <a:pPr algn="ctr"/>
            <a:r>
              <a:rPr lang="en-US" b="1" dirty="0">
                <a:latin typeface="Arial" pitchFamily="34" charset="0"/>
                <a:cs typeface="Arial" pitchFamily="34" charset="0"/>
              </a:rPr>
              <a:t>For more lessons visit</a:t>
            </a:r>
          </a:p>
          <a:p>
            <a:pPr algn="ctr"/>
            <a:r>
              <a:rPr lang="en-US" b="1" u="sng" dirty="0">
                <a:latin typeface="Arial" pitchFamily="34" charset="0"/>
                <a:cs typeface="Arial" pitchFamily="34" charset="0"/>
                <a:hlinkClick r:id="rId5"/>
              </a:rPr>
              <a:t>www.tatamutualfund.com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2957</TotalTime>
  <Words>719</Words>
  <Application>Microsoft Office PowerPoint</Application>
  <PresentationFormat>On-screen Show (4:3)</PresentationFormat>
  <Paragraphs>51</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389</cp:revision>
  <dcterms:created xsi:type="dcterms:W3CDTF">2013-10-22T09:41:31Z</dcterms:created>
  <dcterms:modified xsi:type="dcterms:W3CDTF">2014-09-26T12:14:08Z</dcterms:modified>
</cp:coreProperties>
</file>