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18" r:id="rId3"/>
    <p:sldId id="358" r:id="rId4"/>
    <p:sldId id="353" r:id="rId5"/>
    <p:sldId id="384" r:id="rId6"/>
    <p:sldId id="385" r:id="rId7"/>
    <p:sldId id="346" r:id="rId8"/>
    <p:sldId id="380" r:id="rId9"/>
    <p:sldId id="334" r:id="rId10"/>
    <p:sldId id="381" r:id="rId11"/>
    <p:sldId id="382" r:id="rId12"/>
    <p:sldId id="370" r:id="rId13"/>
    <p:sldId id="383" r:id="rId14"/>
    <p:sldId id="387" r:id="rId15"/>
    <p:sldId id="386" r:id="rId16"/>
    <p:sldId id="335" r:id="rId17"/>
    <p:sldId id="388" r:id="rId18"/>
    <p:sldId id="389" r:id="rId19"/>
    <p:sldId id="390" r:id="rId20"/>
    <p:sldId id="391" r:id="rId21"/>
    <p:sldId id="392" r:id="rId22"/>
    <p:sldId id="393" r:id="rId23"/>
    <p:sldId id="287" r:id="rId24"/>
    <p:sldId id="27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2C0C84-9826-4D4C-AC50-AFCDC23A85EB}" type="doc">
      <dgm:prSet loTypeId="urn:microsoft.com/office/officeart/2005/8/layout/orgChart1" loCatId="hierarchy" qsTypeId="urn:microsoft.com/office/officeart/2005/8/quickstyle/simple1" qsCatId="simple" csTypeId="urn:microsoft.com/office/officeart/2005/8/colors/accent1_2" csCatId="accent1"/>
      <dgm:spPr/>
    </dgm:pt>
    <dgm:pt modelId="{78C79D21-9CE2-4B40-88F1-05BDEE2E8E0D}">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Govt. Expenses</a:t>
          </a:r>
        </a:p>
      </dgm:t>
    </dgm:pt>
    <dgm:pt modelId="{43D48596-9718-4951-BF47-767876F53873}" type="parTrans" cxnId="{F161C991-EACE-44CB-95F4-4932329A60D0}">
      <dgm:prSet/>
      <dgm:spPr/>
    </dgm:pt>
    <dgm:pt modelId="{9B1AB5C4-EC02-4458-9057-848BD27DE426}" type="sibTrans" cxnId="{F161C991-EACE-44CB-95F4-4932329A60D0}">
      <dgm:prSet/>
      <dgm:spPr/>
    </dgm:pt>
    <dgm:pt modelId="{975E7C09-F7ED-471E-872E-1ECC5C13431F}">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Revenue Expenses</a:t>
          </a:r>
        </a:p>
      </dgm:t>
    </dgm:pt>
    <dgm:pt modelId="{E089607D-63F9-49D0-AFB0-B8965F794AA9}" type="parTrans" cxnId="{39D9495E-50DC-43DA-B221-89A3748AA8BF}">
      <dgm:prSet/>
      <dgm:spPr/>
    </dgm:pt>
    <dgm:pt modelId="{13D2E29C-F1E4-4E70-BF86-25668DDFB4CC}" type="sibTrans" cxnId="{39D9495E-50DC-43DA-B221-89A3748AA8BF}">
      <dgm:prSet/>
      <dgm:spPr/>
    </dgm:pt>
    <dgm:pt modelId="{963BD810-237D-4470-8E95-1AF752084DB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Capital Expenses</a:t>
          </a:r>
        </a:p>
      </dgm:t>
    </dgm:pt>
    <dgm:pt modelId="{C29AC20A-B7B6-4420-AAD9-667BC30E4EB0}" type="parTrans" cxnId="{5917F630-185B-42B0-8C31-6973D5AE7F8C}">
      <dgm:prSet/>
      <dgm:spPr/>
    </dgm:pt>
    <dgm:pt modelId="{EA4FAD58-2C68-4537-805E-22DEC7394C22}" type="sibTrans" cxnId="{5917F630-185B-42B0-8C31-6973D5AE7F8C}">
      <dgm:prSet/>
      <dgm:spPr/>
    </dgm:pt>
    <dgm:pt modelId="{952730E4-9665-4A17-8161-ABA1F6897A44}" type="pres">
      <dgm:prSet presAssocID="{7D2C0C84-9826-4D4C-AC50-AFCDC23A85EB}" presName="hierChild1" presStyleCnt="0">
        <dgm:presLayoutVars>
          <dgm:orgChart val="1"/>
          <dgm:chPref val="1"/>
          <dgm:dir/>
          <dgm:animOne val="branch"/>
          <dgm:animLvl val="lvl"/>
          <dgm:resizeHandles/>
        </dgm:presLayoutVars>
      </dgm:prSet>
      <dgm:spPr/>
    </dgm:pt>
    <dgm:pt modelId="{05BFB661-4802-4835-9BC5-A2335810547B}" type="pres">
      <dgm:prSet presAssocID="{78C79D21-9CE2-4B40-88F1-05BDEE2E8E0D}" presName="hierRoot1" presStyleCnt="0">
        <dgm:presLayoutVars>
          <dgm:hierBranch val="l"/>
        </dgm:presLayoutVars>
      </dgm:prSet>
      <dgm:spPr/>
    </dgm:pt>
    <dgm:pt modelId="{B5242F97-C875-42D0-960C-6D525E80A0EE}" type="pres">
      <dgm:prSet presAssocID="{78C79D21-9CE2-4B40-88F1-05BDEE2E8E0D}" presName="rootComposite1" presStyleCnt="0"/>
      <dgm:spPr/>
    </dgm:pt>
    <dgm:pt modelId="{00AC7000-535B-4969-8C10-61B7AFD76B97}" type="pres">
      <dgm:prSet presAssocID="{78C79D21-9CE2-4B40-88F1-05BDEE2E8E0D}" presName="rootText1" presStyleLbl="node0" presStyleIdx="0" presStyleCnt="1">
        <dgm:presLayoutVars>
          <dgm:chPref val="3"/>
        </dgm:presLayoutVars>
      </dgm:prSet>
      <dgm:spPr/>
      <dgm:t>
        <a:bodyPr/>
        <a:lstStyle/>
        <a:p>
          <a:endParaRPr lang="en-US"/>
        </a:p>
      </dgm:t>
    </dgm:pt>
    <dgm:pt modelId="{D0CAE425-3BF6-41C3-ADD0-3344BD47A3E6}" type="pres">
      <dgm:prSet presAssocID="{78C79D21-9CE2-4B40-88F1-05BDEE2E8E0D}" presName="rootConnector1" presStyleLbl="node1" presStyleIdx="0" presStyleCnt="0"/>
      <dgm:spPr/>
      <dgm:t>
        <a:bodyPr/>
        <a:lstStyle/>
        <a:p>
          <a:endParaRPr lang="en-US"/>
        </a:p>
      </dgm:t>
    </dgm:pt>
    <dgm:pt modelId="{FCC0201C-B4DC-419C-8DB4-3B00EBACC0F8}" type="pres">
      <dgm:prSet presAssocID="{78C79D21-9CE2-4B40-88F1-05BDEE2E8E0D}" presName="hierChild2" presStyleCnt="0"/>
      <dgm:spPr/>
    </dgm:pt>
    <dgm:pt modelId="{18ACB234-7FA6-4461-8D15-E627CD37A453}" type="pres">
      <dgm:prSet presAssocID="{E089607D-63F9-49D0-AFB0-B8965F794AA9}" presName="Name50" presStyleLbl="parChTrans1D2" presStyleIdx="0" presStyleCnt="2"/>
      <dgm:spPr/>
    </dgm:pt>
    <dgm:pt modelId="{30D41AFF-1BB6-447B-A0E8-1ADA6BA0C7E1}" type="pres">
      <dgm:prSet presAssocID="{975E7C09-F7ED-471E-872E-1ECC5C13431F}" presName="hierRoot2" presStyleCnt="0">
        <dgm:presLayoutVars>
          <dgm:hierBranch/>
        </dgm:presLayoutVars>
      </dgm:prSet>
      <dgm:spPr/>
    </dgm:pt>
    <dgm:pt modelId="{566BF2A7-B033-4FA0-8F7F-E0D3EE4FE6B0}" type="pres">
      <dgm:prSet presAssocID="{975E7C09-F7ED-471E-872E-1ECC5C13431F}" presName="rootComposite" presStyleCnt="0"/>
      <dgm:spPr/>
    </dgm:pt>
    <dgm:pt modelId="{916E2D6F-1B89-485C-82DF-7D87D1F34CF1}" type="pres">
      <dgm:prSet presAssocID="{975E7C09-F7ED-471E-872E-1ECC5C13431F}" presName="rootText" presStyleLbl="node2" presStyleIdx="0" presStyleCnt="2">
        <dgm:presLayoutVars>
          <dgm:chPref val="3"/>
        </dgm:presLayoutVars>
      </dgm:prSet>
      <dgm:spPr/>
      <dgm:t>
        <a:bodyPr/>
        <a:lstStyle/>
        <a:p>
          <a:endParaRPr lang="en-US"/>
        </a:p>
      </dgm:t>
    </dgm:pt>
    <dgm:pt modelId="{8B5A617C-DFCC-465E-BC3B-8554B8DDE26C}" type="pres">
      <dgm:prSet presAssocID="{975E7C09-F7ED-471E-872E-1ECC5C13431F}" presName="rootConnector" presStyleLbl="node2" presStyleIdx="0" presStyleCnt="2"/>
      <dgm:spPr/>
      <dgm:t>
        <a:bodyPr/>
        <a:lstStyle/>
        <a:p>
          <a:endParaRPr lang="en-US"/>
        </a:p>
      </dgm:t>
    </dgm:pt>
    <dgm:pt modelId="{F98DE01A-B93F-478E-96FD-AEDEEA84362B}" type="pres">
      <dgm:prSet presAssocID="{975E7C09-F7ED-471E-872E-1ECC5C13431F}" presName="hierChild4" presStyleCnt="0"/>
      <dgm:spPr/>
    </dgm:pt>
    <dgm:pt modelId="{E01F2824-5171-4E38-A2CD-6A05A845CFCE}" type="pres">
      <dgm:prSet presAssocID="{975E7C09-F7ED-471E-872E-1ECC5C13431F}" presName="hierChild5" presStyleCnt="0"/>
      <dgm:spPr/>
    </dgm:pt>
    <dgm:pt modelId="{75ECE822-A05F-4BDD-8B07-BDD7CA505FAC}" type="pres">
      <dgm:prSet presAssocID="{C29AC20A-B7B6-4420-AAD9-667BC30E4EB0}" presName="Name50" presStyleLbl="parChTrans1D2" presStyleIdx="1" presStyleCnt="2"/>
      <dgm:spPr/>
    </dgm:pt>
    <dgm:pt modelId="{40E3C668-922B-4D7F-A07E-093A71D2DB7C}" type="pres">
      <dgm:prSet presAssocID="{963BD810-237D-4470-8E95-1AF752084DB2}" presName="hierRoot2" presStyleCnt="0">
        <dgm:presLayoutVars>
          <dgm:hierBranch/>
        </dgm:presLayoutVars>
      </dgm:prSet>
      <dgm:spPr/>
    </dgm:pt>
    <dgm:pt modelId="{2254942B-9A12-4CFA-8D2E-B6E3C579DFAF}" type="pres">
      <dgm:prSet presAssocID="{963BD810-237D-4470-8E95-1AF752084DB2}" presName="rootComposite" presStyleCnt="0"/>
      <dgm:spPr/>
    </dgm:pt>
    <dgm:pt modelId="{A29311A7-5DB5-4E20-945B-688D390EC6B9}" type="pres">
      <dgm:prSet presAssocID="{963BD810-237D-4470-8E95-1AF752084DB2}" presName="rootText" presStyleLbl="node2" presStyleIdx="1" presStyleCnt="2">
        <dgm:presLayoutVars>
          <dgm:chPref val="3"/>
        </dgm:presLayoutVars>
      </dgm:prSet>
      <dgm:spPr/>
      <dgm:t>
        <a:bodyPr/>
        <a:lstStyle/>
        <a:p>
          <a:endParaRPr lang="en-US"/>
        </a:p>
      </dgm:t>
    </dgm:pt>
    <dgm:pt modelId="{1B51FAB8-956B-47E3-902B-40BA36D45A73}" type="pres">
      <dgm:prSet presAssocID="{963BD810-237D-4470-8E95-1AF752084DB2}" presName="rootConnector" presStyleLbl="node2" presStyleIdx="1" presStyleCnt="2"/>
      <dgm:spPr/>
      <dgm:t>
        <a:bodyPr/>
        <a:lstStyle/>
        <a:p>
          <a:endParaRPr lang="en-US"/>
        </a:p>
      </dgm:t>
    </dgm:pt>
    <dgm:pt modelId="{6EBC932C-523F-4157-9C0D-0D32823DD337}" type="pres">
      <dgm:prSet presAssocID="{963BD810-237D-4470-8E95-1AF752084DB2}" presName="hierChild4" presStyleCnt="0"/>
      <dgm:spPr/>
    </dgm:pt>
    <dgm:pt modelId="{FCE3BE0A-3E95-4420-94D3-DBE0E5AEF044}" type="pres">
      <dgm:prSet presAssocID="{963BD810-237D-4470-8E95-1AF752084DB2}" presName="hierChild5" presStyleCnt="0"/>
      <dgm:spPr/>
    </dgm:pt>
    <dgm:pt modelId="{6D1E7E88-1F5B-4888-9B12-948EA9FDED34}" type="pres">
      <dgm:prSet presAssocID="{78C79D21-9CE2-4B40-88F1-05BDEE2E8E0D}" presName="hierChild3" presStyleCnt="0"/>
      <dgm:spPr/>
    </dgm:pt>
  </dgm:ptLst>
  <dgm:cxnLst>
    <dgm:cxn modelId="{5917F630-185B-42B0-8C31-6973D5AE7F8C}" srcId="{78C79D21-9CE2-4B40-88F1-05BDEE2E8E0D}" destId="{963BD810-237D-4470-8E95-1AF752084DB2}" srcOrd="1" destOrd="0" parTransId="{C29AC20A-B7B6-4420-AAD9-667BC30E4EB0}" sibTransId="{EA4FAD58-2C68-4537-805E-22DEC7394C22}"/>
    <dgm:cxn modelId="{E72149BC-4C16-4B3C-89D7-0A18CD97ED82}" type="presOf" srcId="{78C79D21-9CE2-4B40-88F1-05BDEE2E8E0D}" destId="{D0CAE425-3BF6-41C3-ADD0-3344BD47A3E6}" srcOrd="1" destOrd="0" presId="urn:microsoft.com/office/officeart/2005/8/layout/orgChart1"/>
    <dgm:cxn modelId="{F161C991-EACE-44CB-95F4-4932329A60D0}" srcId="{7D2C0C84-9826-4D4C-AC50-AFCDC23A85EB}" destId="{78C79D21-9CE2-4B40-88F1-05BDEE2E8E0D}" srcOrd="0" destOrd="0" parTransId="{43D48596-9718-4951-BF47-767876F53873}" sibTransId="{9B1AB5C4-EC02-4458-9057-848BD27DE426}"/>
    <dgm:cxn modelId="{99A3B02A-715B-4854-9961-6A34D1940323}" type="presOf" srcId="{7D2C0C84-9826-4D4C-AC50-AFCDC23A85EB}" destId="{952730E4-9665-4A17-8161-ABA1F6897A44}" srcOrd="0" destOrd="0" presId="urn:microsoft.com/office/officeart/2005/8/layout/orgChart1"/>
    <dgm:cxn modelId="{61ED4285-1FE2-470A-A645-1554BCE2D3D4}" type="presOf" srcId="{963BD810-237D-4470-8E95-1AF752084DB2}" destId="{A29311A7-5DB5-4E20-945B-688D390EC6B9}" srcOrd="0" destOrd="0" presId="urn:microsoft.com/office/officeart/2005/8/layout/orgChart1"/>
    <dgm:cxn modelId="{D4DFE973-8623-4DD9-BFEC-D4B7A013542A}" type="presOf" srcId="{C29AC20A-B7B6-4420-AAD9-667BC30E4EB0}" destId="{75ECE822-A05F-4BDD-8B07-BDD7CA505FAC}" srcOrd="0" destOrd="0" presId="urn:microsoft.com/office/officeart/2005/8/layout/orgChart1"/>
    <dgm:cxn modelId="{AACCD112-F3C1-40B2-B2F8-88AFB7359DA8}" type="presOf" srcId="{975E7C09-F7ED-471E-872E-1ECC5C13431F}" destId="{8B5A617C-DFCC-465E-BC3B-8554B8DDE26C}" srcOrd="1" destOrd="0" presId="urn:microsoft.com/office/officeart/2005/8/layout/orgChart1"/>
    <dgm:cxn modelId="{0153578B-F595-4E18-9400-8F4F56CCD96E}" type="presOf" srcId="{78C79D21-9CE2-4B40-88F1-05BDEE2E8E0D}" destId="{00AC7000-535B-4969-8C10-61B7AFD76B97}" srcOrd="0" destOrd="0" presId="urn:microsoft.com/office/officeart/2005/8/layout/orgChart1"/>
    <dgm:cxn modelId="{A0E8DE7D-EB68-4475-9AAD-0DB8F357226C}" type="presOf" srcId="{E089607D-63F9-49D0-AFB0-B8965F794AA9}" destId="{18ACB234-7FA6-4461-8D15-E627CD37A453}" srcOrd="0" destOrd="0" presId="urn:microsoft.com/office/officeart/2005/8/layout/orgChart1"/>
    <dgm:cxn modelId="{C1082E12-2964-41C7-BC00-40FF9E575D14}" type="presOf" srcId="{963BD810-237D-4470-8E95-1AF752084DB2}" destId="{1B51FAB8-956B-47E3-902B-40BA36D45A73}" srcOrd="1" destOrd="0" presId="urn:microsoft.com/office/officeart/2005/8/layout/orgChart1"/>
    <dgm:cxn modelId="{5240A815-59EC-493C-AE67-853BBA168945}" type="presOf" srcId="{975E7C09-F7ED-471E-872E-1ECC5C13431F}" destId="{916E2D6F-1B89-485C-82DF-7D87D1F34CF1}" srcOrd="0" destOrd="0" presId="urn:microsoft.com/office/officeart/2005/8/layout/orgChart1"/>
    <dgm:cxn modelId="{39D9495E-50DC-43DA-B221-89A3748AA8BF}" srcId="{78C79D21-9CE2-4B40-88F1-05BDEE2E8E0D}" destId="{975E7C09-F7ED-471E-872E-1ECC5C13431F}" srcOrd="0" destOrd="0" parTransId="{E089607D-63F9-49D0-AFB0-B8965F794AA9}" sibTransId="{13D2E29C-F1E4-4E70-BF86-25668DDFB4CC}"/>
    <dgm:cxn modelId="{1BF98679-0DF2-4FE2-9765-BB9E897C4A06}" type="presParOf" srcId="{952730E4-9665-4A17-8161-ABA1F6897A44}" destId="{05BFB661-4802-4835-9BC5-A2335810547B}" srcOrd="0" destOrd="0" presId="urn:microsoft.com/office/officeart/2005/8/layout/orgChart1"/>
    <dgm:cxn modelId="{8C4F369A-7258-4018-985E-54713E3EF79F}" type="presParOf" srcId="{05BFB661-4802-4835-9BC5-A2335810547B}" destId="{B5242F97-C875-42D0-960C-6D525E80A0EE}" srcOrd="0" destOrd="0" presId="urn:microsoft.com/office/officeart/2005/8/layout/orgChart1"/>
    <dgm:cxn modelId="{BDAEFF21-2926-4E9E-838D-99C86FE0C4E1}" type="presParOf" srcId="{B5242F97-C875-42D0-960C-6D525E80A0EE}" destId="{00AC7000-535B-4969-8C10-61B7AFD76B97}" srcOrd="0" destOrd="0" presId="urn:microsoft.com/office/officeart/2005/8/layout/orgChart1"/>
    <dgm:cxn modelId="{E7F9C09A-7B24-4E1A-B6BF-0BA14B73BAA8}" type="presParOf" srcId="{B5242F97-C875-42D0-960C-6D525E80A0EE}" destId="{D0CAE425-3BF6-41C3-ADD0-3344BD47A3E6}" srcOrd="1" destOrd="0" presId="urn:microsoft.com/office/officeart/2005/8/layout/orgChart1"/>
    <dgm:cxn modelId="{5FDD313A-9ED4-40B6-B4DD-DE4FD3B9DEA0}" type="presParOf" srcId="{05BFB661-4802-4835-9BC5-A2335810547B}" destId="{FCC0201C-B4DC-419C-8DB4-3B00EBACC0F8}" srcOrd="1" destOrd="0" presId="urn:microsoft.com/office/officeart/2005/8/layout/orgChart1"/>
    <dgm:cxn modelId="{712FB350-B769-4AA3-835B-EDBD59C475B7}" type="presParOf" srcId="{FCC0201C-B4DC-419C-8DB4-3B00EBACC0F8}" destId="{18ACB234-7FA6-4461-8D15-E627CD37A453}" srcOrd="0" destOrd="0" presId="urn:microsoft.com/office/officeart/2005/8/layout/orgChart1"/>
    <dgm:cxn modelId="{2907AA3D-A1D7-4A40-9C23-C311CEC9C049}" type="presParOf" srcId="{FCC0201C-B4DC-419C-8DB4-3B00EBACC0F8}" destId="{30D41AFF-1BB6-447B-A0E8-1ADA6BA0C7E1}" srcOrd="1" destOrd="0" presId="urn:microsoft.com/office/officeart/2005/8/layout/orgChart1"/>
    <dgm:cxn modelId="{17ED0BA1-5E7B-40E9-98FD-F183A2155828}" type="presParOf" srcId="{30D41AFF-1BB6-447B-A0E8-1ADA6BA0C7E1}" destId="{566BF2A7-B033-4FA0-8F7F-E0D3EE4FE6B0}" srcOrd="0" destOrd="0" presId="urn:microsoft.com/office/officeart/2005/8/layout/orgChart1"/>
    <dgm:cxn modelId="{E568BB29-C1AB-4343-9006-1409C056ED80}" type="presParOf" srcId="{566BF2A7-B033-4FA0-8F7F-E0D3EE4FE6B0}" destId="{916E2D6F-1B89-485C-82DF-7D87D1F34CF1}" srcOrd="0" destOrd="0" presId="urn:microsoft.com/office/officeart/2005/8/layout/orgChart1"/>
    <dgm:cxn modelId="{12C176DA-839D-40E6-8E43-C8D7A21421DD}" type="presParOf" srcId="{566BF2A7-B033-4FA0-8F7F-E0D3EE4FE6B0}" destId="{8B5A617C-DFCC-465E-BC3B-8554B8DDE26C}" srcOrd="1" destOrd="0" presId="urn:microsoft.com/office/officeart/2005/8/layout/orgChart1"/>
    <dgm:cxn modelId="{686D2D68-93EA-4E1C-9697-BC18945A5966}" type="presParOf" srcId="{30D41AFF-1BB6-447B-A0E8-1ADA6BA0C7E1}" destId="{F98DE01A-B93F-478E-96FD-AEDEEA84362B}" srcOrd="1" destOrd="0" presId="urn:microsoft.com/office/officeart/2005/8/layout/orgChart1"/>
    <dgm:cxn modelId="{44F059D4-8DC2-4F4E-9068-DB07CAC90A0F}" type="presParOf" srcId="{30D41AFF-1BB6-447B-A0E8-1ADA6BA0C7E1}" destId="{E01F2824-5171-4E38-A2CD-6A05A845CFCE}" srcOrd="2" destOrd="0" presId="urn:microsoft.com/office/officeart/2005/8/layout/orgChart1"/>
    <dgm:cxn modelId="{C798020C-2953-4868-852A-BBF3D2F1F267}" type="presParOf" srcId="{FCC0201C-B4DC-419C-8DB4-3B00EBACC0F8}" destId="{75ECE822-A05F-4BDD-8B07-BDD7CA505FAC}" srcOrd="2" destOrd="0" presId="urn:microsoft.com/office/officeart/2005/8/layout/orgChart1"/>
    <dgm:cxn modelId="{6DB72E0E-6ECF-4CF8-988F-4D65A39A8031}" type="presParOf" srcId="{FCC0201C-B4DC-419C-8DB4-3B00EBACC0F8}" destId="{40E3C668-922B-4D7F-A07E-093A71D2DB7C}" srcOrd="3" destOrd="0" presId="urn:microsoft.com/office/officeart/2005/8/layout/orgChart1"/>
    <dgm:cxn modelId="{2CFB8DE8-1DE4-4F09-8633-4166F2801A95}" type="presParOf" srcId="{40E3C668-922B-4D7F-A07E-093A71D2DB7C}" destId="{2254942B-9A12-4CFA-8D2E-B6E3C579DFAF}" srcOrd="0" destOrd="0" presId="urn:microsoft.com/office/officeart/2005/8/layout/orgChart1"/>
    <dgm:cxn modelId="{CB25E5A6-CF48-47C6-AA88-A00A9C2D3D50}" type="presParOf" srcId="{2254942B-9A12-4CFA-8D2E-B6E3C579DFAF}" destId="{A29311A7-5DB5-4E20-945B-688D390EC6B9}" srcOrd="0" destOrd="0" presId="urn:microsoft.com/office/officeart/2005/8/layout/orgChart1"/>
    <dgm:cxn modelId="{6ADE3B83-E44A-4D77-8D31-691A599E5504}" type="presParOf" srcId="{2254942B-9A12-4CFA-8D2E-B6E3C579DFAF}" destId="{1B51FAB8-956B-47E3-902B-40BA36D45A73}" srcOrd="1" destOrd="0" presId="urn:microsoft.com/office/officeart/2005/8/layout/orgChart1"/>
    <dgm:cxn modelId="{AD4C20AA-6988-442A-8C4D-F654146C65EA}" type="presParOf" srcId="{40E3C668-922B-4D7F-A07E-093A71D2DB7C}" destId="{6EBC932C-523F-4157-9C0D-0D32823DD337}" srcOrd="1" destOrd="0" presId="urn:microsoft.com/office/officeart/2005/8/layout/orgChart1"/>
    <dgm:cxn modelId="{B812C40C-C7DF-41F6-AB20-699852C26DA0}" type="presParOf" srcId="{40E3C668-922B-4D7F-A07E-093A71D2DB7C}" destId="{FCE3BE0A-3E95-4420-94D3-DBE0E5AEF044}" srcOrd="2" destOrd="0" presId="urn:microsoft.com/office/officeart/2005/8/layout/orgChart1"/>
    <dgm:cxn modelId="{54F3B398-0F24-4C1F-8509-A28F799E1339}" type="presParOf" srcId="{05BFB661-4802-4835-9BC5-A2335810547B}" destId="{6D1E7E88-1F5B-4888-9B12-948EA9FDED34}"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7D84E1-EB92-49A2-A4F1-FD50036AF186}" type="doc">
      <dgm:prSet loTypeId="urn:microsoft.com/office/officeart/2005/8/layout/orgChart1" loCatId="hierarchy" qsTypeId="urn:microsoft.com/office/officeart/2005/8/quickstyle/simple1" qsCatId="simple" csTypeId="urn:microsoft.com/office/officeart/2005/8/colors/accent1_2" csCatId="accent1"/>
      <dgm:spPr/>
    </dgm:pt>
    <dgm:pt modelId="{C8A3B01B-E384-4839-8CD0-84D811430324}">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Govt. Receipts</a:t>
          </a:r>
        </a:p>
      </dgm:t>
    </dgm:pt>
    <dgm:pt modelId="{5D0018D2-0236-4CED-A39B-0F9FB0D941ED}" type="parTrans" cxnId="{59CABC26-8253-4AE1-A105-A8A39ACD76D3}">
      <dgm:prSet/>
      <dgm:spPr/>
      <dgm:t>
        <a:bodyPr/>
        <a:lstStyle/>
        <a:p>
          <a:endParaRPr lang="en-US"/>
        </a:p>
      </dgm:t>
    </dgm:pt>
    <dgm:pt modelId="{D6928AA0-E905-43A8-8378-C2B2CD11C3F3}" type="sibTrans" cxnId="{59CABC26-8253-4AE1-A105-A8A39ACD76D3}">
      <dgm:prSet/>
      <dgm:spPr/>
      <dgm:t>
        <a:bodyPr/>
        <a:lstStyle/>
        <a:p>
          <a:endParaRPr lang="en-US"/>
        </a:p>
      </dgm:t>
    </dgm:pt>
    <dgm:pt modelId="{71187AAB-F369-4EEF-B1A9-C3A19E13A31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charset="0"/>
            </a:rPr>
            <a:t>Tax Sources</a:t>
          </a:r>
        </a:p>
      </dgm:t>
    </dgm:pt>
    <dgm:pt modelId="{DDF31C2B-8AB8-4BAA-8554-73E16435828F}" type="parTrans" cxnId="{EC414729-EBE7-421B-BC6C-361697B33020}">
      <dgm:prSet/>
      <dgm:spPr/>
      <dgm:t>
        <a:bodyPr/>
        <a:lstStyle/>
        <a:p>
          <a:endParaRPr lang="en-US"/>
        </a:p>
      </dgm:t>
    </dgm:pt>
    <dgm:pt modelId="{3EA860FC-5732-47A4-8303-00A115AC59D1}" type="sibTrans" cxnId="{EC414729-EBE7-421B-BC6C-361697B33020}">
      <dgm:prSet/>
      <dgm:spPr/>
      <dgm:t>
        <a:bodyPr/>
        <a:lstStyle/>
        <a:p>
          <a:endParaRPr lang="en-US"/>
        </a:p>
      </dgm:t>
    </dgm:pt>
    <dgm:pt modelId="{FA8AC00C-B205-4F18-A688-7F2FA270927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Non-tax Sources</a:t>
          </a:r>
        </a:p>
      </dgm:t>
    </dgm:pt>
    <dgm:pt modelId="{6CAAEEA6-FAFF-4584-8E0E-837661477666}" type="parTrans" cxnId="{EA94566B-729C-4592-A678-7CEEE74230CB}">
      <dgm:prSet/>
      <dgm:spPr/>
      <dgm:t>
        <a:bodyPr/>
        <a:lstStyle/>
        <a:p>
          <a:endParaRPr lang="en-US"/>
        </a:p>
      </dgm:t>
    </dgm:pt>
    <dgm:pt modelId="{17F00089-EEEE-4394-A805-F6EAFCFDC2E7}" type="sibTrans" cxnId="{EA94566B-729C-4592-A678-7CEEE74230CB}">
      <dgm:prSet/>
      <dgm:spPr/>
      <dgm:t>
        <a:bodyPr/>
        <a:lstStyle/>
        <a:p>
          <a:endParaRPr lang="en-US"/>
        </a:p>
      </dgm:t>
    </dgm:pt>
    <dgm:pt modelId="{B20ABEF3-9108-4C86-A215-E844EED1E698}">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Revenue Receipts</a:t>
          </a:r>
        </a:p>
      </dgm:t>
    </dgm:pt>
    <dgm:pt modelId="{EB3F9196-F905-4574-9C67-54EEE6BB88E3}" type="parTrans" cxnId="{C7BEBC2E-EB82-41C0-A762-B88E7A3965C0}">
      <dgm:prSet/>
      <dgm:spPr/>
      <dgm:t>
        <a:bodyPr/>
        <a:lstStyle/>
        <a:p>
          <a:endParaRPr lang="en-US"/>
        </a:p>
      </dgm:t>
    </dgm:pt>
    <dgm:pt modelId="{A3A3BE22-5E07-4968-A973-A6D2FB7FAB9F}" type="sibTrans" cxnId="{C7BEBC2E-EB82-41C0-A762-B88E7A3965C0}">
      <dgm:prSet/>
      <dgm:spPr/>
      <dgm:t>
        <a:bodyPr/>
        <a:lstStyle/>
        <a:p>
          <a:endParaRPr lang="en-US"/>
        </a:p>
      </dgm:t>
    </dgm:pt>
    <dgm:pt modelId="{130E578B-68BF-44CE-8DC6-7A4A46EB80F7}">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Capital Receipts</a:t>
          </a:r>
        </a:p>
      </dgm:t>
    </dgm:pt>
    <dgm:pt modelId="{ECF62252-ADE0-443A-97E5-3D27942C95DB}" type="parTrans" cxnId="{0C4596AA-E3C2-4E98-A261-D887E1164860}">
      <dgm:prSet/>
      <dgm:spPr/>
      <dgm:t>
        <a:bodyPr/>
        <a:lstStyle/>
        <a:p>
          <a:endParaRPr lang="en-US"/>
        </a:p>
      </dgm:t>
    </dgm:pt>
    <dgm:pt modelId="{47DB68B9-A63F-4333-BE62-27E41CE4F63F}" type="sibTrans" cxnId="{0C4596AA-E3C2-4E98-A261-D887E1164860}">
      <dgm:prSet/>
      <dgm:spPr/>
      <dgm:t>
        <a:bodyPr/>
        <a:lstStyle/>
        <a:p>
          <a:endParaRPr lang="en-US"/>
        </a:p>
      </dgm:t>
    </dgm:pt>
    <dgm:pt modelId="{7A4B7B0C-3217-4C46-8AF5-706881687F87}" type="pres">
      <dgm:prSet presAssocID="{127D84E1-EB92-49A2-A4F1-FD50036AF186}" presName="hierChild1" presStyleCnt="0">
        <dgm:presLayoutVars>
          <dgm:orgChart val="1"/>
          <dgm:chPref val="1"/>
          <dgm:dir/>
          <dgm:animOne val="branch"/>
          <dgm:animLvl val="lvl"/>
          <dgm:resizeHandles/>
        </dgm:presLayoutVars>
      </dgm:prSet>
      <dgm:spPr/>
    </dgm:pt>
    <dgm:pt modelId="{4E55B4D3-514B-4BFE-846F-EFCB1FA51132}" type="pres">
      <dgm:prSet presAssocID="{C8A3B01B-E384-4839-8CD0-84D811430324}" presName="hierRoot1" presStyleCnt="0">
        <dgm:presLayoutVars>
          <dgm:hierBranch val="r"/>
        </dgm:presLayoutVars>
      </dgm:prSet>
      <dgm:spPr/>
    </dgm:pt>
    <dgm:pt modelId="{89163173-9BB0-4BE7-9394-AFE6964F1EC9}" type="pres">
      <dgm:prSet presAssocID="{C8A3B01B-E384-4839-8CD0-84D811430324}" presName="rootComposite1" presStyleCnt="0"/>
      <dgm:spPr/>
    </dgm:pt>
    <dgm:pt modelId="{402173CC-8C38-4C8C-BFA7-CB123A055393}" type="pres">
      <dgm:prSet presAssocID="{C8A3B01B-E384-4839-8CD0-84D811430324}" presName="rootText1" presStyleLbl="node0" presStyleIdx="0" presStyleCnt="1">
        <dgm:presLayoutVars>
          <dgm:chPref val="3"/>
        </dgm:presLayoutVars>
      </dgm:prSet>
      <dgm:spPr/>
      <dgm:t>
        <a:bodyPr/>
        <a:lstStyle/>
        <a:p>
          <a:endParaRPr lang="en-US"/>
        </a:p>
      </dgm:t>
    </dgm:pt>
    <dgm:pt modelId="{8730043A-2B99-439F-8993-D80142DDE37D}" type="pres">
      <dgm:prSet presAssocID="{C8A3B01B-E384-4839-8CD0-84D811430324}" presName="rootConnector1" presStyleLbl="node1" presStyleIdx="0" presStyleCnt="0"/>
      <dgm:spPr/>
      <dgm:t>
        <a:bodyPr/>
        <a:lstStyle/>
        <a:p>
          <a:endParaRPr lang="en-US"/>
        </a:p>
      </dgm:t>
    </dgm:pt>
    <dgm:pt modelId="{FD7A500B-6605-4F8B-B438-B2874F909A73}" type="pres">
      <dgm:prSet presAssocID="{C8A3B01B-E384-4839-8CD0-84D811430324}" presName="hierChild2" presStyleCnt="0"/>
      <dgm:spPr/>
    </dgm:pt>
    <dgm:pt modelId="{C7B2AD67-832A-4A6B-BE03-71F336046E21}" type="pres">
      <dgm:prSet presAssocID="{DDF31C2B-8AB8-4BAA-8554-73E16435828F}" presName="Name50" presStyleLbl="parChTrans1D2" presStyleIdx="0" presStyleCnt="2"/>
      <dgm:spPr/>
      <dgm:t>
        <a:bodyPr/>
        <a:lstStyle/>
        <a:p>
          <a:endParaRPr lang="en-US"/>
        </a:p>
      </dgm:t>
    </dgm:pt>
    <dgm:pt modelId="{3A6893E5-8EAA-4F79-85B3-A1FB4EBB8437}" type="pres">
      <dgm:prSet presAssocID="{71187AAB-F369-4EEF-B1A9-C3A19E13A316}" presName="hierRoot2" presStyleCnt="0">
        <dgm:presLayoutVars>
          <dgm:hierBranch/>
        </dgm:presLayoutVars>
      </dgm:prSet>
      <dgm:spPr/>
    </dgm:pt>
    <dgm:pt modelId="{D36D79F4-882B-48EA-9EC0-297D84451438}" type="pres">
      <dgm:prSet presAssocID="{71187AAB-F369-4EEF-B1A9-C3A19E13A316}" presName="rootComposite" presStyleCnt="0"/>
      <dgm:spPr/>
    </dgm:pt>
    <dgm:pt modelId="{0DA1F44B-2775-4500-8B85-666A2B4DC7EC}" type="pres">
      <dgm:prSet presAssocID="{71187AAB-F369-4EEF-B1A9-C3A19E13A316}" presName="rootText" presStyleLbl="node2" presStyleIdx="0" presStyleCnt="2">
        <dgm:presLayoutVars>
          <dgm:chPref val="3"/>
        </dgm:presLayoutVars>
      </dgm:prSet>
      <dgm:spPr/>
      <dgm:t>
        <a:bodyPr/>
        <a:lstStyle/>
        <a:p>
          <a:endParaRPr lang="en-US"/>
        </a:p>
      </dgm:t>
    </dgm:pt>
    <dgm:pt modelId="{F7EBC861-A50E-44A3-9670-977AABC641E2}" type="pres">
      <dgm:prSet presAssocID="{71187AAB-F369-4EEF-B1A9-C3A19E13A316}" presName="rootConnector" presStyleLbl="node2" presStyleIdx="0" presStyleCnt="2"/>
      <dgm:spPr/>
      <dgm:t>
        <a:bodyPr/>
        <a:lstStyle/>
        <a:p>
          <a:endParaRPr lang="en-US"/>
        </a:p>
      </dgm:t>
    </dgm:pt>
    <dgm:pt modelId="{2F5098F7-2303-43D1-8D40-17A4B257A9F4}" type="pres">
      <dgm:prSet presAssocID="{71187AAB-F369-4EEF-B1A9-C3A19E13A316}" presName="hierChild4" presStyleCnt="0"/>
      <dgm:spPr/>
    </dgm:pt>
    <dgm:pt modelId="{4669A105-408A-4CD3-BF90-173FFB9979A0}" type="pres">
      <dgm:prSet presAssocID="{71187AAB-F369-4EEF-B1A9-C3A19E13A316}" presName="hierChild5" presStyleCnt="0"/>
      <dgm:spPr/>
    </dgm:pt>
    <dgm:pt modelId="{FCAA6680-371F-4EE8-8D39-2D75D8F14667}" type="pres">
      <dgm:prSet presAssocID="{6CAAEEA6-FAFF-4584-8E0E-837661477666}" presName="Name50" presStyleLbl="parChTrans1D2" presStyleIdx="1" presStyleCnt="2"/>
      <dgm:spPr/>
      <dgm:t>
        <a:bodyPr/>
        <a:lstStyle/>
        <a:p>
          <a:endParaRPr lang="en-US"/>
        </a:p>
      </dgm:t>
    </dgm:pt>
    <dgm:pt modelId="{54B369AE-29E2-45A2-8E00-591EA67F0ACD}" type="pres">
      <dgm:prSet presAssocID="{FA8AC00C-B205-4F18-A688-7F2FA2709272}" presName="hierRoot2" presStyleCnt="0">
        <dgm:presLayoutVars>
          <dgm:hierBranch/>
        </dgm:presLayoutVars>
      </dgm:prSet>
      <dgm:spPr/>
    </dgm:pt>
    <dgm:pt modelId="{E2AD2FFC-E9E8-46B8-89CC-AE82F8DB287E}" type="pres">
      <dgm:prSet presAssocID="{FA8AC00C-B205-4F18-A688-7F2FA2709272}" presName="rootComposite" presStyleCnt="0"/>
      <dgm:spPr/>
    </dgm:pt>
    <dgm:pt modelId="{AAA7C062-E915-4807-87CA-02311A97C3C7}" type="pres">
      <dgm:prSet presAssocID="{FA8AC00C-B205-4F18-A688-7F2FA2709272}" presName="rootText" presStyleLbl="node2" presStyleIdx="1" presStyleCnt="2">
        <dgm:presLayoutVars>
          <dgm:chPref val="3"/>
        </dgm:presLayoutVars>
      </dgm:prSet>
      <dgm:spPr/>
      <dgm:t>
        <a:bodyPr/>
        <a:lstStyle/>
        <a:p>
          <a:endParaRPr lang="en-US"/>
        </a:p>
      </dgm:t>
    </dgm:pt>
    <dgm:pt modelId="{E940B5DC-9767-4545-B3F2-2A6388B7376F}" type="pres">
      <dgm:prSet presAssocID="{FA8AC00C-B205-4F18-A688-7F2FA2709272}" presName="rootConnector" presStyleLbl="node2" presStyleIdx="1" presStyleCnt="2"/>
      <dgm:spPr/>
      <dgm:t>
        <a:bodyPr/>
        <a:lstStyle/>
        <a:p>
          <a:endParaRPr lang="en-US"/>
        </a:p>
      </dgm:t>
    </dgm:pt>
    <dgm:pt modelId="{F71DA869-2429-4BAC-BCEC-CDC7C71226B2}" type="pres">
      <dgm:prSet presAssocID="{FA8AC00C-B205-4F18-A688-7F2FA2709272}" presName="hierChild4" presStyleCnt="0"/>
      <dgm:spPr/>
    </dgm:pt>
    <dgm:pt modelId="{E219EB35-BFFB-4CF4-B3E3-50AC2927F585}" type="pres">
      <dgm:prSet presAssocID="{EB3F9196-F905-4574-9C67-54EEE6BB88E3}" presName="Name35" presStyleLbl="parChTrans1D3" presStyleIdx="0" presStyleCnt="2"/>
      <dgm:spPr/>
      <dgm:t>
        <a:bodyPr/>
        <a:lstStyle/>
        <a:p>
          <a:endParaRPr lang="en-US"/>
        </a:p>
      </dgm:t>
    </dgm:pt>
    <dgm:pt modelId="{B36CFA61-F68A-4618-AFF1-4B3EF9DE1CCD}" type="pres">
      <dgm:prSet presAssocID="{B20ABEF3-9108-4C86-A215-E844EED1E698}" presName="hierRoot2" presStyleCnt="0">
        <dgm:presLayoutVars>
          <dgm:hierBranch val="r"/>
        </dgm:presLayoutVars>
      </dgm:prSet>
      <dgm:spPr/>
    </dgm:pt>
    <dgm:pt modelId="{CE5EB455-A1F4-400F-BF3C-E442AC516BC4}" type="pres">
      <dgm:prSet presAssocID="{B20ABEF3-9108-4C86-A215-E844EED1E698}" presName="rootComposite" presStyleCnt="0"/>
      <dgm:spPr/>
    </dgm:pt>
    <dgm:pt modelId="{05C80C2C-D50E-4E5D-8C22-DC40D3065DCE}" type="pres">
      <dgm:prSet presAssocID="{B20ABEF3-9108-4C86-A215-E844EED1E698}" presName="rootText" presStyleLbl="node3" presStyleIdx="0" presStyleCnt="2">
        <dgm:presLayoutVars>
          <dgm:chPref val="3"/>
        </dgm:presLayoutVars>
      </dgm:prSet>
      <dgm:spPr/>
      <dgm:t>
        <a:bodyPr/>
        <a:lstStyle/>
        <a:p>
          <a:endParaRPr lang="en-US"/>
        </a:p>
      </dgm:t>
    </dgm:pt>
    <dgm:pt modelId="{762740AF-EA25-424F-987B-5E2B99DD7DC0}" type="pres">
      <dgm:prSet presAssocID="{B20ABEF3-9108-4C86-A215-E844EED1E698}" presName="rootConnector" presStyleLbl="node3" presStyleIdx="0" presStyleCnt="2"/>
      <dgm:spPr/>
      <dgm:t>
        <a:bodyPr/>
        <a:lstStyle/>
        <a:p>
          <a:endParaRPr lang="en-US"/>
        </a:p>
      </dgm:t>
    </dgm:pt>
    <dgm:pt modelId="{1B9027C4-8892-4CCE-83AA-01699F3FC63A}" type="pres">
      <dgm:prSet presAssocID="{B20ABEF3-9108-4C86-A215-E844EED1E698}" presName="hierChild4" presStyleCnt="0"/>
      <dgm:spPr/>
    </dgm:pt>
    <dgm:pt modelId="{DCDAC8B7-74D0-436E-AD6C-55615131B798}" type="pres">
      <dgm:prSet presAssocID="{B20ABEF3-9108-4C86-A215-E844EED1E698}" presName="hierChild5" presStyleCnt="0"/>
      <dgm:spPr/>
    </dgm:pt>
    <dgm:pt modelId="{0C0C3100-C623-499D-B407-2E4770E737BC}" type="pres">
      <dgm:prSet presAssocID="{ECF62252-ADE0-443A-97E5-3D27942C95DB}" presName="Name35" presStyleLbl="parChTrans1D3" presStyleIdx="1" presStyleCnt="2"/>
      <dgm:spPr/>
      <dgm:t>
        <a:bodyPr/>
        <a:lstStyle/>
        <a:p>
          <a:endParaRPr lang="en-US"/>
        </a:p>
      </dgm:t>
    </dgm:pt>
    <dgm:pt modelId="{C57243C4-2CC8-4A7A-A35F-D89775EA5B1A}" type="pres">
      <dgm:prSet presAssocID="{130E578B-68BF-44CE-8DC6-7A4A46EB80F7}" presName="hierRoot2" presStyleCnt="0">
        <dgm:presLayoutVars>
          <dgm:hierBranch val="r"/>
        </dgm:presLayoutVars>
      </dgm:prSet>
      <dgm:spPr/>
    </dgm:pt>
    <dgm:pt modelId="{C7E2A946-730E-4695-ACD8-125BA988DEEE}" type="pres">
      <dgm:prSet presAssocID="{130E578B-68BF-44CE-8DC6-7A4A46EB80F7}" presName="rootComposite" presStyleCnt="0"/>
      <dgm:spPr/>
    </dgm:pt>
    <dgm:pt modelId="{9AA1F392-BAF7-4EA8-A88E-7C0F34303388}" type="pres">
      <dgm:prSet presAssocID="{130E578B-68BF-44CE-8DC6-7A4A46EB80F7}" presName="rootText" presStyleLbl="node3" presStyleIdx="1" presStyleCnt="2">
        <dgm:presLayoutVars>
          <dgm:chPref val="3"/>
        </dgm:presLayoutVars>
      </dgm:prSet>
      <dgm:spPr/>
      <dgm:t>
        <a:bodyPr/>
        <a:lstStyle/>
        <a:p>
          <a:endParaRPr lang="en-US"/>
        </a:p>
      </dgm:t>
    </dgm:pt>
    <dgm:pt modelId="{2F12FD0D-D7C7-4DC3-8056-9905C0F0B965}" type="pres">
      <dgm:prSet presAssocID="{130E578B-68BF-44CE-8DC6-7A4A46EB80F7}" presName="rootConnector" presStyleLbl="node3" presStyleIdx="1" presStyleCnt="2"/>
      <dgm:spPr/>
      <dgm:t>
        <a:bodyPr/>
        <a:lstStyle/>
        <a:p>
          <a:endParaRPr lang="en-US"/>
        </a:p>
      </dgm:t>
    </dgm:pt>
    <dgm:pt modelId="{14330EF4-DB00-46DE-9BEA-EC08EC8F66E5}" type="pres">
      <dgm:prSet presAssocID="{130E578B-68BF-44CE-8DC6-7A4A46EB80F7}" presName="hierChild4" presStyleCnt="0"/>
      <dgm:spPr/>
    </dgm:pt>
    <dgm:pt modelId="{6533EDBD-1A59-4FE7-86E6-94A1B669BD45}" type="pres">
      <dgm:prSet presAssocID="{130E578B-68BF-44CE-8DC6-7A4A46EB80F7}" presName="hierChild5" presStyleCnt="0"/>
      <dgm:spPr/>
    </dgm:pt>
    <dgm:pt modelId="{6D3CB527-ACC0-4732-83AC-6637FA89EA53}" type="pres">
      <dgm:prSet presAssocID="{FA8AC00C-B205-4F18-A688-7F2FA2709272}" presName="hierChild5" presStyleCnt="0"/>
      <dgm:spPr/>
    </dgm:pt>
    <dgm:pt modelId="{19052E39-21CA-4934-8F8E-BF03F41D63A2}" type="pres">
      <dgm:prSet presAssocID="{C8A3B01B-E384-4839-8CD0-84D811430324}" presName="hierChild3" presStyleCnt="0"/>
      <dgm:spPr/>
    </dgm:pt>
  </dgm:ptLst>
  <dgm:cxnLst>
    <dgm:cxn modelId="{16023E8D-A590-40A9-9D31-274B1BA04AF7}" type="presOf" srcId="{FA8AC00C-B205-4F18-A688-7F2FA2709272}" destId="{E940B5DC-9767-4545-B3F2-2A6388B7376F}" srcOrd="1" destOrd="0" presId="urn:microsoft.com/office/officeart/2005/8/layout/orgChart1"/>
    <dgm:cxn modelId="{905A48B2-A2C4-412B-96E4-9D0899A22E77}" type="presOf" srcId="{71187AAB-F369-4EEF-B1A9-C3A19E13A316}" destId="{F7EBC861-A50E-44A3-9670-977AABC641E2}" srcOrd="1" destOrd="0" presId="urn:microsoft.com/office/officeart/2005/8/layout/orgChart1"/>
    <dgm:cxn modelId="{19A4C524-FFD9-44CA-911F-017EC273871F}" type="presOf" srcId="{71187AAB-F369-4EEF-B1A9-C3A19E13A316}" destId="{0DA1F44B-2775-4500-8B85-666A2B4DC7EC}" srcOrd="0" destOrd="0" presId="urn:microsoft.com/office/officeart/2005/8/layout/orgChart1"/>
    <dgm:cxn modelId="{EA94566B-729C-4592-A678-7CEEE74230CB}" srcId="{C8A3B01B-E384-4839-8CD0-84D811430324}" destId="{FA8AC00C-B205-4F18-A688-7F2FA2709272}" srcOrd="1" destOrd="0" parTransId="{6CAAEEA6-FAFF-4584-8E0E-837661477666}" sibTransId="{17F00089-EEEE-4394-A805-F6EAFCFDC2E7}"/>
    <dgm:cxn modelId="{B78AA9A4-3B62-418F-9ABC-DBB3C8BBB254}" type="presOf" srcId="{6CAAEEA6-FAFF-4584-8E0E-837661477666}" destId="{FCAA6680-371F-4EE8-8D39-2D75D8F14667}" srcOrd="0" destOrd="0" presId="urn:microsoft.com/office/officeart/2005/8/layout/orgChart1"/>
    <dgm:cxn modelId="{6D21CBB6-57E0-48B1-8A40-5C62D51FFD4C}" type="presOf" srcId="{DDF31C2B-8AB8-4BAA-8554-73E16435828F}" destId="{C7B2AD67-832A-4A6B-BE03-71F336046E21}" srcOrd="0" destOrd="0" presId="urn:microsoft.com/office/officeart/2005/8/layout/orgChart1"/>
    <dgm:cxn modelId="{FEBC4F87-AB24-425F-A8E9-97AC563CA3A8}" type="presOf" srcId="{EB3F9196-F905-4574-9C67-54EEE6BB88E3}" destId="{E219EB35-BFFB-4CF4-B3E3-50AC2927F585}" srcOrd="0" destOrd="0" presId="urn:microsoft.com/office/officeart/2005/8/layout/orgChart1"/>
    <dgm:cxn modelId="{2A37F25E-2A18-42E0-B7B9-4435A01398B1}" type="presOf" srcId="{130E578B-68BF-44CE-8DC6-7A4A46EB80F7}" destId="{9AA1F392-BAF7-4EA8-A88E-7C0F34303388}" srcOrd="0" destOrd="0" presId="urn:microsoft.com/office/officeart/2005/8/layout/orgChart1"/>
    <dgm:cxn modelId="{EC414729-EBE7-421B-BC6C-361697B33020}" srcId="{C8A3B01B-E384-4839-8CD0-84D811430324}" destId="{71187AAB-F369-4EEF-B1A9-C3A19E13A316}" srcOrd="0" destOrd="0" parTransId="{DDF31C2B-8AB8-4BAA-8554-73E16435828F}" sibTransId="{3EA860FC-5732-47A4-8303-00A115AC59D1}"/>
    <dgm:cxn modelId="{9648439E-4170-4C46-A143-8F2C966B0BF5}" type="presOf" srcId="{130E578B-68BF-44CE-8DC6-7A4A46EB80F7}" destId="{2F12FD0D-D7C7-4DC3-8056-9905C0F0B965}" srcOrd="1" destOrd="0" presId="urn:microsoft.com/office/officeart/2005/8/layout/orgChart1"/>
    <dgm:cxn modelId="{0C4596AA-E3C2-4E98-A261-D887E1164860}" srcId="{FA8AC00C-B205-4F18-A688-7F2FA2709272}" destId="{130E578B-68BF-44CE-8DC6-7A4A46EB80F7}" srcOrd="1" destOrd="0" parTransId="{ECF62252-ADE0-443A-97E5-3D27942C95DB}" sibTransId="{47DB68B9-A63F-4333-BE62-27E41CE4F63F}"/>
    <dgm:cxn modelId="{59CABC26-8253-4AE1-A105-A8A39ACD76D3}" srcId="{127D84E1-EB92-49A2-A4F1-FD50036AF186}" destId="{C8A3B01B-E384-4839-8CD0-84D811430324}" srcOrd="0" destOrd="0" parTransId="{5D0018D2-0236-4CED-A39B-0F9FB0D941ED}" sibTransId="{D6928AA0-E905-43A8-8378-C2B2CD11C3F3}"/>
    <dgm:cxn modelId="{DE2DBFB9-4487-403C-B083-D0EC0C1135A2}" type="presOf" srcId="{FA8AC00C-B205-4F18-A688-7F2FA2709272}" destId="{AAA7C062-E915-4807-87CA-02311A97C3C7}" srcOrd="0" destOrd="0" presId="urn:microsoft.com/office/officeart/2005/8/layout/orgChart1"/>
    <dgm:cxn modelId="{C7BEBC2E-EB82-41C0-A762-B88E7A3965C0}" srcId="{FA8AC00C-B205-4F18-A688-7F2FA2709272}" destId="{B20ABEF3-9108-4C86-A215-E844EED1E698}" srcOrd="0" destOrd="0" parTransId="{EB3F9196-F905-4574-9C67-54EEE6BB88E3}" sibTransId="{A3A3BE22-5E07-4968-A973-A6D2FB7FAB9F}"/>
    <dgm:cxn modelId="{DE0E3BF7-2406-403F-B75E-CF105DA62EB4}" type="presOf" srcId="{C8A3B01B-E384-4839-8CD0-84D811430324}" destId="{8730043A-2B99-439F-8993-D80142DDE37D}" srcOrd="1" destOrd="0" presId="urn:microsoft.com/office/officeart/2005/8/layout/orgChart1"/>
    <dgm:cxn modelId="{A8A17A85-4564-41D9-83E3-42D20244711A}" type="presOf" srcId="{B20ABEF3-9108-4C86-A215-E844EED1E698}" destId="{762740AF-EA25-424F-987B-5E2B99DD7DC0}" srcOrd="1" destOrd="0" presId="urn:microsoft.com/office/officeart/2005/8/layout/orgChart1"/>
    <dgm:cxn modelId="{4C5192B5-D302-4060-BA2C-B081B4194148}" type="presOf" srcId="{ECF62252-ADE0-443A-97E5-3D27942C95DB}" destId="{0C0C3100-C623-499D-B407-2E4770E737BC}" srcOrd="0" destOrd="0" presId="urn:microsoft.com/office/officeart/2005/8/layout/orgChart1"/>
    <dgm:cxn modelId="{29A28F2A-1323-4A6D-B06B-B18E637B9A07}" type="presOf" srcId="{127D84E1-EB92-49A2-A4F1-FD50036AF186}" destId="{7A4B7B0C-3217-4C46-8AF5-706881687F87}" srcOrd="0" destOrd="0" presId="urn:microsoft.com/office/officeart/2005/8/layout/orgChart1"/>
    <dgm:cxn modelId="{3A888254-3A70-463D-ACEF-0BD96835425E}" type="presOf" srcId="{B20ABEF3-9108-4C86-A215-E844EED1E698}" destId="{05C80C2C-D50E-4E5D-8C22-DC40D3065DCE}" srcOrd="0" destOrd="0" presId="urn:microsoft.com/office/officeart/2005/8/layout/orgChart1"/>
    <dgm:cxn modelId="{7D7768A2-EF35-42FC-A8F1-C187F0928489}" type="presOf" srcId="{C8A3B01B-E384-4839-8CD0-84D811430324}" destId="{402173CC-8C38-4C8C-BFA7-CB123A055393}" srcOrd="0" destOrd="0" presId="urn:microsoft.com/office/officeart/2005/8/layout/orgChart1"/>
    <dgm:cxn modelId="{4D157A30-2215-4E46-B6FE-82D9B09AFC1D}" type="presParOf" srcId="{7A4B7B0C-3217-4C46-8AF5-706881687F87}" destId="{4E55B4D3-514B-4BFE-846F-EFCB1FA51132}" srcOrd="0" destOrd="0" presId="urn:microsoft.com/office/officeart/2005/8/layout/orgChart1"/>
    <dgm:cxn modelId="{B2A3C6B3-4C13-4120-8B14-89FC2A58B439}" type="presParOf" srcId="{4E55B4D3-514B-4BFE-846F-EFCB1FA51132}" destId="{89163173-9BB0-4BE7-9394-AFE6964F1EC9}" srcOrd="0" destOrd="0" presId="urn:microsoft.com/office/officeart/2005/8/layout/orgChart1"/>
    <dgm:cxn modelId="{3C836D19-7F06-4D43-83D2-9CA69278A167}" type="presParOf" srcId="{89163173-9BB0-4BE7-9394-AFE6964F1EC9}" destId="{402173CC-8C38-4C8C-BFA7-CB123A055393}" srcOrd="0" destOrd="0" presId="urn:microsoft.com/office/officeart/2005/8/layout/orgChart1"/>
    <dgm:cxn modelId="{DEA085DE-6270-497D-B3EC-E2CDA1D13C4E}" type="presParOf" srcId="{89163173-9BB0-4BE7-9394-AFE6964F1EC9}" destId="{8730043A-2B99-439F-8993-D80142DDE37D}" srcOrd="1" destOrd="0" presId="urn:microsoft.com/office/officeart/2005/8/layout/orgChart1"/>
    <dgm:cxn modelId="{0D7CBB39-A4E5-44D9-B885-5BAFDF332EC4}" type="presParOf" srcId="{4E55B4D3-514B-4BFE-846F-EFCB1FA51132}" destId="{FD7A500B-6605-4F8B-B438-B2874F909A73}" srcOrd="1" destOrd="0" presId="urn:microsoft.com/office/officeart/2005/8/layout/orgChart1"/>
    <dgm:cxn modelId="{77D7C8E5-5154-4588-8F29-E799B23E62D9}" type="presParOf" srcId="{FD7A500B-6605-4F8B-B438-B2874F909A73}" destId="{C7B2AD67-832A-4A6B-BE03-71F336046E21}" srcOrd="0" destOrd="0" presId="urn:microsoft.com/office/officeart/2005/8/layout/orgChart1"/>
    <dgm:cxn modelId="{2E6362CB-48DE-48DA-9BC8-136B0ACB7F99}" type="presParOf" srcId="{FD7A500B-6605-4F8B-B438-B2874F909A73}" destId="{3A6893E5-8EAA-4F79-85B3-A1FB4EBB8437}" srcOrd="1" destOrd="0" presId="urn:microsoft.com/office/officeart/2005/8/layout/orgChart1"/>
    <dgm:cxn modelId="{BFE6E1FC-A5D2-4272-B4C5-6CCC5531BD45}" type="presParOf" srcId="{3A6893E5-8EAA-4F79-85B3-A1FB4EBB8437}" destId="{D36D79F4-882B-48EA-9EC0-297D84451438}" srcOrd="0" destOrd="0" presId="urn:microsoft.com/office/officeart/2005/8/layout/orgChart1"/>
    <dgm:cxn modelId="{DF111E4A-DCF8-4B86-80E6-110324ACEC35}" type="presParOf" srcId="{D36D79F4-882B-48EA-9EC0-297D84451438}" destId="{0DA1F44B-2775-4500-8B85-666A2B4DC7EC}" srcOrd="0" destOrd="0" presId="urn:microsoft.com/office/officeart/2005/8/layout/orgChart1"/>
    <dgm:cxn modelId="{C1BA0CCF-0B6B-459F-B332-A828D870E1CA}" type="presParOf" srcId="{D36D79F4-882B-48EA-9EC0-297D84451438}" destId="{F7EBC861-A50E-44A3-9670-977AABC641E2}" srcOrd="1" destOrd="0" presId="urn:microsoft.com/office/officeart/2005/8/layout/orgChart1"/>
    <dgm:cxn modelId="{67980163-8F54-43BA-9CDE-E0E839922EF8}" type="presParOf" srcId="{3A6893E5-8EAA-4F79-85B3-A1FB4EBB8437}" destId="{2F5098F7-2303-43D1-8D40-17A4B257A9F4}" srcOrd="1" destOrd="0" presId="urn:microsoft.com/office/officeart/2005/8/layout/orgChart1"/>
    <dgm:cxn modelId="{F98B53D2-B604-47F7-B9E0-62C028B0742D}" type="presParOf" srcId="{3A6893E5-8EAA-4F79-85B3-A1FB4EBB8437}" destId="{4669A105-408A-4CD3-BF90-173FFB9979A0}" srcOrd="2" destOrd="0" presId="urn:microsoft.com/office/officeart/2005/8/layout/orgChart1"/>
    <dgm:cxn modelId="{1EB6AE05-8B03-4F8A-B015-69D0D7B20804}" type="presParOf" srcId="{FD7A500B-6605-4F8B-B438-B2874F909A73}" destId="{FCAA6680-371F-4EE8-8D39-2D75D8F14667}" srcOrd="2" destOrd="0" presId="urn:microsoft.com/office/officeart/2005/8/layout/orgChart1"/>
    <dgm:cxn modelId="{9B0FD3CC-4690-4929-A7B3-EB29C85D79B3}" type="presParOf" srcId="{FD7A500B-6605-4F8B-B438-B2874F909A73}" destId="{54B369AE-29E2-45A2-8E00-591EA67F0ACD}" srcOrd="3" destOrd="0" presId="urn:microsoft.com/office/officeart/2005/8/layout/orgChart1"/>
    <dgm:cxn modelId="{E78C49E8-532F-43D1-9FB9-2CE36E6D1E09}" type="presParOf" srcId="{54B369AE-29E2-45A2-8E00-591EA67F0ACD}" destId="{E2AD2FFC-E9E8-46B8-89CC-AE82F8DB287E}" srcOrd="0" destOrd="0" presId="urn:microsoft.com/office/officeart/2005/8/layout/orgChart1"/>
    <dgm:cxn modelId="{80B1DF74-7D97-459D-A64A-22E537585019}" type="presParOf" srcId="{E2AD2FFC-E9E8-46B8-89CC-AE82F8DB287E}" destId="{AAA7C062-E915-4807-87CA-02311A97C3C7}" srcOrd="0" destOrd="0" presId="urn:microsoft.com/office/officeart/2005/8/layout/orgChart1"/>
    <dgm:cxn modelId="{3C53C5D6-F576-4C29-8C62-F6A2148D33FA}" type="presParOf" srcId="{E2AD2FFC-E9E8-46B8-89CC-AE82F8DB287E}" destId="{E940B5DC-9767-4545-B3F2-2A6388B7376F}" srcOrd="1" destOrd="0" presId="urn:microsoft.com/office/officeart/2005/8/layout/orgChart1"/>
    <dgm:cxn modelId="{CD23F678-FB29-4F4D-A79C-74FA66E11018}" type="presParOf" srcId="{54B369AE-29E2-45A2-8E00-591EA67F0ACD}" destId="{F71DA869-2429-4BAC-BCEC-CDC7C71226B2}" srcOrd="1" destOrd="0" presId="urn:microsoft.com/office/officeart/2005/8/layout/orgChart1"/>
    <dgm:cxn modelId="{462A5EB3-B49C-4E49-81B4-BF2D22C8F1FB}" type="presParOf" srcId="{F71DA869-2429-4BAC-BCEC-CDC7C71226B2}" destId="{E219EB35-BFFB-4CF4-B3E3-50AC2927F585}" srcOrd="0" destOrd="0" presId="urn:microsoft.com/office/officeart/2005/8/layout/orgChart1"/>
    <dgm:cxn modelId="{F092E916-CF5B-4F14-82FD-2266DCD7F99D}" type="presParOf" srcId="{F71DA869-2429-4BAC-BCEC-CDC7C71226B2}" destId="{B36CFA61-F68A-4618-AFF1-4B3EF9DE1CCD}" srcOrd="1" destOrd="0" presId="urn:microsoft.com/office/officeart/2005/8/layout/orgChart1"/>
    <dgm:cxn modelId="{2384551D-8121-45F2-813B-27AA602ACE38}" type="presParOf" srcId="{B36CFA61-F68A-4618-AFF1-4B3EF9DE1CCD}" destId="{CE5EB455-A1F4-400F-BF3C-E442AC516BC4}" srcOrd="0" destOrd="0" presId="urn:microsoft.com/office/officeart/2005/8/layout/orgChart1"/>
    <dgm:cxn modelId="{CAC90670-DA8F-4A41-B1C7-40A9AD9C8A15}" type="presParOf" srcId="{CE5EB455-A1F4-400F-BF3C-E442AC516BC4}" destId="{05C80C2C-D50E-4E5D-8C22-DC40D3065DCE}" srcOrd="0" destOrd="0" presId="urn:microsoft.com/office/officeart/2005/8/layout/orgChart1"/>
    <dgm:cxn modelId="{7A63B319-AD95-413F-B8B3-869314468D40}" type="presParOf" srcId="{CE5EB455-A1F4-400F-BF3C-E442AC516BC4}" destId="{762740AF-EA25-424F-987B-5E2B99DD7DC0}" srcOrd="1" destOrd="0" presId="urn:microsoft.com/office/officeart/2005/8/layout/orgChart1"/>
    <dgm:cxn modelId="{3037314A-8D00-4A28-9A04-8842A3D843F8}" type="presParOf" srcId="{B36CFA61-F68A-4618-AFF1-4B3EF9DE1CCD}" destId="{1B9027C4-8892-4CCE-83AA-01699F3FC63A}" srcOrd="1" destOrd="0" presId="urn:microsoft.com/office/officeart/2005/8/layout/orgChart1"/>
    <dgm:cxn modelId="{AEB7B388-C33C-4D98-9181-D2352A71DB46}" type="presParOf" srcId="{B36CFA61-F68A-4618-AFF1-4B3EF9DE1CCD}" destId="{DCDAC8B7-74D0-436E-AD6C-55615131B798}" srcOrd="2" destOrd="0" presId="urn:microsoft.com/office/officeart/2005/8/layout/orgChart1"/>
    <dgm:cxn modelId="{87B60106-DFE3-4573-9A03-3395FBC3CF81}" type="presParOf" srcId="{F71DA869-2429-4BAC-BCEC-CDC7C71226B2}" destId="{0C0C3100-C623-499D-B407-2E4770E737BC}" srcOrd="2" destOrd="0" presId="urn:microsoft.com/office/officeart/2005/8/layout/orgChart1"/>
    <dgm:cxn modelId="{4EA09B1B-D0AA-4BC4-B081-912658B9F70C}" type="presParOf" srcId="{F71DA869-2429-4BAC-BCEC-CDC7C71226B2}" destId="{C57243C4-2CC8-4A7A-A35F-D89775EA5B1A}" srcOrd="3" destOrd="0" presId="urn:microsoft.com/office/officeart/2005/8/layout/orgChart1"/>
    <dgm:cxn modelId="{A1CC5FB7-F003-44ED-8B67-ACD56C0917A1}" type="presParOf" srcId="{C57243C4-2CC8-4A7A-A35F-D89775EA5B1A}" destId="{C7E2A946-730E-4695-ACD8-125BA988DEEE}" srcOrd="0" destOrd="0" presId="urn:microsoft.com/office/officeart/2005/8/layout/orgChart1"/>
    <dgm:cxn modelId="{20DC111F-AC2E-4833-BF63-11CD58AF11CD}" type="presParOf" srcId="{C7E2A946-730E-4695-ACD8-125BA988DEEE}" destId="{9AA1F392-BAF7-4EA8-A88E-7C0F34303388}" srcOrd="0" destOrd="0" presId="urn:microsoft.com/office/officeart/2005/8/layout/orgChart1"/>
    <dgm:cxn modelId="{3425CF51-0FBD-4452-B51D-D84C03AC8153}" type="presParOf" srcId="{C7E2A946-730E-4695-ACD8-125BA988DEEE}" destId="{2F12FD0D-D7C7-4DC3-8056-9905C0F0B965}" srcOrd="1" destOrd="0" presId="urn:microsoft.com/office/officeart/2005/8/layout/orgChart1"/>
    <dgm:cxn modelId="{4A2B8009-856A-4B98-AB0D-E844D5D2C4EC}" type="presParOf" srcId="{C57243C4-2CC8-4A7A-A35F-D89775EA5B1A}" destId="{14330EF4-DB00-46DE-9BEA-EC08EC8F66E5}" srcOrd="1" destOrd="0" presId="urn:microsoft.com/office/officeart/2005/8/layout/orgChart1"/>
    <dgm:cxn modelId="{A1CACC4C-CA05-4701-9ED0-9B9867DC079D}" type="presParOf" srcId="{C57243C4-2CC8-4A7A-A35F-D89775EA5B1A}" destId="{6533EDBD-1A59-4FE7-86E6-94A1B669BD45}" srcOrd="2" destOrd="0" presId="urn:microsoft.com/office/officeart/2005/8/layout/orgChart1"/>
    <dgm:cxn modelId="{85AE559B-F896-4868-8D24-5936E4535FA2}" type="presParOf" srcId="{54B369AE-29E2-45A2-8E00-591EA67F0ACD}" destId="{6D3CB527-ACC0-4732-83AC-6637FA89EA53}" srcOrd="2" destOrd="0" presId="urn:microsoft.com/office/officeart/2005/8/layout/orgChart1"/>
    <dgm:cxn modelId="{B1160980-767C-476A-B8F7-8C7F0E59D42F}" type="presParOf" srcId="{4E55B4D3-514B-4BFE-846F-EFCB1FA51132}" destId="{19052E39-21CA-4934-8F8E-BF03F41D63A2}" srcOrd="2" destOrd="0" presId="urn:microsoft.com/office/officeart/2005/8/layout/orgChart1"/>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5ECE822-A05F-4BDD-8B07-BDD7CA505FAC}">
      <dsp:nvSpPr>
        <dsp:cNvPr id="0" name=""/>
        <dsp:cNvSpPr/>
      </dsp:nvSpPr>
      <dsp:spPr>
        <a:xfrm>
          <a:off x="2008966" y="699014"/>
          <a:ext cx="209226" cy="1631968"/>
        </a:xfrm>
        <a:custGeom>
          <a:avLst/>
          <a:gdLst/>
          <a:ahLst/>
          <a:cxnLst/>
          <a:rect l="0" t="0" r="0" b="0"/>
          <a:pathLst>
            <a:path>
              <a:moveTo>
                <a:pt x="209226" y="0"/>
              </a:moveTo>
              <a:lnTo>
                <a:pt x="209226" y="1631968"/>
              </a:lnTo>
              <a:lnTo>
                <a:pt x="0" y="163196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ACB234-7FA6-4461-8D15-E627CD37A453}">
      <dsp:nvSpPr>
        <dsp:cNvPr id="0" name=""/>
        <dsp:cNvSpPr/>
      </dsp:nvSpPr>
      <dsp:spPr>
        <a:xfrm>
          <a:off x="2008966" y="699014"/>
          <a:ext cx="209226" cy="641628"/>
        </a:xfrm>
        <a:custGeom>
          <a:avLst/>
          <a:gdLst/>
          <a:ahLst/>
          <a:cxnLst/>
          <a:rect l="0" t="0" r="0" b="0"/>
          <a:pathLst>
            <a:path>
              <a:moveTo>
                <a:pt x="209226" y="0"/>
              </a:moveTo>
              <a:lnTo>
                <a:pt x="209226" y="641628"/>
              </a:lnTo>
              <a:lnTo>
                <a:pt x="0" y="6416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AC7000-535B-4969-8C10-61B7AFD76B97}">
      <dsp:nvSpPr>
        <dsp:cNvPr id="0" name=""/>
        <dsp:cNvSpPr/>
      </dsp:nvSpPr>
      <dsp:spPr>
        <a:xfrm>
          <a:off x="962833" y="1592"/>
          <a:ext cx="1394845" cy="697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kern="1200" cap="none" normalizeH="0" baseline="0" smtClean="0">
              <a:ln>
                <a:noFill/>
              </a:ln>
              <a:solidFill>
                <a:schemeClr val="tx1"/>
              </a:solidFill>
              <a:effectLst/>
              <a:latin typeface="Arial" charset="0"/>
            </a:rPr>
            <a:t>Govt. Expenses</a:t>
          </a:r>
        </a:p>
      </dsp:txBody>
      <dsp:txXfrm>
        <a:off x="962833" y="1592"/>
        <a:ext cx="1394845" cy="697422"/>
      </dsp:txXfrm>
    </dsp:sp>
    <dsp:sp modelId="{916E2D6F-1B89-485C-82DF-7D87D1F34CF1}">
      <dsp:nvSpPr>
        <dsp:cNvPr id="0" name=""/>
        <dsp:cNvSpPr/>
      </dsp:nvSpPr>
      <dsp:spPr>
        <a:xfrm>
          <a:off x="614121" y="991932"/>
          <a:ext cx="1394845" cy="697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kern="1200" cap="none" normalizeH="0" baseline="0" smtClean="0">
              <a:ln>
                <a:noFill/>
              </a:ln>
              <a:solidFill>
                <a:schemeClr val="tx1"/>
              </a:solidFill>
              <a:effectLst/>
              <a:latin typeface="Arial" charset="0"/>
            </a:rPr>
            <a:t>Revenue Expenses</a:t>
          </a:r>
        </a:p>
      </dsp:txBody>
      <dsp:txXfrm>
        <a:off x="614121" y="991932"/>
        <a:ext cx="1394845" cy="697422"/>
      </dsp:txXfrm>
    </dsp:sp>
    <dsp:sp modelId="{A29311A7-5DB5-4E20-945B-688D390EC6B9}">
      <dsp:nvSpPr>
        <dsp:cNvPr id="0" name=""/>
        <dsp:cNvSpPr/>
      </dsp:nvSpPr>
      <dsp:spPr>
        <a:xfrm>
          <a:off x="614121" y="1982272"/>
          <a:ext cx="1394845" cy="697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kern="1200" cap="none" normalizeH="0" baseline="0" smtClean="0">
              <a:ln>
                <a:noFill/>
              </a:ln>
              <a:solidFill>
                <a:schemeClr val="tx1"/>
              </a:solidFill>
              <a:effectLst/>
              <a:latin typeface="Arial" charset="0"/>
            </a:rPr>
            <a:t>Capital Expenses</a:t>
          </a:r>
        </a:p>
      </dsp:txBody>
      <dsp:txXfrm>
        <a:off x="614121" y="1982272"/>
        <a:ext cx="1394845" cy="697422"/>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C0C3100-C623-499D-B407-2E4770E737BC}">
      <dsp:nvSpPr>
        <dsp:cNvPr id="0" name=""/>
        <dsp:cNvSpPr/>
      </dsp:nvSpPr>
      <dsp:spPr>
        <a:xfrm>
          <a:off x="1952706" y="2234576"/>
          <a:ext cx="703433" cy="244166"/>
        </a:xfrm>
        <a:custGeom>
          <a:avLst/>
          <a:gdLst/>
          <a:ahLst/>
          <a:cxnLst/>
          <a:rect l="0" t="0" r="0" b="0"/>
          <a:pathLst>
            <a:path>
              <a:moveTo>
                <a:pt x="0" y="0"/>
              </a:moveTo>
              <a:lnTo>
                <a:pt x="0" y="122083"/>
              </a:lnTo>
              <a:lnTo>
                <a:pt x="703433" y="122083"/>
              </a:lnTo>
              <a:lnTo>
                <a:pt x="703433" y="24416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19EB35-BFFB-4CF4-B3E3-50AC2927F585}">
      <dsp:nvSpPr>
        <dsp:cNvPr id="0" name=""/>
        <dsp:cNvSpPr/>
      </dsp:nvSpPr>
      <dsp:spPr>
        <a:xfrm>
          <a:off x="1249273" y="2234576"/>
          <a:ext cx="703433" cy="244166"/>
        </a:xfrm>
        <a:custGeom>
          <a:avLst/>
          <a:gdLst/>
          <a:ahLst/>
          <a:cxnLst/>
          <a:rect l="0" t="0" r="0" b="0"/>
          <a:pathLst>
            <a:path>
              <a:moveTo>
                <a:pt x="703433" y="0"/>
              </a:moveTo>
              <a:lnTo>
                <a:pt x="703433" y="122083"/>
              </a:lnTo>
              <a:lnTo>
                <a:pt x="0" y="122083"/>
              </a:lnTo>
              <a:lnTo>
                <a:pt x="0" y="24416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AA6680-371F-4EE8-8D39-2D75D8F14667}">
      <dsp:nvSpPr>
        <dsp:cNvPr id="0" name=""/>
        <dsp:cNvSpPr/>
      </dsp:nvSpPr>
      <dsp:spPr>
        <a:xfrm>
          <a:off x="493518" y="583543"/>
          <a:ext cx="877838" cy="1360358"/>
        </a:xfrm>
        <a:custGeom>
          <a:avLst/>
          <a:gdLst/>
          <a:ahLst/>
          <a:cxnLst/>
          <a:rect l="0" t="0" r="0" b="0"/>
          <a:pathLst>
            <a:path>
              <a:moveTo>
                <a:pt x="0" y="0"/>
              </a:moveTo>
              <a:lnTo>
                <a:pt x="0" y="1360358"/>
              </a:lnTo>
              <a:lnTo>
                <a:pt x="877838" y="13603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B2AD67-832A-4A6B-BE03-71F336046E21}">
      <dsp:nvSpPr>
        <dsp:cNvPr id="0" name=""/>
        <dsp:cNvSpPr/>
      </dsp:nvSpPr>
      <dsp:spPr>
        <a:xfrm>
          <a:off x="493518" y="583543"/>
          <a:ext cx="174404" cy="534841"/>
        </a:xfrm>
        <a:custGeom>
          <a:avLst/>
          <a:gdLst/>
          <a:ahLst/>
          <a:cxnLst/>
          <a:rect l="0" t="0" r="0" b="0"/>
          <a:pathLst>
            <a:path>
              <a:moveTo>
                <a:pt x="0" y="0"/>
              </a:moveTo>
              <a:lnTo>
                <a:pt x="0" y="534841"/>
              </a:lnTo>
              <a:lnTo>
                <a:pt x="174404" y="53484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2173CC-8C38-4C8C-BFA7-CB123A055393}">
      <dsp:nvSpPr>
        <dsp:cNvPr id="0" name=""/>
        <dsp:cNvSpPr/>
      </dsp:nvSpPr>
      <dsp:spPr>
        <a:xfrm>
          <a:off x="377248" y="2193"/>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Govt. Receipts</a:t>
          </a:r>
        </a:p>
      </dsp:txBody>
      <dsp:txXfrm>
        <a:off x="377248" y="2193"/>
        <a:ext cx="1162699" cy="581349"/>
      </dsp:txXfrm>
    </dsp:sp>
    <dsp:sp modelId="{0DA1F44B-2775-4500-8B85-666A2B4DC7EC}">
      <dsp:nvSpPr>
        <dsp:cNvPr id="0" name=""/>
        <dsp:cNvSpPr/>
      </dsp:nvSpPr>
      <dsp:spPr>
        <a:xfrm>
          <a:off x="667923" y="827710"/>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smtClean="0">
              <a:ln>
                <a:noFill/>
              </a:ln>
              <a:solidFill>
                <a:schemeClr val="tx1"/>
              </a:solidFill>
              <a:effectLst/>
              <a:latin typeface="Arial" charset="0"/>
            </a:rPr>
            <a:t>Tax Sources</a:t>
          </a:r>
        </a:p>
      </dsp:txBody>
      <dsp:txXfrm>
        <a:off x="667923" y="827710"/>
        <a:ext cx="1162699" cy="581349"/>
      </dsp:txXfrm>
    </dsp:sp>
    <dsp:sp modelId="{AAA7C062-E915-4807-87CA-02311A97C3C7}">
      <dsp:nvSpPr>
        <dsp:cNvPr id="0" name=""/>
        <dsp:cNvSpPr/>
      </dsp:nvSpPr>
      <dsp:spPr>
        <a:xfrm>
          <a:off x="1371356" y="1653226"/>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Non-tax Sources</a:t>
          </a:r>
        </a:p>
      </dsp:txBody>
      <dsp:txXfrm>
        <a:off x="1371356" y="1653226"/>
        <a:ext cx="1162699" cy="581349"/>
      </dsp:txXfrm>
    </dsp:sp>
    <dsp:sp modelId="{05C80C2C-D50E-4E5D-8C22-DC40D3065DCE}">
      <dsp:nvSpPr>
        <dsp:cNvPr id="0" name=""/>
        <dsp:cNvSpPr/>
      </dsp:nvSpPr>
      <dsp:spPr>
        <a:xfrm>
          <a:off x="667923" y="2478743"/>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Revenue Receipts</a:t>
          </a:r>
        </a:p>
      </dsp:txBody>
      <dsp:txXfrm>
        <a:off x="667923" y="2478743"/>
        <a:ext cx="1162699" cy="581349"/>
      </dsp:txXfrm>
    </dsp:sp>
    <dsp:sp modelId="{9AA1F392-BAF7-4EA8-A88E-7C0F34303388}">
      <dsp:nvSpPr>
        <dsp:cNvPr id="0" name=""/>
        <dsp:cNvSpPr/>
      </dsp:nvSpPr>
      <dsp:spPr>
        <a:xfrm>
          <a:off x="2074789" y="2478743"/>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Capital Receipts</a:t>
          </a:r>
        </a:p>
      </dsp:txBody>
      <dsp:txXfrm>
        <a:off x="2074789" y="2478743"/>
        <a:ext cx="1162699" cy="58134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9/22/2014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9/22/2014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9/22/2014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9/22/2014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9/22/2014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FISCAL &amp; REVENUE DEFICITS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3" name="Rectangle 2"/>
          <p:cNvSpPr/>
          <p:nvPr/>
        </p:nvSpPr>
        <p:spPr>
          <a:xfrm>
            <a:off x="714348" y="2919411"/>
            <a:ext cx="7386044" cy="2169825"/>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 is that good or bad?</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does Fiscal Deficit mean in this context?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And how is it different from Revenue Deficit?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Let  me explain these concepts to you in the next few slides…</a:t>
            </a:r>
          </a:p>
        </p:txBody>
      </p:sp>
      <p:sp>
        <p:nvSpPr>
          <p:cNvPr id="6" name="Oval 5"/>
          <p:cNvSpPr/>
          <p:nvPr/>
        </p:nvSpPr>
        <p:spPr>
          <a:xfrm>
            <a:off x="899592" y="980729"/>
            <a:ext cx="6840760" cy="1728192"/>
          </a:xfrm>
          <a:prstGeom prst="ellipse">
            <a:avLst/>
          </a:prstGeom>
          <a:solidFill>
            <a:schemeClr val="accent1">
              <a:lumMod val="20000"/>
              <a:lumOff val="80000"/>
            </a:schemeClr>
          </a:solidFill>
          <a:ln>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979712" y="1154068"/>
            <a:ext cx="5040560" cy="1338828"/>
          </a:xfrm>
          <a:prstGeom prst="rect">
            <a:avLst/>
          </a:prstGeom>
        </p:spPr>
        <p:txBody>
          <a:bodyPr wrap="square">
            <a:spAutoFit/>
          </a:bodyPr>
          <a:lstStyle/>
          <a:p>
            <a:pPr>
              <a:lnSpc>
                <a:spcPct val="150000"/>
              </a:lnSpc>
            </a:pPr>
            <a:r>
              <a:rPr lang="en-US" b="1" dirty="0">
                <a:latin typeface="Arial" pitchFamily="34" charset="0"/>
                <a:cs typeface="Arial" pitchFamily="34" charset="0"/>
              </a:rPr>
              <a:t>The Finance Minister announced a 4.8 per cent revenue deficit and 6.8 per cent fiscal deficit in the Union Budget this week!</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907704" y="1988840"/>
            <a:ext cx="2232248" cy="923330"/>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First of </a:t>
            </a:r>
            <a:r>
              <a:rPr lang="en-US" b="1" dirty="0" smtClean="0">
                <a:latin typeface="Arial" pitchFamily="34" charset="0"/>
                <a:cs typeface="Arial" pitchFamily="34" charset="0"/>
              </a:rPr>
              <a:t>all,</a:t>
            </a:r>
            <a:br>
              <a:rPr lang="en-US" b="1" dirty="0" smtClean="0">
                <a:latin typeface="Arial" pitchFamily="34" charset="0"/>
                <a:cs typeface="Arial" pitchFamily="34" charset="0"/>
              </a:rPr>
            </a:br>
            <a:r>
              <a:rPr lang="en-US" b="1" dirty="0" smtClean="0">
                <a:latin typeface="Arial" pitchFamily="34" charset="0"/>
                <a:cs typeface="Arial" pitchFamily="34" charset="0"/>
              </a:rPr>
              <a:t>what </a:t>
            </a:r>
            <a:r>
              <a:rPr lang="en-US" b="1" dirty="0">
                <a:latin typeface="Arial" pitchFamily="34" charset="0"/>
                <a:cs typeface="Arial" pitchFamily="34" charset="0"/>
              </a:rPr>
              <a:t>is a Deficit?</a:t>
            </a: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578063" y="3140968"/>
            <a:ext cx="3882369" cy="31393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i="1" dirty="0">
                <a:latin typeface="Arial" pitchFamily="34" charset="0"/>
                <a:cs typeface="Arial" pitchFamily="34" charset="0"/>
              </a:rPr>
              <a:t>Simply</a:t>
            </a:r>
            <a:r>
              <a:rPr lang="en-US" b="1" dirty="0">
                <a:latin typeface="Arial" pitchFamily="34" charset="0"/>
                <a:cs typeface="Arial" pitchFamily="34" charset="0"/>
              </a:rPr>
              <a:t> put, a budget deficit occurs when an entity (often a government) spends more money than it takes in.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opposite of a budget deficit, on the other hand, is a budget surplus.</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extLst>
      <p:ext uri="{BB962C8B-B14F-4D97-AF65-F5344CB8AC3E}">
        <p14:creationId xmlns="" xmlns:p14="http://schemas.microsoft.com/office/powerpoint/2010/main" val="1198146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03648" y="1700808"/>
            <a:ext cx="3456384" cy="1338828"/>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Explaining</a:t>
            </a:r>
            <a:br>
              <a:rPr lang="en-US" b="1" dirty="0" smtClean="0">
                <a:latin typeface="Arial" pitchFamily="34" charset="0"/>
                <a:cs typeface="Arial" pitchFamily="34" charset="0"/>
              </a:rPr>
            </a:br>
            <a:r>
              <a:rPr lang="en-US" b="1" dirty="0" smtClean="0">
                <a:latin typeface="Arial" pitchFamily="34" charset="0"/>
                <a:cs typeface="Arial" pitchFamily="34" charset="0"/>
              </a:rPr>
              <a:t>Fiscal &amp; Revenue </a:t>
            </a:r>
            <a:r>
              <a:rPr lang="en-US" b="1" dirty="0">
                <a:latin typeface="Arial" pitchFamily="34" charset="0"/>
                <a:cs typeface="Arial" pitchFamily="34" charset="0"/>
              </a:rPr>
              <a:t>Deficits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p>
        </p:txBody>
      </p:sp>
    </p:spTree>
    <p:extLst>
      <p:ext uri="{BB962C8B-B14F-4D97-AF65-F5344CB8AC3E}">
        <p14:creationId xmlns="" xmlns:p14="http://schemas.microsoft.com/office/powerpoint/2010/main" val="6821185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572000" y="1196752"/>
            <a:ext cx="3888432" cy="5027017"/>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we look at the Union Budget &amp; our own household domestic budget, then we see a lot of similarities between them.</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way we grow our incomes, keep expenses in check and build appreciating assets will define our success as wealth creating households &amp; countries.</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extLst>
      <p:ext uri="{BB962C8B-B14F-4D97-AF65-F5344CB8AC3E}">
        <p14:creationId xmlns="" xmlns:p14="http://schemas.microsoft.com/office/powerpoint/2010/main" val="7779845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6950481"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The government budgets are not very different either!</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717728" y="1844824"/>
            <a:ext cx="7382663" cy="2534027"/>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household income, in the form of salaries or business income, is similar to tax revenues for the government.</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Both the government and a household will spend on current consumption like electricity &amp; telephone payments and to build assets like building a bridge or a house respectively. </a:t>
            </a:r>
          </a:p>
        </p:txBody>
      </p:sp>
    </p:spTree>
    <p:extLst>
      <p:ext uri="{BB962C8B-B14F-4D97-AF65-F5344CB8AC3E}">
        <p14:creationId xmlns="" xmlns:p14="http://schemas.microsoft.com/office/powerpoint/2010/main" val="3417281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7382529"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But what happens if there is any mismatch between the two? </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789870" y="1772816"/>
            <a:ext cx="7526546" cy="3462486"/>
          </a:xfrm>
          <a:prstGeom prst="rect">
            <a:avLst/>
          </a:prstGeom>
        </p:spPr>
        <p:txBody>
          <a:bodyPr wrap="square">
            <a:spAutoFit/>
          </a:bodyPr>
          <a:lstStyle/>
          <a:p>
            <a:pPr marL="609600" indent="-609600">
              <a:lnSpc>
                <a:spcPct val="150000"/>
              </a:lnSpc>
              <a:buFontTx/>
              <a:buAutoNum type="alphaLcParenR"/>
            </a:pPr>
            <a:r>
              <a:rPr lang="en-US" b="1" dirty="0">
                <a:latin typeface="Arial" pitchFamily="34" charset="0"/>
                <a:cs typeface="Arial" pitchFamily="34" charset="0"/>
              </a:rPr>
              <a:t>It leads the household to the bank to borrow money to bridge the income-expenditure gap. </a:t>
            </a:r>
          </a:p>
          <a:p>
            <a:pPr marL="609600" indent="-609600">
              <a:lnSpc>
                <a:spcPct val="150000"/>
              </a:lnSpc>
              <a:buFontTx/>
              <a:buAutoNum type="alphaLcParenR"/>
            </a:pPr>
            <a:endParaRPr lang="en-US" sz="1000" b="1" dirty="0">
              <a:latin typeface="Arial" pitchFamily="34" charset="0"/>
              <a:cs typeface="Arial" pitchFamily="34" charset="0"/>
            </a:endParaRPr>
          </a:p>
          <a:p>
            <a:pPr marL="609600" indent="-609600">
              <a:lnSpc>
                <a:spcPct val="150000"/>
              </a:lnSpc>
              <a:buFontTx/>
              <a:buAutoNum type="alphaLcParenR"/>
            </a:pPr>
            <a:r>
              <a:rPr lang="en-US" b="1" dirty="0">
                <a:latin typeface="Arial" pitchFamily="34" charset="0"/>
                <a:cs typeface="Arial" pitchFamily="34" charset="0"/>
              </a:rPr>
              <a:t>It leads the government to borrow, print more notes or/and sell some part of their state assets to private companies to bridge this gap. </a:t>
            </a:r>
          </a:p>
          <a:p>
            <a:pPr marL="609600" indent="-609600">
              <a:lnSpc>
                <a:spcPct val="150000"/>
              </a:lnSpc>
              <a:buFontTx/>
              <a:buAutoNum type="alphaLcParenR"/>
            </a:pPr>
            <a:endParaRPr lang="en-US" sz="1000" b="1" dirty="0">
              <a:latin typeface="Arial" pitchFamily="34" charset="0"/>
              <a:cs typeface="Arial" pitchFamily="34" charset="0"/>
            </a:endParaRPr>
          </a:p>
          <a:p>
            <a:pPr marL="609600" indent="-609600">
              <a:lnSpc>
                <a:spcPct val="150000"/>
              </a:lnSpc>
              <a:buFontTx/>
              <a:buNone/>
            </a:pPr>
            <a:r>
              <a:rPr lang="en-US" b="1" dirty="0">
                <a:latin typeface="Arial" pitchFamily="34" charset="0"/>
                <a:cs typeface="Arial" pitchFamily="34" charset="0"/>
              </a:rPr>
              <a:t>	This is what the much-talked about ‘deficit’ is all about. Deficits in public finance include revenue and fiscal deficits.</a:t>
            </a:r>
          </a:p>
        </p:txBody>
      </p:sp>
    </p:spTree>
    <p:extLst>
      <p:ext uri="{BB962C8B-B14F-4D97-AF65-F5344CB8AC3E}">
        <p14:creationId xmlns="" xmlns:p14="http://schemas.microsoft.com/office/powerpoint/2010/main" val="4978909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419872" y="1772816"/>
            <a:ext cx="3024336" cy="507831"/>
          </a:xfrm>
          <a:prstGeom prst="rect">
            <a:avLst/>
          </a:prstGeom>
        </p:spPr>
        <p:txBody>
          <a:bodyPr wrap="square">
            <a:spAutoFit/>
          </a:bodyPr>
          <a:lstStyle/>
          <a:p>
            <a:pPr>
              <a:lnSpc>
                <a:spcPct val="150000"/>
              </a:lnSpc>
            </a:pPr>
            <a:r>
              <a:rPr lang="en-US" b="1" dirty="0">
                <a:latin typeface="Arial" pitchFamily="34" charset="0"/>
                <a:cs typeface="Arial" pitchFamily="34" charset="0"/>
              </a:rPr>
              <a:t>But what is Fiscal Deficit?</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7166505" cy="3028521"/>
          </a:xfrm>
          <a:prstGeom prst="rect">
            <a:avLst/>
          </a:prstGeom>
        </p:spPr>
        <p:txBody>
          <a:bodyPr wrap="square">
            <a:spAutoFit/>
          </a:bodyPr>
          <a:lstStyle/>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In developing countries such as ours, the expenses </a:t>
            </a:r>
            <a:r>
              <a:rPr lang="en-US" b="1" dirty="0" smtClean="0">
                <a:latin typeface="Arial" pitchFamily="34" charset="0"/>
                <a:cs typeface="Arial" pitchFamily="34" charset="0"/>
              </a:rPr>
              <a:t>that</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Government incurs are usually more than the </a:t>
            </a:r>
            <a:r>
              <a:rPr lang="en-US" b="1" dirty="0" smtClean="0">
                <a:latin typeface="Arial" pitchFamily="34" charset="0"/>
                <a:cs typeface="Arial" pitchFamily="34" charset="0"/>
              </a:rPr>
              <a:t>income</a:t>
            </a:r>
            <a:br>
              <a:rPr lang="en-US" b="1" dirty="0" smtClean="0">
                <a:latin typeface="Arial" pitchFamily="34" charset="0"/>
                <a:cs typeface="Arial" pitchFamily="34" charset="0"/>
              </a:rPr>
            </a:br>
            <a:r>
              <a:rPr lang="en-US" b="1" dirty="0" smtClean="0">
                <a:latin typeface="Arial" pitchFamily="34" charset="0"/>
                <a:cs typeface="Arial" pitchFamily="34" charset="0"/>
              </a:rPr>
              <a:t>it </a:t>
            </a:r>
            <a:r>
              <a:rPr lang="en-US" b="1" dirty="0">
                <a:latin typeface="Arial" pitchFamily="34" charset="0"/>
                <a:cs typeface="Arial" pitchFamily="34" charset="0"/>
              </a:rPr>
              <a:t>makes. The difference or gap between the two is called a Fiscal Deficit.</a:t>
            </a:r>
          </a:p>
          <a:p>
            <a:pPr marL="465138" indent="-465138">
              <a:lnSpc>
                <a:spcPct val="150000"/>
              </a:lnSpc>
              <a:spcBef>
                <a:spcPct val="20000"/>
              </a:spcBef>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Thus, the Fiscal Deficit is:</a:t>
            </a:r>
          </a:p>
          <a:p>
            <a:pPr>
              <a:spcBef>
                <a:spcPct val="20000"/>
              </a:spcBef>
              <a:tabLst>
                <a:tab pos="465138" algn="l"/>
              </a:tabLst>
            </a:pPr>
            <a:r>
              <a:rPr lang="en-US" b="1" dirty="0" smtClean="0">
                <a:latin typeface="Arial" pitchFamily="34" charset="0"/>
                <a:cs typeface="Arial" pitchFamily="34" charset="0"/>
              </a:rPr>
              <a:t>	Govt</a:t>
            </a:r>
            <a:r>
              <a:rPr lang="en-US" b="1" dirty="0">
                <a:latin typeface="Arial" pitchFamily="34" charset="0"/>
                <a:cs typeface="Arial" pitchFamily="34" charset="0"/>
              </a:rPr>
              <a:t>.'s total expenses – Govt.’s total receipts</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extLst>
      <p:ext uri="{BB962C8B-B14F-4D97-AF65-F5344CB8AC3E}">
        <p14:creationId xmlns="" xmlns:p14="http://schemas.microsoft.com/office/powerpoint/2010/main" val="33444788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7166505" cy="464871"/>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So what are the types of </a:t>
            </a:r>
            <a:r>
              <a:rPr lang="en-US" b="1" dirty="0" smtClean="0">
                <a:latin typeface="Arial" pitchFamily="34" charset="0"/>
                <a:cs typeface="Arial" pitchFamily="34" charset="0"/>
              </a:rPr>
              <a:t>Govt</a:t>
            </a:r>
            <a:r>
              <a:rPr lang="en-US" b="1" dirty="0">
                <a:latin typeface="Arial" pitchFamily="34" charset="0"/>
                <a:cs typeface="Arial" pitchFamily="34" charset="0"/>
              </a:rPr>
              <a:t>. expenses?</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763524" y="1844824"/>
            <a:ext cx="7408876"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Revenue expenses: Revenue expenses are the day-to-day expenses:</a:t>
            </a:r>
          </a:p>
          <a:p>
            <a:pPr marL="914400" lvl="1" indent="-914400">
              <a:lnSpc>
                <a:spcPct val="150000"/>
              </a:lnSpc>
              <a:tabLst>
                <a:tab pos="465138" algn="l"/>
                <a:tab pos="914400" algn="l"/>
              </a:tabLst>
            </a:pPr>
            <a:r>
              <a:rPr lang="en-US" b="1" dirty="0" smtClean="0">
                <a:latin typeface="Arial" pitchFamily="34" charset="0"/>
                <a:cs typeface="Arial" pitchFamily="34" charset="0"/>
              </a:rPr>
              <a:t>	-	salaries </a:t>
            </a:r>
            <a:r>
              <a:rPr lang="en-US" b="1" dirty="0">
                <a:latin typeface="Arial" pitchFamily="34" charset="0"/>
                <a:cs typeface="Arial" pitchFamily="34" charset="0"/>
              </a:rPr>
              <a:t>payable to the government employees</a:t>
            </a:r>
          </a:p>
          <a:p>
            <a:pPr marL="914400" lvl="1" indent="-914400">
              <a:lnSpc>
                <a:spcPct val="150000"/>
              </a:lnSpc>
              <a:tabLst>
                <a:tab pos="465138" algn="l"/>
                <a:tab pos="914400" algn="l"/>
              </a:tabLst>
            </a:pPr>
            <a:r>
              <a:rPr lang="en-US" b="1" dirty="0" smtClean="0">
                <a:latin typeface="Arial" pitchFamily="34" charset="0"/>
                <a:cs typeface="Arial" pitchFamily="34" charset="0"/>
              </a:rPr>
              <a:t>	-	the </a:t>
            </a:r>
            <a:r>
              <a:rPr lang="en-US" b="1" dirty="0">
                <a:latin typeface="Arial" pitchFamily="34" charset="0"/>
                <a:cs typeface="Arial" pitchFamily="34" charset="0"/>
              </a:rPr>
              <a:t>expenses incurred in running various government departments, and so on</a:t>
            </a:r>
          </a:p>
          <a:p>
            <a:pPr>
              <a:lnSpc>
                <a:spcPct val="150000"/>
              </a:lnSpc>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Capital expenses: Capital expenses include what is incurred for creating assets and improving infrastructure.</a:t>
            </a:r>
          </a:p>
        </p:txBody>
      </p:sp>
    </p:spTree>
    <p:extLst>
      <p:ext uri="{BB962C8B-B14F-4D97-AF65-F5344CB8AC3E}">
        <p14:creationId xmlns="" xmlns:p14="http://schemas.microsoft.com/office/powerpoint/2010/main" val="20871124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1124744"/>
            <a:ext cx="7128792" cy="464871"/>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And what are the types of </a:t>
            </a:r>
            <a:r>
              <a:rPr lang="en-US" b="1" dirty="0" smtClean="0">
                <a:latin typeface="Arial" pitchFamily="34" charset="0"/>
                <a:cs typeface="Arial" pitchFamily="34" charset="0"/>
              </a:rPr>
              <a:t>Govt</a:t>
            </a:r>
            <a:r>
              <a:rPr lang="en-US" b="1" dirty="0">
                <a:latin typeface="Arial" pitchFamily="34" charset="0"/>
                <a:cs typeface="Arial" pitchFamily="34" charset="0"/>
              </a:rPr>
              <a:t>. receipts?</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827584" y="1772816"/>
            <a:ext cx="7128792"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Revenue Receipts: Revenue receipts consist of tax collected by the government and other receipts consisting of interest and dividend on investments made by Govt., fees and other receipts for services rendered by Govt.</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Capital Receipts: Capital Receipts include Recoveries of Loans and disinvestment of Govt.’s equity holdings in Public enterprises, etc. </a:t>
            </a:r>
          </a:p>
        </p:txBody>
      </p:sp>
    </p:spTree>
    <p:extLst>
      <p:ext uri="{BB962C8B-B14F-4D97-AF65-F5344CB8AC3E}">
        <p14:creationId xmlns="" xmlns:p14="http://schemas.microsoft.com/office/powerpoint/2010/main" val="14723793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980728"/>
            <a:ext cx="7128792" cy="464871"/>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Now…</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714348" y="1484784"/>
            <a:ext cx="7386044"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Many of us think that borrowing of any kind is bad, but that is not always the case. </a:t>
            </a:r>
            <a:r>
              <a:rPr lang="en-US" b="1" dirty="0" smtClean="0">
                <a:latin typeface="Arial" pitchFamily="34" charset="0"/>
                <a:cs typeface="Arial" pitchFamily="34" charset="0"/>
              </a:rPr>
              <a:t>How</a:t>
            </a:r>
            <a:r>
              <a:rPr lang="en-US" b="1" dirty="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When you borrow money to buy a house, you are investing in an asset which has the potential to grow substantially in the future.</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Similarly, </a:t>
            </a:r>
            <a:r>
              <a:rPr lang="en-US" b="1" dirty="0">
                <a:latin typeface="Arial" pitchFamily="34" charset="0"/>
                <a:cs typeface="Arial" pitchFamily="34" charset="0"/>
              </a:rPr>
              <a:t>if the government borrows to build capital goods for the country like infrastructure, this borrowing can be termed as “good” borrowing.</a:t>
            </a:r>
          </a:p>
        </p:txBody>
      </p:sp>
    </p:spTree>
    <p:extLst>
      <p:ext uri="{BB962C8B-B14F-4D97-AF65-F5344CB8AC3E}">
        <p14:creationId xmlns="" xmlns:p14="http://schemas.microsoft.com/office/powerpoint/2010/main" val="37469075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915816" y="1052736"/>
            <a:ext cx="4032448" cy="1938992"/>
          </a:xfrm>
          <a:prstGeom prst="rect">
            <a:avLst/>
          </a:prstGeom>
        </p:spPr>
        <p:txBody>
          <a:bodyPr wrap="square">
            <a:spAutoFit/>
          </a:bodyPr>
          <a:lstStyle/>
          <a:p>
            <a:pPr>
              <a:lnSpc>
                <a:spcPct val="150000"/>
              </a:lnSpc>
            </a:pPr>
            <a:r>
              <a:rPr lang="en-US" sz="1600" b="1" dirty="0">
                <a:latin typeface="Arial" pitchFamily="34" charset="0"/>
                <a:cs typeface="Arial" pitchFamily="34" charset="0"/>
              </a:rPr>
              <a:t>But the problem is about the “bad” borrowing which is when you borrow to pay for your current liabilities like </a:t>
            </a:r>
            <a:r>
              <a:rPr lang="en-US" sz="1600" b="1" dirty="0" smtClean="0">
                <a:latin typeface="Arial" pitchFamily="34" charset="0"/>
                <a:cs typeface="Arial" pitchFamily="34" charset="0"/>
              </a:rPr>
              <a:t>your </a:t>
            </a:r>
            <a:r>
              <a:rPr lang="en-US" sz="1600" b="1" dirty="0">
                <a:latin typeface="Arial" pitchFamily="34" charset="0"/>
                <a:cs typeface="Arial" pitchFamily="34" charset="0"/>
              </a:rPr>
              <a:t>food bill, telephone bill, etc. through credit cards or personal loans</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extLst>
      <p:ext uri="{BB962C8B-B14F-4D97-AF65-F5344CB8AC3E}">
        <p14:creationId xmlns="" xmlns:p14="http://schemas.microsoft.com/office/powerpoint/2010/main" val="20671944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980728"/>
            <a:ext cx="7272808" cy="31393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Similarly, if the government borrows to pay for current expenses like salaries of its employees, it is an indication that the government is not managing its finances prudently. This type of deficit or gap is called the Revenue Deficit.</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Thus, the Revenue Deficit is:</a:t>
            </a:r>
          </a:p>
          <a:p>
            <a:pPr>
              <a:tabLst>
                <a:tab pos="465138" algn="l"/>
              </a:tabLst>
            </a:pPr>
            <a:endParaRPr lang="en-US" b="1" dirty="0" smtClean="0">
              <a:latin typeface="Arial" pitchFamily="34" charset="0"/>
              <a:cs typeface="Arial" pitchFamily="34" charset="0"/>
            </a:endParaRPr>
          </a:p>
          <a:p>
            <a:pPr>
              <a:tabLst>
                <a:tab pos="465138" algn="l"/>
              </a:tabLst>
            </a:pPr>
            <a:r>
              <a:rPr lang="en-US" b="1" dirty="0" smtClean="0">
                <a:latin typeface="Arial" pitchFamily="34" charset="0"/>
                <a:cs typeface="Arial" pitchFamily="34" charset="0"/>
              </a:rPr>
              <a:t>	Revenue </a:t>
            </a:r>
            <a:r>
              <a:rPr lang="en-US" b="1" dirty="0">
                <a:latin typeface="Arial" pitchFamily="34" charset="0"/>
                <a:cs typeface="Arial" pitchFamily="34" charset="0"/>
              </a:rPr>
              <a:t>Expenses – Revenue Receipts 	</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extLst>
      <p:ext uri="{BB962C8B-B14F-4D97-AF65-F5344CB8AC3E}">
        <p14:creationId xmlns="" xmlns:p14="http://schemas.microsoft.com/office/powerpoint/2010/main" val="16975926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3775293"/>
            <a:ext cx="4536504" cy="253402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However</a:t>
            </a:r>
            <a:r>
              <a:rPr lang="en-US" b="1" dirty="0">
                <a:latin typeface="Arial" pitchFamily="34" charset="0"/>
                <a:cs typeface="Arial" pitchFamily="34" charset="0"/>
              </a:rPr>
              <a:t>, in times of economic slowdown the government may need to borrow and put money in the hands of its citizens to revive the consumption cycle. This is something which may not apply to the home budget.</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734865"/>
            <a:ext cx="7560840" cy="4790479"/>
          </a:xfrm>
          <a:prstGeom prst="rect">
            <a:avLst/>
          </a:prstGeom>
          <a:solidFill>
            <a:srgbClr val="92D050"/>
          </a:solidFill>
          <a:ln>
            <a:solidFill>
              <a:srgbClr val="FFFF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27584" y="1093717"/>
            <a:ext cx="7272808" cy="463075"/>
          </a:xfrm>
          <a:prstGeom prst="rect">
            <a:avLst/>
          </a:prstGeom>
        </p:spPr>
        <p:txBody>
          <a:bodyPr wrap="square">
            <a:spAutoFit/>
          </a:bodyPr>
          <a:lstStyle/>
          <a:p>
            <a:pPr algn="ctr">
              <a:lnSpc>
                <a:spcPct val="150000"/>
              </a:lnSpc>
              <a:tabLst>
                <a:tab pos="465138" algn="l"/>
              </a:tabLst>
            </a:pPr>
            <a:r>
              <a:rPr lang="en-US" b="1" dirty="0">
                <a:latin typeface="Arial" pitchFamily="34" charset="0"/>
                <a:cs typeface="Arial" pitchFamily="34" charset="0"/>
              </a:rPr>
              <a:t>Confused</a:t>
            </a:r>
            <a:r>
              <a:rPr lang="en-US" b="1" dirty="0" smtClean="0">
                <a:latin typeface="Arial" pitchFamily="34" charset="0"/>
                <a:cs typeface="Arial" pitchFamily="34" charset="0"/>
              </a:rPr>
              <a:t>?! Look </a:t>
            </a:r>
            <a:r>
              <a:rPr lang="en-US" b="1" dirty="0">
                <a:latin typeface="Arial" pitchFamily="34" charset="0"/>
                <a:cs typeface="Arial" pitchFamily="34" charset="0"/>
              </a:rPr>
              <a:t>at the graph below…</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graphicFrame>
        <p:nvGraphicFramePr>
          <p:cNvPr id="12" name="Diagram 11"/>
          <p:cNvGraphicFramePr/>
          <p:nvPr/>
        </p:nvGraphicFramePr>
        <p:xfrm>
          <a:off x="1043608" y="1844824"/>
          <a:ext cx="2971800" cy="2681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3" name="Diagram 12"/>
          <p:cNvGraphicFramePr/>
          <p:nvPr/>
        </p:nvGraphicFramePr>
        <p:xfrm>
          <a:off x="4572000" y="1734865"/>
          <a:ext cx="3614738" cy="306228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Rectangle 6"/>
          <p:cNvSpPr/>
          <p:nvPr/>
        </p:nvSpPr>
        <p:spPr>
          <a:xfrm>
            <a:off x="1169574" y="4869160"/>
            <a:ext cx="1975862" cy="456535"/>
          </a:xfrm>
          <a:prstGeom prst="rect">
            <a:avLst/>
          </a:prstGeom>
        </p:spPr>
        <p:txBody>
          <a:bodyPr wrap="none">
            <a:spAutoFit/>
          </a:bodyPr>
          <a:lstStyle/>
          <a:p>
            <a:pPr algn="ctr">
              <a:lnSpc>
                <a:spcPct val="150000"/>
              </a:lnSpc>
              <a:spcBef>
                <a:spcPct val="50000"/>
              </a:spcBef>
            </a:pPr>
            <a:r>
              <a:rPr lang="en-US" b="1" u="sng" dirty="0" smtClean="0">
                <a:solidFill>
                  <a:schemeClr val="bg1"/>
                </a:solidFill>
                <a:latin typeface="Arial" pitchFamily="34" charset="0"/>
                <a:cs typeface="Arial" pitchFamily="34" charset="0"/>
              </a:rPr>
              <a:t>FISCAL DEFICIT</a:t>
            </a:r>
            <a:endParaRPr lang="en-US" b="1" u="sng" dirty="0">
              <a:solidFill>
                <a:schemeClr val="bg1"/>
              </a:solidFill>
              <a:latin typeface="Arial" pitchFamily="34" charset="0"/>
              <a:cs typeface="Arial" pitchFamily="34" charset="0"/>
            </a:endParaRPr>
          </a:p>
        </p:txBody>
      </p:sp>
      <p:sp>
        <p:nvSpPr>
          <p:cNvPr id="9" name="Rectangle 8"/>
          <p:cNvSpPr/>
          <p:nvPr/>
        </p:nvSpPr>
        <p:spPr>
          <a:xfrm>
            <a:off x="1171243" y="5374957"/>
            <a:ext cx="2176621" cy="646331"/>
          </a:xfrm>
          <a:prstGeom prst="rect">
            <a:avLst/>
          </a:prstGeom>
        </p:spPr>
        <p:txBody>
          <a:bodyPr wrap="none">
            <a:spAutoFit/>
          </a:bodyPr>
          <a:lstStyle/>
          <a:p>
            <a:pPr>
              <a:spcBef>
                <a:spcPct val="50000"/>
              </a:spcBef>
            </a:pPr>
            <a:r>
              <a:rPr lang="en-US" b="1" dirty="0">
                <a:solidFill>
                  <a:schemeClr val="bg1"/>
                </a:solidFill>
                <a:latin typeface="Arial" pitchFamily="34" charset="0"/>
                <a:cs typeface="Arial" pitchFamily="34" charset="0"/>
              </a:rPr>
              <a:t>Govt.'s </a:t>
            </a:r>
            <a:r>
              <a:rPr lang="en-US" b="1" dirty="0" smtClean="0">
                <a:solidFill>
                  <a:schemeClr val="bg1"/>
                </a:solidFill>
                <a:latin typeface="Arial" pitchFamily="34" charset="0"/>
                <a:cs typeface="Arial" pitchFamily="34" charset="0"/>
              </a:rPr>
              <a:t>Expenses</a:t>
            </a:r>
            <a:br>
              <a:rPr lang="en-US" b="1" dirty="0" smtClean="0">
                <a:solidFill>
                  <a:schemeClr val="bg1"/>
                </a:solidFill>
                <a:latin typeface="Arial" pitchFamily="34" charset="0"/>
                <a:cs typeface="Arial" pitchFamily="34" charset="0"/>
              </a:rPr>
            </a:br>
            <a:r>
              <a:rPr lang="en-US" b="1" dirty="0" smtClean="0">
                <a:solidFill>
                  <a:schemeClr val="bg1"/>
                </a:solidFill>
                <a:latin typeface="Arial" pitchFamily="34" charset="0"/>
                <a:cs typeface="Arial" pitchFamily="34" charset="0"/>
              </a:rPr>
              <a:t>– Govt</a:t>
            </a:r>
            <a:r>
              <a:rPr lang="en-US" b="1" dirty="0">
                <a:solidFill>
                  <a:schemeClr val="bg1"/>
                </a:solidFill>
                <a:latin typeface="Arial" pitchFamily="34" charset="0"/>
                <a:cs typeface="Arial" pitchFamily="34" charset="0"/>
              </a:rPr>
              <a:t>.’s Receipts</a:t>
            </a:r>
          </a:p>
        </p:txBody>
      </p:sp>
      <p:sp>
        <p:nvSpPr>
          <p:cNvPr id="10" name="Rectangle 9"/>
          <p:cNvSpPr/>
          <p:nvPr/>
        </p:nvSpPr>
        <p:spPr>
          <a:xfrm>
            <a:off x="5303594" y="4865385"/>
            <a:ext cx="2262158" cy="507831"/>
          </a:xfrm>
          <a:prstGeom prst="rect">
            <a:avLst/>
          </a:prstGeom>
        </p:spPr>
        <p:txBody>
          <a:bodyPr wrap="none">
            <a:spAutoFit/>
          </a:bodyPr>
          <a:lstStyle/>
          <a:p>
            <a:pPr algn="ctr">
              <a:lnSpc>
                <a:spcPct val="150000"/>
              </a:lnSpc>
              <a:spcBef>
                <a:spcPct val="50000"/>
              </a:spcBef>
            </a:pPr>
            <a:r>
              <a:rPr lang="en-US" b="1" u="sng" dirty="0">
                <a:solidFill>
                  <a:schemeClr val="bg1"/>
                </a:solidFill>
                <a:latin typeface="Arial" pitchFamily="34" charset="0"/>
                <a:cs typeface="Arial" pitchFamily="34" charset="0"/>
              </a:rPr>
              <a:t>REVENUE DEFICIT</a:t>
            </a:r>
          </a:p>
        </p:txBody>
      </p:sp>
      <p:sp>
        <p:nvSpPr>
          <p:cNvPr id="11" name="Rectangle 10"/>
          <p:cNvSpPr/>
          <p:nvPr/>
        </p:nvSpPr>
        <p:spPr>
          <a:xfrm>
            <a:off x="5303594" y="5374957"/>
            <a:ext cx="2364750" cy="646331"/>
          </a:xfrm>
          <a:prstGeom prst="rect">
            <a:avLst/>
          </a:prstGeom>
        </p:spPr>
        <p:txBody>
          <a:bodyPr wrap="none">
            <a:spAutoFit/>
          </a:bodyPr>
          <a:lstStyle/>
          <a:p>
            <a:pPr>
              <a:spcBef>
                <a:spcPct val="50000"/>
              </a:spcBef>
            </a:pPr>
            <a:r>
              <a:rPr lang="en-US" b="1" dirty="0">
                <a:solidFill>
                  <a:schemeClr val="bg1"/>
                </a:solidFill>
                <a:latin typeface="Arial" pitchFamily="34" charset="0"/>
                <a:cs typeface="Arial" pitchFamily="34" charset="0"/>
              </a:rPr>
              <a:t>Revenue </a:t>
            </a:r>
            <a:r>
              <a:rPr lang="en-US" b="1" dirty="0" smtClean="0">
                <a:solidFill>
                  <a:schemeClr val="bg1"/>
                </a:solidFill>
                <a:latin typeface="Arial" pitchFamily="34" charset="0"/>
                <a:cs typeface="Arial" pitchFamily="34" charset="0"/>
              </a:rPr>
              <a:t>Expenses</a:t>
            </a:r>
            <a:br>
              <a:rPr lang="en-US" b="1" dirty="0" smtClean="0">
                <a:solidFill>
                  <a:schemeClr val="bg1"/>
                </a:solidFill>
                <a:latin typeface="Arial" pitchFamily="34" charset="0"/>
                <a:cs typeface="Arial" pitchFamily="34" charset="0"/>
              </a:rPr>
            </a:br>
            <a:r>
              <a:rPr lang="en-US" b="1" dirty="0" smtClean="0">
                <a:solidFill>
                  <a:schemeClr val="bg1"/>
                </a:solidFill>
                <a:latin typeface="Arial" pitchFamily="34" charset="0"/>
                <a:cs typeface="Arial" pitchFamily="34" charset="0"/>
              </a:rPr>
              <a:t>– </a:t>
            </a:r>
            <a:r>
              <a:rPr lang="en-US" b="1" dirty="0">
                <a:solidFill>
                  <a:schemeClr val="bg1"/>
                </a:solidFill>
                <a:latin typeface="Arial" pitchFamily="34" charset="0"/>
                <a:cs typeface="Arial" pitchFamily="34" charset="0"/>
              </a:rPr>
              <a:t>Revenue Receipts</a:t>
            </a:r>
          </a:p>
        </p:txBody>
      </p:sp>
    </p:spTree>
    <p:extLst>
      <p:ext uri="{BB962C8B-B14F-4D97-AF65-F5344CB8AC3E}">
        <p14:creationId xmlns="" xmlns:p14="http://schemas.microsoft.com/office/powerpoint/2010/main" val="30166292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980728"/>
            <a:ext cx="7272808" cy="456535"/>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So what should the ideal numbers be?</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695460" y="1473442"/>
            <a:ext cx="7764972"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financially prudent number to this kind of deficit is zero.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the revenue deficit is zero, then a fiscal deficit (like a home loan for us, also called the total borrowing of a government) of 3 per cent is good for the country.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Which brings us back to the numbers for India today - 4.8 per cent revenue deficit and 6.8 per cent fiscal deficit.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large deficit is </a:t>
            </a:r>
            <a:r>
              <a:rPr lang="en-US" b="1" dirty="0" smtClean="0">
                <a:latin typeface="Arial" pitchFamily="34" charset="0"/>
                <a:cs typeface="Arial" pitchFamily="34" charset="0"/>
              </a:rPr>
              <a:t>frowned upon.</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42911569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980728"/>
            <a:ext cx="7272808" cy="507831"/>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But is there more to these figures than meets the eye? </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695460" y="1556792"/>
            <a:ext cx="7764972" cy="2949525"/>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However, as seen earlier, in special circumstances a deficit may be the only way to dig a nation out of a slow-down or a recession.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Which is what this budget is aiming to do — it is trying to invest in asset creation as well as revive demand to climb back to 9 per cent growth. </a:t>
            </a:r>
          </a:p>
        </p:txBody>
      </p:sp>
    </p:spTree>
    <p:extLst>
      <p:ext uri="{BB962C8B-B14F-4D97-AF65-F5344CB8AC3E}">
        <p14:creationId xmlns="" xmlns:p14="http://schemas.microsoft.com/office/powerpoint/2010/main" val="34669687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203848" y="1349380"/>
            <a:ext cx="3600400" cy="1338828"/>
          </a:xfrm>
          <a:prstGeom prst="rect">
            <a:avLst/>
          </a:prstGeom>
        </p:spPr>
        <p:txBody>
          <a:bodyPr wrap="square">
            <a:spAutoFit/>
          </a:bodyPr>
          <a:lstStyle/>
          <a:p>
            <a:pPr>
              <a:lnSpc>
                <a:spcPct val="150000"/>
              </a:lnSpc>
            </a:pPr>
            <a:r>
              <a:rPr lang="en-US" b="1" dirty="0">
                <a:latin typeface="Arial" pitchFamily="34" charset="0"/>
                <a:cs typeface="Arial" pitchFamily="34" charset="0"/>
              </a:rPr>
              <a:t>In other words, the spend is aimed at stimulating domestic demand &amp; creating assets.</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extLst>
      <p:ext uri="{BB962C8B-B14F-4D97-AF65-F5344CB8AC3E}">
        <p14:creationId xmlns="" xmlns:p14="http://schemas.microsoft.com/office/powerpoint/2010/main" val="39380115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980728"/>
            <a:ext cx="7272808"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
        <p:nvSpPr>
          <p:cNvPr id="4" name="Rectangle 3"/>
          <p:cNvSpPr/>
          <p:nvPr/>
        </p:nvSpPr>
        <p:spPr>
          <a:xfrm>
            <a:off x="695460" y="1484784"/>
            <a:ext cx="7548948" cy="3046988"/>
          </a:xfrm>
          <a:prstGeom prst="rect">
            <a:avLst/>
          </a:prstGeom>
        </p:spPr>
        <p:txBody>
          <a:bodyPr wrap="square">
            <a:spAutoFit/>
          </a:bodyPr>
          <a:lstStyle/>
          <a:p>
            <a:pPr marL="465138" indent="-465138">
              <a:lnSpc>
                <a:spcPct val="150000"/>
              </a:lnSpc>
              <a:spcBef>
                <a:spcPct val="0"/>
              </a:spcBef>
              <a:buFont typeface="Wingdings" pitchFamily="2" charset="2"/>
              <a:buChar char="q"/>
              <a:tabLst>
                <a:tab pos="465138" algn="l"/>
                <a:tab pos="3600450" algn="l"/>
              </a:tabLst>
            </a:pPr>
            <a:r>
              <a:rPr lang="en-US" b="1" dirty="0" smtClean="0">
                <a:latin typeface="Arial" pitchFamily="34" charset="0"/>
                <a:cs typeface="Arial" pitchFamily="34" charset="0"/>
              </a:rPr>
              <a:t>What</a:t>
            </a:r>
            <a:r>
              <a:rPr lang="en-US" b="1" dirty="0">
                <a:latin typeface="Arial" pitchFamily="34" charset="0"/>
                <a:cs typeface="Arial" pitchFamily="34" charset="0"/>
              </a:rPr>
              <a:t>: The Finance Minister announced a 4.8 per cent revenue deficit and 6.8 per cent fiscal deficit in the Union </a:t>
            </a:r>
            <a:r>
              <a:rPr lang="en-US" b="1" dirty="0" smtClean="0">
                <a:latin typeface="Arial" pitchFamily="34" charset="0"/>
                <a:cs typeface="Arial" pitchFamily="34" charset="0"/>
              </a:rPr>
              <a:t>Budget!</a:t>
            </a: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 pos="3600450"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 pos="3600450" algn="l"/>
              </a:tabLst>
            </a:pPr>
            <a:r>
              <a:rPr lang="en-US" b="1" dirty="0">
                <a:latin typeface="Arial" pitchFamily="34" charset="0"/>
                <a:cs typeface="Arial" pitchFamily="34" charset="0"/>
              </a:rPr>
              <a:t>Why: in special circumstances, a deficit may be the only way to dig a nation out of a slow-down or a recession. </a:t>
            </a:r>
          </a:p>
          <a:p>
            <a:pPr marL="465138" indent="-465138">
              <a:lnSpc>
                <a:spcPct val="150000"/>
              </a:lnSpc>
              <a:buFont typeface="Wingdings" pitchFamily="2" charset="2"/>
              <a:buChar char="q"/>
              <a:tabLst>
                <a:tab pos="465138" algn="l"/>
                <a:tab pos="3600450"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 pos="3600450" algn="l"/>
              </a:tabLst>
            </a:pPr>
            <a:r>
              <a:rPr lang="en-US" b="1" dirty="0">
                <a:latin typeface="Arial" pitchFamily="34" charset="0"/>
                <a:cs typeface="Arial" pitchFamily="34" charset="0"/>
              </a:rPr>
              <a:t>So: The current budget is trying to invest in asset creation as well as revive demand to climb back to 9 per cent growth. </a:t>
            </a:r>
          </a:p>
        </p:txBody>
      </p:sp>
    </p:spTree>
    <p:extLst>
      <p:ext uri="{BB962C8B-B14F-4D97-AF65-F5344CB8AC3E}">
        <p14:creationId xmlns="" xmlns:p14="http://schemas.microsoft.com/office/powerpoint/2010/main" val="20134764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682460"/>
            <a:ext cx="3312368" cy="1338828"/>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a:t>
            </a:r>
            <a:r>
              <a:rPr lang="en-US" b="1" dirty="0" smtClean="0">
                <a:latin typeface="Arial" pitchFamily="34" charset="0"/>
                <a:cs typeface="Arial" pitchFamily="34" charset="0"/>
              </a:rPr>
              <a:t>now</a:t>
            </a:r>
            <a:br>
              <a:rPr lang="en-US" b="1" dirty="0" smtClean="0">
                <a:latin typeface="Arial" pitchFamily="34" charset="0"/>
                <a:cs typeface="Arial" pitchFamily="34" charset="0"/>
              </a:rPr>
            </a:br>
            <a:r>
              <a:rPr lang="en-US" b="1" dirty="0" smtClean="0">
                <a:latin typeface="Arial" pitchFamily="34" charset="0"/>
                <a:cs typeface="Arial" pitchFamily="34" charset="0"/>
              </a:rPr>
              <a:t>understood the </a:t>
            </a:r>
            <a:r>
              <a:rPr lang="en-US" b="1" dirty="0">
                <a:latin typeface="Arial" pitchFamily="34" charset="0"/>
                <a:cs typeface="Arial" pitchFamily="34" charset="0"/>
              </a:rPr>
              <a:t>concept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Fiscal </a:t>
            </a:r>
            <a:r>
              <a:rPr lang="en-US" b="1" dirty="0">
                <a:latin typeface="Arial" pitchFamily="34" charset="0"/>
                <a:cs typeface="Arial" pitchFamily="34" charset="0"/>
              </a:rPr>
              <a:t>&amp; Revenue Deficits </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&amp; REVENUE DEFICITS</a:t>
            </a:r>
          </a:p>
        </p:txBody>
      </p:sp>
    </p:spTree>
    <p:extLst>
      <p:ext uri="{BB962C8B-B14F-4D97-AF65-F5344CB8AC3E}">
        <p14:creationId xmlns="" xmlns:p14="http://schemas.microsoft.com/office/powerpoint/2010/main" val="8179720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60848"/>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Do write to me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2312</TotalTime>
  <Words>1136</Words>
  <Application>Microsoft Office PowerPoint</Application>
  <PresentationFormat>On-screen Show (4:3)</PresentationFormat>
  <Paragraphs>113</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269</cp:revision>
  <dcterms:created xsi:type="dcterms:W3CDTF">2013-10-22T09:41:31Z</dcterms:created>
  <dcterms:modified xsi:type="dcterms:W3CDTF">2014-09-22T10:09:22Z</dcterms:modified>
</cp:coreProperties>
</file>