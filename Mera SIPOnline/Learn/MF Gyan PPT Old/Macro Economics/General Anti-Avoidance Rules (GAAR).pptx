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358" r:id="rId3"/>
    <p:sldId id="318" r:id="rId4"/>
    <p:sldId id="426" r:id="rId5"/>
    <p:sldId id="416" r:id="rId6"/>
    <p:sldId id="417" r:id="rId7"/>
    <p:sldId id="418" r:id="rId8"/>
    <p:sldId id="419" r:id="rId9"/>
    <p:sldId id="420" r:id="rId10"/>
    <p:sldId id="427" r:id="rId11"/>
    <p:sldId id="421" r:id="rId12"/>
    <p:sldId id="422" r:id="rId13"/>
    <p:sldId id="423" r:id="rId14"/>
    <p:sldId id="425" r:id="rId15"/>
    <p:sldId id="385" r:id="rId16"/>
    <p:sldId id="428" r:id="rId17"/>
    <p:sldId id="429" r:id="rId18"/>
    <p:sldId id="430" r:id="rId19"/>
    <p:sldId id="431" r:id="rId20"/>
    <p:sldId id="432" r:id="rId21"/>
    <p:sldId id="433" r:id="rId22"/>
    <p:sldId id="287" r:id="rId23"/>
    <p:sldId id="27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9/24/2014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9/24/2014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9/24/2014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9/24/2014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9/24/2014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17803"/>
            <a:ext cx="4392488" cy="323165"/>
          </a:xfrm>
          <a:prstGeom prst="rect">
            <a:avLst/>
          </a:prstGeom>
          <a:noFill/>
        </p:spPr>
        <p:txBody>
          <a:bodyPr wrap="square" rtlCol="0">
            <a:spAutoFit/>
          </a:bodyPr>
          <a:lstStyle/>
          <a:p>
            <a:pPr algn="ctr"/>
            <a:r>
              <a:rPr lang="en-US" sz="1500" b="1" dirty="0" smtClean="0">
                <a:solidFill>
                  <a:schemeClr val="bg1"/>
                </a:solidFill>
                <a:latin typeface="Arial" pitchFamily="34" charset="0"/>
                <a:ea typeface="ＭＳ Ｐゴシック"/>
                <a:cs typeface="Arial" pitchFamily="34" charset="0"/>
              </a:rPr>
              <a:t>GENERAL ANTI-AVOIDANCE RULES (GAAR)</a:t>
            </a:r>
            <a:endParaRPr lang="en-US" sz="15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853436"/>
            <a:ext cx="3744416" cy="1287532"/>
          </a:xfrm>
          <a:prstGeom prst="rect">
            <a:avLst/>
          </a:prstGeom>
          <a:noFill/>
        </p:spPr>
        <p:txBody>
          <a:bodyPr wrap="square" rtlCol="0">
            <a:spAutoFit/>
          </a:bodyPr>
          <a:lstStyle/>
          <a:p>
            <a:pPr>
              <a:lnSpc>
                <a:spcPct val="150000"/>
              </a:lnSpc>
            </a:pPr>
            <a:r>
              <a:rPr lang="en-US" b="1" dirty="0">
                <a:latin typeface="Arial" pitchFamily="34" charset="0"/>
                <a:ea typeface="ＭＳ Ｐゴシック"/>
                <a:cs typeface="Arial" pitchFamily="34" charset="0"/>
              </a:rPr>
              <a:t>Understanding </a:t>
            </a:r>
            <a:br>
              <a:rPr lang="en-US" b="1" dirty="0">
                <a:latin typeface="Arial" pitchFamily="34" charset="0"/>
                <a:ea typeface="ＭＳ Ｐゴシック"/>
                <a:cs typeface="Arial" pitchFamily="34" charset="0"/>
              </a:rPr>
            </a:br>
            <a:r>
              <a:rPr lang="en-US" b="1" dirty="0">
                <a:latin typeface="Arial" pitchFamily="34" charset="0"/>
                <a:ea typeface="ＭＳ Ｐゴシック"/>
                <a:cs typeface="Arial" pitchFamily="34" charset="0"/>
              </a:rPr>
              <a:t>General Anti-Avoidance Rules (GAAR)</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48" y="1086112"/>
            <a:ext cx="7458052"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 </a:t>
            </a:r>
            <a:r>
              <a:rPr lang="en-US" b="1" dirty="0">
                <a:latin typeface="Arial" pitchFamily="34" charset="0"/>
                <a:cs typeface="Arial" pitchFamily="34" charset="0"/>
              </a:rPr>
              <a:t>this lesson we will re-visit GAAR (General Anti Avoidance Rules) that has become the center of discussion for many </a:t>
            </a:r>
            <a:r>
              <a:rPr lang="en-US" b="1" dirty="0" smtClean="0">
                <a:latin typeface="Arial" pitchFamily="34" charset="0"/>
                <a:cs typeface="Arial" pitchFamily="34" charset="0"/>
              </a:rPr>
              <a:t>investors.</a:t>
            </a:r>
            <a:br>
              <a:rPr lang="en-US" b="1" dirty="0" smtClean="0">
                <a:latin typeface="Arial" pitchFamily="34" charset="0"/>
                <a:cs typeface="Arial" pitchFamily="34" charset="0"/>
              </a:rPr>
            </a:br>
            <a:r>
              <a:rPr lang="en-US" b="1" dirty="0" smtClean="0">
                <a:latin typeface="Arial" pitchFamily="34" charset="0"/>
                <a:cs typeface="Arial" pitchFamily="34" charset="0"/>
              </a:rPr>
              <a:t>We </a:t>
            </a:r>
            <a:r>
              <a:rPr lang="en-US" b="1" dirty="0">
                <a:latin typeface="Arial" pitchFamily="34" charset="0"/>
                <a:cs typeface="Arial" pitchFamily="34" charset="0"/>
              </a:rPr>
              <a:t>will also look at the proposed changes that hopefully would ward off investor’s mistrust that had set in after the announcement in the Union Budget.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43808" y="1052736"/>
            <a:ext cx="424847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So let us understand the </a:t>
            </a:r>
            <a:r>
              <a:rPr lang="en-US" b="1" dirty="0" smtClean="0">
                <a:latin typeface="Arial" pitchFamily="34" charset="0"/>
                <a:cs typeface="Arial" pitchFamily="34" charset="0"/>
              </a:rPr>
              <a:t>reason</a:t>
            </a:r>
            <a:br>
              <a:rPr lang="en-US" b="1" dirty="0" smtClean="0">
                <a:latin typeface="Arial" pitchFamily="34" charset="0"/>
                <a:cs typeface="Arial" pitchFamily="34" charset="0"/>
              </a:rPr>
            </a:br>
            <a:r>
              <a:rPr lang="en-US" b="1" dirty="0" smtClean="0">
                <a:latin typeface="Arial" pitchFamily="34" charset="0"/>
                <a:cs typeface="Arial" pitchFamily="34" charset="0"/>
              </a:rPr>
              <a:t>why </a:t>
            </a:r>
            <a:r>
              <a:rPr lang="en-US" b="1" dirty="0">
                <a:latin typeface="Arial" pitchFamily="34" charset="0"/>
                <a:cs typeface="Arial" pitchFamily="34" charset="0"/>
              </a:rPr>
              <a:t>the government came </a:t>
            </a:r>
            <a:r>
              <a:rPr lang="en-US" b="1" dirty="0" smtClean="0">
                <a:latin typeface="Arial" pitchFamily="34" charset="0"/>
                <a:cs typeface="Arial" pitchFamily="34" charset="0"/>
              </a:rPr>
              <a:t>out</a:t>
            </a:r>
            <a:br>
              <a:rPr lang="en-US" b="1" dirty="0" smtClean="0">
                <a:latin typeface="Arial" pitchFamily="34" charset="0"/>
                <a:cs typeface="Arial" pitchFamily="34" charset="0"/>
              </a:rPr>
            </a:br>
            <a:r>
              <a:rPr lang="en-US" b="1" dirty="0" smtClean="0">
                <a:latin typeface="Arial" pitchFamily="34" charset="0"/>
                <a:cs typeface="Arial" pitchFamily="34" charset="0"/>
              </a:rPr>
              <a:t>with </a:t>
            </a:r>
            <a:r>
              <a:rPr lang="en-US" b="1" dirty="0">
                <a:latin typeface="Arial" pitchFamily="34" charset="0"/>
                <a:cs typeface="Arial" pitchFamily="34" charset="0"/>
              </a:rPr>
              <a:t>GAAR  in the first </a:t>
            </a:r>
            <a:r>
              <a:rPr lang="en-US" b="1" dirty="0" smtClean="0">
                <a:latin typeface="Arial" pitchFamily="34" charset="0"/>
                <a:cs typeface="Arial" pitchFamily="34" charset="0"/>
              </a:rPr>
              <a:t>place.</a:t>
            </a:r>
            <a:br>
              <a:rPr lang="en-US" b="1" dirty="0" smtClean="0">
                <a:latin typeface="Arial" pitchFamily="34" charset="0"/>
                <a:cs typeface="Arial" pitchFamily="34" charset="0"/>
              </a:rPr>
            </a:br>
            <a:r>
              <a:rPr lang="en-US" b="1" dirty="0" smtClean="0">
                <a:latin typeface="Arial" pitchFamily="34" charset="0"/>
                <a:cs typeface="Arial" pitchFamily="34" charset="0"/>
              </a:rPr>
              <a:t>And </a:t>
            </a:r>
            <a:r>
              <a:rPr lang="en-US" b="1" dirty="0">
                <a:latin typeface="Arial" pitchFamily="34" charset="0"/>
                <a:cs typeface="Arial" pitchFamily="34" charset="0"/>
              </a:rPr>
              <a:t>this we will do with an example.</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7706886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483335" cy="1754326"/>
          </a:xfrm>
          <a:prstGeom prst="rect">
            <a:avLst/>
          </a:prstGeom>
        </p:spPr>
        <p:txBody>
          <a:bodyPr wrap="square">
            <a:spAutoFit/>
          </a:bodyPr>
          <a:lstStyle/>
          <a:p>
            <a:pPr>
              <a:lnSpc>
                <a:spcPct val="150000"/>
              </a:lnSpc>
            </a:pPr>
            <a:r>
              <a:rPr lang="en-US" b="1" dirty="0">
                <a:latin typeface="Arial" pitchFamily="34" charset="0"/>
                <a:cs typeface="Arial" pitchFamily="34" charset="0"/>
              </a:rPr>
              <a:t>Let</a:t>
            </a:r>
            <a:r>
              <a:rPr lang="en-US" altLang="en-US" b="1" dirty="0">
                <a:latin typeface="Arial" pitchFamily="34" charset="0"/>
                <a:cs typeface="Arial" pitchFamily="34" charset="0"/>
              </a:rPr>
              <a:t>’</a:t>
            </a:r>
            <a:r>
              <a:rPr lang="en-US" b="1" dirty="0">
                <a:latin typeface="Arial" pitchFamily="34" charset="0"/>
                <a:cs typeface="Arial" pitchFamily="34" charset="0"/>
              </a:rPr>
              <a:t>s say a company has a policy to help employees reach home on time for a better work/life balance. </a:t>
            </a:r>
          </a:p>
          <a:p>
            <a:pPr>
              <a:lnSpc>
                <a:spcPct val="150000"/>
              </a:lnSpc>
            </a:pPr>
            <a:r>
              <a:rPr lang="en-US" b="1" dirty="0">
                <a:latin typeface="Arial" pitchFamily="34" charset="0"/>
                <a:cs typeface="Arial" pitchFamily="34" charset="0"/>
              </a:rPr>
              <a:t>It states, </a:t>
            </a:r>
            <a:r>
              <a:rPr lang="en-US" altLang="en-US" b="1" dirty="0">
                <a:latin typeface="Arial" pitchFamily="34" charset="0"/>
                <a:cs typeface="Arial" pitchFamily="34" charset="0"/>
              </a:rPr>
              <a:t>“</a:t>
            </a:r>
            <a:r>
              <a:rPr lang="en-US" b="1" dirty="0">
                <a:latin typeface="Arial" pitchFamily="34" charset="0"/>
                <a:cs typeface="Arial" pitchFamily="34" charset="0"/>
              </a:rPr>
              <a:t>Employees who stay beyond 20 kilometers from the office can leave 30 minutes early.</a:t>
            </a:r>
            <a:r>
              <a:rPr lang="en-US" altLang="en-US" b="1" dirty="0">
                <a:latin typeface="Arial" pitchFamily="34" charset="0"/>
                <a:cs typeface="Arial" pitchFamily="34" charset="0"/>
              </a:rPr>
              <a:t>”</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5" y="1124744"/>
            <a:ext cx="726731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Every office has people that bend the rules in their </a:t>
            </a:r>
            <a:r>
              <a:rPr lang="en-US" b="1" dirty="0" smtClean="0">
                <a:latin typeface="Arial" pitchFamily="34" charset="0"/>
                <a:cs typeface="Arial" pitchFamily="34" charset="0"/>
              </a:rPr>
              <a:t>favor.</a:t>
            </a:r>
            <a:br>
              <a:rPr lang="en-US" b="1" dirty="0" smtClean="0">
                <a:latin typeface="Arial" pitchFamily="34" charset="0"/>
                <a:cs typeface="Arial" pitchFamily="34" charset="0"/>
              </a:rPr>
            </a:br>
            <a:r>
              <a:rPr lang="en-US" b="1" dirty="0" smtClean="0">
                <a:latin typeface="Arial" pitchFamily="34" charset="0"/>
                <a:cs typeface="Arial" pitchFamily="34" charset="0"/>
              </a:rPr>
              <a:t>Some </a:t>
            </a:r>
            <a:r>
              <a:rPr lang="en-US" b="1" dirty="0">
                <a:latin typeface="Arial" pitchFamily="34" charset="0"/>
                <a:cs typeface="Arial" pitchFamily="34" charset="0"/>
              </a:rPr>
              <a:t>clever employees who had a second home more </a:t>
            </a:r>
            <a:r>
              <a:rPr lang="en-US" b="1" dirty="0" smtClean="0">
                <a:latin typeface="Arial" pitchFamily="34" charset="0"/>
                <a:cs typeface="Arial" pitchFamily="34" charset="0"/>
              </a:rPr>
              <a:t>than</a:t>
            </a:r>
            <a:br>
              <a:rPr lang="en-US" b="1" dirty="0" smtClean="0">
                <a:latin typeface="Arial" pitchFamily="34" charset="0"/>
                <a:cs typeface="Arial" pitchFamily="34" charset="0"/>
              </a:rPr>
            </a:br>
            <a:r>
              <a:rPr lang="en-US" b="1" dirty="0" smtClean="0">
                <a:latin typeface="Arial" pitchFamily="34" charset="0"/>
                <a:cs typeface="Arial" pitchFamily="34" charset="0"/>
              </a:rPr>
              <a:t>20 </a:t>
            </a:r>
            <a:r>
              <a:rPr lang="en-US" b="1" dirty="0" err="1">
                <a:latin typeface="Arial" pitchFamily="34" charset="0"/>
                <a:cs typeface="Arial" pitchFamily="34" charset="0"/>
              </a:rPr>
              <a:t>kms</a:t>
            </a:r>
            <a:r>
              <a:rPr lang="en-US" b="1" dirty="0">
                <a:latin typeface="Arial" pitchFamily="34" charset="0"/>
                <a:cs typeface="Arial" pitchFamily="34" charset="0"/>
              </a:rPr>
              <a:t>. away, decided to change their address so they could leave early every day.  </a:t>
            </a:r>
          </a:p>
        </p:txBody>
      </p:sp>
    </p:spTree>
    <p:extLst>
      <p:ext uri="{BB962C8B-B14F-4D97-AF65-F5344CB8AC3E}">
        <p14:creationId xmlns:p14="http://schemas.microsoft.com/office/powerpoint/2010/main" xmlns="" val="2960982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1052736"/>
            <a:ext cx="7602069" cy="2169825"/>
          </a:xfrm>
          <a:prstGeom prst="rect">
            <a:avLst/>
          </a:prstGeom>
        </p:spPr>
        <p:txBody>
          <a:bodyPr wrap="square">
            <a:spAutoFit/>
          </a:bodyPr>
          <a:lstStyle/>
          <a:p>
            <a:pPr>
              <a:lnSpc>
                <a:spcPct val="150000"/>
              </a:lnSpc>
            </a:pPr>
            <a:r>
              <a:rPr lang="en-US" b="1" dirty="0">
                <a:latin typeface="Arial" pitchFamily="34" charset="0"/>
                <a:cs typeface="Arial" pitchFamily="34" charset="0"/>
              </a:rPr>
              <a:t>A system implemented with a good intent was quickly abused.</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These acts are also witnessed on public buses where seats are reserved for the elderly but are taken by those who can very well stand and travel.  </a:t>
            </a: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771368" cy="1295868"/>
          </a:xfrm>
          <a:prstGeom prst="rect">
            <a:avLst/>
          </a:prstGeom>
        </p:spPr>
        <p:txBody>
          <a:bodyPr wrap="square">
            <a:spAutoFit/>
          </a:bodyPr>
          <a:lstStyle/>
          <a:p>
            <a:pPr>
              <a:lnSpc>
                <a:spcPct val="150000"/>
              </a:lnSpc>
            </a:pPr>
            <a:r>
              <a:rPr lang="en-US" b="1" dirty="0">
                <a:latin typeface="Arial" pitchFamily="34" charset="0"/>
                <a:cs typeface="Arial" pitchFamily="34" charset="0"/>
              </a:rPr>
              <a:t>In this case, we have seen that even a law designed for a specific purpose can get undermined by elements that seek loopholes to create an unfair advantage for themselves.  </a:t>
            </a:r>
          </a:p>
        </p:txBody>
      </p:sp>
    </p:spTree>
    <p:extLst>
      <p:ext uri="{BB962C8B-B14F-4D97-AF65-F5344CB8AC3E}">
        <p14:creationId xmlns:p14="http://schemas.microsoft.com/office/powerpoint/2010/main" xmlns="" val="32808151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267312" cy="3000821"/>
          </a:xfrm>
          <a:prstGeom prst="rect">
            <a:avLst/>
          </a:prstGeom>
        </p:spPr>
        <p:txBody>
          <a:bodyPr wrap="square">
            <a:spAutoFit/>
          </a:bodyPr>
          <a:lstStyle/>
          <a:p>
            <a:pPr>
              <a:lnSpc>
                <a:spcPct val="150000"/>
              </a:lnSpc>
            </a:pPr>
            <a:r>
              <a:rPr lang="en-US" b="1" dirty="0">
                <a:latin typeface="Arial" pitchFamily="34" charset="0"/>
                <a:cs typeface="Arial" pitchFamily="34" charset="0"/>
              </a:rPr>
              <a:t> GAAR is a simple rule which allows the Indian tax </a:t>
            </a:r>
            <a:r>
              <a:rPr lang="en-US" b="1" dirty="0" smtClean="0">
                <a:latin typeface="Arial" pitchFamily="34" charset="0"/>
                <a:cs typeface="Arial" pitchFamily="34" charset="0"/>
              </a:rPr>
              <a:t>authorities</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levy tax if the arrangement or transactions done are </a:t>
            </a:r>
            <a:r>
              <a:rPr lang="en-US" altLang="en-US" b="1" dirty="0">
                <a:latin typeface="Arial" pitchFamily="34" charset="0"/>
                <a:cs typeface="Arial" pitchFamily="34" charset="0"/>
              </a:rPr>
              <a:t>‘</a:t>
            </a:r>
            <a:r>
              <a:rPr lang="en-US" b="1" dirty="0">
                <a:latin typeface="Arial" pitchFamily="34" charset="0"/>
                <a:cs typeface="Arial" pitchFamily="34" charset="0"/>
              </a:rPr>
              <a:t>impermissible avoidance arrangements</a:t>
            </a:r>
            <a:r>
              <a:rPr lang="en-US" b="1" dirty="0" smtClean="0">
                <a:latin typeface="Arial" pitchFamily="34" charset="0"/>
                <a:cs typeface="Arial" pitchFamily="34" charset="0"/>
              </a:rPr>
              <a:t>.</a:t>
            </a:r>
            <a:r>
              <a:rPr lang="en-US" altLang="en-US" b="1" dirty="0" smtClean="0">
                <a:latin typeface="Arial" pitchFamily="34" charset="0"/>
                <a:cs typeface="Arial" pitchFamily="34" charset="0"/>
              </a:rPr>
              <a:t>’</a:t>
            </a:r>
          </a:p>
          <a:p>
            <a:pPr>
              <a:lnSpc>
                <a:spcPct val="150000"/>
              </a:lnSpc>
            </a:pPr>
            <a:endParaRPr lang="en-US" altLang="en-US" b="1" dirty="0">
              <a:latin typeface="Arial" pitchFamily="34" charset="0"/>
              <a:cs typeface="Arial" pitchFamily="34" charset="0"/>
            </a:endParaRPr>
          </a:p>
          <a:p>
            <a:pPr>
              <a:lnSpc>
                <a:spcPct val="150000"/>
              </a:lnSpc>
            </a:pPr>
            <a:r>
              <a:rPr lang="en-US" b="1" u="sng" dirty="0">
                <a:latin typeface="Arial" pitchFamily="34" charset="0"/>
                <a:cs typeface="Arial" pitchFamily="34" charset="0"/>
              </a:rPr>
              <a:t>This simply means, a tax levied because the company had in the past avoided paying tax, citing a tax exempt provision which was not due to them.</a:t>
            </a:r>
          </a:p>
        </p:txBody>
      </p:sp>
    </p:spTree>
    <p:extLst>
      <p:ext uri="{BB962C8B-B14F-4D97-AF65-F5344CB8AC3E}">
        <p14:creationId xmlns:p14="http://schemas.microsoft.com/office/powerpoint/2010/main" xmlns="" val="3440996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4" name="Rectangle 3"/>
          <p:cNvSpPr/>
          <p:nvPr/>
        </p:nvSpPr>
        <p:spPr>
          <a:xfrm>
            <a:off x="2592288" y="1340768"/>
            <a:ext cx="4572000" cy="1338828"/>
          </a:xfrm>
          <a:prstGeom prst="rect">
            <a:avLst/>
          </a:prstGeom>
        </p:spPr>
        <p:txBody>
          <a:bodyPr>
            <a:spAutoFit/>
          </a:bodyPr>
          <a:lstStyle/>
          <a:p>
            <a:pPr algn="ctr">
              <a:lnSpc>
                <a:spcPct val="150000"/>
              </a:lnSpc>
            </a:pPr>
            <a:r>
              <a:rPr lang="en-US" b="1" dirty="0">
                <a:latin typeface="Arial" pitchFamily="34" charset="0"/>
                <a:cs typeface="Arial" pitchFamily="34" charset="0"/>
              </a:rPr>
              <a:t>Here are some tax avoidance policies that the government has formulated, subjected to certain conditions:-</a:t>
            </a:r>
          </a:p>
        </p:txBody>
      </p:sp>
    </p:spTree>
    <p:extLst>
      <p:ext uri="{BB962C8B-B14F-4D97-AF65-F5344CB8AC3E}">
        <p14:creationId xmlns:p14="http://schemas.microsoft.com/office/powerpoint/2010/main" xmlns="" val="13697977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94447"/>
            <a:ext cx="7771368" cy="2169825"/>
          </a:xfrm>
          <a:prstGeom prst="rect">
            <a:avLst/>
          </a:prstGeom>
        </p:spPr>
        <p:txBody>
          <a:bodyPr wrap="square">
            <a:spAutoFit/>
          </a:bodyPr>
          <a:lstStyle/>
          <a:p>
            <a:pPr marL="465138" indent="-465138">
              <a:lnSpc>
                <a:spcPct val="150000"/>
              </a:lnSpc>
              <a:buAutoNum type="arabicPeriod"/>
              <a:tabLst>
                <a:tab pos="465138" algn="l"/>
              </a:tabLst>
            </a:pPr>
            <a:r>
              <a:rPr lang="en-US" b="1" dirty="0" smtClean="0">
                <a:latin typeface="Arial" pitchFamily="34" charset="0"/>
                <a:cs typeface="Arial" pitchFamily="34" charset="0"/>
              </a:rPr>
              <a:t>Companies </a:t>
            </a:r>
            <a:r>
              <a:rPr lang="en-US" b="1" dirty="0">
                <a:latin typeface="Arial" pitchFamily="34" charset="0"/>
                <a:cs typeface="Arial" pitchFamily="34" charset="0"/>
              </a:rPr>
              <a:t>should not be formed in a specific manner just for the sake </a:t>
            </a:r>
            <a:r>
              <a:rPr lang="en-US" b="1" dirty="0" smtClean="0">
                <a:latin typeface="Arial" pitchFamily="34" charset="0"/>
                <a:cs typeface="Arial" pitchFamily="34" charset="0"/>
              </a:rPr>
              <a:t>of tax avoidance</a:t>
            </a:r>
          </a:p>
          <a:p>
            <a:pPr marL="465138" indent="-465138">
              <a:lnSpc>
                <a:spcPct val="150000"/>
              </a:lnSpc>
              <a:buAutoNum type="arabicPeriod"/>
              <a:tabLst>
                <a:tab pos="465138" algn="l"/>
              </a:tabLst>
            </a:pPr>
            <a:endParaRPr lang="en-US" b="1" dirty="0" smtClean="0">
              <a:latin typeface="Arial" pitchFamily="34" charset="0"/>
              <a:cs typeface="Arial" pitchFamily="34" charset="0"/>
            </a:endParaRPr>
          </a:p>
          <a:p>
            <a:pPr marL="465138" indent="-465138">
              <a:lnSpc>
                <a:spcPct val="150000"/>
              </a:lnSpc>
              <a:buFontTx/>
              <a:buAutoNum type="arabicPeriod"/>
              <a:tabLst>
                <a:tab pos="465138" algn="l"/>
              </a:tabLst>
            </a:pPr>
            <a:r>
              <a:rPr lang="en-US" b="1" dirty="0" smtClean="0">
                <a:latin typeface="Arial" pitchFamily="34" charset="0"/>
                <a:cs typeface="Arial" pitchFamily="34" charset="0"/>
              </a:rPr>
              <a:t>Companies </a:t>
            </a:r>
            <a:r>
              <a:rPr lang="en-US" b="1" dirty="0">
                <a:latin typeface="Arial" pitchFamily="34" charset="0"/>
                <a:cs typeface="Arial" pitchFamily="34" charset="0"/>
              </a:rPr>
              <a:t>should not collude with subsidiaries with the sole objective of avoiding </a:t>
            </a:r>
            <a:r>
              <a:rPr lang="en-US" b="1" dirty="0" smtClean="0">
                <a:latin typeface="Arial" pitchFamily="34" charset="0"/>
                <a:cs typeface="Arial" pitchFamily="34" charset="0"/>
              </a:rPr>
              <a:t>taxes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5849585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6" name="Rectangle 5"/>
          <p:cNvSpPr/>
          <p:nvPr/>
        </p:nvSpPr>
        <p:spPr>
          <a:xfrm>
            <a:off x="681906" y="1124744"/>
            <a:ext cx="7274470"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 intent of GAAR is to ensure that companies do business in letter as well as in spirit of the law.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this law leaves a lot to be desired and can be misused.</a:t>
            </a:r>
          </a:p>
        </p:txBody>
      </p:sp>
      <p:sp>
        <p:nvSpPr>
          <p:cNvPr id="7" name="Rectangle 6"/>
          <p:cNvSpPr/>
          <p:nvPr/>
        </p:nvSpPr>
        <p:spPr>
          <a:xfrm>
            <a:off x="739138" y="3068960"/>
            <a:ext cx="7217237" cy="880369"/>
          </a:xfrm>
          <a:prstGeom prst="rect">
            <a:avLst/>
          </a:prstGeom>
        </p:spPr>
        <p:txBody>
          <a:bodyPr wrap="square">
            <a:spAutoFit/>
          </a:bodyPr>
          <a:lstStyle/>
          <a:p>
            <a:pPr>
              <a:lnSpc>
                <a:spcPct val="150000"/>
              </a:lnSpc>
            </a:pPr>
            <a:r>
              <a:rPr lang="en-US" b="1" dirty="0">
                <a:latin typeface="Arial" pitchFamily="34" charset="0"/>
                <a:cs typeface="Arial" pitchFamily="34" charset="0"/>
              </a:rPr>
              <a:t>The provisions made under GAAR still do not have much clarity. And this may impact many companies.</a:t>
            </a:r>
          </a:p>
        </p:txBody>
      </p:sp>
    </p:spTree>
    <p:extLst>
      <p:ext uri="{BB962C8B-B14F-4D97-AF65-F5344CB8AC3E}">
        <p14:creationId xmlns:p14="http://schemas.microsoft.com/office/powerpoint/2010/main" xmlns="" val="14199924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26731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GAAR has led to negative sentiments in the environment. Foreign Institutional Investors, for example, who were net buyers in the initial months in 2012, turned into sellers as there is still uncertainty about their investments. </a:t>
            </a:r>
          </a:p>
        </p:txBody>
      </p:sp>
    </p:spTree>
    <p:extLst>
      <p:ext uri="{BB962C8B-B14F-4D97-AF65-F5344CB8AC3E}">
        <p14:creationId xmlns:p14="http://schemas.microsoft.com/office/powerpoint/2010/main" xmlns="" val="14208000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26731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Also, there has been recent news that  investments </a:t>
            </a:r>
            <a:r>
              <a:rPr lang="en-US" b="1" dirty="0" smtClean="0">
                <a:latin typeface="Arial" pitchFamily="34" charset="0"/>
                <a:cs typeface="Arial" pitchFamily="34" charset="0"/>
              </a:rPr>
              <a:t>through</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Mauritius route will come under the watchful eye of </a:t>
            </a:r>
            <a:r>
              <a:rPr lang="en-US" b="1" dirty="0" smtClean="0">
                <a:latin typeface="Arial" pitchFamily="34" charset="0"/>
                <a:cs typeface="Arial" pitchFamily="34" charset="0"/>
              </a:rPr>
              <a:t>GAAR.</a:t>
            </a:r>
            <a:br>
              <a:rPr lang="en-US" b="1" dirty="0" smtClean="0">
                <a:latin typeface="Arial" pitchFamily="34" charset="0"/>
                <a:cs typeface="Arial" pitchFamily="34" charset="0"/>
              </a:rPr>
            </a:br>
            <a:r>
              <a:rPr lang="en-US" b="1" dirty="0" smtClean="0">
                <a:latin typeface="Arial" pitchFamily="34" charset="0"/>
                <a:cs typeface="Arial" pitchFamily="34" charset="0"/>
              </a:rPr>
              <a:t>Many </a:t>
            </a:r>
            <a:r>
              <a:rPr lang="en-US" b="1" dirty="0">
                <a:latin typeface="Arial" pitchFamily="34" charset="0"/>
                <a:cs typeface="Arial" pitchFamily="34" charset="0"/>
              </a:rPr>
              <a:t>foreign institutional investors route funds through Mauritius in order to avoid paying capital gains tax in India.</a:t>
            </a:r>
          </a:p>
        </p:txBody>
      </p:sp>
    </p:spTree>
    <p:extLst>
      <p:ext uri="{BB962C8B-B14F-4D97-AF65-F5344CB8AC3E}">
        <p14:creationId xmlns:p14="http://schemas.microsoft.com/office/powerpoint/2010/main" xmlns="" val="12633512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482986"/>
            <a:ext cx="410445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So, although the intent of the proposed law may be </a:t>
            </a:r>
            <a:r>
              <a:rPr lang="en-US" b="1" dirty="0" smtClean="0">
                <a:latin typeface="Arial" pitchFamily="34" charset="0"/>
                <a:cs typeface="Arial" pitchFamily="34" charset="0"/>
              </a:rPr>
              <a:t>justified,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lack of clarity has hampered investor sentiments.</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7779845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267312" cy="2534027"/>
          </a:xfrm>
          <a:prstGeom prst="rect">
            <a:avLst/>
          </a:prstGeom>
        </p:spPr>
        <p:txBody>
          <a:bodyPr wrap="square">
            <a:spAutoFit/>
          </a:bodyPr>
          <a:lstStyle/>
          <a:p>
            <a:pPr>
              <a:lnSpc>
                <a:spcPct val="150000"/>
              </a:lnSpc>
            </a:pPr>
            <a:r>
              <a:rPr lang="en-US" b="1" dirty="0">
                <a:solidFill>
                  <a:srgbClr val="000000"/>
                </a:solidFill>
                <a:latin typeface="Arial" pitchFamily="34" charset="0"/>
                <a:cs typeface="Arial" pitchFamily="34" charset="0"/>
              </a:rPr>
              <a:t>The fear that law enforcers can misinterpret the law and penalize companies has impacted the economy by weakening investor sentiments. </a:t>
            </a:r>
          </a:p>
          <a:p>
            <a:pPr>
              <a:lnSpc>
                <a:spcPct val="150000"/>
              </a:lnSpc>
            </a:pPr>
            <a:endParaRPr lang="en-US" b="1" dirty="0">
              <a:solidFill>
                <a:srgbClr val="000000"/>
              </a:solidFill>
              <a:latin typeface="Arial" pitchFamily="34" charset="0"/>
              <a:cs typeface="Arial" pitchFamily="34" charset="0"/>
            </a:endParaRPr>
          </a:p>
          <a:p>
            <a:pPr>
              <a:lnSpc>
                <a:spcPct val="150000"/>
              </a:lnSpc>
            </a:pPr>
            <a:r>
              <a:rPr lang="en-US" b="1" dirty="0">
                <a:solidFill>
                  <a:srgbClr val="000000"/>
                </a:solidFill>
                <a:latin typeface="Arial" pitchFamily="34" charset="0"/>
                <a:cs typeface="Arial" pitchFamily="34" charset="0"/>
              </a:rPr>
              <a:t>The government  is aware of the situation and has acted with swiftness to allay the fears of the investors.</a:t>
            </a:r>
          </a:p>
        </p:txBody>
      </p:sp>
    </p:spTree>
    <p:extLst>
      <p:ext uri="{BB962C8B-B14F-4D97-AF65-F5344CB8AC3E}">
        <p14:creationId xmlns:p14="http://schemas.microsoft.com/office/powerpoint/2010/main" xmlns="" val="32787744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267312" cy="2118529"/>
          </a:xfrm>
          <a:prstGeom prst="rect">
            <a:avLst/>
          </a:prstGeom>
        </p:spPr>
        <p:txBody>
          <a:bodyPr wrap="square">
            <a:spAutoFit/>
          </a:bodyPr>
          <a:lstStyle/>
          <a:p>
            <a:pPr>
              <a:lnSpc>
                <a:spcPct val="150000"/>
              </a:lnSpc>
            </a:pPr>
            <a:r>
              <a:rPr lang="en-US" b="1" dirty="0">
                <a:latin typeface="Arial" pitchFamily="34" charset="0"/>
                <a:cs typeface="Arial" pitchFamily="34" charset="0"/>
              </a:rPr>
              <a:t>The </a:t>
            </a:r>
            <a:r>
              <a:rPr lang="en-US" b="1" dirty="0" err="1">
                <a:latin typeface="Arial" pitchFamily="34" charset="0"/>
                <a:cs typeface="Arial" pitchFamily="34" charset="0"/>
              </a:rPr>
              <a:t>Shome</a:t>
            </a:r>
            <a:r>
              <a:rPr lang="en-US" b="1" dirty="0">
                <a:latin typeface="Arial" pitchFamily="34" charset="0"/>
                <a:cs typeface="Arial" pitchFamily="34" charset="0"/>
              </a:rPr>
              <a:t> Committee, set up by Prime Minister </a:t>
            </a:r>
            <a:r>
              <a:rPr lang="en-US" b="1" dirty="0" err="1">
                <a:latin typeface="Arial" pitchFamily="34" charset="0"/>
                <a:cs typeface="Arial" pitchFamily="34" charset="0"/>
              </a:rPr>
              <a:t>Manmohan</a:t>
            </a:r>
            <a:r>
              <a:rPr lang="en-US" b="1" dirty="0">
                <a:latin typeface="Arial" pitchFamily="34" charset="0"/>
                <a:cs typeface="Arial" pitchFamily="34" charset="0"/>
              </a:rPr>
              <a:t> Singh to address the concerns of foreign investors on GAAR, has recommended the postponement of the controversial tax provision by three years to 2016-17. In effect, GAAR would apply from assessment year 2017-18. </a:t>
            </a:r>
          </a:p>
        </p:txBody>
      </p:sp>
    </p:spTree>
    <p:extLst>
      <p:ext uri="{BB962C8B-B14F-4D97-AF65-F5344CB8AC3E}">
        <p14:creationId xmlns:p14="http://schemas.microsoft.com/office/powerpoint/2010/main" xmlns="" val="16159148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555344" cy="4062651"/>
          </a:xfrm>
          <a:prstGeom prst="rect">
            <a:avLst/>
          </a:prstGeom>
        </p:spPr>
        <p:txBody>
          <a:bodyPr wrap="square">
            <a:spAutoFit/>
          </a:bodyPr>
          <a:lstStyle/>
          <a:p>
            <a:pPr>
              <a:lnSpc>
                <a:spcPct val="150000"/>
              </a:lnSpc>
              <a:defRPr/>
            </a:pPr>
            <a:r>
              <a:rPr lang="en-US" b="1" dirty="0">
                <a:latin typeface="Arial" pitchFamily="34" charset="0"/>
                <a:ea typeface="ＭＳ Ｐゴシック" pitchFamily="34" charset="-128"/>
                <a:cs typeface="Arial" pitchFamily="34" charset="0"/>
              </a:rPr>
              <a:t>The committee, headed by </a:t>
            </a:r>
            <a:r>
              <a:rPr lang="en-US" b="1" dirty="0" err="1">
                <a:latin typeface="Arial" pitchFamily="34" charset="0"/>
                <a:ea typeface="ＭＳ Ｐゴシック" pitchFamily="34" charset="-128"/>
                <a:cs typeface="Arial" pitchFamily="34" charset="0"/>
              </a:rPr>
              <a:t>Parthasarathi</a:t>
            </a:r>
            <a:r>
              <a:rPr lang="en-US" b="1" dirty="0">
                <a:latin typeface="Arial" pitchFamily="34" charset="0"/>
                <a:ea typeface="ＭＳ Ｐゴシック" pitchFamily="34" charset="-128"/>
                <a:cs typeface="Arial" pitchFamily="34" charset="0"/>
              </a:rPr>
              <a:t> </a:t>
            </a:r>
            <a:r>
              <a:rPr lang="en-US" b="1" dirty="0" err="1">
                <a:latin typeface="Arial" pitchFamily="34" charset="0"/>
                <a:ea typeface="ＭＳ Ｐゴシック" pitchFamily="34" charset="-128"/>
                <a:cs typeface="Arial" pitchFamily="34" charset="0"/>
              </a:rPr>
              <a:t>Shome</a:t>
            </a:r>
            <a:r>
              <a:rPr lang="en-US" b="1" dirty="0">
                <a:latin typeface="Arial" pitchFamily="34" charset="0"/>
                <a:ea typeface="ＭＳ Ｐゴシック" pitchFamily="34" charset="-128"/>
                <a:cs typeface="Arial" pitchFamily="34" charset="0"/>
              </a:rPr>
              <a:t>, has recommended that </a:t>
            </a:r>
          </a:p>
          <a:p>
            <a:pPr marL="465138" indent="-465138">
              <a:lnSpc>
                <a:spcPct val="150000"/>
              </a:lnSpc>
              <a:buFont typeface="+mj-lt"/>
              <a:buAutoNum type="arabicPeriod"/>
              <a:tabLst>
                <a:tab pos="465138" algn="l"/>
              </a:tabLst>
              <a:defRPr/>
            </a:pPr>
            <a:r>
              <a:rPr lang="en-US" b="1" dirty="0">
                <a:latin typeface="Arial" pitchFamily="34" charset="0"/>
                <a:ea typeface="ＭＳ Ｐゴシック" pitchFamily="34" charset="-128"/>
                <a:cs typeface="Arial" pitchFamily="34" charset="0"/>
              </a:rPr>
              <a:t>GAAR be applicable only if the monetary threshold of tax benefit is </a:t>
            </a:r>
            <a:r>
              <a:rPr lang="en-US" b="1" dirty="0" err="1">
                <a:latin typeface="Arial" pitchFamily="34" charset="0"/>
                <a:ea typeface="ＭＳ Ｐゴシック" pitchFamily="34" charset="-128"/>
                <a:cs typeface="Arial" pitchFamily="34" charset="0"/>
              </a:rPr>
              <a:t>Rs</a:t>
            </a:r>
            <a:r>
              <a:rPr lang="en-US" b="1" dirty="0">
                <a:latin typeface="Arial" pitchFamily="34" charset="0"/>
                <a:ea typeface="ＭＳ Ｐゴシック" pitchFamily="34" charset="-128"/>
                <a:cs typeface="Arial" pitchFamily="34" charset="0"/>
              </a:rPr>
              <a:t>. 3 </a:t>
            </a:r>
            <a:r>
              <a:rPr lang="en-US" b="1" dirty="0" err="1">
                <a:latin typeface="Arial" pitchFamily="34" charset="0"/>
                <a:ea typeface="ＭＳ Ｐゴシック" pitchFamily="34" charset="-128"/>
                <a:cs typeface="Arial" pitchFamily="34" charset="0"/>
              </a:rPr>
              <a:t>cr</a:t>
            </a:r>
            <a:r>
              <a:rPr lang="en-US" b="1" dirty="0">
                <a:latin typeface="Arial" pitchFamily="34" charset="0"/>
                <a:ea typeface="ＭＳ Ｐゴシック" pitchFamily="34" charset="-128"/>
                <a:cs typeface="Arial" pitchFamily="34" charset="0"/>
              </a:rPr>
              <a:t> &amp; </a:t>
            </a:r>
            <a:r>
              <a:rPr lang="en-US" b="1" dirty="0" smtClean="0">
                <a:latin typeface="Arial" pitchFamily="34" charset="0"/>
                <a:ea typeface="ＭＳ Ｐゴシック" pitchFamily="34" charset="-128"/>
                <a:cs typeface="Arial" pitchFamily="34" charset="0"/>
              </a:rPr>
              <a:t>more</a:t>
            </a:r>
          </a:p>
          <a:p>
            <a:pPr marL="465138" indent="-465138">
              <a:lnSpc>
                <a:spcPct val="150000"/>
              </a:lnSpc>
              <a:buFont typeface="+mj-lt"/>
              <a:buAutoNum type="arabicPeriod"/>
              <a:tabLst>
                <a:tab pos="465138" algn="l"/>
              </a:tabLst>
              <a:defRPr/>
            </a:pPr>
            <a:endParaRPr lang="en-US" sz="1000" b="1" dirty="0">
              <a:latin typeface="Arial" pitchFamily="34" charset="0"/>
              <a:ea typeface="ＭＳ Ｐゴシック" pitchFamily="34" charset="-128"/>
              <a:cs typeface="Arial" pitchFamily="34" charset="0"/>
            </a:endParaRPr>
          </a:p>
          <a:p>
            <a:pPr marL="465138" indent="-465138">
              <a:lnSpc>
                <a:spcPct val="150000"/>
              </a:lnSpc>
              <a:buFont typeface="+mj-lt"/>
              <a:buAutoNum type="arabicPeriod"/>
              <a:tabLst>
                <a:tab pos="465138" algn="l"/>
              </a:tabLst>
              <a:defRPr/>
            </a:pPr>
            <a:r>
              <a:rPr lang="en-US" b="1" dirty="0">
                <a:latin typeface="Arial" pitchFamily="34" charset="0"/>
                <a:ea typeface="ＭＳ Ｐゴシック" pitchFamily="34" charset="-128"/>
                <a:cs typeface="Arial" pitchFamily="34" charset="0"/>
              </a:rPr>
              <a:t>Abolition of short term and long term capital gains tax for sale of listed securities for both resident and non-resident investors. However, a slight increase in Securities Transaction Tax to make good some of the short fall has been recommended.</a:t>
            </a:r>
          </a:p>
        </p:txBody>
      </p:sp>
    </p:spTree>
    <p:extLst>
      <p:ext uri="{BB962C8B-B14F-4D97-AF65-F5344CB8AC3E}">
        <p14:creationId xmlns:p14="http://schemas.microsoft.com/office/powerpoint/2010/main" xmlns="" val="27162533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555344" cy="1711366"/>
          </a:xfrm>
          <a:prstGeom prst="rect">
            <a:avLst/>
          </a:prstGeom>
        </p:spPr>
        <p:txBody>
          <a:bodyPr wrap="square">
            <a:spAutoFit/>
          </a:bodyPr>
          <a:lstStyle/>
          <a:p>
            <a:pPr>
              <a:lnSpc>
                <a:spcPct val="150000"/>
              </a:lnSpc>
            </a:pPr>
            <a:r>
              <a:rPr lang="en-US" b="1" dirty="0">
                <a:latin typeface="Arial" pitchFamily="34" charset="0"/>
                <a:cs typeface="Arial" pitchFamily="34" charset="0"/>
              </a:rPr>
              <a:t>He has also recommended that “GAAR provisions shall not apply to examine the genuineness of the residency of an entity set up in Mauritius”. In other words, as long as a Tax Residency Certificate from Mauritius exists, that is enough to override GAAR provisions.</a:t>
            </a:r>
            <a:endParaRPr lang="en-US" sz="1600" b="1"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xmlns="" val="19010115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555344" cy="2957861"/>
          </a:xfrm>
          <a:prstGeom prst="rect">
            <a:avLst/>
          </a:prstGeom>
        </p:spPr>
        <p:txBody>
          <a:bodyPr wrap="square">
            <a:spAutoFit/>
          </a:bodyPr>
          <a:lstStyle/>
          <a:p>
            <a:pPr>
              <a:lnSpc>
                <a:spcPct val="150000"/>
              </a:lnSpc>
            </a:pPr>
            <a:r>
              <a:rPr lang="en-US" b="1" dirty="0">
                <a:latin typeface="Arial" pitchFamily="34" charset="0"/>
                <a:cs typeface="Arial" pitchFamily="34" charset="0"/>
              </a:rPr>
              <a:t>The objective of this lesson is not to take a political position on GAAR. The idea was to bring conceptual clarity about this widely covered subject in media.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There may be many aspects of GAAR that have been deliberately left out so that the focus remains on conceptual understanding only while leaving out the fine print.  </a:t>
            </a:r>
          </a:p>
        </p:txBody>
      </p:sp>
    </p:spTree>
    <p:extLst>
      <p:ext uri="{BB962C8B-B14F-4D97-AF65-F5344CB8AC3E}">
        <p14:creationId xmlns:p14="http://schemas.microsoft.com/office/powerpoint/2010/main" xmlns="" val="37583504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5229200"/>
            <a:ext cx="4104456" cy="464871"/>
          </a:xfrm>
          <a:prstGeom prst="rect">
            <a:avLst/>
          </a:prstGeom>
        </p:spPr>
        <p:txBody>
          <a:bodyPr wrap="square">
            <a:spAutoFit/>
          </a:bodyPr>
          <a:lstStyle/>
          <a:p>
            <a:pPr>
              <a:lnSpc>
                <a:spcPct val="150000"/>
              </a:lnSpc>
            </a:pPr>
            <a:r>
              <a:rPr lang="en-US" b="1" dirty="0">
                <a:latin typeface="Arial" pitchFamily="34" charset="0"/>
                <a:ea typeface="ＭＳ Ｐゴシック"/>
                <a:cs typeface="Arial" pitchFamily="34" charset="0"/>
              </a:rPr>
              <a:t>Hope this story has clarified GAAR</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GENERAL ANTI-AVOIDANCE RULES (GAAR)</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2744494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61183"/>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2494</TotalTime>
  <Words>909</Words>
  <Application>Microsoft Office PowerPoint</Application>
  <PresentationFormat>On-screen Show (4:3)</PresentationFormat>
  <Paragraphs>63</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328</cp:revision>
  <dcterms:created xsi:type="dcterms:W3CDTF">2013-10-22T09:41:31Z</dcterms:created>
  <dcterms:modified xsi:type="dcterms:W3CDTF">2014-09-24T06:02:50Z</dcterms:modified>
</cp:coreProperties>
</file>