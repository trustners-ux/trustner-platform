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318" r:id="rId3"/>
    <p:sldId id="358" r:id="rId4"/>
    <p:sldId id="353" r:id="rId5"/>
    <p:sldId id="334" r:id="rId6"/>
    <p:sldId id="335" r:id="rId7"/>
    <p:sldId id="346" r:id="rId8"/>
    <p:sldId id="360" r:id="rId9"/>
    <p:sldId id="370" r:id="rId10"/>
    <p:sldId id="371" r:id="rId11"/>
    <p:sldId id="372" r:id="rId12"/>
    <p:sldId id="373" r:id="rId13"/>
    <p:sldId id="374" r:id="rId14"/>
    <p:sldId id="355" r:id="rId15"/>
    <p:sldId id="375" r:id="rId16"/>
    <p:sldId id="376" r:id="rId17"/>
    <p:sldId id="377" r:id="rId18"/>
    <p:sldId id="378" r:id="rId19"/>
    <p:sldId id="287" r:id="rId20"/>
    <p:sldId id="27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103" d="100"/>
          <a:sy n="103" d="100"/>
        </p:scale>
        <p:origin x="-198"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9/18/2014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9/18/2014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9/18/2014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9/18/2014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9/18/2014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9/18/2014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9/18/2014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DEFLATION</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Oval 5"/>
          <p:cNvSpPr/>
          <p:nvPr/>
        </p:nvSpPr>
        <p:spPr>
          <a:xfrm>
            <a:off x="1043608" y="1052736"/>
            <a:ext cx="6408712" cy="1440160"/>
          </a:xfrm>
          <a:prstGeom prst="ellipse">
            <a:avLst/>
          </a:prstGeom>
          <a:solidFill>
            <a:schemeClr val="tx2">
              <a:lumMod val="40000"/>
              <a:lumOff val="60000"/>
            </a:schemeClr>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722460" y="1353542"/>
            <a:ext cx="5225804" cy="872034"/>
          </a:xfrm>
          <a:prstGeom prst="rect">
            <a:avLst/>
          </a:prstGeom>
          <a:noFill/>
        </p:spPr>
        <p:txBody>
          <a:bodyPr wrap="square" rtlCol="0">
            <a:spAutoFit/>
          </a:bodyPr>
          <a:lstStyle/>
          <a:p>
            <a:pPr>
              <a:lnSpc>
                <a:spcPct val="150000"/>
              </a:lnSpc>
            </a:pPr>
            <a:r>
              <a:rPr lang="en-US" b="1" i="1" dirty="0">
                <a:solidFill>
                  <a:schemeClr val="bg1"/>
                </a:solidFill>
                <a:latin typeface="Arial" pitchFamily="34" charset="0"/>
                <a:cs typeface="Arial" pitchFamily="34" charset="0"/>
              </a:rPr>
              <a:t>Breaking News:</a:t>
            </a:r>
            <a:r>
              <a:rPr lang="en-US" b="1" dirty="0">
                <a:solidFill>
                  <a:schemeClr val="bg1"/>
                </a:solidFill>
                <a:latin typeface="Arial" pitchFamily="34" charset="0"/>
                <a:cs typeface="Arial" pitchFamily="34" charset="0"/>
              </a:rPr>
              <a:t> India Inflation Rate reported at 0.27% for the week ending March 14, 2009!</a:t>
            </a:r>
          </a:p>
        </p:txBody>
      </p:sp>
      <p:sp>
        <p:nvSpPr>
          <p:cNvPr id="4" name="TextBox 3"/>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5" name="Rectangle 4"/>
          <p:cNvSpPr/>
          <p:nvPr/>
        </p:nvSpPr>
        <p:spPr>
          <a:xfrm>
            <a:off x="714348" y="2564904"/>
            <a:ext cx="7098012" cy="2723823"/>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has been the lowest since 1977. </a:t>
            </a:r>
            <a:br>
              <a:rPr lang="en-US"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Are we getting into negative space ?</a:t>
            </a:r>
            <a:br>
              <a:rPr lang="en-US"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Will it happen next time?</a:t>
            </a:r>
            <a:br>
              <a:rPr lang="en-US"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Are we heading for deflation or is it disinflation?</a:t>
            </a:r>
            <a:br>
              <a:rPr lang="en-US"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are these terms and how do they affect us?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619672" y="2001614"/>
            <a:ext cx="3024336" cy="923330"/>
          </a:xfrm>
          <a:prstGeom prst="rect">
            <a:avLst/>
          </a:prstGeom>
          <a:noFill/>
        </p:spPr>
        <p:txBody>
          <a:bodyPr wrap="square" rtlCol="0">
            <a:spAutoFit/>
          </a:bodyPr>
          <a:lstStyle/>
          <a:p>
            <a:pPr>
              <a:lnSpc>
                <a:spcPct val="150000"/>
              </a:lnSpc>
              <a:buFontTx/>
              <a:buNone/>
            </a:pPr>
            <a:r>
              <a:rPr lang="en-US" b="1" dirty="0">
                <a:latin typeface="Arial" pitchFamily="34" charset="0"/>
                <a:cs typeface="Arial" pitchFamily="34" charset="0"/>
              </a:rPr>
              <a:t>Understanding Deflation </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16016" y="2420888"/>
            <a:ext cx="3600400" cy="3831818"/>
          </a:xfrm>
          <a:prstGeom prst="rect">
            <a:avLst/>
          </a:prstGeom>
        </p:spPr>
        <p:txBody>
          <a:bodyPr wrap="square">
            <a:spAutoFit/>
          </a:bodyPr>
          <a:lstStyle/>
          <a:p>
            <a:pPr marL="347663" indent="-347663">
              <a:lnSpc>
                <a:spcPct val="150000"/>
              </a:lnSpc>
              <a:buFont typeface="Wingdings" pitchFamily="2" charset="2"/>
              <a:buChar char="q"/>
              <a:tabLst>
                <a:tab pos="347663" algn="l"/>
              </a:tabLst>
            </a:pPr>
            <a:r>
              <a:rPr lang="en-US" b="1">
                <a:latin typeface="Arial" pitchFamily="34" charset="0"/>
                <a:cs typeface="Arial" pitchFamily="34" charset="0"/>
              </a:rPr>
              <a:t>Let </a:t>
            </a:r>
            <a:r>
              <a:rPr lang="en-US" b="1" smtClean="0">
                <a:latin typeface="Arial" pitchFamily="34" charset="0"/>
                <a:cs typeface="Arial" pitchFamily="34" charset="0"/>
              </a:rPr>
              <a:t>us </a:t>
            </a:r>
            <a:r>
              <a:rPr lang="en-US" b="1" dirty="0">
                <a:latin typeface="Arial" pitchFamily="34" charset="0"/>
                <a:cs typeface="Arial" pitchFamily="34" charset="0"/>
              </a:rPr>
              <a:t>first understand deflation and in this bargain we will understand disinflation.</a:t>
            </a:r>
          </a:p>
          <a:p>
            <a:pPr marL="347663" indent="-347663">
              <a:lnSpc>
                <a:spcPct val="150000"/>
              </a:lnSpc>
              <a:buFont typeface="Wingdings" pitchFamily="2" charset="2"/>
              <a:buChar char="q"/>
              <a:tabLst>
                <a:tab pos="347663" algn="l"/>
              </a:tabLst>
            </a:pPr>
            <a:endParaRPr lang="en-US" b="1" dirty="0">
              <a:latin typeface="Arial" pitchFamily="34" charset="0"/>
              <a:cs typeface="Arial" pitchFamily="34" charset="0"/>
            </a:endParaRPr>
          </a:p>
          <a:p>
            <a:pPr marL="347663" indent="-347663">
              <a:lnSpc>
                <a:spcPct val="150000"/>
              </a:lnSpc>
              <a:buFont typeface="Wingdings" pitchFamily="2" charset="2"/>
              <a:buChar char="q"/>
              <a:tabLst>
                <a:tab pos="347663" algn="l"/>
              </a:tabLst>
            </a:pPr>
            <a:r>
              <a:rPr lang="en-US" b="1" dirty="0">
                <a:latin typeface="Arial" pitchFamily="34" charset="0"/>
                <a:cs typeface="Arial" pitchFamily="34" charset="0"/>
              </a:rPr>
              <a:t>In economics, deflation is a sustained decrease in the general price level of goods and services. </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Tree>
    <p:extLst>
      <p:ext uri="{BB962C8B-B14F-4D97-AF65-F5344CB8AC3E}">
        <p14:creationId xmlns:p14="http://schemas.microsoft.com/office/powerpoint/2010/main" xmlns="" val="1198146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980728"/>
            <a:ext cx="7416824" cy="464871"/>
          </a:xfrm>
          <a:prstGeom prst="rect">
            <a:avLst/>
          </a:prstGeom>
        </p:spPr>
        <p:txBody>
          <a:bodyPr wrap="square">
            <a:spAutoFit/>
          </a:bodyPr>
          <a:lstStyle/>
          <a:p>
            <a:pPr algn="ctr">
              <a:lnSpc>
                <a:spcPct val="150000"/>
              </a:lnSpc>
            </a:pPr>
            <a:r>
              <a:rPr lang="en-US" b="1" dirty="0">
                <a:latin typeface="Arial" pitchFamily="34" charset="0"/>
                <a:cs typeface="Arial" pitchFamily="34" charset="0"/>
              </a:rPr>
              <a:t>Also…</a:t>
            </a:r>
            <a:endParaRPr lang="en-US"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412776"/>
            <a:ext cx="7776864" cy="23083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Deflation occurs when the annual inflation rate falls below zero percent, resulting in an increase in the real value of money — a negative inflation rate. </a:t>
            </a:r>
          </a:p>
          <a:p>
            <a:pPr marL="465138" indent="-465138">
              <a:lnSpc>
                <a:spcPct val="150000"/>
              </a:lnSpc>
              <a:buFont typeface="Wingdings" pitchFamily="2" charset="2"/>
              <a:buChar char="q"/>
              <a:tabLst>
                <a:tab pos="465138" algn="l"/>
              </a:tabLst>
            </a:pPr>
            <a:endParaRPr lang="en-US" sz="1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600" b="1" dirty="0">
                <a:latin typeface="Arial" pitchFamily="34" charset="0"/>
                <a:cs typeface="Arial" pitchFamily="34" charset="0"/>
              </a:rPr>
              <a:t>Inflation reduces the real value of money over time, conversely, deflation increases the real value of money.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908720"/>
            <a:ext cx="7245274"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Now let’s understand disinflation…</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827584" y="1412190"/>
            <a:ext cx="7632848" cy="2534027"/>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Deflation refers to a sustained reduction in the level of prices below zero percent based on year-on-year inflation.</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Disinflation, on the other hand, denotes a slow-down in the inflation rate (i.e. when the inflation decreases, but still remains positive).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28249"/>
            <a:ext cx="7245274" cy="507831"/>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But </a:t>
            </a:r>
            <a:r>
              <a:rPr lang="en-US" b="1" dirty="0">
                <a:latin typeface="Arial" pitchFamily="34" charset="0"/>
                <a:cs typeface="Arial" pitchFamily="34" charset="0"/>
              </a:rPr>
              <a:t>what are the effects of </a:t>
            </a:r>
            <a:r>
              <a:rPr lang="en-US" b="1" dirty="0" smtClean="0">
                <a:latin typeface="Arial" pitchFamily="34" charset="0"/>
                <a:cs typeface="Arial" pitchFamily="34" charset="0"/>
              </a:rPr>
              <a:t>deflation </a:t>
            </a:r>
            <a:r>
              <a:rPr lang="en-US" b="1" dirty="0">
                <a:latin typeface="Arial" pitchFamily="34" charset="0"/>
                <a:cs typeface="Arial" pitchFamily="34" charset="0"/>
              </a:rPr>
              <a:t>on </a:t>
            </a:r>
            <a:r>
              <a:rPr lang="en-US" b="1" dirty="0" smtClean="0">
                <a:latin typeface="Arial" pitchFamily="34" charset="0"/>
                <a:cs typeface="Arial" pitchFamily="34" charset="0"/>
              </a:rPr>
              <a:t>the economy</a:t>
            </a:r>
            <a:r>
              <a:rPr lang="en-US" b="1" dirty="0">
                <a:latin typeface="Arial" pitchFamily="34" charset="0"/>
                <a:cs typeface="Arial" pitchFamily="34" charset="0"/>
              </a:rPr>
              <a:t>?</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789871" y="1556792"/>
            <a:ext cx="7598553" cy="30008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Deflation is caused by a fall in the aggregate level of demand.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means that there is a fall in the going price for goods.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Because the price of goods is falling, consumers have an incentive to delay purchases and consumption until prices fall further, which in turn reduces economic activity even further.</a:t>
            </a:r>
          </a:p>
        </p:txBody>
      </p:sp>
    </p:spTree>
    <p:extLst>
      <p:ext uri="{BB962C8B-B14F-4D97-AF65-F5344CB8AC3E}">
        <p14:creationId xmlns:p14="http://schemas.microsoft.com/office/powerpoint/2010/main" xmlns="" val="3417281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827584" y="1124744"/>
            <a:ext cx="7416824" cy="2585323"/>
          </a:xfrm>
          <a:prstGeom prst="rect">
            <a:avLst/>
          </a:prstGeom>
        </p:spPr>
        <p:txBody>
          <a:bodyPr wrap="square">
            <a:spAutoFit/>
          </a:bodyPr>
          <a:lstStyle/>
          <a:p>
            <a:pPr>
              <a:lnSpc>
                <a:spcPct val="150000"/>
              </a:lnSpc>
            </a:pPr>
            <a:r>
              <a:rPr lang="en-US" b="1" dirty="0">
                <a:latin typeface="Arial" pitchFamily="34" charset="0"/>
                <a:cs typeface="Arial" pitchFamily="34" charset="0"/>
              </a:rPr>
              <a:t>Lack of demand leads to an increase in the idle capacity bringing down the rate of investments leading to unemployment and lower disposable income and hence a further fall in demand and increase in loan defaults.</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This is known as the Deflationary Spiral.</a:t>
            </a:r>
          </a:p>
        </p:txBody>
      </p:sp>
    </p:spTree>
    <p:extLst>
      <p:ext uri="{BB962C8B-B14F-4D97-AF65-F5344CB8AC3E}">
        <p14:creationId xmlns:p14="http://schemas.microsoft.com/office/powerpoint/2010/main" xmlns="" val="5942471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48961"/>
            <a:ext cx="7245274"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what can one do about it?</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827584" y="1700808"/>
            <a:ext cx="7560840" cy="336502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An answer to falling aggregate demand is:</a:t>
            </a:r>
          </a:p>
          <a:p>
            <a:pPr>
              <a:lnSpc>
                <a:spcPct val="150000"/>
              </a:lnSpc>
            </a:pPr>
            <a:endParaRPr lang="en-US" b="1" dirty="0">
              <a:latin typeface="Arial" pitchFamily="34" charset="0"/>
              <a:cs typeface="Arial" pitchFamily="34" charset="0"/>
            </a:endParaRPr>
          </a:p>
          <a:p>
            <a:pPr lvl="2" indent="-457200">
              <a:lnSpc>
                <a:spcPct val="150000"/>
              </a:lnSpc>
              <a:buFontTx/>
              <a:buChar char="•"/>
              <a:tabLst>
                <a:tab pos="465138" algn="l"/>
                <a:tab pos="914400" algn="l"/>
              </a:tabLst>
            </a:pPr>
            <a:r>
              <a:rPr lang="en-US" b="1" dirty="0">
                <a:latin typeface="Arial" pitchFamily="34" charset="0"/>
                <a:cs typeface="Arial" pitchFamily="34" charset="0"/>
              </a:rPr>
              <a:t>Stimulus, either from the central bank, by expanding the money supply</a:t>
            </a:r>
          </a:p>
          <a:p>
            <a:pPr marL="914400" lvl="1" indent="-457200">
              <a:lnSpc>
                <a:spcPct val="150000"/>
              </a:lnSpc>
              <a:buFontTx/>
              <a:buChar char="•"/>
              <a:tabLst>
                <a:tab pos="465138" algn="l"/>
                <a:tab pos="914400" algn="l"/>
              </a:tabLst>
            </a:pPr>
            <a:endParaRPr lang="en-US" b="1" dirty="0">
              <a:latin typeface="Arial" pitchFamily="34" charset="0"/>
              <a:cs typeface="Arial" pitchFamily="34" charset="0"/>
            </a:endParaRPr>
          </a:p>
          <a:p>
            <a:pPr lvl="2" indent="-457200">
              <a:lnSpc>
                <a:spcPct val="150000"/>
              </a:lnSpc>
              <a:buFontTx/>
              <a:buChar char="•"/>
              <a:tabLst>
                <a:tab pos="465138" algn="l"/>
                <a:tab pos="914400" algn="l"/>
              </a:tabLst>
            </a:pPr>
            <a:r>
              <a:rPr lang="en-US" b="1" dirty="0">
                <a:latin typeface="Arial" pitchFamily="34" charset="0"/>
                <a:cs typeface="Arial" pitchFamily="34" charset="0"/>
              </a:rPr>
              <a:t>Suitable monetary policies such as lowering of interest rates so that the consumers are encouraged to borrow and spend of goods and services</a:t>
            </a:r>
          </a:p>
        </p:txBody>
      </p:sp>
    </p:spTree>
    <p:extLst>
      <p:ext uri="{BB962C8B-B14F-4D97-AF65-F5344CB8AC3E}">
        <p14:creationId xmlns:p14="http://schemas.microsoft.com/office/powerpoint/2010/main" xmlns="" val="14723793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052736"/>
            <a:ext cx="7056784" cy="1338828"/>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While a fall in prices may sound like good news to most, economists see this as an ominous sign of a collapse in demand in the economy. </a:t>
            </a:r>
          </a:p>
        </p:txBody>
      </p:sp>
    </p:spTree>
    <p:extLst>
      <p:ext uri="{BB962C8B-B14F-4D97-AF65-F5344CB8AC3E}">
        <p14:creationId xmlns:p14="http://schemas.microsoft.com/office/powerpoint/2010/main" xmlns="" val="8101965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980728"/>
            <a:ext cx="7245274" cy="456535"/>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How does one </a:t>
            </a:r>
            <a:r>
              <a:rPr lang="en-US" b="1" dirty="0" smtClean="0">
                <a:latin typeface="Arial" pitchFamily="34" charset="0"/>
                <a:cs typeface="Arial" pitchFamily="34" charset="0"/>
              </a:rPr>
              <a:t>counteract </a:t>
            </a:r>
            <a:r>
              <a:rPr lang="en-US" b="1" dirty="0">
                <a:latin typeface="Arial" pitchFamily="34" charset="0"/>
                <a:cs typeface="Arial" pitchFamily="34" charset="0"/>
              </a:rPr>
              <a:t>against </a:t>
            </a:r>
            <a:r>
              <a:rPr lang="en-US" b="1" dirty="0" smtClean="0">
                <a:latin typeface="Arial" pitchFamily="34" charset="0"/>
                <a:cs typeface="Arial" pitchFamily="34" charset="0"/>
              </a:rPr>
              <a:t>deflation</a:t>
            </a:r>
            <a:r>
              <a:rPr lang="en-US" b="1" dirty="0">
                <a:latin typeface="Arial" pitchFamily="34" charset="0"/>
                <a:cs typeface="Arial" pitchFamily="34" charset="0"/>
              </a:rPr>
              <a:t>?</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498494"/>
            <a:ext cx="7992888"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Until the 1930s, it was commonly believed by economists that deflation would cure itself.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As prices decreased, demand would naturally increase and the economic system would correct itself without outside intervention.</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view was challenged in the 1930s during the Great Depression by the economist Keynes who argued that the economic system was not self-correcting with respect to deflation.</a:t>
            </a:r>
          </a:p>
        </p:txBody>
      </p:sp>
    </p:spTree>
    <p:extLst>
      <p:ext uri="{BB962C8B-B14F-4D97-AF65-F5344CB8AC3E}">
        <p14:creationId xmlns:p14="http://schemas.microsoft.com/office/powerpoint/2010/main" xmlns="" val="30041193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980728"/>
            <a:ext cx="7245274" cy="464871"/>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What did Keynes say?</a:t>
            </a: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412776"/>
            <a:ext cx="7704856" cy="390106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According to him, governments and central banks had to take active measures to boost demand through tax cuts or increases in govt. spending.</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Today, to counter deflation, the Reserve Bank of India (RBI) can use monetary policy to increase the money supply and deliberately induce price rise.</a:t>
            </a:r>
          </a:p>
          <a:p>
            <a:pPr marL="465138" indent="-465138">
              <a:lnSpc>
                <a:spcPct val="150000"/>
              </a:lnSpc>
              <a:buFont typeface="Wingdings" pitchFamily="2" charset="2"/>
              <a:buChar char="q"/>
              <a:tabLst>
                <a:tab pos="465138"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Rising prices provide an essential lubricant for any sustained recovery because businesses increase profits and this takes some of the depressive pressures off them.</a:t>
            </a:r>
          </a:p>
        </p:txBody>
      </p:sp>
    </p:spTree>
    <p:extLst>
      <p:ext uri="{BB962C8B-B14F-4D97-AF65-F5344CB8AC3E}">
        <p14:creationId xmlns:p14="http://schemas.microsoft.com/office/powerpoint/2010/main" xmlns="" val="38601753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980728"/>
            <a:ext cx="7245274" cy="507831"/>
          </a:xfrm>
          <a:prstGeom prst="rect">
            <a:avLst/>
          </a:prstGeom>
        </p:spPr>
        <p:txBody>
          <a:bodyPr wrap="square">
            <a:spAutoFit/>
          </a:bodyPr>
          <a:lstStyle/>
          <a:p>
            <a:pPr algn="ctr">
              <a:lnSpc>
                <a:spcPct val="150000"/>
              </a:lnSpc>
              <a:spcBef>
                <a:spcPct val="20000"/>
              </a:spcBef>
            </a:pPr>
            <a:r>
              <a:rPr lang="en-US" b="1" dirty="0">
                <a:latin typeface="Arial" pitchFamily="34" charset="0"/>
                <a:cs typeface="Arial" pitchFamily="34" charset="0"/>
              </a:rPr>
              <a:t>What about India</a:t>
            </a:r>
            <a:r>
              <a:rPr lang="en-US" b="1" dirty="0" smtClean="0">
                <a:latin typeface="Arial" pitchFamily="34" charset="0"/>
                <a:cs typeface="Arial" pitchFamily="34" charset="0"/>
              </a:rPr>
              <a:t>? Are </a:t>
            </a:r>
            <a:r>
              <a:rPr lang="en-US" b="1" dirty="0">
                <a:latin typeface="Arial" pitchFamily="34" charset="0"/>
                <a:cs typeface="Arial" pitchFamily="34" charset="0"/>
              </a:rPr>
              <a:t>we heading towards deflation?</a:t>
            </a:r>
            <a:r>
              <a:rPr lang="en-US" dirty="0">
                <a:latin typeface="Arial" pitchFamily="34" charset="0"/>
                <a:cs typeface="Arial" pitchFamily="34" charset="0"/>
              </a:rPr>
              <a:t> </a:t>
            </a:r>
            <a:endParaRPr lang="en-US" b="1" dirty="0">
              <a:latin typeface="Arial" pitchFamily="34" charset="0"/>
              <a:cs typeface="Arial" pitchFamily="34" charset="0"/>
            </a:endParaRPr>
          </a:p>
        </p:txBody>
      </p:sp>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559595"/>
            <a:ext cx="7704856" cy="2949525"/>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Not really. There is no cause for alarm.</a:t>
            </a:r>
            <a:br>
              <a:rPr lang="en-US" b="1" dirty="0">
                <a:latin typeface="Arial" pitchFamily="34" charset="0"/>
                <a:cs typeface="Arial" pitchFamily="34" charset="0"/>
              </a:rPr>
            </a:b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What we are witnessing is more of disinflation. </a:t>
            </a:r>
            <a:br>
              <a:rPr lang="en-US" b="1" dirty="0">
                <a:latin typeface="Arial" pitchFamily="34" charset="0"/>
                <a:cs typeface="Arial" pitchFamily="34" charset="0"/>
              </a:rPr>
            </a:br>
            <a:r>
              <a:rPr lang="en-US" b="1" dirty="0">
                <a:latin typeface="Arial" pitchFamily="34" charset="0"/>
                <a:cs typeface="Arial" pitchFamily="34" charset="0"/>
              </a:rPr>
              <a:t>Prices are not actually falling yet.</a:t>
            </a:r>
            <a:br>
              <a:rPr lang="en-US" b="1" dirty="0">
                <a:latin typeface="Arial" pitchFamily="34" charset="0"/>
                <a:cs typeface="Arial" pitchFamily="34" charset="0"/>
              </a:rPr>
            </a:b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Also this is not expected to sustain itself which is a key requirement for deflation.</a:t>
            </a:r>
          </a:p>
        </p:txBody>
      </p:sp>
    </p:spTree>
    <p:extLst>
      <p:ext uri="{BB962C8B-B14F-4D97-AF65-F5344CB8AC3E}">
        <p14:creationId xmlns:p14="http://schemas.microsoft.com/office/powerpoint/2010/main" xmlns="" val="4410087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499992" y="3286295"/>
            <a:ext cx="3960440" cy="3000821"/>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And remember in India when we refer to deflation we are talking about WPI – Wholesale Price Index and not CPI – Consumer price index which is used as a reference in most economies</a:t>
            </a:r>
            <a:br>
              <a:rPr lang="en-US" b="1" dirty="0">
                <a:latin typeface="Arial" pitchFamily="34" charset="0"/>
                <a:cs typeface="Arial" pitchFamily="34" charset="0"/>
              </a:rPr>
            </a:br>
            <a:r>
              <a:rPr lang="en-US" b="1" dirty="0">
                <a:latin typeface="Arial" pitchFamily="34" charset="0"/>
                <a:cs typeface="Arial" pitchFamily="34" charset="0"/>
              </a:rPr>
              <a:t>Remember the CPI is still at 10%!</a:t>
            </a: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Tree>
    <p:extLst>
      <p:ext uri="{BB962C8B-B14F-4D97-AF65-F5344CB8AC3E}">
        <p14:creationId xmlns:p14="http://schemas.microsoft.com/office/powerpoint/2010/main" xmlns="" val="26834514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196752"/>
            <a:ext cx="7056784" cy="2169825"/>
          </a:xfrm>
          <a:prstGeom prst="rect">
            <a:avLst/>
          </a:prstGeom>
        </p:spPr>
        <p:txBody>
          <a:bodyPr wrap="square">
            <a:spAutoFit/>
          </a:bodyPr>
          <a:lstStyle/>
          <a:p>
            <a:pPr>
              <a:lnSpc>
                <a:spcPct val="150000"/>
              </a:lnSpc>
            </a:pPr>
            <a:r>
              <a:rPr lang="en-US" b="1" dirty="0">
                <a:latin typeface="Arial" pitchFamily="34" charset="0"/>
                <a:cs typeface="Arial" pitchFamily="34" charset="0"/>
              </a:rPr>
              <a:t>Again one needs to bear in mind that our GDP growth engine is still humming along at nearly 6.5%.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For deflation to set it, the GDP growth rate needs to substantially fall as is seen in many western companies.</a:t>
            </a:r>
          </a:p>
        </p:txBody>
      </p:sp>
    </p:spTree>
    <p:extLst>
      <p:ext uri="{BB962C8B-B14F-4D97-AF65-F5344CB8AC3E}">
        <p14:creationId xmlns:p14="http://schemas.microsoft.com/office/powerpoint/2010/main" xmlns="" val="17405430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196752"/>
            <a:ext cx="7056784" cy="2585323"/>
          </a:xfrm>
          <a:prstGeom prst="rect">
            <a:avLst/>
          </a:prstGeom>
        </p:spPr>
        <p:txBody>
          <a:bodyPr wrap="square">
            <a:spAutoFit/>
          </a:bodyPr>
          <a:lstStyle/>
          <a:p>
            <a:pPr>
              <a:lnSpc>
                <a:spcPct val="150000"/>
              </a:lnSpc>
              <a:spcBef>
                <a:spcPct val="0"/>
              </a:spcBef>
            </a:pPr>
            <a:r>
              <a:rPr lang="en-US" b="1" dirty="0">
                <a:latin typeface="Arial" pitchFamily="34" charset="0"/>
                <a:cs typeface="Arial" pitchFamily="34" charset="0"/>
              </a:rPr>
              <a:t>Our government still has tools in its armory to counter a deflationary situation.</a:t>
            </a:r>
          </a:p>
          <a:p>
            <a:pPr>
              <a:lnSpc>
                <a:spcPct val="150000"/>
              </a:lnSpc>
              <a:spcBef>
                <a:spcPct val="0"/>
              </a:spcBef>
            </a:pPr>
            <a:endParaRPr lang="en-US" b="1" dirty="0">
              <a:latin typeface="Arial" pitchFamily="34" charset="0"/>
              <a:cs typeface="Arial" pitchFamily="34" charset="0"/>
            </a:endParaRPr>
          </a:p>
          <a:p>
            <a:pPr>
              <a:lnSpc>
                <a:spcPct val="150000"/>
              </a:lnSpc>
              <a:spcBef>
                <a:spcPct val="0"/>
              </a:spcBef>
            </a:pPr>
            <a:r>
              <a:rPr lang="en-US" b="1" dirty="0">
                <a:latin typeface="Arial" pitchFamily="34" charset="0"/>
                <a:cs typeface="Arial" pitchFamily="34" charset="0"/>
              </a:rPr>
              <a:t>With the help of monetary policy, fiscal stimuli, investment in infrastructure projects </a:t>
            </a:r>
            <a:r>
              <a:rPr lang="en-US" b="1" dirty="0" err="1">
                <a:latin typeface="Arial" pitchFamily="34" charset="0"/>
                <a:cs typeface="Arial" pitchFamily="34" charset="0"/>
              </a:rPr>
              <a:t>etc</a:t>
            </a:r>
            <a:r>
              <a:rPr lang="en-US" b="1" dirty="0">
                <a:latin typeface="Arial" pitchFamily="34" charset="0"/>
                <a:cs typeface="Arial" pitchFamily="34" charset="0"/>
              </a:rPr>
              <a:t>, we are well poised to ward of any immediate threat of deflation.</a:t>
            </a:r>
          </a:p>
        </p:txBody>
      </p:sp>
    </p:spTree>
    <p:extLst>
      <p:ext uri="{BB962C8B-B14F-4D97-AF65-F5344CB8AC3E}">
        <p14:creationId xmlns:p14="http://schemas.microsoft.com/office/powerpoint/2010/main" xmlns="" val="13866624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7" name="TextBox 6"/>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
        <p:nvSpPr>
          <p:cNvPr id="3" name="Rectangle 2"/>
          <p:cNvSpPr/>
          <p:nvPr/>
        </p:nvSpPr>
        <p:spPr>
          <a:xfrm>
            <a:off x="683568" y="1028249"/>
            <a:ext cx="7056784"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Sum Up</a:t>
            </a:r>
          </a:p>
        </p:txBody>
      </p:sp>
      <p:sp>
        <p:nvSpPr>
          <p:cNvPr id="4" name="Rectangle 3"/>
          <p:cNvSpPr/>
          <p:nvPr/>
        </p:nvSpPr>
        <p:spPr>
          <a:xfrm>
            <a:off x="683568" y="1519039"/>
            <a:ext cx="7776864" cy="3647152"/>
          </a:xfrm>
          <a:prstGeom prst="rect">
            <a:avLst/>
          </a:prstGeom>
        </p:spPr>
        <p:txBody>
          <a:bodyPr wrap="square">
            <a:spAutoFit/>
          </a:bodyPr>
          <a:lstStyle/>
          <a:p>
            <a:pPr marL="465138" indent="-465138">
              <a:lnSpc>
                <a:spcPct val="150000"/>
              </a:lnSpc>
              <a:buFont typeface="Wingdings" pitchFamily="2" charset="2"/>
              <a:buChar char="q"/>
              <a:tabLst>
                <a:tab pos="465138" algn="l"/>
                <a:tab pos="3600450" algn="l"/>
              </a:tabLst>
            </a:pPr>
            <a:r>
              <a:rPr lang="en-US" sz="1600" b="1" dirty="0">
                <a:latin typeface="Arial" pitchFamily="34" charset="0"/>
                <a:cs typeface="Arial" pitchFamily="34" charset="0"/>
              </a:rPr>
              <a:t>What: Deflation is a sustained decrease in the general price level of goods and services.</a:t>
            </a:r>
            <a:r>
              <a:rPr lang="en-US" b="1" dirty="0">
                <a:latin typeface="Arial" pitchFamily="34" charset="0"/>
                <a:cs typeface="Arial" pitchFamily="34" charset="0"/>
              </a:rPr>
              <a:t> </a:t>
            </a:r>
          </a:p>
          <a:p>
            <a:pPr marL="465138" indent="-465138">
              <a:lnSpc>
                <a:spcPct val="150000"/>
              </a:lnSpc>
              <a:buFont typeface="Wingdings" pitchFamily="2" charset="2"/>
              <a:buChar char="q"/>
              <a:tabLst>
                <a:tab pos="465138" algn="l"/>
                <a:tab pos="3600450"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 pos="3600450" algn="l"/>
              </a:tabLst>
            </a:pPr>
            <a:r>
              <a:rPr lang="en-US" sz="1600" b="1" dirty="0">
                <a:latin typeface="Arial" pitchFamily="34" charset="0"/>
                <a:cs typeface="Arial" pitchFamily="34" charset="0"/>
              </a:rPr>
              <a:t>How: Deflation occurs when the annual inflation rate falls below zero percent and prices continue to fall on a sustained basis</a:t>
            </a:r>
          </a:p>
          <a:p>
            <a:pPr marL="465138" indent="-465138">
              <a:lnSpc>
                <a:spcPct val="150000"/>
              </a:lnSpc>
              <a:buFont typeface="Wingdings" pitchFamily="2" charset="2"/>
              <a:buChar char="q"/>
              <a:tabLst>
                <a:tab pos="465138" algn="l"/>
                <a:tab pos="3600450" algn="l"/>
              </a:tabLst>
            </a:pP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 pos="3600450" algn="l"/>
              </a:tabLst>
            </a:pPr>
            <a:r>
              <a:rPr lang="en-US" sz="1600" b="1" dirty="0">
                <a:latin typeface="Arial" pitchFamily="34" charset="0"/>
                <a:cs typeface="Arial" pitchFamily="34" charset="0"/>
              </a:rPr>
              <a:t>Why: Deflation is caused by a shift in the supply and demand curve for goods and interest, particularly a fall in the aggregate level of demand.</a:t>
            </a:r>
            <a:r>
              <a:rPr lang="en-US" b="1" dirty="0">
                <a:latin typeface="Arial" pitchFamily="34" charset="0"/>
                <a:cs typeface="Arial" pitchFamily="34" charset="0"/>
              </a:rPr>
              <a:t> </a:t>
            </a:r>
            <a:br>
              <a:rPr lang="en-US" b="1" dirty="0">
                <a:latin typeface="Arial" pitchFamily="34" charset="0"/>
                <a:cs typeface="Arial" pitchFamily="34" charset="0"/>
              </a:rPr>
            </a:br>
            <a:endParaRPr lang="en-US" sz="600" b="1" dirty="0">
              <a:latin typeface="Arial" pitchFamily="34" charset="0"/>
              <a:cs typeface="Arial" pitchFamily="34" charset="0"/>
            </a:endParaRPr>
          </a:p>
          <a:p>
            <a:pPr marL="465138" indent="-465138">
              <a:lnSpc>
                <a:spcPct val="150000"/>
              </a:lnSpc>
              <a:buFont typeface="Wingdings" pitchFamily="2" charset="2"/>
              <a:buChar char="q"/>
              <a:tabLst>
                <a:tab pos="465138" algn="l"/>
                <a:tab pos="3600450" algn="l"/>
              </a:tabLst>
            </a:pPr>
            <a:r>
              <a:rPr lang="en-US" sz="1600" b="1" dirty="0">
                <a:latin typeface="Arial" pitchFamily="34" charset="0"/>
                <a:cs typeface="Arial" pitchFamily="34" charset="0"/>
              </a:rPr>
              <a:t>So: As of now the Indian economy remains fairly robust to ward off deflationary forces.</a:t>
            </a:r>
          </a:p>
        </p:txBody>
      </p:sp>
    </p:spTree>
    <p:extLst>
      <p:ext uri="{BB962C8B-B14F-4D97-AF65-F5344CB8AC3E}">
        <p14:creationId xmlns:p14="http://schemas.microsoft.com/office/powerpoint/2010/main" xmlns="" val="41056279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83968" y="4797152"/>
            <a:ext cx="3960440" cy="872034"/>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understood the concept </a:t>
            </a:r>
            <a:r>
              <a:rPr lang="en-US" b="1" dirty="0" smtClean="0">
                <a:latin typeface="Arial" pitchFamily="34" charset="0"/>
                <a:cs typeface="Arial" pitchFamily="34" charset="0"/>
              </a:rPr>
              <a:t>of Deflation</a:t>
            </a:r>
            <a:endParaRPr lang="en-US" b="1" dirty="0">
              <a:latin typeface="Arial" pitchFamily="34" charset="0"/>
              <a:cs typeface="Arial" pitchFamily="34" charset="0"/>
            </a:endParaRPr>
          </a:p>
        </p:txBody>
      </p:sp>
      <p:sp>
        <p:nvSpPr>
          <p:cNvPr id="5" name="TextBox 4"/>
          <p:cNvSpPr txBox="1"/>
          <p:nvPr/>
        </p:nvSpPr>
        <p:spPr>
          <a:xfrm>
            <a:off x="1403648" y="476672"/>
            <a:ext cx="576064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DEFLATION</a:t>
            </a:r>
          </a:p>
        </p:txBody>
      </p:sp>
    </p:spTree>
    <p:extLst>
      <p:ext uri="{BB962C8B-B14F-4D97-AF65-F5344CB8AC3E}">
        <p14:creationId xmlns:p14="http://schemas.microsoft.com/office/powerpoint/2010/main" xmlns="" val="1007802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162239"/>
            <a:ext cx="4032448" cy="978729"/>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In case of any query, please e-mail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2076</TotalTime>
  <Words>898</Words>
  <Application>Microsoft Office PowerPoint</Application>
  <PresentationFormat>On-screen Show (4:3)</PresentationFormat>
  <Paragraphs>88</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238</cp:revision>
  <dcterms:created xsi:type="dcterms:W3CDTF">2013-10-22T09:41:31Z</dcterms:created>
  <dcterms:modified xsi:type="dcterms:W3CDTF">2014-09-18T12:42:22Z</dcterms:modified>
</cp:coreProperties>
</file>