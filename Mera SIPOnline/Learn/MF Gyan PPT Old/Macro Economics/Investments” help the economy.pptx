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56" r:id="rId2"/>
    <p:sldId id="358" r:id="rId3"/>
    <p:sldId id="424" r:id="rId4"/>
    <p:sldId id="452" r:id="rId5"/>
    <p:sldId id="416" r:id="rId6"/>
    <p:sldId id="417" r:id="rId7"/>
    <p:sldId id="418" r:id="rId8"/>
    <p:sldId id="448" r:id="rId9"/>
    <p:sldId id="449" r:id="rId10"/>
    <p:sldId id="450" r:id="rId11"/>
    <p:sldId id="451" r:id="rId12"/>
    <p:sldId id="453" r:id="rId13"/>
    <p:sldId id="447" r:id="rId14"/>
    <p:sldId id="287" r:id="rId15"/>
    <p:sldId id="273" r:id="rId16"/>
  </p:sldIdLst>
  <p:sldSz cx="9144000" cy="6858000" type="screen4x3"/>
  <p:notesSz cx="6881813"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p:scale>
          <a:sx n="61" d="100"/>
          <a:sy n="61" d="100"/>
        </p:scale>
        <p:origin x="-1398" y="-9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97313" y="0"/>
            <a:ext cx="2982912" cy="465138"/>
          </a:xfrm>
          <a:prstGeom prst="rect">
            <a:avLst/>
          </a:prstGeom>
        </p:spPr>
        <p:txBody>
          <a:bodyPr vert="horz" lIns="91440" tIns="45720" rIns="91440" bIns="45720" rtlCol="0"/>
          <a:lstStyle>
            <a:lvl1pPr algn="r">
              <a:defRPr sz="1200"/>
            </a:lvl1pPr>
          </a:lstStyle>
          <a:p>
            <a:fld id="{03FEE433-A1BB-484E-A330-FA39B6ABAF92}" type="datetimeFigureOut">
              <a:rPr lang="en-US" smtClean="0"/>
              <a:t>9/26/2014</a:t>
            </a:fld>
            <a:endParaRPr lang="en-US"/>
          </a:p>
        </p:txBody>
      </p:sp>
      <p:sp>
        <p:nvSpPr>
          <p:cNvPr id="4" name="Footer Placeholder 3"/>
          <p:cNvSpPr>
            <a:spLocks noGrp="1"/>
          </p:cNvSpPr>
          <p:nvPr>
            <p:ph type="ftr" sz="quarter" idx="2"/>
          </p:nvPr>
        </p:nvSpPr>
        <p:spPr>
          <a:xfrm>
            <a:off x="0" y="8829675"/>
            <a:ext cx="2982913"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97313" y="8829675"/>
            <a:ext cx="2982912" cy="465138"/>
          </a:xfrm>
          <a:prstGeom prst="rect">
            <a:avLst/>
          </a:prstGeom>
        </p:spPr>
        <p:txBody>
          <a:bodyPr vert="horz" lIns="91440" tIns="45720" rIns="91440" bIns="45720" rtlCol="0" anchor="b"/>
          <a:lstStyle>
            <a:lvl1pPr algn="r">
              <a:defRPr sz="1200"/>
            </a:lvl1pPr>
          </a:lstStyle>
          <a:p>
            <a:fld id="{2AA2D838-5A38-498B-884F-4796047C7A5E}" type="slidenum">
              <a:rPr lang="en-US" smtClean="0"/>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4820"/>
          </a:xfrm>
          <a:prstGeom prst="rect">
            <a:avLst/>
          </a:prstGeom>
        </p:spPr>
        <p:txBody>
          <a:bodyPr vert="horz" lIns="92446" tIns="46223" rIns="92446" bIns="46223" rtlCol="0"/>
          <a:lstStyle>
            <a:lvl1pPr algn="l">
              <a:defRPr sz="1200"/>
            </a:lvl1pPr>
          </a:lstStyle>
          <a:p>
            <a:endParaRPr lang="en-IN"/>
          </a:p>
        </p:txBody>
      </p:sp>
      <p:sp>
        <p:nvSpPr>
          <p:cNvPr id="3" name="Date Placeholder 2"/>
          <p:cNvSpPr>
            <a:spLocks noGrp="1"/>
          </p:cNvSpPr>
          <p:nvPr>
            <p:ph type="dt" idx="1"/>
          </p:nvPr>
        </p:nvSpPr>
        <p:spPr>
          <a:xfrm>
            <a:off x="3898102" y="0"/>
            <a:ext cx="2982119" cy="464820"/>
          </a:xfrm>
          <a:prstGeom prst="rect">
            <a:avLst/>
          </a:prstGeom>
        </p:spPr>
        <p:txBody>
          <a:bodyPr vert="horz" lIns="92446" tIns="46223" rIns="92446" bIns="46223" rtlCol="0"/>
          <a:lstStyle>
            <a:lvl1pPr algn="r">
              <a:defRPr sz="1200"/>
            </a:lvl1pPr>
          </a:lstStyle>
          <a:p>
            <a:fld id="{B10E05B8-715C-4FAF-BC8A-A5F0580F534E}" type="datetimeFigureOut">
              <a:rPr lang="en-US" smtClean="0"/>
              <a:pPr/>
              <a:t>9/26/2014</a:t>
            </a:fld>
            <a:endParaRPr lang="en-IN"/>
          </a:p>
        </p:txBody>
      </p:sp>
      <p:sp>
        <p:nvSpPr>
          <p:cNvPr id="4" name="Slide Image Placeholder 3"/>
          <p:cNvSpPr>
            <a:spLocks noGrp="1" noRot="1" noChangeAspect="1"/>
          </p:cNvSpPr>
          <p:nvPr>
            <p:ph type="sldImg" idx="2"/>
          </p:nvPr>
        </p:nvSpPr>
        <p:spPr>
          <a:xfrm>
            <a:off x="1117600" y="696913"/>
            <a:ext cx="4648200" cy="3486150"/>
          </a:xfrm>
          <a:prstGeom prst="rect">
            <a:avLst/>
          </a:prstGeom>
          <a:noFill/>
          <a:ln w="12700">
            <a:solidFill>
              <a:prstClr val="black"/>
            </a:solidFill>
          </a:ln>
        </p:spPr>
        <p:txBody>
          <a:bodyPr vert="horz" lIns="92446" tIns="46223" rIns="92446" bIns="46223" rtlCol="0" anchor="ctr"/>
          <a:lstStyle/>
          <a:p>
            <a:endParaRPr lang="en-IN"/>
          </a:p>
        </p:txBody>
      </p:sp>
      <p:sp>
        <p:nvSpPr>
          <p:cNvPr id="5" name="Notes Placeholder 4"/>
          <p:cNvSpPr>
            <a:spLocks noGrp="1"/>
          </p:cNvSpPr>
          <p:nvPr>
            <p:ph type="body" sz="quarter" idx="3"/>
          </p:nvPr>
        </p:nvSpPr>
        <p:spPr>
          <a:xfrm>
            <a:off x="688182" y="4415790"/>
            <a:ext cx="5505450" cy="4183380"/>
          </a:xfrm>
          <a:prstGeom prst="rect">
            <a:avLst/>
          </a:prstGeom>
        </p:spPr>
        <p:txBody>
          <a:bodyPr vert="horz" lIns="92446" tIns="46223" rIns="92446" bIns="46223"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829967"/>
            <a:ext cx="2982119" cy="464820"/>
          </a:xfrm>
          <a:prstGeom prst="rect">
            <a:avLst/>
          </a:prstGeom>
        </p:spPr>
        <p:txBody>
          <a:bodyPr vert="horz" lIns="92446" tIns="46223" rIns="92446" bIns="46223" rtlCol="0" anchor="b"/>
          <a:lstStyle>
            <a:lvl1pPr algn="l">
              <a:defRPr sz="1200"/>
            </a:lvl1pPr>
          </a:lstStyle>
          <a:p>
            <a:endParaRPr lang="en-IN"/>
          </a:p>
        </p:txBody>
      </p:sp>
      <p:sp>
        <p:nvSpPr>
          <p:cNvPr id="7" name="Slide Number Placeholder 6"/>
          <p:cNvSpPr>
            <a:spLocks noGrp="1"/>
          </p:cNvSpPr>
          <p:nvPr>
            <p:ph type="sldNum" sz="quarter" idx="5"/>
          </p:nvPr>
        </p:nvSpPr>
        <p:spPr>
          <a:xfrm>
            <a:off x="3898102" y="8829967"/>
            <a:ext cx="2982119" cy="464820"/>
          </a:xfrm>
          <a:prstGeom prst="rect">
            <a:avLst/>
          </a:prstGeom>
        </p:spPr>
        <p:txBody>
          <a:bodyPr vert="horz" lIns="92446" tIns="46223" rIns="92446" bIns="46223"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9/26/2014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9/26/2014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9/26/2014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9/26/2014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780928"/>
            <a:ext cx="4392488" cy="346249"/>
          </a:xfrm>
          <a:prstGeom prst="rect">
            <a:avLst/>
          </a:prstGeom>
          <a:noFill/>
        </p:spPr>
        <p:txBody>
          <a:bodyPr wrap="square" rtlCol="0">
            <a:spAutoFit/>
          </a:bodyPr>
          <a:lstStyle/>
          <a:p>
            <a:pPr algn="ctr"/>
            <a:r>
              <a:rPr lang="en-US" sz="1650" b="1" dirty="0" smtClean="0">
                <a:solidFill>
                  <a:schemeClr val="bg1"/>
                </a:solidFill>
                <a:latin typeface="Arial" pitchFamily="34" charset="0"/>
                <a:cs typeface="Arial" pitchFamily="34" charset="0"/>
              </a:rPr>
              <a:t>INVESTMENTS HELP THE ECONOMY</a:t>
            </a:r>
            <a:endParaRPr lang="en-US" sz="165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187054" y="1857364"/>
            <a:ext cx="3885012" cy="923330"/>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Understanding how “Investments” help the economy</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43372" y="4317880"/>
            <a:ext cx="4143404" cy="1754326"/>
          </a:xfrm>
          <a:prstGeom prst="rect">
            <a:avLst/>
          </a:prstGeom>
        </p:spPr>
        <p:txBody>
          <a:bodyPr wrap="square">
            <a:spAutoFit/>
          </a:bodyPr>
          <a:lstStyle/>
          <a:p>
            <a:pPr>
              <a:lnSpc>
                <a:spcPct val="150000"/>
              </a:lnSpc>
            </a:pPr>
            <a:r>
              <a:rPr lang="en-US" b="1" dirty="0" smtClean="0">
                <a:latin typeface="Arial" pitchFamily="34" charset="0"/>
                <a:cs typeface="Arial" pitchFamily="34" charset="0"/>
              </a:rPr>
              <a:t>Most of us work for a living.</a:t>
            </a:r>
            <a:br>
              <a:rPr lang="en-US" b="1" dirty="0" smtClean="0">
                <a:latin typeface="Arial" pitchFamily="34" charset="0"/>
                <a:cs typeface="Arial" pitchFamily="34" charset="0"/>
              </a:rPr>
            </a:br>
            <a:r>
              <a:rPr lang="en-US" b="1" dirty="0" smtClean="0">
                <a:latin typeface="Arial" pitchFamily="34" charset="0"/>
                <a:cs typeface="Arial" pitchFamily="34" charset="0"/>
              </a:rPr>
              <a:t>But what do we do to the income that we earn? Many of us simply keep the money in the form of cash</a:t>
            </a:r>
            <a:endParaRPr lang="en-US"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INVESTMENTS HELP THE ECONOMY</a:t>
            </a:r>
            <a:endParaRPr lang="en-US" sz="2000"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14726332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Rectangle 2"/>
          <p:cNvSpPr/>
          <p:nvPr/>
        </p:nvSpPr>
        <p:spPr>
          <a:xfrm>
            <a:off x="2928926" y="1052736"/>
            <a:ext cx="3929090" cy="2054409"/>
          </a:xfrm>
          <a:prstGeom prst="rect">
            <a:avLst/>
          </a:prstGeom>
        </p:spPr>
        <p:txBody>
          <a:bodyPr wrap="square">
            <a:spAutoFit/>
          </a:bodyPr>
          <a:lstStyle/>
          <a:p>
            <a:pPr>
              <a:lnSpc>
                <a:spcPct val="150000"/>
              </a:lnSpc>
            </a:pPr>
            <a:r>
              <a:rPr lang="en-US" sz="1700" b="1" dirty="0" smtClean="0">
                <a:latin typeface="Arial" pitchFamily="34" charset="0"/>
                <a:cs typeface="Arial" pitchFamily="34" charset="0"/>
              </a:rPr>
              <a:t>Did you know that just by keeping money as cash at home we are not helping our economy?</a:t>
            </a:r>
          </a:p>
          <a:p>
            <a:pPr>
              <a:lnSpc>
                <a:spcPct val="150000"/>
              </a:lnSpc>
            </a:pPr>
            <a:r>
              <a:rPr lang="en-US" sz="1700" b="1" dirty="0" smtClean="0">
                <a:latin typeface="Arial" pitchFamily="34" charset="0"/>
                <a:cs typeface="Arial" pitchFamily="34" charset="0"/>
              </a:rPr>
              <a:t>Sounds confusing????</a:t>
            </a:r>
          </a:p>
          <a:p>
            <a:pPr>
              <a:lnSpc>
                <a:spcPct val="150000"/>
              </a:lnSpc>
            </a:pPr>
            <a:r>
              <a:rPr lang="en-US" sz="1700" b="1" dirty="0" smtClean="0">
                <a:latin typeface="Arial" pitchFamily="34" charset="0"/>
                <a:cs typeface="Arial" pitchFamily="34" charset="0"/>
              </a:rPr>
              <a:t>Let me throw some light on this </a:t>
            </a:r>
            <a:endParaRPr lang="en-US" sz="1700"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INVESTMENTS HELP THE ECONOMY</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INVESTMENTS HELP THE ECONOMY</a:t>
            </a:r>
            <a:endParaRPr lang="en-US" sz="2000" b="1" dirty="0">
              <a:solidFill>
                <a:schemeClr val="bg1"/>
              </a:solidFill>
              <a:latin typeface="Arial" pitchFamily="34" charset="0"/>
              <a:cs typeface="Arial" pitchFamily="34" charset="0"/>
            </a:endParaRPr>
          </a:p>
        </p:txBody>
      </p:sp>
      <p:sp>
        <p:nvSpPr>
          <p:cNvPr id="5" name="Rectangle 4"/>
          <p:cNvSpPr/>
          <p:nvPr/>
        </p:nvSpPr>
        <p:spPr>
          <a:xfrm>
            <a:off x="689064" y="1124744"/>
            <a:ext cx="7240522" cy="1754326"/>
          </a:xfrm>
          <a:prstGeom prst="rect">
            <a:avLst/>
          </a:prstGeom>
        </p:spPr>
        <p:txBody>
          <a:bodyPr wrap="square">
            <a:spAutoFit/>
          </a:bodyPr>
          <a:lstStyle/>
          <a:p>
            <a:pPr>
              <a:lnSpc>
                <a:spcPct val="150000"/>
              </a:lnSpc>
            </a:pPr>
            <a:r>
              <a:rPr lang="en-US" b="1" dirty="0" smtClean="0">
                <a:latin typeface="Arial" pitchFamily="34" charset="0"/>
                <a:cs typeface="Arial" pitchFamily="34" charset="0"/>
              </a:rPr>
              <a:t>Let’s say there is a community of people living in a particular area. Let’s also assume that these people have their houses around a huge piece of barren land. So in a sense their houses run around the periphery of the barren land</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INVESTMENTS HELP THE ECONOMY</a:t>
            </a:r>
            <a:endParaRPr lang="en-US" sz="2000" b="1" dirty="0">
              <a:solidFill>
                <a:schemeClr val="bg1"/>
              </a:solidFill>
              <a:latin typeface="Arial" pitchFamily="34" charset="0"/>
              <a:cs typeface="Arial" pitchFamily="34" charset="0"/>
            </a:endParaRPr>
          </a:p>
        </p:txBody>
      </p:sp>
      <p:sp>
        <p:nvSpPr>
          <p:cNvPr id="6" name="Rectangle 5"/>
          <p:cNvSpPr/>
          <p:nvPr/>
        </p:nvSpPr>
        <p:spPr>
          <a:xfrm>
            <a:off x="722096" y="980728"/>
            <a:ext cx="7136052" cy="456535"/>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Now</a:t>
            </a:r>
            <a:endParaRPr lang="en-US" b="1" dirty="0">
              <a:latin typeface="Arial" pitchFamily="34" charset="0"/>
              <a:cs typeface="Arial" pitchFamily="34" charset="0"/>
            </a:endParaRPr>
          </a:p>
        </p:txBody>
      </p:sp>
      <p:sp>
        <p:nvSpPr>
          <p:cNvPr id="5" name="Rectangle 4"/>
          <p:cNvSpPr/>
          <p:nvPr/>
        </p:nvSpPr>
        <p:spPr>
          <a:xfrm>
            <a:off x="714348" y="1571612"/>
            <a:ext cx="7215238" cy="2534027"/>
          </a:xfrm>
          <a:prstGeom prst="rect">
            <a:avLst/>
          </a:prstGeom>
        </p:spPr>
        <p:txBody>
          <a:bodyPr wrap="square">
            <a:spAutoFit/>
          </a:bodyPr>
          <a:lstStyle/>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Most of these people love their homes.</a:t>
            </a:r>
          </a:p>
          <a:p>
            <a:pPr marL="542925" indent="-542925">
              <a:lnSpc>
                <a:spcPct val="150000"/>
              </a:lnSpc>
              <a:buFont typeface="Wingdings" pitchFamily="2" charset="2"/>
              <a:buChar char="q"/>
              <a:tabLst>
                <a:tab pos="542925" algn="l"/>
              </a:tabLst>
            </a:pPr>
            <a:endParaRPr lang="en-US" b="1" dirty="0" smtClean="0">
              <a:latin typeface="Arial" pitchFamily="34" charset="0"/>
              <a:cs typeface="Arial" pitchFamily="34" charset="0"/>
            </a:endParaRPr>
          </a:p>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They all have flower pots in their homes which they water without fail</a:t>
            </a:r>
          </a:p>
          <a:p>
            <a:pPr marL="542925" indent="-542925">
              <a:lnSpc>
                <a:spcPct val="150000"/>
              </a:lnSpc>
              <a:buFont typeface="Wingdings" pitchFamily="2" charset="2"/>
              <a:buChar char="q"/>
              <a:tabLst>
                <a:tab pos="542925" algn="l"/>
              </a:tabLst>
            </a:pPr>
            <a:endParaRPr lang="en-US" b="1" dirty="0" smtClean="0">
              <a:latin typeface="Arial" pitchFamily="34" charset="0"/>
              <a:cs typeface="Arial" pitchFamily="34" charset="0"/>
            </a:endParaRPr>
          </a:p>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They also love to keep their floors clean and wash it daily.</a:t>
            </a:r>
          </a:p>
        </p:txBody>
      </p:sp>
    </p:spTree>
    <p:extLst>
      <p:ext uri="{BB962C8B-B14F-4D97-AF65-F5344CB8AC3E}">
        <p14:creationId xmlns="" xmlns:p14="http://schemas.microsoft.com/office/powerpoint/2010/main" val="29609829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INVESTMENTS HELP THE ECONOMY</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035303"/>
            <a:ext cx="7242028" cy="464871"/>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But</a:t>
            </a:r>
            <a:endParaRPr lang="en-US" b="1" dirty="0">
              <a:latin typeface="Arial" pitchFamily="34" charset="0"/>
              <a:cs typeface="Arial" pitchFamily="34" charset="0"/>
            </a:endParaRPr>
          </a:p>
        </p:txBody>
      </p:sp>
      <p:sp>
        <p:nvSpPr>
          <p:cNvPr id="5" name="Rectangle 4"/>
          <p:cNvSpPr/>
          <p:nvPr/>
        </p:nvSpPr>
        <p:spPr>
          <a:xfrm>
            <a:off x="857224" y="1596223"/>
            <a:ext cx="7215238" cy="1338828"/>
          </a:xfrm>
          <a:prstGeom prst="rect">
            <a:avLst/>
          </a:prstGeom>
        </p:spPr>
        <p:txBody>
          <a:bodyPr wrap="square">
            <a:spAutoFit/>
          </a:bodyPr>
          <a:lstStyle/>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They never bother to walk out of their homes and water the barren land nearby</a:t>
            </a:r>
          </a:p>
          <a:p>
            <a:pPr marL="542925" indent="-542925">
              <a:lnSpc>
                <a:spcPct val="150000"/>
              </a:lnSpc>
              <a:buFont typeface="Wingdings" pitchFamily="2" charset="2"/>
              <a:buChar char="q"/>
              <a:tabLst>
                <a:tab pos="542925" algn="l"/>
              </a:tabLst>
            </a:pPr>
            <a:r>
              <a:rPr lang="en-US" b="1" dirty="0" smtClean="0">
                <a:latin typeface="Arial" pitchFamily="34" charset="0"/>
                <a:cs typeface="Arial" pitchFamily="34" charset="0"/>
              </a:rPr>
              <a:t>So the field continues to be barren and of no use to anyone</a:t>
            </a:r>
          </a:p>
        </p:txBody>
      </p:sp>
    </p:spTree>
    <p:extLst>
      <p:ext uri="{BB962C8B-B14F-4D97-AF65-F5344CB8AC3E}">
        <p14:creationId xmlns="" xmlns:p14="http://schemas.microsoft.com/office/powerpoint/2010/main" val="19205289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INVESTMENTS HELP THE ECONOMY</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124744"/>
            <a:ext cx="7242028" cy="2118529"/>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Then one day a wise man comes to town. The people of the town look towards him for solutions to their day to day problems. He tells them “Just water the barren land daily”. Most people are amused with this strange recommendation. How would watering the barren land help them</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27071699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INVESTMENTS HELP THE ECONOMY</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124744"/>
            <a:ext cx="7386044" cy="3000821"/>
          </a:xfrm>
          <a:prstGeom prst="rect">
            <a:avLst/>
          </a:prstGeom>
        </p:spPr>
        <p:txBody>
          <a:bodyPr wrap="square">
            <a:spAutoFit/>
          </a:bodyPr>
          <a:lstStyle/>
          <a:p>
            <a:pPr>
              <a:lnSpc>
                <a:spcPct val="150000"/>
              </a:lnSpc>
            </a:pPr>
            <a:r>
              <a:rPr lang="en-US" b="1" dirty="0" smtClean="0">
                <a:latin typeface="Arial" pitchFamily="34" charset="0"/>
                <a:cs typeface="Arial" pitchFamily="34" charset="0"/>
              </a:rPr>
              <a:t>Nevertheless, </a:t>
            </a:r>
            <a:r>
              <a:rPr lang="en-US" b="1" dirty="0" smtClean="0">
                <a:latin typeface="Arial" pitchFamily="34" charset="0"/>
                <a:cs typeface="Arial" pitchFamily="34" charset="0"/>
              </a:rPr>
              <a:t>from the very next day the people make it a point to water the barren land. They do this on a daily basis. Slowly as time goes by, the people see plants grow on the barren land. Over time these plants grow and become trees. They bear fruits and vegetables in very large quantities. The people not only consume the fruits and vegetables but also sell the produce in the market and earn out of it.</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29140819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INVESTMENTS HELP THE ECONOMY</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124744"/>
            <a:ext cx="7112296" cy="1754326"/>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The wise man revisits them. He finds out that all the residents are extremely happy. They tell him that not only are they enjoying the fruits from the garden but are also earning from the same.</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23954094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INVESTMENTS HELP THE ECONOMY</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124744"/>
            <a:ext cx="7286676" cy="3000821"/>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The wise man tells them that the field at the center of their houses was like the economy of the country and the water that was provided was like the money in our pockets. Just as the regular watering of the barren land converted it into a garden full of fruits and vegetables in the same manner regular investments in the economy provides the money needed by the economy for creating wealth.</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426864178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INVESTMENTS HELP THE ECONOMY</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124744"/>
            <a:ext cx="7286676" cy="1754326"/>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Thus, </a:t>
            </a:r>
            <a:r>
              <a:rPr lang="en-US" b="1" dirty="0" smtClean="0">
                <a:latin typeface="Arial" pitchFamily="34" charset="0"/>
                <a:cs typeface="Arial" pitchFamily="34" charset="0"/>
              </a:rPr>
              <a:t>the wise man successfully convinces the residents that they should not save money as cash or near cash but instead invest the same in stocks, mutual funds, bonds etc for the sake of creating wealth for themselves as well as the nation.</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42686417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64397" y="4906085"/>
            <a:ext cx="4320480" cy="880369"/>
          </a:xfrm>
          <a:prstGeom prst="rect">
            <a:avLst/>
          </a:prstGeom>
        </p:spPr>
        <p:txBody>
          <a:bodyPr wrap="square">
            <a:spAutoFit/>
          </a:bodyPr>
          <a:lstStyle/>
          <a:p>
            <a:pPr>
              <a:lnSpc>
                <a:spcPct val="150000"/>
              </a:lnSpc>
            </a:pPr>
            <a:r>
              <a:rPr lang="en-US" b="1" dirty="0" smtClean="0">
                <a:latin typeface="Arial" pitchFamily="34" charset="0"/>
                <a:cs typeface="Arial" pitchFamily="34" charset="0"/>
              </a:rPr>
              <a:t>Hope this story has clarified the role of investments in nation building</a:t>
            </a: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INVESTMENTS HELP THE ECONOMY</a:t>
            </a:r>
            <a:endParaRPr lang="en-US" sz="2000"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19746173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043608" y="2204864"/>
            <a:ext cx="4032448" cy="701731"/>
          </a:xfrm>
          <a:prstGeom prst="rect">
            <a:avLst/>
          </a:prstGeom>
        </p:spPr>
        <p:txBody>
          <a:bodyPr wrap="square">
            <a:spAutoFit/>
          </a:bodyPr>
          <a:lstStyle/>
          <a:p>
            <a:pPr marL="342900" indent="-342900" algn="ctr">
              <a:spcBef>
                <a:spcPct val="20000"/>
              </a:spcBef>
            </a:pPr>
            <a:r>
              <a:rPr lang="en-US" b="1" dirty="0">
                <a:latin typeface="Arial" pitchFamily="34" charset="0"/>
                <a:cs typeface="Arial" pitchFamily="34" charset="0"/>
              </a:rPr>
              <a:t>Please give us your feedback at </a:t>
            </a:r>
          </a:p>
          <a:p>
            <a:pPr marL="342900" indent="-342900" algn="ctr">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3159</TotalTime>
  <Words>699</Words>
  <Application>Microsoft Office PowerPoint</Application>
  <PresentationFormat>On-screen Show (4:3)</PresentationFormat>
  <Paragraphs>39</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huttamchandani</cp:lastModifiedBy>
  <cp:revision>413</cp:revision>
  <dcterms:created xsi:type="dcterms:W3CDTF">2013-10-22T09:41:31Z</dcterms:created>
  <dcterms:modified xsi:type="dcterms:W3CDTF">2014-09-26T12:25:08Z</dcterms:modified>
</cp:coreProperties>
</file>