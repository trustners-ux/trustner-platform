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416" r:id="rId3"/>
    <p:sldId id="358" r:id="rId4"/>
    <p:sldId id="514" r:id="rId5"/>
    <p:sldId id="485" r:id="rId6"/>
    <p:sldId id="496" r:id="rId7"/>
    <p:sldId id="486" r:id="rId8"/>
    <p:sldId id="512" r:id="rId9"/>
    <p:sldId id="487" r:id="rId10"/>
    <p:sldId id="498" r:id="rId11"/>
    <p:sldId id="499" r:id="rId12"/>
    <p:sldId id="500" r:id="rId13"/>
    <p:sldId id="513" r:id="rId14"/>
    <p:sldId id="501" r:id="rId15"/>
    <p:sldId id="473" r:id="rId16"/>
    <p:sldId id="287" r:id="rId17"/>
    <p:sldId id="273"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103" d="100"/>
          <a:sy n="103" d="100"/>
        </p:scale>
        <p:origin x="234"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10/1/2014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62A204C8-0732-4ACB-BFB7-2799F61E2A0A}" type="slidenum">
              <a:rPr lang="en-IN" smtClean="0"/>
              <a:pPr/>
              <a:t>7</a:t>
            </a:fld>
            <a:endParaRPr lang="en-IN"/>
          </a:p>
        </p:txBody>
      </p:sp>
    </p:spTree>
    <p:extLst>
      <p:ext uri="{BB962C8B-B14F-4D97-AF65-F5344CB8AC3E}">
        <p14:creationId xmlns:p14="http://schemas.microsoft.com/office/powerpoint/2010/main" val="1967981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62A204C8-0732-4ACB-BFB7-2799F61E2A0A}" type="slidenum">
              <a:rPr lang="en-IN" smtClean="0"/>
              <a:pPr/>
              <a:t>8</a:t>
            </a:fld>
            <a:endParaRPr lang="en-IN"/>
          </a:p>
        </p:txBody>
      </p:sp>
    </p:spTree>
    <p:extLst>
      <p:ext uri="{BB962C8B-B14F-4D97-AF65-F5344CB8AC3E}">
        <p14:creationId xmlns:p14="http://schemas.microsoft.com/office/powerpoint/2010/main" val="42509716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62A204C8-0732-4ACB-BFB7-2799F61E2A0A}" type="slidenum">
              <a:rPr lang="en-IN" smtClean="0"/>
              <a:pPr/>
              <a:t>16</a:t>
            </a:fld>
            <a:endParaRPr lang="en-IN"/>
          </a:p>
        </p:txBody>
      </p:sp>
    </p:spTree>
    <p:extLst>
      <p:ext uri="{BB962C8B-B14F-4D97-AF65-F5344CB8AC3E}">
        <p14:creationId xmlns:p14="http://schemas.microsoft.com/office/powerpoint/2010/main" val="29730762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10/1/2014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10/1/2014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10/1/2014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10/1/2014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10/1/2014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10/1/2014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10/1/2014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10/1/2014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10/1/2014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10/1/2014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10/1/2014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10/1/2014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7.jpeg"/></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mailto:professor@tataamc.com" TargetMode="External"/><Relationship Id="rId4" Type="http://schemas.openxmlformats.org/officeDocument/2006/relationships/image" Target="../media/image10.jpeg"/></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786058"/>
            <a:ext cx="439248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VELOCITY OF MONEY</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116632"/>
            <a:ext cx="9144000" cy="6858000"/>
          </a:xfrm>
          <a:prstGeom prst="rect">
            <a:avLst/>
          </a:prstGeom>
          <a:noFill/>
        </p:spPr>
      </p:pic>
      <p:sp>
        <p:nvSpPr>
          <p:cNvPr id="5" name="Rectangle 4"/>
          <p:cNvSpPr/>
          <p:nvPr/>
        </p:nvSpPr>
        <p:spPr>
          <a:xfrm>
            <a:off x="467544" y="1537236"/>
            <a:ext cx="8208912" cy="3968009"/>
          </a:xfrm>
          <a:prstGeom prst="rect">
            <a:avLst/>
          </a:prstGeom>
        </p:spPr>
        <p:txBody>
          <a:bodyPr wrap="square">
            <a:spAutoFit/>
          </a:bodyPr>
          <a:lstStyle/>
          <a:p>
            <a:pPr marL="441325" indent="-441325">
              <a:lnSpc>
                <a:spcPct val="150000"/>
              </a:lnSpc>
              <a:buFont typeface="Wingdings" pitchFamily="2" charset="2"/>
              <a:buChar char="q"/>
              <a:tabLst>
                <a:tab pos="441325" algn="l"/>
              </a:tabLst>
            </a:pPr>
            <a:r>
              <a:rPr lang="en-US" altLang="en-US" sz="1700" b="1" dirty="0" smtClean="0">
                <a:latin typeface="Arial" pitchFamily="34" charset="0"/>
                <a:cs typeface="Arial" pitchFamily="34" charset="0"/>
              </a:rPr>
              <a:t>From </a:t>
            </a:r>
            <a:r>
              <a:rPr lang="en-US" altLang="en-US" sz="1700" b="1" dirty="0">
                <a:latin typeface="Arial" pitchFamily="34" charset="0"/>
                <a:cs typeface="Arial" pitchFamily="34" charset="0"/>
              </a:rPr>
              <a:t>one wallet to another, from one shopper to the next, that is the life of </a:t>
            </a:r>
            <a:r>
              <a:rPr lang="en-US" altLang="en-US" sz="1700" b="1" dirty="0" smtClean="0">
                <a:latin typeface="Arial" pitchFamily="34" charset="0"/>
                <a:cs typeface="Arial" pitchFamily="34" charset="0"/>
              </a:rPr>
              <a:t>money.</a:t>
            </a:r>
          </a:p>
          <a:p>
            <a:pPr marL="441325" indent="-441325">
              <a:lnSpc>
                <a:spcPct val="150000"/>
              </a:lnSpc>
              <a:buFont typeface="Wingdings" pitchFamily="2" charset="2"/>
              <a:buChar char="q"/>
              <a:tabLst>
                <a:tab pos="441325" algn="l"/>
              </a:tabLst>
            </a:pPr>
            <a:r>
              <a:rPr lang="en-US" altLang="en-US" sz="1700" b="1" dirty="0" smtClean="0">
                <a:latin typeface="Arial" pitchFamily="34" charset="0"/>
                <a:cs typeface="Arial" pitchFamily="34" charset="0"/>
              </a:rPr>
              <a:t>But </a:t>
            </a:r>
            <a:r>
              <a:rPr lang="en-US" altLang="en-US" sz="1700" b="1" dirty="0">
                <a:latin typeface="Arial" pitchFamily="34" charset="0"/>
                <a:cs typeface="Arial" pitchFamily="34" charset="0"/>
              </a:rPr>
              <a:t>we often forget that money is like a lubricant  that makes the economy move </a:t>
            </a:r>
            <a:r>
              <a:rPr lang="en-US" altLang="en-US" sz="1700" b="1" dirty="0" smtClean="0">
                <a:latin typeface="Arial" pitchFamily="34" charset="0"/>
                <a:cs typeface="Arial" pitchFamily="34" charset="0"/>
              </a:rPr>
              <a:t>smoothly.</a:t>
            </a:r>
          </a:p>
          <a:p>
            <a:pPr marL="441325" indent="-441325">
              <a:lnSpc>
                <a:spcPct val="150000"/>
              </a:lnSpc>
              <a:buFont typeface="Wingdings" pitchFamily="2" charset="2"/>
              <a:buChar char="q"/>
              <a:tabLst>
                <a:tab pos="441325" algn="l"/>
              </a:tabLst>
            </a:pPr>
            <a:r>
              <a:rPr lang="en-US" altLang="en-US" sz="1700" b="1" dirty="0" smtClean="0">
                <a:latin typeface="Arial" pitchFamily="34" charset="0"/>
                <a:cs typeface="Arial" pitchFamily="34" charset="0"/>
              </a:rPr>
              <a:t>Therefore</a:t>
            </a:r>
            <a:r>
              <a:rPr lang="en-US" altLang="en-US" sz="1700" b="1" dirty="0">
                <a:latin typeface="Arial" pitchFamily="34" charset="0"/>
                <a:cs typeface="Arial" pitchFamily="34" charset="0"/>
              </a:rPr>
              <a:t>, if the money is parked in our pocket, in effect, the economy slows </a:t>
            </a:r>
            <a:r>
              <a:rPr lang="en-US" altLang="en-US" sz="1700" b="1" dirty="0" smtClean="0">
                <a:latin typeface="Arial" pitchFamily="34" charset="0"/>
                <a:cs typeface="Arial" pitchFamily="34" charset="0"/>
              </a:rPr>
              <a:t>down.</a:t>
            </a:r>
          </a:p>
          <a:p>
            <a:pPr marL="441325" indent="-441325">
              <a:lnSpc>
                <a:spcPct val="150000"/>
              </a:lnSpc>
              <a:buFont typeface="Wingdings" pitchFamily="2" charset="2"/>
              <a:buChar char="q"/>
              <a:tabLst>
                <a:tab pos="441325" algn="l"/>
              </a:tabLst>
            </a:pPr>
            <a:r>
              <a:rPr lang="en-US" altLang="en-US" sz="1700" b="1" dirty="0" smtClean="0">
                <a:latin typeface="Arial" pitchFamily="34" charset="0"/>
                <a:cs typeface="Arial" pitchFamily="34" charset="0"/>
              </a:rPr>
              <a:t>Thus </a:t>
            </a:r>
            <a:r>
              <a:rPr lang="en-US" altLang="en-US" sz="1700" b="1" dirty="0">
                <a:latin typeface="Arial" pitchFamily="34" charset="0"/>
                <a:cs typeface="Arial" pitchFamily="34" charset="0"/>
              </a:rPr>
              <a:t>money needs to move and therefore needs velocity (velocity is another word for </a:t>
            </a:r>
            <a:r>
              <a:rPr lang="en-US" altLang="en-US" sz="1700" b="1" dirty="0" smtClean="0">
                <a:latin typeface="Arial" pitchFamily="34" charset="0"/>
                <a:cs typeface="Arial" pitchFamily="34" charset="0"/>
              </a:rPr>
              <a:t>speed)</a:t>
            </a:r>
          </a:p>
          <a:p>
            <a:pPr marL="441325" indent="-441325">
              <a:lnSpc>
                <a:spcPct val="150000"/>
              </a:lnSpc>
              <a:buFont typeface="Wingdings" pitchFamily="2" charset="2"/>
              <a:buChar char="q"/>
              <a:tabLst>
                <a:tab pos="441325" algn="l"/>
              </a:tabLst>
            </a:pPr>
            <a:r>
              <a:rPr lang="en-US" altLang="en-US" sz="1700" b="1" dirty="0" smtClean="0">
                <a:latin typeface="Arial" pitchFamily="34" charset="0"/>
                <a:cs typeface="Arial" pitchFamily="34" charset="0"/>
              </a:rPr>
              <a:t>This </a:t>
            </a:r>
            <a:r>
              <a:rPr lang="en-US" altLang="en-US" sz="1700" b="1" dirty="0">
                <a:latin typeface="Arial" pitchFamily="34" charset="0"/>
                <a:cs typeface="Arial" pitchFamily="34" charset="0"/>
              </a:rPr>
              <a:t>concept of movement of money is also called the ‘Velocity of Money’.</a:t>
            </a:r>
          </a:p>
        </p:txBody>
      </p:sp>
      <p:sp>
        <p:nvSpPr>
          <p:cNvPr id="6" name="TextBox 5"/>
          <p:cNvSpPr txBox="1"/>
          <p:nvPr/>
        </p:nvSpPr>
        <p:spPr>
          <a:xfrm>
            <a:off x="714348" y="611396"/>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VELOCITY OF MONEY</a:t>
            </a:r>
            <a:endParaRPr lang="en-US" b="1" dirty="0">
              <a:solidFill>
                <a:schemeClr val="bg1"/>
              </a:solidFill>
              <a:latin typeface="Arial" pitchFamily="34" charset="0"/>
              <a:cs typeface="Arial" pitchFamily="34" charset="0"/>
            </a:endParaRPr>
          </a:p>
        </p:txBody>
      </p:sp>
      <p:sp>
        <p:nvSpPr>
          <p:cNvPr id="7" name="Text Box 5"/>
          <p:cNvSpPr txBox="1">
            <a:spLocks noChangeArrowheads="1"/>
          </p:cNvSpPr>
          <p:nvPr/>
        </p:nvSpPr>
        <p:spPr bwMode="auto">
          <a:xfrm>
            <a:off x="827584" y="1052736"/>
            <a:ext cx="7056784" cy="4160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lnSpc>
                <a:spcPct val="150000"/>
              </a:lnSpc>
            </a:pPr>
            <a:r>
              <a:rPr lang="en-US" altLang="en-US" sz="1600" b="1" dirty="0">
                <a:latin typeface="Arial" pitchFamily="34" charset="0"/>
                <a:cs typeface="Arial" pitchFamily="34" charset="0"/>
              </a:rPr>
              <a:t>Here’s a thought… Money on the move has no fixed abode!!</a:t>
            </a:r>
          </a:p>
        </p:txBody>
      </p:sp>
    </p:spTree>
    <p:extLst>
      <p:ext uri="{BB962C8B-B14F-4D97-AF65-F5344CB8AC3E}">
        <p14:creationId xmlns:p14="http://schemas.microsoft.com/office/powerpoint/2010/main" val="31167331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571604" y="1571612"/>
            <a:ext cx="3000396" cy="1338828"/>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Understanding</a:t>
            </a:r>
            <a:br>
              <a:rPr lang="en-US" b="1" dirty="0" smtClean="0">
                <a:latin typeface="Arial" pitchFamily="34" charset="0"/>
                <a:cs typeface="Arial" pitchFamily="34" charset="0"/>
              </a:rPr>
            </a:br>
            <a:r>
              <a:rPr lang="en-US" b="1" dirty="0" smtClean="0">
                <a:latin typeface="Arial" pitchFamily="34" charset="0"/>
                <a:cs typeface="Arial" pitchFamily="34" charset="0"/>
              </a:rPr>
              <a:t>the Velocity of Money </a:t>
            </a:r>
            <a:br>
              <a:rPr lang="en-US" b="1" dirty="0" smtClean="0">
                <a:latin typeface="Arial" pitchFamily="34" charset="0"/>
                <a:cs typeface="Arial" pitchFamily="34" charset="0"/>
              </a:rPr>
            </a:br>
            <a:r>
              <a:rPr lang="en-US" b="1" dirty="0" smtClean="0">
                <a:latin typeface="Arial" pitchFamily="34" charset="0"/>
                <a:cs typeface="Arial" pitchFamily="34" charset="0"/>
              </a:rPr>
              <a:t>–  By Prof. </a:t>
            </a:r>
            <a:r>
              <a:rPr lang="en-US" b="1" i="1" dirty="0" smtClean="0">
                <a:latin typeface="Arial" pitchFamily="34" charset="0"/>
                <a:cs typeface="Arial" pitchFamily="34" charset="0"/>
              </a:rPr>
              <a:t>Simply</a:t>
            </a:r>
            <a:r>
              <a:rPr lang="en-US" b="1" dirty="0" smtClean="0">
                <a:latin typeface="Arial" pitchFamily="34" charset="0"/>
                <a:cs typeface="Arial" pitchFamily="34" charset="0"/>
              </a:rPr>
              <a:t> Simple</a:t>
            </a:r>
            <a:endParaRPr lang="en-US" b="1" i="1" dirty="0">
              <a:latin typeface="Arial" pitchFamily="34" charset="0"/>
              <a:cs typeface="Arial" pitchFamily="34" charset="0"/>
            </a:endParaRPr>
          </a:p>
        </p:txBody>
      </p:sp>
    </p:spTree>
    <p:extLst>
      <p:ext uri="{BB962C8B-B14F-4D97-AF65-F5344CB8AC3E}">
        <p14:creationId xmlns:p14="http://schemas.microsoft.com/office/powerpoint/2010/main" val="21745218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5" name="Rectangle 4"/>
          <p:cNvSpPr/>
          <p:nvPr/>
        </p:nvSpPr>
        <p:spPr>
          <a:xfrm>
            <a:off x="689064" y="1071546"/>
            <a:ext cx="7597712" cy="2534027"/>
          </a:xfrm>
          <a:prstGeom prst="rect">
            <a:avLst/>
          </a:prstGeom>
        </p:spPr>
        <p:txBody>
          <a:bodyPr wrap="square">
            <a:spAutoFit/>
          </a:bodyPr>
          <a:lstStyle/>
          <a:p>
            <a:pPr marL="441325" indent="-441325">
              <a:lnSpc>
                <a:spcPct val="150000"/>
              </a:lnSpc>
              <a:buFont typeface="Wingdings" pitchFamily="2" charset="2"/>
              <a:buChar char="q"/>
              <a:tabLst>
                <a:tab pos="441325" algn="l"/>
              </a:tabLst>
            </a:pPr>
            <a:r>
              <a:rPr lang="en-US" b="1" dirty="0" smtClean="0">
                <a:latin typeface="Arial" pitchFamily="34" charset="0"/>
                <a:cs typeface="Arial" pitchFamily="34" charset="0"/>
              </a:rPr>
              <a:t>‘Velocity of money’ is a term used to denote the number of times a unit of money in an economy changes hands during a certain period, say, one year. </a:t>
            </a:r>
          </a:p>
          <a:p>
            <a:pPr marL="441325" indent="-441325">
              <a:lnSpc>
                <a:spcPct val="150000"/>
              </a:lnSpc>
              <a:buFont typeface="Wingdings" pitchFamily="2" charset="2"/>
              <a:buChar char="q"/>
              <a:tabLst>
                <a:tab pos="441325" algn="l"/>
              </a:tabLst>
            </a:pPr>
            <a:endParaRPr lang="en-US" b="1" dirty="0" smtClean="0">
              <a:latin typeface="Arial" pitchFamily="34" charset="0"/>
              <a:cs typeface="Arial" pitchFamily="34" charset="0"/>
            </a:endParaRPr>
          </a:p>
          <a:p>
            <a:pPr marL="441325" indent="-441325">
              <a:lnSpc>
                <a:spcPct val="150000"/>
              </a:lnSpc>
              <a:buFont typeface="Wingdings" pitchFamily="2" charset="2"/>
              <a:buChar char="q"/>
              <a:tabLst>
                <a:tab pos="441325" algn="l"/>
              </a:tabLst>
            </a:pPr>
            <a:r>
              <a:rPr lang="en-US" b="1" dirty="0" smtClean="0">
                <a:latin typeface="Arial" pitchFamily="34" charset="0"/>
                <a:cs typeface="Arial" pitchFamily="34" charset="0"/>
              </a:rPr>
              <a:t>Here, by money, economists generally mean currency and coins in circulation and bank reserves with the central bank. </a:t>
            </a:r>
            <a:endParaRPr lang="en-US" b="1" dirty="0">
              <a:latin typeface="Arial" pitchFamily="34" charset="0"/>
              <a:cs typeface="Arial" pitchFamily="34" charset="0"/>
            </a:endParaRPr>
          </a:p>
        </p:txBody>
      </p:sp>
      <p:sp>
        <p:nvSpPr>
          <p:cNvPr id="6" name="TextBox 5"/>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VELOCITY OF MONEY</a:t>
            </a:r>
            <a:endParaRPr lang="en-US"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179651834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572428" cy="464871"/>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Also…</a:t>
            </a:r>
            <a:endParaRPr lang="en-US" dirty="0">
              <a:latin typeface="Arial" pitchFamily="34" charset="0"/>
              <a:cs typeface="Arial" pitchFamily="34" charset="0"/>
            </a:endParaRPr>
          </a:p>
        </p:txBody>
      </p:sp>
      <p:sp>
        <p:nvSpPr>
          <p:cNvPr id="7" name="TextBox 6"/>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VELOCITY OF MONEY</a:t>
            </a:r>
            <a:endParaRPr lang="en-US" b="1" dirty="0">
              <a:solidFill>
                <a:schemeClr val="bg1"/>
              </a:solidFill>
              <a:latin typeface="Arial" pitchFamily="34" charset="0"/>
              <a:cs typeface="Arial" pitchFamily="34" charset="0"/>
            </a:endParaRPr>
          </a:p>
        </p:txBody>
      </p:sp>
      <p:sp>
        <p:nvSpPr>
          <p:cNvPr id="8" name="Rectangle 7"/>
          <p:cNvSpPr/>
          <p:nvPr/>
        </p:nvSpPr>
        <p:spPr>
          <a:xfrm>
            <a:off x="642910" y="1772371"/>
            <a:ext cx="7500990" cy="3000821"/>
          </a:xfrm>
          <a:prstGeom prst="rect">
            <a:avLst/>
          </a:prstGeom>
        </p:spPr>
        <p:txBody>
          <a:bodyPr wrap="square">
            <a:spAutoFit/>
          </a:bodyPr>
          <a:lstStyle/>
          <a:p>
            <a:pPr marL="441325" indent="-441325">
              <a:lnSpc>
                <a:spcPct val="150000"/>
              </a:lnSpc>
              <a:buFont typeface="Wingdings" pitchFamily="2" charset="2"/>
              <a:buChar char="q"/>
              <a:tabLst>
                <a:tab pos="441325" algn="l"/>
              </a:tabLst>
            </a:pPr>
            <a:r>
              <a:rPr lang="en-US" b="1" dirty="0" smtClean="0">
                <a:latin typeface="Arial" pitchFamily="34" charset="0"/>
                <a:cs typeface="Arial" pitchFamily="34" charset="0"/>
              </a:rPr>
              <a:t>Different measurements of money supply would show</a:t>
            </a:r>
            <a:br>
              <a:rPr lang="en-US" b="1" dirty="0" smtClean="0">
                <a:latin typeface="Arial" pitchFamily="34" charset="0"/>
                <a:cs typeface="Arial" pitchFamily="34" charset="0"/>
              </a:rPr>
            </a:br>
            <a:r>
              <a:rPr lang="en-US" b="1" dirty="0" smtClean="0">
                <a:latin typeface="Arial" pitchFamily="34" charset="0"/>
                <a:cs typeface="Arial" pitchFamily="34" charset="0"/>
              </a:rPr>
              <a:t>different velocity.</a:t>
            </a:r>
          </a:p>
          <a:p>
            <a:pPr marL="441325" indent="-441325">
              <a:lnSpc>
                <a:spcPct val="150000"/>
              </a:lnSpc>
              <a:buFont typeface="Wingdings" pitchFamily="2" charset="2"/>
              <a:buChar char="q"/>
              <a:tabLst>
                <a:tab pos="441325" algn="l"/>
              </a:tabLst>
            </a:pPr>
            <a:endParaRPr lang="en-US" b="1" dirty="0" smtClean="0">
              <a:latin typeface="Arial" pitchFamily="34" charset="0"/>
              <a:cs typeface="Arial" pitchFamily="34" charset="0"/>
            </a:endParaRPr>
          </a:p>
          <a:p>
            <a:pPr marL="441325" indent="-441325">
              <a:lnSpc>
                <a:spcPct val="150000"/>
              </a:lnSpc>
              <a:buFont typeface="Wingdings" pitchFamily="2" charset="2"/>
              <a:buChar char="q"/>
              <a:tabLst>
                <a:tab pos="441325" algn="l"/>
              </a:tabLst>
            </a:pPr>
            <a:r>
              <a:rPr lang="en-US" b="1" dirty="0" smtClean="0">
                <a:latin typeface="Arial" pitchFamily="34" charset="0"/>
                <a:cs typeface="Arial" pitchFamily="34" charset="0"/>
              </a:rPr>
              <a:t>But if you are not too comfortable with the nuances of money supply, then for understanding the concept of velocity of money, you can just think of money as the value of the total stock of currency notes and coins available in an economy. </a:t>
            </a:r>
            <a:endParaRPr lang="en-US" b="1" dirty="0">
              <a:latin typeface="Arial" pitchFamily="34" charset="0"/>
              <a:cs typeface="Arial" pitchFamily="34" charset="0"/>
            </a:endParaRPr>
          </a:p>
        </p:txBody>
      </p:sp>
    </p:spTree>
    <p:extLst>
      <p:ext uri="{BB962C8B-B14F-4D97-AF65-F5344CB8AC3E}">
        <p14:creationId xmlns:p14="http://schemas.microsoft.com/office/powerpoint/2010/main" val="31167331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143372" y="4016780"/>
            <a:ext cx="4214842" cy="2169825"/>
          </a:xfrm>
          <a:prstGeom prst="rect">
            <a:avLst/>
          </a:prstGeom>
        </p:spPr>
        <p:txBody>
          <a:bodyPr wrap="square">
            <a:spAutoFit/>
          </a:bodyPr>
          <a:lstStyle/>
          <a:p>
            <a:pPr>
              <a:lnSpc>
                <a:spcPct val="150000"/>
              </a:lnSpc>
            </a:pPr>
            <a:r>
              <a:rPr lang="en-US" b="1" dirty="0" smtClean="0">
                <a:latin typeface="Arial" pitchFamily="34" charset="0"/>
                <a:cs typeface="Arial" pitchFamily="34" charset="0"/>
              </a:rPr>
              <a:t>So just like the game of soccer, where just one ball gets kicked again and again, in the game of money the same unit of money keeps on rolling around.</a:t>
            </a:r>
            <a:endParaRPr lang="en-US" b="1" dirty="0">
              <a:latin typeface="Arial" pitchFamily="34" charset="0"/>
              <a:cs typeface="Arial" pitchFamily="34" charset="0"/>
            </a:endParaRPr>
          </a:p>
        </p:txBody>
      </p:sp>
      <p:sp>
        <p:nvSpPr>
          <p:cNvPr id="4" name="TextBox 3"/>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VELOCITY OF MONEY</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3" cstate="print"/>
          <a:srcRect/>
          <a:stretch>
            <a:fillRect/>
          </a:stretch>
        </p:blipFill>
        <p:spPr bwMode="auto">
          <a:xfrm>
            <a:off x="0" y="27384"/>
            <a:ext cx="9144000" cy="6858000"/>
          </a:xfrm>
          <a:prstGeom prst="rect">
            <a:avLst/>
          </a:prstGeom>
          <a:noFill/>
        </p:spPr>
      </p:pic>
      <p:sp>
        <p:nvSpPr>
          <p:cNvPr id="7" name="TextBox 6"/>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VELOCITY OF MONEY</a:t>
            </a:r>
            <a:endParaRPr lang="en-US" b="1" dirty="0">
              <a:solidFill>
                <a:schemeClr val="bg1"/>
              </a:solidFill>
              <a:latin typeface="Arial" pitchFamily="34" charset="0"/>
              <a:cs typeface="Arial" pitchFamily="34" charset="0"/>
            </a:endParaRPr>
          </a:p>
        </p:txBody>
      </p:sp>
      <p:sp>
        <p:nvSpPr>
          <p:cNvPr id="8" name="Rectangle 7"/>
          <p:cNvSpPr/>
          <p:nvPr/>
        </p:nvSpPr>
        <p:spPr>
          <a:xfrm>
            <a:off x="714348" y="1144142"/>
            <a:ext cx="7429552" cy="463075"/>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To give an example…</a:t>
            </a:r>
            <a:endParaRPr lang="en-US" b="1" dirty="0">
              <a:latin typeface="Arial" pitchFamily="34" charset="0"/>
              <a:cs typeface="Arial" pitchFamily="34" charset="0"/>
            </a:endParaRPr>
          </a:p>
        </p:txBody>
      </p:sp>
      <p:sp>
        <p:nvSpPr>
          <p:cNvPr id="9" name="Rectangle 8"/>
          <p:cNvSpPr/>
          <p:nvPr/>
        </p:nvSpPr>
        <p:spPr>
          <a:xfrm>
            <a:off x="714348" y="1785926"/>
            <a:ext cx="7572428" cy="3277820"/>
          </a:xfrm>
          <a:prstGeom prst="rect">
            <a:avLst/>
          </a:prstGeom>
        </p:spPr>
        <p:txBody>
          <a:bodyPr wrap="square">
            <a:spAutoFit/>
          </a:bodyPr>
          <a:lstStyle/>
          <a:p>
            <a:pPr marL="441325" indent="-441325">
              <a:lnSpc>
                <a:spcPct val="150000"/>
              </a:lnSpc>
              <a:buFont typeface="Wingdings" pitchFamily="2" charset="2"/>
              <a:buChar char="q"/>
              <a:tabLst>
                <a:tab pos="441325" algn="l"/>
              </a:tabLst>
            </a:pPr>
            <a:r>
              <a:rPr lang="en-US" b="1" dirty="0" smtClean="0">
                <a:latin typeface="Arial" pitchFamily="34" charset="0"/>
                <a:cs typeface="Arial" pitchFamily="34" charset="0"/>
              </a:rPr>
              <a:t>Suppose an economy consists only of three people A, B, and C, and the total value of all goods and services produced by them is Rs300. </a:t>
            </a:r>
          </a:p>
          <a:p>
            <a:pPr marL="441325" indent="-441325">
              <a:lnSpc>
                <a:spcPct val="150000"/>
              </a:lnSpc>
              <a:buFont typeface="Wingdings" pitchFamily="2" charset="2"/>
              <a:buChar char="q"/>
              <a:tabLst>
                <a:tab pos="441325" algn="l"/>
              </a:tabLst>
            </a:pPr>
            <a:endParaRPr lang="en-US" sz="600" b="1" dirty="0" smtClean="0">
              <a:latin typeface="Arial" pitchFamily="34" charset="0"/>
              <a:cs typeface="Arial" pitchFamily="34" charset="0"/>
            </a:endParaRPr>
          </a:p>
          <a:p>
            <a:pPr marL="441325" indent="-441325">
              <a:lnSpc>
                <a:spcPct val="150000"/>
              </a:lnSpc>
              <a:buFont typeface="Wingdings" pitchFamily="2" charset="2"/>
              <a:buChar char="q"/>
              <a:tabLst>
                <a:tab pos="441325" algn="l"/>
              </a:tabLst>
            </a:pPr>
            <a:r>
              <a:rPr lang="en-US" b="1" dirty="0" smtClean="0">
                <a:latin typeface="Arial" pitchFamily="34" charset="0"/>
                <a:cs typeface="Arial" pitchFamily="34" charset="0"/>
              </a:rPr>
              <a:t>Suppose A is a barber who currently holds all the stock of money valued at Rs100 in our imaginary economy.</a:t>
            </a:r>
          </a:p>
          <a:p>
            <a:pPr marL="441325" indent="-441325">
              <a:lnSpc>
                <a:spcPct val="150000"/>
              </a:lnSpc>
              <a:buFont typeface="Wingdings" pitchFamily="2" charset="2"/>
              <a:buChar char="q"/>
              <a:tabLst>
                <a:tab pos="441325" algn="l"/>
              </a:tabLst>
            </a:pPr>
            <a:endParaRPr lang="en-US" sz="600" b="1" dirty="0" smtClean="0">
              <a:latin typeface="Arial" pitchFamily="34" charset="0"/>
              <a:cs typeface="Arial" pitchFamily="34" charset="0"/>
            </a:endParaRPr>
          </a:p>
          <a:p>
            <a:pPr marL="441325" indent="-441325">
              <a:lnSpc>
                <a:spcPct val="150000"/>
              </a:lnSpc>
              <a:buFont typeface="Wingdings" pitchFamily="2" charset="2"/>
              <a:buChar char="q"/>
              <a:tabLst>
                <a:tab pos="441325" algn="l"/>
              </a:tabLst>
            </a:pPr>
            <a:r>
              <a:rPr lang="en-US" b="1" dirty="0" smtClean="0">
                <a:latin typeface="Arial" pitchFamily="34" charset="0"/>
                <a:cs typeface="Arial" pitchFamily="34" charset="0"/>
              </a:rPr>
              <a:t>The barber needs bread so he goes to B, the baker, and hands over his Rs100 and takes bread worth that much in exchange. </a:t>
            </a:r>
            <a:endParaRPr lang="en-US" b="1" dirty="0">
              <a:latin typeface="Arial" pitchFamily="34" charset="0"/>
              <a:cs typeface="Arial" pitchFamily="34" charset="0"/>
            </a:endParaRPr>
          </a:p>
        </p:txBody>
      </p:sp>
    </p:spTree>
    <p:extLst>
      <p:ext uri="{BB962C8B-B14F-4D97-AF65-F5344CB8AC3E}">
        <p14:creationId xmlns:p14="http://schemas.microsoft.com/office/powerpoint/2010/main" val="31167331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3" cstate="print"/>
          <a:srcRect/>
          <a:stretch>
            <a:fillRect/>
          </a:stretch>
        </p:blipFill>
        <p:spPr bwMode="auto">
          <a:xfrm>
            <a:off x="0" y="27384"/>
            <a:ext cx="9144000" cy="6858000"/>
          </a:xfrm>
          <a:prstGeom prst="rect">
            <a:avLst/>
          </a:prstGeom>
          <a:noFill/>
        </p:spPr>
      </p:pic>
      <p:sp>
        <p:nvSpPr>
          <p:cNvPr id="7" name="TextBox 6"/>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VELOCITY OF MONEY</a:t>
            </a:r>
            <a:endParaRPr lang="en-US" b="1" dirty="0">
              <a:solidFill>
                <a:schemeClr val="bg1"/>
              </a:solidFill>
              <a:latin typeface="Arial" pitchFamily="34" charset="0"/>
              <a:cs typeface="Arial" pitchFamily="34" charset="0"/>
            </a:endParaRPr>
          </a:p>
        </p:txBody>
      </p:sp>
      <p:sp>
        <p:nvSpPr>
          <p:cNvPr id="8" name="Rectangle 7"/>
          <p:cNvSpPr/>
          <p:nvPr/>
        </p:nvSpPr>
        <p:spPr>
          <a:xfrm>
            <a:off x="714348" y="1144142"/>
            <a:ext cx="7429552" cy="464871"/>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Now…</a:t>
            </a:r>
            <a:endParaRPr lang="en-US" b="1" dirty="0">
              <a:latin typeface="Arial" pitchFamily="34" charset="0"/>
              <a:cs typeface="Arial" pitchFamily="34" charset="0"/>
            </a:endParaRPr>
          </a:p>
        </p:txBody>
      </p:sp>
      <p:sp>
        <p:nvSpPr>
          <p:cNvPr id="9" name="Rectangle 8"/>
          <p:cNvSpPr/>
          <p:nvPr/>
        </p:nvSpPr>
        <p:spPr>
          <a:xfrm>
            <a:off x="714348" y="1785926"/>
            <a:ext cx="7286676" cy="2585323"/>
          </a:xfrm>
          <a:prstGeom prst="rect">
            <a:avLst/>
          </a:prstGeom>
        </p:spPr>
        <p:txBody>
          <a:bodyPr wrap="square">
            <a:spAutoFit/>
          </a:bodyPr>
          <a:lstStyle/>
          <a:p>
            <a:pPr marL="441325" indent="-441325">
              <a:lnSpc>
                <a:spcPct val="150000"/>
              </a:lnSpc>
              <a:buFont typeface="Wingdings" pitchFamily="2" charset="2"/>
              <a:buChar char="q"/>
              <a:tabLst>
                <a:tab pos="441325" algn="l"/>
              </a:tabLst>
            </a:pPr>
            <a:r>
              <a:rPr lang="en-US" b="1" dirty="0" smtClean="0">
                <a:latin typeface="Arial" pitchFamily="34" charset="0"/>
                <a:cs typeface="Arial" pitchFamily="34" charset="0"/>
              </a:rPr>
              <a:t>The baker needs clothes so he goes to C, the merchant, and exchanges his Rs100 for clothes. </a:t>
            </a:r>
          </a:p>
          <a:p>
            <a:pPr marL="441325" indent="-441325">
              <a:lnSpc>
                <a:spcPct val="150000"/>
              </a:lnSpc>
              <a:buFont typeface="Wingdings" pitchFamily="2" charset="2"/>
              <a:buChar char="q"/>
              <a:tabLst>
                <a:tab pos="441325" algn="l"/>
              </a:tabLst>
            </a:pPr>
            <a:endParaRPr lang="en-US" b="1" dirty="0" smtClean="0">
              <a:latin typeface="Arial" pitchFamily="34" charset="0"/>
              <a:cs typeface="Arial" pitchFamily="34" charset="0"/>
            </a:endParaRPr>
          </a:p>
          <a:p>
            <a:pPr marL="441325" indent="-441325">
              <a:lnSpc>
                <a:spcPct val="150000"/>
              </a:lnSpc>
              <a:buFont typeface="Wingdings" pitchFamily="2" charset="2"/>
              <a:buChar char="q"/>
              <a:tabLst>
                <a:tab pos="441325" algn="l"/>
              </a:tabLst>
            </a:pPr>
            <a:r>
              <a:rPr lang="en-US" b="1" dirty="0" smtClean="0">
                <a:latin typeface="Arial" pitchFamily="34" charset="0"/>
                <a:cs typeface="Arial" pitchFamily="34" charset="0"/>
              </a:rPr>
              <a:t>The merchant badly needs a haircut and so he goes to the shop of A, the barber, and the Rs100 note is back with its original owner.</a:t>
            </a:r>
            <a:endParaRPr lang="en-US" b="1" dirty="0">
              <a:latin typeface="Arial" pitchFamily="34" charset="0"/>
              <a:cs typeface="Arial" pitchFamily="34" charset="0"/>
            </a:endParaRPr>
          </a:p>
        </p:txBody>
      </p:sp>
    </p:spTree>
    <p:extLst>
      <p:ext uri="{BB962C8B-B14F-4D97-AF65-F5344CB8AC3E}">
        <p14:creationId xmlns:p14="http://schemas.microsoft.com/office/powerpoint/2010/main" val="31167331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500990" cy="3060325"/>
          </a:xfrm>
          <a:prstGeom prst="rect">
            <a:avLst/>
          </a:prstGeom>
        </p:spPr>
        <p:txBody>
          <a:bodyPr wrap="square">
            <a:spAutoFit/>
          </a:bodyPr>
          <a:lstStyle/>
          <a:p>
            <a:pPr>
              <a:lnSpc>
                <a:spcPct val="150000"/>
              </a:lnSpc>
              <a:spcBef>
                <a:spcPct val="20000"/>
              </a:spcBef>
            </a:pPr>
            <a:r>
              <a:rPr lang="en-US" b="1" dirty="0" smtClean="0">
                <a:latin typeface="Arial" pitchFamily="34" charset="0"/>
                <a:cs typeface="Arial" pitchFamily="34" charset="0"/>
              </a:rPr>
              <a:t>You might have noticed that among A, B and C, the Rs100 note changed hands three times, generating a total transaction of Rs300. </a:t>
            </a:r>
          </a:p>
          <a:p>
            <a:pPr>
              <a:lnSpc>
                <a:spcPct val="150000"/>
              </a:lnSpc>
              <a:spcBef>
                <a:spcPct val="20000"/>
              </a:spcBef>
            </a:pPr>
            <a:endParaRPr lang="en-US" b="1" dirty="0" smtClean="0">
              <a:latin typeface="Arial" pitchFamily="34" charset="0"/>
              <a:cs typeface="Arial" pitchFamily="34" charset="0"/>
            </a:endParaRPr>
          </a:p>
          <a:p>
            <a:pPr>
              <a:lnSpc>
                <a:spcPct val="150000"/>
              </a:lnSpc>
              <a:spcBef>
                <a:spcPct val="20000"/>
              </a:spcBef>
            </a:pPr>
            <a:r>
              <a:rPr lang="en-US" b="1" dirty="0" smtClean="0">
                <a:latin typeface="Arial" pitchFamily="34" charset="0"/>
                <a:cs typeface="Arial" pitchFamily="34" charset="0"/>
              </a:rPr>
              <a:t>In this example, therefore, the velocity of money is three.</a:t>
            </a:r>
          </a:p>
          <a:p>
            <a:pPr algn="ctr">
              <a:lnSpc>
                <a:spcPct val="150000"/>
              </a:lnSpc>
            </a:pPr>
            <a:endParaRPr lang="en-US" b="1" dirty="0" smtClean="0">
              <a:latin typeface="Arial" pitchFamily="34" charset="0"/>
              <a:cs typeface="Arial" pitchFamily="34" charset="0"/>
            </a:endParaRPr>
          </a:p>
          <a:p>
            <a:pPr algn="ctr">
              <a:lnSpc>
                <a:spcPct val="150000"/>
              </a:lnSpc>
              <a:buFontTx/>
              <a:buChar char="•"/>
            </a:pP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VELOCITY OF MONEY</a:t>
            </a:r>
            <a:endParaRPr lang="en-US"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31167331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215238" cy="463075"/>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How Money Moves!</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VELOCITY OF MONEY</a:t>
            </a:r>
            <a:endParaRPr lang="en-US" b="1" dirty="0">
              <a:solidFill>
                <a:schemeClr val="bg1"/>
              </a:solidFill>
              <a:latin typeface="Arial" pitchFamily="34" charset="0"/>
              <a:cs typeface="Arial" pitchFamily="34" charset="0"/>
            </a:endParaRPr>
          </a:p>
        </p:txBody>
      </p:sp>
      <p:pic>
        <p:nvPicPr>
          <p:cNvPr id="8" name="Picture 10" descr="2"/>
          <p:cNvPicPr>
            <a:picLocks noChangeAspect="1" noChangeArrowheads="1"/>
          </p:cNvPicPr>
          <p:nvPr/>
        </p:nvPicPr>
        <p:blipFill>
          <a:blip r:embed="rId3"/>
          <a:srcRect/>
          <a:stretch>
            <a:fillRect/>
          </a:stretch>
        </p:blipFill>
        <p:spPr bwMode="auto">
          <a:xfrm>
            <a:off x="3367094" y="1736728"/>
            <a:ext cx="2133600" cy="2120900"/>
          </a:xfrm>
          <a:prstGeom prst="rect">
            <a:avLst/>
          </a:prstGeom>
          <a:noFill/>
        </p:spPr>
      </p:pic>
      <p:pic>
        <p:nvPicPr>
          <p:cNvPr id="9" name="Picture 9" descr="1"/>
          <p:cNvPicPr>
            <a:picLocks noChangeAspect="1" noChangeArrowheads="1"/>
          </p:cNvPicPr>
          <p:nvPr/>
        </p:nvPicPr>
        <p:blipFill>
          <a:blip r:embed="rId4"/>
          <a:srcRect/>
          <a:stretch>
            <a:fillRect/>
          </a:stretch>
        </p:blipFill>
        <p:spPr bwMode="auto">
          <a:xfrm>
            <a:off x="538150" y="4114800"/>
            <a:ext cx="2176462" cy="2438400"/>
          </a:xfrm>
          <a:prstGeom prst="rect">
            <a:avLst/>
          </a:prstGeom>
          <a:noFill/>
        </p:spPr>
      </p:pic>
      <p:pic>
        <p:nvPicPr>
          <p:cNvPr id="10" name="Picture 11" descr="3"/>
          <p:cNvPicPr>
            <a:picLocks noChangeAspect="1" noChangeArrowheads="1"/>
          </p:cNvPicPr>
          <p:nvPr/>
        </p:nvPicPr>
        <p:blipFill>
          <a:blip r:embed="rId5"/>
          <a:srcRect/>
          <a:stretch>
            <a:fillRect/>
          </a:stretch>
        </p:blipFill>
        <p:spPr bwMode="auto">
          <a:xfrm>
            <a:off x="5857884" y="4357709"/>
            <a:ext cx="2819400" cy="2143125"/>
          </a:xfrm>
          <a:prstGeom prst="rect">
            <a:avLst/>
          </a:prstGeom>
          <a:noFill/>
        </p:spPr>
      </p:pic>
      <p:sp>
        <p:nvSpPr>
          <p:cNvPr id="11" name="Rectangle 10"/>
          <p:cNvSpPr/>
          <p:nvPr/>
        </p:nvSpPr>
        <p:spPr>
          <a:xfrm>
            <a:off x="3786182" y="4857760"/>
            <a:ext cx="992580" cy="369332"/>
          </a:xfrm>
          <a:prstGeom prst="rect">
            <a:avLst/>
          </a:prstGeom>
        </p:spPr>
        <p:txBody>
          <a:bodyPr wrap="none">
            <a:spAutoFit/>
          </a:bodyPr>
          <a:lstStyle/>
          <a:p>
            <a:pPr algn="ctr"/>
            <a:r>
              <a:rPr lang="en-US" b="1" dirty="0" smtClean="0">
                <a:latin typeface="Arial" pitchFamily="34" charset="0"/>
                <a:cs typeface="Arial" pitchFamily="34" charset="0"/>
              </a:rPr>
              <a:t>Rs. 100</a:t>
            </a:r>
            <a:endParaRPr lang="en-US" b="1" dirty="0">
              <a:latin typeface="Arial" pitchFamily="34" charset="0"/>
              <a:cs typeface="Arial" pitchFamily="34" charset="0"/>
            </a:endParaRPr>
          </a:p>
        </p:txBody>
      </p:sp>
      <p:sp>
        <p:nvSpPr>
          <p:cNvPr id="12" name="Rectangle 11"/>
          <p:cNvSpPr/>
          <p:nvPr/>
        </p:nvSpPr>
        <p:spPr>
          <a:xfrm>
            <a:off x="3357554" y="5500702"/>
            <a:ext cx="1890261" cy="923330"/>
          </a:xfrm>
          <a:prstGeom prst="rect">
            <a:avLst/>
          </a:prstGeom>
        </p:spPr>
        <p:txBody>
          <a:bodyPr wrap="none">
            <a:spAutoFit/>
          </a:bodyPr>
          <a:lstStyle/>
          <a:p>
            <a:pPr algn="ctr"/>
            <a:r>
              <a:rPr lang="en-US" b="1" dirty="0" smtClean="0">
                <a:latin typeface="Arial" pitchFamily="34" charset="0"/>
                <a:cs typeface="Arial" pitchFamily="34" charset="0"/>
              </a:rPr>
              <a:t>Cloth merchant</a:t>
            </a:r>
            <a:br>
              <a:rPr lang="en-US" b="1" dirty="0" smtClean="0">
                <a:latin typeface="Arial" pitchFamily="34" charset="0"/>
                <a:cs typeface="Arial" pitchFamily="34" charset="0"/>
              </a:rPr>
            </a:br>
            <a:r>
              <a:rPr lang="en-US" b="1" dirty="0" smtClean="0">
                <a:latin typeface="Arial" pitchFamily="34" charset="0"/>
                <a:cs typeface="Arial" pitchFamily="34" charset="0"/>
              </a:rPr>
              <a:t>gets a haircut</a:t>
            </a:r>
            <a:br>
              <a:rPr lang="en-US" b="1" dirty="0" smtClean="0">
                <a:latin typeface="Arial" pitchFamily="34" charset="0"/>
                <a:cs typeface="Arial" pitchFamily="34" charset="0"/>
              </a:rPr>
            </a:br>
            <a:r>
              <a:rPr lang="en-US" b="1" dirty="0" smtClean="0">
                <a:latin typeface="Arial" pitchFamily="34" charset="0"/>
                <a:cs typeface="Arial" pitchFamily="34" charset="0"/>
              </a:rPr>
              <a:t>from the barber</a:t>
            </a:r>
            <a:endParaRPr lang="en-US" b="1" dirty="0">
              <a:latin typeface="Arial" pitchFamily="34" charset="0"/>
              <a:cs typeface="Arial" pitchFamily="34" charset="0"/>
            </a:endParaRPr>
          </a:p>
        </p:txBody>
      </p:sp>
      <p:sp>
        <p:nvSpPr>
          <p:cNvPr id="13" name="Line 5"/>
          <p:cNvSpPr>
            <a:spLocks noChangeShapeType="1"/>
          </p:cNvSpPr>
          <p:nvPr/>
        </p:nvSpPr>
        <p:spPr bwMode="auto">
          <a:xfrm rot="8598932">
            <a:off x="3146903" y="4509936"/>
            <a:ext cx="2274208" cy="1722885"/>
          </a:xfrm>
          <a:prstGeom prst="line">
            <a:avLst/>
          </a:prstGeom>
          <a:noFill/>
          <a:ln w="76200">
            <a:solidFill>
              <a:srgbClr val="C00000"/>
            </a:solidFill>
            <a:round/>
            <a:headEnd/>
            <a:tailEnd type="triangle" w="med" len="med"/>
          </a:ln>
          <a:effectLst/>
        </p:spPr>
        <p:txBody>
          <a:bodyPr/>
          <a:lstStyle/>
          <a:p>
            <a:endParaRPr lang="en-IN"/>
          </a:p>
        </p:txBody>
      </p:sp>
      <p:sp>
        <p:nvSpPr>
          <p:cNvPr id="14" name="Rectangle 13"/>
          <p:cNvSpPr/>
          <p:nvPr/>
        </p:nvSpPr>
        <p:spPr>
          <a:xfrm>
            <a:off x="1062430" y="2000240"/>
            <a:ext cx="2223686" cy="646331"/>
          </a:xfrm>
          <a:prstGeom prst="rect">
            <a:avLst/>
          </a:prstGeom>
        </p:spPr>
        <p:txBody>
          <a:bodyPr wrap="none">
            <a:spAutoFit/>
          </a:bodyPr>
          <a:lstStyle/>
          <a:p>
            <a:pPr algn="ctr"/>
            <a:r>
              <a:rPr lang="en-US" b="1" dirty="0" smtClean="0">
                <a:latin typeface="Arial" pitchFamily="34" charset="0"/>
                <a:cs typeface="Arial" pitchFamily="34" charset="0"/>
              </a:rPr>
              <a:t>Barber buys bread</a:t>
            </a:r>
            <a:br>
              <a:rPr lang="en-US" b="1" dirty="0" smtClean="0">
                <a:latin typeface="Arial" pitchFamily="34" charset="0"/>
                <a:cs typeface="Arial" pitchFamily="34" charset="0"/>
              </a:rPr>
            </a:br>
            <a:r>
              <a:rPr lang="en-US" b="1" dirty="0" smtClean="0">
                <a:latin typeface="Arial" pitchFamily="34" charset="0"/>
                <a:cs typeface="Arial" pitchFamily="34" charset="0"/>
              </a:rPr>
              <a:t>from the baker</a:t>
            </a:r>
            <a:endParaRPr lang="en-US" b="1" dirty="0">
              <a:latin typeface="Arial" pitchFamily="34" charset="0"/>
              <a:cs typeface="Arial" pitchFamily="34" charset="0"/>
            </a:endParaRPr>
          </a:p>
        </p:txBody>
      </p:sp>
      <p:sp>
        <p:nvSpPr>
          <p:cNvPr id="15" name="Rectangle 14"/>
          <p:cNvSpPr/>
          <p:nvPr/>
        </p:nvSpPr>
        <p:spPr>
          <a:xfrm>
            <a:off x="5643570" y="1785926"/>
            <a:ext cx="2300630" cy="923330"/>
          </a:xfrm>
          <a:prstGeom prst="rect">
            <a:avLst/>
          </a:prstGeom>
        </p:spPr>
        <p:txBody>
          <a:bodyPr wrap="none">
            <a:spAutoFit/>
          </a:bodyPr>
          <a:lstStyle/>
          <a:p>
            <a:pPr algn="ctr"/>
            <a:r>
              <a:rPr lang="en-US" b="1" dirty="0" smtClean="0">
                <a:latin typeface="Arial" pitchFamily="34" charset="0"/>
                <a:cs typeface="Arial" pitchFamily="34" charset="0"/>
              </a:rPr>
              <a:t>Baker buys clothes</a:t>
            </a:r>
            <a:br>
              <a:rPr lang="en-US" b="1" dirty="0" smtClean="0">
                <a:latin typeface="Arial" pitchFamily="34" charset="0"/>
                <a:cs typeface="Arial" pitchFamily="34" charset="0"/>
              </a:rPr>
            </a:br>
            <a:r>
              <a:rPr lang="en-US" b="1" dirty="0" smtClean="0">
                <a:latin typeface="Arial" pitchFamily="34" charset="0"/>
                <a:cs typeface="Arial" pitchFamily="34" charset="0"/>
              </a:rPr>
              <a:t>from the</a:t>
            </a:r>
            <a:br>
              <a:rPr lang="en-US" b="1" dirty="0" smtClean="0">
                <a:latin typeface="Arial" pitchFamily="34" charset="0"/>
                <a:cs typeface="Arial" pitchFamily="34" charset="0"/>
              </a:rPr>
            </a:br>
            <a:r>
              <a:rPr lang="en-US" b="1" dirty="0" smtClean="0">
                <a:latin typeface="Arial" pitchFamily="34" charset="0"/>
                <a:cs typeface="Arial" pitchFamily="34" charset="0"/>
              </a:rPr>
              <a:t>cloth merchant</a:t>
            </a:r>
            <a:endParaRPr lang="en-US" b="1" dirty="0">
              <a:latin typeface="Arial" pitchFamily="34" charset="0"/>
              <a:cs typeface="Arial" pitchFamily="34" charset="0"/>
            </a:endParaRPr>
          </a:p>
        </p:txBody>
      </p:sp>
      <p:sp>
        <p:nvSpPr>
          <p:cNvPr id="16" name="Rectangle 15"/>
          <p:cNvSpPr/>
          <p:nvPr/>
        </p:nvSpPr>
        <p:spPr>
          <a:xfrm>
            <a:off x="1633934" y="3059668"/>
            <a:ext cx="992580" cy="369332"/>
          </a:xfrm>
          <a:prstGeom prst="rect">
            <a:avLst/>
          </a:prstGeom>
        </p:spPr>
        <p:txBody>
          <a:bodyPr wrap="none">
            <a:spAutoFit/>
          </a:bodyPr>
          <a:lstStyle/>
          <a:p>
            <a:pPr algn="ctr"/>
            <a:r>
              <a:rPr lang="en-US" b="1" dirty="0" smtClean="0">
                <a:latin typeface="Arial" pitchFamily="34" charset="0"/>
                <a:cs typeface="Arial" pitchFamily="34" charset="0"/>
              </a:rPr>
              <a:t>Rs. 100</a:t>
            </a:r>
            <a:endParaRPr lang="en-US" b="1" dirty="0">
              <a:latin typeface="Arial" pitchFamily="34" charset="0"/>
              <a:cs typeface="Arial" pitchFamily="34" charset="0"/>
            </a:endParaRPr>
          </a:p>
        </p:txBody>
      </p:sp>
      <p:sp>
        <p:nvSpPr>
          <p:cNvPr id="17" name="Rectangle 16"/>
          <p:cNvSpPr/>
          <p:nvPr/>
        </p:nvSpPr>
        <p:spPr>
          <a:xfrm>
            <a:off x="5936874" y="3212068"/>
            <a:ext cx="992580" cy="369332"/>
          </a:xfrm>
          <a:prstGeom prst="rect">
            <a:avLst/>
          </a:prstGeom>
        </p:spPr>
        <p:txBody>
          <a:bodyPr wrap="none">
            <a:spAutoFit/>
          </a:bodyPr>
          <a:lstStyle/>
          <a:p>
            <a:pPr algn="ctr"/>
            <a:r>
              <a:rPr lang="en-US" b="1" dirty="0" smtClean="0">
                <a:latin typeface="Arial" pitchFamily="34" charset="0"/>
                <a:cs typeface="Arial" pitchFamily="34" charset="0"/>
              </a:rPr>
              <a:t>Rs. 100</a:t>
            </a:r>
            <a:endParaRPr lang="en-US" b="1" dirty="0">
              <a:latin typeface="Arial" pitchFamily="34" charset="0"/>
              <a:cs typeface="Arial" pitchFamily="34" charset="0"/>
            </a:endParaRPr>
          </a:p>
        </p:txBody>
      </p:sp>
      <p:grpSp>
        <p:nvGrpSpPr>
          <p:cNvPr id="18" name="Group 17"/>
          <p:cNvGrpSpPr/>
          <p:nvPr/>
        </p:nvGrpSpPr>
        <p:grpSpPr>
          <a:xfrm>
            <a:off x="1033188" y="2251807"/>
            <a:ext cx="2060184" cy="1451046"/>
            <a:chOff x="1033188" y="2251807"/>
            <a:chExt cx="2060184" cy="1451046"/>
          </a:xfrm>
        </p:grpSpPr>
        <p:sp>
          <p:nvSpPr>
            <p:cNvPr id="19" name="Line 5"/>
            <p:cNvSpPr>
              <a:spLocks noChangeShapeType="1"/>
            </p:cNvSpPr>
            <p:nvPr/>
          </p:nvSpPr>
          <p:spPr bwMode="auto">
            <a:xfrm rot="8598932" flipH="1" flipV="1">
              <a:off x="1578804" y="2251807"/>
              <a:ext cx="1514568" cy="1147400"/>
            </a:xfrm>
            <a:prstGeom prst="line">
              <a:avLst/>
            </a:prstGeom>
            <a:noFill/>
            <a:ln w="76200">
              <a:solidFill>
                <a:srgbClr val="C00000"/>
              </a:solidFill>
              <a:round/>
              <a:headEnd/>
              <a:tailEnd type="triangle" w="med" len="med"/>
            </a:ln>
            <a:effectLst/>
          </p:spPr>
          <p:txBody>
            <a:bodyPr/>
            <a:lstStyle/>
            <a:p>
              <a:endParaRPr lang="en-IN"/>
            </a:p>
          </p:txBody>
        </p:sp>
        <p:sp>
          <p:nvSpPr>
            <p:cNvPr id="20" name="Line 5"/>
            <p:cNvSpPr>
              <a:spLocks noChangeShapeType="1"/>
            </p:cNvSpPr>
            <p:nvPr/>
          </p:nvSpPr>
          <p:spPr bwMode="auto">
            <a:xfrm rot="8598932" flipV="1">
              <a:off x="1033188" y="2899525"/>
              <a:ext cx="646196" cy="803328"/>
            </a:xfrm>
            <a:prstGeom prst="line">
              <a:avLst/>
            </a:prstGeom>
            <a:noFill/>
            <a:ln w="76200">
              <a:solidFill>
                <a:srgbClr val="C00000"/>
              </a:solidFill>
              <a:round/>
              <a:headEnd/>
              <a:tailEnd type="triangle" w="med" len="med"/>
            </a:ln>
            <a:effectLst/>
          </p:spPr>
          <p:txBody>
            <a:bodyPr/>
            <a:lstStyle/>
            <a:p>
              <a:endParaRPr lang="en-IN"/>
            </a:p>
          </p:txBody>
        </p:sp>
      </p:grpSp>
      <p:grpSp>
        <p:nvGrpSpPr>
          <p:cNvPr id="21" name="Group 20"/>
          <p:cNvGrpSpPr/>
          <p:nvPr/>
        </p:nvGrpSpPr>
        <p:grpSpPr>
          <a:xfrm>
            <a:off x="5929322" y="2357430"/>
            <a:ext cx="2067866" cy="1443207"/>
            <a:chOff x="5828632" y="2412046"/>
            <a:chExt cx="2067866" cy="1443207"/>
          </a:xfrm>
        </p:grpSpPr>
        <p:sp>
          <p:nvSpPr>
            <p:cNvPr id="22" name="Line 5"/>
            <p:cNvSpPr>
              <a:spLocks noChangeShapeType="1"/>
            </p:cNvSpPr>
            <p:nvPr/>
          </p:nvSpPr>
          <p:spPr bwMode="auto">
            <a:xfrm rot="8598932">
              <a:off x="5828632" y="2412046"/>
              <a:ext cx="1589482" cy="1146520"/>
            </a:xfrm>
            <a:prstGeom prst="line">
              <a:avLst/>
            </a:prstGeom>
            <a:noFill/>
            <a:ln w="76200">
              <a:solidFill>
                <a:srgbClr val="C00000"/>
              </a:solidFill>
              <a:round/>
              <a:headEnd/>
              <a:tailEnd type="triangle" w="med" len="med"/>
            </a:ln>
            <a:effectLst/>
          </p:spPr>
          <p:txBody>
            <a:bodyPr/>
            <a:lstStyle/>
            <a:p>
              <a:endParaRPr lang="en-IN"/>
            </a:p>
          </p:txBody>
        </p:sp>
        <p:sp>
          <p:nvSpPr>
            <p:cNvPr id="23" name="Line 5"/>
            <p:cNvSpPr>
              <a:spLocks noChangeShapeType="1"/>
            </p:cNvSpPr>
            <p:nvPr/>
          </p:nvSpPr>
          <p:spPr bwMode="auto">
            <a:xfrm rot="8598932" flipV="1">
              <a:off x="7250302" y="3051925"/>
              <a:ext cx="646196" cy="803328"/>
            </a:xfrm>
            <a:prstGeom prst="line">
              <a:avLst/>
            </a:prstGeom>
            <a:noFill/>
            <a:ln w="76200">
              <a:solidFill>
                <a:srgbClr val="C00000"/>
              </a:solidFill>
              <a:round/>
              <a:headEnd/>
              <a:tailEnd type="triangle" w="med" len="med"/>
            </a:ln>
            <a:effectLst/>
          </p:spPr>
          <p:txBody>
            <a:bodyPr/>
            <a:lstStyle/>
            <a:p>
              <a:endParaRPr lang="en-IN"/>
            </a:p>
          </p:txBody>
        </p:sp>
      </p:grpSp>
    </p:spTree>
    <p:extLst>
      <p:ext uri="{BB962C8B-B14F-4D97-AF65-F5344CB8AC3E}">
        <p14:creationId xmlns:p14="http://schemas.microsoft.com/office/powerpoint/2010/main" val="311673311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358114" cy="2949525"/>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The life of money looks so simple when it is just moving from the baker to the barber. </a:t>
            </a:r>
            <a:br>
              <a:rPr lang="en-US" b="1" dirty="0" smtClean="0">
                <a:latin typeface="Arial" pitchFamily="34" charset="0"/>
                <a:cs typeface="Arial" pitchFamily="34" charset="0"/>
              </a:rPr>
            </a:br>
            <a:r>
              <a:rPr lang="en-US" b="1" dirty="0" smtClean="0">
                <a:latin typeface="Arial" pitchFamily="34" charset="0"/>
                <a:cs typeface="Arial" pitchFamily="34" charset="0"/>
              </a:rPr>
              <a:t/>
            </a:r>
            <a:br>
              <a:rPr lang="en-US" b="1" dirty="0" smtClean="0">
                <a:latin typeface="Arial" pitchFamily="34" charset="0"/>
                <a:cs typeface="Arial" pitchFamily="34" charset="0"/>
              </a:rPr>
            </a:br>
            <a:r>
              <a:rPr lang="en-US" b="1" dirty="0" smtClean="0">
                <a:latin typeface="Arial" pitchFamily="34" charset="0"/>
                <a:cs typeface="Arial" pitchFamily="34" charset="0"/>
              </a:rPr>
              <a:t>But what about the actual economy, where countless number of people are using different units of money for small and big transactions? How do we actually calculate the velocity of money in a real economy?</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VELOCITY OF MONEY</a:t>
            </a:r>
            <a:endParaRPr lang="en-US"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31167331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643866" cy="4360424"/>
          </a:xfrm>
          <a:prstGeom prst="rect">
            <a:avLst/>
          </a:prstGeom>
        </p:spPr>
        <p:txBody>
          <a:bodyPr wrap="square">
            <a:spAutoFit/>
          </a:bodyPr>
          <a:lstStyle/>
          <a:p>
            <a:pPr marL="441325" indent="-441325">
              <a:lnSpc>
                <a:spcPct val="150000"/>
              </a:lnSpc>
              <a:buFont typeface="Wingdings" pitchFamily="2" charset="2"/>
              <a:buChar char="q"/>
              <a:tabLst>
                <a:tab pos="441325" algn="l"/>
              </a:tabLst>
            </a:pPr>
            <a:r>
              <a:rPr lang="en-US" sz="1700" b="1" dirty="0" smtClean="0">
                <a:latin typeface="Arial" pitchFamily="34" charset="0"/>
                <a:cs typeface="Arial" pitchFamily="34" charset="0"/>
              </a:rPr>
              <a:t>The velocity of money is what is called a derived statistic, which means that in the real economy, the velocity of money can be known only after all buy and sell transactions are over. </a:t>
            </a:r>
          </a:p>
          <a:p>
            <a:pPr marL="441325" indent="-441325">
              <a:lnSpc>
                <a:spcPct val="150000"/>
              </a:lnSpc>
              <a:buFont typeface="Wingdings" pitchFamily="2" charset="2"/>
              <a:buChar char="q"/>
              <a:tabLst>
                <a:tab pos="441325" algn="l"/>
              </a:tabLst>
            </a:pPr>
            <a:endParaRPr lang="en-US" sz="1700" b="1" dirty="0" smtClean="0">
              <a:latin typeface="Arial" pitchFamily="34" charset="0"/>
              <a:cs typeface="Arial" pitchFamily="34" charset="0"/>
            </a:endParaRPr>
          </a:p>
          <a:p>
            <a:pPr marL="441325" indent="-441325">
              <a:lnSpc>
                <a:spcPct val="150000"/>
              </a:lnSpc>
              <a:buFont typeface="Wingdings" pitchFamily="2" charset="2"/>
              <a:buChar char="q"/>
              <a:tabLst>
                <a:tab pos="441325" algn="l"/>
              </a:tabLst>
            </a:pPr>
            <a:r>
              <a:rPr lang="en-US" sz="1700" b="1" dirty="0" smtClean="0">
                <a:latin typeface="Arial" pitchFamily="34" charset="0"/>
                <a:cs typeface="Arial" pitchFamily="34" charset="0"/>
              </a:rPr>
              <a:t>There is no way we can directly know about the velocity of money on a real-time basis. </a:t>
            </a:r>
          </a:p>
          <a:p>
            <a:pPr marL="441325" indent="-441325">
              <a:lnSpc>
                <a:spcPct val="150000"/>
              </a:lnSpc>
              <a:buFont typeface="Wingdings" pitchFamily="2" charset="2"/>
              <a:buChar char="q"/>
              <a:tabLst>
                <a:tab pos="441325" algn="l"/>
              </a:tabLst>
            </a:pPr>
            <a:endParaRPr lang="en-US" sz="1700" b="1" dirty="0" smtClean="0">
              <a:latin typeface="Arial" pitchFamily="34" charset="0"/>
              <a:cs typeface="Arial" pitchFamily="34" charset="0"/>
            </a:endParaRPr>
          </a:p>
          <a:p>
            <a:pPr marL="441325" indent="-441325">
              <a:lnSpc>
                <a:spcPct val="150000"/>
              </a:lnSpc>
              <a:buFont typeface="Wingdings" pitchFamily="2" charset="2"/>
              <a:buChar char="q"/>
              <a:tabLst>
                <a:tab pos="441325" algn="l"/>
              </a:tabLst>
            </a:pPr>
            <a:r>
              <a:rPr lang="en-US" sz="1700" b="1" dirty="0" smtClean="0">
                <a:latin typeface="Arial" pitchFamily="34" charset="0"/>
                <a:cs typeface="Arial" pitchFamily="34" charset="0"/>
              </a:rPr>
              <a:t>We calculate velocity of money by dividing the value of the Gross Domestic Product, or GDP, which represents the total value of all goods and services produced by an economy, by the value of money supply. </a:t>
            </a:r>
            <a:endParaRPr lang="en-US" sz="1700"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VELOCITY OF MONEY</a:t>
            </a:r>
            <a:endParaRPr lang="en-US"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311673311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Rectangle 2"/>
          <p:cNvSpPr/>
          <p:nvPr/>
        </p:nvSpPr>
        <p:spPr>
          <a:xfrm>
            <a:off x="3059832" y="1214422"/>
            <a:ext cx="3869622" cy="2145203"/>
          </a:xfrm>
          <a:prstGeom prst="rect">
            <a:avLst/>
          </a:prstGeom>
        </p:spPr>
        <p:txBody>
          <a:bodyPr wrap="square">
            <a:spAutoFit/>
          </a:bodyPr>
          <a:lstStyle/>
          <a:p>
            <a:pPr>
              <a:lnSpc>
                <a:spcPct val="150000"/>
              </a:lnSpc>
              <a:spcBef>
                <a:spcPct val="20000"/>
              </a:spcBef>
            </a:pPr>
            <a:r>
              <a:rPr lang="en-US" sz="1600" b="1" dirty="0" smtClean="0">
                <a:latin typeface="Arial" pitchFamily="34" charset="0"/>
                <a:cs typeface="Arial" pitchFamily="34" charset="0"/>
              </a:rPr>
              <a:t>But how does one calculate different measurements of money supply such as M0, M1, M2, M3 and so on?</a:t>
            </a:r>
          </a:p>
          <a:p>
            <a:pPr>
              <a:lnSpc>
                <a:spcPct val="150000"/>
              </a:lnSpc>
              <a:spcBef>
                <a:spcPct val="20000"/>
              </a:spcBef>
            </a:pPr>
            <a:endParaRPr lang="en-US" sz="600" b="1" dirty="0" smtClean="0">
              <a:latin typeface="Arial" pitchFamily="34" charset="0"/>
              <a:cs typeface="Arial" pitchFamily="34" charset="0"/>
            </a:endParaRPr>
          </a:p>
          <a:p>
            <a:pPr>
              <a:lnSpc>
                <a:spcPct val="150000"/>
              </a:lnSpc>
              <a:spcBef>
                <a:spcPct val="20000"/>
              </a:spcBef>
            </a:pPr>
            <a:r>
              <a:rPr lang="en-US" sz="1600" b="1" dirty="0" smtClean="0">
                <a:latin typeface="Arial" pitchFamily="34" charset="0"/>
                <a:cs typeface="Arial" pitchFamily="34" charset="0"/>
              </a:rPr>
              <a:t>Don’t worry, I will cover all of that &amp; more in my next lesson.</a:t>
            </a:r>
          </a:p>
        </p:txBody>
      </p:sp>
      <p:sp>
        <p:nvSpPr>
          <p:cNvPr id="4" name="TextBox 3"/>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VELOCITY OF MONEY</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215238" cy="456535"/>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To Sum Up</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VELOCITY OF MONEY</a:t>
            </a:r>
            <a:endParaRPr lang="en-US" b="1" dirty="0">
              <a:solidFill>
                <a:schemeClr val="bg1"/>
              </a:solidFill>
              <a:latin typeface="Arial" pitchFamily="34" charset="0"/>
              <a:cs typeface="Arial" pitchFamily="34" charset="0"/>
            </a:endParaRPr>
          </a:p>
        </p:txBody>
      </p:sp>
      <p:sp>
        <p:nvSpPr>
          <p:cNvPr id="7" name="Rectangle 6"/>
          <p:cNvSpPr/>
          <p:nvPr/>
        </p:nvSpPr>
        <p:spPr>
          <a:xfrm>
            <a:off x="714348" y="1714488"/>
            <a:ext cx="7215238" cy="3462486"/>
          </a:xfrm>
          <a:prstGeom prst="rect">
            <a:avLst/>
          </a:prstGeom>
        </p:spPr>
        <p:txBody>
          <a:bodyPr wrap="square">
            <a:spAutoFit/>
          </a:bodyPr>
          <a:lstStyle/>
          <a:p>
            <a:pPr marL="441325" indent="-441325">
              <a:lnSpc>
                <a:spcPct val="150000"/>
              </a:lnSpc>
              <a:buFont typeface="Wingdings" pitchFamily="2" charset="2"/>
              <a:buChar char="q"/>
              <a:tabLst>
                <a:tab pos="441325" algn="l"/>
                <a:tab pos="3600450" algn="l"/>
              </a:tabLst>
            </a:pPr>
            <a:r>
              <a:rPr lang="en-US" b="1" dirty="0" smtClean="0">
                <a:latin typeface="Arial" pitchFamily="34" charset="0"/>
                <a:cs typeface="Arial" pitchFamily="34" charset="0"/>
              </a:rPr>
              <a:t>What: ‘Velocity of money’ is a term used to denote the number of times a unit of money in an economy changes hands during a certain period.</a:t>
            </a:r>
          </a:p>
          <a:p>
            <a:pPr marL="441325" indent="-441325">
              <a:lnSpc>
                <a:spcPct val="150000"/>
              </a:lnSpc>
              <a:buFont typeface="Wingdings" pitchFamily="2" charset="2"/>
              <a:buChar char="q"/>
              <a:tabLst>
                <a:tab pos="441325" algn="l"/>
                <a:tab pos="3600450" algn="l"/>
              </a:tabLst>
            </a:pPr>
            <a:endParaRPr lang="en-US" sz="1000" b="1" dirty="0" smtClean="0">
              <a:latin typeface="Arial" pitchFamily="34" charset="0"/>
              <a:cs typeface="Arial" pitchFamily="34" charset="0"/>
            </a:endParaRPr>
          </a:p>
          <a:p>
            <a:pPr marL="441325" indent="-441325">
              <a:lnSpc>
                <a:spcPct val="150000"/>
              </a:lnSpc>
              <a:buFont typeface="Wingdings" pitchFamily="2" charset="2"/>
              <a:buChar char="q"/>
              <a:tabLst>
                <a:tab pos="441325" algn="l"/>
                <a:tab pos="3600450" algn="l"/>
              </a:tabLst>
            </a:pPr>
            <a:r>
              <a:rPr lang="en-US" b="1" dirty="0" smtClean="0">
                <a:latin typeface="Arial" pitchFamily="34" charset="0"/>
                <a:cs typeface="Arial" pitchFamily="34" charset="0"/>
              </a:rPr>
              <a:t>How: Velocity of money is calculated by dividing the value of GDP with the value of money in circulation.</a:t>
            </a:r>
          </a:p>
          <a:p>
            <a:pPr marL="441325" indent="-441325">
              <a:lnSpc>
                <a:spcPct val="150000"/>
              </a:lnSpc>
              <a:buFont typeface="Wingdings" pitchFamily="2" charset="2"/>
              <a:buChar char="q"/>
              <a:tabLst>
                <a:tab pos="441325" algn="l"/>
                <a:tab pos="3600450" algn="l"/>
              </a:tabLst>
            </a:pPr>
            <a:endParaRPr lang="en-US" sz="1000" b="1" dirty="0" smtClean="0">
              <a:latin typeface="Arial" pitchFamily="34" charset="0"/>
              <a:cs typeface="Arial" pitchFamily="34" charset="0"/>
            </a:endParaRPr>
          </a:p>
          <a:p>
            <a:pPr marL="441325" indent="-441325">
              <a:lnSpc>
                <a:spcPct val="150000"/>
              </a:lnSpc>
              <a:buFont typeface="Wingdings" pitchFamily="2" charset="2"/>
              <a:buChar char="q"/>
              <a:tabLst>
                <a:tab pos="441325" algn="l"/>
                <a:tab pos="3600450" algn="l"/>
              </a:tabLst>
            </a:pPr>
            <a:r>
              <a:rPr lang="en-US" b="1" dirty="0" smtClean="0">
                <a:latin typeface="Arial" pitchFamily="34" charset="0"/>
                <a:cs typeface="Arial" pitchFamily="34" charset="0"/>
              </a:rPr>
              <a:t>Why: Money needs to move and therefore needs velocity for the economy to move ahead smoothly.</a:t>
            </a:r>
            <a:endParaRPr lang="en-US" b="1" dirty="0">
              <a:latin typeface="Arial" pitchFamily="34" charset="0"/>
              <a:cs typeface="Arial" pitchFamily="34" charset="0"/>
            </a:endParaRPr>
          </a:p>
        </p:txBody>
      </p:sp>
    </p:spTree>
    <p:extLst>
      <p:ext uri="{BB962C8B-B14F-4D97-AF65-F5344CB8AC3E}">
        <p14:creationId xmlns:p14="http://schemas.microsoft.com/office/powerpoint/2010/main" val="311673311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357686" y="4704900"/>
            <a:ext cx="3786214" cy="1295868"/>
          </a:xfrm>
          <a:prstGeom prst="rect">
            <a:avLst/>
          </a:prstGeom>
        </p:spPr>
        <p:txBody>
          <a:bodyPr wrap="square">
            <a:spAutoFit/>
          </a:bodyPr>
          <a:lstStyle/>
          <a:p>
            <a:pPr>
              <a:lnSpc>
                <a:spcPct val="150000"/>
              </a:lnSpc>
              <a:buFontTx/>
              <a:buNone/>
            </a:pPr>
            <a:r>
              <a:rPr lang="en-US" b="1" dirty="0" smtClean="0">
                <a:latin typeface="Arial" pitchFamily="34" charset="0"/>
                <a:cs typeface="Arial" pitchFamily="34" charset="0"/>
              </a:rPr>
              <a:t>Hope you have now</a:t>
            </a:r>
            <a:br>
              <a:rPr lang="en-US" b="1" dirty="0" smtClean="0">
                <a:latin typeface="Arial" pitchFamily="34" charset="0"/>
                <a:cs typeface="Arial" pitchFamily="34" charset="0"/>
              </a:rPr>
            </a:br>
            <a:r>
              <a:rPr lang="en-US" b="1" dirty="0" smtClean="0">
                <a:latin typeface="Arial" pitchFamily="34" charset="0"/>
                <a:cs typeface="Arial" pitchFamily="34" charset="0"/>
              </a:rPr>
              <a:t>understood the concept of</a:t>
            </a:r>
          </a:p>
          <a:p>
            <a:pPr>
              <a:lnSpc>
                <a:spcPct val="150000"/>
              </a:lnSpc>
              <a:buFontTx/>
              <a:buNone/>
            </a:pPr>
            <a:r>
              <a:rPr lang="en-US" b="1" dirty="0" smtClean="0">
                <a:latin typeface="Arial" pitchFamily="34" charset="0"/>
                <a:cs typeface="Arial" pitchFamily="34" charset="0"/>
              </a:rPr>
              <a:t>The Velocity of Money</a:t>
            </a:r>
            <a:endParaRPr lang="en-US" b="1" dirty="0">
              <a:latin typeface="Arial" pitchFamily="34" charset="0"/>
              <a:cs typeface="Arial" pitchFamily="34" charset="0"/>
            </a:endParaRPr>
          </a:p>
        </p:txBody>
      </p:sp>
      <p:sp>
        <p:nvSpPr>
          <p:cNvPr id="4" name="TextBox 3"/>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VELOCITY OF MONEY</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3"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4"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000100" y="2072939"/>
            <a:ext cx="4032448" cy="598434"/>
          </a:xfrm>
          <a:prstGeom prst="rect">
            <a:avLst/>
          </a:prstGeom>
        </p:spPr>
        <p:txBody>
          <a:bodyPr wrap="square">
            <a:spAutoFit/>
          </a:bodyPr>
          <a:lstStyle/>
          <a:p>
            <a:pPr marL="342900" indent="-342900" algn="ctr">
              <a:lnSpc>
                <a:spcPct val="80000"/>
              </a:lnSpc>
              <a:spcBef>
                <a:spcPct val="20000"/>
              </a:spcBef>
            </a:pPr>
            <a:r>
              <a:rPr lang="en-US" b="1" dirty="0" smtClean="0">
                <a:latin typeface="Arial" pitchFamily="34" charset="0"/>
                <a:cs typeface="Arial" pitchFamily="34" charset="0"/>
              </a:rPr>
              <a:t>Do write to me at </a:t>
            </a:r>
          </a:p>
          <a:p>
            <a:pPr marL="342900" indent="-342900" algn="ctr">
              <a:lnSpc>
                <a:spcPct val="80000"/>
              </a:lnSpc>
              <a:spcBef>
                <a:spcPct val="20000"/>
              </a:spcBef>
            </a:pPr>
            <a:r>
              <a:rPr lang="en-US" b="1" dirty="0" smtClean="0">
                <a:latin typeface="Arial" pitchFamily="34" charset="0"/>
                <a:cs typeface="Arial" pitchFamily="34" charset="0"/>
                <a:hlinkClick r:id="rId5"/>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3602</TotalTime>
  <Words>854</Words>
  <Application>Microsoft Office PowerPoint</Application>
  <PresentationFormat>On-screen Show (4:3)</PresentationFormat>
  <Paragraphs>75</Paragraphs>
  <Slides>17</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Heena Uttamchandani TAM HO</cp:lastModifiedBy>
  <cp:revision>501</cp:revision>
  <dcterms:created xsi:type="dcterms:W3CDTF">2013-10-22T09:41:31Z</dcterms:created>
  <dcterms:modified xsi:type="dcterms:W3CDTF">2014-10-01T07:39:31Z</dcterms:modified>
</cp:coreProperties>
</file>