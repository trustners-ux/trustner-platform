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358" r:id="rId3"/>
    <p:sldId id="353" r:id="rId4"/>
    <p:sldId id="334" r:id="rId5"/>
    <p:sldId id="335" r:id="rId6"/>
    <p:sldId id="346" r:id="rId7"/>
    <p:sldId id="360" r:id="rId8"/>
    <p:sldId id="370" r:id="rId9"/>
    <p:sldId id="371" r:id="rId10"/>
    <p:sldId id="372" r:id="rId11"/>
    <p:sldId id="373" r:id="rId12"/>
    <p:sldId id="374" r:id="rId13"/>
    <p:sldId id="355" r:id="rId14"/>
    <p:sldId id="375" r:id="rId15"/>
    <p:sldId id="376" r:id="rId16"/>
    <p:sldId id="377" r:id="rId17"/>
    <p:sldId id="379" r:id="rId18"/>
    <p:sldId id="378" r:id="rId19"/>
    <p:sldId id="287"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0" d="100"/>
          <a:sy n="100" d="100"/>
        </p:scale>
        <p:origin x="-288"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B7BAE4-0C15-4103-88F2-027797A9D293}" type="datetimeFigureOut">
              <a:rPr lang="en-US" smtClean="0"/>
              <a:pPr/>
              <a:t>9/23/2014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6DE97DB-83F4-4BE4-A5E3-61CFAB36D59C}"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51311"/>
            <a:ext cx="4248472" cy="461665"/>
          </a:xfrm>
          <a:prstGeom prst="rect">
            <a:avLst/>
          </a:prstGeom>
          <a:noFill/>
        </p:spPr>
        <p:txBody>
          <a:bodyPr wrap="square" rtlCol="0">
            <a:spAutoFit/>
          </a:bodyPr>
          <a:lstStyle/>
          <a:p>
            <a:pPr algn="ctr"/>
            <a:r>
              <a:rPr lang="en-US" sz="1200" b="1" dirty="0" smtClean="0">
                <a:solidFill>
                  <a:schemeClr val="bg1"/>
                </a:solidFill>
                <a:latin typeface="Arial" pitchFamily="34" charset="0"/>
                <a:cs typeface="Arial" pitchFamily="34" charset="0"/>
              </a:rPr>
              <a:t>DEVALUATION, BEGGAR THY NEIGHBOR</a:t>
            </a:r>
            <a:br>
              <a:rPr lang="en-US" sz="1200" b="1" dirty="0" smtClean="0">
                <a:solidFill>
                  <a:schemeClr val="bg1"/>
                </a:solidFill>
                <a:latin typeface="Arial" pitchFamily="34" charset="0"/>
                <a:cs typeface="Arial" pitchFamily="34" charset="0"/>
              </a:rPr>
            </a:br>
            <a:r>
              <a:rPr lang="en-US" sz="1200" b="1" dirty="0" smtClean="0">
                <a:solidFill>
                  <a:schemeClr val="bg1"/>
                </a:solidFill>
                <a:latin typeface="Arial" pitchFamily="34" charset="0"/>
                <a:cs typeface="Arial" pitchFamily="34" charset="0"/>
              </a:rPr>
              <a:t>AND CURRENCY WAR</a:t>
            </a:r>
            <a:endParaRPr lang="en-US" sz="12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47664" y="1268760"/>
            <a:ext cx="3240360" cy="1754326"/>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Understanding the </a:t>
            </a:r>
            <a:br>
              <a:rPr lang="en-US" b="1" dirty="0">
                <a:latin typeface="Arial" pitchFamily="34" charset="0"/>
                <a:cs typeface="Arial" pitchFamily="34" charset="0"/>
              </a:rPr>
            </a:br>
            <a:r>
              <a:rPr lang="en-US" b="1" dirty="0">
                <a:latin typeface="Arial" pitchFamily="34" charset="0"/>
                <a:cs typeface="Arial" pitchFamily="34" charset="0"/>
              </a:rPr>
              <a:t>Relationship between Devaluation, Beggar Thy Neighbor and Currency War</a:t>
            </a: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499992" y="3308499"/>
            <a:ext cx="3960440" cy="3000821"/>
          </a:xfrm>
          <a:prstGeom prst="rect">
            <a:avLst/>
          </a:prstGeom>
        </p:spPr>
        <p:txBody>
          <a:bodyPr wrap="square">
            <a:spAutoFit/>
          </a:bodyPr>
          <a:lstStyle/>
          <a:p>
            <a:pPr>
              <a:lnSpc>
                <a:spcPct val="150000"/>
              </a:lnSpc>
            </a:pPr>
            <a:r>
              <a:rPr lang="en-US" b="1" dirty="0">
                <a:latin typeface="Arial" pitchFamily="34" charset="0"/>
                <a:cs typeface="Arial" pitchFamily="34" charset="0"/>
              </a:rPr>
              <a:t>Let’s say an American wants to buy Indian products. Indian products can only be bought by paying in Indian </a:t>
            </a:r>
            <a:r>
              <a:rPr lang="en-US" b="1" dirty="0" smtClean="0">
                <a:latin typeface="Arial" pitchFamily="34" charset="0"/>
                <a:cs typeface="Arial" pitchFamily="34" charset="0"/>
              </a:rPr>
              <a:t>rupees. This </a:t>
            </a:r>
            <a:r>
              <a:rPr lang="en-US" b="1" dirty="0">
                <a:latin typeface="Arial" pitchFamily="34" charset="0"/>
                <a:cs typeface="Arial" pitchFamily="34" charset="0"/>
              </a:rPr>
              <a:t>means that the American cannot buy the Indian product unless and until he buys Indian rupees. </a:t>
            </a:r>
          </a:p>
        </p:txBody>
      </p:sp>
      <p:sp>
        <p:nvSpPr>
          <p:cNvPr id="6" name="TextBox 5"/>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3808" y="1124744"/>
            <a:ext cx="410445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Therefore, if the Indian government reduces the value of the </a:t>
            </a:r>
            <a:r>
              <a:rPr lang="en-US" b="1" dirty="0" smtClean="0">
                <a:latin typeface="Arial" pitchFamily="34" charset="0"/>
                <a:cs typeface="Arial" pitchFamily="34" charset="0"/>
              </a:rPr>
              <a:t>rupee,</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American can get more Indian rupees for every US dollar. </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410978"/>
            <a:ext cx="381642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Let’s say earlier he would </a:t>
            </a:r>
            <a:r>
              <a:rPr lang="en-US" b="1" dirty="0" smtClean="0">
                <a:latin typeface="Arial" pitchFamily="34" charset="0"/>
                <a:cs typeface="Arial" pitchFamily="34" charset="0"/>
              </a:rPr>
              <a:t>get</a:t>
            </a:r>
            <a:br>
              <a:rPr lang="en-US" b="1" dirty="0" smtClean="0">
                <a:latin typeface="Arial" pitchFamily="34" charset="0"/>
                <a:cs typeface="Arial" pitchFamily="34" charset="0"/>
              </a:rPr>
            </a:br>
            <a:r>
              <a:rPr lang="en-US" b="1" dirty="0" err="1" smtClean="0">
                <a:latin typeface="Arial" pitchFamily="34" charset="0"/>
                <a:cs typeface="Arial" pitchFamily="34" charset="0"/>
              </a:rPr>
              <a:t>Rs</a:t>
            </a:r>
            <a:r>
              <a:rPr lang="en-US" b="1" dirty="0">
                <a:latin typeface="Arial" pitchFamily="34" charset="0"/>
                <a:cs typeface="Arial" pitchFamily="34" charset="0"/>
              </a:rPr>
              <a:t>. 50 for every US dollar but after devaluation he gets </a:t>
            </a:r>
            <a:r>
              <a:rPr lang="en-US" b="1" dirty="0" err="1">
                <a:latin typeface="Arial" pitchFamily="34" charset="0"/>
                <a:cs typeface="Arial" pitchFamily="34" charset="0"/>
              </a:rPr>
              <a:t>Rs</a:t>
            </a:r>
            <a:r>
              <a:rPr lang="en-US" b="1" dirty="0">
                <a:latin typeface="Arial" pitchFamily="34" charset="0"/>
                <a:cs typeface="Arial" pitchFamily="34" charset="0"/>
              </a:rPr>
              <a:t>. 60 for every US dollar. </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6950481"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This means that after devaluation the American for 1$  can now buy a product for </a:t>
            </a:r>
            <a:r>
              <a:rPr lang="en-US" b="1" dirty="0" err="1">
                <a:latin typeface="Arial" pitchFamily="34" charset="0"/>
                <a:cs typeface="Arial" pitchFamily="34" charset="0"/>
              </a:rPr>
              <a:t>Rs</a:t>
            </a:r>
            <a:r>
              <a:rPr lang="en-US" b="1" dirty="0">
                <a:latin typeface="Arial" pitchFamily="34" charset="0"/>
                <a:cs typeface="Arial" pitchFamily="34" charset="0"/>
              </a:rPr>
              <a:t>. 50 and another for </a:t>
            </a:r>
            <a:r>
              <a:rPr lang="en-US" b="1" dirty="0" err="1">
                <a:latin typeface="Arial" pitchFamily="34" charset="0"/>
                <a:cs typeface="Arial" pitchFamily="34" charset="0"/>
              </a:rPr>
              <a:t>Rs</a:t>
            </a:r>
            <a:r>
              <a:rPr lang="en-US" b="1" dirty="0">
                <a:latin typeface="Arial" pitchFamily="34" charset="0"/>
                <a:cs typeface="Arial" pitchFamily="34" charset="0"/>
              </a:rPr>
              <a:t>. 10 whereas before the devaluation he was in a position to only buy one product of </a:t>
            </a:r>
            <a:r>
              <a:rPr lang="en-US" b="1" dirty="0" err="1">
                <a:latin typeface="Arial" pitchFamily="34" charset="0"/>
                <a:cs typeface="Arial" pitchFamily="34" charset="0"/>
              </a:rPr>
              <a:t>Rs</a:t>
            </a:r>
            <a:r>
              <a:rPr lang="en-US" b="1" dirty="0">
                <a:latin typeface="Arial" pitchFamily="34" charset="0"/>
                <a:cs typeface="Arial" pitchFamily="34" charset="0"/>
              </a:rPr>
              <a:t>. 50. </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341728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9" name="TextBox 18"/>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
        <p:nvSpPr>
          <p:cNvPr id="3" name="Rectangle 2"/>
          <p:cNvSpPr/>
          <p:nvPr/>
        </p:nvSpPr>
        <p:spPr>
          <a:xfrm>
            <a:off x="4283968" y="4682460"/>
            <a:ext cx="3708412" cy="1338828"/>
          </a:xfrm>
          <a:prstGeom prst="rect">
            <a:avLst/>
          </a:prstGeom>
        </p:spPr>
        <p:txBody>
          <a:bodyPr wrap="square">
            <a:spAutoFit/>
          </a:bodyPr>
          <a:lstStyle/>
          <a:p>
            <a:pPr>
              <a:lnSpc>
                <a:spcPct val="150000"/>
              </a:lnSpc>
            </a:pPr>
            <a:r>
              <a:rPr lang="en-US" b="1" dirty="0">
                <a:latin typeface="Arial" pitchFamily="34" charset="0"/>
                <a:cs typeface="Arial" pitchFamily="34" charset="0"/>
              </a:rPr>
              <a:t>So clearly the buying capacity of a US dollar increases because of rupee devaluation.  </a:t>
            </a:r>
          </a:p>
        </p:txBody>
      </p:sp>
    </p:spTree>
    <p:extLst>
      <p:ext uri="{BB962C8B-B14F-4D97-AF65-F5344CB8AC3E}">
        <p14:creationId xmlns="" xmlns:p14="http://schemas.microsoft.com/office/powerpoint/2010/main" val="5942471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1124744"/>
            <a:ext cx="7128792" cy="923330"/>
          </a:xfrm>
          <a:prstGeom prst="rect">
            <a:avLst/>
          </a:prstGeom>
        </p:spPr>
        <p:txBody>
          <a:bodyPr wrap="square">
            <a:spAutoFit/>
          </a:bodyPr>
          <a:lstStyle/>
          <a:p>
            <a:pPr>
              <a:lnSpc>
                <a:spcPct val="150000"/>
              </a:lnSpc>
            </a:pPr>
            <a:r>
              <a:rPr lang="en-US" b="1" dirty="0">
                <a:latin typeface="Arial" pitchFamily="34" charset="0"/>
                <a:cs typeface="Arial" pitchFamily="34" charset="0"/>
              </a:rPr>
              <a:t>Thus for the American the product which was costing $1 previously would now be available to him at less than $1. </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14723793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683568" y="1052736"/>
            <a:ext cx="6912768" cy="923330"/>
          </a:xfrm>
          <a:prstGeom prst="rect">
            <a:avLst/>
          </a:prstGeom>
        </p:spPr>
        <p:txBody>
          <a:bodyPr wrap="square">
            <a:spAutoFit/>
          </a:bodyPr>
          <a:lstStyle/>
          <a:p>
            <a:pPr algn="just">
              <a:lnSpc>
                <a:spcPct val="150000"/>
              </a:lnSpc>
            </a:pPr>
            <a:r>
              <a:rPr lang="en-US" b="1" dirty="0">
                <a:latin typeface="Arial" pitchFamily="34" charset="0"/>
                <a:cs typeface="Arial" pitchFamily="34" charset="0"/>
              </a:rPr>
              <a:t>To understand how many dollars it would now cost him, let’s look at the following:</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
        <p:nvSpPr>
          <p:cNvPr id="4" name="Rectangle 3"/>
          <p:cNvSpPr/>
          <p:nvPr/>
        </p:nvSpPr>
        <p:spPr>
          <a:xfrm>
            <a:off x="714348" y="2132856"/>
            <a:ext cx="6881988" cy="2585323"/>
          </a:xfrm>
          <a:prstGeom prst="rect">
            <a:avLst/>
          </a:prstGeom>
        </p:spPr>
        <p:txBody>
          <a:bodyPr wrap="square">
            <a:spAutoFit/>
          </a:bodyPr>
          <a:lstStyle/>
          <a:p>
            <a:pPr marL="465138" indent="-465138">
              <a:lnSpc>
                <a:spcPct val="150000"/>
              </a:lnSpc>
              <a:buFont typeface="Wingdings" pitchFamily="2" charset="2"/>
              <a:buChar char="q"/>
              <a:tabLst>
                <a:tab pos="465138" algn="l"/>
              </a:tabLst>
              <a:defRPr/>
            </a:pPr>
            <a:r>
              <a:rPr lang="en-US" b="1" dirty="0">
                <a:latin typeface="Arial" pitchFamily="34" charset="0"/>
                <a:ea typeface="Calibri" pitchFamily="34" charset="0"/>
                <a:cs typeface="Arial" pitchFamily="34" charset="0"/>
              </a:rPr>
              <a:t>If </a:t>
            </a:r>
            <a:r>
              <a:rPr lang="en-US" b="1" dirty="0" err="1">
                <a:latin typeface="Arial" pitchFamily="34" charset="0"/>
                <a:ea typeface="Calibri" pitchFamily="34" charset="0"/>
                <a:cs typeface="Arial" pitchFamily="34" charset="0"/>
              </a:rPr>
              <a:t>Rs</a:t>
            </a:r>
            <a:r>
              <a:rPr lang="en-US" b="1" dirty="0">
                <a:latin typeface="Arial" pitchFamily="34" charset="0"/>
                <a:ea typeface="Calibri" pitchFamily="34" charset="0"/>
                <a:cs typeface="Arial" pitchFamily="34" charset="0"/>
              </a:rPr>
              <a:t>. 60 = $1</a:t>
            </a:r>
            <a:endParaRPr lang="en-US" dirty="0">
              <a:latin typeface="Arial" pitchFamily="34" charset="0"/>
              <a:cs typeface="Arial" pitchFamily="34" charset="0"/>
            </a:endParaRPr>
          </a:p>
          <a:p>
            <a:pPr marL="465138" indent="-465138" eaLnBrk="0" hangingPunct="0">
              <a:lnSpc>
                <a:spcPct val="150000"/>
              </a:lnSpc>
              <a:buFont typeface="Wingdings" pitchFamily="2" charset="2"/>
              <a:buChar char="q"/>
              <a:tabLst>
                <a:tab pos="465138" algn="l"/>
              </a:tabLst>
              <a:defRPr/>
            </a:pPr>
            <a:r>
              <a:rPr lang="en-US" b="1" dirty="0">
                <a:latin typeface="Arial" pitchFamily="34" charset="0"/>
                <a:ea typeface="Calibri" pitchFamily="34" charset="0"/>
                <a:cs typeface="Arial" pitchFamily="34" charset="0"/>
              </a:rPr>
              <a:t>Then </a:t>
            </a:r>
            <a:r>
              <a:rPr lang="en-US" b="1" dirty="0" err="1">
                <a:latin typeface="Arial" pitchFamily="34" charset="0"/>
                <a:ea typeface="Calibri" pitchFamily="34" charset="0"/>
                <a:cs typeface="Arial" pitchFamily="34" charset="0"/>
              </a:rPr>
              <a:t>Rs</a:t>
            </a:r>
            <a:r>
              <a:rPr lang="en-US" b="1" dirty="0">
                <a:latin typeface="Arial" pitchFamily="34" charset="0"/>
                <a:ea typeface="Calibri" pitchFamily="34" charset="0"/>
                <a:cs typeface="Arial" pitchFamily="34" charset="0"/>
              </a:rPr>
              <a:t>. 50 = $?</a:t>
            </a:r>
            <a:endParaRPr lang="en-US" dirty="0">
              <a:latin typeface="Arial" pitchFamily="34" charset="0"/>
              <a:cs typeface="Arial" pitchFamily="34" charset="0"/>
            </a:endParaRPr>
          </a:p>
          <a:p>
            <a:pPr marL="465138" indent="-465138" eaLnBrk="0" hangingPunct="0">
              <a:lnSpc>
                <a:spcPct val="150000"/>
              </a:lnSpc>
              <a:buFont typeface="Wingdings" pitchFamily="2" charset="2"/>
              <a:buChar char="q"/>
              <a:tabLst>
                <a:tab pos="465138" algn="l"/>
              </a:tabLst>
              <a:defRPr/>
            </a:pPr>
            <a:r>
              <a:rPr lang="en-US" b="1" dirty="0">
                <a:latin typeface="Arial" pitchFamily="34" charset="0"/>
                <a:ea typeface="Calibri" pitchFamily="34" charset="0"/>
                <a:cs typeface="Arial" pitchFamily="34" charset="0"/>
              </a:rPr>
              <a:t>The above equation means that </a:t>
            </a:r>
            <a:r>
              <a:rPr lang="en-US" b="1" dirty="0" err="1">
                <a:latin typeface="Arial" pitchFamily="34" charset="0"/>
                <a:ea typeface="Calibri" pitchFamily="34" charset="0"/>
                <a:cs typeface="Arial" pitchFamily="34" charset="0"/>
              </a:rPr>
              <a:t>Rs</a:t>
            </a:r>
            <a:r>
              <a:rPr lang="en-US" b="1" dirty="0">
                <a:latin typeface="Arial" pitchFamily="34" charset="0"/>
                <a:ea typeface="Calibri" pitchFamily="34" charset="0"/>
                <a:cs typeface="Arial" pitchFamily="34" charset="0"/>
              </a:rPr>
              <a:t>. 1 is 1/60</a:t>
            </a:r>
            <a:r>
              <a:rPr lang="en-US" b="1" baseline="30000" dirty="0">
                <a:latin typeface="Arial" pitchFamily="34" charset="0"/>
                <a:ea typeface="Calibri" pitchFamily="34" charset="0"/>
                <a:cs typeface="Arial" pitchFamily="34" charset="0"/>
              </a:rPr>
              <a:t>th</a:t>
            </a:r>
            <a:r>
              <a:rPr lang="en-US" b="1" dirty="0">
                <a:latin typeface="Arial" pitchFamily="34" charset="0"/>
                <a:ea typeface="Calibri" pitchFamily="34" charset="0"/>
                <a:cs typeface="Arial" pitchFamily="34" charset="0"/>
              </a:rPr>
              <a:t> part of a dollar in value</a:t>
            </a:r>
            <a:endParaRPr lang="en-US" dirty="0">
              <a:latin typeface="Arial" pitchFamily="34" charset="0"/>
              <a:cs typeface="Arial" pitchFamily="34" charset="0"/>
            </a:endParaRPr>
          </a:p>
          <a:p>
            <a:pPr marL="465138" indent="-465138" eaLnBrk="0" hangingPunct="0">
              <a:lnSpc>
                <a:spcPct val="150000"/>
              </a:lnSpc>
              <a:buFont typeface="Wingdings" pitchFamily="2" charset="2"/>
              <a:buChar char="q"/>
              <a:tabLst>
                <a:tab pos="465138" algn="l"/>
              </a:tabLst>
              <a:defRPr/>
            </a:pPr>
            <a:r>
              <a:rPr lang="en-US" b="1" dirty="0">
                <a:latin typeface="Arial" pitchFamily="34" charset="0"/>
                <a:ea typeface="Calibri" pitchFamily="34" charset="0"/>
                <a:cs typeface="Arial" pitchFamily="34" charset="0"/>
              </a:rPr>
              <a:t>Hence </a:t>
            </a:r>
            <a:r>
              <a:rPr lang="en-US" b="1" dirty="0" err="1">
                <a:latin typeface="Arial" pitchFamily="34" charset="0"/>
                <a:ea typeface="Calibri" pitchFamily="34" charset="0"/>
                <a:cs typeface="Arial" pitchFamily="34" charset="0"/>
              </a:rPr>
              <a:t>Rs</a:t>
            </a:r>
            <a:r>
              <a:rPr lang="en-US" b="1" dirty="0">
                <a:latin typeface="Arial" pitchFamily="34" charset="0"/>
                <a:ea typeface="Calibri" pitchFamily="34" charset="0"/>
                <a:cs typeface="Arial" pitchFamily="34" charset="0"/>
              </a:rPr>
              <a:t>. 50 would be $(50 x 1/60)</a:t>
            </a:r>
            <a:endParaRPr lang="en-US" dirty="0">
              <a:latin typeface="Arial" pitchFamily="34" charset="0"/>
              <a:cs typeface="Arial" pitchFamily="34" charset="0"/>
            </a:endParaRPr>
          </a:p>
          <a:p>
            <a:pPr marL="465138" indent="-465138" eaLnBrk="0" hangingPunct="0">
              <a:lnSpc>
                <a:spcPct val="150000"/>
              </a:lnSpc>
              <a:buFont typeface="Wingdings" pitchFamily="2" charset="2"/>
              <a:buChar char="q"/>
              <a:tabLst>
                <a:tab pos="465138" algn="l"/>
              </a:tabLst>
              <a:defRPr/>
            </a:pPr>
            <a:r>
              <a:rPr lang="en-US" b="1" dirty="0">
                <a:latin typeface="Arial" pitchFamily="34" charset="0"/>
                <a:ea typeface="Calibri" pitchFamily="34" charset="0"/>
                <a:cs typeface="Arial" pitchFamily="34" charset="0"/>
              </a:rPr>
              <a:t>And this works to $ 5/6 = $.83</a:t>
            </a:r>
            <a:endParaRPr lang="en-US" dirty="0">
              <a:latin typeface="Arial" pitchFamily="34" charset="0"/>
              <a:cs typeface="Arial" pitchFamily="34" charset="0"/>
            </a:endParaRPr>
          </a:p>
        </p:txBody>
      </p:sp>
    </p:spTree>
    <p:extLst>
      <p:ext uri="{BB962C8B-B14F-4D97-AF65-F5344CB8AC3E}">
        <p14:creationId xmlns="" xmlns:p14="http://schemas.microsoft.com/office/powerpoint/2010/main" val="8101965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683568" y="1010052"/>
            <a:ext cx="727280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From the previous explanation one thing that gets clear is the fact that whenever a country devalues its currency, its exports get cheaper and attractive.</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30041193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683568" y="1052736"/>
            <a:ext cx="748883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And when this happens, there is a possibility that </a:t>
            </a:r>
            <a:r>
              <a:rPr lang="en-US" b="1" dirty="0" smtClean="0">
                <a:latin typeface="Arial" pitchFamily="34" charset="0"/>
                <a:cs typeface="Arial" pitchFamily="34" charset="0"/>
              </a:rPr>
              <a:t>America</a:t>
            </a:r>
            <a:br>
              <a:rPr lang="en-US" b="1" dirty="0" smtClean="0">
                <a:latin typeface="Arial" pitchFamily="34" charset="0"/>
                <a:cs typeface="Arial" pitchFamily="34" charset="0"/>
              </a:rPr>
            </a:br>
            <a:r>
              <a:rPr lang="en-US" b="1" dirty="0" smtClean="0">
                <a:latin typeface="Arial" pitchFamily="34" charset="0"/>
                <a:cs typeface="Arial" pitchFamily="34" charset="0"/>
              </a:rPr>
              <a:t>(as </a:t>
            </a:r>
            <a:r>
              <a:rPr lang="en-US" b="1" dirty="0">
                <a:latin typeface="Arial" pitchFamily="34" charset="0"/>
                <a:cs typeface="Arial" pitchFamily="34" charset="0"/>
              </a:rPr>
              <a:t>in this case where our example talks about America and India) would prefer buying products from India than let’s </a:t>
            </a:r>
            <a:r>
              <a:rPr lang="en-US" b="1" dirty="0" smtClean="0">
                <a:latin typeface="Arial" pitchFamily="34" charset="0"/>
                <a:cs typeface="Arial" pitchFamily="34" charset="0"/>
              </a:rPr>
              <a:t>say</a:t>
            </a:r>
            <a:br>
              <a:rPr lang="en-US" b="1" dirty="0" smtClean="0">
                <a:latin typeface="Arial" pitchFamily="34" charset="0"/>
                <a:cs typeface="Arial" pitchFamily="34" charset="0"/>
              </a:rPr>
            </a:br>
            <a:r>
              <a:rPr lang="en-US" b="1" dirty="0" smtClean="0">
                <a:latin typeface="Arial" pitchFamily="34" charset="0"/>
                <a:cs typeface="Arial" pitchFamily="34" charset="0"/>
              </a:rPr>
              <a:t>its </a:t>
            </a:r>
            <a:r>
              <a:rPr lang="en-US" b="1" dirty="0">
                <a:latin typeface="Arial" pitchFamily="34" charset="0"/>
                <a:cs typeface="Arial" pitchFamily="34" charset="0"/>
              </a:rPr>
              <a:t>neighbors (who have not devalued their currency).</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38601753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683568" y="1052736"/>
            <a:ext cx="748883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This policy of devaluing currency is also known as “Beggar Thy Neighbor” because it has the potential of harming the economy of neighboring countries by making their exports less attractive and causing a reduction in their exports.  </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4410087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3" name="Rectangle 2"/>
          <p:cNvSpPr/>
          <p:nvPr/>
        </p:nvSpPr>
        <p:spPr>
          <a:xfrm>
            <a:off x="3995936" y="4437112"/>
            <a:ext cx="446449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This in a sense sets up a sort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war </a:t>
            </a:r>
            <a:r>
              <a:rPr lang="en-US" b="1" dirty="0">
                <a:latin typeface="Arial" pitchFamily="34" charset="0"/>
                <a:cs typeface="Arial" pitchFamily="34" charset="0"/>
              </a:rPr>
              <a:t>between two countries </a:t>
            </a:r>
            <a:r>
              <a:rPr lang="en-US" b="1" dirty="0" smtClean="0">
                <a:latin typeface="Arial" pitchFamily="34" charset="0"/>
                <a:cs typeface="Arial" pitchFamily="34" charset="0"/>
              </a:rPr>
              <a:t>for</a:t>
            </a:r>
            <a:br>
              <a:rPr lang="en-US" b="1" dirty="0" smtClean="0">
                <a:latin typeface="Arial" pitchFamily="34" charset="0"/>
                <a:cs typeface="Arial" pitchFamily="34" charset="0"/>
              </a:rPr>
            </a:br>
            <a:r>
              <a:rPr lang="en-US" b="1" dirty="0" smtClean="0">
                <a:latin typeface="Arial" pitchFamily="34" charset="0"/>
                <a:cs typeface="Arial" pitchFamily="34" charset="0"/>
              </a:rPr>
              <a:t>a </a:t>
            </a:r>
            <a:r>
              <a:rPr lang="en-US" b="1" dirty="0">
                <a:latin typeface="Arial" pitchFamily="34" charset="0"/>
                <a:cs typeface="Arial" pitchFamily="34" charset="0"/>
              </a:rPr>
              <a:t>higher export market </a:t>
            </a:r>
            <a:r>
              <a:rPr lang="en-US" b="1" dirty="0" smtClean="0">
                <a:latin typeface="Arial" pitchFamily="34" charset="0"/>
                <a:cs typeface="Arial" pitchFamily="34" charset="0"/>
              </a:rPr>
              <a:t>share.</a:t>
            </a:r>
            <a:br>
              <a:rPr lang="en-US" b="1" dirty="0" smtClean="0">
                <a:latin typeface="Arial" pitchFamily="34" charset="0"/>
                <a:cs typeface="Arial" pitchFamily="34" charset="0"/>
              </a:rPr>
            </a:br>
            <a:r>
              <a:rPr lang="en-US" b="1" dirty="0" smtClean="0">
                <a:latin typeface="Arial" pitchFamily="34" charset="0"/>
                <a:cs typeface="Arial" pitchFamily="34" charset="0"/>
              </a:rPr>
              <a:t>This </a:t>
            </a:r>
            <a:r>
              <a:rPr lang="en-US" b="1" dirty="0">
                <a:latin typeface="Arial" pitchFamily="34" charset="0"/>
                <a:cs typeface="Arial" pitchFamily="34" charset="0"/>
              </a:rPr>
              <a:t>war is known as “Currency War”.</a:t>
            </a:r>
          </a:p>
        </p:txBody>
      </p:sp>
      <p:sp>
        <p:nvSpPr>
          <p:cNvPr id="6" name="TextBox 5"/>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26834514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683568" y="1090163"/>
            <a:ext cx="7056784" cy="2914901"/>
          </a:xfrm>
          <a:prstGeom prst="rect">
            <a:avLst/>
          </a:prstGeom>
        </p:spPr>
        <p:txBody>
          <a:bodyPr wrap="square">
            <a:spAutoFit/>
          </a:bodyPr>
          <a:lstStyle/>
          <a:p>
            <a:pPr>
              <a:lnSpc>
                <a:spcPct val="150000"/>
              </a:lnSpc>
              <a:defRPr/>
            </a:pPr>
            <a:r>
              <a:rPr lang="en-US" b="1" dirty="0">
                <a:latin typeface="Arial" pitchFamily="34" charset="0"/>
                <a:cs typeface="Arial" pitchFamily="34" charset="0"/>
              </a:rPr>
              <a:t>Hope through this explanation you have now understood the following terms</a:t>
            </a:r>
          </a:p>
          <a:p>
            <a:pPr>
              <a:lnSpc>
                <a:spcPct val="150000"/>
              </a:lnSpc>
              <a:defRPr/>
            </a:pPr>
            <a:r>
              <a:rPr lang="en-US" b="1" dirty="0">
                <a:latin typeface="Arial" pitchFamily="34" charset="0"/>
                <a:cs typeface="Arial" pitchFamily="34" charset="0"/>
              </a:rPr>
              <a:t> </a:t>
            </a:r>
          </a:p>
          <a:p>
            <a:pPr marL="342900" indent="-342900">
              <a:lnSpc>
                <a:spcPct val="200000"/>
              </a:lnSpc>
              <a:buFont typeface="+mj-lt"/>
              <a:buAutoNum type="arabicPeriod"/>
              <a:defRPr/>
            </a:pPr>
            <a:r>
              <a:rPr lang="en-US" b="1" dirty="0">
                <a:latin typeface="Arial" pitchFamily="34" charset="0"/>
                <a:cs typeface="Arial" pitchFamily="34" charset="0"/>
              </a:rPr>
              <a:t>Currency devaluation</a:t>
            </a:r>
          </a:p>
          <a:p>
            <a:pPr marL="342900" indent="-342900">
              <a:lnSpc>
                <a:spcPct val="200000"/>
              </a:lnSpc>
              <a:buFont typeface="+mj-lt"/>
              <a:buAutoNum type="arabicPeriod"/>
              <a:defRPr/>
            </a:pPr>
            <a:r>
              <a:rPr lang="en-US" b="1" dirty="0">
                <a:latin typeface="Arial" pitchFamily="34" charset="0"/>
                <a:cs typeface="Arial" pitchFamily="34" charset="0"/>
              </a:rPr>
              <a:t>Beggar thy neighbor</a:t>
            </a:r>
          </a:p>
          <a:p>
            <a:pPr marL="342900" indent="-342900">
              <a:lnSpc>
                <a:spcPct val="200000"/>
              </a:lnSpc>
              <a:buFont typeface="+mj-lt"/>
              <a:buAutoNum type="arabicPeriod"/>
              <a:defRPr/>
            </a:pPr>
            <a:r>
              <a:rPr lang="en-US" b="1" dirty="0">
                <a:latin typeface="Arial" pitchFamily="34" charset="0"/>
                <a:cs typeface="Arial" pitchFamily="34" charset="0"/>
              </a:rPr>
              <a:t>Currency wars</a:t>
            </a:r>
          </a:p>
        </p:txBody>
      </p:sp>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17405430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8" name="TextBox 7"/>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
        <p:nvSpPr>
          <p:cNvPr id="3" name="Rectangle 2"/>
          <p:cNvSpPr/>
          <p:nvPr/>
        </p:nvSpPr>
        <p:spPr>
          <a:xfrm>
            <a:off x="2987824" y="1370092"/>
            <a:ext cx="403244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It is important to understand </a:t>
            </a:r>
            <a:r>
              <a:rPr lang="en-US" b="1" dirty="0" smtClean="0">
                <a:latin typeface="Arial" pitchFamily="34" charset="0"/>
                <a:cs typeface="Arial" pitchFamily="34" charset="0"/>
              </a:rPr>
              <a:t>at</a:t>
            </a:r>
            <a:br>
              <a:rPr lang="en-US" b="1" dirty="0" smtClean="0">
                <a:latin typeface="Arial" pitchFamily="34" charset="0"/>
                <a:cs typeface="Arial" pitchFamily="34" charset="0"/>
              </a:rPr>
            </a:br>
            <a:r>
              <a:rPr lang="en-US" b="1" dirty="0" smtClean="0">
                <a:latin typeface="Arial" pitchFamily="34" charset="0"/>
                <a:cs typeface="Arial" pitchFamily="34" charset="0"/>
              </a:rPr>
              <a:t>this </a:t>
            </a:r>
            <a:r>
              <a:rPr lang="en-US" b="1" dirty="0">
                <a:latin typeface="Arial" pitchFamily="34" charset="0"/>
                <a:cs typeface="Arial" pitchFamily="34" charset="0"/>
              </a:rPr>
              <a:t>point the difference between “Currency War” and “Price War”. </a:t>
            </a:r>
          </a:p>
        </p:txBody>
      </p:sp>
    </p:spTree>
    <p:extLst>
      <p:ext uri="{BB962C8B-B14F-4D97-AF65-F5344CB8AC3E}">
        <p14:creationId xmlns="" xmlns:p14="http://schemas.microsoft.com/office/powerpoint/2010/main" val="13866624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Rectangle 3"/>
          <p:cNvSpPr/>
          <p:nvPr/>
        </p:nvSpPr>
        <p:spPr>
          <a:xfrm>
            <a:off x="683568" y="1124744"/>
            <a:ext cx="7056784" cy="1338828"/>
          </a:xfrm>
          <a:prstGeom prst="rect">
            <a:avLst/>
          </a:prstGeom>
        </p:spPr>
        <p:txBody>
          <a:bodyPr wrap="square">
            <a:spAutoFit/>
          </a:bodyPr>
          <a:lstStyle/>
          <a:p>
            <a:pPr>
              <a:lnSpc>
                <a:spcPct val="150000"/>
              </a:lnSpc>
            </a:pPr>
            <a:r>
              <a:rPr lang="en-US" b="1" dirty="0">
                <a:latin typeface="Arial" pitchFamily="34" charset="0"/>
                <a:cs typeface="Arial" pitchFamily="34" charset="0"/>
              </a:rPr>
              <a:t>In a “Price War”, two or more manufacturers resort to price cutting by reducing the price of their products. This happens within a country (domestic trade).</a:t>
            </a:r>
          </a:p>
        </p:txBody>
      </p:sp>
      <p:sp>
        <p:nvSpPr>
          <p:cNvPr id="6" name="TextBox 5"/>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41056279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Rectangle 3"/>
          <p:cNvSpPr/>
          <p:nvPr/>
        </p:nvSpPr>
        <p:spPr>
          <a:xfrm>
            <a:off x="683568" y="1124744"/>
            <a:ext cx="7056784" cy="880369"/>
          </a:xfrm>
          <a:prstGeom prst="rect">
            <a:avLst/>
          </a:prstGeom>
        </p:spPr>
        <p:txBody>
          <a:bodyPr wrap="square">
            <a:spAutoFit/>
          </a:bodyPr>
          <a:lstStyle/>
          <a:p>
            <a:pPr>
              <a:lnSpc>
                <a:spcPct val="150000"/>
              </a:lnSpc>
            </a:pPr>
            <a:r>
              <a:rPr lang="en-US" b="1" dirty="0">
                <a:latin typeface="Arial" pitchFamily="34" charset="0"/>
                <a:cs typeface="Arial" pitchFamily="34" charset="0"/>
              </a:rPr>
              <a:t>A “Currency War” in essence is a “Price War” except that it is in the international context.</a:t>
            </a:r>
          </a:p>
        </p:txBody>
      </p:sp>
      <p:sp>
        <p:nvSpPr>
          <p:cNvPr id="6" name="TextBox 5"/>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42645188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381930"/>
            <a:ext cx="3960440" cy="1711366"/>
          </a:xfrm>
          <a:prstGeom prst="rect">
            <a:avLst/>
          </a:prstGeom>
        </p:spPr>
        <p:txBody>
          <a:bodyPr wrap="square">
            <a:spAutoFit/>
          </a:bodyPr>
          <a:lstStyle/>
          <a:p>
            <a:pPr>
              <a:lnSpc>
                <a:spcPct val="150000"/>
              </a:lnSpc>
            </a:pPr>
            <a:r>
              <a:rPr lang="en-US" b="1" dirty="0">
                <a:latin typeface="Arial" pitchFamily="34" charset="0"/>
                <a:cs typeface="Arial" pitchFamily="34" charset="0"/>
              </a:rPr>
              <a:t>Hope this story has clarified the </a:t>
            </a:r>
          </a:p>
          <a:p>
            <a:pPr>
              <a:lnSpc>
                <a:spcPct val="150000"/>
              </a:lnSpc>
            </a:pPr>
            <a:r>
              <a:rPr lang="en-US" b="1" dirty="0">
                <a:latin typeface="Arial" pitchFamily="34" charset="0"/>
                <a:cs typeface="Arial" pitchFamily="34" charset="0"/>
              </a:rPr>
              <a:t>Concept of Relationship between Devaluation, Beggar Thy Neighbor and Currency War</a:t>
            </a:r>
          </a:p>
        </p:txBody>
      </p:sp>
      <p:sp>
        <p:nvSpPr>
          <p:cNvPr id="6" name="TextBox 5"/>
          <p:cNvSpPr txBox="1"/>
          <p:nvPr/>
        </p:nvSpPr>
        <p:spPr>
          <a:xfrm>
            <a:off x="714348" y="498158"/>
            <a:ext cx="7242028" cy="361637"/>
          </a:xfrm>
          <a:prstGeom prst="rect">
            <a:avLst/>
          </a:prstGeom>
          <a:noFill/>
        </p:spPr>
        <p:txBody>
          <a:bodyPr wrap="square" rtlCol="0">
            <a:spAutoFit/>
          </a:bodyPr>
          <a:lstStyle/>
          <a:p>
            <a:pPr algn="ctr"/>
            <a:r>
              <a:rPr lang="en-US" sz="1750" b="1" dirty="0">
                <a:solidFill>
                  <a:schemeClr val="bg1"/>
                </a:solidFill>
                <a:latin typeface="Arial" pitchFamily="34" charset="0"/>
                <a:cs typeface="Arial" pitchFamily="34" charset="0"/>
              </a:rPr>
              <a:t>DEVALUATION, BEGGAR THY </a:t>
            </a:r>
            <a:r>
              <a:rPr lang="en-US" sz="1750" b="1" dirty="0" smtClean="0">
                <a:solidFill>
                  <a:schemeClr val="bg1"/>
                </a:solidFill>
                <a:latin typeface="Arial" pitchFamily="34" charset="0"/>
                <a:cs typeface="Arial" pitchFamily="34" charset="0"/>
              </a:rPr>
              <a:t>NEIGHBOR AND </a:t>
            </a:r>
            <a:r>
              <a:rPr lang="en-US" sz="1750" b="1" dirty="0">
                <a:solidFill>
                  <a:schemeClr val="bg1"/>
                </a:solidFill>
                <a:latin typeface="Arial" pitchFamily="34" charset="0"/>
                <a:cs typeface="Arial" pitchFamily="34" charset="0"/>
              </a:rPr>
              <a:t>CURRENCY WAR</a:t>
            </a:r>
          </a:p>
        </p:txBody>
      </p:sp>
    </p:spTree>
    <p:extLst>
      <p:ext uri="{BB962C8B-B14F-4D97-AF65-F5344CB8AC3E}">
        <p14:creationId xmlns="" xmlns:p14="http://schemas.microsoft.com/office/powerpoint/2010/main" val="1007802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0848"/>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2136</TotalTime>
  <Words>669</Words>
  <Application>Microsoft Office PowerPoint</Application>
  <PresentationFormat>On-screen Show (4:3)</PresentationFormat>
  <Paragraphs>50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248</cp:revision>
  <dcterms:created xsi:type="dcterms:W3CDTF">2013-10-22T09:41:31Z</dcterms:created>
  <dcterms:modified xsi:type="dcterms:W3CDTF">2014-09-23T12:48:25Z</dcterms:modified>
</cp:coreProperties>
</file>