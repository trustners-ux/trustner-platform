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9"/>
  </p:notesMasterIdLst>
  <p:sldIdLst>
    <p:sldId id="256" r:id="rId2"/>
    <p:sldId id="358" r:id="rId3"/>
    <p:sldId id="424" r:id="rId4"/>
    <p:sldId id="416" r:id="rId5"/>
    <p:sldId id="418" r:id="rId6"/>
    <p:sldId id="456" r:id="rId7"/>
    <p:sldId id="457" r:id="rId8"/>
    <p:sldId id="448" r:id="rId9"/>
    <p:sldId id="452" r:id="rId10"/>
    <p:sldId id="449" r:id="rId11"/>
    <p:sldId id="458" r:id="rId12"/>
    <p:sldId id="459" r:id="rId13"/>
    <p:sldId id="460" r:id="rId14"/>
    <p:sldId id="461" r:id="rId15"/>
    <p:sldId id="454" r:id="rId16"/>
    <p:sldId id="287" r:id="rId17"/>
    <p:sldId id="273" r:id="rId18"/>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 xmlns:p14="http://schemas.microsoft.com/office/powerpoint/2010/main" val="0"/>
    </p:ext>
    <p:ext uri="{D31A062A-798A-4329-ABDD-BBA856620510}">
      <p14:defaultImageDpi xmlns=""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591" autoAdjust="0"/>
    <p:restoredTop sz="94595" autoAdjust="0"/>
  </p:normalViewPr>
  <p:slideViewPr>
    <p:cSldViewPr>
      <p:cViewPr>
        <p:scale>
          <a:sx n="61" d="100"/>
          <a:sy n="61" d="100"/>
        </p:scale>
        <p:origin x="-1542" y="-174"/>
      </p:cViewPr>
      <p:guideLst>
        <p:guide orient="horz" pos="2160"/>
        <p:guide pos="2880"/>
      </p:guideLst>
    </p:cSldViewPr>
  </p:slideViewPr>
  <p:notesTextViewPr>
    <p:cViewPr>
      <p:scale>
        <a:sx n="100" d="100"/>
        <a:sy n="100" d="100"/>
      </p:scale>
      <p:origin x="0" y="0"/>
    </p:cViewPr>
  </p:notesText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B10E05B8-715C-4FAF-BC8A-A5F0580F534E}" type="datetimeFigureOut">
              <a:rPr lang="en-US" smtClean="0"/>
              <a:pPr/>
              <a:t>3/7/2014</a:t>
            </a:fld>
            <a:endParaRPr lang="en-IN"/>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62A204C8-0732-4ACB-BFB7-2799F61E2A0A}" type="slidenum">
              <a:rPr lang="en-IN" smtClean="0"/>
              <a:pPr/>
              <a:t>‹#›</a:t>
            </a:fld>
            <a:endParaRPr lang="en-IN"/>
          </a:p>
        </p:txBody>
      </p:sp>
    </p:spTree>
    <p:extLst>
      <p:ext uri="{BB962C8B-B14F-4D97-AF65-F5344CB8AC3E}">
        <p14:creationId xmlns="" xmlns:p14="http://schemas.microsoft.com/office/powerpoint/2010/main" val="172064615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IN"/>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IN"/>
          </a:p>
        </p:txBody>
      </p:sp>
      <p:sp>
        <p:nvSpPr>
          <p:cNvPr id="4" name="Date Placeholder 3"/>
          <p:cNvSpPr>
            <a:spLocks noGrp="1"/>
          </p:cNvSpPr>
          <p:nvPr>
            <p:ph type="dt" sz="half" idx="10"/>
          </p:nvPr>
        </p:nvSpPr>
        <p:spPr/>
        <p:txBody>
          <a:bodyPr/>
          <a:lstStyle/>
          <a:p>
            <a:fld id="{3A7C54CB-0529-403B-B072-87342900D6A8}" type="datetimeFigureOut">
              <a:rPr lang="en-US" smtClean="0"/>
              <a:pPr/>
              <a:t>3/7/2014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3A7C54CB-0529-403B-B072-87342900D6A8}" type="datetimeFigureOut">
              <a:rPr lang="en-US" smtClean="0"/>
              <a:pPr/>
              <a:t>3/7/2014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IN"/>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3A7C54CB-0529-403B-B072-87342900D6A8}" type="datetimeFigureOut">
              <a:rPr lang="en-US" smtClean="0"/>
              <a:pPr/>
              <a:t>3/7/2014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Date Placeholder 4"/>
          <p:cNvSpPr>
            <a:spLocks noGrp="1"/>
          </p:cNvSpPr>
          <p:nvPr>
            <p:ph type="dt" sz="half" idx="10"/>
          </p:nvPr>
        </p:nvSpPr>
        <p:spPr/>
        <p:txBody>
          <a:bodyPr/>
          <a:lstStyle/>
          <a:p>
            <a:fld id="{3A7C54CB-0529-403B-B072-87342900D6A8}" type="datetimeFigureOut">
              <a:rPr lang="en-US" smtClean="0"/>
              <a:pPr/>
              <a:t>3/7/2014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IN"/>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7" name="Date Placeholder 6"/>
          <p:cNvSpPr>
            <a:spLocks noGrp="1"/>
          </p:cNvSpPr>
          <p:nvPr>
            <p:ph type="dt" sz="half" idx="10"/>
          </p:nvPr>
        </p:nvSpPr>
        <p:spPr/>
        <p:txBody>
          <a:bodyPr/>
          <a:lstStyle/>
          <a:p>
            <a:fld id="{3A7C54CB-0529-403B-B072-87342900D6A8}" type="datetimeFigureOut">
              <a:rPr lang="en-US" smtClean="0"/>
              <a:pPr/>
              <a:t>3/7/2014</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Date Placeholder 2"/>
          <p:cNvSpPr>
            <a:spLocks noGrp="1"/>
          </p:cNvSpPr>
          <p:nvPr>
            <p:ph type="dt" sz="half" idx="10"/>
          </p:nvPr>
        </p:nvSpPr>
        <p:spPr/>
        <p:txBody>
          <a:bodyPr/>
          <a:lstStyle/>
          <a:p>
            <a:fld id="{3A7C54CB-0529-403B-B072-87342900D6A8}" type="datetimeFigureOut">
              <a:rPr lang="en-US" smtClean="0"/>
              <a:pPr/>
              <a:t>3/7/2014</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A7C54CB-0529-403B-B072-87342900D6A8}" type="datetimeFigureOut">
              <a:rPr lang="en-US" smtClean="0"/>
              <a:pPr/>
              <a:t>3/7/2014</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IN"/>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3A7C54CB-0529-403B-B072-87342900D6A8}" type="datetimeFigureOut">
              <a:rPr lang="en-US" smtClean="0"/>
              <a:pPr/>
              <a:t>3/7/2014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IN"/>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3A7C54CB-0529-403B-B072-87342900D6A8}" type="datetimeFigureOut">
              <a:rPr lang="en-US" smtClean="0"/>
              <a:pPr/>
              <a:t>3/7/2014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3A7C54CB-0529-403B-B072-87342900D6A8}" type="datetimeFigureOut">
              <a:rPr lang="en-US" smtClean="0"/>
              <a:pPr/>
              <a:t>3/7/2014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IN"/>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3A7C54CB-0529-403B-B072-87342900D6A8}" type="datetimeFigureOut">
              <a:rPr lang="en-US" smtClean="0"/>
              <a:pPr/>
              <a:t>3/7/2014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IN"/>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A7C54CB-0529-403B-B072-87342900D6A8}" type="datetimeFigureOut">
              <a:rPr lang="en-US" smtClean="0"/>
              <a:pPr/>
              <a:t>3/7/2014</a:t>
            </a:fld>
            <a:endParaRPr lang="en-IN"/>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60570A3-6B67-4C18-ABAC-AE1ACD0864A2}" type="slidenum">
              <a:rPr lang="en-IN" smtClean="0"/>
              <a:pPr/>
              <a:t>‹#›</a:t>
            </a:fld>
            <a:endParaRPr lang="en-IN"/>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5.jpeg"/><Relationship Id="rId1" Type="http://schemas.openxmlformats.org/officeDocument/2006/relationships/slideLayout" Target="../slideLayouts/slideLayout7.xml"/><Relationship Id="rId5" Type="http://schemas.openxmlformats.org/officeDocument/2006/relationships/image" Target="../media/image9.jpeg"/><Relationship Id="rId4" Type="http://schemas.openxmlformats.org/officeDocument/2006/relationships/image" Target="../media/image8.jpeg"/></Relationships>
</file>

<file path=ppt/slides/_rels/slide14.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image" Target="../media/image3.jpeg"/><Relationship Id="rId1" Type="http://schemas.openxmlformats.org/officeDocument/2006/relationships/slideLayout" Target="../slideLayouts/slideLayout2.xml"/><Relationship Id="rId4" Type="http://schemas.openxmlformats.org/officeDocument/2006/relationships/hyperlink" Target="mailto:professor@tataamc.com" TargetMode="External"/></Relationships>
</file>

<file path=ppt/slides/_rels/slide17.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1403648" y="2740858"/>
            <a:ext cx="3957590" cy="400110"/>
          </a:xfrm>
          <a:prstGeom prst="rect">
            <a:avLst/>
          </a:prstGeom>
          <a:noFill/>
        </p:spPr>
        <p:txBody>
          <a:bodyPr wrap="square" rtlCol="0">
            <a:spAutoFit/>
          </a:bodyPr>
          <a:lstStyle/>
          <a:p>
            <a:pPr algn="ctr"/>
            <a:r>
              <a:rPr lang="en-US" sz="2000" b="1" dirty="0" smtClean="0">
                <a:solidFill>
                  <a:schemeClr val="bg1"/>
                </a:solidFill>
                <a:latin typeface="Arial" pitchFamily="34" charset="0"/>
                <a:cs typeface="Arial" pitchFamily="34" charset="0"/>
              </a:rPr>
              <a:t>FED TAPERING</a:t>
            </a:r>
            <a:endParaRPr lang="en-IN" sz="2000" b="1" dirty="0">
              <a:solidFill>
                <a:schemeClr val="bg1"/>
              </a:solidFill>
              <a:latin typeface="Arial" pitchFamily="34" charset="0"/>
              <a:cs typeface="Arial" pitchFamily="34" charset="0"/>
            </a:endParaRPr>
          </a:p>
        </p:txBody>
      </p:sp>
      <p:grpSp>
        <p:nvGrpSpPr>
          <p:cNvPr id="8" name="Group 7"/>
          <p:cNvGrpSpPr/>
          <p:nvPr/>
        </p:nvGrpSpPr>
        <p:grpSpPr>
          <a:xfrm>
            <a:off x="-1" y="-1"/>
            <a:ext cx="9144001" cy="6858001"/>
            <a:chOff x="-1" y="-1"/>
            <a:chExt cx="9144001" cy="6858001"/>
          </a:xfrm>
        </p:grpSpPr>
        <p:pic>
          <p:nvPicPr>
            <p:cNvPr id="2050" name="Picture 2" descr="H:\TATA\From Rajni\Jpegs_blank\PSS_LESSONS_PG1.jpg"/>
            <p:cNvPicPr>
              <a:picLocks noChangeAspect="1" noChangeArrowheads="1"/>
            </p:cNvPicPr>
            <p:nvPr/>
          </p:nvPicPr>
          <p:blipFill>
            <a:blip r:embed="rId2" cstate="print"/>
            <a:stretch>
              <a:fillRect/>
            </a:stretch>
          </p:blipFill>
          <p:spPr bwMode="auto">
            <a:xfrm>
              <a:off x="-1" y="-1"/>
              <a:ext cx="9144001" cy="6858001"/>
            </a:xfrm>
            <a:prstGeom prst="rect">
              <a:avLst/>
            </a:prstGeom>
            <a:noFill/>
            <a:ln>
              <a:noFill/>
            </a:ln>
          </p:spPr>
        </p:pic>
        <p:pic>
          <p:nvPicPr>
            <p:cNvPr id="4" name="Picture 23" descr="TMF Logo New.jpg"/>
            <p:cNvPicPr>
              <a:picLocks noChangeAspect="1"/>
            </p:cNvPicPr>
            <p:nvPr/>
          </p:nvPicPr>
          <p:blipFill>
            <a:blip r:embed="rId3" cstate="print"/>
            <a:srcRect/>
            <a:stretch>
              <a:fillRect/>
            </a:stretch>
          </p:blipFill>
          <p:spPr bwMode="auto">
            <a:xfrm>
              <a:off x="2411760" y="5321776"/>
              <a:ext cx="1177849" cy="822960"/>
            </a:xfrm>
            <a:prstGeom prst="rect">
              <a:avLst/>
            </a:prstGeom>
            <a:noFill/>
            <a:ln w="9525">
              <a:noFill/>
              <a:miter lim="800000"/>
              <a:headEnd/>
              <a:tailEnd/>
            </a:ln>
          </p:spPr>
        </p:pic>
        <p:cxnSp>
          <p:nvCxnSpPr>
            <p:cNvPr id="7" name="Straight Connector 6"/>
            <p:cNvCxnSpPr/>
            <p:nvPr/>
          </p:nvCxnSpPr>
          <p:spPr>
            <a:xfrm>
              <a:off x="2123728" y="5301208"/>
              <a:ext cx="0" cy="864096"/>
            </a:xfrm>
            <a:prstGeom prst="line">
              <a:avLst/>
            </a:prstGeom>
          </p:spPr>
          <p:style>
            <a:lnRef idx="1">
              <a:schemeClr val="dk1"/>
            </a:lnRef>
            <a:fillRef idx="0">
              <a:schemeClr val="dk1"/>
            </a:fillRef>
            <a:effectRef idx="0">
              <a:schemeClr val="dk1"/>
            </a:effectRef>
            <a:fontRef idx="minor">
              <a:schemeClr val="tx1"/>
            </a:fontRef>
          </p:style>
        </p:cxnSp>
      </p:grpSp>
      <p:sp>
        <p:nvSpPr>
          <p:cNvPr id="9" name="TextBox 8"/>
          <p:cNvSpPr txBox="1"/>
          <p:nvPr/>
        </p:nvSpPr>
        <p:spPr>
          <a:xfrm>
            <a:off x="899592" y="2780928"/>
            <a:ext cx="4392488" cy="369332"/>
          </a:xfrm>
          <a:prstGeom prst="rect">
            <a:avLst/>
          </a:prstGeom>
          <a:noFill/>
        </p:spPr>
        <p:txBody>
          <a:bodyPr wrap="square" rtlCol="0">
            <a:spAutoFit/>
          </a:bodyPr>
          <a:lstStyle/>
          <a:p>
            <a:pPr algn="ctr"/>
            <a:r>
              <a:rPr lang="en-US" b="1" dirty="0" smtClean="0">
                <a:solidFill>
                  <a:schemeClr val="bg1"/>
                </a:solidFill>
                <a:latin typeface="Arial" pitchFamily="34" charset="0"/>
                <a:cs typeface="Arial" pitchFamily="34" charset="0"/>
              </a:rPr>
              <a:t>MEASUREMENTS OF MONEY SUPPLY</a:t>
            </a:r>
            <a:endParaRPr lang="en-US" b="1" dirty="0">
              <a:solidFill>
                <a:schemeClr val="bg1"/>
              </a:solidFill>
              <a:latin typeface="Arial" pitchFamily="34" charset="0"/>
              <a:cs typeface="Arial" pitchFamily="34" charset="0"/>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4.jpg"/>
          <p:cNvPicPr>
            <a:picLocks noChangeAspect="1" noChangeArrowheads="1"/>
          </p:cNvPicPr>
          <p:nvPr/>
        </p:nvPicPr>
        <p:blipFill>
          <a:blip r:embed="rId2" cstate="print"/>
          <a:srcRect/>
          <a:stretch>
            <a:fillRect/>
          </a:stretch>
        </p:blipFill>
        <p:spPr bwMode="auto">
          <a:xfrm>
            <a:off x="0" y="0"/>
            <a:ext cx="9144000" cy="6858001"/>
          </a:xfrm>
          <a:prstGeom prst="rect">
            <a:avLst/>
          </a:prstGeom>
          <a:noFill/>
        </p:spPr>
      </p:pic>
      <p:sp>
        <p:nvSpPr>
          <p:cNvPr id="3" name="TextBox 2"/>
          <p:cNvSpPr txBox="1"/>
          <p:nvPr/>
        </p:nvSpPr>
        <p:spPr>
          <a:xfrm>
            <a:off x="1214414" y="1661544"/>
            <a:ext cx="3714776" cy="1338828"/>
          </a:xfrm>
          <a:prstGeom prst="rect">
            <a:avLst/>
          </a:prstGeom>
          <a:noFill/>
        </p:spPr>
        <p:txBody>
          <a:bodyPr wrap="square" rtlCol="0">
            <a:spAutoFit/>
          </a:bodyPr>
          <a:lstStyle/>
          <a:p>
            <a:pPr>
              <a:lnSpc>
                <a:spcPct val="150000"/>
              </a:lnSpc>
            </a:pPr>
            <a:r>
              <a:rPr lang="en-US" b="1" dirty="0" smtClean="0">
                <a:latin typeface="Arial" pitchFamily="34" charset="0"/>
                <a:cs typeface="Arial" pitchFamily="34" charset="0"/>
              </a:rPr>
              <a:t>Understanding the Measurements of Money Supply </a:t>
            </a:r>
            <a:br>
              <a:rPr lang="en-US" b="1" dirty="0" smtClean="0">
                <a:latin typeface="Arial" pitchFamily="34" charset="0"/>
                <a:cs typeface="Arial" pitchFamily="34" charset="0"/>
              </a:rPr>
            </a:br>
            <a:r>
              <a:rPr lang="en-US" dirty="0" smtClean="0">
                <a:latin typeface="Arial" pitchFamily="34" charset="0"/>
                <a:cs typeface="Arial" pitchFamily="34" charset="0"/>
              </a:rPr>
              <a:t>–  By Prof. </a:t>
            </a:r>
            <a:r>
              <a:rPr lang="en-US" i="1" dirty="0" smtClean="0">
                <a:latin typeface="Arial" pitchFamily="34" charset="0"/>
                <a:cs typeface="Arial" pitchFamily="34" charset="0"/>
              </a:rPr>
              <a:t>Simply</a:t>
            </a:r>
            <a:r>
              <a:rPr lang="en-US" dirty="0" smtClean="0">
                <a:latin typeface="Arial" pitchFamily="34" charset="0"/>
                <a:cs typeface="Arial" pitchFamily="34" charset="0"/>
              </a:rPr>
              <a:t> Simple</a:t>
            </a:r>
            <a:endParaRPr lang="en-US" b="1" dirty="0">
              <a:latin typeface="Arial" pitchFamily="34" charset="0"/>
              <a:cs typeface="Arial" pitchFamily="34" charset="0"/>
            </a:endParaRPr>
          </a:p>
        </p:txBody>
      </p:sp>
    </p:spTree>
    <p:extLst>
      <p:ext uri="{BB962C8B-B14F-4D97-AF65-F5344CB8AC3E}">
        <p14:creationId xmlns="" xmlns:p14="http://schemas.microsoft.com/office/powerpoint/2010/main" val="2174521812"/>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Ramiz\Desktop\From Rajni\Jpegs_blank\PSS_LESSONS_PG6.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3" name="Rectangle 2"/>
          <p:cNvSpPr/>
          <p:nvPr/>
        </p:nvSpPr>
        <p:spPr>
          <a:xfrm>
            <a:off x="4572000" y="2143116"/>
            <a:ext cx="3857652" cy="4109330"/>
          </a:xfrm>
          <a:prstGeom prst="rect">
            <a:avLst/>
          </a:prstGeom>
        </p:spPr>
        <p:txBody>
          <a:bodyPr wrap="square">
            <a:spAutoFit/>
          </a:bodyPr>
          <a:lstStyle/>
          <a:p>
            <a:pPr marL="357188" indent="-357188">
              <a:lnSpc>
                <a:spcPct val="150000"/>
              </a:lnSpc>
              <a:buFont typeface="Wingdings" pitchFamily="2" charset="2"/>
              <a:buChar char="q"/>
              <a:tabLst>
                <a:tab pos="357188" algn="l"/>
              </a:tabLst>
            </a:pPr>
            <a:r>
              <a:rPr lang="en-US" sz="1600" b="1" dirty="0" smtClean="0">
                <a:latin typeface="Arial" pitchFamily="34" charset="0"/>
                <a:cs typeface="Arial" pitchFamily="34" charset="0"/>
              </a:rPr>
              <a:t>We had earlier covered ‘Velocity of money’ – which is a term used to denote the number of times a unit of money in an economy changes hands during a certain period, say, one year. </a:t>
            </a:r>
          </a:p>
          <a:p>
            <a:pPr marL="357188" indent="-357188">
              <a:lnSpc>
                <a:spcPct val="150000"/>
              </a:lnSpc>
              <a:buFont typeface="Wingdings" pitchFamily="2" charset="2"/>
              <a:buChar char="q"/>
              <a:tabLst>
                <a:tab pos="357188" algn="l"/>
              </a:tabLst>
            </a:pPr>
            <a:endParaRPr lang="en-US" sz="1600" b="1" dirty="0" smtClean="0">
              <a:latin typeface="Arial" pitchFamily="34" charset="0"/>
              <a:cs typeface="Arial" pitchFamily="34" charset="0"/>
            </a:endParaRPr>
          </a:p>
          <a:p>
            <a:pPr marL="357188" indent="-357188">
              <a:lnSpc>
                <a:spcPct val="150000"/>
              </a:lnSpc>
              <a:buFont typeface="Wingdings" pitchFamily="2" charset="2"/>
              <a:buChar char="q"/>
              <a:tabLst>
                <a:tab pos="357188" algn="l"/>
              </a:tabLst>
            </a:pPr>
            <a:r>
              <a:rPr lang="en-US" sz="1600" b="1" dirty="0" smtClean="0">
                <a:latin typeface="Arial" pitchFamily="34" charset="0"/>
                <a:cs typeface="Arial" pitchFamily="34" charset="0"/>
              </a:rPr>
              <a:t>Here, by money, economists generally mean currency and coins in circulation and bank reserves with the central bank. </a:t>
            </a:r>
            <a:endParaRPr lang="en-US" sz="1600" b="1" dirty="0">
              <a:latin typeface="Arial" pitchFamily="34" charset="0"/>
              <a:cs typeface="Arial" pitchFamily="34" charset="0"/>
            </a:endParaRPr>
          </a:p>
        </p:txBody>
      </p:sp>
      <p:sp>
        <p:nvSpPr>
          <p:cNvPr id="4" name="TextBox 3"/>
          <p:cNvSpPr txBox="1"/>
          <p:nvPr/>
        </p:nvSpPr>
        <p:spPr>
          <a:xfrm>
            <a:off x="714348" y="498158"/>
            <a:ext cx="7242028" cy="400110"/>
          </a:xfrm>
          <a:prstGeom prst="rect">
            <a:avLst/>
          </a:prstGeom>
          <a:noFill/>
        </p:spPr>
        <p:txBody>
          <a:bodyPr wrap="square" rtlCol="0">
            <a:spAutoFit/>
          </a:bodyPr>
          <a:lstStyle/>
          <a:p>
            <a:pPr algn="ctr"/>
            <a:r>
              <a:rPr lang="en-US" sz="2000" b="1" dirty="0" smtClean="0">
                <a:solidFill>
                  <a:schemeClr val="bg1"/>
                </a:solidFill>
                <a:latin typeface="Arial" pitchFamily="34" charset="0"/>
                <a:cs typeface="Arial" pitchFamily="34" charset="0"/>
              </a:rPr>
              <a:t>MEASUREMENTS OF MONEY SUPPLY</a:t>
            </a:r>
            <a:endParaRPr lang="en-US" sz="2000" b="1" dirty="0">
              <a:solidFill>
                <a:schemeClr val="bg1"/>
              </a:solidFill>
              <a:latin typeface="Arial" pitchFamily="34" charset="0"/>
              <a:cs typeface="Arial" pitchFamily="34" charset="0"/>
            </a:endParaRPr>
          </a:p>
        </p:txBody>
      </p:sp>
    </p:spTree>
    <p:extLst>
      <p:ext uri="{BB962C8B-B14F-4D97-AF65-F5344CB8AC3E}">
        <p14:creationId xmlns="" xmlns:p14="http://schemas.microsoft.com/office/powerpoint/2010/main" val="1472633299"/>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3.jpg"/>
          <p:cNvPicPr>
            <a:picLocks noChangeAspect="1" noChangeArrowheads="1"/>
          </p:cNvPicPr>
          <p:nvPr/>
        </p:nvPicPr>
        <p:blipFill>
          <a:blip r:embed="rId2" cstate="print"/>
          <a:srcRect/>
          <a:stretch>
            <a:fillRect/>
          </a:stretch>
        </p:blipFill>
        <p:spPr bwMode="auto">
          <a:xfrm>
            <a:off x="0" y="27384"/>
            <a:ext cx="9144000" cy="6858000"/>
          </a:xfrm>
          <a:prstGeom prst="rect">
            <a:avLst/>
          </a:prstGeom>
          <a:noFill/>
        </p:spPr>
      </p:pic>
      <p:sp>
        <p:nvSpPr>
          <p:cNvPr id="4" name="TextBox 3"/>
          <p:cNvSpPr txBox="1"/>
          <p:nvPr/>
        </p:nvSpPr>
        <p:spPr>
          <a:xfrm>
            <a:off x="714348" y="498158"/>
            <a:ext cx="7242028" cy="400110"/>
          </a:xfrm>
          <a:prstGeom prst="rect">
            <a:avLst/>
          </a:prstGeom>
          <a:noFill/>
        </p:spPr>
        <p:txBody>
          <a:bodyPr wrap="square" rtlCol="0">
            <a:spAutoFit/>
          </a:bodyPr>
          <a:lstStyle/>
          <a:p>
            <a:pPr algn="ctr"/>
            <a:r>
              <a:rPr lang="en-US" sz="2000" b="1" dirty="0" smtClean="0">
                <a:solidFill>
                  <a:schemeClr val="bg1"/>
                </a:solidFill>
                <a:latin typeface="Arial" pitchFamily="34" charset="0"/>
                <a:cs typeface="Arial" pitchFamily="34" charset="0"/>
              </a:rPr>
              <a:t>MEASUREMENTS OF MONEY SUPPLY</a:t>
            </a:r>
            <a:endParaRPr lang="en-US" sz="2000" b="1" dirty="0">
              <a:solidFill>
                <a:schemeClr val="bg1"/>
              </a:solidFill>
              <a:latin typeface="Arial" pitchFamily="34" charset="0"/>
              <a:cs typeface="Arial" pitchFamily="34" charset="0"/>
            </a:endParaRPr>
          </a:p>
        </p:txBody>
      </p:sp>
      <p:sp>
        <p:nvSpPr>
          <p:cNvPr id="5" name="Rectangle 4"/>
          <p:cNvSpPr/>
          <p:nvPr/>
        </p:nvSpPr>
        <p:spPr>
          <a:xfrm>
            <a:off x="689064" y="1124744"/>
            <a:ext cx="7240522" cy="2949525"/>
          </a:xfrm>
          <a:prstGeom prst="rect">
            <a:avLst/>
          </a:prstGeom>
        </p:spPr>
        <p:txBody>
          <a:bodyPr wrap="square">
            <a:spAutoFit/>
          </a:bodyPr>
          <a:lstStyle/>
          <a:p>
            <a:pPr>
              <a:lnSpc>
                <a:spcPct val="150000"/>
              </a:lnSpc>
            </a:pPr>
            <a:r>
              <a:rPr lang="en-US" b="1" dirty="0" smtClean="0">
                <a:latin typeface="Arial" pitchFamily="34" charset="0"/>
                <a:cs typeface="Arial" pitchFamily="34" charset="0"/>
              </a:rPr>
              <a:t>The </a:t>
            </a:r>
            <a:r>
              <a:rPr lang="en-US" b="1" dirty="0" smtClean="0">
                <a:latin typeface="Arial" pitchFamily="34" charset="0"/>
                <a:cs typeface="Arial" pitchFamily="34" charset="0"/>
              </a:rPr>
              <a:t>life of money looks so simple when it is just moving from one hand to another. </a:t>
            </a:r>
            <a:br>
              <a:rPr lang="en-US" b="1" dirty="0" smtClean="0">
                <a:latin typeface="Arial" pitchFamily="34" charset="0"/>
                <a:cs typeface="Arial" pitchFamily="34" charset="0"/>
              </a:rPr>
            </a:br>
            <a:r>
              <a:rPr lang="en-US" b="1" dirty="0" smtClean="0">
                <a:latin typeface="Arial" pitchFamily="34" charset="0"/>
                <a:cs typeface="Arial" pitchFamily="34" charset="0"/>
              </a:rPr>
              <a:t/>
            </a:r>
            <a:br>
              <a:rPr lang="en-US" b="1" dirty="0" smtClean="0">
                <a:latin typeface="Arial" pitchFamily="34" charset="0"/>
                <a:cs typeface="Arial" pitchFamily="34" charset="0"/>
              </a:rPr>
            </a:br>
            <a:r>
              <a:rPr lang="en-US" b="1" dirty="0" smtClean="0">
                <a:latin typeface="Arial" pitchFamily="34" charset="0"/>
                <a:cs typeface="Arial" pitchFamily="34" charset="0"/>
              </a:rPr>
              <a:t>But what about the actual economy, where countless number of people are using different units of money for small and big transactions? How do we actually calculate the velocity of money in a real economy?</a:t>
            </a:r>
            <a:endParaRPr lang="en-US" b="1" dirty="0">
              <a:latin typeface="Arial" pitchFamily="34" charset="0"/>
              <a:cs typeface="Arial" pitchFamily="34" charset="0"/>
            </a:endParaRPr>
          </a:p>
        </p:txBody>
      </p:sp>
    </p:spTree>
    <p:extLst>
      <p:ext uri="{BB962C8B-B14F-4D97-AF65-F5344CB8AC3E}">
        <p14:creationId xmlns="" xmlns:p14="http://schemas.microsoft.com/office/powerpoint/2010/main" val="3116733112"/>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3.jpg"/>
          <p:cNvPicPr>
            <a:picLocks noChangeAspect="1" noChangeArrowheads="1"/>
          </p:cNvPicPr>
          <p:nvPr/>
        </p:nvPicPr>
        <p:blipFill>
          <a:blip r:embed="rId2" cstate="print"/>
          <a:srcRect/>
          <a:stretch>
            <a:fillRect/>
          </a:stretch>
        </p:blipFill>
        <p:spPr bwMode="auto">
          <a:xfrm>
            <a:off x="0" y="27384"/>
            <a:ext cx="9144000" cy="6858000"/>
          </a:xfrm>
          <a:prstGeom prst="rect">
            <a:avLst/>
          </a:prstGeom>
          <a:noFill/>
        </p:spPr>
      </p:pic>
      <p:sp>
        <p:nvSpPr>
          <p:cNvPr id="4" name="TextBox 3"/>
          <p:cNvSpPr txBox="1"/>
          <p:nvPr/>
        </p:nvSpPr>
        <p:spPr>
          <a:xfrm>
            <a:off x="714348" y="498158"/>
            <a:ext cx="7242028" cy="400110"/>
          </a:xfrm>
          <a:prstGeom prst="rect">
            <a:avLst/>
          </a:prstGeom>
          <a:noFill/>
        </p:spPr>
        <p:txBody>
          <a:bodyPr wrap="square" rtlCol="0">
            <a:spAutoFit/>
          </a:bodyPr>
          <a:lstStyle/>
          <a:p>
            <a:pPr algn="ctr"/>
            <a:r>
              <a:rPr lang="en-US" sz="2000" b="1" dirty="0" smtClean="0">
                <a:solidFill>
                  <a:schemeClr val="bg1"/>
                </a:solidFill>
                <a:latin typeface="Arial" pitchFamily="34" charset="0"/>
                <a:cs typeface="Arial" pitchFamily="34" charset="0"/>
              </a:rPr>
              <a:t>MEASUREMENTS OF MONEY SUPPLY</a:t>
            </a:r>
            <a:endParaRPr lang="en-US" sz="2000" b="1" dirty="0">
              <a:solidFill>
                <a:schemeClr val="bg1"/>
              </a:solidFill>
              <a:latin typeface="Arial" pitchFamily="34" charset="0"/>
              <a:cs typeface="Arial" pitchFamily="34" charset="0"/>
            </a:endParaRPr>
          </a:p>
        </p:txBody>
      </p:sp>
      <p:sp>
        <p:nvSpPr>
          <p:cNvPr id="7" name="Rectangle 6"/>
          <p:cNvSpPr/>
          <p:nvPr/>
        </p:nvSpPr>
        <p:spPr>
          <a:xfrm>
            <a:off x="714348" y="1071546"/>
            <a:ext cx="7242028" cy="4201150"/>
          </a:xfrm>
          <a:prstGeom prst="rect">
            <a:avLst/>
          </a:prstGeom>
        </p:spPr>
        <p:txBody>
          <a:bodyPr wrap="square">
            <a:spAutoFit/>
          </a:bodyPr>
          <a:lstStyle/>
          <a:p>
            <a:pPr marL="357188" indent="-357188">
              <a:lnSpc>
                <a:spcPct val="150000"/>
              </a:lnSpc>
              <a:buFont typeface="Wingdings" pitchFamily="2" charset="2"/>
              <a:buChar char="q"/>
              <a:tabLst>
                <a:tab pos="357188" algn="l"/>
              </a:tabLst>
            </a:pPr>
            <a:r>
              <a:rPr lang="en-US" sz="1600" b="1" dirty="0" smtClean="0">
                <a:latin typeface="Arial" pitchFamily="34" charset="0"/>
                <a:cs typeface="Arial" pitchFamily="34" charset="0"/>
              </a:rPr>
              <a:t>First of all, the velocity of money can be known only after all buy and sell transactions are over. </a:t>
            </a:r>
          </a:p>
          <a:p>
            <a:pPr marL="357188" indent="-357188">
              <a:lnSpc>
                <a:spcPct val="150000"/>
              </a:lnSpc>
              <a:buFont typeface="Wingdings" pitchFamily="2" charset="2"/>
              <a:buChar char="q"/>
              <a:tabLst>
                <a:tab pos="357188" algn="l"/>
              </a:tabLst>
            </a:pPr>
            <a:endParaRPr lang="en-US" sz="600" b="1" dirty="0" smtClean="0">
              <a:latin typeface="Arial" pitchFamily="34" charset="0"/>
              <a:cs typeface="Arial" pitchFamily="34" charset="0"/>
            </a:endParaRPr>
          </a:p>
          <a:p>
            <a:pPr marL="357188" indent="-357188">
              <a:lnSpc>
                <a:spcPct val="150000"/>
              </a:lnSpc>
              <a:buFont typeface="Wingdings" pitchFamily="2" charset="2"/>
              <a:buChar char="q"/>
              <a:tabLst>
                <a:tab pos="357188" algn="l"/>
              </a:tabLst>
            </a:pPr>
            <a:r>
              <a:rPr lang="en-US" sz="1600" b="1" dirty="0" smtClean="0">
                <a:latin typeface="Arial" pitchFamily="34" charset="0"/>
                <a:cs typeface="Arial" pitchFamily="34" charset="0"/>
              </a:rPr>
              <a:t>There is no way we can directly know about the velocity of money on a real-time basis. </a:t>
            </a:r>
          </a:p>
          <a:p>
            <a:pPr marL="357188" indent="-357188">
              <a:lnSpc>
                <a:spcPct val="150000"/>
              </a:lnSpc>
              <a:buFont typeface="Wingdings" pitchFamily="2" charset="2"/>
              <a:buChar char="q"/>
              <a:tabLst>
                <a:tab pos="357188" algn="l"/>
              </a:tabLst>
            </a:pPr>
            <a:endParaRPr lang="en-US" sz="600" b="1" dirty="0" smtClean="0">
              <a:latin typeface="Arial" pitchFamily="34" charset="0"/>
              <a:cs typeface="Arial" pitchFamily="34" charset="0"/>
            </a:endParaRPr>
          </a:p>
          <a:p>
            <a:pPr marL="357188" indent="-357188">
              <a:lnSpc>
                <a:spcPct val="150000"/>
              </a:lnSpc>
              <a:buFont typeface="Wingdings" pitchFamily="2" charset="2"/>
              <a:buChar char="q"/>
              <a:tabLst>
                <a:tab pos="357188" algn="l"/>
              </a:tabLst>
            </a:pPr>
            <a:r>
              <a:rPr lang="en-US" sz="1600" b="1" dirty="0" smtClean="0">
                <a:latin typeface="Arial" pitchFamily="34" charset="0"/>
                <a:cs typeface="Arial" pitchFamily="34" charset="0"/>
              </a:rPr>
              <a:t>We calculate velocity of money by dividing the value of the Gross Domestic Product, or GDP, which represents the total value of all goods and services produced by an economy, by the value of money supply. </a:t>
            </a:r>
          </a:p>
          <a:p>
            <a:pPr marL="357188" indent="-357188">
              <a:lnSpc>
                <a:spcPct val="150000"/>
              </a:lnSpc>
              <a:buFont typeface="Wingdings" pitchFamily="2" charset="2"/>
              <a:buChar char="q"/>
              <a:tabLst>
                <a:tab pos="357188" algn="l"/>
              </a:tabLst>
            </a:pPr>
            <a:endParaRPr lang="en-US" sz="600" b="1" dirty="0" smtClean="0">
              <a:latin typeface="Arial" pitchFamily="34" charset="0"/>
              <a:cs typeface="Arial" pitchFamily="34" charset="0"/>
            </a:endParaRPr>
          </a:p>
          <a:p>
            <a:pPr marL="357188" indent="-357188">
              <a:lnSpc>
                <a:spcPct val="150000"/>
              </a:lnSpc>
              <a:buFont typeface="Wingdings" pitchFamily="2" charset="2"/>
              <a:buChar char="q"/>
              <a:tabLst>
                <a:tab pos="357188" algn="l"/>
              </a:tabLst>
            </a:pPr>
            <a:r>
              <a:rPr lang="en-US" sz="1600" b="1" dirty="0" smtClean="0">
                <a:latin typeface="Arial" pitchFamily="34" charset="0"/>
                <a:cs typeface="Arial" pitchFamily="34" charset="0"/>
              </a:rPr>
              <a:t>Mathematically, it can be expressed </a:t>
            </a:r>
            <a:r>
              <a:rPr lang="en-US" sz="1600" b="1" dirty="0" smtClean="0">
                <a:latin typeface="Arial" pitchFamily="34" charset="0"/>
                <a:cs typeface="Arial" pitchFamily="34" charset="0"/>
              </a:rPr>
              <a:t>as:</a:t>
            </a:r>
            <a:br>
              <a:rPr lang="en-US" sz="1600" b="1" dirty="0" smtClean="0">
                <a:latin typeface="Arial" pitchFamily="34" charset="0"/>
                <a:cs typeface="Arial" pitchFamily="34" charset="0"/>
              </a:rPr>
            </a:br>
            <a:r>
              <a:rPr lang="en-US" sz="1600" b="1" dirty="0" smtClean="0">
                <a:latin typeface="Arial" pitchFamily="34" charset="0"/>
                <a:cs typeface="Arial" pitchFamily="34" charset="0"/>
              </a:rPr>
              <a:t>Velocity </a:t>
            </a:r>
            <a:r>
              <a:rPr lang="en-US" sz="1600" b="1" dirty="0" smtClean="0">
                <a:latin typeface="Arial" pitchFamily="34" charset="0"/>
                <a:cs typeface="Arial" pitchFamily="34" charset="0"/>
              </a:rPr>
              <a:t>of Money = GDP /  Value of </a:t>
            </a:r>
            <a:r>
              <a:rPr lang="en-US" sz="1600" b="1" dirty="0" smtClean="0">
                <a:latin typeface="Arial" pitchFamily="34" charset="0"/>
                <a:cs typeface="Arial" pitchFamily="34" charset="0"/>
              </a:rPr>
              <a:t>Money Supply</a:t>
            </a:r>
            <a:endParaRPr lang="en-US" sz="1600" b="1" dirty="0">
              <a:latin typeface="Arial" pitchFamily="34" charset="0"/>
              <a:cs typeface="Arial" pitchFamily="34" charset="0"/>
            </a:endParaRPr>
          </a:p>
        </p:txBody>
      </p:sp>
    </p:spTree>
    <p:extLst>
      <p:ext uri="{BB962C8B-B14F-4D97-AF65-F5344CB8AC3E}">
        <p14:creationId xmlns="" xmlns:p14="http://schemas.microsoft.com/office/powerpoint/2010/main" val="1920528922"/>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3.jpg"/>
          <p:cNvPicPr>
            <a:picLocks noChangeAspect="1" noChangeArrowheads="1"/>
          </p:cNvPicPr>
          <p:nvPr/>
        </p:nvPicPr>
        <p:blipFill>
          <a:blip r:embed="rId2" cstate="print"/>
          <a:srcRect/>
          <a:stretch>
            <a:fillRect/>
          </a:stretch>
        </p:blipFill>
        <p:spPr bwMode="auto">
          <a:xfrm>
            <a:off x="0" y="27384"/>
            <a:ext cx="9144000" cy="6858000"/>
          </a:xfrm>
          <a:prstGeom prst="rect">
            <a:avLst/>
          </a:prstGeom>
          <a:noFill/>
        </p:spPr>
      </p:pic>
      <p:sp>
        <p:nvSpPr>
          <p:cNvPr id="4" name="TextBox 3"/>
          <p:cNvSpPr txBox="1"/>
          <p:nvPr/>
        </p:nvSpPr>
        <p:spPr>
          <a:xfrm>
            <a:off x="714348" y="498158"/>
            <a:ext cx="7242028" cy="400110"/>
          </a:xfrm>
          <a:prstGeom prst="rect">
            <a:avLst/>
          </a:prstGeom>
          <a:noFill/>
        </p:spPr>
        <p:txBody>
          <a:bodyPr wrap="square" rtlCol="0">
            <a:spAutoFit/>
          </a:bodyPr>
          <a:lstStyle/>
          <a:p>
            <a:pPr algn="ctr"/>
            <a:r>
              <a:rPr lang="en-US" sz="2000" b="1" dirty="0" smtClean="0">
                <a:solidFill>
                  <a:schemeClr val="bg1"/>
                </a:solidFill>
                <a:latin typeface="Arial" pitchFamily="34" charset="0"/>
                <a:cs typeface="Arial" pitchFamily="34" charset="0"/>
              </a:rPr>
              <a:t>MEASUREMENTS OF MONEY SUPPLY</a:t>
            </a:r>
            <a:endParaRPr lang="en-US" sz="2000" b="1" dirty="0">
              <a:solidFill>
                <a:schemeClr val="bg1"/>
              </a:solidFill>
              <a:latin typeface="Arial" pitchFamily="34" charset="0"/>
              <a:cs typeface="Arial" pitchFamily="34" charset="0"/>
            </a:endParaRPr>
          </a:p>
        </p:txBody>
      </p:sp>
      <p:sp>
        <p:nvSpPr>
          <p:cNvPr id="7" name="Rectangle 6"/>
          <p:cNvSpPr/>
          <p:nvPr/>
        </p:nvSpPr>
        <p:spPr>
          <a:xfrm>
            <a:off x="714348" y="1071546"/>
            <a:ext cx="7242028" cy="456535"/>
          </a:xfrm>
          <a:prstGeom prst="rect">
            <a:avLst/>
          </a:prstGeom>
        </p:spPr>
        <p:txBody>
          <a:bodyPr wrap="square">
            <a:spAutoFit/>
          </a:bodyPr>
          <a:lstStyle/>
          <a:p>
            <a:pPr algn="ctr">
              <a:lnSpc>
                <a:spcPct val="150000"/>
              </a:lnSpc>
            </a:pPr>
            <a:r>
              <a:rPr lang="en-US" b="1" dirty="0" smtClean="0">
                <a:latin typeface="Arial" pitchFamily="34" charset="0"/>
                <a:cs typeface="Arial" pitchFamily="34" charset="0"/>
              </a:rPr>
              <a:t>Remember…</a:t>
            </a:r>
            <a:endParaRPr lang="en-US" dirty="0">
              <a:latin typeface="Arial" pitchFamily="34" charset="0"/>
              <a:cs typeface="Arial" pitchFamily="34" charset="0"/>
            </a:endParaRPr>
          </a:p>
        </p:txBody>
      </p:sp>
      <p:sp>
        <p:nvSpPr>
          <p:cNvPr id="5" name="Rectangle 4"/>
          <p:cNvSpPr/>
          <p:nvPr/>
        </p:nvSpPr>
        <p:spPr>
          <a:xfrm>
            <a:off x="785786" y="1692180"/>
            <a:ext cx="7215238" cy="2949525"/>
          </a:xfrm>
          <a:prstGeom prst="rect">
            <a:avLst/>
          </a:prstGeom>
        </p:spPr>
        <p:txBody>
          <a:bodyPr wrap="square">
            <a:spAutoFit/>
          </a:bodyPr>
          <a:lstStyle/>
          <a:p>
            <a:pPr marL="357188" indent="-357188">
              <a:lnSpc>
                <a:spcPct val="150000"/>
              </a:lnSpc>
              <a:buFont typeface="Wingdings" pitchFamily="2" charset="2"/>
              <a:buChar char="q"/>
              <a:tabLst>
                <a:tab pos="357188" algn="l"/>
              </a:tabLst>
            </a:pPr>
            <a:r>
              <a:rPr lang="en-US" b="1" dirty="0" smtClean="0">
                <a:latin typeface="Arial" pitchFamily="34" charset="0"/>
                <a:cs typeface="Arial" pitchFamily="34" charset="0"/>
              </a:rPr>
              <a:t>Different measurements of money supply would show different velocity.</a:t>
            </a:r>
          </a:p>
          <a:p>
            <a:pPr marL="357188" indent="-357188">
              <a:lnSpc>
                <a:spcPct val="150000"/>
              </a:lnSpc>
              <a:buFont typeface="Wingdings" pitchFamily="2" charset="2"/>
              <a:buChar char="q"/>
              <a:tabLst>
                <a:tab pos="357188" algn="l"/>
              </a:tabLst>
            </a:pPr>
            <a:endParaRPr lang="en-US" b="1" dirty="0" smtClean="0">
              <a:latin typeface="Arial" pitchFamily="34" charset="0"/>
              <a:cs typeface="Arial" pitchFamily="34" charset="0"/>
            </a:endParaRPr>
          </a:p>
          <a:p>
            <a:pPr marL="357188" indent="-357188">
              <a:lnSpc>
                <a:spcPct val="150000"/>
              </a:lnSpc>
              <a:buFont typeface="Wingdings" pitchFamily="2" charset="2"/>
              <a:buChar char="q"/>
              <a:tabLst>
                <a:tab pos="357188" algn="l"/>
              </a:tabLst>
            </a:pPr>
            <a:r>
              <a:rPr lang="en-US" b="1" dirty="0" smtClean="0">
                <a:latin typeface="Arial" pitchFamily="34" charset="0"/>
                <a:cs typeface="Arial" pitchFamily="34" charset="0"/>
              </a:rPr>
              <a:t>But if you are not too comfortable with the nuances of money supply, then you can just think of money as the value of the total stock of currency notes and coins available in an economy. </a:t>
            </a:r>
            <a:endParaRPr lang="en-US" b="1" dirty="0">
              <a:latin typeface="Arial" pitchFamily="34" charset="0"/>
              <a:cs typeface="Arial" pitchFamily="34" charset="0"/>
            </a:endParaRPr>
          </a:p>
        </p:txBody>
      </p:sp>
    </p:spTree>
    <p:extLst>
      <p:ext uri="{BB962C8B-B14F-4D97-AF65-F5344CB8AC3E}">
        <p14:creationId xmlns="" xmlns:p14="http://schemas.microsoft.com/office/powerpoint/2010/main" val="1920528922"/>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3.jpg"/>
          <p:cNvPicPr>
            <a:picLocks noChangeAspect="1" noChangeArrowheads="1"/>
          </p:cNvPicPr>
          <p:nvPr/>
        </p:nvPicPr>
        <p:blipFill>
          <a:blip r:embed="rId2" cstate="print"/>
          <a:srcRect/>
          <a:stretch>
            <a:fillRect/>
          </a:stretch>
        </p:blipFill>
        <p:spPr bwMode="auto">
          <a:xfrm>
            <a:off x="0" y="27384"/>
            <a:ext cx="9144000" cy="6858000"/>
          </a:xfrm>
          <a:prstGeom prst="rect">
            <a:avLst/>
          </a:prstGeom>
          <a:noFill/>
        </p:spPr>
      </p:pic>
      <p:sp>
        <p:nvSpPr>
          <p:cNvPr id="4" name="TextBox 3"/>
          <p:cNvSpPr txBox="1"/>
          <p:nvPr/>
        </p:nvSpPr>
        <p:spPr>
          <a:xfrm>
            <a:off x="714348" y="498158"/>
            <a:ext cx="7242028" cy="400110"/>
          </a:xfrm>
          <a:prstGeom prst="rect">
            <a:avLst/>
          </a:prstGeom>
          <a:noFill/>
        </p:spPr>
        <p:txBody>
          <a:bodyPr wrap="square" rtlCol="0">
            <a:spAutoFit/>
          </a:bodyPr>
          <a:lstStyle/>
          <a:p>
            <a:pPr algn="ctr"/>
            <a:r>
              <a:rPr lang="en-US" sz="2000" b="1" dirty="0" smtClean="0">
                <a:solidFill>
                  <a:schemeClr val="bg1"/>
                </a:solidFill>
                <a:latin typeface="Arial" pitchFamily="34" charset="0"/>
                <a:cs typeface="Arial" pitchFamily="34" charset="0"/>
              </a:rPr>
              <a:t>MEASUREMENTS OF MONEY SUPPLY</a:t>
            </a:r>
            <a:endParaRPr lang="en-US" sz="2000" b="1" dirty="0">
              <a:solidFill>
                <a:schemeClr val="bg1"/>
              </a:solidFill>
              <a:latin typeface="Arial" pitchFamily="34" charset="0"/>
              <a:cs typeface="Arial" pitchFamily="34" charset="0"/>
            </a:endParaRPr>
          </a:p>
        </p:txBody>
      </p:sp>
      <p:sp>
        <p:nvSpPr>
          <p:cNvPr id="7" name="Rectangle 6"/>
          <p:cNvSpPr/>
          <p:nvPr/>
        </p:nvSpPr>
        <p:spPr>
          <a:xfrm>
            <a:off x="714348" y="1071546"/>
            <a:ext cx="7242028" cy="456535"/>
          </a:xfrm>
          <a:prstGeom prst="rect">
            <a:avLst/>
          </a:prstGeom>
        </p:spPr>
        <p:txBody>
          <a:bodyPr wrap="square">
            <a:spAutoFit/>
          </a:bodyPr>
          <a:lstStyle/>
          <a:p>
            <a:pPr algn="ctr">
              <a:lnSpc>
                <a:spcPct val="150000"/>
              </a:lnSpc>
            </a:pPr>
            <a:r>
              <a:rPr lang="en-US" b="1" dirty="0" smtClean="0">
                <a:latin typeface="Arial" pitchFamily="34" charset="0"/>
                <a:cs typeface="Arial" pitchFamily="34" charset="0"/>
              </a:rPr>
              <a:t>Now…</a:t>
            </a:r>
            <a:endParaRPr lang="en-US" b="1" dirty="0">
              <a:latin typeface="Arial" pitchFamily="34" charset="0"/>
              <a:cs typeface="Arial" pitchFamily="34" charset="0"/>
            </a:endParaRPr>
          </a:p>
        </p:txBody>
      </p:sp>
      <p:sp>
        <p:nvSpPr>
          <p:cNvPr id="5" name="Rectangle 4"/>
          <p:cNvSpPr/>
          <p:nvPr/>
        </p:nvSpPr>
        <p:spPr>
          <a:xfrm>
            <a:off x="785786" y="1692180"/>
            <a:ext cx="7215238" cy="2118529"/>
          </a:xfrm>
          <a:prstGeom prst="rect">
            <a:avLst/>
          </a:prstGeom>
        </p:spPr>
        <p:txBody>
          <a:bodyPr wrap="square">
            <a:spAutoFit/>
          </a:bodyPr>
          <a:lstStyle/>
          <a:p>
            <a:pPr marL="357188" indent="-357188">
              <a:lnSpc>
                <a:spcPct val="150000"/>
              </a:lnSpc>
              <a:buFont typeface="Wingdings" pitchFamily="2" charset="2"/>
              <a:buChar char="q"/>
              <a:tabLst>
                <a:tab pos="357188" algn="l"/>
              </a:tabLst>
            </a:pPr>
            <a:r>
              <a:rPr lang="en-US" b="1" dirty="0" smtClean="0">
                <a:latin typeface="Arial" pitchFamily="34" charset="0"/>
                <a:cs typeface="Arial" pitchFamily="34" charset="0"/>
              </a:rPr>
              <a:t>The different types of money are typically classified as M’s. </a:t>
            </a:r>
          </a:p>
          <a:p>
            <a:pPr marL="357188" indent="-357188">
              <a:lnSpc>
                <a:spcPct val="150000"/>
              </a:lnSpc>
              <a:buFont typeface="Wingdings" pitchFamily="2" charset="2"/>
              <a:buChar char="q"/>
              <a:tabLst>
                <a:tab pos="357188" algn="l"/>
              </a:tabLst>
            </a:pPr>
            <a:endParaRPr lang="en-US" b="1" dirty="0" smtClean="0">
              <a:latin typeface="Arial" pitchFamily="34" charset="0"/>
              <a:cs typeface="Arial" pitchFamily="34" charset="0"/>
            </a:endParaRPr>
          </a:p>
          <a:p>
            <a:pPr marL="357188" indent="-357188">
              <a:lnSpc>
                <a:spcPct val="150000"/>
              </a:lnSpc>
              <a:buFont typeface="Wingdings" pitchFamily="2" charset="2"/>
              <a:buChar char="q"/>
              <a:tabLst>
                <a:tab pos="357188" algn="l"/>
              </a:tabLst>
            </a:pPr>
            <a:r>
              <a:rPr lang="en-US" b="1" dirty="0" smtClean="0">
                <a:latin typeface="Arial" pitchFamily="34" charset="0"/>
                <a:cs typeface="Arial" pitchFamily="34" charset="0"/>
              </a:rPr>
              <a:t>In the money supply statistics, central bank money (in our case RBI) is M0 while commercial bank money (other national banks) is divided up into M1-M3 components.</a:t>
            </a:r>
            <a:endParaRPr lang="en-US" b="1" dirty="0">
              <a:latin typeface="Arial" pitchFamily="34" charset="0"/>
              <a:cs typeface="Arial" pitchFamily="34" charset="0"/>
            </a:endParaRPr>
          </a:p>
        </p:txBody>
      </p:sp>
    </p:spTree>
    <p:extLst>
      <p:ext uri="{BB962C8B-B14F-4D97-AF65-F5344CB8AC3E}">
        <p14:creationId xmlns="" xmlns:p14="http://schemas.microsoft.com/office/powerpoint/2010/main" val="1920528922"/>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3.jpg"/>
          <p:cNvPicPr>
            <a:picLocks noChangeAspect="1" noChangeArrowheads="1"/>
          </p:cNvPicPr>
          <p:nvPr/>
        </p:nvPicPr>
        <p:blipFill>
          <a:blip r:embed="rId2" cstate="print"/>
          <a:srcRect/>
          <a:stretch>
            <a:fillRect/>
          </a:stretch>
        </p:blipFill>
        <p:spPr bwMode="auto">
          <a:xfrm>
            <a:off x="0" y="27384"/>
            <a:ext cx="9144000" cy="6858000"/>
          </a:xfrm>
          <a:prstGeom prst="rect">
            <a:avLst/>
          </a:prstGeom>
          <a:noFill/>
        </p:spPr>
      </p:pic>
      <p:sp>
        <p:nvSpPr>
          <p:cNvPr id="4" name="TextBox 3"/>
          <p:cNvSpPr txBox="1"/>
          <p:nvPr/>
        </p:nvSpPr>
        <p:spPr>
          <a:xfrm>
            <a:off x="714348" y="498158"/>
            <a:ext cx="7242028" cy="400110"/>
          </a:xfrm>
          <a:prstGeom prst="rect">
            <a:avLst/>
          </a:prstGeom>
          <a:noFill/>
        </p:spPr>
        <p:txBody>
          <a:bodyPr wrap="square" rtlCol="0">
            <a:spAutoFit/>
          </a:bodyPr>
          <a:lstStyle/>
          <a:p>
            <a:pPr algn="ctr"/>
            <a:r>
              <a:rPr lang="en-US" sz="2000" b="1" dirty="0" smtClean="0">
                <a:solidFill>
                  <a:schemeClr val="bg1"/>
                </a:solidFill>
                <a:latin typeface="Arial" pitchFamily="34" charset="0"/>
                <a:cs typeface="Arial" pitchFamily="34" charset="0"/>
              </a:rPr>
              <a:t>MEASUREMENTS OF MONEY SUPPLY</a:t>
            </a:r>
            <a:endParaRPr lang="en-US" sz="2000" b="1" dirty="0">
              <a:solidFill>
                <a:schemeClr val="bg1"/>
              </a:solidFill>
              <a:latin typeface="Arial" pitchFamily="34" charset="0"/>
              <a:cs typeface="Arial" pitchFamily="34" charset="0"/>
            </a:endParaRPr>
          </a:p>
        </p:txBody>
      </p:sp>
      <p:sp>
        <p:nvSpPr>
          <p:cNvPr id="7" name="Rectangle 6"/>
          <p:cNvSpPr/>
          <p:nvPr/>
        </p:nvSpPr>
        <p:spPr>
          <a:xfrm>
            <a:off x="714347" y="1094979"/>
            <a:ext cx="7572429" cy="4078039"/>
          </a:xfrm>
          <a:prstGeom prst="rect">
            <a:avLst/>
          </a:prstGeom>
        </p:spPr>
        <p:txBody>
          <a:bodyPr wrap="square">
            <a:spAutoFit/>
          </a:bodyPr>
          <a:lstStyle/>
          <a:p>
            <a:pPr marL="357188" indent="-357188">
              <a:buFont typeface="Wingdings" pitchFamily="2" charset="2"/>
              <a:buChar char="q"/>
              <a:tabLst>
                <a:tab pos="357188" algn="l"/>
              </a:tabLst>
            </a:pPr>
            <a:r>
              <a:rPr lang="en-US" sz="1700" b="1" dirty="0" smtClean="0">
                <a:latin typeface="Arial" pitchFamily="34" charset="0"/>
                <a:cs typeface="Arial" pitchFamily="34" charset="0"/>
              </a:rPr>
              <a:t>M0: currency (notes and coins) in circulation and in bank vaults. M0 is usually called the monetary base - the base from which other forms of money are created - and is traditionally the most liquid measure of the money supply</a:t>
            </a:r>
          </a:p>
          <a:p>
            <a:pPr marL="357188" indent="-357188">
              <a:buFont typeface="Wingdings" pitchFamily="2" charset="2"/>
              <a:buChar char="q"/>
              <a:tabLst>
                <a:tab pos="357188" algn="l"/>
              </a:tabLst>
            </a:pPr>
            <a:endParaRPr lang="en-US" sz="2400" b="1" dirty="0" smtClean="0">
              <a:latin typeface="Arial" pitchFamily="34" charset="0"/>
              <a:cs typeface="Arial" pitchFamily="34" charset="0"/>
            </a:endParaRPr>
          </a:p>
          <a:p>
            <a:pPr marL="357188" indent="-357188">
              <a:buFont typeface="Wingdings" pitchFamily="2" charset="2"/>
              <a:buChar char="q"/>
              <a:tabLst>
                <a:tab pos="357188" algn="l"/>
              </a:tabLst>
            </a:pPr>
            <a:r>
              <a:rPr lang="en-US" sz="1700" b="1" dirty="0" smtClean="0">
                <a:latin typeface="Arial" pitchFamily="34" charset="0"/>
                <a:cs typeface="Arial" pitchFamily="34" charset="0"/>
              </a:rPr>
              <a:t>M1: currency in circulation + demand deposits + traveler's </a:t>
            </a:r>
            <a:r>
              <a:rPr lang="en-US" sz="1700" b="1" dirty="0" err="1" smtClean="0">
                <a:latin typeface="Arial" pitchFamily="34" charset="0"/>
                <a:cs typeface="Arial" pitchFamily="34" charset="0"/>
              </a:rPr>
              <a:t>cheques</a:t>
            </a:r>
            <a:r>
              <a:rPr lang="en-US" sz="1700" b="1" dirty="0" smtClean="0">
                <a:latin typeface="Arial" pitchFamily="34" charset="0"/>
                <a:cs typeface="Arial" pitchFamily="34" charset="0"/>
              </a:rPr>
              <a:t>. M1 represents the assets that can be used to pay for a good or service or to repay debt.</a:t>
            </a:r>
          </a:p>
          <a:p>
            <a:pPr marL="357188" indent="-357188">
              <a:buFont typeface="Wingdings" pitchFamily="2" charset="2"/>
              <a:buChar char="q"/>
              <a:tabLst>
                <a:tab pos="357188" algn="l"/>
              </a:tabLst>
            </a:pPr>
            <a:endParaRPr lang="en-US" sz="2400" b="1" dirty="0" smtClean="0">
              <a:latin typeface="Arial" pitchFamily="34" charset="0"/>
              <a:cs typeface="Arial" pitchFamily="34" charset="0"/>
            </a:endParaRPr>
          </a:p>
          <a:p>
            <a:pPr marL="357188" indent="-357188">
              <a:buFont typeface="Wingdings" pitchFamily="2" charset="2"/>
              <a:buChar char="q"/>
              <a:tabLst>
                <a:tab pos="357188" algn="l"/>
              </a:tabLst>
            </a:pPr>
            <a:r>
              <a:rPr lang="en-US" sz="1700" b="1" dirty="0" smtClean="0">
                <a:latin typeface="Arial" pitchFamily="34" charset="0"/>
                <a:cs typeface="Arial" pitchFamily="34" charset="0"/>
              </a:rPr>
              <a:t>M2: The sum of M1 + savings deposits, small denomination deposits &amp; retirement accounts.</a:t>
            </a:r>
          </a:p>
          <a:p>
            <a:pPr marL="357188" indent="-357188">
              <a:buFont typeface="Wingdings" pitchFamily="2" charset="2"/>
              <a:buChar char="q"/>
              <a:tabLst>
                <a:tab pos="357188" algn="l"/>
              </a:tabLst>
            </a:pPr>
            <a:endParaRPr lang="en-US" sz="2400" b="1" dirty="0" smtClean="0">
              <a:latin typeface="Arial" pitchFamily="34" charset="0"/>
              <a:cs typeface="Arial" pitchFamily="34" charset="0"/>
            </a:endParaRPr>
          </a:p>
          <a:p>
            <a:pPr marL="357188" indent="-357188">
              <a:buFont typeface="Wingdings" pitchFamily="2" charset="2"/>
              <a:buChar char="q"/>
              <a:tabLst>
                <a:tab pos="357188" algn="l"/>
              </a:tabLst>
            </a:pPr>
            <a:r>
              <a:rPr lang="en-US" sz="1700" b="1" dirty="0" smtClean="0">
                <a:latin typeface="Arial" pitchFamily="34" charset="0"/>
                <a:cs typeface="Arial" pitchFamily="34" charset="0"/>
              </a:rPr>
              <a:t>M3: The sum of M2 + large deposits, Euro-dollar deposits &amp; dollars held in foreign offices of banks.</a:t>
            </a:r>
            <a:endParaRPr lang="en-US" sz="1700" b="1" dirty="0">
              <a:latin typeface="Arial" pitchFamily="34" charset="0"/>
              <a:cs typeface="Arial" pitchFamily="34" charset="0"/>
            </a:endParaRPr>
          </a:p>
        </p:txBody>
      </p:sp>
    </p:spTree>
    <p:extLst>
      <p:ext uri="{BB962C8B-B14F-4D97-AF65-F5344CB8AC3E}">
        <p14:creationId xmlns="" xmlns:p14="http://schemas.microsoft.com/office/powerpoint/2010/main" val="2707169952"/>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2.jpg"/>
          <p:cNvPicPr>
            <a:picLocks noChangeAspect="1" noChangeArrowheads="1"/>
          </p:cNvPicPr>
          <p:nvPr/>
        </p:nvPicPr>
        <p:blipFill>
          <a:blip r:embed="rId2" cstate="print"/>
          <a:srcRect/>
          <a:stretch>
            <a:fillRect/>
          </a:stretch>
        </p:blipFill>
        <p:spPr bwMode="auto">
          <a:xfrm>
            <a:off x="0" y="-1"/>
            <a:ext cx="9144000" cy="6858001"/>
          </a:xfrm>
          <a:prstGeom prst="rect">
            <a:avLst/>
          </a:prstGeom>
          <a:ln w="228600" cap="sq" cmpd="thickThin">
            <a:solidFill>
              <a:srgbClr val="000000"/>
            </a:solidFill>
            <a:prstDash val="solid"/>
            <a:miter lim="800000"/>
          </a:ln>
          <a:effectLst>
            <a:innerShdw blurRad="76200">
              <a:srgbClr val="000000"/>
            </a:innerShdw>
          </a:effectLst>
        </p:spPr>
      </p:pic>
      <p:sp>
        <p:nvSpPr>
          <p:cNvPr id="3" name="Rectangle 2"/>
          <p:cNvSpPr/>
          <p:nvPr/>
        </p:nvSpPr>
        <p:spPr>
          <a:xfrm>
            <a:off x="3000364" y="1214422"/>
            <a:ext cx="4000528" cy="1754326"/>
          </a:xfrm>
          <a:prstGeom prst="rect">
            <a:avLst/>
          </a:prstGeom>
        </p:spPr>
        <p:txBody>
          <a:bodyPr wrap="square">
            <a:spAutoFit/>
          </a:bodyPr>
          <a:lstStyle/>
          <a:p>
            <a:pPr>
              <a:lnSpc>
                <a:spcPct val="150000"/>
              </a:lnSpc>
              <a:spcBef>
                <a:spcPct val="20000"/>
              </a:spcBef>
            </a:pPr>
            <a:r>
              <a:rPr lang="en-US" b="1" dirty="0" smtClean="0">
                <a:latin typeface="Arial" pitchFamily="34" charset="0"/>
                <a:cs typeface="Arial" pitchFamily="34" charset="0"/>
              </a:rPr>
              <a:t>But how does one calculate the different measurements of money supply such as M0, M1, M2, M3 and so on?</a:t>
            </a:r>
            <a:endParaRPr lang="en-US" sz="1600" b="1" dirty="0">
              <a:latin typeface="Arial" pitchFamily="34" charset="0"/>
              <a:cs typeface="Arial" pitchFamily="34" charset="0"/>
            </a:endParaRPr>
          </a:p>
        </p:txBody>
      </p:sp>
      <p:sp>
        <p:nvSpPr>
          <p:cNvPr id="4" name="TextBox 3"/>
          <p:cNvSpPr txBox="1"/>
          <p:nvPr/>
        </p:nvSpPr>
        <p:spPr>
          <a:xfrm>
            <a:off x="714348" y="498158"/>
            <a:ext cx="7242028" cy="400110"/>
          </a:xfrm>
          <a:prstGeom prst="rect">
            <a:avLst/>
          </a:prstGeom>
          <a:noFill/>
        </p:spPr>
        <p:txBody>
          <a:bodyPr wrap="square" rtlCol="0">
            <a:spAutoFit/>
          </a:bodyPr>
          <a:lstStyle/>
          <a:p>
            <a:pPr algn="ctr"/>
            <a:r>
              <a:rPr lang="en-US" sz="2000" b="1" dirty="0" smtClean="0">
                <a:solidFill>
                  <a:schemeClr val="bg1"/>
                </a:solidFill>
                <a:latin typeface="Arial" pitchFamily="34" charset="0"/>
                <a:cs typeface="Arial" pitchFamily="34" charset="0"/>
              </a:rPr>
              <a:t>MEASUREMENTS OF MONEY SUPPLY</a:t>
            </a:r>
            <a:endParaRPr lang="en-US" sz="2000" b="1" dirty="0">
              <a:solidFill>
                <a:schemeClr val="bg1"/>
              </a:solidFill>
              <a:latin typeface="Arial" pitchFamily="34" charset="0"/>
              <a:cs typeface="Arial" pitchFamily="34" charset="0"/>
            </a:endParaRPr>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3.jpg"/>
          <p:cNvPicPr>
            <a:picLocks noChangeAspect="1" noChangeArrowheads="1"/>
          </p:cNvPicPr>
          <p:nvPr/>
        </p:nvPicPr>
        <p:blipFill>
          <a:blip r:embed="rId2" cstate="print"/>
          <a:srcRect/>
          <a:stretch>
            <a:fillRect/>
          </a:stretch>
        </p:blipFill>
        <p:spPr bwMode="auto">
          <a:xfrm>
            <a:off x="0" y="27384"/>
            <a:ext cx="9144000" cy="6858000"/>
          </a:xfrm>
          <a:prstGeom prst="rect">
            <a:avLst/>
          </a:prstGeom>
          <a:noFill/>
        </p:spPr>
      </p:pic>
      <p:sp>
        <p:nvSpPr>
          <p:cNvPr id="4" name="TextBox 3"/>
          <p:cNvSpPr txBox="1"/>
          <p:nvPr/>
        </p:nvSpPr>
        <p:spPr>
          <a:xfrm>
            <a:off x="714348" y="498158"/>
            <a:ext cx="7242028" cy="400110"/>
          </a:xfrm>
          <a:prstGeom prst="rect">
            <a:avLst/>
          </a:prstGeom>
          <a:noFill/>
        </p:spPr>
        <p:txBody>
          <a:bodyPr wrap="square" rtlCol="0">
            <a:spAutoFit/>
          </a:bodyPr>
          <a:lstStyle/>
          <a:p>
            <a:pPr algn="ctr"/>
            <a:r>
              <a:rPr lang="en-US" sz="2000" b="1" dirty="0" smtClean="0">
                <a:solidFill>
                  <a:schemeClr val="bg1"/>
                </a:solidFill>
                <a:latin typeface="Arial" pitchFamily="34" charset="0"/>
                <a:cs typeface="Arial" pitchFamily="34" charset="0"/>
              </a:rPr>
              <a:t>MEASUREMENTS OF MONEY SUPPLY</a:t>
            </a:r>
            <a:endParaRPr lang="en-US" sz="2000" b="1" dirty="0">
              <a:solidFill>
                <a:schemeClr val="bg1"/>
              </a:solidFill>
              <a:latin typeface="Arial" pitchFamily="34" charset="0"/>
              <a:cs typeface="Arial" pitchFamily="34" charset="0"/>
            </a:endParaRPr>
          </a:p>
        </p:txBody>
      </p:sp>
      <p:sp>
        <p:nvSpPr>
          <p:cNvPr id="7" name="Rectangle 6"/>
          <p:cNvSpPr/>
          <p:nvPr/>
        </p:nvSpPr>
        <p:spPr>
          <a:xfrm>
            <a:off x="714348" y="1037099"/>
            <a:ext cx="7386044" cy="463075"/>
          </a:xfrm>
          <a:prstGeom prst="rect">
            <a:avLst/>
          </a:prstGeom>
        </p:spPr>
        <p:txBody>
          <a:bodyPr wrap="square">
            <a:spAutoFit/>
          </a:bodyPr>
          <a:lstStyle/>
          <a:p>
            <a:pPr algn="ctr">
              <a:lnSpc>
                <a:spcPct val="150000"/>
              </a:lnSpc>
            </a:pPr>
            <a:r>
              <a:rPr lang="en-US" b="1" dirty="0" smtClean="0">
                <a:latin typeface="Arial" pitchFamily="34" charset="0"/>
                <a:cs typeface="Arial" pitchFamily="34" charset="0"/>
              </a:rPr>
              <a:t>Here’s how…</a:t>
            </a:r>
            <a:endParaRPr lang="en-US" b="1" dirty="0">
              <a:latin typeface="Arial" pitchFamily="34" charset="0"/>
              <a:cs typeface="Arial" pitchFamily="34" charset="0"/>
            </a:endParaRPr>
          </a:p>
        </p:txBody>
      </p:sp>
      <p:sp>
        <p:nvSpPr>
          <p:cNvPr id="5" name="Rectangle 4"/>
          <p:cNvSpPr/>
          <p:nvPr/>
        </p:nvSpPr>
        <p:spPr>
          <a:xfrm>
            <a:off x="714380" y="1518996"/>
            <a:ext cx="7358082" cy="3693319"/>
          </a:xfrm>
          <a:prstGeom prst="rect">
            <a:avLst/>
          </a:prstGeom>
        </p:spPr>
        <p:txBody>
          <a:bodyPr wrap="square">
            <a:spAutoFit/>
          </a:bodyPr>
          <a:lstStyle/>
          <a:p>
            <a:pPr marL="357188" indent="-357188">
              <a:lnSpc>
                <a:spcPct val="150000"/>
              </a:lnSpc>
              <a:buFont typeface="Wingdings" pitchFamily="2" charset="2"/>
              <a:buChar char="q"/>
              <a:tabLst>
                <a:tab pos="357188" algn="l"/>
              </a:tabLst>
            </a:pPr>
            <a:r>
              <a:rPr lang="en-US" sz="1700" b="1" dirty="0" smtClean="0">
                <a:latin typeface="Arial" pitchFamily="34" charset="0"/>
                <a:cs typeface="Arial" pitchFamily="34" charset="0"/>
              </a:rPr>
              <a:t>You can choose any of the different measurements of money supply such as M0, M1, M2, M3 and so on. </a:t>
            </a:r>
          </a:p>
          <a:p>
            <a:pPr marL="357188" indent="-357188">
              <a:lnSpc>
                <a:spcPct val="150000"/>
              </a:lnSpc>
              <a:buFont typeface="Wingdings" pitchFamily="2" charset="2"/>
              <a:buChar char="q"/>
              <a:tabLst>
                <a:tab pos="357188" algn="l"/>
              </a:tabLst>
            </a:pPr>
            <a:endParaRPr lang="en-US" sz="1000" b="1" dirty="0" smtClean="0">
              <a:latin typeface="Arial" pitchFamily="34" charset="0"/>
              <a:cs typeface="Arial" pitchFamily="34" charset="0"/>
            </a:endParaRPr>
          </a:p>
          <a:p>
            <a:pPr marL="357188" indent="-357188">
              <a:lnSpc>
                <a:spcPct val="150000"/>
              </a:lnSpc>
              <a:buFont typeface="Wingdings" pitchFamily="2" charset="2"/>
              <a:buChar char="q"/>
              <a:tabLst>
                <a:tab pos="357188" algn="l"/>
              </a:tabLst>
            </a:pPr>
            <a:r>
              <a:rPr lang="en-US" sz="1700" b="1" dirty="0" smtClean="0">
                <a:latin typeface="Arial" pitchFamily="34" charset="0"/>
                <a:cs typeface="Arial" pitchFamily="34" charset="0"/>
              </a:rPr>
              <a:t>But since different measurements of money supply would show different values, you would get different velocities of money. </a:t>
            </a:r>
          </a:p>
          <a:p>
            <a:pPr marL="357188" indent="-357188">
              <a:lnSpc>
                <a:spcPct val="150000"/>
              </a:lnSpc>
              <a:buFont typeface="Wingdings" pitchFamily="2" charset="2"/>
              <a:buChar char="q"/>
              <a:tabLst>
                <a:tab pos="357188" algn="l"/>
              </a:tabLst>
            </a:pPr>
            <a:endParaRPr lang="en-US" sz="1000" b="1" dirty="0" smtClean="0">
              <a:latin typeface="Arial" pitchFamily="34" charset="0"/>
              <a:cs typeface="Arial" pitchFamily="34" charset="0"/>
            </a:endParaRPr>
          </a:p>
          <a:p>
            <a:pPr marL="357188" indent="-357188">
              <a:lnSpc>
                <a:spcPct val="150000"/>
              </a:lnSpc>
              <a:buFont typeface="Wingdings" pitchFamily="2" charset="2"/>
              <a:buChar char="q"/>
              <a:tabLst>
                <a:tab pos="357188" algn="l"/>
              </a:tabLst>
            </a:pPr>
            <a:r>
              <a:rPr lang="en-US" sz="1700" b="1" dirty="0" smtClean="0">
                <a:latin typeface="Arial" pitchFamily="34" charset="0"/>
                <a:cs typeface="Arial" pitchFamily="34" charset="0"/>
              </a:rPr>
              <a:t>So if the value of GDP is, say, Rs10 </a:t>
            </a:r>
            <a:r>
              <a:rPr lang="en-US" sz="1700" b="1" dirty="0" err="1" smtClean="0">
                <a:latin typeface="Arial" pitchFamily="34" charset="0"/>
                <a:cs typeface="Arial" pitchFamily="34" charset="0"/>
              </a:rPr>
              <a:t>lakh</a:t>
            </a:r>
            <a:r>
              <a:rPr lang="en-US" sz="1700" b="1" dirty="0" smtClean="0">
                <a:latin typeface="Arial" pitchFamily="34" charset="0"/>
                <a:cs typeface="Arial" pitchFamily="34" charset="0"/>
              </a:rPr>
              <a:t> and the value of the base money or M0 is, say, Rs1 </a:t>
            </a:r>
            <a:r>
              <a:rPr lang="en-US" sz="1700" b="1" dirty="0" err="1" smtClean="0">
                <a:latin typeface="Arial" pitchFamily="34" charset="0"/>
                <a:cs typeface="Arial" pitchFamily="34" charset="0"/>
              </a:rPr>
              <a:t>lakh</a:t>
            </a:r>
            <a:r>
              <a:rPr lang="en-US" sz="1700" b="1" dirty="0" smtClean="0">
                <a:latin typeface="Arial" pitchFamily="34" charset="0"/>
                <a:cs typeface="Arial" pitchFamily="34" charset="0"/>
              </a:rPr>
              <a:t>, then the velocity of money would be 10. Likewise, if the value of M3 is, say, Rs2 </a:t>
            </a:r>
            <a:r>
              <a:rPr lang="en-US" sz="1700" b="1" dirty="0" err="1" smtClean="0">
                <a:latin typeface="Arial" pitchFamily="34" charset="0"/>
                <a:cs typeface="Arial" pitchFamily="34" charset="0"/>
              </a:rPr>
              <a:t>lakh</a:t>
            </a:r>
            <a:r>
              <a:rPr lang="en-US" sz="1700" b="1" dirty="0" smtClean="0">
                <a:latin typeface="Arial" pitchFamily="34" charset="0"/>
                <a:cs typeface="Arial" pitchFamily="34" charset="0"/>
              </a:rPr>
              <a:t>, then the velocity of money would be five. </a:t>
            </a:r>
            <a:endParaRPr lang="en-US" sz="1700" b="1" dirty="0">
              <a:latin typeface="Arial" pitchFamily="34" charset="0"/>
              <a:cs typeface="Arial" pitchFamily="34" charset="0"/>
            </a:endParaRPr>
          </a:p>
        </p:txBody>
      </p:sp>
    </p:spTree>
    <p:extLst>
      <p:ext uri="{BB962C8B-B14F-4D97-AF65-F5344CB8AC3E}">
        <p14:creationId xmlns="" xmlns:p14="http://schemas.microsoft.com/office/powerpoint/2010/main" val="2914081961"/>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3.jpg"/>
          <p:cNvPicPr>
            <a:picLocks noChangeAspect="1" noChangeArrowheads="1"/>
          </p:cNvPicPr>
          <p:nvPr/>
        </p:nvPicPr>
        <p:blipFill>
          <a:blip r:embed="rId2" cstate="print"/>
          <a:srcRect/>
          <a:stretch>
            <a:fillRect/>
          </a:stretch>
        </p:blipFill>
        <p:spPr bwMode="auto">
          <a:xfrm>
            <a:off x="0" y="27384"/>
            <a:ext cx="9144000" cy="6858000"/>
          </a:xfrm>
          <a:prstGeom prst="rect">
            <a:avLst/>
          </a:prstGeom>
          <a:noFill/>
        </p:spPr>
      </p:pic>
      <p:sp>
        <p:nvSpPr>
          <p:cNvPr id="4" name="TextBox 3"/>
          <p:cNvSpPr txBox="1"/>
          <p:nvPr/>
        </p:nvSpPr>
        <p:spPr>
          <a:xfrm>
            <a:off x="714348" y="498158"/>
            <a:ext cx="7242028" cy="400110"/>
          </a:xfrm>
          <a:prstGeom prst="rect">
            <a:avLst/>
          </a:prstGeom>
          <a:noFill/>
        </p:spPr>
        <p:txBody>
          <a:bodyPr wrap="square" rtlCol="0">
            <a:spAutoFit/>
          </a:bodyPr>
          <a:lstStyle/>
          <a:p>
            <a:pPr algn="ctr"/>
            <a:r>
              <a:rPr lang="en-US" sz="2000" b="1" dirty="0" smtClean="0">
                <a:solidFill>
                  <a:schemeClr val="bg1"/>
                </a:solidFill>
                <a:latin typeface="Arial" pitchFamily="34" charset="0"/>
                <a:cs typeface="Arial" pitchFamily="34" charset="0"/>
              </a:rPr>
              <a:t>MEASUREMENTS OF MONEY SUPPLY</a:t>
            </a:r>
            <a:endParaRPr lang="en-US" sz="2000" b="1" dirty="0">
              <a:solidFill>
                <a:schemeClr val="bg1"/>
              </a:solidFill>
              <a:latin typeface="Arial" pitchFamily="34" charset="0"/>
              <a:cs typeface="Arial" pitchFamily="34" charset="0"/>
            </a:endParaRPr>
          </a:p>
        </p:txBody>
      </p:sp>
      <p:sp>
        <p:nvSpPr>
          <p:cNvPr id="7" name="Rectangle 6"/>
          <p:cNvSpPr/>
          <p:nvPr/>
        </p:nvSpPr>
        <p:spPr>
          <a:xfrm>
            <a:off x="714348" y="1037099"/>
            <a:ext cx="7386044" cy="923330"/>
          </a:xfrm>
          <a:prstGeom prst="rect">
            <a:avLst/>
          </a:prstGeom>
        </p:spPr>
        <p:txBody>
          <a:bodyPr wrap="square">
            <a:spAutoFit/>
          </a:bodyPr>
          <a:lstStyle/>
          <a:p>
            <a:pPr algn="ctr">
              <a:lnSpc>
                <a:spcPct val="150000"/>
              </a:lnSpc>
            </a:pPr>
            <a:r>
              <a:rPr lang="en-US" b="1" dirty="0" smtClean="0">
                <a:latin typeface="Arial" pitchFamily="34" charset="0"/>
                <a:cs typeface="Arial" pitchFamily="34" charset="0"/>
              </a:rPr>
              <a:t>But you may ask, which one is the true velocity of </a:t>
            </a:r>
            <a:r>
              <a:rPr lang="en-US" b="1" dirty="0" smtClean="0">
                <a:latin typeface="Arial" pitchFamily="34" charset="0"/>
                <a:cs typeface="Arial" pitchFamily="34" charset="0"/>
              </a:rPr>
              <a:t>money,</a:t>
            </a:r>
            <a:br>
              <a:rPr lang="en-US" b="1" dirty="0" smtClean="0">
                <a:latin typeface="Arial" pitchFamily="34" charset="0"/>
                <a:cs typeface="Arial" pitchFamily="34" charset="0"/>
              </a:rPr>
            </a:br>
            <a:r>
              <a:rPr lang="en-US" b="1" dirty="0" smtClean="0">
                <a:latin typeface="Arial" pitchFamily="34" charset="0"/>
                <a:cs typeface="Arial" pitchFamily="34" charset="0"/>
              </a:rPr>
              <a:t>10 </a:t>
            </a:r>
            <a:r>
              <a:rPr lang="en-US" b="1" dirty="0" smtClean="0">
                <a:latin typeface="Arial" pitchFamily="34" charset="0"/>
                <a:cs typeface="Arial" pitchFamily="34" charset="0"/>
              </a:rPr>
              <a:t>or five?</a:t>
            </a:r>
            <a:endParaRPr lang="en-US" b="1" dirty="0">
              <a:latin typeface="Arial" pitchFamily="34" charset="0"/>
              <a:cs typeface="Arial" pitchFamily="34" charset="0"/>
            </a:endParaRPr>
          </a:p>
        </p:txBody>
      </p:sp>
      <p:sp>
        <p:nvSpPr>
          <p:cNvPr id="5" name="Rectangle 4"/>
          <p:cNvSpPr/>
          <p:nvPr/>
        </p:nvSpPr>
        <p:spPr>
          <a:xfrm>
            <a:off x="714380" y="2042775"/>
            <a:ext cx="7358082" cy="2957861"/>
          </a:xfrm>
          <a:prstGeom prst="rect">
            <a:avLst/>
          </a:prstGeom>
        </p:spPr>
        <p:txBody>
          <a:bodyPr wrap="square">
            <a:spAutoFit/>
          </a:bodyPr>
          <a:lstStyle/>
          <a:p>
            <a:pPr marL="357188" indent="-357188">
              <a:lnSpc>
                <a:spcPct val="150000"/>
              </a:lnSpc>
              <a:buFont typeface="Wingdings" pitchFamily="2" charset="2"/>
              <a:buChar char="q"/>
              <a:tabLst>
                <a:tab pos="357188" algn="l"/>
              </a:tabLst>
            </a:pPr>
            <a:r>
              <a:rPr lang="en-US" b="1" dirty="0" smtClean="0">
                <a:latin typeface="Arial" pitchFamily="34" charset="0"/>
                <a:cs typeface="Arial" pitchFamily="34" charset="0"/>
              </a:rPr>
              <a:t>It is both. </a:t>
            </a:r>
          </a:p>
          <a:p>
            <a:pPr marL="357188" indent="-357188">
              <a:lnSpc>
                <a:spcPct val="150000"/>
              </a:lnSpc>
              <a:buFont typeface="Wingdings" pitchFamily="2" charset="2"/>
              <a:buChar char="q"/>
              <a:tabLst>
                <a:tab pos="357188" algn="l"/>
              </a:tabLst>
            </a:pPr>
            <a:endParaRPr lang="en-US" b="1" dirty="0" smtClean="0">
              <a:latin typeface="Arial" pitchFamily="34" charset="0"/>
              <a:cs typeface="Arial" pitchFamily="34" charset="0"/>
            </a:endParaRPr>
          </a:p>
          <a:p>
            <a:pPr marL="357188" indent="-357188">
              <a:lnSpc>
                <a:spcPct val="150000"/>
              </a:lnSpc>
              <a:buFont typeface="Wingdings" pitchFamily="2" charset="2"/>
              <a:buChar char="q"/>
              <a:tabLst>
                <a:tab pos="357188" algn="l"/>
              </a:tabLst>
            </a:pPr>
            <a:r>
              <a:rPr lang="en-US" b="1" dirty="0" smtClean="0">
                <a:latin typeface="Arial" pitchFamily="34" charset="0"/>
                <a:cs typeface="Arial" pitchFamily="34" charset="0"/>
              </a:rPr>
              <a:t>In the present example, 10 is the velocity of money in its most liquid form—the currency and coins actually in circulation. </a:t>
            </a:r>
          </a:p>
          <a:p>
            <a:pPr marL="357188" indent="-357188">
              <a:lnSpc>
                <a:spcPct val="150000"/>
              </a:lnSpc>
              <a:buFont typeface="Wingdings" pitchFamily="2" charset="2"/>
              <a:buChar char="q"/>
              <a:tabLst>
                <a:tab pos="357188" algn="l"/>
              </a:tabLst>
            </a:pPr>
            <a:endParaRPr lang="en-US" b="1" dirty="0" smtClean="0">
              <a:latin typeface="Arial" pitchFamily="34" charset="0"/>
              <a:cs typeface="Arial" pitchFamily="34" charset="0"/>
            </a:endParaRPr>
          </a:p>
          <a:p>
            <a:pPr marL="357188" indent="-357188">
              <a:lnSpc>
                <a:spcPct val="150000"/>
              </a:lnSpc>
              <a:buFont typeface="Wingdings" pitchFamily="2" charset="2"/>
              <a:buChar char="q"/>
              <a:tabLst>
                <a:tab pos="357188" algn="l"/>
              </a:tabLst>
            </a:pPr>
            <a:r>
              <a:rPr lang="en-US" b="1" dirty="0" smtClean="0">
                <a:latin typeface="Arial" pitchFamily="34" charset="0"/>
                <a:cs typeface="Arial" pitchFamily="34" charset="0"/>
              </a:rPr>
              <a:t>As we move up the ladder of M1, M2, and M3, the liquidity of money decreases and so does its velocity.</a:t>
            </a:r>
            <a:endParaRPr lang="en-US" b="1" dirty="0">
              <a:latin typeface="Arial" pitchFamily="34" charset="0"/>
              <a:cs typeface="Arial" pitchFamily="34" charset="0"/>
            </a:endParaRPr>
          </a:p>
        </p:txBody>
      </p:sp>
    </p:spTree>
    <p:extLst>
      <p:ext uri="{BB962C8B-B14F-4D97-AF65-F5344CB8AC3E}">
        <p14:creationId xmlns="" xmlns:p14="http://schemas.microsoft.com/office/powerpoint/2010/main" val="2914081961"/>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3.jpg"/>
          <p:cNvPicPr>
            <a:picLocks noChangeAspect="1" noChangeArrowheads="1"/>
          </p:cNvPicPr>
          <p:nvPr/>
        </p:nvPicPr>
        <p:blipFill>
          <a:blip r:embed="rId2" cstate="print"/>
          <a:srcRect/>
          <a:stretch>
            <a:fillRect/>
          </a:stretch>
        </p:blipFill>
        <p:spPr bwMode="auto">
          <a:xfrm>
            <a:off x="0" y="27384"/>
            <a:ext cx="9144000" cy="6858000"/>
          </a:xfrm>
          <a:prstGeom prst="rect">
            <a:avLst/>
          </a:prstGeom>
          <a:noFill/>
        </p:spPr>
      </p:pic>
      <p:sp>
        <p:nvSpPr>
          <p:cNvPr id="4" name="TextBox 3"/>
          <p:cNvSpPr txBox="1"/>
          <p:nvPr/>
        </p:nvSpPr>
        <p:spPr>
          <a:xfrm>
            <a:off x="714348" y="498158"/>
            <a:ext cx="7242028" cy="400110"/>
          </a:xfrm>
          <a:prstGeom prst="rect">
            <a:avLst/>
          </a:prstGeom>
          <a:noFill/>
        </p:spPr>
        <p:txBody>
          <a:bodyPr wrap="square" rtlCol="0">
            <a:spAutoFit/>
          </a:bodyPr>
          <a:lstStyle/>
          <a:p>
            <a:pPr algn="ctr"/>
            <a:r>
              <a:rPr lang="en-US" sz="2000" b="1" dirty="0" smtClean="0">
                <a:solidFill>
                  <a:schemeClr val="bg1"/>
                </a:solidFill>
                <a:latin typeface="Arial" pitchFamily="34" charset="0"/>
                <a:cs typeface="Arial" pitchFamily="34" charset="0"/>
              </a:rPr>
              <a:t>MEASUREMENTS OF MONEY SUPPLY</a:t>
            </a:r>
            <a:endParaRPr lang="en-US" sz="2000" b="1" dirty="0">
              <a:solidFill>
                <a:schemeClr val="bg1"/>
              </a:solidFill>
              <a:latin typeface="Arial" pitchFamily="34" charset="0"/>
              <a:cs typeface="Arial" pitchFamily="34" charset="0"/>
            </a:endParaRPr>
          </a:p>
        </p:txBody>
      </p:sp>
      <p:sp>
        <p:nvSpPr>
          <p:cNvPr id="7" name="Rectangle 6"/>
          <p:cNvSpPr/>
          <p:nvPr/>
        </p:nvSpPr>
        <p:spPr>
          <a:xfrm>
            <a:off x="714348" y="1037099"/>
            <a:ext cx="7386044" cy="464871"/>
          </a:xfrm>
          <a:prstGeom prst="rect">
            <a:avLst/>
          </a:prstGeom>
        </p:spPr>
        <p:txBody>
          <a:bodyPr wrap="square">
            <a:spAutoFit/>
          </a:bodyPr>
          <a:lstStyle/>
          <a:p>
            <a:pPr algn="ctr">
              <a:lnSpc>
                <a:spcPct val="150000"/>
              </a:lnSpc>
            </a:pPr>
            <a:r>
              <a:rPr lang="en-US" b="1" dirty="0" smtClean="0">
                <a:latin typeface="Arial" pitchFamily="34" charset="0"/>
                <a:cs typeface="Arial" pitchFamily="34" charset="0"/>
              </a:rPr>
              <a:t>Which brings me to my original point…</a:t>
            </a:r>
            <a:endParaRPr lang="en-US" b="1" dirty="0">
              <a:latin typeface="Arial" pitchFamily="34" charset="0"/>
              <a:cs typeface="Arial" pitchFamily="34" charset="0"/>
            </a:endParaRPr>
          </a:p>
        </p:txBody>
      </p:sp>
      <p:sp>
        <p:nvSpPr>
          <p:cNvPr id="5" name="Rectangle 4"/>
          <p:cNvSpPr/>
          <p:nvPr/>
        </p:nvSpPr>
        <p:spPr>
          <a:xfrm>
            <a:off x="714380" y="1571612"/>
            <a:ext cx="7786710" cy="3831818"/>
          </a:xfrm>
          <a:prstGeom prst="rect">
            <a:avLst/>
          </a:prstGeom>
        </p:spPr>
        <p:txBody>
          <a:bodyPr wrap="square">
            <a:spAutoFit/>
          </a:bodyPr>
          <a:lstStyle/>
          <a:p>
            <a:pPr marL="357188" indent="-357188">
              <a:lnSpc>
                <a:spcPct val="150000"/>
              </a:lnSpc>
              <a:buFont typeface="Wingdings" pitchFamily="2" charset="2"/>
              <a:buChar char="q"/>
              <a:tabLst>
                <a:tab pos="357188" algn="l"/>
              </a:tabLst>
            </a:pPr>
            <a:r>
              <a:rPr lang="en-US" b="1" dirty="0" smtClean="0">
                <a:latin typeface="Arial" pitchFamily="34" charset="0"/>
                <a:cs typeface="Arial" pitchFamily="34" charset="0"/>
              </a:rPr>
              <a:t>From one wallet to another, from one shopper to the next, that is the life of money. </a:t>
            </a:r>
          </a:p>
          <a:p>
            <a:pPr marL="357188" indent="-357188">
              <a:lnSpc>
                <a:spcPct val="150000"/>
              </a:lnSpc>
              <a:buFont typeface="Wingdings" pitchFamily="2" charset="2"/>
              <a:buChar char="q"/>
              <a:tabLst>
                <a:tab pos="357188" algn="l"/>
              </a:tabLst>
            </a:pPr>
            <a:endParaRPr lang="en-US" sz="600" b="1" dirty="0" smtClean="0">
              <a:latin typeface="Arial" pitchFamily="34" charset="0"/>
              <a:cs typeface="Arial" pitchFamily="34" charset="0"/>
            </a:endParaRPr>
          </a:p>
          <a:p>
            <a:pPr marL="357188" indent="-357188">
              <a:lnSpc>
                <a:spcPct val="150000"/>
              </a:lnSpc>
              <a:buFont typeface="Wingdings" pitchFamily="2" charset="2"/>
              <a:buChar char="q"/>
              <a:tabLst>
                <a:tab pos="357188" algn="l"/>
              </a:tabLst>
            </a:pPr>
            <a:r>
              <a:rPr lang="en-US" b="1" dirty="0" smtClean="0">
                <a:latin typeface="Arial" pitchFamily="34" charset="0"/>
                <a:cs typeface="Arial" pitchFamily="34" charset="0"/>
              </a:rPr>
              <a:t>But we often forget that money is like a lubricant  that makes the economy move smoothly. </a:t>
            </a:r>
          </a:p>
          <a:p>
            <a:pPr marL="357188" indent="-357188">
              <a:lnSpc>
                <a:spcPct val="150000"/>
              </a:lnSpc>
              <a:buFont typeface="Wingdings" pitchFamily="2" charset="2"/>
              <a:buChar char="q"/>
              <a:tabLst>
                <a:tab pos="357188" algn="l"/>
              </a:tabLst>
            </a:pPr>
            <a:endParaRPr lang="en-US" sz="600" b="1" dirty="0" smtClean="0">
              <a:latin typeface="Arial" pitchFamily="34" charset="0"/>
              <a:cs typeface="Arial" pitchFamily="34" charset="0"/>
            </a:endParaRPr>
          </a:p>
          <a:p>
            <a:pPr marL="357188" indent="-357188">
              <a:lnSpc>
                <a:spcPct val="150000"/>
              </a:lnSpc>
              <a:buFont typeface="Wingdings" pitchFamily="2" charset="2"/>
              <a:buChar char="q"/>
              <a:tabLst>
                <a:tab pos="357188" algn="l"/>
              </a:tabLst>
            </a:pPr>
            <a:r>
              <a:rPr lang="en-US" b="1" dirty="0" smtClean="0">
                <a:latin typeface="Arial" pitchFamily="34" charset="0"/>
                <a:cs typeface="Arial" pitchFamily="34" charset="0"/>
              </a:rPr>
              <a:t>Therefore, if the money is parked in our pocket, and we don’t spend it, in effect the economy slows down.</a:t>
            </a:r>
          </a:p>
          <a:p>
            <a:pPr marL="357188" indent="-357188">
              <a:lnSpc>
                <a:spcPct val="150000"/>
              </a:lnSpc>
              <a:buFont typeface="Wingdings" pitchFamily="2" charset="2"/>
              <a:buChar char="q"/>
              <a:tabLst>
                <a:tab pos="357188" algn="l"/>
              </a:tabLst>
            </a:pPr>
            <a:endParaRPr lang="en-US" sz="600" b="1" dirty="0" smtClean="0">
              <a:latin typeface="Arial" pitchFamily="34" charset="0"/>
              <a:cs typeface="Arial" pitchFamily="34" charset="0"/>
            </a:endParaRPr>
          </a:p>
          <a:p>
            <a:pPr marL="357188" indent="-357188">
              <a:lnSpc>
                <a:spcPct val="150000"/>
              </a:lnSpc>
              <a:buFont typeface="Wingdings" pitchFamily="2" charset="2"/>
              <a:buChar char="q"/>
              <a:tabLst>
                <a:tab pos="357188" algn="l"/>
              </a:tabLst>
            </a:pPr>
            <a:r>
              <a:rPr lang="en-US" b="1" dirty="0" smtClean="0">
                <a:latin typeface="Arial" pitchFamily="34" charset="0"/>
                <a:cs typeface="Arial" pitchFamily="34" charset="0"/>
              </a:rPr>
              <a:t>Thus money needs to move and therefore needs velocity (velocity is another word for speed) as shown in the next slide…</a:t>
            </a:r>
            <a:endParaRPr lang="en-US" b="1" dirty="0">
              <a:latin typeface="Arial" pitchFamily="34" charset="0"/>
              <a:cs typeface="Arial" pitchFamily="34" charset="0"/>
            </a:endParaRPr>
          </a:p>
        </p:txBody>
      </p:sp>
    </p:spTree>
    <p:extLst>
      <p:ext uri="{BB962C8B-B14F-4D97-AF65-F5344CB8AC3E}">
        <p14:creationId xmlns="" xmlns:p14="http://schemas.microsoft.com/office/powerpoint/2010/main" val="2914081961"/>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3.jpg"/>
          <p:cNvPicPr>
            <a:picLocks noChangeAspect="1" noChangeArrowheads="1"/>
          </p:cNvPicPr>
          <p:nvPr/>
        </p:nvPicPr>
        <p:blipFill>
          <a:blip r:embed="rId2" cstate="print"/>
          <a:srcRect/>
          <a:stretch>
            <a:fillRect/>
          </a:stretch>
        </p:blipFill>
        <p:spPr bwMode="auto">
          <a:xfrm>
            <a:off x="0" y="27384"/>
            <a:ext cx="9144000" cy="6858000"/>
          </a:xfrm>
          <a:prstGeom prst="rect">
            <a:avLst/>
          </a:prstGeom>
          <a:noFill/>
        </p:spPr>
      </p:pic>
      <p:sp>
        <p:nvSpPr>
          <p:cNvPr id="4" name="TextBox 3"/>
          <p:cNvSpPr txBox="1"/>
          <p:nvPr/>
        </p:nvSpPr>
        <p:spPr>
          <a:xfrm>
            <a:off x="714348" y="498158"/>
            <a:ext cx="7242028" cy="400110"/>
          </a:xfrm>
          <a:prstGeom prst="rect">
            <a:avLst/>
          </a:prstGeom>
          <a:noFill/>
        </p:spPr>
        <p:txBody>
          <a:bodyPr wrap="square" rtlCol="0">
            <a:spAutoFit/>
          </a:bodyPr>
          <a:lstStyle/>
          <a:p>
            <a:pPr algn="ctr"/>
            <a:r>
              <a:rPr lang="en-US" sz="2000" b="1" dirty="0" smtClean="0">
                <a:solidFill>
                  <a:schemeClr val="bg1"/>
                </a:solidFill>
                <a:latin typeface="Arial" pitchFamily="34" charset="0"/>
                <a:cs typeface="Arial" pitchFamily="34" charset="0"/>
              </a:rPr>
              <a:t>MEASUREMENTS OF MONEY SUPPLY</a:t>
            </a:r>
            <a:endParaRPr lang="en-US" sz="2000" b="1" dirty="0">
              <a:solidFill>
                <a:schemeClr val="bg1"/>
              </a:solidFill>
              <a:latin typeface="Arial" pitchFamily="34" charset="0"/>
              <a:cs typeface="Arial" pitchFamily="34" charset="0"/>
            </a:endParaRPr>
          </a:p>
        </p:txBody>
      </p:sp>
      <p:sp>
        <p:nvSpPr>
          <p:cNvPr id="7" name="Rectangle 6"/>
          <p:cNvSpPr/>
          <p:nvPr/>
        </p:nvSpPr>
        <p:spPr>
          <a:xfrm>
            <a:off x="714348" y="1037099"/>
            <a:ext cx="7386044" cy="463075"/>
          </a:xfrm>
          <a:prstGeom prst="rect">
            <a:avLst/>
          </a:prstGeom>
        </p:spPr>
        <p:txBody>
          <a:bodyPr wrap="square">
            <a:spAutoFit/>
          </a:bodyPr>
          <a:lstStyle/>
          <a:p>
            <a:pPr algn="ctr">
              <a:lnSpc>
                <a:spcPct val="150000"/>
              </a:lnSpc>
            </a:pPr>
            <a:r>
              <a:rPr lang="en-US" b="1" dirty="0" smtClean="0">
                <a:latin typeface="Arial" pitchFamily="34" charset="0"/>
                <a:cs typeface="Arial" pitchFamily="34" charset="0"/>
              </a:rPr>
              <a:t>How Money Moves!</a:t>
            </a:r>
            <a:endParaRPr lang="en-US" b="1" dirty="0">
              <a:latin typeface="Arial" pitchFamily="34" charset="0"/>
              <a:cs typeface="Arial" pitchFamily="34" charset="0"/>
            </a:endParaRPr>
          </a:p>
        </p:txBody>
      </p:sp>
      <p:pic>
        <p:nvPicPr>
          <p:cNvPr id="6" name="Picture 10" descr="2"/>
          <p:cNvPicPr>
            <a:picLocks noChangeAspect="1" noChangeArrowheads="1"/>
          </p:cNvPicPr>
          <p:nvPr/>
        </p:nvPicPr>
        <p:blipFill>
          <a:blip r:embed="rId3"/>
          <a:srcRect/>
          <a:stretch>
            <a:fillRect/>
          </a:stretch>
        </p:blipFill>
        <p:spPr bwMode="auto">
          <a:xfrm>
            <a:off x="3367094" y="1736728"/>
            <a:ext cx="2133600" cy="2120900"/>
          </a:xfrm>
          <a:prstGeom prst="rect">
            <a:avLst/>
          </a:prstGeom>
          <a:noFill/>
        </p:spPr>
      </p:pic>
      <p:pic>
        <p:nvPicPr>
          <p:cNvPr id="8" name="Picture 9" descr="1"/>
          <p:cNvPicPr>
            <a:picLocks noChangeAspect="1" noChangeArrowheads="1"/>
          </p:cNvPicPr>
          <p:nvPr/>
        </p:nvPicPr>
        <p:blipFill>
          <a:blip r:embed="rId4"/>
          <a:srcRect/>
          <a:stretch>
            <a:fillRect/>
          </a:stretch>
        </p:blipFill>
        <p:spPr bwMode="auto">
          <a:xfrm>
            <a:off x="538150" y="4114800"/>
            <a:ext cx="2176462" cy="2438400"/>
          </a:xfrm>
          <a:prstGeom prst="rect">
            <a:avLst/>
          </a:prstGeom>
          <a:noFill/>
        </p:spPr>
      </p:pic>
      <p:pic>
        <p:nvPicPr>
          <p:cNvPr id="9" name="Picture 11" descr="3"/>
          <p:cNvPicPr>
            <a:picLocks noChangeAspect="1" noChangeArrowheads="1"/>
          </p:cNvPicPr>
          <p:nvPr/>
        </p:nvPicPr>
        <p:blipFill>
          <a:blip r:embed="rId5"/>
          <a:srcRect/>
          <a:stretch>
            <a:fillRect/>
          </a:stretch>
        </p:blipFill>
        <p:spPr bwMode="auto">
          <a:xfrm>
            <a:off x="5857884" y="4357709"/>
            <a:ext cx="2819400" cy="2143125"/>
          </a:xfrm>
          <a:prstGeom prst="rect">
            <a:avLst/>
          </a:prstGeom>
          <a:noFill/>
        </p:spPr>
      </p:pic>
      <p:sp>
        <p:nvSpPr>
          <p:cNvPr id="10" name="Rectangle 9"/>
          <p:cNvSpPr/>
          <p:nvPr/>
        </p:nvSpPr>
        <p:spPr>
          <a:xfrm>
            <a:off x="3786182" y="4857760"/>
            <a:ext cx="992580" cy="369332"/>
          </a:xfrm>
          <a:prstGeom prst="rect">
            <a:avLst/>
          </a:prstGeom>
        </p:spPr>
        <p:txBody>
          <a:bodyPr wrap="none">
            <a:spAutoFit/>
          </a:bodyPr>
          <a:lstStyle/>
          <a:p>
            <a:pPr algn="ctr"/>
            <a:r>
              <a:rPr lang="en-US" b="1" dirty="0" smtClean="0">
                <a:latin typeface="Arial" pitchFamily="34" charset="0"/>
                <a:cs typeface="Arial" pitchFamily="34" charset="0"/>
              </a:rPr>
              <a:t>Rs. 100</a:t>
            </a:r>
            <a:endParaRPr lang="en-US" b="1" dirty="0">
              <a:latin typeface="Arial" pitchFamily="34" charset="0"/>
              <a:cs typeface="Arial" pitchFamily="34" charset="0"/>
            </a:endParaRPr>
          </a:p>
        </p:txBody>
      </p:sp>
      <p:sp>
        <p:nvSpPr>
          <p:cNvPr id="11" name="Rectangle 10"/>
          <p:cNvSpPr/>
          <p:nvPr/>
        </p:nvSpPr>
        <p:spPr>
          <a:xfrm>
            <a:off x="3357554" y="5500702"/>
            <a:ext cx="1890261" cy="923330"/>
          </a:xfrm>
          <a:prstGeom prst="rect">
            <a:avLst/>
          </a:prstGeom>
        </p:spPr>
        <p:txBody>
          <a:bodyPr wrap="none">
            <a:spAutoFit/>
          </a:bodyPr>
          <a:lstStyle/>
          <a:p>
            <a:pPr algn="ctr"/>
            <a:r>
              <a:rPr lang="en-US" b="1" dirty="0" smtClean="0">
                <a:latin typeface="Arial" pitchFamily="34" charset="0"/>
                <a:cs typeface="Arial" pitchFamily="34" charset="0"/>
              </a:rPr>
              <a:t>Cloth </a:t>
            </a:r>
            <a:r>
              <a:rPr lang="en-US" b="1" dirty="0" smtClean="0">
                <a:latin typeface="Arial" pitchFamily="34" charset="0"/>
                <a:cs typeface="Arial" pitchFamily="34" charset="0"/>
              </a:rPr>
              <a:t>merchant</a:t>
            </a:r>
            <a:br>
              <a:rPr lang="en-US" b="1" dirty="0" smtClean="0">
                <a:latin typeface="Arial" pitchFamily="34" charset="0"/>
                <a:cs typeface="Arial" pitchFamily="34" charset="0"/>
              </a:rPr>
            </a:br>
            <a:r>
              <a:rPr lang="en-US" b="1" dirty="0" smtClean="0">
                <a:latin typeface="Arial" pitchFamily="34" charset="0"/>
                <a:cs typeface="Arial" pitchFamily="34" charset="0"/>
              </a:rPr>
              <a:t>gets </a:t>
            </a:r>
            <a:r>
              <a:rPr lang="en-US" b="1" dirty="0" smtClean="0">
                <a:latin typeface="Arial" pitchFamily="34" charset="0"/>
                <a:cs typeface="Arial" pitchFamily="34" charset="0"/>
              </a:rPr>
              <a:t>a </a:t>
            </a:r>
            <a:r>
              <a:rPr lang="en-US" b="1" dirty="0" smtClean="0">
                <a:latin typeface="Arial" pitchFamily="34" charset="0"/>
                <a:cs typeface="Arial" pitchFamily="34" charset="0"/>
              </a:rPr>
              <a:t>haircut</a:t>
            </a:r>
            <a:br>
              <a:rPr lang="en-US" b="1" dirty="0" smtClean="0">
                <a:latin typeface="Arial" pitchFamily="34" charset="0"/>
                <a:cs typeface="Arial" pitchFamily="34" charset="0"/>
              </a:rPr>
            </a:br>
            <a:r>
              <a:rPr lang="en-US" b="1" dirty="0" smtClean="0">
                <a:latin typeface="Arial" pitchFamily="34" charset="0"/>
                <a:cs typeface="Arial" pitchFamily="34" charset="0"/>
              </a:rPr>
              <a:t>from </a:t>
            </a:r>
            <a:r>
              <a:rPr lang="en-US" b="1" dirty="0" smtClean="0">
                <a:latin typeface="Arial" pitchFamily="34" charset="0"/>
                <a:cs typeface="Arial" pitchFamily="34" charset="0"/>
              </a:rPr>
              <a:t>the barber</a:t>
            </a:r>
            <a:endParaRPr lang="en-US" b="1" dirty="0">
              <a:latin typeface="Arial" pitchFamily="34" charset="0"/>
              <a:cs typeface="Arial" pitchFamily="34" charset="0"/>
            </a:endParaRPr>
          </a:p>
        </p:txBody>
      </p:sp>
      <p:sp>
        <p:nvSpPr>
          <p:cNvPr id="12" name="Line 5"/>
          <p:cNvSpPr>
            <a:spLocks noChangeShapeType="1"/>
          </p:cNvSpPr>
          <p:nvPr/>
        </p:nvSpPr>
        <p:spPr bwMode="auto">
          <a:xfrm rot="8598932">
            <a:off x="3146903" y="4509936"/>
            <a:ext cx="2274208" cy="1722885"/>
          </a:xfrm>
          <a:prstGeom prst="line">
            <a:avLst/>
          </a:prstGeom>
          <a:noFill/>
          <a:ln w="76200">
            <a:solidFill>
              <a:srgbClr val="C00000"/>
            </a:solidFill>
            <a:round/>
            <a:headEnd/>
            <a:tailEnd type="triangle" w="med" len="med"/>
          </a:ln>
          <a:effectLst/>
        </p:spPr>
        <p:txBody>
          <a:bodyPr/>
          <a:lstStyle/>
          <a:p>
            <a:endParaRPr lang="en-IN"/>
          </a:p>
        </p:txBody>
      </p:sp>
      <p:sp>
        <p:nvSpPr>
          <p:cNvPr id="13" name="Rectangle 12"/>
          <p:cNvSpPr/>
          <p:nvPr/>
        </p:nvSpPr>
        <p:spPr>
          <a:xfrm>
            <a:off x="1062430" y="2000240"/>
            <a:ext cx="2223686" cy="646331"/>
          </a:xfrm>
          <a:prstGeom prst="rect">
            <a:avLst/>
          </a:prstGeom>
        </p:spPr>
        <p:txBody>
          <a:bodyPr wrap="none">
            <a:spAutoFit/>
          </a:bodyPr>
          <a:lstStyle/>
          <a:p>
            <a:pPr algn="ctr"/>
            <a:r>
              <a:rPr lang="en-US" b="1" dirty="0" smtClean="0">
                <a:latin typeface="Arial" pitchFamily="34" charset="0"/>
                <a:cs typeface="Arial" pitchFamily="34" charset="0"/>
              </a:rPr>
              <a:t>Barber </a:t>
            </a:r>
            <a:r>
              <a:rPr lang="en-US" b="1" dirty="0" smtClean="0">
                <a:latin typeface="Arial" pitchFamily="34" charset="0"/>
                <a:cs typeface="Arial" pitchFamily="34" charset="0"/>
              </a:rPr>
              <a:t>buys bread</a:t>
            </a:r>
            <a:br>
              <a:rPr lang="en-US" b="1" dirty="0" smtClean="0">
                <a:latin typeface="Arial" pitchFamily="34" charset="0"/>
                <a:cs typeface="Arial" pitchFamily="34" charset="0"/>
              </a:rPr>
            </a:br>
            <a:r>
              <a:rPr lang="en-US" b="1" dirty="0" smtClean="0">
                <a:latin typeface="Arial" pitchFamily="34" charset="0"/>
                <a:cs typeface="Arial" pitchFamily="34" charset="0"/>
              </a:rPr>
              <a:t>from </a:t>
            </a:r>
            <a:r>
              <a:rPr lang="en-US" b="1" dirty="0" smtClean="0">
                <a:latin typeface="Arial" pitchFamily="34" charset="0"/>
                <a:cs typeface="Arial" pitchFamily="34" charset="0"/>
              </a:rPr>
              <a:t>the baker</a:t>
            </a:r>
            <a:endParaRPr lang="en-US" b="1" dirty="0">
              <a:latin typeface="Arial" pitchFamily="34" charset="0"/>
              <a:cs typeface="Arial" pitchFamily="34" charset="0"/>
            </a:endParaRPr>
          </a:p>
        </p:txBody>
      </p:sp>
      <p:sp>
        <p:nvSpPr>
          <p:cNvPr id="14" name="Rectangle 13"/>
          <p:cNvSpPr/>
          <p:nvPr/>
        </p:nvSpPr>
        <p:spPr>
          <a:xfrm>
            <a:off x="5643570" y="1785926"/>
            <a:ext cx="2300630" cy="923330"/>
          </a:xfrm>
          <a:prstGeom prst="rect">
            <a:avLst/>
          </a:prstGeom>
        </p:spPr>
        <p:txBody>
          <a:bodyPr wrap="none">
            <a:spAutoFit/>
          </a:bodyPr>
          <a:lstStyle/>
          <a:p>
            <a:pPr algn="ctr"/>
            <a:r>
              <a:rPr lang="en-US" b="1" dirty="0" smtClean="0">
                <a:latin typeface="Arial" pitchFamily="34" charset="0"/>
                <a:cs typeface="Arial" pitchFamily="34" charset="0"/>
              </a:rPr>
              <a:t>Baker buys </a:t>
            </a:r>
            <a:r>
              <a:rPr lang="en-US" b="1" dirty="0" smtClean="0">
                <a:latin typeface="Arial" pitchFamily="34" charset="0"/>
                <a:cs typeface="Arial" pitchFamily="34" charset="0"/>
              </a:rPr>
              <a:t>clothes</a:t>
            </a:r>
            <a:br>
              <a:rPr lang="en-US" b="1" dirty="0" smtClean="0">
                <a:latin typeface="Arial" pitchFamily="34" charset="0"/>
                <a:cs typeface="Arial" pitchFamily="34" charset="0"/>
              </a:rPr>
            </a:br>
            <a:r>
              <a:rPr lang="en-US" b="1" dirty="0" smtClean="0">
                <a:latin typeface="Arial" pitchFamily="34" charset="0"/>
                <a:cs typeface="Arial" pitchFamily="34" charset="0"/>
              </a:rPr>
              <a:t>from the</a:t>
            </a:r>
            <a:br>
              <a:rPr lang="en-US" b="1" dirty="0" smtClean="0">
                <a:latin typeface="Arial" pitchFamily="34" charset="0"/>
                <a:cs typeface="Arial" pitchFamily="34" charset="0"/>
              </a:rPr>
            </a:br>
            <a:r>
              <a:rPr lang="en-US" b="1" dirty="0" smtClean="0">
                <a:latin typeface="Arial" pitchFamily="34" charset="0"/>
                <a:cs typeface="Arial" pitchFamily="34" charset="0"/>
              </a:rPr>
              <a:t>cloth </a:t>
            </a:r>
            <a:r>
              <a:rPr lang="en-US" b="1" dirty="0" smtClean="0">
                <a:latin typeface="Arial" pitchFamily="34" charset="0"/>
                <a:cs typeface="Arial" pitchFamily="34" charset="0"/>
              </a:rPr>
              <a:t>merchant</a:t>
            </a:r>
            <a:endParaRPr lang="en-US" b="1" dirty="0">
              <a:latin typeface="Arial" pitchFamily="34" charset="0"/>
              <a:cs typeface="Arial" pitchFamily="34" charset="0"/>
            </a:endParaRPr>
          </a:p>
        </p:txBody>
      </p:sp>
      <p:sp>
        <p:nvSpPr>
          <p:cNvPr id="15" name="Rectangle 14"/>
          <p:cNvSpPr/>
          <p:nvPr/>
        </p:nvSpPr>
        <p:spPr>
          <a:xfrm>
            <a:off x="1633934" y="3059668"/>
            <a:ext cx="992580" cy="369332"/>
          </a:xfrm>
          <a:prstGeom prst="rect">
            <a:avLst/>
          </a:prstGeom>
        </p:spPr>
        <p:txBody>
          <a:bodyPr wrap="none">
            <a:spAutoFit/>
          </a:bodyPr>
          <a:lstStyle/>
          <a:p>
            <a:pPr algn="ctr"/>
            <a:r>
              <a:rPr lang="en-US" b="1" dirty="0" smtClean="0">
                <a:latin typeface="Arial" pitchFamily="34" charset="0"/>
                <a:cs typeface="Arial" pitchFamily="34" charset="0"/>
              </a:rPr>
              <a:t>Rs. 100</a:t>
            </a:r>
            <a:endParaRPr lang="en-US" b="1" dirty="0">
              <a:latin typeface="Arial" pitchFamily="34" charset="0"/>
              <a:cs typeface="Arial" pitchFamily="34" charset="0"/>
            </a:endParaRPr>
          </a:p>
        </p:txBody>
      </p:sp>
      <p:sp>
        <p:nvSpPr>
          <p:cNvPr id="16" name="Rectangle 15"/>
          <p:cNvSpPr/>
          <p:nvPr/>
        </p:nvSpPr>
        <p:spPr>
          <a:xfrm>
            <a:off x="5936874" y="3212068"/>
            <a:ext cx="992580" cy="369332"/>
          </a:xfrm>
          <a:prstGeom prst="rect">
            <a:avLst/>
          </a:prstGeom>
        </p:spPr>
        <p:txBody>
          <a:bodyPr wrap="none">
            <a:spAutoFit/>
          </a:bodyPr>
          <a:lstStyle/>
          <a:p>
            <a:pPr algn="ctr"/>
            <a:r>
              <a:rPr lang="en-US" b="1" dirty="0" smtClean="0">
                <a:latin typeface="Arial" pitchFamily="34" charset="0"/>
                <a:cs typeface="Arial" pitchFamily="34" charset="0"/>
              </a:rPr>
              <a:t>Rs. 100</a:t>
            </a:r>
            <a:endParaRPr lang="en-US" b="1" dirty="0">
              <a:latin typeface="Arial" pitchFamily="34" charset="0"/>
              <a:cs typeface="Arial" pitchFamily="34" charset="0"/>
            </a:endParaRPr>
          </a:p>
        </p:txBody>
      </p:sp>
      <p:grpSp>
        <p:nvGrpSpPr>
          <p:cNvPr id="23" name="Group 22"/>
          <p:cNvGrpSpPr/>
          <p:nvPr/>
        </p:nvGrpSpPr>
        <p:grpSpPr>
          <a:xfrm>
            <a:off x="1033188" y="2251807"/>
            <a:ext cx="2060184" cy="1451046"/>
            <a:chOff x="1033188" y="2251807"/>
            <a:chExt cx="2060184" cy="1451046"/>
          </a:xfrm>
        </p:grpSpPr>
        <p:sp>
          <p:nvSpPr>
            <p:cNvPr id="19" name="Line 5"/>
            <p:cNvSpPr>
              <a:spLocks noChangeShapeType="1"/>
            </p:cNvSpPr>
            <p:nvPr/>
          </p:nvSpPr>
          <p:spPr bwMode="auto">
            <a:xfrm rot="8598932" flipH="1" flipV="1">
              <a:off x="1578804" y="2251807"/>
              <a:ext cx="1514568" cy="1147400"/>
            </a:xfrm>
            <a:prstGeom prst="line">
              <a:avLst/>
            </a:prstGeom>
            <a:noFill/>
            <a:ln w="76200">
              <a:solidFill>
                <a:srgbClr val="C00000"/>
              </a:solidFill>
              <a:round/>
              <a:headEnd/>
              <a:tailEnd type="triangle" w="med" len="med"/>
            </a:ln>
            <a:effectLst/>
          </p:spPr>
          <p:txBody>
            <a:bodyPr/>
            <a:lstStyle/>
            <a:p>
              <a:endParaRPr lang="en-IN"/>
            </a:p>
          </p:txBody>
        </p:sp>
        <p:sp>
          <p:nvSpPr>
            <p:cNvPr id="22" name="Line 5"/>
            <p:cNvSpPr>
              <a:spLocks noChangeShapeType="1"/>
            </p:cNvSpPr>
            <p:nvPr/>
          </p:nvSpPr>
          <p:spPr bwMode="auto">
            <a:xfrm rot="8598932" flipV="1">
              <a:off x="1033188" y="2899525"/>
              <a:ext cx="646196" cy="803328"/>
            </a:xfrm>
            <a:prstGeom prst="line">
              <a:avLst/>
            </a:prstGeom>
            <a:noFill/>
            <a:ln w="76200">
              <a:solidFill>
                <a:srgbClr val="C00000"/>
              </a:solidFill>
              <a:round/>
              <a:headEnd/>
              <a:tailEnd type="triangle" w="med" len="med"/>
            </a:ln>
            <a:effectLst/>
          </p:spPr>
          <p:txBody>
            <a:bodyPr/>
            <a:lstStyle/>
            <a:p>
              <a:endParaRPr lang="en-IN"/>
            </a:p>
          </p:txBody>
        </p:sp>
      </p:grpSp>
      <p:grpSp>
        <p:nvGrpSpPr>
          <p:cNvPr id="27" name="Group 26"/>
          <p:cNvGrpSpPr/>
          <p:nvPr/>
        </p:nvGrpSpPr>
        <p:grpSpPr>
          <a:xfrm>
            <a:off x="5929322" y="2357430"/>
            <a:ext cx="2067866" cy="1443207"/>
            <a:chOff x="5828632" y="2412046"/>
            <a:chExt cx="2067866" cy="1443207"/>
          </a:xfrm>
        </p:grpSpPr>
        <p:sp>
          <p:nvSpPr>
            <p:cNvPr id="25" name="Line 5"/>
            <p:cNvSpPr>
              <a:spLocks noChangeShapeType="1"/>
            </p:cNvSpPr>
            <p:nvPr/>
          </p:nvSpPr>
          <p:spPr bwMode="auto">
            <a:xfrm rot="8598932">
              <a:off x="5828632" y="2412046"/>
              <a:ext cx="1589482" cy="1146520"/>
            </a:xfrm>
            <a:prstGeom prst="line">
              <a:avLst/>
            </a:prstGeom>
            <a:noFill/>
            <a:ln w="76200">
              <a:solidFill>
                <a:srgbClr val="C00000"/>
              </a:solidFill>
              <a:round/>
              <a:headEnd/>
              <a:tailEnd type="triangle" w="med" len="med"/>
            </a:ln>
            <a:effectLst/>
          </p:spPr>
          <p:txBody>
            <a:bodyPr/>
            <a:lstStyle/>
            <a:p>
              <a:endParaRPr lang="en-IN"/>
            </a:p>
          </p:txBody>
        </p:sp>
        <p:sp>
          <p:nvSpPr>
            <p:cNvPr id="26" name="Line 5"/>
            <p:cNvSpPr>
              <a:spLocks noChangeShapeType="1"/>
            </p:cNvSpPr>
            <p:nvPr/>
          </p:nvSpPr>
          <p:spPr bwMode="auto">
            <a:xfrm rot="8598932" flipV="1">
              <a:off x="7250302" y="3051925"/>
              <a:ext cx="646196" cy="803328"/>
            </a:xfrm>
            <a:prstGeom prst="line">
              <a:avLst/>
            </a:prstGeom>
            <a:noFill/>
            <a:ln w="76200">
              <a:solidFill>
                <a:srgbClr val="C00000"/>
              </a:solidFill>
              <a:round/>
              <a:headEnd/>
              <a:tailEnd type="triangle" w="med" len="med"/>
            </a:ln>
            <a:effectLst/>
          </p:spPr>
          <p:txBody>
            <a:bodyPr/>
            <a:lstStyle/>
            <a:p>
              <a:endParaRPr lang="en-IN"/>
            </a:p>
          </p:txBody>
        </p:sp>
      </p:grpSp>
    </p:spTree>
    <p:extLst>
      <p:ext uri="{BB962C8B-B14F-4D97-AF65-F5344CB8AC3E}">
        <p14:creationId xmlns="" xmlns:p14="http://schemas.microsoft.com/office/powerpoint/2010/main" val="2914081961"/>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3.jpg"/>
          <p:cNvPicPr>
            <a:picLocks noChangeAspect="1" noChangeArrowheads="1"/>
          </p:cNvPicPr>
          <p:nvPr/>
        </p:nvPicPr>
        <p:blipFill>
          <a:blip r:embed="rId2" cstate="print"/>
          <a:srcRect/>
          <a:stretch>
            <a:fillRect/>
          </a:stretch>
        </p:blipFill>
        <p:spPr bwMode="auto">
          <a:xfrm>
            <a:off x="0" y="27384"/>
            <a:ext cx="9144000" cy="6858000"/>
          </a:xfrm>
          <a:prstGeom prst="rect">
            <a:avLst/>
          </a:prstGeom>
          <a:noFill/>
        </p:spPr>
      </p:pic>
      <p:sp>
        <p:nvSpPr>
          <p:cNvPr id="4" name="TextBox 3"/>
          <p:cNvSpPr txBox="1"/>
          <p:nvPr/>
        </p:nvSpPr>
        <p:spPr>
          <a:xfrm>
            <a:off x="714348" y="498158"/>
            <a:ext cx="7242028" cy="400110"/>
          </a:xfrm>
          <a:prstGeom prst="rect">
            <a:avLst/>
          </a:prstGeom>
          <a:noFill/>
        </p:spPr>
        <p:txBody>
          <a:bodyPr wrap="square" rtlCol="0">
            <a:spAutoFit/>
          </a:bodyPr>
          <a:lstStyle/>
          <a:p>
            <a:pPr algn="ctr"/>
            <a:r>
              <a:rPr lang="en-US" sz="2000" b="1" dirty="0" smtClean="0">
                <a:solidFill>
                  <a:schemeClr val="bg1"/>
                </a:solidFill>
                <a:latin typeface="Arial" pitchFamily="34" charset="0"/>
                <a:cs typeface="Arial" pitchFamily="34" charset="0"/>
              </a:rPr>
              <a:t>MEASUREMENTS OF MONEY SUPPLY</a:t>
            </a:r>
            <a:endParaRPr lang="en-US" sz="2000" b="1" dirty="0">
              <a:solidFill>
                <a:schemeClr val="bg1"/>
              </a:solidFill>
              <a:latin typeface="Arial" pitchFamily="34" charset="0"/>
              <a:cs typeface="Arial" pitchFamily="34" charset="0"/>
            </a:endParaRPr>
          </a:p>
        </p:txBody>
      </p:sp>
      <p:sp>
        <p:nvSpPr>
          <p:cNvPr id="7" name="Rectangle 6"/>
          <p:cNvSpPr/>
          <p:nvPr/>
        </p:nvSpPr>
        <p:spPr>
          <a:xfrm>
            <a:off x="714348" y="1037099"/>
            <a:ext cx="7386044" cy="464871"/>
          </a:xfrm>
          <a:prstGeom prst="rect">
            <a:avLst/>
          </a:prstGeom>
        </p:spPr>
        <p:txBody>
          <a:bodyPr wrap="square">
            <a:spAutoFit/>
          </a:bodyPr>
          <a:lstStyle/>
          <a:p>
            <a:pPr algn="ctr">
              <a:lnSpc>
                <a:spcPct val="150000"/>
              </a:lnSpc>
            </a:pPr>
            <a:r>
              <a:rPr lang="en-US" b="1" dirty="0" smtClean="0">
                <a:latin typeface="Arial" pitchFamily="34" charset="0"/>
                <a:cs typeface="Arial" pitchFamily="34" charset="0"/>
              </a:rPr>
              <a:t>To Sum Up</a:t>
            </a:r>
            <a:endParaRPr lang="en-US" b="1" dirty="0">
              <a:latin typeface="Arial" pitchFamily="34" charset="0"/>
              <a:cs typeface="Arial" pitchFamily="34" charset="0"/>
            </a:endParaRPr>
          </a:p>
        </p:txBody>
      </p:sp>
      <p:sp>
        <p:nvSpPr>
          <p:cNvPr id="5" name="Rectangle 4"/>
          <p:cNvSpPr/>
          <p:nvPr/>
        </p:nvSpPr>
        <p:spPr>
          <a:xfrm>
            <a:off x="714380" y="1571612"/>
            <a:ext cx="7786710" cy="3595856"/>
          </a:xfrm>
          <a:prstGeom prst="rect">
            <a:avLst/>
          </a:prstGeom>
        </p:spPr>
        <p:txBody>
          <a:bodyPr wrap="square">
            <a:spAutoFit/>
          </a:bodyPr>
          <a:lstStyle/>
          <a:p>
            <a:pPr marL="357188" indent="-357188">
              <a:lnSpc>
                <a:spcPct val="150000"/>
              </a:lnSpc>
              <a:buFont typeface="Wingdings" pitchFamily="2" charset="2"/>
              <a:buChar char="q"/>
              <a:tabLst>
                <a:tab pos="357188" algn="l"/>
                <a:tab pos="3600450" algn="l"/>
              </a:tabLst>
            </a:pPr>
            <a:r>
              <a:rPr lang="en-US" b="1" dirty="0" smtClean="0">
                <a:latin typeface="Arial" pitchFamily="34" charset="0"/>
                <a:cs typeface="Arial" pitchFamily="34" charset="0"/>
              </a:rPr>
              <a:t>What: ‘Velocity of money’ is a term used to denote the number of times a unit of money in an economy changes hands during a certain period.</a:t>
            </a:r>
          </a:p>
          <a:p>
            <a:pPr marL="357188" indent="-357188">
              <a:lnSpc>
                <a:spcPct val="150000"/>
              </a:lnSpc>
              <a:buFont typeface="Wingdings" pitchFamily="2" charset="2"/>
              <a:buChar char="q"/>
              <a:tabLst>
                <a:tab pos="357188" algn="l"/>
                <a:tab pos="3600450" algn="l"/>
              </a:tabLst>
            </a:pPr>
            <a:endParaRPr lang="en-US" sz="1000" b="1" dirty="0" smtClean="0">
              <a:latin typeface="Arial" pitchFamily="34" charset="0"/>
              <a:cs typeface="Arial" pitchFamily="34" charset="0"/>
            </a:endParaRPr>
          </a:p>
          <a:p>
            <a:pPr marL="357188" indent="-357188">
              <a:lnSpc>
                <a:spcPct val="150000"/>
              </a:lnSpc>
              <a:buFont typeface="Wingdings" pitchFamily="2" charset="2"/>
              <a:buChar char="q"/>
              <a:tabLst>
                <a:tab pos="357188" algn="l"/>
                <a:tab pos="3600450" algn="l"/>
              </a:tabLst>
            </a:pPr>
            <a:r>
              <a:rPr lang="en-US" b="1" dirty="0" smtClean="0">
                <a:latin typeface="Arial" pitchFamily="34" charset="0"/>
                <a:cs typeface="Arial" pitchFamily="34" charset="0"/>
              </a:rPr>
              <a:t>How: Velocity of money is calculated by dividing the value of GDP with the value of money in circulation.</a:t>
            </a:r>
          </a:p>
          <a:p>
            <a:pPr marL="357188" indent="-357188">
              <a:lnSpc>
                <a:spcPct val="150000"/>
              </a:lnSpc>
              <a:buFont typeface="Wingdings" pitchFamily="2" charset="2"/>
              <a:buChar char="q"/>
              <a:tabLst>
                <a:tab pos="357188" algn="l"/>
                <a:tab pos="3600450" algn="l"/>
              </a:tabLst>
            </a:pPr>
            <a:endParaRPr lang="en-US" sz="1000" b="1" dirty="0" smtClean="0">
              <a:latin typeface="Arial" pitchFamily="34" charset="0"/>
              <a:cs typeface="Arial" pitchFamily="34" charset="0"/>
            </a:endParaRPr>
          </a:p>
          <a:p>
            <a:pPr marL="357188" indent="-357188">
              <a:lnSpc>
                <a:spcPct val="150000"/>
              </a:lnSpc>
              <a:buFont typeface="Wingdings" pitchFamily="2" charset="2"/>
              <a:buChar char="q"/>
              <a:tabLst>
                <a:tab pos="357188" algn="l"/>
                <a:tab pos="3600450" algn="l"/>
              </a:tabLst>
            </a:pPr>
            <a:r>
              <a:rPr lang="en-US" b="1" dirty="0" smtClean="0">
                <a:latin typeface="Arial" pitchFamily="34" charset="0"/>
                <a:cs typeface="Arial" pitchFamily="34" charset="0"/>
              </a:rPr>
              <a:t>Why: Money needs to move or have velocity for the economy to move ahead smoothly.</a:t>
            </a:r>
            <a:endParaRPr lang="en-US" b="1" dirty="0">
              <a:latin typeface="Arial" pitchFamily="34" charset="0"/>
              <a:cs typeface="Arial" pitchFamily="34" charset="0"/>
            </a:endParaRPr>
          </a:p>
        </p:txBody>
      </p:sp>
    </p:spTree>
    <p:extLst>
      <p:ext uri="{BB962C8B-B14F-4D97-AF65-F5344CB8AC3E}">
        <p14:creationId xmlns="" xmlns:p14="http://schemas.microsoft.com/office/powerpoint/2010/main" val="2914081961"/>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2.jpg"/>
          <p:cNvPicPr>
            <a:picLocks noChangeAspect="1" noChangeArrowheads="1"/>
          </p:cNvPicPr>
          <p:nvPr/>
        </p:nvPicPr>
        <p:blipFill>
          <a:blip r:embed="rId2" cstate="print"/>
          <a:srcRect/>
          <a:stretch>
            <a:fillRect/>
          </a:stretch>
        </p:blipFill>
        <p:spPr bwMode="auto">
          <a:xfrm>
            <a:off x="0" y="-1"/>
            <a:ext cx="9144000" cy="6858001"/>
          </a:xfrm>
          <a:prstGeom prst="rect">
            <a:avLst/>
          </a:prstGeom>
          <a:ln w="228600" cap="sq" cmpd="thickThin">
            <a:solidFill>
              <a:srgbClr val="000000"/>
            </a:solidFill>
            <a:prstDash val="solid"/>
            <a:miter lim="800000"/>
          </a:ln>
          <a:effectLst>
            <a:innerShdw blurRad="76200">
              <a:srgbClr val="000000"/>
            </a:innerShdw>
          </a:effectLst>
        </p:spPr>
      </p:pic>
      <p:sp>
        <p:nvSpPr>
          <p:cNvPr id="3" name="Rectangle 2"/>
          <p:cNvSpPr/>
          <p:nvPr/>
        </p:nvSpPr>
        <p:spPr>
          <a:xfrm>
            <a:off x="3000364" y="1428736"/>
            <a:ext cx="3929090" cy="1295868"/>
          </a:xfrm>
          <a:prstGeom prst="rect">
            <a:avLst/>
          </a:prstGeom>
        </p:spPr>
        <p:txBody>
          <a:bodyPr wrap="square">
            <a:spAutoFit/>
          </a:bodyPr>
          <a:lstStyle/>
          <a:p>
            <a:pPr>
              <a:lnSpc>
                <a:spcPct val="150000"/>
              </a:lnSpc>
              <a:buFontTx/>
              <a:buNone/>
            </a:pPr>
            <a:r>
              <a:rPr lang="en-US" b="1" dirty="0" smtClean="0">
                <a:latin typeface="Arial" pitchFamily="34" charset="0"/>
                <a:cs typeface="Arial" pitchFamily="34" charset="0"/>
              </a:rPr>
              <a:t>Hope you have </a:t>
            </a:r>
            <a:r>
              <a:rPr lang="en-US" b="1" dirty="0" smtClean="0">
                <a:latin typeface="Arial" pitchFamily="34" charset="0"/>
                <a:cs typeface="Arial" pitchFamily="34" charset="0"/>
              </a:rPr>
              <a:t>now</a:t>
            </a:r>
            <a:br>
              <a:rPr lang="en-US" b="1" dirty="0" smtClean="0">
                <a:latin typeface="Arial" pitchFamily="34" charset="0"/>
                <a:cs typeface="Arial" pitchFamily="34" charset="0"/>
              </a:rPr>
            </a:br>
            <a:r>
              <a:rPr lang="en-US" b="1" dirty="0" smtClean="0">
                <a:latin typeface="Arial" pitchFamily="34" charset="0"/>
                <a:cs typeface="Arial" pitchFamily="34" charset="0"/>
              </a:rPr>
              <a:t>understood </a:t>
            </a:r>
            <a:r>
              <a:rPr lang="en-US" b="1" dirty="0" smtClean="0">
                <a:latin typeface="Arial" pitchFamily="34" charset="0"/>
                <a:cs typeface="Arial" pitchFamily="34" charset="0"/>
              </a:rPr>
              <a:t>the concept of</a:t>
            </a:r>
          </a:p>
          <a:p>
            <a:pPr>
              <a:lnSpc>
                <a:spcPct val="150000"/>
              </a:lnSpc>
              <a:buFontTx/>
              <a:buNone/>
            </a:pPr>
            <a:r>
              <a:rPr lang="en-US" b="1" dirty="0" smtClean="0">
                <a:latin typeface="Arial" pitchFamily="34" charset="0"/>
                <a:cs typeface="Arial" pitchFamily="34" charset="0"/>
              </a:rPr>
              <a:t>Measurements of Money Supply</a:t>
            </a:r>
            <a:endParaRPr lang="en-US" b="1" dirty="0">
              <a:latin typeface="Arial" pitchFamily="34" charset="0"/>
              <a:cs typeface="Arial" pitchFamily="34" charset="0"/>
            </a:endParaRPr>
          </a:p>
        </p:txBody>
      </p:sp>
      <p:sp>
        <p:nvSpPr>
          <p:cNvPr id="4" name="TextBox 3"/>
          <p:cNvSpPr txBox="1"/>
          <p:nvPr/>
        </p:nvSpPr>
        <p:spPr>
          <a:xfrm>
            <a:off x="714348" y="498158"/>
            <a:ext cx="7242028" cy="400110"/>
          </a:xfrm>
          <a:prstGeom prst="rect">
            <a:avLst/>
          </a:prstGeom>
          <a:noFill/>
        </p:spPr>
        <p:txBody>
          <a:bodyPr wrap="square" rtlCol="0">
            <a:spAutoFit/>
          </a:bodyPr>
          <a:lstStyle/>
          <a:p>
            <a:pPr algn="ctr"/>
            <a:r>
              <a:rPr lang="en-US" sz="2000" b="1" dirty="0" smtClean="0">
                <a:solidFill>
                  <a:schemeClr val="bg1"/>
                </a:solidFill>
                <a:latin typeface="Arial" pitchFamily="34" charset="0"/>
                <a:cs typeface="Arial" pitchFamily="34" charset="0"/>
              </a:rPr>
              <a:t>MEASUREMENTS OF MONEY SUPPLY</a:t>
            </a:r>
            <a:endParaRPr lang="en-US" sz="2000" b="1" dirty="0">
              <a:solidFill>
                <a:schemeClr val="bg1"/>
              </a:solidFill>
              <a:latin typeface="Arial" pitchFamily="34" charset="0"/>
              <a:cs typeface="Arial" pitchFamily="34" charset="0"/>
            </a:endParaRPr>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Group 7"/>
          <p:cNvGrpSpPr/>
          <p:nvPr/>
        </p:nvGrpSpPr>
        <p:grpSpPr>
          <a:xfrm>
            <a:off x="-10705" y="-1"/>
            <a:ext cx="9144000" cy="6858001"/>
            <a:chOff x="0" y="-1"/>
            <a:chExt cx="9144000" cy="6858001"/>
          </a:xfrm>
        </p:grpSpPr>
        <p:pic>
          <p:nvPicPr>
            <p:cNvPr id="9" name="Picture 2" descr="C:\Users\manisha\Desktop\From Rajni\Jpegs_blank\PSS_LESSONS_PG4.jpg"/>
            <p:cNvPicPr>
              <a:picLocks noChangeAspect="1" noChangeArrowheads="1"/>
            </p:cNvPicPr>
            <p:nvPr/>
          </p:nvPicPr>
          <p:blipFill>
            <a:blip r:embed="rId2" cstate="print"/>
            <a:srcRect/>
            <a:stretch>
              <a:fillRect/>
            </a:stretch>
          </p:blipFill>
          <p:spPr bwMode="auto">
            <a:xfrm>
              <a:off x="0" y="-1"/>
              <a:ext cx="9144000" cy="6858001"/>
            </a:xfrm>
            <a:prstGeom prst="rect">
              <a:avLst/>
            </a:prstGeom>
            <a:noFill/>
          </p:spPr>
        </p:pic>
        <p:pic>
          <p:nvPicPr>
            <p:cNvPr id="10" name="Picture 23" descr="TMF Logo New.jpg"/>
            <p:cNvPicPr>
              <a:picLocks noChangeAspect="1"/>
            </p:cNvPicPr>
            <p:nvPr/>
          </p:nvPicPr>
          <p:blipFill>
            <a:blip r:embed="rId3" cstate="print"/>
            <a:srcRect/>
            <a:stretch>
              <a:fillRect/>
            </a:stretch>
          </p:blipFill>
          <p:spPr bwMode="auto">
            <a:xfrm>
              <a:off x="7773739" y="285750"/>
              <a:ext cx="974725" cy="681038"/>
            </a:xfrm>
            <a:prstGeom prst="rect">
              <a:avLst/>
            </a:prstGeom>
            <a:noFill/>
            <a:ln w="9525">
              <a:noFill/>
              <a:miter lim="800000"/>
              <a:headEnd/>
              <a:tailEnd/>
            </a:ln>
          </p:spPr>
        </p:pic>
      </p:grpSp>
      <p:sp>
        <p:nvSpPr>
          <p:cNvPr id="2" name="Rectangle 1"/>
          <p:cNvSpPr/>
          <p:nvPr/>
        </p:nvSpPr>
        <p:spPr>
          <a:xfrm>
            <a:off x="1043608" y="2143116"/>
            <a:ext cx="4032448" cy="701731"/>
          </a:xfrm>
          <a:prstGeom prst="rect">
            <a:avLst/>
          </a:prstGeom>
        </p:spPr>
        <p:txBody>
          <a:bodyPr wrap="square">
            <a:spAutoFit/>
          </a:bodyPr>
          <a:lstStyle/>
          <a:p>
            <a:pPr marL="342900" indent="-342900" algn="ctr">
              <a:spcBef>
                <a:spcPct val="20000"/>
              </a:spcBef>
            </a:pPr>
            <a:r>
              <a:rPr lang="en-US" b="1" dirty="0" smtClean="0">
                <a:latin typeface="Arial" pitchFamily="34" charset="0"/>
                <a:cs typeface="Arial" pitchFamily="34" charset="0"/>
              </a:rPr>
              <a:t>Do write to me at </a:t>
            </a:r>
          </a:p>
          <a:p>
            <a:pPr marL="342900" indent="-342900" algn="ctr">
              <a:spcBef>
                <a:spcPct val="20000"/>
              </a:spcBef>
            </a:pPr>
            <a:r>
              <a:rPr lang="en-US" b="1" dirty="0" smtClean="0">
                <a:latin typeface="Arial" pitchFamily="34" charset="0"/>
                <a:cs typeface="Arial" pitchFamily="34" charset="0"/>
                <a:hlinkClick r:id="rId4"/>
              </a:rPr>
              <a:t>professor@tataamc.com</a:t>
            </a:r>
            <a:endParaRPr lang="en-US" b="1" dirty="0">
              <a:latin typeface="Arial" pitchFamily="34" charset="0"/>
              <a:cs typeface="Arial" pitchFamily="34" charset="0"/>
            </a:endParaRPr>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latin typeface="Arial" pitchFamily="34" charset="0"/>
              <a:cs typeface="Arial" pitchFamily="34" charset="0"/>
            </a:endParaRPr>
          </a:p>
        </p:txBody>
      </p:sp>
      <p:sp>
        <p:nvSpPr>
          <p:cNvPr id="3" name="Content Placeholder 2"/>
          <p:cNvSpPr>
            <a:spLocks noGrp="1"/>
          </p:cNvSpPr>
          <p:nvPr>
            <p:ph idx="1"/>
          </p:nvPr>
        </p:nvSpPr>
        <p:spPr/>
        <p:txBody>
          <a:bodyPr/>
          <a:lstStyle/>
          <a:p>
            <a:endParaRPr lang="en-US">
              <a:latin typeface="Arial" pitchFamily="34" charset="0"/>
              <a:cs typeface="Arial" pitchFamily="34" charset="0"/>
            </a:endParaRPr>
          </a:p>
        </p:txBody>
      </p:sp>
      <p:pic>
        <p:nvPicPr>
          <p:cNvPr id="1026" name="Picture 2" descr="C:\Users\Ramiz\Desktop\From Rajni\Jpegs_blank\PSS_LESSONS_PG5.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5" name="TextBox 5"/>
          <p:cNvSpPr txBox="1"/>
          <p:nvPr/>
        </p:nvSpPr>
        <p:spPr>
          <a:xfrm>
            <a:off x="990600" y="457200"/>
            <a:ext cx="6934200" cy="430887"/>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en-US" sz="2200" b="1" dirty="0">
              <a:solidFill>
                <a:schemeClr val="bg1"/>
              </a:solidFill>
              <a:latin typeface="Arial" pitchFamily="34" charset="0"/>
              <a:cs typeface="Arial" pitchFamily="34" charset="0"/>
            </a:endParaRPr>
          </a:p>
        </p:txBody>
      </p:sp>
      <p:pic>
        <p:nvPicPr>
          <p:cNvPr id="10" name="Picture 2" descr="C:\Users\Ramiz\Desktop\From Rajni\Jpegs_blank\PSS_LESSONS_PG5.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11" name="TextBox 5"/>
          <p:cNvSpPr txBox="1"/>
          <p:nvPr/>
        </p:nvSpPr>
        <p:spPr>
          <a:xfrm>
            <a:off x="990600" y="457200"/>
            <a:ext cx="6934200" cy="430887"/>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2200" b="1" dirty="0" smtClean="0">
                <a:solidFill>
                  <a:schemeClr val="bg1"/>
                </a:solidFill>
                <a:latin typeface="Arial" pitchFamily="34" charset="0"/>
                <a:cs typeface="Arial" pitchFamily="34" charset="0"/>
              </a:rPr>
              <a:t>DISCLAIMER</a:t>
            </a:r>
            <a:endParaRPr lang="en-US" sz="2200" b="1" dirty="0">
              <a:solidFill>
                <a:schemeClr val="bg1"/>
              </a:solidFill>
              <a:latin typeface="Arial" pitchFamily="34" charset="0"/>
              <a:cs typeface="Arial" pitchFamily="34" charset="0"/>
            </a:endParaRPr>
          </a:p>
        </p:txBody>
      </p:sp>
      <p:sp>
        <p:nvSpPr>
          <p:cNvPr id="12" name="Rectangle 11"/>
          <p:cNvSpPr/>
          <p:nvPr/>
        </p:nvSpPr>
        <p:spPr>
          <a:xfrm>
            <a:off x="914400" y="1040857"/>
            <a:ext cx="7315200" cy="3093154"/>
          </a:xfrm>
          <a:prstGeom prst="rect">
            <a:avLst/>
          </a:prstGeom>
        </p:spPr>
        <p:txBody>
          <a:bodyPr wrap="square">
            <a:spAutoFit/>
          </a:bodyPr>
          <a:lstStyle/>
          <a:p>
            <a:pPr indent="-1588" algn="just">
              <a:lnSpc>
                <a:spcPct val="150000"/>
              </a:lnSpc>
              <a:buFontTx/>
              <a:buNone/>
            </a:pPr>
            <a:r>
              <a:rPr lang="en-US" sz="1300" b="1" dirty="0" smtClean="0">
                <a:latin typeface="Arial" pitchFamily="34" charset="0"/>
                <a:cs typeface="Arial" pitchFamily="34" charset="0"/>
              </a:rPr>
              <a:t>The views expressed in this lesson are for information purposes only and do not construe to be any investment, legal or taxation advice. The lesson is a conceptual representation and may not include several nuances that are associated and vital. The purpose of this lesson is to clarify the basics of the concept so that readers at large can relate and thereby take more interest in the product / concept. In a nutshell, Professor Simply Simple lessons should be seen from the perspective of it being a primer on financial concepts. The contents are topical in nature and held true at the time of creation of the lesson. This is not indicative of future market trends, nor is Tata Asset Management Ltd. attempting to predict the same. Reprinting any part of this material will be at your own risk. Tata Asset Management Ltd. will not be liable for the consequences of such action.</a:t>
            </a:r>
          </a:p>
        </p:txBody>
      </p:sp>
      <p:sp>
        <p:nvSpPr>
          <p:cNvPr id="13" name="Rectangle 12"/>
          <p:cNvSpPr/>
          <p:nvPr/>
        </p:nvSpPr>
        <p:spPr>
          <a:xfrm>
            <a:off x="990600" y="4529909"/>
            <a:ext cx="7162800" cy="923330"/>
          </a:xfrm>
          <a:prstGeom prst="rect">
            <a:avLst/>
          </a:prstGeom>
        </p:spPr>
        <p:txBody>
          <a:bodyPr wrap="square">
            <a:spAutoFit/>
          </a:bodyPr>
          <a:lstStyle/>
          <a:p>
            <a:pPr algn="ctr">
              <a:lnSpc>
                <a:spcPct val="150000"/>
              </a:lnSpc>
            </a:pPr>
            <a:r>
              <a:rPr lang="en-US" b="1" dirty="0" smtClean="0">
                <a:latin typeface="Arial" pitchFamily="34" charset="0"/>
                <a:cs typeface="Arial" pitchFamily="34" charset="0"/>
              </a:rPr>
              <a:t>Mutual Fund investments are subject to market risks,</a:t>
            </a:r>
            <a:br>
              <a:rPr lang="en-US" b="1" dirty="0" smtClean="0">
                <a:latin typeface="Arial" pitchFamily="34" charset="0"/>
                <a:cs typeface="Arial" pitchFamily="34" charset="0"/>
              </a:rPr>
            </a:br>
            <a:r>
              <a:rPr lang="en-US" b="1" dirty="0" smtClean="0">
                <a:latin typeface="Arial" pitchFamily="34" charset="0"/>
                <a:cs typeface="Arial" pitchFamily="34" charset="0"/>
              </a:rPr>
              <a:t>read all scheme related documents carefully.</a:t>
            </a:r>
            <a:endParaRPr lang="en-US" dirty="0">
              <a:latin typeface="Arial" pitchFamily="34" charset="0"/>
              <a:cs typeface="Arial" pitchFamily="34" charset="0"/>
            </a:endParaRPr>
          </a:p>
        </p:txBody>
      </p:sp>
      <p:cxnSp>
        <p:nvCxnSpPr>
          <p:cNvPr id="15" name="Straight Connector 14"/>
          <p:cNvCxnSpPr/>
          <p:nvPr/>
        </p:nvCxnSpPr>
        <p:spPr>
          <a:xfrm>
            <a:off x="914400" y="4331960"/>
            <a:ext cx="7315200" cy="0"/>
          </a:xfrm>
          <a:prstGeom prst="line">
            <a:avLst/>
          </a:prstGeom>
        </p:spPr>
        <p:style>
          <a:lnRef idx="1">
            <a:schemeClr val="dk1"/>
          </a:lnRef>
          <a:fillRef idx="0">
            <a:schemeClr val="dk1"/>
          </a:fillRef>
          <a:effectRef idx="0">
            <a:schemeClr val="dk1"/>
          </a:effectRef>
          <a:fontRef idx="minor">
            <a:schemeClr val="tx1"/>
          </a:fontRef>
        </p:style>
      </p:cxnSp>
    </p:spTree>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2876</TotalTime>
  <Words>1010</Words>
  <Application>Microsoft Office PowerPoint</Application>
  <PresentationFormat>On-screen Show (4:3)</PresentationFormat>
  <Paragraphs>83</Paragraphs>
  <Slides>17</Slides>
  <Notes>0</Notes>
  <HiddenSlides>0</HiddenSlides>
  <MMClips>0</MMClips>
  <ScaleCrop>false</ScaleCrop>
  <HeadingPairs>
    <vt:vector size="4" baseType="variant">
      <vt:variant>
        <vt:lpstr>Theme</vt:lpstr>
      </vt:variant>
      <vt:variant>
        <vt:i4>1</vt:i4>
      </vt:variant>
      <vt:variant>
        <vt:lpstr>Slide Titles</vt:lpstr>
      </vt:variant>
      <vt:variant>
        <vt:i4>17</vt:i4>
      </vt:variant>
    </vt:vector>
  </HeadingPairs>
  <TitlesOfParts>
    <vt:vector size="18" baseType="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manisha</dc:creator>
  <cp:lastModifiedBy>Mangesh</cp:lastModifiedBy>
  <cp:revision>395</cp:revision>
  <dcterms:created xsi:type="dcterms:W3CDTF">2013-10-22T09:41:31Z</dcterms:created>
  <dcterms:modified xsi:type="dcterms:W3CDTF">2014-03-07T14:46:44Z</dcterms:modified>
</cp:coreProperties>
</file>