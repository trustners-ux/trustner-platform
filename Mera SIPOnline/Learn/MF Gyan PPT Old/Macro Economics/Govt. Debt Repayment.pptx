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424" r:id="rId3"/>
    <p:sldId id="318" r:id="rId4"/>
    <p:sldId id="358" r:id="rId5"/>
    <p:sldId id="416" r:id="rId6"/>
    <p:sldId id="417" r:id="rId7"/>
    <p:sldId id="418" r:id="rId8"/>
    <p:sldId id="436" r:id="rId9"/>
    <p:sldId id="437" r:id="rId10"/>
    <p:sldId id="438" r:id="rId11"/>
    <p:sldId id="439" r:id="rId12"/>
    <p:sldId id="440" r:id="rId13"/>
    <p:sldId id="441" r:id="rId14"/>
    <p:sldId id="385"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20"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3812555"/>
            <a:ext cx="4464496" cy="2585323"/>
          </a:xfrm>
          <a:prstGeom prst="rect">
            <a:avLst/>
          </a:prstGeom>
        </p:spPr>
        <p:txBody>
          <a:bodyPr wrap="square">
            <a:spAutoFit/>
          </a:bodyPr>
          <a:lstStyle/>
          <a:p>
            <a:pPr>
              <a:lnSpc>
                <a:spcPct val="150000"/>
              </a:lnSpc>
            </a:pPr>
            <a:r>
              <a:rPr lang="en-US" b="1" dirty="0">
                <a:latin typeface="Arial" pitchFamily="34" charset="0"/>
                <a:cs typeface="Arial" pitchFamily="34" charset="0"/>
              </a:rPr>
              <a:t>These days, the world over, governments are borrowing more and more money from the market. You may have wondered how governments always manage to create a </a:t>
            </a:r>
            <a:r>
              <a:rPr lang="en-US" b="1" dirty="0" smtClean="0">
                <a:latin typeface="Arial" pitchFamily="34" charset="0"/>
                <a:cs typeface="Arial" pitchFamily="34" charset="0"/>
              </a:rPr>
              <a:t>mountain</a:t>
            </a:r>
            <a:br>
              <a:rPr lang="en-US" b="1" dirty="0" smtClean="0">
                <a:latin typeface="Arial" pitchFamily="34" charset="0"/>
                <a:cs typeface="Arial" pitchFamily="34" charset="0"/>
              </a:rPr>
            </a:br>
            <a:r>
              <a:rPr lang="en-US" b="1" dirty="0" smtClean="0">
                <a:latin typeface="Arial" pitchFamily="34" charset="0"/>
                <a:cs typeface="Arial" pitchFamily="34" charset="0"/>
              </a:rPr>
              <a:t>of </a:t>
            </a:r>
            <a:r>
              <a:rPr lang="en-US" b="1" dirty="0">
                <a:latin typeface="Arial" pitchFamily="34" charset="0"/>
                <a:cs typeface="Arial" pitchFamily="34" charset="0"/>
              </a:rPr>
              <a:t>debt for themselves. </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4726332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48" y="1086112"/>
            <a:ext cx="7458052" cy="1754326"/>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But </a:t>
            </a:r>
            <a:r>
              <a:rPr lang="en-US" b="1" dirty="0">
                <a:latin typeface="Arial" pitchFamily="34" charset="0"/>
                <a:cs typeface="Arial" pitchFamily="34" charset="0"/>
              </a:rPr>
              <a:t>ever wondered how governments ultimately repay their debts? </a:t>
            </a:r>
          </a:p>
          <a:p>
            <a:pPr>
              <a:lnSpc>
                <a:spcPct val="150000"/>
              </a:lnSpc>
              <a:buFontTx/>
              <a:buNone/>
            </a:pPr>
            <a:endParaRPr lang="en-US" b="1" dirty="0">
              <a:latin typeface="Arial" pitchFamily="34" charset="0"/>
              <a:cs typeface="Arial" pitchFamily="34" charset="0"/>
            </a:endParaRPr>
          </a:p>
          <a:p>
            <a:pPr>
              <a:lnSpc>
                <a:spcPct val="150000"/>
              </a:lnSpc>
              <a:buFontTx/>
              <a:buNone/>
            </a:pPr>
            <a:r>
              <a:rPr lang="en-US" b="1" dirty="0" smtClean="0">
                <a:latin typeface="Arial" pitchFamily="34" charset="0"/>
                <a:cs typeface="Arial" pitchFamily="34" charset="0"/>
              </a:rPr>
              <a:t>There </a:t>
            </a:r>
            <a:r>
              <a:rPr lang="en-US" b="1" dirty="0">
                <a:latin typeface="Arial" pitchFamily="34" charset="0"/>
                <a:cs typeface="Arial" pitchFamily="34" charset="0"/>
              </a:rPr>
              <a:t>are several ways by which a government actually repays its debts. I will try to explain some of them one by one…</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632282"/>
            <a:ext cx="3672408" cy="1292662"/>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Govt</a:t>
            </a:r>
            <a:r>
              <a:rPr lang="en-US" b="1" dirty="0">
                <a:latin typeface="Arial" pitchFamily="34" charset="0"/>
                <a:cs typeface="Arial" pitchFamily="34" charset="0"/>
              </a:rPr>
              <a:t>. Debt Repayment</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 </a:t>
            </a:r>
            <a:r>
              <a:rPr lang="en-US" b="1" baseline="70000" dirty="0">
                <a:latin typeface="Arial" pitchFamily="34" charset="0"/>
                <a:cs typeface="Arial" pitchFamily="34" charset="0"/>
              </a:rPr>
              <a:t>TM</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124744"/>
            <a:ext cx="7267312" cy="3831818"/>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Well</a:t>
            </a:r>
            <a:r>
              <a:rPr lang="en-US" b="1" dirty="0">
                <a:latin typeface="Arial" pitchFamily="34" charset="0"/>
                <a:cs typeface="Arial" pitchFamily="34" charset="0"/>
              </a:rPr>
              <a:t>, borrowing money is obviously not a problem for any government</a:t>
            </a:r>
            <a:r>
              <a:rPr lang="en-US" b="1" dirty="0" smtClean="0">
                <a:latin typeface="Arial" pitchFamily="34" charset="0"/>
                <a:cs typeface="Arial" pitchFamily="34" charset="0"/>
              </a:rPr>
              <a:t>.</a:t>
            </a:r>
          </a:p>
          <a:p>
            <a:pPr>
              <a:lnSpc>
                <a:spcPct val="150000"/>
              </a:lnSpc>
              <a:buFontTx/>
              <a:buNone/>
            </a:pPr>
            <a:endParaRPr lang="en-US" b="1" dirty="0">
              <a:latin typeface="Arial" pitchFamily="34" charset="0"/>
              <a:cs typeface="Arial" pitchFamily="34" charset="0"/>
            </a:endParaRPr>
          </a:p>
          <a:p>
            <a:pPr>
              <a:lnSpc>
                <a:spcPct val="150000"/>
              </a:lnSpc>
              <a:buFontTx/>
              <a:buNone/>
            </a:pPr>
            <a:r>
              <a:rPr lang="en-US" b="1" dirty="0" smtClean="0">
                <a:latin typeface="Arial" pitchFamily="34" charset="0"/>
                <a:cs typeface="Arial" pitchFamily="34" charset="0"/>
              </a:rPr>
              <a:t>After </a:t>
            </a:r>
            <a:r>
              <a:rPr lang="en-US" b="1" dirty="0">
                <a:latin typeface="Arial" pitchFamily="34" charset="0"/>
                <a:cs typeface="Arial" pitchFamily="34" charset="0"/>
              </a:rPr>
              <a:t>all, a government’s promise to repay does not require any collateral. </a:t>
            </a:r>
          </a:p>
          <a:p>
            <a:pPr>
              <a:lnSpc>
                <a:spcPct val="150000"/>
              </a:lnSpc>
              <a:buFontTx/>
              <a:buNone/>
            </a:pPr>
            <a:endParaRPr lang="en-US" b="1" dirty="0">
              <a:latin typeface="Arial" pitchFamily="34" charset="0"/>
              <a:cs typeface="Arial" pitchFamily="34" charset="0"/>
            </a:endParaRPr>
          </a:p>
          <a:p>
            <a:pPr>
              <a:lnSpc>
                <a:spcPct val="150000"/>
              </a:lnSpc>
              <a:buFontTx/>
              <a:buNone/>
            </a:pPr>
            <a:r>
              <a:rPr lang="en-US" b="1" dirty="0" smtClean="0">
                <a:latin typeface="Arial" pitchFamily="34" charset="0"/>
                <a:cs typeface="Arial" pitchFamily="34" charset="0"/>
              </a:rPr>
              <a:t>But </a:t>
            </a:r>
            <a:r>
              <a:rPr lang="en-US" b="1" dirty="0">
                <a:latin typeface="Arial" pitchFamily="34" charset="0"/>
                <a:cs typeface="Arial" pitchFamily="34" charset="0"/>
              </a:rPr>
              <a:t>we need to understand a little bit about how governments manage their finances first before moving on to the repayment of their debts.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980728"/>
            <a:ext cx="7699360"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start with…</a:t>
            </a:r>
            <a:endParaRPr lang="en-US" b="1" dirty="0">
              <a:latin typeface="Arial" pitchFamily="34" charset="0"/>
              <a:cs typeface="Arial" pitchFamily="34" charset="0"/>
            </a:endParaRPr>
          </a:p>
        </p:txBody>
      </p:sp>
      <p:sp>
        <p:nvSpPr>
          <p:cNvPr id="6" name="Rectangle 5"/>
          <p:cNvSpPr/>
          <p:nvPr/>
        </p:nvSpPr>
        <p:spPr>
          <a:xfrm>
            <a:off x="722096" y="1556792"/>
            <a:ext cx="7450304"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Just like individuals, a government has to constantly balance income and expenditure. </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Governments have only limited sources of income, which look like peanuts when we look at the mountain of expenditure. </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So, before planning anything, the government does need to find some extra money.</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But where is this extra money going to come from?</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609829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980728"/>
            <a:ext cx="7242029" cy="465705"/>
          </a:xfrm>
          <a:prstGeom prst="rect">
            <a:avLst/>
          </a:prstGeom>
        </p:spPr>
        <p:txBody>
          <a:bodyPr wrap="square">
            <a:spAutoFit/>
          </a:bodyPr>
          <a:lstStyle/>
          <a:p>
            <a:pPr algn="ctr">
              <a:lnSpc>
                <a:spcPct val="150000"/>
              </a:lnSpc>
              <a:spcBef>
                <a:spcPct val="50000"/>
              </a:spcBef>
            </a:pPr>
            <a:r>
              <a:rPr lang="en-US" b="1" dirty="0">
                <a:latin typeface="Arial" pitchFamily="34" charset="0"/>
                <a:cs typeface="Arial" pitchFamily="34" charset="0"/>
              </a:rPr>
              <a:t>Now…</a:t>
            </a:r>
            <a:endParaRPr lang="en-US" b="1" dirty="0">
              <a:latin typeface="Arial" pitchFamily="34" charset="0"/>
              <a:cs typeface="Arial" pitchFamily="34" charset="0"/>
            </a:endParaRPr>
          </a:p>
        </p:txBody>
      </p:sp>
      <p:sp>
        <p:nvSpPr>
          <p:cNvPr id="7" name="Rectangle 6"/>
          <p:cNvSpPr/>
          <p:nvPr/>
        </p:nvSpPr>
        <p:spPr>
          <a:xfrm>
            <a:off x="714348" y="1412776"/>
            <a:ext cx="7458052" cy="39703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Although default by a government is not common, we can’t say that it is completely improbable.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Sometimes governments too default in the repayment of their debts.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But you would hear about a government defaulting only in extreme situations.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By &amp; large, the track record of governments repaying debts appears as clean as a whistle.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There are several ways by which a government actually repays its debts…</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980728"/>
            <a:ext cx="7242029" cy="465705"/>
          </a:xfrm>
          <a:prstGeom prst="rect">
            <a:avLst/>
          </a:prstGeom>
        </p:spPr>
        <p:txBody>
          <a:bodyPr wrap="square">
            <a:spAutoFit/>
          </a:bodyPr>
          <a:lstStyle/>
          <a:p>
            <a:pPr algn="ctr">
              <a:lnSpc>
                <a:spcPct val="150000"/>
              </a:lnSpc>
              <a:spcBef>
                <a:spcPct val="50000"/>
              </a:spcBef>
            </a:pPr>
            <a:r>
              <a:rPr lang="en-US" b="1" dirty="0">
                <a:latin typeface="Arial" pitchFamily="34" charset="0"/>
                <a:cs typeface="Arial" pitchFamily="34" charset="0"/>
              </a:rPr>
              <a:t>First and foremost… </a:t>
            </a:r>
            <a:endParaRPr lang="en-US" b="1" dirty="0">
              <a:latin typeface="Arial" pitchFamily="34" charset="0"/>
              <a:cs typeface="Arial" pitchFamily="34" charset="0"/>
            </a:endParaRPr>
          </a:p>
        </p:txBody>
      </p:sp>
      <p:sp>
        <p:nvSpPr>
          <p:cNvPr id="7" name="Rectangle 6"/>
          <p:cNvSpPr/>
          <p:nvPr/>
        </p:nvSpPr>
        <p:spPr>
          <a:xfrm>
            <a:off x="714348" y="1412776"/>
            <a:ext cx="7458052" cy="38318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For actually repaying its debt, a government needs to develop a fiscal surplus that can be used to buy back existing government securities.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A fiscal surplus can arise only if the government’s income exceeds its expenditure.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To make that happen, a government would need to improve its income and reduce its expenses.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Unfortunately, there is no fixed formula of how to reduce expenses, but when it comes to improving income, all governments have to use their famous weapon: </a:t>
            </a:r>
            <a:r>
              <a:rPr lang="en-US" sz="1600" b="1" i="1" dirty="0">
                <a:latin typeface="Arial" pitchFamily="34" charset="0"/>
                <a:cs typeface="Arial" pitchFamily="34" charset="0"/>
              </a:rPr>
              <a:t>taxes. </a:t>
            </a:r>
            <a:endParaRPr lang="en-US" sz="1600" b="1" i="1" dirty="0">
              <a:latin typeface="Arial" pitchFamily="34" charset="0"/>
              <a:cs typeface="Arial" pitchFamily="34" charset="0"/>
            </a:endParaRPr>
          </a:p>
        </p:txBody>
      </p:sp>
    </p:spTree>
    <p:extLst>
      <p:ext uri="{BB962C8B-B14F-4D97-AF65-F5344CB8AC3E}">
        <p14:creationId xmlns:p14="http://schemas.microsoft.com/office/powerpoint/2010/main" val="29699543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980728"/>
            <a:ext cx="7242029"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Here’s how…</a:t>
            </a:r>
            <a:endParaRPr lang="en-US" b="1" dirty="0">
              <a:latin typeface="Arial" pitchFamily="34" charset="0"/>
              <a:cs typeface="Arial" pitchFamily="34" charset="0"/>
            </a:endParaRPr>
          </a:p>
        </p:txBody>
      </p:sp>
      <p:sp>
        <p:nvSpPr>
          <p:cNvPr id="7" name="Rectangle 6"/>
          <p:cNvSpPr/>
          <p:nvPr/>
        </p:nvSpPr>
        <p:spPr>
          <a:xfrm>
            <a:off x="714348" y="1412776"/>
            <a:ext cx="7458052" cy="3780522"/>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More taxes, both indirect and direct, help governments mobilize more resources, part of which can be used for the repayment of debts.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But taxes in themselves may not be enough to repay all debts.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Taxes are very helpful in meeting the yearly payments of interest, but to actually retire the mountain of debts, the government may need to think of other strategies.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363334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980728"/>
            <a:ext cx="7242029"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What other strategies can the government follow?</a:t>
            </a:r>
            <a:endParaRPr lang="en-US" b="1" dirty="0">
              <a:latin typeface="Arial" pitchFamily="34" charset="0"/>
              <a:cs typeface="Arial" pitchFamily="34" charset="0"/>
            </a:endParaRPr>
          </a:p>
        </p:txBody>
      </p:sp>
      <p:sp>
        <p:nvSpPr>
          <p:cNvPr id="7" name="Rectangle 6"/>
          <p:cNvSpPr/>
          <p:nvPr/>
        </p:nvSpPr>
        <p:spPr>
          <a:xfrm>
            <a:off x="714348" y="1412776"/>
            <a:ext cx="7746084" cy="3600986"/>
          </a:xfrm>
          <a:prstGeom prst="rect">
            <a:avLst/>
          </a:prstGeom>
        </p:spPr>
        <p:txBody>
          <a:bodyPr wrap="square">
            <a:spAutoFit/>
          </a:bodyPr>
          <a:lstStyle/>
          <a:p>
            <a:pPr marL="511175" indent="-511175">
              <a:lnSpc>
                <a:spcPct val="150000"/>
              </a:lnSpc>
              <a:buFont typeface="Wingdings" pitchFamily="2" charset="2"/>
              <a:buChar char="q"/>
              <a:tabLst>
                <a:tab pos="465138" algn="l"/>
              </a:tabLst>
            </a:pPr>
            <a:r>
              <a:rPr lang="en-US" sz="1600" b="1" dirty="0">
                <a:latin typeface="Arial" pitchFamily="34" charset="0"/>
                <a:cs typeface="Arial" pitchFamily="34" charset="0"/>
              </a:rPr>
              <a:t>The government can use public sector companies to its advantage. </a:t>
            </a:r>
          </a:p>
          <a:p>
            <a:pPr marL="511175" indent="-511175">
              <a:lnSpc>
                <a:spcPct val="150000"/>
              </a:lnSpc>
              <a:buFont typeface="Wingdings" pitchFamily="2" charset="2"/>
              <a:buChar char="q"/>
              <a:tabLst>
                <a:tab pos="465138" algn="l"/>
              </a:tabLst>
            </a:pPr>
            <a:endParaRPr lang="en-US" sz="1200" b="1" dirty="0">
              <a:latin typeface="Arial" pitchFamily="34" charset="0"/>
              <a:cs typeface="Arial" pitchFamily="34" charset="0"/>
            </a:endParaRPr>
          </a:p>
          <a:p>
            <a:pPr marL="511175" indent="-511175">
              <a:lnSpc>
                <a:spcPct val="150000"/>
              </a:lnSpc>
              <a:buFont typeface="Wingdings" pitchFamily="2" charset="2"/>
              <a:buChar char="q"/>
              <a:tabLst>
                <a:tab pos="465138" algn="l"/>
              </a:tabLst>
            </a:pPr>
            <a:r>
              <a:rPr lang="en-US" sz="1600" b="1" dirty="0">
                <a:latin typeface="Arial" pitchFamily="34" charset="0"/>
                <a:cs typeface="Arial" pitchFamily="34" charset="0"/>
              </a:rPr>
              <a:t>This can be done in two ways. </a:t>
            </a:r>
          </a:p>
          <a:p>
            <a:pPr marL="511175" indent="-511175">
              <a:lnSpc>
                <a:spcPct val="150000"/>
              </a:lnSpc>
              <a:buFont typeface="Wingdings" pitchFamily="2" charset="2"/>
              <a:buChar char="q"/>
              <a:tabLst>
                <a:tab pos="465138" algn="l"/>
              </a:tabLst>
            </a:pPr>
            <a:endParaRPr lang="en-US" sz="1200" b="1" dirty="0">
              <a:latin typeface="Arial" pitchFamily="34" charset="0"/>
              <a:cs typeface="Arial" pitchFamily="34" charset="0"/>
            </a:endParaRPr>
          </a:p>
          <a:p>
            <a:pPr marL="511175" indent="-511175">
              <a:lnSpc>
                <a:spcPct val="150000"/>
              </a:lnSpc>
              <a:buFont typeface="Wingdings" pitchFamily="2" charset="2"/>
              <a:buChar char="q"/>
              <a:tabLst>
                <a:tab pos="465138" algn="l"/>
              </a:tabLst>
            </a:pPr>
            <a:r>
              <a:rPr lang="en-US" sz="1600" b="1" dirty="0">
                <a:latin typeface="Arial" pitchFamily="34" charset="0"/>
                <a:cs typeface="Arial" pitchFamily="34" charset="0"/>
              </a:rPr>
              <a:t>First option:</a:t>
            </a:r>
          </a:p>
          <a:p>
            <a:pPr marL="914400" lvl="1" indent="-457200">
              <a:lnSpc>
                <a:spcPct val="150000"/>
              </a:lnSpc>
              <a:tabLst>
                <a:tab pos="914400" algn="l"/>
              </a:tabLst>
            </a:pPr>
            <a:r>
              <a:rPr lang="en-US" sz="1600" b="1" dirty="0" smtClean="0">
                <a:latin typeface="Arial" pitchFamily="34" charset="0"/>
                <a:cs typeface="Arial" pitchFamily="34" charset="0"/>
              </a:rPr>
              <a:t>-	The </a:t>
            </a:r>
            <a:r>
              <a:rPr lang="en-US" sz="1600" b="1" dirty="0">
                <a:latin typeface="Arial" pitchFamily="34" charset="0"/>
                <a:cs typeface="Arial" pitchFamily="34" charset="0"/>
              </a:rPr>
              <a:t>government can choose to keep the public sector companies with itself and use their yearly dividends to repay debts. </a:t>
            </a:r>
          </a:p>
          <a:p>
            <a:pPr marL="914400" lvl="1" indent="-457200">
              <a:lnSpc>
                <a:spcPct val="150000"/>
              </a:lnSpc>
              <a:tabLst>
                <a:tab pos="914400" algn="l"/>
              </a:tabLst>
            </a:pPr>
            <a:r>
              <a:rPr lang="en-US" sz="1600" b="1" dirty="0" smtClean="0">
                <a:latin typeface="Arial" pitchFamily="34" charset="0"/>
                <a:cs typeface="Arial" pitchFamily="34" charset="0"/>
              </a:rPr>
              <a:t>-	This </a:t>
            </a:r>
            <a:r>
              <a:rPr lang="en-US" sz="1600" b="1" dirty="0">
                <a:latin typeface="Arial" pitchFamily="34" charset="0"/>
                <a:cs typeface="Arial" pitchFamily="34" charset="0"/>
              </a:rPr>
              <a:t>will produce slow but steady results. </a:t>
            </a:r>
          </a:p>
          <a:p>
            <a:pPr marL="914400" lvl="1" indent="-457200">
              <a:lnSpc>
                <a:spcPct val="150000"/>
              </a:lnSpc>
              <a:tabLst>
                <a:tab pos="914400" algn="l"/>
              </a:tabLst>
            </a:pPr>
            <a:r>
              <a:rPr lang="en-US" sz="1600" b="1" dirty="0" smtClean="0">
                <a:latin typeface="Arial" pitchFamily="34" charset="0"/>
                <a:cs typeface="Arial" pitchFamily="34" charset="0"/>
              </a:rPr>
              <a:t>-	Every </a:t>
            </a:r>
            <a:r>
              <a:rPr lang="en-US" sz="1600" b="1" dirty="0">
                <a:latin typeface="Arial" pitchFamily="34" charset="0"/>
                <a:cs typeface="Arial" pitchFamily="34" charset="0"/>
              </a:rPr>
              <a:t>year, a part of the debt would get repaid, provided the government is not planning to use dividends for any other purpose. </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40531702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980728"/>
            <a:ext cx="7242029"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Otherwise…</a:t>
            </a:r>
            <a:endParaRPr lang="en-US" b="1" dirty="0">
              <a:latin typeface="Arial" pitchFamily="34" charset="0"/>
              <a:cs typeface="Arial" pitchFamily="34" charset="0"/>
            </a:endParaRPr>
          </a:p>
        </p:txBody>
      </p:sp>
      <p:sp>
        <p:nvSpPr>
          <p:cNvPr id="7" name="Rectangle 6"/>
          <p:cNvSpPr/>
          <p:nvPr/>
        </p:nvSpPr>
        <p:spPr>
          <a:xfrm>
            <a:off x="714348" y="1412776"/>
            <a:ext cx="7746084" cy="3785652"/>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Second option:</a:t>
            </a:r>
          </a:p>
          <a:p>
            <a:pPr marL="914400" lvl="1" indent="-457200">
              <a:lnSpc>
                <a:spcPct val="150000"/>
              </a:lnSpc>
              <a:tabLst>
                <a:tab pos="914400" algn="l"/>
              </a:tabLst>
            </a:pPr>
            <a:r>
              <a:rPr lang="en-US" sz="1600" b="1" dirty="0" smtClean="0">
                <a:latin typeface="Arial" pitchFamily="34" charset="0"/>
                <a:cs typeface="Arial" pitchFamily="34" charset="0"/>
              </a:rPr>
              <a:t>-	The </a:t>
            </a:r>
            <a:r>
              <a:rPr lang="en-US" sz="1600" b="1" dirty="0">
                <a:latin typeface="Arial" pitchFamily="34" charset="0"/>
                <a:cs typeface="Arial" pitchFamily="34" charset="0"/>
              </a:rPr>
              <a:t>government can choose to divest its holding in public sector companies at the best available opportunity and use the proceeds for repayment of debts. </a:t>
            </a:r>
          </a:p>
          <a:p>
            <a:pPr marL="914400" lvl="1" indent="-457200">
              <a:lnSpc>
                <a:spcPct val="150000"/>
              </a:lnSpc>
              <a:tabLst>
                <a:tab pos="914400" algn="l"/>
              </a:tabLst>
            </a:pPr>
            <a:r>
              <a:rPr lang="en-US" sz="1600" b="1" dirty="0" smtClean="0">
                <a:latin typeface="Arial" pitchFamily="34" charset="0"/>
                <a:cs typeface="Arial" pitchFamily="34" charset="0"/>
              </a:rPr>
              <a:t>-	Disinvestment </a:t>
            </a:r>
            <a:r>
              <a:rPr lang="en-US" sz="1600" b="1" dirty="0">
                <a:latin typeface="Arial" pitchFamily="34" charset="0"/>
                <a:cs typeface="Arial" pitchFamily="34" charset="0"/>
              </a:rPr>
              <a:t>produces immediate results. </a:t>
            </a:r>
          </a:p>
          <a:p>
            <a:pPr marL="914400" lvl="1" indent="-457200">
              <a:lnSpc>
                <a:spcPct val="150000"/>
              </a:lnSpc>
              <a:tabLst>
                <a:tab pos="914400" algn="l"/>
              </a:tabLst>
            </a:pPr>
            <a:r>
              <a:rPr lang="en-US" sz="1600" b="1" dirty="0" smtClean="0">
                <a:latin typeface="Arial" pitchFamily="34" charset="0"/>
                <a:cs typeface="Arial" pitchFamily="34" charset="0"/>
              </a:rPr>
              <a:t>-	A </a:t>
            </a:r>
            <a:r>
              <a:rPr lang="en-US" sz="1600" b="1" dirty="0">
                <a:latin typeface="Arial" pitchFamily="34" charset="0"/>
                <a:cs typeface="Arial" pitchFamily="34" charset="0"/>
              </a:rPr>
              <a:t>mountain of money received from disinvestment can be used to retire a mountain of debt in one shot. </a:t>
            </a:r>
          </a:p>
          <a:p>
            <a:pPr marL="914400" lvl="1" indent="-457200">
              <a:lnSpc>
                <a:spcPct val="150000"/>
              </a:lnSpc>
              <a:tabLst>
                <a:tab pos="914400" algn="l"/>
              </a:tabLst>
            </a:pPr>
            <a:r>
              <a:rPr lang="en-US" sz="1600" b="1" dirty="0" smtClean="0">
                <a:latin typeface="Arial" pitchFamily="34" charset="0"/>
                <a:cs typeface="Arial" pitchFamily="34" charset="0"/>
              </a:rPr>
              <a:t>-	Most </a:t>
            </a:r>
            <a:r>
              <a:rPr lang="en-US" sz="1600" b="1" dirty="0">
                <a:latin typeface="Arial" pitchFamily="34" charset="0"/>
                <a:cs typeface="Arial" pitchFamily="34" charset="0"/>
              </a:rPr>
              <a:t>governments around the world that are now putting their money to bail out private enterprises expect to repay their debt by profitably divesting their holdings when the right time comes. </a:t>
            </a:r>
          </a:p>
        </p:txBody>
      </p:sp>
    </p:spTree>
    <p:extLst>
      <p:ext uri="{BB962C8B-B14F-4D97-AF65-F5344CB8AC3E}">
        <p14:creationId xmlns:p14="http://schemas.microsoft.com/office/powerpoint/2010/main" val="32014809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980728"/>
            <a:ext cx="7242029" cy="465705"/>
          </a:xfrm>
          <a:prstGeom prst="rect">
            <a:avLst/>
          </a:prstGeom>
        </p:spPr>
        <p:txBody>
          <a:bodyPr wrap="square">
            <a:spAutoFit/>
          </a:bodyPr>
          <a:lstStyle/>
          <a:p>
            <a:pPr algn="ctr">
              <a:lnSpc>
                <a:spcPct val="150000"/>
              </a:lnSpc>
            </a:pPr>
            <a:r>
              <a:rPr lang="en-US" b="1" dirty="0">
                <a:latin typeface="Arial" pitchFamily="34" charset="0"/>
                <a:cs typeface="Arial" pitchFamily="34" charset="0"/>
              </a:rPr>
              <a:t>But what if nothing works?</a:t>
            </a:r>
            <a:endParaRPr lang="en-US" b="1" dirty="0">
              <a:latin typeface="Arial" pitchFamily="34" charset="0"/>
              <a:cs typeface="Arial" pitchFamily="34" charset="0"/>
            </a:endParaRPr>
          </a:p>
        </p:txBody>
      </p:sp>
      <p:sp>
        <p:nvSpPr>
          <p:cNvPr id="7" name="Rectangle 6"/>
          <p:cNvSpPr/>
          <p:nvPr/>
        </p:nvSpPr>
        <p:spPr>
          <a:xfrm>
            <a:off x="714348" y="1412776"/>
            <a:ext cx="7746084" cy="38318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When nothing works, governments can resort to their least popular choice: Borrow money to repay existing debt.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But that’s not all. When borrowing becomes difficult, governments may even resort to printing notes.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Such a course of action may lead to hyperinflation, which indicates that the government has gone bankrupt.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So even if you get your money back, it is a worthless piece of paper. Luckily, we have many sensible central banks to prevent things from coming to such a pass. </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13950036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980728"/>
            <a:ext cx="7242029"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Up</a:t>
            </a:r>
            <a:endParaRPr lang="en-US" b="1" dirty="0">
              <a:latin typeface="Arial" pitchFamily="34" charset="0"/>
              <a:cs typeface="Arial" pitchFamily="34" charset="0"/>
            </a:endParaRPr>
          </a:p>
        </p:txBody>
      </p:sp>
      <p:sp>
        <p:nvSpPr>
          <p:cNvPr id="7" name="Rectangle 6"/>
          <p:cNvSpPr/>
          <p:nvPr/>
        </p:nvSpPr>
        <p:spPr>
          <a:xfrm>
            <a:off x="714348" y="1412776"/>
            <a:ext cx="7746084" cy="336502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What: Governments repay their debts in several ways.</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When: To actually repay its debt, a government needs to develop a fiscal surplus, but sometimes that may not be possible.</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How: Taxes, Public Sector Companies &amp; borrowing </a:t>
            </a:r>
            <a:r>
              <a:rPr lang="en-US" b="1" dirty="0" err="1">
                <a:latin typeface="Arial" pitchFamily="34" charset="0"/>
                <a:cs typeface="Arial" pitchFamily="34" charset="0"/>
              </a:rPr>
              <a:t>programmes</a:t>
            </a:r>
            <a:r>
              <a:rPr lang="en-US" b="1" dirty="0">
                <a:latin typeface="Arial" pitchFamily="34" charset="0"/>
                <a:cs typeface="Arial" pitchFamily="34" charset="0"/>
              </a:rPr>
              <a:t> may be used. In the worst case, a government may resort to printing more notes to repay existing debt.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7484788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5025950"/>
            <a:ext cx="4104456" cy="923330"/>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understood the concept </a:t>
            </a:r>
            <a:r>
              <a:rPr lang="en-US" b="1" dirty="0" smtClean="0">
                <a:latin typeface="Arial" pitchFamily="34" charset="0"/>
                <a:cs typeface="Arial" pitchFamily="34" charset="0"/>
              </a:rPr>
              <a:t>of Govt</a:t>
            </a:r>
            <a:r>
              <a:rPr lang="en-US" b="1" dirty="0">
                <a:latin typeface="Arial" pitchFamily="34" charset="0"/>
                <a:cs typeface="Arial" pitchFamily="34" charset="0"/>
              </a:rPr>
              <a:t>. Debt Repayment</a:t>
            </a:r>
            <a:endParaRPr lang="en-US" b="1" dirty="0">
              <a:latin typeface="Arial" pitchFamily="34" charset="0"/>
              <a:cs typeface="Arial" pitchFamily="34" charset="0"/>
            </a:endParaRP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GOVT. DEBT REPAYMENT</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7779845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61183"/>
            <a:ext cx="4032448"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Do write to me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2530</TotalTime>
  <Words>878</Words>
  <Application>Microsoft Office PowerPoint</Application>
  <PresentationFormat>On-screen Show (4:3)</PresentationFormat>
  <Paragraphs>91</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342</cp:revision>
  <dcterms:created xsi:type="dcterms:W3CDTF">2013-10-22T09:41:31Z</dcterms:created>
  <dcterms:modified xsi:type="dcterms:W3CDTF">2014-03-06T15:38:15Z</dcterms:modified>
</cp:coreProperties>
</file>