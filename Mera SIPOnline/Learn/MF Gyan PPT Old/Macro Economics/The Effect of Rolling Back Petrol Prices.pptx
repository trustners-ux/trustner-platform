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58" r:id="rId3"/>
    <p:sldId id="353" r:id="rId4"/>
    <p:sldId id="318" r:id="rId5"/>
    <p:sldId id="334" r:id="rId6"/>
    <p:sldId id="346" r:id="rId7"/>
    <p:sldId id="380" r:id="rId8"/>
    <p:sldId id="381" r:id="rId9"/>
    <p:sldId id="382" r:id="rId10"/>
    <p:sldId id="370" r:id="rId11"/>
    <p:sldId id="383" r:id="rId12"/>
    <p:sldId id="335"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848580"/>
            <a:ext cx="4248472" cy="292388"/>
          </a:xfrm>
          <a:prstGeom prst="rect">
            <a:avLst/>
          </a:prstGeom>
          <a:noFill/>
        </p:spPr>
        <p:txBody>
          <a:bodyPr wrap="square" rtlCol="0">
            <a:spAutoFit/>
          </a:bodyPr>
          <a:lstStyle/>
          <a:p>
            <a:pPr algn="ctr"/>
            <a:r>
              <a:rPr lang="en-US" sz="1300" b="1" dirty="0" smtClean="0">
                <a:solidFill>
                  <a:schemeClr val="bg1"/>
                </a:solidFill>
                <a:latin typeface="Arial" pitchFamily="34" charset="0"/>
                <a:cs typeface="Arial" pitchFamily="34" charset="0"/>
              </a:rPr>
              <a:t> THE EFFECT OF ROLLING BACK PETROL PRICES</a:t>
            </a:r>
            <a:endParaRPr lang="en-US" sz="13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547664" y="2046370"/>
            <a:ext cx="3240360" cy="878574"/>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 The Effect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Rolling </a:t>
            </a:r>
            <a:r>
              <a:rPr lang="en-US" b="1" dirty="0">
                <a:latin typeface="Arial" pitchFamily="34" charset="0"/>
                <a:cs typeface="Arial" pitchFamily="34" charset="0"/>
              </a:rPr>
              <a:t>Back Petrol Prices</a:t>
            </a: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3968" y="3723997"/>
            <a:ext cx="4104456" cy="2585323"/>
          </a:xfrm>
          <a:prstGeom prst="rect">
            <a:avLst/>
          </a:prstGeom>
        </p:spPr>
        <p:txBody>
          <a:bodyPr wrap="square">
            <a:spAutoFit/>
          </a:bodyPr>
          <a:lstStyle/>
          <a:p>
            <a:pPr>
              <a:lnSpc>
                <a:spcPct val="150000"/>
              </a:lnSpc>
            </a:pPr>
            <a:r>
              <a:rPr lang="en-US" b="1" dirty="0">
                <a:latin typeface="Arial" pitchFamily="34" charset="0"/>
                <a:cs typeface="Arial" pitchFamily="34" charset="0"/>
              </a:rPr>
              <a:t>While Petrol prices seem to be running away astray, what </a:t>
            </a:r>
            <a:r>
              <a:rPr lang="en-US" b="1" dirty="0" smtClean="0">
                <a:latin typeface="Arial" pitchFamily="34" charset="0"/>
                <a:cs typeface="Arial" pitchFamily="34" charset="0"/>
              </a:rPr>
              <a:t>one</a:t>
            </a:r>
            <a:br>
              <a:rPr lang="en-US" b="1" dirty="0" smtClean="0">
                <a:latin typeface="Arial" pitchFamily="34" charset="0"/>
                <a:cs typeface="Arial" pitchFamily="34" charset="0"/>
              </a:rPr>
            </a:br>
            <a:r>
              <a:rPr lang="en-US" b="1" dirty="0" smtClean="0">
                <a:latin typeface="Arial" pitchFamily="34" charset="0"/>
                <a:cs typeface="Arial" pitchFamily="34" charset="0"/>
              </a:rPr>
              <a:t>must </a:t>
            </a:r>
            <a:r>
              <a:rPr lang="en-US" b="1" dirty="0">
                <a:latin typeface="Arial" pitchFamily="34" charset="0"/>
                <a:cs typeface="Arial" pitchFamily="34" charset="0"/>
              </a:rPr>
              <a:t>understand that </a:t>
            </a:r>
            <a:r>
              <a:rPr lang="en-US" b="1" dirty="0" smtClean="0">
                <a:latin typeface="Arial" pitchFamily="34" charset="0"/>
                <a:cs typeface="Arial" pitchFamily="34" charset="0"/>
              </a:rPr>
              <a:t>causing</a:t>
            </a:r>
            <a:br>
              <a:rPr lang="en-US" b="1" dirty="0" smtClean="0">
                <a:latin typeface="Arial" pitchFamily="34" charset="0"/>
                <a:cs typeface="Arial" pitchFamily="34" charset="0"/>
              </a:rPr>
            </a:br>
            <a:r>
              <a:rPr lang="en-US" b="1" dirty="0" smtClean="0">
                <a:latin typeface="Arial" pitchFamily="34" charset="0"/>
                <a:cs typeface="Arial" pitchFamily="34" charset="0"/>
              </a:rPr>
              <a:t>“Bharat </a:t>
            </a:r>
            <a:r>
              <a:rPr lang="en-US" b="1" dirty="0" err="1">
                <a:latin typeface="Arial" pitchFamily="34" charset="0"/>
                <a:cs typeface="Arial" pitchFamily="34" charset="0"/>
              </a:rPr>
              <a:t>Bandh</a:t>
            </a:r>
            <a:r>
              <a:rPr lang="en-US" b="1" dirty="0">
                <a:latin typeface="Arial" pitchFamily="34" charset="0"/>
                <a:cs typeface="Arial" pitchFamily="34" charset="0"/>
              </a:rPr>
              <a:t>” and other protests and eventually rolling back prices does not help the situation.</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
        <p:nvSpPr>
          <p:cNvPr id="5" name="Rectangle 4"/>
          <p:cNvSpPr/>
          <p:nvPr/>
        </p:nvSpPr>
        <p:spPr>
          <a:xfrm>
            <a:off x="714348" y="1124744"/>
            <a:ext cx="7170020" cy="2308324"/>
          </a:xfrm>
          <a:prstGeom prst="rect">
            <a:avLst/>
          </a:prstGeom>
        </p:spPr>
        <p:txBody>
          <a:bodyPr wrap="square">
            <a:spAutoFit/>
          </a:bodyPr>
          <a:lstStyle/>
          <a:p>
            <a:pPr>
              <a:lnSpc>
                <a:spcPct val="200000"/>
              </a:lnSpc>
            </a:pPr>
            <a:r>
              <a:rPr lang="en-US" b="1" dirty="0">
                <a:latin typeface="Arial" pitchFamily="34" charset="0"/>
                <a:cs typeface="Arial" pitchFamily="34" charset="0"/>
              </a:rPr>
              <a:t>For example, if India sells 100 units of produce </a:t>
            </a:r>
            <a:r>
              <a:rPr lang="en-US" b="1" dirty="0" smtClean="0">
                <a:latin typeface="Arial" pitchFamily="34" charset="0"/>
                <a:cs typeface="Arial" pitchFamily="34" charset="0"/>
              </a:rPr>
              <a:t>at </a:t>
            </a: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a:latin typeface="Arial" pitchFamily="34" charset="0"/>
                <a:cs typeface="Arial" pitchFamily="34" charset="0"/>
              </a:rPr>
              <a:t>1000.</a:t>
            </a:r>
          </a:p>
          <a:p>
            <a:pPr>
              <a:lnSpc>
                <a:spcPct val="200000"/>
              </a:lnSpc>
            </a:pPr>
            <a:r>
              <a:rPr lang="en-US" b="1" dirty="0" smtClean="0">
                <a:latin typeface="Arial" pitchFamily="34" charset="0"/>
                <a:cs typeface="Arial" pitchFamily="34" charset="0"/>
              </a:rPr>
              <a:t>This </a:t>
            </a:r>
            <a:r>
              <a:rPr lang="en-US" b="1" dirty="0">
                <a:latin typeface="Arial" pitchFamily="34" charset="0"/>
                <a:cs typeface="Arial" pitchFamily="34" charset="0"/>
              </a:rPr>
              <a:t>means as long as India spends </a:t>
            </a:r>
          </a:p>
          <a:p>
            <a:pPr>
              <a:lnSpc>
                <a:spcPct val="200000"/>
              </a:lnSpc>
            </a:pPr>
            <a:r>
              <a:rPr lang="en-US" b="1" dirty="0" err="1">
                <a:latin typeface="Arial" pitchFamily="34" charset="0"/>
                <a:cs typeface="Arial" pitchFamily="34" charset="0"/>
              </a:rPr>
              <a:t>Rs</a:t>
            </a:r>
            <a:r>
              <a:rPr lang="en-US" b="1" dirty="0">
                <a:latin typeface="Arial" pitchFamily="34" charset="0"/>
                <a:cs typeface="Arial" pitchFamily="34" charset="0"/>
              </a:rPr>
              <a:t> 1000, it can recover it  by selling the 100 units.</a:t>
            </a:r>
          </a:p>
          <a:p>
            <a:pPr>
              <a:lnSpc>
                <a:spcPct val="200000"/>
              </a:lnSpc>
            </a:pPr>
            <a:r>
              <a:rPr lang="en-US" b="1" dirty="0">
                <a:latin typeface="Arial" pitchFamily="34" charset="0"/>
                <a:cs typeface="Arial" pitchFamily="34" charset="0"/>
              </a:rPr>
              <a:t>At this stage the economy is balanced.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2987824" y="1052736"/>
            <a:ext cx="4104456" cy="1754326"/>
          </a:xfrm>
          <a:prstGeom prst="rect">
            <a:avLst/>
          </a:prstGeom>
        </p:spPr>
        <p:txBody>
          <a:bodyPr wrap="square">
            <a:spAutoFit/>
          </a:bodyPr>
          <a:lstStyle/>
          <a:p>
            <a:pPr>
              <a:lnSpc>
                <a:spcPct val="150000"/>
              </a:lnSpc>
            </a:pPr>
            <a:r>
              <a:rPr lang="en-US" b="1" dirty="0">
                <a:latin typeface="Arial" pitchFamily="34" charset="0"/>
                <a:cs typeface="Arial" pitchFamily="34" charset="0"/>
              </a:rPr>
              <a:t>Now, let’s say India sells a liter of petrol at </a:t>
            </a:r>
            <a:r>
              <a:rPr lang="en-US" b="1" dirty="0" err="1">
                <a:latin typeface="Arial" pitchFamily="34" charset="0"/>
                <a:cs typeface="Arial" pitchFamily="34" charset="0"/>
              </a:rPr>
              <a:t>Rs</a:t>
            </a:r>
            <a:r>
              <a:rPr lang="en-US" b="1" dirty="0">
                <a:latin typeface="Arial" pitchFamily="34" charset="0"/>
                <a:cs typeface="Arial" pitchFamily="34" charset="0"/>
              </a:rPr>
              <a:t> 50 instead of </a:t>
            </a:r>
            <a:r>
              <a:rPr lang="en-US" b="1" dirty="0" err="1">
                <a:latin typeface="Arial" pitchFamily="34" charset="0"/>
                <a:cs typeface="Arial" pitchFamily="34" charset="0"/>
              </a:rPr>
              <a:t>Rs</a:t>
            </a:r>
            <a:r>
              <a:rPr lang="en-US" b="1" dirty="0">
                <a:latin typeface="Arial" pitchFamily="34" charset="0"/>
                <a:cs typeface="Arial" pitchFamily="34" charset="0"/>
              </a:rPr>
              <a:t> </a:t>
            </a:r>
            <a:r>
              <a:rPr lang="en-US" b="1" dirty="0" smtClean="0">
                <a:latin typeface="Arial" pitchFamily="34" charset="0"/>
                <a:cs typeface="Arial" pitchFamily="34" charset="0"/>
              </a:rPr>
              <a:t>75</a:t>
            </a:r>
            <a:br>
              <a:rPr lang="en-US" b="1" dirty="0" smtClean="0">
                <a:latin typeface="Arial" pitchFamily="34" charset="0"/>
                <a:cs typeface="Arial" pitchFamily="34" charset="0"/>
              </a:rPr>
            </a:br>
            <a:r>
              <a:rPr lang="en-US" b="1" dirty="0" smtClean="0">
                <a:latin typeface="Arial" pitchFamily="34" charset="0"/>
                <a:cs typeface="Arial" pitchFamily="34" charset="0"/>
              </a:rPr>
              <a:t>(its </a:t>
            </a:r>
            <a:r>
              <a:rPr lang="en-US" b="1" dirty="0">
                <a:latin typeface="Arial" pitchFamily="34" charset="0"/>
                <a:cs typeface="Arial" pitchFamily="34" charset="0"/>
              </a:rPr>
              <a:t>true value) thus making a loss of </a:t>
            </a:r>
            <a:r>
              <a:rPr lang="en-US" b="1" dirty="0" err="1">
                <a:latin typeface="Arial" pitchFamily="34" charset="0"/>
                <a:cs typeface="Arial" pitchFamily="34" charset="0"/>
              </a:rPr>
              <a:t>Rs</a:t>
            </a:r>
            <a:r>
              <a:rPr lang="en-US" b="1" dirty="0">
                <a:latin typeface="Arial" pitchFamily="34" charset="0"/>
                <a:cs typeface="Arial" pitchFamily="34" charset="0"/>
              </a:rPr>
              <a:t> 25 per liter.</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6950481" cy="2585323"/>
          </a:xfrm>
          <a:prstGeom prst="rect">
            <a:avLst/>
          </a:prstGeom>
        </p:spPr>
        <p:txBody>
          <a:bodyPr wrap="square">
            <a:spAutoFit/>
          </a:bodyPr>
          <a:lstStyle/>
          <a:p>
            <a:pPr>
              <a:lnSpc>
                <a:spcPct val="150000"/>
              </a:lnSpc>
            </a:pPr>
            <a:r>
              <a:rPr lang="en-US" b="1" dirty="0">
                <a:latin typeface="Arial" pitchFamily="34" charset="0"/>
                <a:cs typeface="Arial" pitchFamily="34" charset="0"/>
              </a:rPr>
              <a:t>To compensate for this </a:t>
            </a:r>
            <a:r>
              <a:rPr lang="en-US" b="1" dirty="0" err="1">
                <a:latin typeface="Arial" pitchFamily="34" charset="0"/>
                <a:cs typeface="Arial" pitchFamily="34" charset="0"/>
              </a:rPr>
              <a:t>Rs</a:t>
            </a:r>
            <a:r>
              <a:rPr lang="en-US" b="1" dirty="0">
                <a:latin typeface="Arial" pitchFamily="34" charset="0"/>
                <a:cs typeface="Arial" pitchFamily="34" charset="0"/>
              </a:rPr>
              <a:t> 25 loss, India will either </a:t>
            </a:r>
            <a:r>
              <a:rPr lang="en-US" b="1" dirty="0" smtClean="0">
                <a:latin typeface="Arial" pitchFamily="34" charset="0"/>
                <a:cs typeface="Arial" pitchFamily="34" charset="0"/>
              </a:rPr>
              <a:t>borrow</a:t>
            </a:r>
            <a:br>
              <a:rPr lang="en-US" b="1" dirty="0" smtClean="0">
                <a:latin typeface="Arial" pitchFamily="34" charset="0"/>
                <a:cs typeface="Arial" pitchFamily="34" charset="0"/>
              </a:rPr>
            </a:b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a:latin typeface="Arial" pitchFamily="34" charset="0"/>
                <a:cs typeface="Arial" pitchFamily="34" charset="0"/>
              </a:rPr>
              <a:t>25 or print currency of </a:t>
            </a:r>
            <a:r>
              <a:rPr lang="en-US" b="1" dirty="0" err="1">
                <a:latin typeface="Arial" pitchFamily="34" charset="0"/>
                <a:cs typeface="Arial" pitchFamily="34" charset="0"/>
              </a:rPr>
              <a:t>Rs</a:t>
            </a:r>
            <a:r>
              <a:rPr lang="en-US" b="1" dirty="0">
                <a:latin typeface="Arial" pitchFamily="34" charset="0"/>
                <a:cs typeface="Arial" pitchFamily="34" charset="0"/>
              </a:rPr>
              <a:t> 25.Whatever be the </a:t>
            </a:r>
            <a:r>
              <a:rPr lang="en-US" b="1" dirty="0" smtClean="0">
                <a:latin typeface="Arial" pitchFamily="34" charset="0"/>
                <a:cs typeface="Arial" pitchFamily="34" charset="0"/>
              </a:rPr>
              <a:t>case,</a:t>
            </a:r>
            <a:br>
              <a:rPr lang="en-US" b="1" dirty="0" smtClean="0">
                <a:latin typeface="Arial" pitchFamily="34" charset="0"/>
                <a:cs typeface="Arial" pitchFamily="34" charset="0"/>
              </a:rPr>
            </a:br>
            <a:r>
              <a:rPr lang="en-US" b="1" dirty="0" smtClean="0">
                <a:latin typeface="Arial" pitchFamily="34" charset="0"/>
                <a:cs typeface="Arial" pitchFamily="34" charset="0"/>
              </a:rPr>
              <a:t>for </a:t>
            </a:r>
            <a:r>
              <a:rPr lang="en-US" b="1" dirty="0">
                <a:latin typeface="Arial" pitchFamily="34" charset="0"/>
                <a:cs typeface="Arial" pitchFamily="34" charset="0"/>
              </a:rPr>
              <a:t>the additional </a:t>
            </a:r>
            <a:r>
              <a:rPr lang="en-US" b="1" dirty="0" err="1">
                <a:latin typeface="Arial" pitchFamily="34" charset="0"/>
                <a:cs typeface="Arial" pitchFamily="34" charset="0"/>
              </a:rPr>
              <a:t>Rs</a:t>
            </a:r>
            <a:r>
              <a:rPr lang="en-US" b="1" dirty="0">
                <a:latin typeface="Arial" pitchFamily="34" charset="0"/>
                <a:cs typeface="Arial" pitchFamily="34" charset="0"/>
              </a:rPr>
              <a:t> 25, India does not produce any goods. The number of units continues to remain at </a:t>
            </a:r>
            <a:r>
              <a:rPr lang="en-US" b="1" dirty="0" smtClean="0">
                <a:latin typeface="Arial" pitchFamily="34" charset="0"/>
                <a:cs typeface="Arial" pitchFamily="34" charset="0"/>
              </a:rPr>
              <a:t>100. In </a:t>
            </a:r>
            <a:r>
              <a:rPr lang="en-US" b="1" dirty="0">
                <a:latin typeface="Arial" pitchFamily="34" charset="0"/>
                <a:cs typeface="Arial" pitchFamily="34" charset="0"/>
              </a:rPr>
              <a:t>the absence of any real production, India will recover the </a:t>
            </a:r>
            <a:r>
              <a:rPr lang="en-US" b="1" dirty="0" err="1">
                <a:latin typeface="Arial" pitchFamily="34" charset="0"/>
                <a:cs typeface="Arial" pitchFamily="34" charset="0"/>
              </a:rPr>
              <a:t>Rs</a:t>
            </a:r>
            <a:r>
              <a:rPr lang="en-US" b="1" dirty="0">
                <a:latin typeface="Arial" pitchFamily="34" charset="0"/>
                <a:cs typeface="Arial" pitchFamily="34" charset="0"/>
              </a:rPr>
              <a:t> 25 from its citizens by spreading the loss across the 100 units.</a:t>
            </a:r>
            <a:endParaRPr lang="en-US" b="1" dirty="0">
              <a:latin typeface="Arial" pitchFamily="34" charset="0"/>
              <a:cs typeface="Arial" pitchFamily="34" charset="0"/>
            </a:endParaRP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Tree>
    <p:extLst>
      <p:ext uri="{BB962C8B-B14F-4D97-AF65-F5344CB8AC3E}">
        <p14:creationId xmlns:p14="http://schemas.microsoft.com/office/powerpoint/2010/main" val="3417281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7382529" cy="3000821"/>
          </a:xfrm>
          <a:prstGeom prst="rect">
            <a:avLst/>
          </a:prstGeom>
        </p:spPr>
        <p:txBody>
          <a:bodyPr wrap="square">
            <a:spAutoFit/>
          </a:bodyPr>
          <a:lstStyle/>
          <a:p>
            <a:pPr>
              <a:lnSpc>
                <a:spcPct val="150000"/>
              </a:lnSpc>
            </a:pPr>
            <a:r>
              <a:rPr lang="en-US" b="1" dirty="0">
                <a:latin typeface="Arial" pitchFamily="34" charset="0"/>
                <a:cs typeface="Arial" pitchFamily="34" charset="0"/>
              </a:rPr>
              <a:t>So, the system had 100 units and was sold at </a:t>
            </a:r>
            <a:r>
              <a:rPr lang="en-US" b="1" dirty="0" err="1">
                <a:latin typeface="Arial" pitchFamily="34" charset="0"/>
                <a:cs typeface="Arial" pitchFamily="34" charset="0"/>
              </a:rPr>
              <a:t>Rs</a:t>
            </a:r>
            <a:r>
              <a:rPr lang="en-US" b="1" dirty="0">
                <a:latin typeface="Arial" pitchFamily="34" charset="0"/>
                <a:cs typeface="Arial" pitchFamily="34" charset="0"/>
              </a:rPr>
              <a:t> 1000. However, due to the loss, an additional </a:t>
            </a:r>
            <a:r>
              <a:rPr lang="en-US" b="1" dirty="0" err="1">
                <a:latin typeface="Arial" pitchFamily="34" charset="0"/>
                <a:cs typeface="Arial" pitchFamily="34" charset="0"/>
              </a:rPr>
              <a:t>Rs</a:t>
            </a:r>
            <a:r>
              <a:rPr lang="en-US" b="1" dirty="0">
                <a:latin typeface="Arial" pitchFamily="34" charset="0"/>
                <a:cs typeface="Arial" pitchFamily="34" charset="0"/>
              </a:rPr>
              <a:t> 25 (borrowed money or printed currency) was added into the </a:t>
            </a:r>
            <a:r>
              <a:rPr lang="en-US" b="1" dirty="0" smtClean="0">
                <a:latin typeface="Arial" pitchFamily="34" charset="0"/>
                <a:cs typeface="Arial" pitchFamily="34" charset="0"/>
              </a:rPr>
              <a:t>system.</a:t>
            </a:r>
            <a:br>
              <a:rPr lang="en-US" b="1" dirty="0" smtClean="0">
                <a:latin typeface="Arial" pitchFamily="34" charset="0"/>
                <a:cs typeface="Arial" pitchFamily="34" charset="0"/>
              </a:rPr>
            </a:br>
            <a:r>
              <a:rPr lang="en-US" b="1" dirty="0" smtClean="0">
                <a:latin typeface="Arial" pitchFamily="34" charset="0"/>
                <a:cs typeface="Arial" pitchFamily="34" charset="0"/>
              </a:rPr>
              <a:t>So </a:t>
            </a:r>
            <a:r>
              <a:rPr lang="en-US" b="1" dirty="0">
                <a:latin typeface="Arial" pitchFamily="34" charset="0"/>
                <a:cs typeface="Arial" pitchFamily="34" charset="0"/>
              </a:rPr>
              <a:t>while the units remained 100, the money in the </a:t>
            </a:r>
            <a:r>
              <a:rPr lang="en-US" b="1" dirty="0" smtClean="0">
                <a:latin typeface="Arial" pitchFamily="34" charset="0"/>
                <a:cs typeface="Arial" pitchFamily="34" charset="0"/>
              </a:rPr>
              <a:t>system</a:t>
            </a:r>
            <a:br>
              <a:rPr lang="en-US" b="1" dirty="0" smtClean="0">
                <a:latin typeface="Arial" pitchFamily="34" charset="0"/>
                <a:cs typeface="Arial" pitchFamily="34" charset="0"/>
              </a:rPr>
            </a:br>
            <a:r>
              <a:rPr lang="en-US" b="1" dirty="0" smtClean="0">
                <a:latin typeface="Arial" pitchFamily="34" charset="0"/>
                <a:cs typeface="Arial" pitchFamily="34" charset="0"/>
              </a:rPr>
              <a:t>became </a:t>
            </a:r>
            <a:r>
              <a:rPr lang="en-US" b="1" dirty="0">
                <a:latin typeface="Arial" pitchFamily="34" charset="0"/>
                <a:cs typeface="Arial" pitchFamily="34" charset="0"/>
              </a:rPr>
              <a:t>1025. While the price per unit in the previous situation was 1000/100 = </a:t>
            </a:r>
            <a:r>
              <a:rPr lang="en-US" b="1" dirty="0" err="1">
                <a:latin typeface="Arial" pitchFamily="34" charset="0"/>
                <a:cs typeface="Arial" pitchFamily="34" charset="0"/>
              </a:rPr>
              <a:t>Rs</a:t>
            </a:r>
            <a:r>
              <a:rPr lang="en-US" b="1" dirty="0">
                <a:latin typeface="Arial" pitchFamily="34" charset="0"/>
                <a:cs typeface="Arial" pitchFamily="34" charset="0"/>
              </a:rPr>
              <a:t> 10, now the price </a:t>
            </a:r>
            <a:r>
              <a:rPr lang="en-US" b="1" dirty="0" smtClean="0">
                <a:latin typeface="Arial" pitchFamily="34" charset="0"/>
                <a:cs typeface="Arial" pitchFamily="34" charset="0"/>
              </a:rPr>
              <a:t>per unit </a:t>
            </a:r>
            <a:r>
              <a:rPr lang="en-US" b="1" dirty="0">
                <a:latin typeface="Arial" pitchFamily="34" charset="0"/>
                <a:cs typeface="Arial" pitchFamily="34" charset="0"/>
              </a:rPr>
              <a:t>would </a:t>
            </a:r>
            <a:r>
              <a:rPr lang="en-US" b="1" dirty="0" smtClean="0">
                <a:latin typeface="Arial" pitchFamily="34" charset="0"/>
                <a:cs typeface="Arial" pitchFamily="34" charset="0"/>
              </a:rPr>
              <a:t>become</a:t>
            </a:r>
            <a:br>
              <a:rPr lang="en-US" b="1" dirty="0" smtClean="0">
                <a:latin typeface="Arial" pitchFamily="34" charset="0"/>
                <a:cs typeface="Arial" pitchFamily="34" charset="0"/>
              </a:rPr>
            </a:br>
            <a:r>
              <a:rPr lang="en-US" b="1" dirty="0" smtClean="0">
                <a:latin typeface="Arial" pitchFamily="34" charset="0"/>
                <a:cs typeface="Arial" pitchFamily="34" charset="0"/>
              </a:rPr>
              <a:t>1025/100 </a:t>
            </a:r>
            <a:r>
              <a:rPr lang="en-US" b="1" dirty="0">
                <a:latin typeface="Arial" pitchFamily="34" charset="0"/>
                <a:cs typeface="Arial" pitchFamily="34" charset="0"/>
              </a:rPr>
              <a:t>= </a:t>
            </a:r>
            <a:r>
              <a:rPr lang="en-US" b="1" dirty="0" err="1">
                <a:latin typeface="Arial" pitchFamily="34" charset="0"/>
                <a:cs typeface="Arial" pitchFamily="34" charset="0"/>
              </a:rPr>
              <a:t>Rs</a:t>
            </a:r>
            <a:r>
              <a:rPr lang="en-US" b="1" dirty="0">
                <a:latin typeface="Arial" pitchFamily="34" charset="0"/>
                <a:cs typeface="Arial" pitchFamily="34" charset="0"/>
              </a:rPr>
              <a:t> 10.25. </a:t>
            </a:r>
            <a:endParaRPr lang="en-US" b="1" dirty="0">
              <a:latin typeface="Arial" pitchFamily="34" charset="0"/>
              <a:cs typeface="Arial" pitchFamily="34" charset="0"/>
            </a:endParaRP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Tree>
    <p:extLst>
      <p:ext uri="{BB962C8B-B14F-4D97-AF65-F5344CB8AC3E}">
        <p14:creationId xmlns:p14="http://schemas.microsoft.com/office/powerpoint/2010/main" val="4978909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7166505" cy="3416320"/>
          </a:xfrm>
          <a:prstGeom prst="rect">
            <a:avLst/>
          </a:prstGeom>
        </p:spPr>
        <p:txBody>
          <a:bodyPr wrap="square">
            <a:spAutoFit/>
          </a:bodyPr>
          <a:lstStyle/>
          <a:p>
            <a:pPr>
              <a:lnSpc>
                <a:spcPct val="150000"/>
              </a:lnSpc>
            </a:pPr>
            <a:r>
              <a:rPr lang="en-US" b="1" dirty="0">
                <a:latin typeface="Arial" pitchFamily="34" charset="0"/>
                <a:cs typeface="Arial" pitchFamily="34" charset="0"/>
              </a:rPr>
              <a:t>This is how the recovery takes place across all the units. In other words, the value of the rupee goes down because the same number of units is now purchased at a higher </a:t>
            </a:r>
            <a:r>
              <a:rPr lang="en-US" b="1" dirty="0" smtClean="0">
                <a:latin typeface="Arial" pitchFamily="34" charset="0"/>
                <a:cs typeface="Arial" pitchFamily="34" charset="0"/>
              </a:rPr>
              <a:t>amount.</a:t>
            </a:r>
            <a:br>
              <a:rPr lang="en-US" b="1" dirty="0" smtClean="0">
                <a:latin typeface="Arial" pitchFamily="34" charset="0"/>
                <a:cs typeface="Arial" pitchFamily="34" charset="0"/>
              </a:rPr>
            </a:br>
            <a:r>
              <a:rPr lang="en-US" b="1" dirty="0" smtClean="0">
                <a:latin typeface="Arial" pitchFamily="34" charset="0"/>
                <a:cs typeface="Arial" pitchFamily="34" charset="0"/>
              </a:rPr>
              <a:t>A </a:t>
            </a:r>
            <a:r>
              <a:rPr lang="en-US" b="1" dirty="0">
                <a:latin typeface="Arial" pitchFamily="34" charset="0"/>
                <a:cs typeface="Arial" pitchFamily="34" charset="0"/>
              </a:rPr>
              <a:t>very similar thing is happening in India. People are spending more than they are producing. This is causing fiscal deficit or a gap between what we spend and what we earn. So naturally, the value of money is eroding in the economy as explained in the earlier example. </a:t>
            </a:r>
            <a:endParaRPr lang="en-US" b="1" dirty="0">
              <a:latin typeface="Arial" pitchFamily="34" charset="0"/>
              <a:cs typeface="Arial" pitchFamily="34" charset="0"/>
            </a:endParaRP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Tree>
    <p:extLst>
      <p:ext uri="{BB962C8B-B14F-4D97-AF65-F5344CB8AC3E}">
        <p14:creationId xmlns:p14="http://schemas.microsoft.com/office/powerpoint/2010/main" val="33444788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789871" y="1124744"/>
            <a:ext cx="7166505" cy="2949525"/>
          </a:xfrm>
          <a:prstGeom prst="rect">
            <a:avLst/>
          </a:prstGeom>
        </p:spPr>
        <p:txBody>
          <a:bodyPr wrap="square">
            <a:spAutoFit/>
          </a:bodyPr>
          <a:lstStyle/>
          <a:p>
            <a:pPr>
              <a:lnSpc>
                <a:spcPct val="150000"/>
              </a:lnSpc>
            </a:pPr>
            <a:r>
              <a:rPr lang="en-US" b="1" dirty="0">
                <a:latin typeface="Arial" pitchFamily="34" charset="0"/>
                <a:cs typeface="Arial" pitchFamily="34" charset="0"/>
              </a:rPr>
              <a:t>India does not produce enough petrol and therefore imports because petrol is an essential commodity. As shown in our earlier example, the increase in petrol prices is not being passed on to the end consumer. Had the increase been passed on to the consumer, the system might have self regulated itself by way of the consumer and reducing the consumption because of higher prices.</a:t>
            </a:r>
            <a:endParaRPr lang="en-US" b="1" dirty="0">
              <a:latin typeface="Arial" pitchFamily="34" charset="0"/>
              <a:cs typeface="Arial" pitchFamily="34" charset="0"/>
            </a:endParaRP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Tree>
    <p:extLst>
      <p:ext uri="{BB962C8B-B14F-4D97-AF65-F5344CB8AC3E}">
        <p14:creationId xmlns:p14="http://schemas.microsoft.com/office/powerpoint/2010/main" val="20871124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1124744"/>
            <a:ext cx="7128792" cy="3000821"/>
          </a:xfrm>
          <a:prstGeom prst="rect">
            <a:avLst/>
          </a:prstGeom>
        </p:spPr>
        <p:txBody>
          <a:bodyPr wrap="square">
            <a:spAutoFit/>
          </a:bodyPr>
          <a:lstStyle/>
          <a:p>
            <a:pPr>
              <a:lnSpc>
                <a:spcPct val="150000"/>
              </a:lnSpc>
            </a:pPr>
            <a:r>
              <a:rPr lang="en-US" b="1" dirty="0">
                <a:latin typeface="Arial" pitchFamily="34" charset="0"/>
                <a:cs typeface="Arial" pitchFamily="34" charset="0"/>
              </a:rPr>
              <a:t>Since the price rise does not get fully passed on, the demand for petrol remains unabated and India has to import more quantity of petrol. This naturally leads to more paper </a:t>
            </a:r>
            <a:r>
              <a:rPr lang="en-US" b="1" dirty="0" smtClean="0">
                <a:latin typeface="Arial" pitchFamily="34" charset="0"/>
                <a:cs typeface="Arial" pitchFamily="34" charset="0"/>
              </a:rPr>
              <a:t>money</a:t>
            </a:r>
            <a:br>
              <a:rPr lang="en-US" b="1" dirty="0" smtClean="0">
                <a:latin typeface="Arial" pitchFamily="34" charset="0"/>
                <a:cs typeface="Arial" pitchFamily="34" charset="0"/>
              </a:rPr>
            </a:br>
            <a:r>
              <a:rPr lang="en-US" b="1" dirty="0" smtClean="0">
                <a:latin typeface="Arial" pitchFamily="34" charset="0"/>
                <a:cs typeface="Arial" pitchFamily="34" charset="0"/>
              </a:rPr>
              <a:t>(or </a:t>
            </a:r>
            <a:r>
              <a:rPr lang="en-US" b="1" dirty="0">
                <a:latin typeface="Arial" pitchFamily="34" charset="0"/>
                <a:cs typeface="Arial" pitchFamily="34" charset="0"/>
              </a:rPr>
              <a:t>borrowing) in the economy without a commensurate increase of real goods in the economy. This means that the price of goods in the economy increases to offset the loss of petrol sales. </a:t>
            </a:r>
            <a:endParaRPr lang="en-US" b="1" dirty="0">
              <a:latin typeface="Arial" pitchFamily="34" charset="0"/>
              <a:cs typeface="Arial" pitchFamily="34" charset="0"/>
            </a:endParaRP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Tree>
    <p:extLst>
      <p:ext uri="{BB962C8B-B14F-4D97-AF65-F5344CB8AC3E}">
        <p14:creationId xmlns:p14="http://schemas.microsoft.com/office/powerpoint/2010/main" val="14723793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1124744"/>
            <a:ext cx="7128792" cy="2126864"/>
          </a:xfrm>
          <a:prstGeom prst="rect">
            <a:avLst/>
          </a:prstGeom>
        </p:spPr>
        <p:txBody>
          <a:bodyPr wrap="square">
            <a:spAutoFit/>
          </a:bodyPr>
          <a:lstStyle/>
          <a:p>
            <a:pPr>
              <a:lnSpc>
                <a:spcPct val="150000"/>
              </a:lnSpc>
            </a:pPr>
            <a:r>
              <a:rPr lang="en-US" b="1" dirty="0">
                <a:latin typeface="Arial" pitchFamily="34" charset="0"/>
                <a:cs typeface="Arial" pitchFamily="34" charset="0"/>
              </a:rPr>
              <a:t>Thus, instead of fewer people paying for the increase in the price of petrol, now they pay by way of higher prices of goods. This is what is commonly called inflation. So in essence, by rolling back prices, the people at large may not benefit as they are hit by inflation which erodes the value of their money.</a:t>
            </a:r>
            <a:endParaRPr lang="en-US" b="1" dirty="0">
              <a:latin typeface="Arial" pitchFamily="34" charset="0"/>
              <a:cs typeface="Arial" pitchFamily="34" charset="0"/>
            </a:endParaRP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Tree>
    <p:extLst>
      <p:ext uri="{BB962C8B-B14F-4D97-AF65-F5344CB8AC3E}">
        <p14:creationId xmlns:p14="http://schemas.microsoft.com/office/powerpoint/2010/main" val="37469075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23928" y="4941168"/>
            <a:ext cx="4536504" cy="923330"/>
          </a:xfrm>
          <a:prstGeom prst="rect">
            <a:avLst/>
          </a:prstGeom>
        </p:spPr>
        <p:txBody>
          <a:bodyPr wrap="square">
            <a:spAutoFit/>
          </a:bodyPr>
          <a:lstStyle/>
          <a:p>
            <a:pPr>
              <a:lnSpc>
                <a:spcPct val="150000"/>
              </a:lnSpc>
            </a:pPr>
            <a:r>
              <a:rPr lang="en-US" b="1" dirty="0">
                <a:latin typeface="Arial" pitchFamily="34" charset="0"/>
                <a:cs typeface="Arial" pitchFamily="34" charset="0"/>
              </a:rPr>
              <a:t>Hope you have understood </a:t>
            </a:r>
          </a:p>
          <a:p>
            <a:pPr>
              <a:lnSpc>
                <a:spcPct val="150000"/>
              </a:lnSpc>
            </a:pPr>
            <a:r>
              <a:rPr lang="en-US" b="1" dirty="0">
                <a:latin typeface="Arial" pitchFamily="34" charset="0"/>
                <a:cs typeface="Arial" pitchFamily="34" charset="0"/>
              </a:rPr>
              <a:t>The effect of rolling back petrol prices.</a:t>
            </a:r>
          </a:p>
        </p:txBody>
      </p:sp>
      <p:sp>
        <p:nvSpPr>
          <p:cNvPr id="8" name="TextBox 7"/>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 THE EFFECT OF ROLLING BACK PETROL PRICES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060848"/>
            <a:ext cx="4032448" cy="935769"/>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Please give us your feedback at </a:t>
            </a:r>
          </a:p>
          <a:p>
            <a:pPr marL="342900" indent="-342900" algn="ctr">
              <a:lnSpc>
                <a:spcPct val="150000"/>
              </a:lnSpc>
              <a:spcBef>
                <a:spcPct val="20000"/>
              </a:spcBef>
            </a:pPr>
            <a:r>
              <a:rPr lang="en-US" b="1" dirty="0" smtClean="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2129</TotalTime>
  <Words>615</Words>
  <Application>Microsoft Office PowerPoint</Application>
  <PresentationFormat>On-screen Show (4:3)</PresentationFormat>
  <Paragraphs>32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250</cp:revision>
  <dcterms:created xsi:type="dcterms:W3CDTF">2013-10-22T09:41:31Z</dcterms:created>
  <dcterms:modified xsi:type="dcterms:W3CDTF">2014-03-06T08:33:00Z</dcterms:modified>
</cp:coreProperties>
</file>