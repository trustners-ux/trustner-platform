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473" r:id="rId3"/>
    <p:sldId id="416" r:id="rId4"/>
    <p:sldId id="358" r:id="rId5"/>
    <p:sldId id="418" r:id="rId6"/>
    <p:sldId id="469" r:id="rId7"/>
    <p:sldId id="456" r:id="rId8"/>
    <p:sldId id="470" r:id="rId9"/>
    <p:sldId id="457" r:id="rId10"/>
    <p:sldId id="471" r:id="rId11"/>
    <p:sldId id="448" r:id="rId12"/>
    <p:sldId id="474" r:id="rId13"/>
    <p:sldId id="465" r:id="rId14"/>
    <p:sldId id="287" r:id="rId15"/>
    <p:sldId id="273"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1" d="100"/>
          <a:sy n="61" d="100"/>
        </p:scale>
        <p:origin x="-1542"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www.tatamutualfund.com/Knowledge-Center/arbitrage.swf" TargetMode="Externa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4313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6248" y="4357694"/>
            <a:ext cx="3714776"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Many of you have written to me asking for the meaning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Purchasing-Power </a:t>
            </a:r>
            <a:r>
              <a:rPr lang="en-US" b="1" dirty="0" smtClean="0">
                <a:latin typeface="Arial" pitchFamily="34" charset="0"/>
                <a:cs typeface="Arial" pitchFamily="34" charset="0"/>
              </a:rPr>
              <a:t>Parity (PPP</a:t>
            </a:r>
            <a:r>
              <a:rPr lang="en-US" b="1" dirty="0" smtClean="0">
                <a:latin typeface="Arial" pitchFamily="34" charset="0"/>
                <a:cs typeface="Arial" pitchFamily="34" charset="0"/>
              </a:rPr>
              <a:t>).</a:t>
            </a:r>
            <a:br>
              <a:rPr lang="en-US" b="1" dirty="0" smtClean="0">
                <a:latin typeface="Arial" pitchFamily="34" charset="0"/>
                <a:cs typeface="Arial" pitchFamily="34" charset="0"/>
              </a:rPr>
            </a:br>
            <a:r>
              <a:rPr lang="en-US" b="1" dirty="0" smtClean="0">
                <a:latin typeface="Arial" pitchFamily="34" charset="0"/>
                <a:cs typeface="Arial" pitchFamily="34" charset="0"/>
              </a:rPr>
              <a:t>So </a:t>
            </a:r>
            <a:r>
              <a:rPr lang="en-US" b="1" dirty="0" smtClean="0">
                <a:latin typeface="Arial" pitchFamily="34" charset="0"/>
                <a:cs typeface="Arial" pitchFamily="34" charset="0"/>
              </a:rPr>
              <a:t>what is it?</a:t>
            </a:r>
            <a:endParaRPr lang="en-US"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8169216" cy="4108817"/>
          </a:xfrm>
          <a:prstGeom prst="rect">
            <a:avLst/>
          </a:prstGeom>
        </p:spPr>
        <p:txBody>
          <a:bodyPr wrap="square">
            <a:spAutoFit/>
          </a:bodyPr>
          <a:lstStyle/>
          <a:p>
            <a:pPr marL="449263" indent="-449263">
              <a:lnSpc>
                <a:spcPct val="150000"/>
              </a:lnSpc>
              <a:buFont typeface="Wingdings" pitchFamily="2" charset="2"/>
              <a:buChar char="q"/>
              <a:tabLst>
                <a:tab pos="449263" algn="l"/>
              </a:tabLst>
            </a:pPr>
            <a:r>
              <a:rPr lang="en-US" b="1" dirty="0" smtClean="0">
                <a:latin typeface="Arial" pitchFamily="34" charset="0"/>
                <a:cs typeface="Arial" pitchFamily="34" charset="0"/>
              </a:rPr>
              <a:t>The purchasing power parity (PPP) theory measures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purchasing </a:t>
            </a:r>
            <a:r>
              <a:rPr lang="en-US" b="1" dirty="0" smtClean="0">
                <a:latin typeface="Arial" pitchFamily="34" charset="0"/>
                <a:cs typeface="Arial" pitchFamily="34" charset="0"/>
              </a:rPr>
              <a:t>power of one currency against another after </a:t>
            </a:r>
            <a:r>
              <a:rPr lang="en-US" b="1" dirty="0" smtClean="0">
                <a:latin typeface="Arial" pitchFamily="34" charset="0"/>
                <a:cs typeface="Arial" pitchFamily="34" charset="0"/>
              </a:rPr>
              <a:t>taking</a:t>
            </a:r>
            <a:br>
              <a:rPr lang="en-US" b="1" dirty="0" smtClean="0">
                <a:latin typeface="Arial" pitchFamily="34" charset="0"/>
                <a:cs typeface="Arial" pitchFamily="34" charset="0"/>
              </a:rPr>
            </a:br>
            <a:r>
              <a:rPr lang="en-US" b="1" dirty="0" smtClean="0">
                <a:latin typeface="Arial" pitchFamily="34" charset="0"/>
                <a:cs typeface="Arial" pitchFamily="34" charset="0"/>
              </a:rPr>
              <a:t>into </a:t>
            </a:r>
            <a:r>
              <a:rPr lang="en-US" b="1" dirty="0" smtClean="0">
                <a:latin typeface="Arial" pitchFamily="34" charset="0"/>
                <a:cs typeface="Arial" pitchFamily="34" charset="0"/>
              </a:rPr>
              <a:t>account their exchange rate.</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Lst>
            </a:pPr>
            <a:r>
              <a:rPr lang="en-US" b="1" dirty="0" smtClean="0">
                <a:latin typeface="Arial" pitchFamily="34" charset="0"/>
                <a:cs typeface="Arial" pitchFamily="34" charset="0"/>
              </a:rPr>
              <a:t>‘</a:t>
            </a:r>
            <a:r>
              <a:rPr lang="en-US" b="1" i="1" dirty="0" smtClean="0">
                <a:latin typeface="Arial" pitchFamily="34" charset="0"/>
                <a:cs typeface="Arial" pitchFamily="34" charset="0"/>
              </a:rPr>
              <a:t>Taking into account their exchange rate</a:t>
            </a:r>
            <a:r>
              <a:rPr lang="en-US" b="1" dirty="0" smtClean="0">
                <a:latin typeface="Arial" pitchFamily="34" charset="0"/>
                <a:cs typeface="Arial" pitchFamily="34" charset="0"/>
              </a:rPr>
              <a:t>’ simply means that you measure the strength of purchasing power on $1 with that of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Rs </a:t>
            </a:r>
            <a:r>
              <a:rPr lang="en-US" b="1" dirty="0" smtClean="0">
                <a:latin typeface="Arial" pitchFamily="34" charset="0"/>
                <a:cs typeface="Arial" pitchFamily="34" charset="0"/>
              </a:rPr>
              <a:t>50 and not with Rs 1 (assuming the exchange rate is $ 1 = Rs 50). </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Lst>
            </a:pPr>
            <a:r>
              <a:rPr lang="en-US" b="1" dirty="0" smtClean="0">
                <a:latin typeface="Arial" pitchFamily="34" charset="0"/>
                <a:cs typeface="Arial" pitchFamily="34" charset="0"/>
              </a:rPr>
              <a:t>Developed by Gustav Cassel in 1918, the theory states </a:t>
            </a:r>
            <a:r>
              <a:rPr lang="en-US" b="1" dirty="0" smtClean="0">
                <a:latin typeface="Arial" pitchFamily="34" charset="0"/>
                <a:cs typeface="Arial" pitchFamily="34" charset="0"/>
              </a:rPr>
              <a:t>that,</a:t>
            </a:r>
            <a:br>
              <a:rPr lang="en-US" b="1" dirty="0" smtClean="0">
                <a:latin typeface="Arial" pitchFamily="34" charset="0"/>
                <a:cs typeface="Arial" pitchFamily="34" charset="0"/>
              </a:rPr>
            </a:br>
            <a:r>
              <a:rPr lang="en-US" b="1" dirty="0" smtClean="0">
                <a:latin typeface="Arial" pitchFamily="34" charset="0"/>
                <a:cs typeface="Arial" pitchFamily="34" charset="0"/>
              </a:rPr>
              <a:t>in ideally </a:t>
            </a:r>
            <a:r>
              <a:rPr lang="en-US" b="1" dirty="0" smtClean="0">
                <a:latin typeface="Arial" pitchFamily="34" charset="0"/>
                <a:cs typeface="Arial" pitchFamily="34" charset="0"/>
              </a:rPr>
              <a:t>efficient markets, identical goods should have </a:t>
            </a:r>
            <a:r>
              <a:rPr lang="en-US" b="1" dirty="0" smtClean="0">
                <a:latin typeface="Arial" pitchFamily="34" charset="0"/>
                <a:cs typeface="Arial" pitchFamily="34" charset="0"/>
              </a:rPr>
              <a:t>only</a:t>
            </a:r>
            <a:br>
              <a:rPr lang="en-US" b="1" dirty="0" smtClean="0">
                <a:latin typeface="Arial" pitchFamily="34" charset="0"/>
                <a:cs typeface="Arial" pitchFamily="34" charset="0"/>
              </a:rPr>
            </a:br>
            <a:r>
              <a:rPr lang="en-US" b="1" dirty="0" smtClean="0">
                <a:latin typeface="Arial" pitchFamily="34" charset="0"/>
                <a:cs typeface="Arial" pitchFamily="34" charset="0"/>
              </a:rPr>
              <a:t>one </a:t>
            </a:r>
            <a:r>
              <a:rPr lang="en-US" b="1" dirty="0" smtClean="0">
                <a:latin typeface="Arial" pitchFamily="34" charset="0"/>
                <a:cs typeface="Arial" pitchFamily="34" charset="0"/>
              </a:rPr>
              <a:t>price.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28728" y="1285860"/>
            <a:ext cx="3143272"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purchasing-power </a:t>
            </a:r>
            <a:r>
              <a:rPr lang="en-US" b="1" dirty="0" smtClean="0">
                <a:latin typeface="Arial" pitchFamily="34" charset="0"/>
                <a:cs typeface="Arial" pitchFamily="34" charset="0"/>
              </a:rPr>
              <a:t>parity</a:t>
            </a:r>
            <a:br>
              <a:rPr lang="en-US" b="1" dirty="0" smtClean="0">
                <a:latin typeface="Arial" pitchFamily="34" charset="0"/>
                <a:cs typeface="Arial" pitchFamily="34" charset="0"/>
              </a:rPr>
            </a:br>
            <a:r>
              <a:rPr lang="en-US" b="1" dirty="0" smtClean="0">
                <a:latin typeface="Arial" pitchFamily="34" charset="0"/>
                <a:cs typeface="Arial" pitchFamily="34" charset="0"/>
              </a:rPr>
              <a:t>i.e. PPP Theory</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42984"/>
            <a:ext cx="7500990" cy="3000821"/>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Simply put, what this means is that a bundle of goods should ideally cost the same in Canada and the United States.</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However, if it doesn’t happen then we say that purchasing power parity does not exist between the two currencies.</a:t>
            </a:r>
          </a:p>
          <a:p>
            <a:pPr marL="542925" indent="-542925">
              <a:lnSpc>
                <a:spcPct val="150000"/>
              </a:lnSpc>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Lets look at an example…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000108"/>
            <a:ext cx="7572428"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First…</a:t>
            </a:r>
            <a:endParaRPr lang="en-US" dirty="0">
              <a:latin typeface="Arial" pitchFamily="34" charset="0"/>
              <a:cs typeface="Arial" pitchFamily="34" charset="0"/>
            </a:endParaRPr>
          </a:p>
        </p:txBody>
      </p:sp>
      <p:sp>
        <p:nvSpPr>
          <p:cNvPr id="7" name="Rectangle 6"/>
          <p:cNvSpPr/>
          <p:nvPr/>
        </p:nvSpPr>
        <p:spPr>
          <a:xfrm>
            <a:off x="785786" y="1571612"/>
            <a:ext cx="7286676" cy="3831818"/>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Suppose that one U.S. Dollar (USD) is currently selling for fifty Indian Rupees (INR) </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In the United States, wooden cricket bats sell for $40 while in India, they sell for 750 Rupees. </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Since 1 USD = 50 INR, the bat which costs $40 USD in U.S costs only 15 USD if we buy it in India. </a:t>
            </a:r>
          </a:p>
          <a:p>
            <a:pPr marL="542925" indent="-542925">
              <a:lnSpc>
                <a:spcPct val="150000"/>
              </a:lnSpc>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Clearly there’s an advantage of buying the bat in India, so consumers would be happier to buy the bat in India. </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16627"/>
            <a:ext cx="7858180" cy="4154984"/>
          </a:xfrm>
          <a:prstGeom prst="rect">
            <a:avLst/>
          </a:prstGeom>
        </p:spPr>
        <p:txBody>
          <a:bodyPr wrap="square">
            <a:spAutoFit/>
          </a:bodyPr>
          <a:lstStyle/>
          <a:p>
            <a:pPr marL="449263" indent="-449263">
              <a:lnSpc>
                <a:spcPct val="150000"/>
              </a:lnSpc>
              <a:buFont typeface="Wingdings" pitchFamily="2" charset="2"/>
              <a:buChar char="q"/>
              <a:tabLst>
                <a:tab pos="449263" algn="l"/>
              </a:tabLst>
            </a:pPr>
            <a:r>
              <a:rPr lang="en-US" sz="1700" b="1" dirty="0" smtClean="0">
                <a:latin typeface="Arial" pitchFamily="34" charset="0"/>
                <a:cs typeface="Arial" pitchFamily="34" charset="0"/>
              </a:rPr>
              <a:t>If consumers decide to do this, we should expect to see three things happen: </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898525" lvl="1" indent="-449263">
              <a:lnSpc>
                <a:spcPct val="150000"/>
              </a:lnSpc>
              <a:buFont typeface="+mj-lt"/>
              <a:buAutoNum type="arabicPeriod"/>
              <a:tabLst>
                <a:tab pos="449263" algn="l"/>
                <a:tab pos="898525" algn="l"/>
              </a:tabLst>
            </a:pPr>
            <a:r>
              <a:rPr lang="en-US" sz="1700" b="1" dirty="0" smtClean="0">
                <a:latin typeface="Arial" pitchFamily="34" charset="0"/>
                <a:cs typeface="Arial" pitchFamily="34" charset="0"/>
              </a:rPr>
              <a:t>American consumers’ demand for Indian Rupees would increase which will cause the Indian Rupee to become more expensive. </a:t>
            </a:r>
          </a:p>
          <a:p>
            <a:pPr marL="898525" lvl="1" indent="-449263">
              <a:lnSpc>
                <a:spcPct val="150000"/>
              </a:lnSpc>
              <a:buFont typeface="+mj-lt"/>
              <a:buAutoNum type="arabicPeriod"/>
              <a:tabLst>
                <a:tab pos="449263" algn="l"/>
                <a:tab pos="898525" algn="l"/>
              </a:tabLst>
            </a:pPr>
            <a:r>
              <a:rPr lang="en-US" sz="1700" b="1" dirty="0" smtClean="0">
                <a:latin typeface="Arial" pitchFamily="34" charset="0"/>
                <a:cs typeface="Arial" pitchFamily="34" charset="0"/>
              </a:rPr>
              <a:t>The demand for cricket bats sold in the United States would decrease and hence its prices would tend to decrease. </a:t>
            </a:r>
          </a:p>
          <a:p>
            <a:pPr marL="898525" lvl="1" indent="-449263">
              <a:lnSpc>
                <a:spcPct val="150000"/>
              </a:lnSpc>
              <a:buFont typeface="+mj-lt"/>
              <a:buAutoNum type="arabicPeriod"/>
              <a:tabLst>
                <a:tab pos="449263" algn="l"/>
                <a:tab pos="898525" algn="l"/>
              </a:tabLst>
            </a:pPr>
            <a:r>
              <a:rPr lang="en-US" sz="1700" b="1" dirty="0" smtClean="0">
                <a:latin typeface="Arial" pitchFamily="34" charset="0"/>
                <a:cs typeface="Arial" pitchFamily="34" charset="0"/>
              </a:rPr>
              <a:t>The increase in demand for cricket bats in India would make them more expensive.</a:t>
            </a:r>
          </a:p>
          <a:p>
            <a:pPr marL="898525" lvl="1" indent="-449263">
              <a:lnSpc>
                <a:spcPct val="150000"/>
              </a:lnSpc>
              <a:buFont typeface="+mj-lt"/>
              <a:buAutoNum type="arabicPeriod"/>
              <a:tabLst>
                <a:tab pos="449263" algn="l"/>
                <a:tab pos="898525" algn="l"/>
              </a:tabLst>
            </a:pPr>
            <a:r>
              <a:rPr lang="en-US" sz="1700" b="1" dirty="0" smtClean="0">
                <a:latin typeface="Arial" pitchFamily="34" charset="0"/>
                <a:cs typeface="Arial" pitchFamily="34" charset="0"/>
              </a:rPr>
              <a:t>Thus the prices in the US and India would start moving towards an equilibrium.</a:t>
            </a:r>
            <a:endParaRPr lang="en-US" sz="17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071546"/>
            <a:ext cx="7500990"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So what happens now?</a:t>
            </a:r>
            <a:endParaRPr lang="en-US" b="1" dirty="0">
              <a:latin typeface="Arial" pitchFamily="34" charset="0"/>
              <a:cs typeface="Arial" pitchFamily="34" charset="0"/>
            </a:endParaRPr>
          </a:p>
        </p:txBody>
      </p:sp>
      <p:sp>
        <p:nvSpPr>
          <p:cNvPr id="7" name="Rectangle 6"/>
          <p:cNvSpPr/>
          <p:nvPr/>
        </p:nvSpPr>
        <p:spPr>
          <a:xfrm>
            <a:off x="571472" y="1643050"/>
            <a:ext cx="7572428" cy="3508653"/>
          </a:xfrm>
          <a:prstGeom prst="rect">
            <a:avLst/>
          </a:prstGeom>
        </p:spPr>
        <p:txBody>
          <a:bodyPr wrap="square">
            <a:spAutoFit/>
          </a:bodyPr>
          <a:lstStyle/>
          <a:p>
            <a:pPr marL="449263" indent="-449263">
              <a:buFont typeface="Wingdings" pitchFamily="2" charset="2"/>
              <a:buChar char="q"/>
              <a:tabLst>
                <a:tab pos="449263" algn="l"/>
              </a:tabLst>
            </a:pPr>
            <a:r>
              <a:rPr lang="en-US" sz="1600" b="1" dirty="0" smtClean="0">
                <a:latin typeface="Arial" pitchFamily="34" charset="0"/>
                <a:cs typeface="Arial" pitchFamily="34" charset="0"/>
              </a:rPr>
              <a:t>In an ideal scenario, prices in both countries would become equal at some price point.</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449263" indent="-449263">
              <a:buFont typeface="Wingdings" pitchFamily="2" charset="2"/>
              <a:buChar char="q"/>
              <a:tabLst>
                <a:tab pos="449263" algn="l"/>
              </a:tabLst>
            </a:pPr>
            <a:r>
              <a:rPr lang="en-US" sz="1600" b="1" dirty="0" smtClean="0">
                <a:latin typeface="Arial" pitchFamily="34" charset="0"/>
                <a:cs typeface="Arial" pitchFamily="34" charset="0"/>
              </a:rPr>
              <a:t>The increased demand for INR, for instance may lead an increase in its value such that 1 USD = 40 INR. </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449263" indent="-449263">
              <a:buFont typeface="Wingdings" pitchFamily="2" charset="2"/>
              <a:buChar char="q"/>
              <a:tabLst>
                <a:tab pos="449263" algn="l"/>
              </a:tabLst>
            </a:pPr>
            <a:r>
              <a:rPr lang="en-US" sz="1600" b="1" dirty="0" smtClean="0">
                <a:latin typeface="Arial" pitchFamily="34" charset="0"/>
                <a:cs typeface="Arial" pitchFamily="34" charset="0"/>
              </a:rPr>
              <a:t>Secondly, due to decrease in demand for the bats in the US, its price drops to USD 30.</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449263" indent="-449263">
              <a:buFont typeface="Wingdings" pitchFamily="2" charset="2"/>
              <a:buChar char="q"/>
              <a:tabLst>
                <a:tab pos="449263" algn="l"/>
              </a:tabLst>
            </a:pPr>
            <a:r>
              <a:rPr lang="en-US" sz="1600" b="1" dirty="0" smtClean="0">
                <a:latin typeface="Arial" pitchFamily="34" charset="0"/>
                <a:cs typeface="Arial" pitchFamily="34" charset="0"/>
              </a:rPr>
              <a:t>Thirdly, the increase in demand for the bats in India takes its price up to INR 1200.</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449263" indent="-449263">
              <a:buFont typeface="Wingdings" pitchFamily="2" charset="2"/>
              <a:buChar char="q"/>
              <a:tabLst>
                <a:tab pos="449263" algn="l"/>
              </a:tabLst>
            </a:pPr>
            <a:r>
              <a:rPr lang="en-US" sz="1600" b="1" dirty="0" smtClean="0">
                <a:latin typeface="Arial" pitchFamily="34" charset="0"/>
                <a:cs typeface="Arial" pitchFamily="34" charset="0"/>
              </a:rPr>
              <a:t>At these levels you can see that there is ‘Purchase Price Parity’ between both the currencies.</a:t>
            </a:r>
            <a:br>
              <a:rPr lang="en-US" sz="1600" b="1" dirty="0" smtClean="0">
                <a:latin typeface="Arial" pitchFamily="34" charset="0"/>
                <a:cs typeface="Arial" pitchFamily="34" charset="0"/>
              </a:rPr>
            </a:br>
            <a:endParaRPr lang="en-US" sz="600" b="1" dirty="0" smtClean="0">
              <a:latin typeface="Arial" pitchFamily="34" charset="0"/>
              <a:cs typeface="Arial" pitchFamily="34" charset="0"/>
            </a:endParaRPr>
          </a:p>
          <a:p>
            <a:pPr marL="449263" indent="-449263">
              <a:buFont typeface="Wingdings" pitchFamily="2" charset="2"/>
              <a:buChar char="q"/>
              <a:tabLst>
                <a:tab pos="449263" algn="l"/>
              </a:tabLst>
            </a:pPr>
            <a:r>
              <a:rPr lang="en-US" sz="1600" b="1" dirty="0" smtClean="0">
                <a:latin typeface="Arial" pitchFamily="34" charset="0"/>
                <a:cs typeface="Arial" pitchFamily="34" charset="0"/>
              </a:rPr>
              <a:t>This also means that whether you buy the bat in US or in India, it is one and the same thing for the consumer.</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8" name="Rectangle 7"/>
          <p:cNvSpPr/>
          <p:nvPr/>
        </p:nvSpPr>
        <p:spPr>
          <a:xfrm>
            <a:off x="642910" y="1214422"/>
            <a:ext cx="7215238" cy="1754326"/>
          </a:xfrm>
          <a:prstGeom prst="rect">
            <a:avLst/>
          </a:prstGeom>
        </p:spPr>
        <p:txBody>
          <a:bodyPr wrap="square">
            <a:spAutoFit/>
          </a:bodyPr>
          <a:lstStyle/>
          <a:p>
            <a:pPr>
              <a:lnSpc>
                <a:spcPct val="150000"/>
              </a:lnSpc>
              <a:spcBef>
                <a:spcPct val="20000"/>
              </a:spcBef>
            </a:pPr>
            <a:r>
              <a:rPr lang="en-US" b="1" dirty="0" smtClean="0">
                <a:latin typeface="Arial" pitchFamily="34" charset="0"/>
                <a:cs typeface="Arial" pitchFamily="34" charset="0"/>
              </a:rPr>
              <a:t>This is because a consumer can spend $30 in the United States for a cricket bat, or he can take his $30, exchange it for 1200 Rupees (since 1 USD = 40 INR) and buy a cricket bat in India and be no better off. </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8" name="Rectangle 7"/>
          <p:cNvSpPr/>
          <p:nvPr/>
        </p:nvSpPr>
        <p:spPr>
          <a:xfrm>
            <a:off x="642910" y="1000108"/>
            <a:ext cx="7715304"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So…</a:t>
            </a:r>
            <a:endParaRPr lang="en-US" b="1" dirty="0">
              <a:latin typeface="Arial" pitchFamily="34" charset="0"/>
              <a:cs typeface="Arial" pitchFamily="34" charset="0"/>
            </a:endParaRPr>
          </a:p>
        </p:txBody>
      </p:sp>
      <p:sp>
        <p:nvSpPr>
          <p:cNvPr id="7" name="Rectangle 6"/>
          <p:cNvSpPr/>
          <p:nvPr/>
        </p:nvSpPr>
        <p:spPr>
          <a:xfrm>
            <a:off x="785786" y="1560032"/>
            <a:ext cx="7929618" cy="3693319"/>
          </a:xfrm>
          <a:prstGeom prst="rect">
            <a:avLst/>
          </a:prstGeom>
        </p:spPr>
        <p:txBody>
          <a:bodyPr wrap="square">
            <a:spAutoFit/>
          </a:bodyPr>
          <a:lstStyle/>
          <a:p>
            <a:pPr marL="449263" indent="-449263">
              <a:lnSpc>
                <a:spcPct val="150000"/>
              </a:lnSpc>
              <a:buFont typeface="Wingdings" pitchFamily="2" charset="2"/>
              <a:buChar char="q"/>
              <a:tabLst>
                <a:tab pos="449263" algn="l"/>
              </a:tabLst>
            </a:pPr>
            <a:r>
              <a:rPr lang="en-US" sz="1600" b="1" dirty="0" smtClean="0">
                <a:latin typeface="Arial" pitchFamily="34" charset="0"/>
                <a:cs typeface="Arial" pitchFamily="34" charset="0"/>
              </a:rPr>
              <a:t>Purchasing-power parity theory tells us that price differentials between countries are not sustainable in the long run as market forces will equalize prices between countries and change exchange rates in doing so. </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Lst>
            </a:pPr>
            <a:r>
              <a:rPr lang="en-US" sz="1600" b="1" dirty="0" smtClean="0">
                <a:latin typeface="Arial" pitchFamily="34" charset="0"/>
                <a:cs typeface="Arial" pitchFamily="34" charset="0"/>
              </a:rPr>
              <a:t>You might think that my example of consumers crossing the border to buy cricket bats is unrealistic as the expense of the longer trip would wipe out any savings you get from buying the bat for a lower price. </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Lst>
            </a:pPr>
            <a:r>
              <a:rPr lang="en-US" sz="1600" b="1" dirty="0" smtClean="0">
                <a:latin typeface="Arial" pitchFamily="34" charset="0"/>
                <a:cs typeface="Arial" pitchFamily="34" charset="0"/>
              </a:rPr>
              <a:t>However it is not unrealistic to imagine an individual or company buying hundreds or thousands of the bats in India, then shipping them to the United States for sale. </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071546"/>
            <a:ext cx="7500990"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Also…</a:t>
            </a:r>
            <a:endParaRPr lang="en-US" b="1" dirty="0">
              <a:latin typeface="Arial" pitchFamily="34" charset="0"/>
              <a:cs typeface="Arial" pitchFamily="34" charset="0"/>
            </a:endParaRPr>
          </a:p>
        </p:txBody>
      </p:sp>
      <p:sp>
        <p:nvSpPr>
          <p:cNvPr id="8" name="Rectangle 7"/>
          <p:cNvSpPr/>
          <p:nvPr/>
        </p:nvSpPr>
        <p:spPr>
          <a:xfrm>
            <a:off x="571472" y="1500174"/>
            <a:ext cx="7786742" cy="3693319"/>
          </a:xfrm>
          <a:prstGeom prst="rect">
            <a:avLst/>
          </a:prstGeom>
        </p:spPr>
        <p:txBody>
          <a:bodyPr wrap="square">
            <a:spAutoFit/>
          </a:bodyPr>
          <a:lstStyle/>
          <a:p>
            <a:pPr marL="449263" indent="-449263">
              <a:lnSpc>
                <a:spcPct val="150000"/>
              </a:lnSpc>
              <a:buFont typeface="Wingdings" pitchFamily="2" charset="2"/>
              <a:buChar char="q"/>
              <a:tabLst>
                <a:tab pos="449263" algn="l"/>
              </a:tabLst>
            </a:pPr>
            <a:r>
              <a:rPr lang="en-US" sz="1600" b="1" dirty="0" smtClean="0">
                <a:latin typeface="Arial" pitchFamily="34" charset="0"/>
                <a:cs typeface="Arial" pitchFamily="34" charset="0"/>
              </a:rPr>
              <a:t>It is also not unrealistic to imagine a large retail store purchasing bats from the lower cost manufacturer in India instead of the higher cost manufacturer in India. </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Lst>
            </a:pPr>
            <a:r>
              <a:rPr lang="en-US" sz="1600" b="1" dirty="0" smtClean="0">
                <a:latin typeface="Arial" pitchFamily="34" charset="0"/>
                <a:cs typeface="Arial" pitchFamily="34" charset="0"/>
              </a:rPr>
              <a:t>In the long run, having different prices in the United States and India is not sustainable because an individual or company will be able to gain an arbitrage profit by buying the good cheaply in one market and selling it for a higher price in the other market.</a:t>
            </a:r>
          </a:p>
          <a:p>
            <a:pPr marL="449263" indent="-449263">
              <a:lnSpc>
                <a:spcPct val="150000"/>
              </a:lnSpc>
              <a:buFont typeface="Wingdings" pitchFamily="2" charset="2"/>
              <a:buChar char="q"/>
              <a:tabLst>
                <a:tab pos="449263" algn="l"/>
              </a:tabLst>
            </a:pPr>
            <a:endParaRPr lang="en-US" sz="600"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Lst>
            </a:pPr>
            <a:r>
              <a:rPr lang="en-US" sz="1600" b="1" dirty="0" smtClean="0">
                <a:latin typeface="Arial" pitchFamily="34" charset="0"/>
                <a:cs typeface="Arial" pitchFamily="34" charset="0"/>
              </a:rPr>
              <a:t>You could read my lesson on ‘arbitrage’ to understand the concept better:</a:t>
            </a:r>
          </a:p>
          <a:p>
            <a:pPr marL="449263" indent="-449263">
              <a:lnSpc>
                <a:spcPct val="150000"/>
              </a:lnSpc>
              <a:tabLst>
                <a:tab pos="449263" algn="l"/>
              </a:tabLst>
            </a:pPr>
            <a:r>
              <a:rPr lang="en-US" sz="1600" b="1" dirty="0" smtClean="0">
                <a:latin typeface="Arial" pitchFamily="34" charset="0"/>
                <a:cs typeface="Arial" pitchFamily="34" charset="0"/>
              </a:rPr>
              <a:t>	 </a:t>
            </a:r>
            <a:r>
              <a:rPr lang="en-US" sz="1600" b="1" dirty="0" smtClean="0">
                <a:latin typeface="Arial" pitchFamily="34" charset="0"/>
                <a:cs typeface="Arial" pitchFamily="34" charset="0"/>
                <a:hlinkClick r:id="rId3"/>
              </a:rPr>
              <a:t>http://www.tatamutualfund.com/Knowledge-Center/arbitrage.swf</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071546"/>
            <a:ext cx="7500990"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
        <p:nvSpPr>
          <p:cNvPr id="8" name="Rectangle 7"/>
          <p:cNvSpPr/>
          <p:nvPr/>
        </p:nvSpPr>
        <p:spPr>
          <a:xfrm>
            <a:off x="571472" y="1587519"/>
            <a:ext cx="7786742" cy="2949525"/>
          </a:xfrm>
          <a:prstGeom prst="rect">
            <a:avLst/>
          </a:prstGeom>
        </p:spPr>
        <p:txBody>
          <a:bodyPr wrap="square">
            <a:spAutoFit/>
          </a:bodyPr>
          <a:lstStyle/>
          <a:p>
            <a:pPr marL="449263" indent="-449263">
              <a:lnSpc>
                <a:spcPct val="150000"/>
              </a:lnSpc>
              <a:buFont typeface="Wingdings" pitchFamily="2" charset="2"/>
              <a:buChar char="q"/>
              <a:tabLst>
                <a:tab pos="449263" algn="l"/>
                <a:tab pos="3600450" algn="l"/>
              </a:tabLst>
            </a:pPr>
            <a:r>
              <a:rPr lang="en-US" b="1" dirty="0" smtClean="0">
                <a:latin typeface="Arial" pitchFamily="34" charset="0"/>
                <a:cs typeface="Arial" pitchFamily="34" charset="0"/>
              </a:rPr>
              <a:t>What: ‘Purchasing Power Parity Theory’ is a theory which states that in ideally efficient markets, identical goods should have only one price.</a:t>
            </a:r>
          </a:p>
          <a:p>
            <a:pPr marL="449263" indent="-449263">
              <a:lnSpc>
                <a:spcPct val="150000"/>
              </a:lnSpc>
              <a:buFont typeface="Wingdings" pitchFamily="2" charset="2"/>
              <a:buChar char="q"/>
              <a:tabLst>
                <a:tab pos="449263" algn="l"/>
                <a:tab pos="3600450" algn="l"/>
              </a:tabLst>
            </a:pPr>
            <a:endParaRPr lang="en-US" b="1" dirty="0" smtClean="0">
              <a:latin typeface="Arial" pitchFamily="34" charset="0"/>
              <a:cs typeface="Arial" pitchFamily="34" charset="0"/>
            </a:endParaRPr>
          </a:p>
          <a:p>
            <a:pPr marL="449263" indent="-449263">
              <a:lnSpc>
                <a:spcPct val="150000"/>
              </a:lnSpc>
              <a:buFont typeface="Wingdings" pitchFamily="2" charset="2"/>
              <a:buChar char="q"/>
              <a:tabLst>
                <a:tab pos="449263" algn="l"/>
                <a:tab pos="3600450" algn="l"/>
              </a:tabLst>
            </a:pPr>
            <a:r>
              <a:rPr lang="en-US" b="1" dirty="0" smtClean="0">
                <a:latin typeface="Arial" pitchFamily="34" charset="0"/>
                <a:cs typeface="Arial" pitchFamily="34" charset="0"/>
              </a:rPr>
              <a:t>Why: Because of arbitrage opportunities market forces come to play and bring about an equilibrium in prices. </a:t>
            </a:r>
          </a:p>
          <a:p>
            <a:pPr marL="449263" indent="-449263">
              <a:lnSpc>
                <a:spcPct val="150000"/>
              </a:lnSpc>
              <a:buFont typeface="Wingdings" pitchFamily="2" charset="2"/>
              <a:buChar char="q"/>
              <a:tabLst>
                <a:tab pos="449263" algn="l"/>
                <a:tab pos="3600450" algn="l"/>
              </a:tabLst>
            </a:pP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804816"/>
            <a:ext cx="4214842" cy="133882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a:t>
            </a:r>
            <a:r>
              <a:rPr lang="en-US" b="1" dirty="0" smtClean="0">
                <a:latin typeface="Arial" pitchFamily="34" charset="0"/>
                <a:cs typeface="Arial" pitchFamily="34" charset="0"/>
              </a:rPr>
              <a:t>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the </a:t>
            </a:r>
            <a:r>
              <a:rPr lang="en-US" b="1" dirty="0" smtClean="0">
                <a:latin typeface="Arial" pitchFamily="34" charset="0"/>
                <a:cs typeface="Arial" pitchFamily="34" charset="0"/>
              </a:rPr>
              <a:t>concept </a:t>
            </a:r>
            <a:r>
              <a:rPr lang="en-US" b="1" dirty="0" smtClean="0">
                <a:latin typeface="Arial" pitchFamily="34" charset="0"/>
                <a:cs typeface="Arial" pitchFamily="34" charset="0"/>
              </a:rPr>
              <a:t>of Purchasing </a:t>
            </a:r>
            <a:r>
              <a:rPr lang="en-US" b="1" dirty="0" smtClean="0">
                <a:latin typeface="Arial" pitchFamily="34" charset="0"/>
                <a:cs typeface="Arial" pitchFamily="34" charset="0"/>
              </a:rPr>
              <a:t>Power Parity Theory</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PURCHASING-POWER PARITY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1928802"/>
            <a:ext cx="4032448" cy="93576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Do write to me at </a:t>
            </a:r>
          </a:p>
          <a:p>
            <a:pPr marL="342900" indent="-342900" algn="ct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3223</TotalTime>
  <Words>765</Words>
  <Application>Microsoft Office PowerPoint</Application>
  <PresentationFormat>On-screen Show (4:3)</PresentationFormat>
  <Paragraphs>69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446</cp:revision>
  <dcterms:created xsi:type="dcterms:W3CDTF">2013-10-22T09:41:31Z</dcterms:created>
  <dcterms:modified xsi:type="dcterms:W3CDTF">2014-03-08T03:26:55Z</dcterms:modified>
</cp:coreProperties>
</file>