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diagrams/drawing2.xml" ContentType="application/vnd.ms-office.drawingml.diagramDrawin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rawing1.xml" ContentType="application/vnd.ms-office.drawingml.diagramDrawing+xml"/>
  <Override PartName="/ppt/diagrams/quickStyle2.xml" ContentType="application/vnd.openxmlformats-officedocument.drawingml.diagramStyl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layout1.xml" ContentType="application/vnd.openxmlformats-officedocument.drawingml.diagramLayout+xml"/>
  <Override PartName="/ppt/diagrams/data2.xml" ContentType="application/vnd.openxmlformats-officedocument.drawingml.diagramData+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diagrams/colors2.xml" ContentType="application/vnd.openxmlformats-officedocument.drawingml.diagramCol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handoutMasterIdLst>
    <p:handoutMasterId r:id="rId20"/>
  </p:handoutMasterIdLst>
  <p:sldIdLst>
    <p:sldId id="256" r:id="rId2"/>
    <p:sldId id="358" r:id="rId3"/>
    <p:sldId id="353" r:id="rId4"/>
    <p:sldId id="411" r:id="rId5"/>
    <p:sldId id="318" r:id="rId6"/>
    <p:sldId id="394" r:id="rId7"/>
    <p:sldId id="395" r:id="rId8"/>
    <p:sldId id="396" r:id="rId9"/>
    <p:sldId id="397" r:id="rId10"/>
    <p:sldId id="398" r:id="rId11"/>
    <p:sldId id="412" r:id="rId12"/>
    <p:sldId id="413" r:id="rId13"/>
    <p:sldId id="414" r:id="rId14"/>
    <p:sldId id="415" r:id="rId15"/>
    <p:sldId id="385" r:id="rId16"/>
    <p:sldId id="287" r:id="rId17"/>
    <p:sldId id="273" r:id="rId18"/>
  </p:sldIdLst>
  <p:sldSz cx="9144000" cy="6858000" type="screen4x3"/>
  <p:notesSz cx="6881813"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1" autoAdjust="0"/>
    <p:restoredTop sz="94595" autoAdjust="0"/>
  </p:normalViewPr>
  <p:slideViewPr>
    <p:cSldViewPr>
      <p:cViewPr>
        <p:scale>
          <a:sx n="61" d="100"/>
          <a:sy n="61" d="100"/>
        </p:scale>
        <p:origin x="-1398" y="-9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2C0C84-9826-4D4C-AC50-AFCDC23A85EB}" type="doc">
      <dgm:prSet loTypeId="urn:microsoft.com/office/officeart/2005/8/layout/orgChart1" loCatId="hierarchy" qsTypeId="urn:microsoft.com/office/officeart/2005/8/quickstyle/simple1" qsCatId="simple" csTypeId="urn:microsoft.com/office/officeart/2005/8/colors/accent1_2" csCatId="accent1"/>
      <dgm:spPr/>
    </dgm:pt>
    <dgm:pt modelId="{78C79D21-9CE2-4B40-88F1-05BDEE2E8E0D}">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smtClean="0">
              <a:ln>
                <a:noFill/>
              </a:ln>
              <a:solidFill>
                <a:schemeClr val="tx1"/>
              </a:solidFill>
              <a:effectLst/>
              <a:latin typeface="Arial" charset="0"/>
            </a:rPr>
            <a:t>Govt. Expenses</a:t>
          </a:r>
        </a:p>
      </dgm:t>
    </dgm:pt>
    <dgm:pt modelId="{43D48596-9718-4951-BF47-767876F53873}" type="parTrans" cxnId="{F161C991-EACE-44CB-95F4-4932329A60D0}">
      <dgm:prSet/>
      <dgm:spPr/>
    </dgm:pt>
    <dgm:pt modelId="{9B1AB5C4-EC02-4458-9057-848BD27DE426}" type="sibTrans" cxnId="{F161C991-EACE-44CB-95F4-4932329A60D0}">
      <dgm:prSet/>
      <dgm:spPr/>
    </dgm:pt>
    <dgm:pt modelId="{975E7C09-F7ED-471E-872E-1ECC5C13431F}">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smtClean="0">
              <a:ln>
                <a:noFill/>
              </a:ln>
              <a:solidFill>
                <a:schemeClr val="tx1"/>
              </a:solidFill>
              <a:effectLst/>
              <a:latin typeface="Arial" charset="0"/>
            </a:rPr>
            <a:t>Revenue Expenses</a:t>
          </a:r>
        </a:p>
      </dgm:t>
    </dgm:pt>
    <dgm:pt modelId="{E089607D-63F9-49D0-AFB0-B8965F794AA9}" type="parTrans" cxnId="{39D9495E-50DC-43DA-B221-89A3748AA8BF}">
      <dgm:prSet/>
      <dgm:spPr/>
    </dgm:pt>
    <dgm:pt modelId="{13D2E29C-F1E4-4E70-BF86-25668DDFB4CC}" type="sibTrans" cxnId="{39D9495E-50DC-43DA-B221-89A3748AA8BF}">
      <dgm:prSet/>
      <dgm:spPr/>
    </dgm:pt>
    <dgm:pt modelId="{963BD810-237D-4470-8E95-1AF752084DB2}">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smtClean="0">
              <a:ln>
                <a:noFill/>
              </a:ln>
              <a:solidFill>
                <a:schemeClr val="tx1"/>
              </a:solidFill>
              <a:effectLst/>
              <a:latin typeface="Arial" charset="0"/>
            </a:rPr>
            <a:t>Capital Expenses</a:t>
          </a:r>
        </a:p>
      </dgm:t>
    </dgm:pt>
    <dgm:pt modelId="{C29AC20A-B7B6-4420-AAD9-667BC30E4EB0}" type="parTrans" cxnId="{5917F630-185B-42B0-8C31-6973D5AE7F8C}">
      <dgm:prSet/>
      <dgm:spPr/>
    </dgm:pt>
    <dgm:pt modelId="{EA4FAD58-2C68-4537-805E-22DEC7394C22}" type="sibTrans" cxnId="{5917F630-185B-42B0-8C31-6973D5AE7F8C}">
      <dgm:prSet/>
      <dgm:spPr/>
    </dgm:pt>
    <dgm:pt modelId="{952730E4-9665-4A17-8161-ABA1F6897A44}" type="pres">
      <dgm:prSet presAssocID="{7D2C0C84-9826-4D4C-AC50-AFCDC23A85EB}" presName="hierChild1" presStyleCnt="0">
        <dgm:presLayoutVars>
          <dgm:orgChart val="1"/>
          <dgm:chPref val="1"/>
          <dgm:dir/>
          <dgm:animOne val="branch"/>
          <dgm:animLvl val="lvl"/>
          <dgm:resizeHandles/>
        </dgm:presLayoutVars>
      </dgm:prSet>
      <dgm:spPr/>
    </dgm:pt>
    <dgm:pt modelId="{05BFB661-4802-4835-9BC5-A2335810547B}" type="pres">
      <dgm:prSet presAssocID="{78C79D21-9CE2-4B40-88F1-05BDEE2E8E0D}" presName="hierRoot1" presStyleCnt="0">
        <dgm:presLayoutVars>
          <dgm:hierBranch val="l"/>
        </dgm:presLayoutVars>
      </dgm:prSet>
      <dgm:spPr/>
    </dgm:pt>
    <dgm:pt modelId="{B5242F97-C875-42D0-960C-6D525E80A0EE}" type="pres">
      <dgm:prSet presAssocID="{78C79D21-9CE2-4B40-88F1-05BDEE2E8E0D}" presName="rootComposite1" presStyleCnt="0"/>
      <dgm:spPr/>
    </dgm:pt>
    <dgm:pt modelId="{00AC7000-535B-4969-8C10-61B7AFD76B97}" type="pres">
      <dgm:prSet presAssocID="{78C79D21-9CE2-4B40-88F1-05BDEE2E8E0D}" presName="rootText1" presStyleLbl="node0" presStyleIdx="0" presStyleCnt="1">
        <dgm:presLayoutVars>
          <dgm:chPref val="3"/>
        </dgm:presLayoutVars>
      </dgm:prSet>
      <dgm:spPr/>
      <dgm:t>
        <a:bodyPr/>
        <a:lstStyle/>
        <a:p>
          <a:endParaRPr lang="en-US"/>
        </a:p>
      </dgm:t>
    </dgm:pt>
    <dgm:pt modelId="{D0CAE425-3BF6-41C3-ADD0-3344BD47A3E6}" type="pres">
      <dgm:prSet presAssocID="{78C79D21-9CE2-4B40-88F1-05BDEE2E8E0D}" presName="rootConnector1" presStyleLbl="node1" presStyleIdx="0" presStyleCnt="0"/>
      <dgm:spPr/>
      <dgm:t>
        <a:bodyPr/>
        <a:lstStyle/>
        <a:p>
          <a:endParaRPr lang="en-US"/>
        </a:p>
      </dgm:t>
    </dgm:pt>
    <dgm:pt modelId="{FCC0201C-B4DC-419C-8DB4-3B00EBACC0F8}" type="pres">
      <dgm:prSet presAssocID="{78C79D21-9CE2-4B40-88F1-05BDEE2E8E0D}" presName="hierChild2" presStyleCnt="0"/>
      <dgm:spPr/>
    </dgm:pt>
    <dgm:pt modelId="{18ACB234-7FA6-4461-8D15-E627CD37A453}" type="pres">
      <dgm:prSet presAssocID="{E089607D-63F9-49D0-AFB0-B8965F794AA9}" presName="Name50" presStyleLbl="parChTrans1D2" presStyleIdx="0" presStyleCnt="2"/>
      <dgm:spPr/>
    </dgm:pt>
    <dgm:pt modelId="{30D41AFF-1BB6-447B-A0E8-1ADA6BA0C7E1}" type="pres">
      <dgm:prSet presAssocID="{975E7C09-F7ED-471E-872E-1ECC5C13431F}" presName="hierRoot2" presStyleCnt="0">
        <dgm:presLayoutVars>
          <dgm:hierBranch/>
        </dgm:presLayoutVars>
      </dgm:prSet>
      <dgm:spPr/>
    </dgm:pt>
    <dgm:pt modelId="{566BF2A7-B033-4FA0-8F7F-E0D3EE4FE6B0}" type="pres">
      <dgm:prSet presAssocID="{975E7C09-F7ED-471E-872E-1ECC5C13431F}" presName="rootComposite" presStyleCnt="0"/>
      <dgm:spPr/>
    </dgm:pt>
    <dgm:pt modelId="{916E2D6F-1B89-485C-82DF-7D87D1F34CF1}" type="pres">
      <dgm:prSet presAssocID="{975E7C09-F7ED-471E-872E-1ECC5C13431F}" presName="rootText" presStyleLbl="node2" presStyleIdx="0" presStyleCnt="2">
        <dgm:presLayoutVars>
          <dgm:chPref val="3"/>
        </dgm:presLayoutVars>
      </dgm:prSet>
      <dgm:spPr/>
      <dgm:t>
        <a:bodyPr/>
        <a:lstStyle/>
        <a:p>
          <a:endParaRPr lang="en-US"/>
        </a:p>
      </dgm:t>
    </dgm:pt>
    <dgm:pt modelId="{8B5A617C-DFCC-465E-BC3B-8554B8DDE26C}" type="pres">
      <dgm:prSet presAssocID="{975E7C09-F7ED-471E-872E-1ECC5C13431F}" presName="rootConnector" presStyleLbl="node2" presStyleIdx="0" presStyleCnt="2"/>
      <dgm:spPr/>
      <dgm:t>
        <a:bodyPr/>
        <a:lstStyle/>
        <a:p>
          <a:endParaRPr lang="en-US"/>
        </a:p>
      </dgm:t>
    </dgm:pt>
    <dgm:pt modelId="{F98DE01A-B93F-478E-96FD-AEDEEA84362B}" type="pres">
      <dgm:prSet presAssocID="{975E7C09-F7ED-471E-872E-1ECC5C13431F}" presName="hierChild4" presStyleCnt="0"/>
      <dgm:spPr/>
    </dgm:pt>
    <dgm:pt modelId="{E01F2824-5171-4E38-A2CD-6A05A845CFCE}" type="pres">
      <dgm:prSet presAssocID="{975E7C09-F7ED-471E-872E-1ECC5C13431F}" presName="hierChild5" presStyleCnt="0"/>
      <dgm:spPr/>
    </dgm:pt>
    <dgm:pt modelId="{75ECE822-A05F-4BDD-8B07-BDD7CA505FAC}" type="pres">
      <dgm:prSet presAssocID="{C29AC20A-B7B6-4420-AAD9-667BC30E4EB0}" presName="Name50" presStyleLbl="parChTrans1D2" presStyleIdx="1" presStyleCnt="2"/>
      <dgm:spPr/>
    </dgm:pt>
    <dgm:pt modelId="{40E3C668-922B-4D7F-A07E-093A71D2DB7C}" type="pres">
      <dgm:prSet presAssocID="{963BD810-237D-4470-8E95-1AF752084DB2}" presName="hierRoot2" presStyleCnt="0">
        <dgm:presLayoutVars>
          <dgm:hierBranch/>
        </dgm:presLayoutVars>
      </dgm:prSet>
      <dgm:spPr/>
    </dgm:pt>
    <dgm:pt modelId="{2254942B-9A12-4CFA-8D2E-B6E3C579DFAF}" type="pres">
      <dgm:prSet presAssocID="{963BD810-237D-4470-8E95-1AF752084DB2}" presName="rootComposite" presStyleCnt="0"/>
      <dgm:spPr/>
    </dgm:pt>
    <dgm:pt modelId="{A29311A7-5DB5-4E20-945B-688D390EC6B9}" type="pres">
      <dgm:prSet presAssocID="{963BD810-237D-4470-8E95-1AF752084DB2}" presName="rootText" presStyleLbl="node2" presStyleIdx="1" presStyleCnt="2">
        <dgm:presLayoutVars>
          <dgm:chPref val="3"/>
        </dgm:presLayoutVars>
      </dgm:prSet>
      <dgm:spPr/>
      <dgm:t>
        <a:bodyPr/>
        <a:lstStyle/>
        <a:p>
          <a:endParaRPr lang="en-US"/>
        </a:p>
      </dgm:t>
    </dgm:pt>
    <dgm:pt modelId="{1B51FAB8-956B-47E3-902B-40BA36D45A73}" type="pres">
      <dgm:prSet presAssocID="{963BD810-237D-4470-8E95-1AF752084DB2}" presName="rootConnector" presStyleLbl="node2" presStyleIdx="1" presStyleCnt="2"/>
      <dgm:spPr/>
      <dgm:t>
        <a:bodyPr/>
        <a:lstStyle/>
        <a:p>
          <a:endParaRPr lang="en-US"/>
        </a:p>
      </dgm:t>
    </dgm:pt>
    <dgm:pt modelId="{6EBC932C-523F-4157-9C0D-0D32823DD337}" type="pres">
      <dgm:prSet presAssocID="{963BD810-237D-4470-8E95-1AF752084DB2}" presName="hierChild4" presStyleCnt="0"/>
      <dgm:spPr/>
    </dgm:pt>
    <dgm:pt modelId="{FCE3BE0A-3E95-4420-94D3-DBE0E5AEF044}" type="pres">
      <dgm:prSet presAssocID="{963BD810-237D-4470-8E95-1AF752084DB2}" presName="hierChild5" presStyleCnt="0"/>
      <dgm:spPr/>
    </dgm:pt>
    <dgm:pt modelId="{6D1E7E88-1F5B-4888-9B12-948EA9FDED34}" type="pres">
      <dgm:prSet presAssocID="{78C79D21-9CE2-4B40-88F1-05BDEE2E8E0D}" presName="hierChild3" presStyleCnt="0"/>
      <dgm:spPr/>
    </dgm:pt>
  </dgm:ptLst>
  <dgm:cxnLst>
    <dgm:cxn modelId="{5917F630-185B-42B0-8C31-6973D5AE7F8C}" srcId="{78C79D21-9CE2-4B40-88F1-05BDEE2E8E0D}" destId="{963BD810-237D-4470-8E95-1AF752084DB2}" srcOrd="1" destOrd="0" parTransId="{C29AC20A-B7B6-4420-AAD9-667BC30E4EB0}" sibTransId="{EA4FAD58-2C68-4537-805E-22DEC7394C22}"/>
    <dgm:cxn modelId="{F161C991-EACE-44CB-95F4-4932329A60D0}" srcId="{7D2C0C84-9826-4D4C-AC50-AFCDC23A85EB}" destId="{78C79D21-9CE2-4B40-88F1-05BDEE2E8E0D}" srcOrd="0" destOrd="0" parTransId="{43D48596-9718-4951-BF47-767876F53873}" sibTransId="{9B1AB5C4-EC02-4458-9057-848BD27DE426}"/>
    <dgm:cxn modelId="{60386705-A1D5-4B2B-ACE9-C89922E60F50}" type="presOf" srcId="{78C79D21-9CE2-4B40-88F1-05BDEE2E8E0D}" destId="{00AC7000-535B-4969-8C10-61B7AFD76B97}" srcOrd="0" destOrd="0" presId="urn:microsoft.com/office/officeart/2005/8/layout/orgChart1"/>
    <dgm:cxn modelId="{A2729453-4AE0-4F15-8FA0-87FB5B5C04D7}" type="presOf" srcId="{E089607D-63F9-49D0-AFB0-B8965F794AA9}" destId="{18ACB234-7FA6-4461-8D15-E627CD37A453}" srcOrd="0" destOrd="0" presId="urn:microsoft.com/office/officeart/2005/8/layout/orgChart1"/>
    <dgm:cxn modelId="{13385A8E-A9B2-406A-AEEF-5CFC890D4651}" type="presOf" srcId="{7D2C0C84-9826-4D4C-AC50-AFCDC23A85EB}" destId="{952730E4-9665-4A17-8161-ABA1F6897A44}" srcOrd="0" destOrd="0" presId="urn:microsoft.com/office/officeart/2005/8/layout/orgChart1"/>
    <dgm:cxn modelId="{3824478E-4F3D-4C0B-9EE3-62FB2409B226}" type="presOf" srcId="{78C79D21-9CE2-4B40-88F1-05BDEE2E8E0D}" destId="{D0CAE425-3BF6-41C3-ADD0-3344BD47A3E6}" srcOrd="1" destOrd="0" presId="urn:microsoft.com/office/officeart/2005/8/layout/orgChart1"/>
    <dgm:cxn modelId="{BD62B568-45DE-4A30-9D78-6B1C62B38599}" type="presOf" srcId="{963BD810-237D-4470-8E95-1AF752084DB2}" destId="{A29311A7-5DB5-4E20-945B-688D390EC6B9}" srcOrd="0" destOrd="0" presId="urn:microsoft.com/office/officeart/2005/8/layout/orgChart1"/>
    <dgm:cxn modelId="{39D9495E-50DC-43DA-B221-89A3748AA8BF}" srcId="{78C79D21-9CE2-4B40-88F1-05BDEE2E8E0D}" destId="{975E7C09-F7ED-471E-872E-1ECC5C13431F}" srcOrd="0" destOrd="0" parTransId="{E089607D-63F9-49D0-AFB0-B8965F794AA9}" sibTransId="{13D2E29C-F1E4-4E70-BF86-25668DDFB4CC}"/>
    <dgm:cxn modelId="{F33D6AB0-79C3-4978-A6CA-E6575DAAA058}" type="presOf" srcId="{963BD810-237D-4470-8E95-1AF752084DB2}" destId="{1B51FAB8-956B-47E3-902B-40BA36D45A73}" srcOrd="1" destOrd="0" presId="urn:microsoft.com/office/officeart/2005/8/layout/orgChart1"/>
    <dgm:cxn modelId="{5467016B-0D86-499E-9479-D96411D36B98}" type="presOf" srcId="{C29AC20A-B7B6-4420-AAD9-667BC30E4EB0}" destId="{75ECE822-A05F-4BDD-8B07-BDD7CA505FAC}" srcOrd="0" destOrd="0" presId="urn:microsoft.com/office/officeart/2005/8/layout/orgChart1"/>
    <dgm:cxn modelId="{6C535BA9-59F0-4434-B545-6398497CC772}" type="presOf" srcId="{975E7C09-F7ED-471E-872E-1ECC5C13431F}" destId="{916E2D6F-1B89-485C-82DF-7D87D1F34CF1}" srcOrd="0" destOrd="0" presId="urn:microsoft.com/office/officeart/2005/8/layout/orgChart1"/>
    <dgm:cxn modelId="{52475836-F00A-4A87-8692-93197278FDF3}" type="presOf" srcId="{975E7C09-F7ED-471E-872E-1ECC5C13431F}" destId="{8B5A617C-DFCC-465E-BC3B-8554B8DDE26C}" srcOrd="1" destOrd="0" presId="urn:microsoft.com/office/officeart/2005/8/layout/orgChart1"/>
    <dgm:cxn modelId="{F692911D-C327-41A3-B2D8-A439D1ADFDBB}" type="presParOf" srcId="{952730E4-9665-4A17-8161-ABA1F6897A44}" destId="{05BFB661-4802-4835-9BC5-A2335810547B}" srcOrd="0" destOrd="0" presId="urn:microsoft.com/office/officeart/2005/8/layout/orgChart1"/>
    <dgm:cxn modelId="{33DF7434-F30E-4D8D-9F0A-9B1287D5BE98}" type="presParOf" srcId="{05BFB661-4802-4835-9BC5-A2335810547B}" destId="{B5242F97-C875-42D0-960C-6D525E80A0EE}" srcOrd="0" destOrd="0" presId="urn:microsoft.com/office/officeart/2005/8/layout/orgChart1"/>
    <dgm:cxn modelId="{FC1CC442-6747-4D49-BD6C-398672CBB181}" type="presParOf" srcId="{B5242F97-C875-42D0-960C-6D525E80A0EE}" destId="{00AC7000-535B-4969-8C10-61B7AFD76B97}" srcOrd="0" destOrd="0" presId="urn:microsoft.com/office/officeart/2005/8/layout/orgChart1"/>
    <dgm:cxn modelId="{69A6B13A-A123-4941-9144-B1CE044373FD}" type="presParOf" srcId="{B5242F97-C875-42D0-960C-6D525E80A0EE}" destId="{D0CAE425-3BF6-41C3-ADD0-3344BD47A3E6}" srcOrd="1" destOrd="0" presId="urn:microsoft.com/office/officeart/2005/8/layout/orgChart1"/>
    <dgm:cxn modelId="{F6890209-24E3-494D-A622-014CEF44F0B8}" type="presParOf" srcId="{05BFB661-4802-4835-9BC5-A2335810547B}" destId="{FCC0201C-B4DC-419C-8DB4-3B00EBACC0F8}" srcOrd="1" destOrd="0" presId="urn:microsoft.com/office/officeart/2005/8/layout/orgChart1"/>
    <dgm:cxn modelId="{F49A2D1E-2333-4F60-8961-98718388F6CB}" type="presParOf" srcId="{FCC0201C-B4DC-419C-8DB4-3B00EBACC0F8}" destId="{18ACB234-7FA6-4461-8D15-E627CD37A453}" srcOrd="0" destOrd="0" presId="urn:microsoft.com/office/officeart/2005/8/layout/orgChart1"/>
    <dgm:cxn modelId="{D4936D20-F676-4AD0-AFCC-1671F7E4F968}" type="presParOf" srcId="{FCC0201C-B4DC-419C-8DB4-3B00EBACC0F8}" destId="{30D41AFF-1BB6-447B-A0E8-1ADA6BA0C7E1}" srcOrd="1" destOrd="0" presId="urn:microsoft.com/office/officeart/2005/8/layout/orgChart1"/>
    <dgm:cxn modelId="{FFE730C6-F8DF-422C-BBC5-EA08846FDBD0}" type="presParOf" srcId="{30D41AFF-1BB6-447B-A0E8-1ADA6BA0C7E1}" destId="{566BF2A7-B033-4FA0-8F7F-E0D3EE4FE6B0}" srcOrd="0" destOrd="0" presId="urn:microsoft.com/office/officeart/2005/8/layout/orgChart1"/>
    <dgm:cxn modelId="{E4785175-8E63-4E5E-A5B2-F041569955FD}" type="presParOf" srcId="{566BF2A7-B033-4FA0-8F7F-E0D3EE4FE6B0}" destId="{916E2D6F-1B89-485C-82DF-7D87D1F34CF1}" srcOrd="0" destOrd="0" presId="urn:microsoft.com/office/officeart/2005/8/layout/orgChart1"/>
    <dgm:cxn modelId="{EC3D55C9-DF36-46ED-9BDA-5980F6DF9E01}" type="presParOf" srcId="{566BF2A7-B033-4FA0-8F7F-E0D3EE4FE6B0}" destId="{8B5A617C-DFCC-465E-BC3B-8554B8DDE26C}" srcOrd="1" destOrd="0" presId="urn:microsoft.com/office/officeart/2005/8/layout/orgChart1"/>
    <dgm:cxn modelId="{F624DFFB-BB86-4E1C-9FDC-20BA573658FE}" type="presParOf" srcId="{30D41AFF-1BB6-447B-A0E8-1ADA6BA0C7E1}" destId="{F98DE01A-B93F-478E-96FD-AEDEEA84362B}" srcOrd="1" destOrd="0" presId="urn:microsoft.com/office/officeart/2005/8/layout/orgChart1"/>
    <dgm:cxn modelId="{B5F61286-B866-40AD-B3AC-E7CE2EF93E25}" type="presParOf" srcId="{30D41AFF-1BB6-447B-A0E8-1ADA6BA0C7E1}" destId="{E01F2824-5171-4E38-A2CD-6A05A845CFCE}" srcOrd="2" destOrd="0" presId="urn:microsoft.com/office/officeart/2005/8/layout/orgChart1"/>
    <dgm:cxn modelId="{66383B45-7D6E-4E22-911E-D9B87F9248D5}" type="presParOf" srcId="{FCC0201C-B4DC-419C-8DB4-3B00EBACC0F8}" destId="{75ECE822-A05F-4BDD-8B07-BDD7CA505FAC}" srcOrd="2" destOrd="0" presId="urn:microsoft.com/office/officeart/2005/8/layout/orgChart1"/>
    <dgm:cxn modelId="{D6091435-67F8-44A7-95B8-60BB33BC1736}" type="presParOf" srcId="{FCC0201C-B4DC-419C-8DB4-3B00EBACC0F8}" destId="{40E3C668-922B-4D7F-A07E-093A71D2DB7C}" srcOrd="3" destOrd="0" presId="urn:microsoft.com/office/officeart/2005/8/layout/orgChart1"/>
    <dgm:cxn modelId="{32BC6516-67A5-42D0-9408-FF9B7AD5BE73}" type="presParOf" srcId="{40E3C668-922B-4D7F-A07E-093A71D2DB7C}" destId="{2254942B-9A12-4CFA-8D2E-B6E3C579DFAF}" srcOrd="0" destOrd="0" presId="urn:microsoft.com/office/officeart/2005/8/layout/orgChart1"/>
    <dgm:cxn modelId="{3A6ABCCC-9642-4B17-989F-2577CA662A2E}" type="presParOf" srcId="{2254942B-9A12-4CFA-8D2E-B6E3C579DFAF}" destId="{A29311A7-5DB5-4E20-945B-688D390EC6B9}" srcOrd="0" destOrd="0" presId="urn:microsoft.com/office/officeart/2005/8/layout/orgChart1"/>
    <dgm:cxn modelId="{1EEE612C-ABF5-4502-BA19-15A2B4B1BF3F}" type="presParOf" srcId="{2254942B-9A12-4CFA-8D2E-B6E3C579DFAF}" destId="{1B51FAB8-956B-47E3-902B-40BA36D45A73}" srcOrd="1" destOrd="0" presId="urn:microsoft.com/office/officeart/2005/8/layout/orgChart1"/>
    <dgm:cxn modelId="{F1B558EA-C522-4BA2-B55A-562292351076}" type="presParOf" srcId="{40E3C668-922B-4D7F-A07E-093A71D2DB7C}" destId="{6EBC932C-523F-4157-9C0D-0D32823DD337}" srcOrd="1" destOrd="0" presId="urn:microsoft.com/office/officeart/2005/8/layout/orgChart1"/>
    <dgm:cxn modelId="{4631F7C1-CF0A-4320-8DC7-78086E2A1AA1}" type="presParOf" srcId="{40E3C668-922B-4D7F-A07E-093A71D2DB7C}" destId="{FCE3BE0A-3E95-4420-94D3-DBE0E5AEF044}" srcOrd="2" destOrd="0" presId="urn:microsoft.com/office/officeart/2005/8/layout/orgChart1"/>
    <dgm:cxn modelId="{663AED93-26E5-4F86-BCCA-4EE2A8BC6190}" type="presParOf" srcId="{05BFB661-4802-4835-9BC5-A2335810547B}" destId="{6D1E7E88-1F5B-4888-9B12-948EA9FDED34}" srcOrd="2" destOrd="0" presId="urn:microsoft.com/office/officeart/2005/8/layout/orgChart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27D84E1-EB92-49A2-A4F1-FD50036AF186}" type="doc">
      <dgm:prSet loTypeId="urn:microsoft.com/office/officeart/2005/8/layout/orgChart1" loCatId="hierarchy" qsTypeId="urn:microsoft.com/office/officeart/2005/8/quickstyle/simple1" qsCatId="simple" csTypeId="urn:microsoft.com/office/officeart/2005/8/colors/accent1_2" csCatId="accent1"/>
      <dgm:spPr/>
    </dgm:pt>
    <dgm:pt modelId="{C8A3B01B-E384-4839-8CD0-84D811430324}">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smtClean="0">
              <a:ln>
                <a:noFill/>
              </a:ln>
              <a:solidFill>
                <a:schemeClr val="tx1"/>
              </a:solidFill>
              <a:effectLst/>
              <a:latin typeface="Arial" charset="0"/>
            </a:rPr>
            <a:t>Govt. Receipts</a:t>
          </a:r>
        </a:p>
      </dgm:t>
    </dgm:pt>
    <dgm:pt modelId="{5D0018D2-0236-4CED-A39B-0F9FB0D941ED}" type="parTrans" cxnId="{59CABC26-8253-4AE1-A105-A8A39ACD76D3}">
      <dgm:prSet/>
      <dgm:spPr/>
      <dgm:t>
        <a:bodyPr/>
        <a:lstStyle/>
        <a:p>
          <a:endParaRPr lang="en-US"/>
        </a:p>
      </dgm:t>
    </dgm:pt>
    <dgm:pt modelId="{D6928AA0-E905-43A8-8378-C2B2CD11C3F3}" type="sibTrans" cxnId="{59CABC26-8253-4AE1-A105-A8A39ACD76D3}">
      <dgm:prSet/>
      <dgm:spPr/>
      <dgm:t>
        <a:bodyPr/>
        <a:lstStyle/>
        <a:p>
          <a:endParaRPr lang="en-US"/>
        </a:p>
      </dgm:t>
    </dgm:pt>
    <dgm:pt modelId="{71187AAB-F369-4EEF-B1A9-C3A19E13A316}">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Arial" charset="0"/>
            </a:rPr>
            <a:t>Tax Sources</a:t>
          </a:r>
        </a:p>
      </dgm:t>
    </dgm:pt>
    <dgm:pt modelId="{DDF31C2B-8AB8-4BAA-8554-73E16435828F}" type="parTrans" cxnId="{EC414729-EBE7-421B-BC6C-361697B33020}">
      <dgm:prSet/>
      <dgm:spPr/>
      <dgm:t>
        <a:bodyPr/>
        <a:lstStyle/>
        <a:p>
          <a:endParaRPr lang="en-US"/>
        </a:p>
      </dgm:t>
    </dgm:pt>
    <dgm:pt modelId="{3EA860FC-5732-47A4-8303-00A115AC59D1}" type="sibTrans" cxnId="{EC414729-EBE7-421B-BC6C-361697B33020}">
      <dgm:prSet/>
      <dgm:spPr/>
      <dgm:t>
        <a:bodyPr/>
        <a:lstStyle/>
        <a:p>
          <a:endParaRPr lang="en-US"/>
        </a:p>
      </dgm:t>
    </dgm:pt>
    <dgm:pt modelId="{FA8AC00C-B205-4F18-A688-7F2FA2709272}">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smtClean="0">
              <a:ln>
                <a:noFill/>
              </a:ln>
              <a:solidFill>
                <a:schemeClr val="tx1"/>
              </a:solidFill>
              <a:effectLst/>
              <a:latin typeface="Arial" charset="0"/>
            </a:rPr>
            <a:t>Non-tax Sources</a:t>
          </a:r>
        </a:p>
      </dgm:t>
    </dgm:pt>
    <dgm:pt modelId="{6CAAEEA6-FAFF-4584-8E0E-837661477666}" type="parTrans" cxnId="{EA94566B-729C-4592-A678-7CEEE74230CB}">
      <dgm:prSet/>
      <dgm:spPr/>
      <dgm:t>
        <a:bodyPr/>
        <a:lstStyle/>
        <a:p>
          <a:endParaRPr lang="en-US"/>
        </a:p>
      </dgm:t>
    </dgm:pt>
    <dgm:pt modelId="{17F00089-EEEE-4394-A805-F6EAFCFDC2E7}" type="sibTrans" cxnId="{EA94566B-729C-4592-A678-7CEEE74230CB}">
      <dgm:prSet/>
      <dgm:spPr/>
      <dgm:t>
        <a:bodyPr/>
        <a:lstStyle/>
        <a:p>
          <a:endParaRPr lang="en-US"/>
        </a:p>
      </dgm:t>
    </dgm:pt>
    <dgm:pt modelId="{B20ABEF3-9108-4C86-A215-E844EED1E698}">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smtClean="0">
              <a:ln>
                <a:noFill/>
              </a:ln>
              <a:solidFill>
                <a:schemeClr val="tx1"/>
              </a:solidFill>
              <a:effectLst/>
              <a:latin typeface="Arial" charset="0"/>
            </a:rPr>
            <a:t>Revenue Receipts</a:t>
          </a:r>
        </a:p>
      </dgm:t>
    </dgm:pt>
    <dgm:pt modelId="{EB3F9196-F905-4574-9C67-54EEE6BB88E3}" type="parTrans" cxnId="{C7BEBC2E-EB82-41C0-A762-B88E7A3965C0}">
      <dgm:prSet/>
      <dgm:spPr/>
      <dgm:t>
        <a:bodyPr/>
        <a:lstStyle/>
        <a:p>
          <a:endParaRPr lang="en-US"/>
        </a:p>
      </dgm:t>
    </dgm:pt>
    <dgm:pt modelId="{A3A3BE22-5E07-4968-A973-A6D2FB7FAB9F}" type="sibTrans" cxnId="{C7BEBC2E-EB82-41C0-A762-B88E7A3965C0}">
      <dgm:prSet/>
      <dgm:spPr/>
      <dgm:t>
        <a:bodyPr/>
        <a:lstStyle/>
        <a:p>
          <a:endParaRPr lang="en-US"/>
        </a:p>
      </dgm:t>
    </dgm:pt>
    <dgm:pt modelId="{130E578B-68BF-44CE-8DC6-7A4A46EB80F7}">
      <dgm:prSet/>
      <dgm:spPr/>
      <dgm: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smtClean="0">
              <a:ln>
                <a:noFill/>
              </a:ln>
              <a:solidFill>
                <a:schemeClr val="tx1"/>
              </a:solidFill>
              <a:effectLst/>
              <a:latin typeface="Arial" charset="0"/>
            </a:rPr>
            <a:t>Capital Receipts</a:t>
          </a:r>
        </a:p>
      </dgm:t>
    </dgm:pt>
    <dgm:pt modelId="{ECF62252-ADE0-443A-97E5-3D27942C95DB}" type="parTrans" cxnId="{0C4596AA-E3C2-4E98-A261-D887E1164860}">
      <dgm:prSet/>
      <dgm:spPr/>
      <dgm:t>
        <a:bodyPr/>
        <a:lstStyle/>
        <a:p>
          <a:endParaRPr lang="en-US"/>
        </a:p>
      </dgm:t>
    </dgm:pt>
    <dgm:pt modelId="{47DB68B9-A63F-4333-BE62-27E41CE4F63F}" type="sibTrans" cxnId="{0C4596AA-E3C2-4E98-A261-D887E1164860}">
      <dgm:prSet/>
      <dgm:spPr/>
      <dgm:t>
        <a:bodyPr/>
        <a:lstStyle/>
        <a:p>
          <a:endParaRPr lang="en-US"/>
        </a:p>
      </dgm:t>
    </dgm:pt>
    <dgm:pt modelId="{7A4B7B0C-3217-4C46-8AF5-706881687F87}" type="pres">
      <dgm:prSet presAssocID="{127D84E1-EB92-49A2-A4F1-FD50036AF186}" presName="hierChild1" presStyleCnt="0">
        <dgm:presLayoutVars>
          <dgm:orgChart val="1"/>
          <dgm:chPref val="1"/>
          <dgm:dir/>
          <dgm:animOne val="branch"/>
          <dgm:animLvl val="lvl"/>
          <dgm:resizeHandles/>
        </dgm:presLayoutVars>
      </dgm:prSet>
      <dgm:spPr/>
    </dgm:pt>
    <dgm:pt modelId="{4E55B4D3-514B-4BFE-846F-EFCB1FA51132}" type="pres">
      <dgm:prSet presAssocID="{C8A3B01B-E384-4839-8CD0-84D811430324}" presName="hierRoot1" presStyleCnt="0">
        <dgm:presLayoutVars>
          <dgm:hierBranch val="r"/>
        </dgm:presLayoutVars>
      </dgm:prSet>
      <dgm:spPr/>
    </dgm:pt>
    <dgm:pt modelId="{89163173-9BB0-4BE7-9394-AFE6964F1EC9}" type="pres">
      <dgm:prSet presAssocID="{C8A3B01B-E384-4839-8CD0-84D811430324}" presName="rootComposite1" presStyleCnt="0"/>
      <dgm:spPr/>
    </dgm:pt>
    <dgm:pt modelId="{402173CC-8C38-4C8C-BFA7-CB123A055393}" type="pres">
      <dgm:prSet presAssocID="{C8A3B01B-E384-4839-8CD0-84D811430324}" presName="rootText1" presStyleLbl="node0" presStyleIdx="0" presStyleCnt="1">
        <dgm:presLayoutVars>
          <dgm:chPref val="3"/>
        </dgm:presLayoutVars>
      </dgm:prSet>
      <dgm:spPr/>
      <dgm:t>
        <a:bodyPr/>
        <a:lstStyle/>
        <a:p>
          <a:endParaRPr lang="en-US"/>
        </a:p>
      </dgm:t>
    </dgm:pt>
    <dgm:pt modelId="{8730043A-2B99-439F-8993-D80142DDE37D}" type="pres">
      <dgm:prSet presAssocID="{C8A3B01B-E384-4839-8CD0-84D811430324}" presName="rootConnector1" presStyleLbl="node1" presStyleIdx="0" presStyleCnt="0"/>
      <dgm:spPr/>
      <dgm:t>
        <a:bodyPr/>
        <a:lstStyle/>
        <a:p>
          <a:endParaRPr lang="en-US"/>
        </a:p>
      </dgm:t>
    </dgm:pt>
    <dgm:pt modelId="{FD7A500B-6605-4F8B-B438-B2874F909A73}" type="pres">
      <dgm:prSet presAssocID="{C8A3B01B-E384-4839-8CD0-84D811430324}" presName="hierChild2" presStyleCnt="0"/>
      <dgm:spPr/>
    </dgm:pt>
    <dgm:pt modelId="{C7B2AD67-832A-4A6B-BE03-71F336046E21}" type="pres">
      <dgm:prSet presAssocID="{DDF31C2B-8AB8-4BAA-8554-73E16435828F}" presName="Name50" presStyleLbl="parChTrans1D2" presStyleIdx="0" presStyleCnt="2"/>
      <dgm:spPr/>
      <dgm:t>
        <a:bodyPr/>
        <a:lstStyle/>
        <a:p>
          <a:endParaRPr lang="en-US"/>
        </a:p>
      </dgm:t>
    </dgm:pt>
    <dgm:pt modelId="{3A6893E5-8EAA-4F79-85B3-A1FB4EBB8437}" type="pres">
      <dgm:prSet presAssocID="{71187AAB-F369-4EEF-B1A9-C3A19E13A316}" presName="hierRoot2" presStyleCnt="0">
        <dgm:presLayoutVars>
          <dgm:hierBranch/>
        </dgm:presLayoutVars>
      </dgm:prSet>
      <dgm:spPr/>
    </dgm:pt>
    <dgm:pt modelId="{D36D79F4-882B-48EA-9EC0-297D84451438}" type="pres">
      <dgm:prSet presAssocID="{71187AAB-F369-4EEF-B1A9-C3A19E13A316}" presName="rootComposite" presStyleCnt="0"/>
      <dgm:spPr/>
    </dgm:pt>
    <dgm:pt modelId="{0DA1F44B-2775-4500-8B85-666A2B4DC7EC}" type="pres">
      <dgm:prSet presAssocID="{71187AAB-F369-4EEF-B1A9-C3A19E13A316}" presName="rootText" presStyleLbl="node2" presStyleIdx="0" presStyleCnt="2">
        <dgm:presLayoutVars>
          <dgm:chPref val="3"/>
        </dgm:presLayoutVars>
      </dgm:prSet>
      <dgm:spPr/>
      <dgm:t>
        <a:bodyPr/>
        <a:lstStyle/>
        <a:p>
          <a:endParaRPr lang="en-US"/>
        </a:p>
      </dgm:t>
    </dgm:pt>
    <dgm:pt modelId="{F7EBC861-A50E-44A3-9670-977AABC641E2}" type="pres">
      <dgm:prSet presAssocID="{71187AAB-F369-4EEF-B1A9-C3A19E13A316}" presName="rootConnector" presStyleLbl="node2" presStyleIdx="0" presStyleCnt="2"/>
      <dgm:spPr/>
      <dgm:t>
        <a:bodyPr/>
        <a:lstStyle/>
        <a:p>
          <a:endParaRPr lang="en-US"/>
        </a:p>
      </dgm:t>
    </dgm:pt>
    <dgm:pt modelId="{2F5098F7-2303-43D1-8D40-17A4B257A9F4}" type="pres">
      <dgm:prSet presAssocID="{71187AAB-F369-4EEF-B1A9-C3A19E13A316}" presName="hierChild4" presStyleCnt="0"/>
      <dgm:spPr/>
    </dgm:pt>
    <dgm:pt modelId="{4669A105-408A-4CD3-BF90-173FFB9979A0}" type="pres">
      <dgm:prSet presAssocID="{71187AAB-F369-4EEF-B1A9-C3A19E13A316}" presName="hierChild5" presStyleCnt="0"/>
      <dgm:spPr/>
    </dgm:pt>
    <dgm:pt modelId="{FCAA6680-371F-4EE8-8D39-2D75D8F14667}" type="pres">
      <dgm:prSet presAssocID="{6CAAEEA6-FAFF-4584-8E0E-837661477666}" presName="Name50" presStyleLbl="parChTrans1D2" presStyleIdx="1" presStyleCnt="2"/>
      <dgm:spPr/>
      <dgm:t>
        <a:bodyPr/>
        <a:lstStyle/>
        <a:p>
          <a:endParaRPr lang="en-US"/>
        </a:p>
      </dgm:t>
    </dgm:pt>
    <dgm:pt modelId="{54B369AE-29E2-45A2-8E00-591EA67F0ACD}" type="pres">
      <dgm:prSet presAssocID="{FA8AC00C-B205-4F18-A688-7F2FA2709272}" presName="hierRoot2" presStyleCnt="0">
        <dgm:presLayoutVars>
          <dgm:hierBranch/>
        </dgm:presLayoutVars>
      </dgm:prSet>
      <dgm:spPr/>
    </dgm:pt>
    <dgm:pt modelId="{E2AD2FFC-E9E8-46B8-89CC-AE82F8DB287E}" type="pres">
      <dgm:prSet presAssocID="{FA8AC00C-B205-4F18-A688-7F2FA2709272}" presName="rootComposite" presStyleCnt="0"/>
      <dgm:spPr/>
    </dgm:pt>
    <dgm:pt modelId="{AAA7C062-E915-4807-87CA-02311A97C3C7}" type="pres">
      <dgm:prSet presAssocID="{FA8AC00C-B205-4F18-A688-7F2FA2709272}" presName="rootText" presStyleLbl="node2" presStyleIdx="1" presStyleCnt="2">
        <dgm:presLayoutVars>
          <dgm:chPref val="3"/>
        </dgm:presLayoutVars>
      </dgm:prSet>
      <dgm:spPr/>
      <dgm:t>
        <a:bodyPr/>
        <a:lstStyle/>
        <a:p>
          <a:endParaRPr lang="en-US"/>
        </a:p>
      </dgm:t>
    </dgm:pt>
    <dgm:pt modelId="{E940B5DC-9767-4545-B3F2-2A6388B7376F}" type="pres">
      <dgm:prSet presAssocID="{FA8AC00C-B205-4F18-A688-7F2FA2709272}" presName="rootConnector" presStyleLbl="node2" presStyleIdx="1" presStyleCnt="2"/>
      <dgm:spPr/>
      <dgm:t>
        <a:bodyPr/>
        <a:lstStyle/>
        <a:p>
          <a:endParaRPr lang="en-US"/>
        </a:p>
      </dgm:t>
    </dgm:pt>
    <dgm:pt modelId="{F71DA869-2429-4BAC-BCEC-CDC7C71226B2}" type="pres">
      <dgm:prSet presAssocID="{FA8AC00C-B205-4F18-A688-7F2FA2709272}" presName="hierChild4" presStyleCnt="0"/>
      <dgm:spPr/>
    </dgm:pt>
    <dgm:pt modelId="{E219EB35-BFFB-4CF4-B3E3-50AC2927F585}" type="pres">
      <dgm:prSet presAssocID="{EB3F9196-F905-4574-9C67-54EEE6BB88E3}" presName="Name35" presStyleLbl="parChTrans1D3" presStyleIdx="0" presStyleCnt="2"/>
      <dgm:spPr/>
      <dgm:t>
        <a:bodyPr/>
        <a:lstStyle/>
        <a:p>
          <a:endParaRPr lang="en-US"/>
        </a:p>
      </dgm:t>
    </dgm:pt>
    <dgm:pt modelId="{B36CFA61-F68A-4618-AFF1-4B3EF9DE1CCD}" type="pres">
      <dgm:prSet presAssocID="{B20ABEF3-9108-4C86-A215-E844EED1E698}" presName="hierRoot2" presStyleCnt="0">
        <dgm:presLayoutVars>
          <dgm:hierBranch val="r"/>
        </dgm:presLayoutVars>
      </dgm:prSet>
      <dgm:spPr/>
    </dgm:pt>
    <dgm:pt modelId="{CE5EB455-A1F4-400F-BF3C-E442AC516BC4}" type="pres">
      <dgm:prSet presAssocID="{B20ABEF3-9108-4C86-A215-E844EED1E698}" presName="rootComposite" presStyleCnt="0"/>
      <dgm:spPr/>
    </dgm:pt>
    <dgm:pt modelId="{05C80C2C-D50E-4E5D-8C22-DC40D3065DCE}" type="pres">
      <dgm:prSet presAssocID="{B20ABEF3-9108-4C86-A215-E844EED1E698}" presName="rootText" presStyleLbl="node3" presStyleIdx="0" presStyleCnt="2">
        <dgm:presLayoutVars>
          <dgm:chPref val="3"/>
        </dgm:presLayoutVars>
      </dgm:prSet>
      <dgm:spPr/>
      <dgm:t>
        <a:bodyPr/>
        <a:lstStyle/>
        <a:p>
          <a:endParaRPr lang="en-US"/>
        </a:p>
      </dgm:t>
    </dgm:pt>
    <dgm:pt modelId="{762740AF-EA25-424F-987B-5E2B99DD7DC0}" type="pres">
      <dgm:prSet presAssocID="{B20ABEF3-9108-4C86-A215-E844EED1E698}" presName="rootConnector" presStyleLbl="node3" presStyleIdx="0" presStyleCnt="2"/>
      <dgm:spPr/>
      <dgm:t>
        <a:bodyPr/>
        <a:lstStyle/>
        <a:p>
          <a:endParaRPr lang="en-US"/>
        </a:p>
      </dgm:t>
    </dgm:pt>
    <dgm:pt modelId="{1B9027C4-8892-4CCE-83AA-01699F3FC63A}" type="pres">
      <dgm:prSet presAssocID="{B20ABEF3-9108-4C86-A215-E844EED1E698}" presName="hierChild4" presStyleCnt="0"/>
      <dgm:spPr/>
    </dgm:pt>
    <dgm:pt modelId="{DCDAC8B7-74D0-436E-AD6C-55615131B798}" type="pres">
      <dgm:prSet presAssocID="{B20ABEF3-9108-4C86-A215-E844EED1E698}" presName="hierChild5" presStyleCnt="0"/>
      <dgm:spPr/>
    </dgm:pt>
    <dgm:pt modelId="{0C0C3100-C623-499D-B407-2E4770E737BC}" type="pres">
      <dgm:prSet presAssocID="{ECF62252-ADE0-443A-97E5-3D27942C95DB}" presName="Name35" presStyleLbl="parChTrans1D3" presStyleIdx="1" presStyleCnt="2"/>
      <dgm:spPr/>
      <dgm:t>
        <a:bodyPr/>
        <a:lstStyle/>
        <a:p>
          <a:endParaRPr lang="en-US"/>
        </a:p>
      </dgm:t>
    </dgm:pt>
    <dgm:pt modelId="{C57243C4-2CC8-4A7A-A35F-D89775EA5B1A}" type="pres">
      <dgm:prSet presAssocID="{130E578B-68BF-44CE-8DC6-7A4A46EB80F7}" presName="hierRoot2" presStyleCnt="0">
        <dgm:presLayoutVars>
          <dgm:hierBranch val="r"/>
        </dgm:presLayoutVars>
      </dgm:prSet>
      <dgm:spPr/>
    </dgm:pt>
    <dgm:pt modelId="{C7E2A946-730E-4695-ACD8-125BA988DEEE}" type="pres">
      <dgm:prSet presAssocID="{130E578B-68BF-44CE-8DC6-7A4A46EB80F7}" presName="rootComposite" presStyleCnt="0"/>
      <dgm:spPr/>
    </dgm:pt>
    <dgm:pt modelId="{9AA1F392-BAF7-4EA8-A88E-7C0F34303388}" type="pres">
      <dgm:prSet presAssocID="{130E578B-68BF-44CE-8DC6-7A4A46EB80F7}" presName="rootText" presStyleLbl="node3" presStyleIdx="1" presStyleCnt="2">
        <dgm:presLayoutVars>
          <dgm:chPref val="3"/>
        </dgm:presLayoutVars>
      </dgm:prSet>
      <dgm:spPr/>
      <dgm:t>
        <a:bodyPr/>
        <a:lstStyle/>
        <a:p>
          <a:endParaRPr lang="en-US"/>
        </a:p>
      </dgm:t>
    </dgm:pt>
    <dgm:pt modelId="{2F12FD0D-D7C7-4DC3-8056-9905C0F0B965}" type="pres">
      <dgm:prSet presAssocID="{130E578B-68BF-44CE-8DC6-7A4A46EB80F7}" presName="rootConnector" presStyleLbl="node3" presStyleIdx="1" presStyleCnt="2"/>
      <dgm:spPr/>
      <dgm:t>
        <a:bodyPr/>
        <a:lstStyle/>
        <a:p>
          <a:endParaRPr lang="en-US"/>
        </a:p>
      </dgm:t>
    </dgm:pt>
    <dgm:pt modelId="{14330EF4-DB00-46DE-9BEA-EC08EC8F66E5}" type="pres">
      <dgm:prSet presAssocID="{130E578B-68BF-44CE-8DC6-7A4A46EB80F7}" presName="hierChild4" presStyleCnt="0"/>
      <dgm:spPr/>
    </dgm:pt>
    <dgm:pt modelId="{6533EDBD-1A59-4FE7-86E6-94A1B669BD45}" type="pres">
      <dgm:prSet presAssocID="{130E578B-68BF-44CE-8DC6-7A4A46EB80F7}" presName="hierChild5" presStyleCnt="0"/>
      <dgm:spPr/>
    </dgm:pt>
    <dgm:pt modelId="{6D3CB527-ACC0-4732-83AC-6637FA89EA53}" type="pres">
      <dgm:prSet presAssocID="{FA8AC00C-B205-4F18-A688-7F2FA2709272}" presName="hierChild5" presStyleCnt="0"/>
      <dgm:spPr/>
    </dgm:pt>
    <dgm:pt modelId="{19052E39-21CA-4934-8F8E-BF03F41D63A2}" type="pres">
      <dgm:prSet presAssocID="{C8A3B01B-E384-4839-8CD0-84D811430324}" presName="hierChild3" presStyleCnt="0"/>
      <dgm:spPr/>
    </dgm:pt>
  </dgm:ptLst>
  <dgm:cxnLst>
    <dgm:cxn modelId="{B32E907E-3B57-46D5-B6CD-9ADA30DC09E5}" type="presOf" srcId="{EB3F9196-F905-4574-9C67-54EEE6BB88E3}" destId="{E219EB35-BFFB-4CF4-B3E3-50AC2927F585}" srcOrd="0" destOrd="0" presId="urn:microsoft.com/office/officeart/2005/8/layout/orgChart1"/>
    <dgm:cxn modelId="{C213F6E3-F657-4104-B572-7A87E78B82FC}" type="presOf" srcId="{6CAAEEA6-FAFF-4584-8E0E-837661477666}" destId="{FCAA6680-371F-4EE8-8D39-2D75D8F14667}" srcOrd="0" destOrd="0" presId="urn:microsoft.com/office/officeart/2005/8/layout/orgChart1"/>
    <dgm:cxn modelId="{EA94566B-729C-4592-A678-7CEEE74230CB}" srcId="{C8A3B01B-E384-4839-8CD0-84D811430324}" destId="{FA8AC00C-B205-4F18-A688-7F2FA2709272}" srcOrd="1" destOrd="0" parTransId="{6CAAEEA6-FAFF-4584-8E0E-837661477666}" sibTransId="{17F00089-EEEE-4394-A805-F6EAFCFDC2E7}"/>
    <dgm:cxn modelId="{0E5037E5-A9AB-476C-BD69-445392088B5B}" type="presOf" srcId="{C8A3B01B-E384-4839-8CD0-84D811430324}" destId="{8730043A-2B99-439F-8993-D80142DDE37D}" srcOrd="1" destOrd="0" presId="urn:microsoft.com/office/officeart/2005/8/layout/orgChart1"/>
    <dgm:cxn modelId="{F7748EBB-33AB-4CD1-982C-27B32D1429F4}" type="presOf" srcId="{FA8AC00C-B205-4F18-A688-7F2FA2709272}" destId="{AAA7C062-E915-4807-87CA-02311A97C3C7}" srcOrd="0" destOrd="0" presId="urn:microsoft.com/office/officeart/2005/8/layout/orgChart1"/>
    <dgm:cxn modelId="{84F678CF-4767-4128-9DA1-533BD2DB9AE9}" type="presOf" srcId="{71187AAB-F369-4EEF-B1A9-C3A19E13A316}" destId="{F7EBC861-A50E-44A3-9670-977AABC641E2}" srcOrd="1" destOrd="0" presId="urn:microsoft.com/office/officeart/2005/8/layout/orgChart1"/>
    <dgm:cxn modelId="{DA5A5152-426A-464D-9F73-8DFA14D52773}" type="presOf" srcId="{130E578B-68BF-44CE-8DC6-7A4A46EB80F7}" destId="{2F12FD0D-D7C7-4DC3-8056-9905C0F0B965}" srcOrd="1" destOrd="0" presId="urn:microsoft.com/office/officeart/2005/8/layout/orgChart1"/>
    <dgm:cxn modelId="{A557334F-899E-4AD7-B4C8-7752BA716596}" type="presOf" srcId="{127D84E1-EB92-49A2-A4F1-FD50036AF186}" destId="{7A4B7B0C-3217-4C46-8AF5-706881687F87}" srcOrd="0" destOrd="0" presId="urn:microsoft.com/office/officeart/2005/8/layout/orgChart1"/>
    <dgm:cxn modelId="{61FF97A5-A770-4F1D-B8AB-3397CE247845}" type="presOf" srcId="{B20ABEF3-9108-4C86-A215-E844EED1E698}" destId="{762740AF-EA25-424F-987B-5E2B99DD7DC0}" srcOrd="1" destOrd="0" presId="urn:microsoft.com/office/officeart/2005/8/layout/orgChart1"/>
    <dgm:cxn modelId="{EC414729-EBE7-421B-BC6C-361697B33020}" srcId="{C8A3B01B-E384-4839-8CD0-84D811430324}" destId="{71187AAB-F369-4EEF-B1A9-C3A19E13A316}" srcOrd="0" destOrd="0" parTransId="{DDF31C2B-8AB8-4BAA-8554-73E16435828F}" sibTransId="{3EA860FC-5732-47A4-8303-00A115AC59D1}"/>
    <dgm:cxn modelId="{99A10DE4-9B0F-4D7E-BA92-0868C4178016}" type="presOf" srcId="{71187AAB-F369-4EEF-B1A9-C3A19E13A316}" destId="{0DA1F44B-2775-4500-8B85-666A2B4DC7EC}" srcOrd="0" destOrd="0" presId="urn:microsoft.com/office/officeart/2005/8/layout/orgChart1"/>
    <dgm:cxn modelId="{0C4596AA-E3C2-4E98-A261-D887E1164860}" srcId="{FA8AC00C-B205-4F18-A688-7F2FA2709272}" destId="{130E578B-68BF-44CE-8DC6-7A4A46EB80F7}" srcOrd="1" destOrd="0" parTransId="{ECF62252-ADE0-443A-97E5-3D27942C95DB}" sibTransId="{47DB68B9-A63F-4333-BE62-27E41CE4F63F}"/>
    <dgm:cxn modelId="{59CABC26-8253-4AE1-A105-A8A39ACD76D3}" srcId="{127D84E1-EB92-49A2-A4F1-FD50036AF186}" destId="{C8A3B01B-E384-4839-8CD0-84D811430324}" srcOrd="0" destOrd="0" parTransId="{5D0018D2-0236-4CED-A39B-0F9FB0D941ED}" sibTransId="{D6928AA0-E905-43A8-8378-C2B2CD11C3F3}"/>
    <dgm:cxn modelId="{C7BEBC2E-EB82-41C0-A762-B88E7A3965C0}" srcId="{FA8AC00C-B205-4F18-A688-7F2FA2709272}" destId="{B20ABEF3-9108-4C86-A215-E844EED1E698}" srcOrd="0" destOrd="0" parTransId="{EB3F9196-F905-4574-9C67-54EEE6BB88E3}" sibTransId="{A3A3BE22-5E07-4968-A973-A6D2FB7FAB9F}"/>
    <dgm:cxn modelId="{936B021A-2943-425C-9E68-BF460DAA6EEE}" type="presOf" srcId="{130E578B-68BF-44CE-8DC6-7A4A46EB80F7}" destId="{9AA1F392-BAF7-4EA8-A88E-7C0F34303388}" srcOrd="0" destOrd="0" presId="urn:microsoft.com/office/officeart/2005/8/layout/orgChart1"/>
    <dgm:cxn modelId="{5470206A-3FEB-41C5-B655-38F4160F1974}" type="presOf" srcId="{FA8AC00C-B205-4F18-A688-7F2FA2709272}" destId="{E940B5DC-9767-4545-B3F2-2A6388B7376F}" srcOrd="1" destOrd="0" presId="urn:microsoft.com/office/officeart/2005/8/layout/orgChart1"/>
    <dgm:cxn modelId="{6FDD8B5B-7E48-4AB5-9F4D-BFE14103DFC4}" type="presOf" srcId="{C8A3B01B-E384-4839-8CD0-84D811430324}" destId="{402173CC-8C38-4C8C-BFA7-CB123A055393}" srcOrd="0" destOrd="0" presId="urn:microsoft.com/office/officeart/2005/8/layout/orgChart1"/>
    <dgm:cxn modelId="{06472340-74C4-4C47-861E-B6EA178518E1}" type="presOf" srcId="{B20ABEF3-9108-4C86-A215-E844EED1E698}" destId="{05C80C2C-D50E-4E5D-8C22-DC40D3065DCE}" srcOrd="0" destOrd="0" presId="urn:microsoft.com/office/officeart/2005/8/layout/orgChart1"/>
    <dgm:cxn modelId="{E33560C8-19B4-4B9B-9872-025265767228}" type="presOf" srcId="{DDF31C2B-8AB8-4BAA-8554-73E16435828F}" destId="{C7B2AD67-832A-4A6B-BE03-71F336046E21}" srcOrd="0" destOrd="0" presId="urn:microsoft.com/office/officeart/2005/8/layout/orgChart1"/>
    <dgm:cxn modelId="{17DAB5ED-544A-49AA-A8AF-E77CF8207082}" type="presOf" srcId="{ECF62252-ADE0-443A-97E5-3D27942C95DB}" destId="{0C0C3100-C623-499D-B407-2E4770E737BC}" srcOrd="0" destOrd="0" presId="urn:microsoft.com/office/officeart/2005/8/layout/orgChart1"/>
    <dgm:cxn modelId="{F60F7B83-BADD-476A-A94C-6C355B752A45}" type="presParOf" srcId="{7A4B7B0C-3217-4C46-8AF5-706881687F87}" destId="{4E55B4D3-514B-4BFE-846F-EFCB1FA51132}" srcOrd="0" destOrd="0" presId="urn:microsoft.com/office/officeart/2005/8/layout/orgChart1"/>
    <dgm:cxn modelId="{A856934E-2662-4E4A-97A4-712F6DEA869F}" type="presParOf" srcId="{4E55B4D3-514B-4BFE-846F-EFCB1FA51132}" destId="{89163173-9BB0-4BE7-9394-AFE6964F1EC9}" srcOrd="0" destOrd="0" presId="urn:microsoft.com/office/officeart/2005/8/layout/orgChart1"/>
    <dgm:cxn modelId="{DE405765-DF41-4C89-A955-AD75B82407BC}" type="presParOf" srcId="{89163173-9BB0-4BE7-9394-AFE6964F1EC9}" destId="{402173CC-8C38-4C8C-BFA7-CB123A055393}" srcOrd="0" destOrd="0" presId="urn:microsoft.com/office/officeart/2005/8/layout/orgChart1"/>
    <dgm:cxn modelId="{77313DCB-CD81-45E8-BFAE-C1D71E700A67}" type="presParOf" srcId="{89163173-9BB0-4BE7-9394-AFE6964F1EC9}" destId="{8730043A-2B99-439F-8993-D80142DDE37D}" srcOrd="1" destOrd="0" presId="urn:microsoft.com/office/officeart/2005/8/layout/orgChart1"/>
    <dgm:cxn modelId="{FC3DD00A-CC03-45B3-AB17-925541262014}" type="presParOf" srcId="{4E55B4D3-514B-4BFE-846F-EFCB1FA51132}" destId="{FD7A500B-6605-4F8B-B438-B2874F909A73}" srcOrd="1" destOrd="0" presId="urn:microsoft.com/office/officeart/2005/8/layout/orgChart1"/>
    <dgm:cxn modelId="{582DED68-286D-4D52-8EB8-AB3831F17095}" type="presParOf" srcId="{FD7A500B-6605-4F8B-B438-B2874F909A73}" destId="{C7B2AD67-832A-4A6B-BE03-71F336046E21}" srcOrd="0" destOrd="0" presId="urn:microsoft.com/office/officeart/2005/8/layout/orgChart1"/>
    <dgm:cxn modelId="{C6DC5EA5-76A5-4598-9C81-72183148AFBD}" type="presParOf" srcId="{FD7A500B-6605-4F8B-B438-B2874F909A73}" destId="{3A6893E5-8EAA-4F79-85B3-A1FB4EBB8437}" srcOrd="1" destOrd="0" presId="urn:microsoft.com/office/officeart/2005/8/layout/orgChart1"/>
    <dgm:cxn modelId="{7C2DC8E1-AEA6-4424-952C-95DFF05A809F}" type="presParOf" srcId="{3A6893E5-8EAA-4F79-85B3-A1FB4EBB8437}" destId="{D36D79F4-882B-48EA-9EC0-297D84451438}" srcOrd="0" destOrd="0" presId="urn:microsoft.com/office/officeart/2005/8/layout/orgChart1"/>
    <dgm:cxn modelId="{CDD7D825-E34F-45E7-9C58-68E2ED273A2F}" type="presParOf" srcId="{D36D79F4-882B-48EA-9EC0-297D84451438}" destId="{0DA1F44B-2775-4500-8B85-666A2B4DC7EC}" srcOrd="0" destOrd="0" presId="urn:microsoft.com/office/officeart/2005/8/layout/orgChart1"/>
    <dgm:cxn modelId="{558B0920-7326-4354-BA8F-C139F355CD46}" type="presParOf" srcId="{D36D79F4-882B-48EA-9EC0-297D84451438}" destId="{F7EBC861-A50E-44A3-9670-977AABC641E2}" srcOrd="1" destOrd="0" presId="urn:microsoft.com/office/officeart/2005/8/layout/orgChart1"/>
    <dgm:cxn modelId="{9B929E56-E3FD-4AE4-BC8A-D09DD9B33F9C}" type="presParOf" srcId="{3A6893E5-8EAA-4F79-85B3-A1FB4EBB8437}" destId="{2F5098F7-2303-43D1-8D40-17A4B257A9F4}" srcOrd="1" destOrd="0" presId="urn:microsoft.com/office/officeart/2005/8/layout/orgChart1"/>
    <dgm:cxn modelId="{80AF0B84-0965-45C5-AF7A-5B279D9E65DC}" type="presParOf" srcId="{3A6893E5-8EAA-4F79-85B3-A1FB4EBB8437}" destId="{4669A105-408A-4CD3-BF90-173FFB9979A0}" srcOrd="2" destOrd="0" presId="urn:microsoft.com/office/officeart/2005/8/layout/orgChart1"/>
    <dgm:cxn modelId="{0FC2ECAC-9C06-478D-BBAF-627F4F1591B9}" type="presParOf" srcId="{FD7A500B-6605-4F8B-B438-B2874F909A73}" destId="{FCAA6680-371F-4EE8-8D39-2D75D8F14667}" srcOrd="2" destOrd="0" presId="urn:microsoft.com/office/officeart/2005/8/layout/orgChart1"/>
    <dgm:cxn modelId="{1A6AA909-9466-4D42-AB29-A587D87A1E86}" type="presParOf" srcId="{FD7A500B-6605-4F8B-B438-B2874F909A73}" destId="{54B369AE-29E2-45A2-8E00-591EA67F0ACD}" srcOrd="3" destOrd="0" presId="urn:microsoft.com/office/officeart/2005/8/layout/orgChart1"/>
    <dgm:cxn modelId="{D4711FBE-F327-4EE2-9050-1D6268A93E10}" type="presParOf" srcId="{54B369AE-29E2-45A2-8E00-591EA67F0ACD}" destId="{E2AD2FFC-E9E8-46B8-89CC-AE82F8DB287E}" srcOrd="0" destOrd="0" presId="urn:microsoft.com/office/officeart/2005/8/layout/orgChart1"/>
    <dgm:cxn modelId="{538FA244-BCFD-4826-A066-E7D10756D3AD}" type="presParOf" srcId="{E2AD2FFC-E9E8-46B8-89CC-AE82F8DB287E}" destId="{AAA7C062-E915-4807-87CA-02311A97C3C7}" srcOrd="0" destOrd="0" presId="urn:microsoft.com/office/officeart/2005/8/layout/orgChart1"/>
    <dgm:cxn modelId="{4715C9C8-52D1-4A02-8C03-647F50A2C59A}" type="presParOf" srcId="{E2AD2FFC-E9E8-46B8-89CC-AE82F8DB287E}" destId="{E940B5DC-9767-4545-B3F2-2A6388B7376F}" srcOrd="1" destOrd="0" presId="urn:microsoft.com/office/officeart/2005/8/layout/orgChart1"/>
    <dgm:cxn modelId="{47691524-C2D7-4F58-8423-909833F960EA}" type="presParOf" srcId="{54B369AE-29E2-45A2-8E00-591EA67F0ACD}" destId="{F71DA869-2429-4BAC-BCEC-CDC7C71226B2}" srcOrd="1" destOrd="0" presId="urn:microsoft.com/office/officeart/2005/8/layout/orgChart1"/>
    <dgm:cxn modelId="{E2C52F0C-3C2E-4CBE-BC88-AFA61E1A458E}" type="presParOf" srcId="{F71DA869-2429-4BAC-BCEC-CDC7C71226B2}" destId="{E219EB35-BFFB-4CF4-B3E3-50AC2927F585}" srcOrd="0" destOrd="0" presId="urn:microsoft.com/office/officeart/2005/8/layout/orgChart1"/>
    <dgm:cxn modelId="{E5604238-D634-44CF-AF87-D589FE3B834B}" type="presParOf" srcId="{F71DA869-2429-4BAC-BCEC-CDC7C71226B2}" destId="{B36CFA61-F68A-4618-AFF1-4B3EF9DE1CCD}" srcOrd="1" destOrd="0" presId="urn:microsoft.com/office/officeart/2005/8/layout/orgChart1"/>
    <dgm:cxn modelId="{5E7B14F4-5DD6-46CA-AEBA-5400B9C6DDF6}" type="presParOf" srcId="{B36CFA61-F68A-4618-AFF1-4B3EF9DE1CCD}" destId="{CE5EB455-A1F4-400F-BF3C-E442AC516BC4}" srcOrd="0" destOrd="0" presId="urn:microsoft.com/office/officeart/2005/8/layout/orgChart1"/>
    <dgm:cxn modelId="{E54A7F8D-7A85-45AB-B5DE-E266EDD3E3C3}" type="presParOf" srcId="{CE5EB455-A1F4-400F-BF3C-E442AC516BC4}" destId="{05C80C2C-D50E-4E5D-8C22-DC40D3065DCE}" srcOrd="0" destOrd="0" presId="urn:microsoft.com/office/officeart/2005/8/layout/orgChart1"/>
    <dgm:cxn modelId="{B81041DF-4CF4-47EC-A3B4-A5ECEC27E63B}" type="presParOf" srcId="{CE5EB455-A1F4-400F-BF3C-E442AC516BC4}" destId="{762740AF-EA25-424F-987B-5E2B99DD7DC0}" srcOrd="1" destOrd="0" presId="urn:microsoft.com/office/officeart/2005/8/layout/orgChart1"/>
    <dgm:cxn modelId="{EDADB9B5-D10F-4622-8E02-9667FA68A39D}" type="presParOf" srcId="{B36CFA61-F68A-4618-AFF1-4B3EF9DE1CCD}" destId="{1B9027C4-8892-4CCE-83AA-01699F3FC63A}" srcOrd="1" destOrd="0" presId="urn:microsoft.com/office/officeart/2005/8/layout/orgChart1"/>
    <dgm:cxn modelId="{04751696-09C3-4B66-9117-DACE0A27038A}" type="presParOf" srcId="{B36CFA61-F68A-4618-AFF1-4B3EF9DE1CCD}" destId="{DCDAC8B7-74D0-436E-AD6C-55615131B798}" srcOrd="2" destOrd="0" presId="urn:microsoft.com/office/officeart/2005/8/layout/orgChart1"/>
    <dgm:cxn modelId="{78F2CAB5-AABF-4448-868A-540F19AA7A57}" type="presParOf" srcId="{F71DA869-2429-4BAC-BCEC-CDC7C71226B2}" destId="{0C0C3100-C623-499D-B407-2E4770E737BC}" srcOrd="2" destOrd="0" presId="urn:microsoft.com/office/officeart/2005/8/layout/orgChart1"/>
    <dgm:cxn modelId="{67EAB5F6-A44F-4F55-A289-42F8B879E781}" type="presParOf" srcId="{F71DA869-2429-4BAC-BCEC-CDC7C71226B2}" destId="{C57243C4-2CC8-4A7A-A35F-D89775EA5B1A}" srcOrd="3" destOrd="0" presId="urn:microsoft.com/office/officeart/2005/8/layout/orgChart1"/>
    <dgm:cxn modelId="{7D781294-D48F-4843-A704-39CE7A724604}" type="presParOf" srcId="{C57243C4-2CC8-4A7A-A35F-D89775EA5B1A}" destId="{C7E2A946-730E-4695-ACD8-125BA988DEEE}" srcOrd="0" destOrd="0" presId="urn:microsoft.com/office/officeart/2005/8/layout/orgChart1"/>
    <dgm:cxn modelId="{B4A54421-41AA-4632-A918-2D431E652CC7}" type="presParOf" srcId="{C7E2A946-730E-4695-ACD8-125BA988DEEE}" destId="{9AA1F392-BAF7-4EA8-A88E-7C0F34303388}" srcOrd="0" destOrd="0" presId="urn:microsoft.com/office/officeart/2005/8/layout/orgChart1"/>
    <dgm:cxn modelId="{7F9D2AFB-5643-42A0-B38B-959F74603E60}" type="presParOf" srcId="{C7E2A946-730E-4695-ACD8-125BA988DEEE}" destId="{2F12FD0D-D7C7-4DC3-8056-9905C0F0B965}" srcOrd="1" destOrd="0" presId="urn:microsoft.com/office/officeart/2005/8/layout/orgChart1"/>
    <dgm:cxn modelId="{AC41AB6E-22C2-4FD5-88AD-44B652486F2C}" type="presParOf" srcId="{C57243C4-2CC8-4A7A-A35F-D89775EA5B1A}" destId="{14330EF4-DB00-46DE-9BEA-EC08EC8F66E5}" srcOrd="1" destOrd="0" presId="urn:microsoft.com/office/officeart/2005/8/layout/orgChart1"/>
    <dgm:cxn modelId="{B96D1674-EA7E-4B9D-B499-58A6311650DE}" type="presParOf" srcId="{C57243C4-2CC8-4A7A-A35F-D89775EA5B1A}" destId="{6533EDBD-1A59-4FE7-86E6-94A1B669BD45}" srcOrd="2" destOrd="0" presId="urn:microsoft.com/office/officeart/2005/8/layout/orgChart1"/>
    <dgm:cxn modelId="{1472D6FF-6BA7-4B47-8C84-866F58186B70}" type="presParOf" srcId="{54B369AE-29E2-45A2-8E00-591EA67F0ACD}" destId="{6D3CB527-ACC0-4732-83AC-6637FA89EA53}" srcOrd="2" destOrd="0" presId="urn:microsoft.com/office/officeart/2005/8/layout/orgChart1"/>
    <dgm:cxn modelId="{2FCAA32A-7F14-4FD3-A21F-59DFD90B4B17}" type="presParOf" srcId="{4E55B4D3-514B-4BFE-846F-EFCB1FA51132}" destId="{19052E39-21CA-4934-8F8E-BF03F41D63A2}" srcOrd="2" destOrd="0" presId="urn:microsoft.com/office/officeart/2005/8/layout/orgChart1"/>
  </dgm:cxnLst>
  <dgm:bg/>
  <dgm:whole/>
  <dgm:extLst>
    <a:ext uri="http://schemas.microsoft.com/office/drawing/2008/diagram">
      <dsp:dataModelExt xmlns:dsp="http://schemas.microsoft.com/office/drawing/2008/diagram" xmlns="" relId="rId12"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75ECE822-A05F-4BDD-8B07-BDD7CA505FAC}">
      <dsp:nvSpPr>
        <dsp:cNvPr id="0" name=""/>
        <dsp:cNvSpPr/>
      </dsp:nvSpPr>
      <dsp:spPr>
        <a:xfrm>
          <a:off x="2008966" y="699014"/>
          <a:ext cx="209226" cy="1631968"/>
        </a:xfrm>
        <a:custGeom>
          <a:avLst/>
          <a:gdLst/>
          <a:ahLst/>
          <a:cxnLst/>
          <a:rect l="0" t="0" r="0" b="0"/>
          <a:pathLst>
            <a:path>
              <a:moveTo>
                <a:pt x="209226" y="0"/>
              </a:moveTo>
              <a:lnTo>
                <a:pt x="209226" y="1631968"/>
              </a:lnTo>
              <a:lnTo>
                <a:pt x="0" y="163196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8ACB234-7FA6-4461-8D15-E627CD37A453}">
      <dsp:nvSpPr>
        <dsp:cNvPr id="0" name=""/>
        <dsp:cNvSpPr/>
      </dsp:nvSpPr>
      <dsp:spPr>
        <a:xfrm>
          <a:off x="2008966" y="699014"/>
          <a:ext cx="209226" cy="641628"/>
        </a:xfrm>
        <a:custGeom>
          <a:avLst/>
          <a:gdLst/>
          <a:ahLst/>
          <a:cxnLst/>
          <a:rect l="0" t="0" r="0" b="0"/>
          <a:pathLst>
            <a:path>
              <a:moveTo>
                <a:pt x="209226" y="0"/>
              </a:moveTo>
              <a:lnTo>
                <a:pt x="209226" y="641628"/>
              </a:lnTo>
              <a:lnTo>
                <a:pt x="0" y="64162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0AC7000-535B-4969-8C10-61B7AFD76B97}">
      <dsp:nvSpPr>
        <dsp:cNvPr id="0" name=""/>
        <dsp:cNvSpPr/>
      </dsp:nvSpPr>
      <dsp:spPr>
        <a:xfrm>
          <a:off x="962833" y="1592"/>
          <a:ext cx="1394845" cy="69742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0" i="0" u="none" strike="noStrike" kern="1200" cap="none" normalizeH="0" baseline="0" smtClean="0">
              <a:ln>
                <a:noFill/>
              </a:ln>
              <a:solidFill>
                <a:schemeClr val="tx1"/>
              </a:solidFill>
              <a:effectLst/>
              <a:latin typeface="Arial" charset="0"/>
            </a:rPr>
            <a:t>Govt. Expenses</a:t>
          </a:r>
        </a:p>
      </dsp:txBody>
      <dsp:txXfrm>
        <a:off x="962833" y="1592"/>
        <a:ext cx="1394845" cy="697422"/>
      </dsp:txXfrm>
    </dsp:sp>
    <dsp:sp modelId="{916E2D6F-1B89-485C-82DF-7D87D1F34CF1}">
      <dsp:nvSpPr>
        <dsp:cNvPr id="0" name=""/>
        <dsp:cNvSpPr/>
      </dsp:nvSpPr>
      <dsp:spPr>
        <a:xfrm>
          <a:off x="614121" y="991932"/>
          <a:ext cx="1394845" cy="69742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0" i="0" u="none" strike="noStrike" kern="1200" cap="none" normalizeH="0" baseline="0" smtClean="0">
              <a:ln>
                <a:noFill/>
              </a:ln>
              <a:solidFill>
                <a:schemeClr val="tx1"/>
              </a:solidFill>
              <a:effectLst/>
              <a:latin typeface="Arial" charset="0"/>
            </a:rPr>
            <a:t>Revenue Expenses</a:t>
          </a:r>
        </a:p>
      </dsp:txBody>
      <dsp:txXfrm>
        <a:off x="614121" y="991932"/>
        <a:ext cx="1394845" cy="697422"/>
      </dsp:txXfrm>
    </dsp:sp>
    <dsp:sp modelId="{A29311A7-5DB5-4E20-945B-688D390EC6B9}">
      <dsp:nvSpPr>
        <dsp:cNvPr id="0" name=""/>
        <dsp:cNvSpPr/>
      </dsp:nvSpPr>
      <dsp:spPr>
        <a:xfrm>
          <a:off x="614121" y="1982272"/>
          <a:ext cx="1394845" cy="69742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200" b="0" i="0" u="none" strike="noStrike" kern="1200" cap="none" normalizeH="0" baseline="0" smtClean="0">
              <a:ln>
                <a:noFill/>
              </a:ln>
              <a:solidFill>
                <a:schemeClr val="tx1"/>
              </a:solidFill>
              <a:effectLst/>
              <a:latin typeface="Arial" charset="0"/>
            </a:rPr>
            <a:t>Capital Expenses</a:t>
          </a:r>
        </a:p>
      </dsp:txBody>
      <dsp:txXfrm>
        <a:off x="614121" y="1982272"/>
        <a:ext cx="1394845" cy="697422"/>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0C0C3100-C623-499D-B407-2E4770E737BC}">
      <dsp:nvSpPr>
        <dsp:cNvPr id="0" name=""/>
        <dsp:cNvSpPr/>
      </dsp:nvSpPr>
      <dsp:spPr>
        <a:xfrm>
          <a:off x="1952706" y="2234576"/>
          <a:ext cx="703433" cy="244166"/>
        </a:xfrm>
        <a:custGeom>
          <a:avLst/>
          <a:gdLst/>
          <a:ahLst/>
          <a:cxnLst/>
          <a:rect l="0" t="0" r="0" b="0"/>
          <a:pathLst>
            <a:path>
              <a:moveTo>
                <a:pt x="0" y="0"/>
              </a:moveTo>
              <a:lnTo>
                <a:pt x="0" y="122083"/>
              </a:lnTo>
              <a:lnTo>
                <a:pt x="703433" y="122083"/>
              </a:lnTo>
              <a:lnTo>
                <a:pt x="703433" y="24416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219EB35-BFFB-4CF4-B3E3-50AC2927F585}">
      <dsp:nvSpPr>
        <dsp:cNvPr id="0" name=""/>
        <dsp:cNvSpPr/>
      </dsp:nvSpPr>
      <dsp:spPr>
        <a:xfrm>
          <a:off x="1249273" y="2234576"/>
          <a:ext cx="703433" cy="244166"/>
        </a:xfrm>
        <a:custGeom>
          <a:avLst/>
          <a:gdLst/>
          <a:ahLst/>
          <a:cxnLst/>
          <a:rect l="0" t="0" r="0" b="0"/>
          <a:pathLst>
            <a:path>
              <a:moveTo>
                <a:pt x="703433" y="0"/>
              </a:moveTo>
              <a:lnTo>
                <a:pt x="703433" y="122083"/>
              </a:lnTo>
              <a:lnTo>
                <a:pt x="0" y="122083"/>
              </a:lnTo>
              <a:lnTo>
                <a:pt x="0" y="244166"/>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CAA6680-371F-4EE8-8D39-2D75D8F14667}">
      <dsp:nvSpPr>
        <dsp:cNvPr id="0" name=""/>
        <dsp:cNvSpPr/>
      </dsp:nvSpPr>
      <dsp:spPr>
        <a:xfrm>
          <a:off x="493518" y="583543"/>
          <a:ext cx="877838" cy="1360358"/>
        </a:xfrm>
        <a:custGeom>
          <a:avLst/>
          <a:gdLst/>
          <a:ahLst/>
          <a:cxnLst/>
          <a:rect l="0" t="0" r="0" b="0"/>
          <a:pathLst>
            <a:path>
              <a:moveTo>
                <a:pt x="0" y="0"/>
              </a:moveTo>
              <a:lnTo>
                <a:pt x="0" y="1360358"/>
              </a:lnTo>
              <a:lnTo>
                <a:pt x="877838" y="1360358"/>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7B2AD67-832A-4A6B-BE03-71F336046E21}">
      <dsp:nvSpPr>
        <dsp:cNvPr id="0" name=""/>
        <dsp:cNvSpPr/>
      </dsp:nvSpPr>
      <dsp:spPr>
        <a:xfrm>
          <a:off x="493518" y="583543"/>
          <a:ext cx="174404" cy="534841"/>
        </a:xfrm>
        <a:custGeom>
          <a:avLst/>
          <a:gdLst/>
          <a:ahLst/>
          <a:cxnLst/>
          <a:rect l="0" t="0" r="0" b="0"/>
          <a:pathLst>
            <a:path>
              <a:moveTo>
                <a:pt x="0" y="0"/>
              </a:moveTo>
              <a:lnTo>
                <a:pt x="0" y="534841"/>
              </a:lnTo>
              <a:lnTo>
                <a:pt x="174404" y="53484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02173CC-8C38-4C8C-BFA7-CB123A055393}">
      <dsp:nvSpPr>
        <dsp:cNvPr id="0" name=""/>
        <dsp:cNvSpPr/>
      </dsp:nvSpPr>
      <dsp:spPr>
        <a:xfrm>
          <a:off x="377248" y="2193"/>
          <a:ext cx="1162699" cy="58134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smtClean="0">
              <a:ln>
                <a:noFill/>
              </a:ln>
              <a:solidFill>
                <a:schemeClr val="tx1"/>
              </a:solidFill>
              <a:effectLst/>
              <a:latin typeface="Arial" charset="0"/>
            </a:rPr>
            <a:t>Govt. Receipts</a:t>
          </a:r>
        </a:p>
      </dsp:txBody>
      <dsp:txXfrm>
        <a:off x="377248" y="2193"/>
        <a:ext cx="1162699" cy="581349"/>
      </dsp:txXfrm>
    </dsp:sp>
    <dsp:sp modelId="{0DA1F44B-2775-4500-8B85-666A2B4DC7EC}">
      <dsp:nvSpPr>
        <dsp:cNvPr id="0" name=""/>
        <dsp:cNvSpPr/>
      </dsp:nvSpPr>
      <dsp:spPr>
        <a:xfrm>
          <a:off x="667923" y="827710"/>
          <a:ext cx="1162699" cy="58134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smtClean="0">
              <a:ln>
                <a:noFill/>
              </a:ln>
              <a:solidFill>
                <a:schemeClr val="tx1"/>
              </a:solidFill>
              <a:effectLst/>
              <a:latin typeface="Arial" charset="0"/>
            </a:rPr>
            <a:t>Tax Sources</a:t>
          </a:r>
        </a:p>
      </dsp:txBody>
      <dsp:txXfrm>
        <a:off x="667923" y="827710"/>
        <a:ext cx="1162699" cy="581349"/>
      </dsp:txXfrm>
    </dsp:sp>
    <dsp:sp modelId="{AAA7C062-E915-4807-87CA-02311A97C3C7}">
      <dsp:nvSpPr>
        <dsp:cNvPr id="0" name=""/>
        <dsp:cNvSpPr/>
      </dsp:nvSpPr>
      <dsp:spPr>
        <a:xfrm>
          <a:off x="1371356" y="1653226"/>
          <a:ext cx="1162699" cy="58134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smtClean="0">
              <a:ln>
                <a:noFill/>
              </a:ln>
              <a:solidFill>
                <a:schemeClr val="tx1"/>
              </a:solidFill>
              <a:effectLst/>
              <a:latin typeface="Arial" charset="0"/>
            </a:rPr>
            <a:t>Non-tax Sources</a:t>
          </a:r>
        </a:p>
      </dsp:txBody>
      <dsp:txXfrm>
        <a:off x="1371356" y="1653226"/>
        <a:ext cx="1162699" cy="581349"/>
      </dsp:txXfrm>
    </dsp:sp>
    <dsp:sp modelId="{05C80C2C-D50E-4E5D-8C22-DC40D3065DCE}">
      <dsp:nvSpPr>
        <dsp:cNvPr id="0" name=""/>
        <dsp:cNvSpPr/>
      </dsp:nvSpPr>
      <dsp:spPr>
        <a:xfrm>
          <a:off x="667923" y="2478743"/>
          <a:ext cx="1162699" cy="58134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smtClean="0">
              <a:ln>
                <a:noFill/>
              </a:ln>
              <a:solidFill>
                <a:schemeClr val="tx1"/>
              </a:solidFill>
              <a:effectLst/>
              <a:latin typeface="Arial" charset="0"/>
            </a:rPr>
            <a:t>Revenue Receipts</a:t>
          </a:r>
        </a:p>
      </dsp:txBody>
      <dsp:txXfrm>
        <a:off x="667923" y="2478743"/>
        <a:ext cx="1162699" cy="581349"/>
      </dsp:txXfrm>
    </dsp:sp>
    <dsp:sp modelId="{9AA1F392-BAF7-4EA8-A88E-7C0F34303388}">
      <dsp:nvSpPr>
        <dsp:cNvPr id="0" name=""/>
        <dsp:cNvSpPr/>
      </dsp:nvSpPr>
      <dsp:spPr>
        <a:xfrm>
          <a:off x="2074789" y="2478743"/>
          <a:ext cx="1162699" cy="581349"/>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smtClean="0">
              <a:ln>
                <a:noFill/>
              </a:ln>
              <a:solidFill>
                <a:schemeClr val="tx1"/>
              </a:solidFill>
              <a:effectLst/>
              <a:latin typeface="Arial" charset="0"/>
            </a:rPr>
            <a:t>Capital Receipts</a:t>
          </a:r>
        </a:p>
      </dsp:txBody>
      <dsp:txXfrm>
        <a:off x="2074789" y="2478743"/>
        <a:ext cx="1162699" cy="581349"/>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97313" y="0"/>
            <a:ext cx="2982912" cy="465138"/>
          </a:xfrm>
          <a:prstGeom prst="rect">
            <a:avLst/>
          </a:prstGeom>
        </p:spPr>
        <p:txBody>
          <a:bodyPr vert="horz" lIns="91440" tIns="45720" rIns="91440" bIns="45720" rtlCol="0"/>
          <a:lstStyle>
            <a:lvl1pPr algn="r">
              <a:defRPr sz="1200"/>
            </a:lvl1pPr>
          </a:lstStyle>
          <a:p>
            <a:fld id="{BD7A20CF-7C61-4E26-9DE1-38FB7348A818}" type="datetimeFigureOut">
              <a:rPr lang="en-US" smtClean="0"/>
              <a:t>9/22/2014</a:t>
            </a:fld>
            <a:endParaRPr lang="en-US"/>
          </a:p>
        </p:txBody>
      </p:sp>
      <p:sp>
        <p:nvSpPr>
          <p:cNvPr id="4" name="Footer Placeholder 3"/>
          <p:cNvSpPr>
            <a:spLocks noGrp="1"/>
          </p:cNvSpPr>
          <p:nvPr>
            <p:ph type="ftr" sz="quarter" idx="2"/>
          </p:nvPr>
        </p:nvSpPr>
        <p:spPr>
          <a:xfrm>
            <a:off x="0" y="8829675"/>
            <a:ext cx="2982913"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97313" y="8829675"/>
            <a:ext cx="2982912" cy="465138"/>
          </a:xfrm>
          <a:prstGeom prst="rect">
            <a:avLst/>
          </a:prstGeom>
        </p:spPr>
        <p:txBody>
          <a:bodyPr vert="horz" lIns="91440" tIns="45720" rIns="91440" bIns="45720" rtlCol="0" anchor="b"/>
          <a:lstStyle>
            <a:lvl1pPr algn="r">
              <a:defRPr sz="1200"/>
            </a:lvl1pPr>
          </a:lstStyle>
          <a:p>
            <a:fld id="{0C10E95B-9346-493B-B02F-428566EF29D9}" type="slidenum">
              <a:rPr lang="en-US" smtClean="0"/>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119" cy="464820"/>
          </a:xfrm>
          <a:prstGeom prst="rect">
            <a:avLst/>
          </a:prstGeom>
        </p:spPr>
        <p:txBody>
          <a:bodyPr vert="horz" lIns="92446" tIns="46223" rIns="92446" bIns="46223" rtlCol="0"/>
          <a:lstStyle>
            <a:lvl1pPr algn="l">
              <a:defRPr sz="1200"/>
            </a:lvl1pPr>
          </a:lstStyle>
          <a:p>
            <a:endParaRPr lang="en-IN"/>
          </a:p>
        </p:txBody>
      </p:sp>
      <p:sp>
        <p:nvSpPr>
          <p:cNvPr id="3" name="Date Placeholder 2"/>
          <p:cNvSpPr>
            <a:spLocks noGrp="1"/>
          </p:cNvSpPr>
          <p:nvPr>
            <p:ph type="dt" idx="1"/>
          </p:nvPr>
        </p:nvSpPr>
        <p:spPr>
          <a:xfrm>
            <a:off x="3898102" y="0"/>
            <a:ext cx="2982119" cy="464820"/>
          </a:xfrm>
          <a:prstGeom prst="rect">
            <a:avLst/>
          </a:prstGeom>
        </p:spPr>
        <p:txBody>
          <a:bodyPr vert="horz" lIns="92446" tIns="46223" rIns="92446" bIns="46223" rtlCol="0"/>
          <a:lstStyle>
            <a:lvl1pPr algn="r">
              <a:defRPr sz="1200"/>
            </a:lvl1pPr>
          </a:lstStyle>
          <a:p>
            <a:fld id="{B10E05B8-715C-4FAF-BC8A-A5F0580F534E}" type="datetimeFigureOut">
              <a:rPr lang="en-US" smtClean="0"/>
              <a:pPr/>
              <a:t>9/22/2014</a:t>
            </a:fld>
            <a:endParaRPr lang="en-IN"/>
          </a:p>
        </p:txBody>
      </p:sp>
      <p:sp>
        <p:nvSpPr>
          <p:cNvPr id="4" name="Slide Image Placeholder 3"/>
          <p:cNvSpPr>
            <a:spLocks noGrp="1" noRot="1" noChangeAspect="1"/>
          </p:cNvSpPr>
          <p:nvPr>
            <p:ph type="sldImg" idx="2"/>
          </p:nvPr>
        </p:nvSpPr>
        <p:spPr>
          <a:xfrm>
            <a:off x="1117600" y="696913"/>
            <a:ext cx="4648200" cy="3486150"/>
          </a:xfrm>
          <a:prstGeom prst="rect">
            <a:avLst/>
          </a:prstGeom>
          <a:noFill/>
          <a:ln w="12700">
            <a:solidFill>
              <a:prstClr val="black"/>
            </a:solidFill>
          </a:ln>
        </p:spPr>
        <p:txBody>
          <a:bodyPr vert="horz" lIns="92446" tIns="46223" rIns="92446" bIns="46223" rtlCol="0" anchor="ctr"/>
          <a:lstStyle/>
          <a:p>
            <a:endParaRPr lang="en-IN"/>
          </a:p>
        </p:txBody>
      </p:sp>
      <p:sp>
        <p:nvSpPr>
          <p:cNvPr id="5" name="Notes Placeholder 4"/>
          <p:cNvSpPr>
            <a:spLocks noGrp="1"/>
          </p:cNvSpPr>
          <p:nvPr>
            <p:ph type="body" sz="quarter" idx="3"/>
          </p:nvPr>
        </p:nvSpPr>
        <p:spPr>
          <a:xfrm>
            <a:off x="688182" y="4415790"/>
            <a:ext cx="5505450" cy="4183380"/>
          </a:xfrm>
          <a:prstGeom prst="rect">
            <a:avLst/>
          </a:prstGeom>
        </p:spPr>
        <p:txBody>
          <a:bodyPr vert="horz" lIns="92446" tIns="46223" rIns="92446" bIns="46223"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829967"/>
            <a:ext cx="2982119" cy="464820"/>
          </a:xfrm>
          <a:prstGeom prst="rect">
            <a:avLst/>
          </a:prstGeom>
        </p:spPr>
        <p:txBody>
          <a:bodyPr vert="horz" lIns="92446" tIns="46223" rIns="92446" bIns="46223" rtlCol="0" anchor="b"/>
          <a:lstStyle>
            <a:lvl1pPr algn="l">
              <a:defRPr sz="1200"/>
            </a:lvl1pPr>
          </a:lstStyle>
          <a:p>
            <a:endParaRPr lang="en-IN"/>
          </a:p>
        </p:txBody>
      </p:sp>
      <p:sp>
        <p:nvSpPr>
          <p:cNvPr id="7" name="Slide Number Placeholder 6"/>
          <p:cNvSpPr>
            <a:spLocks noGrp="1"/>
          </p:cNvSpPr>
          <p:nvPr>
            <p:ph type="sldNum" sz="quarter" idx="5"/>
          </p:nvPr>
        </p:nvSpPr>
        <p:spPr>
          <a:xfrm>
            <a:off x="3898102" y="8829967"/>
            <a:ext cx="2982119" cy="464820"/>
          </a:xfrm>
          <a:prstGeom prst="rect">
            <a:avLst/>
          </a:prstGeom>
        </p:spPr>
        <p:txBody>
          <a:bodyPr vert="horz" lIns="92446" tIns="46223" rIns="92446" bIns="46223"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xmlns=""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9/22/2014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9/22/2014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9/22/2014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9/22/2014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9/22/2014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9/22/2014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9/22/2014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9/22/2014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9/22/2014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9/22/2014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9/22/2014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9/22/2014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lchaturvedi@tataamc.com"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971600" y="2780928"/>
            <a:ext cx="4248472"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FISCAL, REVENUE &amp; TRADE</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115616" y="2145630"/>
            <a:ext cx="3816424" cy="923330"/>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Deficits: Fiscal, Revenue &amp; Trade</a:t>
            </a:r>
            <a:br>
              <a:rPr lang="en-US" b="1" dirty="0">
                <a:latin typeface="Arial" pitchFamily="34" charset="0"/>
                <a:cs typeface="Arial" pitchFamily="34" charset="0"/>
              </a:rPr>
            </a:br>
            <a:r>
              <a:rPr lang="en-US" b="1" dirty="0">
                <a:latin typeface="Arial" pitchFamily="34" charset="0"/>
                <a:cs typeface="Arial" pitchFamily="34" charset="0"/>
              </a:rPr>
              <a:t>–  By Prof. </a:t>
            </a:r>
            <a:r>
              <a:rPr lang="en-US" b="1" i="1" dirty="0">
                <a:latin typeface="Arial" pitchFamily="34" charset="0"/>
                <a:cs typeface="Arial" pitchFamily="34" charset="0"/>
              </a:rPr>
              <a:t>Simply</a:t>
            </a:r>
            <a:r>
              <a:rPr lang="en-US" b="1" dirty="0">
                <a:latin typeface="Arial" pitchFamily="34" charset="0"/>
                <a:cs typeface="Arial" pitchFamily="34" charset="0"/>
              </a:rPr>
              <a:t> Simple</a:t>
            </a:r>
            <a:endParaRPr lang="en-US" b="1" baseline="70000" dirty="0">
              <a:latin typeface="Arial" pitchFamily="34" charset="0"/>
              <a:cs typeface="Arial" pitchFamily="34" charset="0"/>
            </a:endParaRPr>
          </a:p>
        </p:txBody>
      </p:sp>
    </p:spTree>
    <p:extLst>
      <p:ext uri="{BB962C8B-B14F-4D97-AF65-F5344CB8AC3E}">
        <p14:creationId xmlns:p14="http://schemas.microsoft.com/office/powerpoint/2010/main" xmlns=""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499992" y="1340768"/>
            <a:ext cx="3862570" cy="5078313"/>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Prof. </a:t>
            </a:r>
            <a:r>
              <a:rPr lang="en-US" b="1" i="1" dirty="0">
                <a:latin typeface="Arial" pitchFamily="34" charset="0"/>
                <a:cs typeface="Arial" pitchFamily="34" charset="0"/>
              </a:rPr>
              <a:t>Simply</a:t>
            </a:r>
            <a:r>
              <a:rPr lang="en-US" b="1" dirty="0">
                <a:latin typeface="Arial" pitchFamily="34" charset="0"/>
                <a:cs typeface="Arial" pitchFamily="34" charset="0"/>
              </a:rPr>
              <a:t> Simple had earlier taken you through the concept of Fiscal Deficit</a:t>
            </a:r>
            <a:r>
              <a:rPr lang="en-US" b="1" dirty="0" smtClean="0">
                <a:latin typeface="Arial" pitchFamily="34" charset="0"/>
                <a:cs typeface="Arial" pitchFamily="34" charset="0"/>
              </a:rPr>
              <a:t>.</a:t>
            </a:r>
            <a:br>
              <a:rPr lang="en-US" b="1" dirty="0" smtClean="0">
                <a:latin typeface="Arial" pitchFamily="34" charset="0"/>
                <a:cs typeface="Arial" pitchFamily="34" charset="0"/>
              </a:rPr>
            </a:br>
            <a:r>
              <a:rPr lang="en-US" b="1" dirty="0" smtClean="0">
                <a:latin typeface="Arial" pitchFamily="34" charset="0"/>
                <a:cs typeface="Arial" pitchFamily="34" charset="0"/>
              </a:rPr>
              <a:t>(</a:t>
            </a:r>
            <a:r>
              <a:rPr lang="en-US" b="1" dirty="0">
                <a:latin typeface="Arial" pitchFamily="34" charset="0"/>
                <a:cs typeface="Arial" pitchFamily="34" charset="0"/>
              </a:rPr>
              <a:t>For ref: kindly refer the TMF Website)</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This week, we will look at Revenue Deficit (which is a subset of the Fiscal Deficit) and Trade Deficit (which is a function of our import-export trading)</a:t>
            </a:r>
          </a:p>
        </p:txBody>
      </p:sp>
      <p:sp>
        <p:nvSpPr>
          <p:cNvPr id="6" name="TextBox 5"/>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REVENUE &amp; TRADE</a:t>
            </a:r>
          </a:p>
        </p:txBody>
      </p:sp>
    </p:spTree>
    <p:extLst>
      <p:ext uri="{BB962C8B-B14F-4D97-AF65-F5344CB8AC3E}">
        <p14:creationId xmlns:p14="http://schemas.microsoft.com/office/powerpoint/2010/main" xmlns="" val="11981463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Rectangle 2"/>
          <p:cNvSpPr/>
          <p:nvPr/>
        </p:nvSpPr>
        <p:spPr>
          <a:xfrm>
            <a:off x="1907704" y="2345105"/>
            <a:ext cx="2170547" cy="507831"/>
          </a:xfrm>
          <a:prstGeom prst="rect">
            <a:avLst/>
          </a:prstGeom>
        </p:spPr>
        <p:txBody>
          <a:bodyPr wrap="square">
            <a:spAutoFit/>
          </a:bodyPr>
          <a:lstStyle/>
          <a:p>
            <a:pPr>
              <a:lnSpc>
                <a:spcPct val="150000"/>
              </a:lnSpc>
            </a:pPr>
            <a:r>
              <a:rPr lang="en-US" b="1" dirty="0">
                <a:latin typeface="Arial" pitchFamily="34" charset="0"/>
                <a:cs typeface="Arial" pitchFamily="34" charset="0"/>
              </a:rPr>
              <a:t>What is a Deficit?</a:t>
            </a:r>
          </a:p>
        </p:txBody>
      </p:sp>
    </p:spTree>
    <p:extLst>
      <p:ext uri="{BB962C8B-B14F-4D97-AF65-F5344CB8AC3E}">
        <p14:creationId xmlns:p14="http://schemas.microsoft.com/office/powerpoint/2010/main" xmlns="" val="76519983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REVENUE &amp; TRADE</a:t>
            </a:r>
          </a:p>
        </p:txBody>
      </p:sp>
      <p:sp>
        <p:nvSpPr>
          <p:cNvPr id="3" name="Rectangle 2"/>
          <p:cNvSpPr/>
          <p:nvPr/>
        </p:nvSpPr>
        <p:spPr>
          <a:xfrm>
            <a:off x="714348" y="1124744"/>
            <a:ext cx="7098012" cy="2169825"/>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i="1" dirty="0">
                <a:latin typeface="Arial" pitchFamily="34" charset="0"/>
                <a:cs typeface="Arial" pitchFamily="34" charset="0"/>
              </a:rPr>
              <a:t>Simply</a:t>
            </a:r>
            <a:r>
              <a:rPr lang="en-US" b="1" dirty="0">
                <a:latin typeface="Arial" pitchFamily="34" charset="0"/>
                <a:cs typeface="Arial" pitchFamily="34" charset="0"/>
              </a:rPr>
              <a:t> put, a budget deficit occurs when an </a:t>
            </a:r>
            <a:r>
              <a:rPr lang="en-US" b="1" dirty="0" smtClean="0">
                <a:latin typeface="Arial" pitchFamily="34" charset="0"/>
                <a:cs typeface="Arial" pitchFamily="34" charset="0"/>
              </a:rPr>
              <a:t>entity</a:t>
            </a:r>
            <a:br>
              <a:rPr lang="en-US" b="1" dirty="0" smtClean="0">
                <a:latin typeface="Arial" pitchFamily="34" charset="0"/>
                <a:cs typeface="Arial" pitchFamily="34" charset="0"/>
              </a:rPr>
            </a:br>
            <a:r>
              <a:rPr lang="en-US" b="1" dirty="0" smtClean="0">
                <a:latin typeface="Arial" pitchFamily="34" charset="0"/>
                <a:cs typeface="Arial" pitchFamily="34" charset="0"/>
              </a:rPr>
              <a:t>(often </a:t>
            </a:r>
            <a:r>
              <a:rPr lang="en-US" b="1" dirty="0">
                <a:latin typeface="Arial" pitchFamily="34" charset="0"/>
                <a:cs typeface="Arial" pitchFamily="34" charset="0"/>
              </a:rPr>
              <a:t>a government) spends more money than it takes in.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 opposite of a budget deficit, on the other hand, is a budget surplus.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REVENUE &amp; TRADE</a:t>
            </a:r>
          </a:p>
        </p:txBody>
      </p:sp>
      <p:sp>
        <p:nvSpPr>
          <p:cNvPr id="3" name="Rectangle 2"/>
          <p:cNvSpPr/>
          <p:nvPr/>
        </p:nvSpPr>
        <p:spPr>
          <a:xfrm>
            <a:off x="714348" y="1124744"/>
            <a:ext cx="7386044" cy="463075"/>
          </a:xfrm>
          <a:prstGeom prst="rect">
            <a:avLst/>
          </a:prstGeom>
        </p:spPr>
        <p:txBody>
          <a:bodyPr wrap="square">
            <a:spAutoFit/>
          </a:bodyPr>
          <a:lstStyle/>
          <a:p>
            <a:pPr algn="ctr">
              <a:lnSpc>
                <a:spcPct val="150000"/>
              </a:lnSpc>
            </a:pPr>
            <a:r>
              <a:rPr lang="en-US" b="1" dirty="0">
                <a:latin typeface="Arial" pitchFamily="34" charset="0"/>
                <a:cs typeface="Arial" pitchFamily="34" charset="0"/>
              </a:rPr>
              <a:t>To reiterate Fiscal Deficit…</a:t>
            </a:r>
          </a:p>
        </p:txBody>
      </p:sp>
      <p:sp>
        <p:nvSpPr>
          <p:cNvPr id="5" name="Rectangle 4"/>
          <p:cNvSpPr/>
          <p:nvPr/>
        </p:nvSpPr>
        <p:spPr>
          <a:xfrm>
            <a:off x="681676" y="1883287"/>
            <a:ext cx="7274699" cy="3594958"/>
          </a:xfrm>
          <a:prstGeom prst="rect">
            <a:avLst/>
          </a:prstGeom>
        </p:spPr>
        <p:txBody>
          <a:bodyPr wrap="square">
            <a:spAutoFit/>
          </a:bodyPr>
          <a:lstStyle/>
          <a:p>
            <a:pPr marL="465138" indent="-465138">
              <a:lnSpc>
                <a:spcPct val="150000"/>
              </a:lnSpc>
              <a:spcBef>
                <a:spcPct val="20000"/>
              </a:spcBef>
              <a:buFont typeface="Wingdings" pitchFamily="2" charset="2"/>
              <a:buChar char="q"/>
              <a:tabLst>
                <a:tab pos="465138" algn="l"/>
              </a:tabLst>
            </a:pPr>
            <a:r>
              <a:rPr lang="en-US" b="1" dirty="0">
                <a:latin typeface="Arial" pitchFamily="34" charset="0"/>
                <a:cs typeface="Arial" pitchFamily="34" charset="0"/>
              </a:rPr>
              <a:t>The expenses that the Government incurs are, more often than not, more than the income it makes. The difference or deficit between the two is called a Fiscal Deficit.</a:t>
            </a:r>
          </a:p>
          <a:p>
            <a:pPr marL="465138" indent="-465138">
              <a:lnSpc>
                <a:spcPct val="150000"/>
              </a:lnSpc>
              <a:spcBef>
                <a:spcPct val="20000"/>
              </a:spcBef>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spcBef>
                <a:spcPct val="20000"/>
              </a:spcBef>
              <a:buFont typeface="Wingdings" pitchFamily="2" charset="2"/>
              <a:buChar char="q"/>
              <a:tabLst>
                <a:tab pos="465138" algn="l"/>
              </a:tabLst>
            </a:pPr>
            <a:r>
              <a:rPr lang="en-US" b="1" dirty="0">
                <a:latin typeface="Arial" pitchFamily="34" charset="0"/>
                <a:cs typeface="Arial" pitchFamily="34" charset="0"/>
              </a:rPr>
              <a:t>Thus, the Fiscal Deficit is:</a:t>
            </a:r>
          </a:p>
          <a:p>
            <a:pPr marL="465138" indent="-465138">
              <a:lnSpc>
                <a:spcPct val="150000"/>
              </a:lnSpc>
              <a:spcBef>
                <a:spcPct val="20000"/>
              </a:spcBef>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spcBef>
                <a:spcPct val="20000"/>
              </a:spcBef>
              <a:buFont typeface="Wingdings" pitchFamily="2" charset="2"/>
              <a:buChar char="q"/>
              <a:tabLst>
                <a:tab pos="465138" algn="l"/>
              </a:tabLst>
            </a:pPr>
            <a:r>
              <a:rPr lang="en-US" b="1" dirty="0" smtClean="0">
                <a:latin typeface="Arial" pitchFamily="34" charset="0"/>
                <a:cs typeface="Arial" pitchFamily="34" charset="0"/>
              </a:rPr>
              <a:t>Govt</a:t>
            </a:r>
            <a:r>
              <a:rPr lang="en-US" b="1" dirty="0">
                <a:latin typeface="Arial" pitchFamily="34" charset="0"/>
                <a:cs typeface="Arial" pitchFamily="34" charset="0"/>
              </a:rPr>
              <a:t>.'s total expenses – Govt.’s total </a:t>
            </a:r>
            <a:r>
              <a:rPr lang="en-US" b="1" dirty="0" smtClean="0">
                <a:latin typeface="Arial" pitchFamily="34" charset="0"/>
                <a:cs typeface="Arial" pitchFamily="34" charset="0"/>
              </a:rPr>
              <a:t>receipts</a:t>
            </a:r>
            <a:br>
              <a:rPr lang="en-US" b="1" dirty="0" smtClean="0">
                <a:latin typeface="Arial" pitchFamily="34" charset="0"/>
                <a:cs typeface="Arial" pitchFamily="34" charset="0"/>
              </a:rPr>
            </a:br>
            <a:r>
              <a:rPr lang="en-US" b="1" dirty="0" smtClean="0">
                <a:latin typeface="Arial" pitchFamily="34" charset="0"/>
                <a:cs typeface="Arial" pitchFamily="34" charset="0"/>
              </a:rPr>
              <a:t>			       (excluding </a:t>
            </a:r>
            <a:r>
              <a:rPr lang="en-US" b="1" dirty="0">
                <a:latin typeface="Arial" pitchFamily="34" charset="0"/>
                <a:cs typeface="Arial" pitchFamily="34" charset="0"/>
              </a:rPr>
              <a:t>borrowing)</a:t>
            </a:r>
          </a:p>
        </p:txBody>
      </p:sp>
    </p:spTree>
    <p:extLst>
      <p:ext uri="{BB962C8B-B14F-4D97-AF65-F5344CB8AC3E}">
        <p14:creationId xmlns:p14="http://schemas.microsoft.com/office/powerpoint/2010/main" xmlns="" val="25797854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REVENUE &amp; TRADE</a:t>
            </a:r>
          </a:p>
        </p:txBody>
      </p:sp>
      <p:sp>
        <p:nvSpPr>
          <p:cNvPr id="3" name="Rectangle 2"/>
          <p:cNvSpPr/>
          <p:nvPr/>
        </p:nvSpPr>
        <p:spPr>
          <a:xfrm>
            <a:off x="714348" y="980728"/>
            <a:ext cx="7386044" cy="463075"/>
          </a:xfrm>
          <a:prstGeom prst="rect">
            <a:avLst/>
          </a:prstGeom>
        </p:spPr>
        <p:txBody>
          <a:bodyPr wrap="square">
            <a:spAutoFit/>
          </a:bodyPr>
          <a:lstStyle/>
          <a:p>
            <a:pPr algn="ctr">
              <a:lnSpc>
                <a:spcPct val="150000"/>
              </a:lnSpc>
            </a:pPr>
            <a:r>
              <a:rPr lang="en-US" b="1" dirty="0">
                <a:latin typeface="Arial" pitchFamily="34" charset="0"/>
                <a:cs typeface="Arial" pitchFamily="34" charset="0"/>
              </a:rPr>
              <a:t>What are Govt. Expenses?</a:t>
            </a:r>
          </a:p>
        </p:txBody>
      </p:sp>
      <p:sp>
        <p:nvSpPr>
          <p:cNvPr id="5" name="Rectangle 4"/>
          <p:cNvSpPr/>
          <p:nvPr/>
        </p:nvSpPr>
        <p:spPr>
          <a:xfrm>
            <a:off x="691100" y="1484784"/>
            <a:ext cx="7409291" cy="3831818"/>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The Government needs money for its huge expenses.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We can broadly divide Govt. expenses into two types: </a:t>
            </a:r>
          </a:p>
          <a:p>
            <a:pPr marL="914400" lvl="1" indent="-457200">
              <a:lnSpc>
                <a:spcPct val="150000"/>
              </a:lnSpc>
              <a:tabLst>
                <a:tab pos="914400" algn="l"/>
              </a:tabLst>
            </a:pPr>
            <a:r>
              <a:rPr lang="en-US" b="1" dirty="0" smtClean="0">
                <a:latin typeface="Arial" pitchFamily="34" charset="0"/>
                <a:cs typeface="Arial" pitchFamily="34" charset="0"/>
              </a:rPr>
              <a:t>-	Revenue </a:t>
            </a:r>
            <a:r>
              <a:rPr lang="en-US" b="1" dirty="0">
                <a:latin typeface="Arial" pitchFamily="34" charset="0"/>
                <a:cs typeface="Arial" pitchFamily="34" charset="0"/>
              </a:rPr>
              <a:t>Expenses, which it incurs in running </a:t>
            </a:r>
            <a:r>
              <a:rPr lang="en-US" b="1" dirty="0" smtClean="0">
                <a:latin typeface="Arial" pitchFamily="34" charset="0"/>
                <a:cs typeface="Arial" pitchFamily="34" charset="0"/>
              </a:rPr>
              <a:t>its</a:t>
            </a:r>
            <a:br>
              <a:rPr lang="en-US" b="1" dirty="0" smtClean="0">
                <a:latin typeface="Arial" pitchFamily="34" charset="0"/>
                <a:cs typeface="Arial" pitchFamily="34" charset="0"/>
              </a:rPr>
            </a:br>
            <a:r>
              <a:rPr lang="en-US" b="1" dirty="0" smtClean="0">
                <a:latin typeface="Arial" pitchFamily="34" charset="0"/>
                <a:cs typeface="Arial" pitchFamily="34" charset="0"/>
              </a:rPr>
              <a:t>day-to-day </a:t>
            </a:r>
            <a:r>
              <a:rPr lang="en-US" b="1" dirty="0">
                <a:latin typeface="Arial" pitchFamily="34" charset="0"/>
                <a:cs typeface="Arial" pitchFamily="34" charset="0"/>
              </a:rPr>
              <a:t>business like paying salary to its staff </a:t>
            </a:r>
          </a:p>
          <a:p>
            <a:pPr marL="914400" lvl="1" indent="-457200">
              <a:lnSpc>
                <a:spcPct val="150000"/>
              </a:lnSpc>
              <a:buFontTx/>
              <a:buNone/>
              <a:tabLst>
                <a:tab pos="914400" algn="l"/>
              </a:tabLst>
            </a:pPr>
            <a:endParaRPr lang="en-US" b="1" dirty="0">
              <a:latin typeface="Arial" pitchFamily="34" charset="0"/>
              <a:cs typeface="Arial" pitchFamily="34" charset="0"/>
            </a:endParaRPr>
          </a:p>
          <a:p>
            <a:pPr marL="914400" lvl="1" indent="-457200">
              <a:lnSpc>
                <a:spcPct val="150000"/>
              </a:lnSpc>
              <a:tabLst>
                <a:tab pos="914400" algn="l"/>
              </a:tabLst>
            </a:pPr>
            <a:r>
              <a:rPr lang="en-US" b="1" dirty="0" smtClean="0">
                <a:latin typeface="Arial" pitchFamily="34" charset="0"/>
                <a:cs typeface="Arial" pitchFamily="34" charset="0"/>
              </a:rPr>
              <a:t>-	Capital </a:t>
            </a:r>
            <a:r>
              <a:rPr lang="en-US" b="1" dirty="0">
                <a:latin typeface="Arial" pitchFamily="34" charset="0"/>
                <a:cs typeface="Arial" pitchFamily="34" charset="0"/>
              </a:rPr>
              <a:t>Expenses, which include all expenses incurred by the Govt. for creating assets like money spent on constructing a hospital</a:t>
            </a:r>
          </a:p>
        </p:txBody>
      </p:sp>
    </p:spTree>
    <p:extLst>
      <p:ext uri="{BB962C8B-B14F-4D97-AF65-F5344CB8AC3E}">
        <p14:creationId xmlns:p14="http://schemas.microsoft.com/office/powerpoint/2010/main" xmlns="" val="411624352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REVENUE &amp; TRADE</a:t>
            </a:r>
          </a:p>
        </p:txBody>
      </p:sp>
      <p:sp>
        <p:nvSpPr>
          <p:cNvPr id="3" name="Rectangle 2"/>
          <p:cNvSpPr/>
          <p:nvPr/>
        </p:nvSpPr>
        <p:spPr>
          <a:xfrm>
            <a:off x="714348" y="1124744"/>
            <a:ext cx="7602068" cy="463075"/>
          </a:xfrm>
          <a:prstGeom prst="rect">
            <a:avLst/>
          </a:prstGeom>
        </p:spPr>
        <p:txBody>
          <a:bodyPr wrap="square">
            <a:spAutoFit/>
          </a:bodyPr>
          <a:lstStyle/>
          <a:p>
            <a:pPr algn="ctr">
              <a:lnSpc>
                <a:spcPct val="150000"/>
              </a:lnSpc>
            </a:pPr>
            <a:r>
              <a:rPr lang="en-US" b="1" dirty="0">
                <a:latin typeface="Arial" pitchFamily="34" charset="0"/>
                <a:cs typeface="Arial" pitchFamily="34" charset="0"/>
              </a:rPr>
              <a:t>What are Govt. Revenues?</a:t>
            </a:r>
          </a:p>
        </p:txBody>
      </p:sp>
      <p:sp>
        <p:nvSpPr>
          <p:cNvPr id="5" name="Rectangle 4"/>
          <p:cNvSpPr/>
          <p:nvPr/>
        </p:nvSpPr>
        <p:spPr>
          <a:xfrm>
            <a:off x="706598" y="1700808"/>
            <a:ext cx="7609818" cy="3000821"/>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We can broadly divide the sources of Government revenues or earnings into two categories: </a:t>
            </a:r>
          </a:p>
          <a:p>
            <a:pPr marL="914400" lvl="1" indent="-457200">
              <a:lnSpc>
                <a:spcPct val="150000"/>
              </a:lnSpc>
              <a:tabLst>
                <a:tab pos="914400" algn="l"/>
              </a:tabLst>
            </a:pPr>
            <a:r>
              <a:rPr lang="en-US" b="1" dirty="0" smtClean="0">
                <a:latin typeface="Arial" pitchFamily="34" charset="0"/>
                <a:cs typeface="Arial" pitchFamily="34" charset="0"/>
              </a:rPr>
              <a:t>-	Tax </a:t>
            </a:r>
            <a:r>
              <a:rPr lang="en-US" b="1" dirty="0">
                <a:latin typeface="Arial" pitchFamily="34" charset="0"/>
                <a:cs typeface="Arial" pitchFamily="34" charset="0"/>
              </a:rPr>
              <a:t>Sources, which include all the direct and indirect taxes, and are recurring in nature</a:t>
            </a:r>
          </a:p>
          <a:p>
            <a:pPr marL="914400" indent="-457200">
              <a:lnSpc>
                <a:spcPct val="150000"/>
              </a:lnSpc>
              <a:buFont typeface="Arial" charset="0"/>
              <a:buChar char="–"/>
              <a:tabLst>
                <a:tab pos="914400" algn="l"/>
              </a:tabLst>
            </a:pPr>
            <a:endParaRPr lang="en-US" b="1" dirty="0">
              <a:latin typeface="Arial" pitchFamily="34" charset="0"/>
              <a:cs typeface="Arial" pitchFamily="34" charset="0"/>
            </a:endParaRPr>
          </a:p>
          <a:p>
            <a:pPr marL="914400" lvl="1" indent="-457200">
              <a:lnSpc>
                <a:spcPct val="150000"/>
              </a:lnSpc>
              <a:tabLst>
                <a:tab pos="914400" algn="l"/>
              </a:tabLst>
            </a:pPr>
            <a:r>
              <a:rPr lang="en-US" b="1" dirty="0" smtClean="0">
                <a:latin typeface="Arial" pitchFamily="34" charset="0"/>
                <a:cs typeface="Arial" pitchFamily="34" charset="0"/>
              </a:rPr>
              <a:t>-	and </a:t>
            </a:r>
            <a:r>
              <a:rPr lang="en-US" b="1" dirty="0">
                <a:latin typeface="Arial" pitchFamily="34" charset="0"/>
                <a:cs typeface="Arial" pitchFamily="34" charset="0"/>
              </a:rPr>
              <a:t>Non-tax Sources, which include Revenue Receipts and capital receipts, and are a kind of one-time income </a:t>
            </a:r>
          </a:p>
        </p:txBody>
      </p:sp>
    </p:spTree>
    <p:extLst>
      <p:ext uri="{BB962C8B-B14F-4D97-AF65-F5344CB8AC3E}">
        <p14:creationId xmlns:p14="http://schemas.microsoft.com/office/powerpoint/2010/main" xmlns="" val="33103417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REVENUE &amp; TRADE</a:t>
            </a:r>
          </a:p>
        </p:txBody>
      </p:sp>
      <p:sp>
        <p:nvSpPr>
          <p:cNvPr id="3" name="Rectangle 2"/>
          <p:cNvSpPr/>
          <p:nvPr/>
        </p:nvSpPr>
        <p:spPr>
          <a:xfrm>
            <a:off x="714348" y="1052736"/>
            <a:ext cx="7602068" cy="456535"/>
          </a:xfrm>
          <a:prstGeom prst="rect">
            <a:avLst/>
          </a:prstGeom>
        </p:spPr>
        <p:txBody>
          <a:bodyPr wrap="square">
            <a:spAutoFit/>
          </a:bodyPr>
          <a:lstStyle/>
          <a:p>
            <a:pPr algn="ctr">
              <a:lnSpc>
                <a:spcPct val="150000"/>
              </a:lnSpc>
            </a:pPr>
            <a:r>
              <a:rPr lang="en-US" b="1" dirty="0">
                <a:latin typeface="Arial" pitchFamily="34" charset="0"/>
                <a:cs typeface="Arial" pitchFamily="34" charset="0"/>
              </a:rPr>
              <a:t>Before we move on…</a:t>
            </a:r>
          </a:p>
        </p:txBody>
      </p:sp>
      <p:sp>
        <p:nvSpPr>
          <p:cNvPr id="5" name="Rectangle 4"/>
          <p:cNvSpPr/>
          <p:nvPr/>
        </p:nvSpPr>
        <p:spPr>
          <a:xfrm>
            <a:off x="539552" y="1517907"/>
            <a:ext cx="7632848" cy="3828740"/>
          </a:xfrm>
          <a:prstGeom prst="rect">
            <a:avLst/>
          </a:prstGeom>
        </p:spPr>
        <p:txBody>
          <a:bodyPr wrap="square">
            <a:spAutoFit/>
          </a:bodyPr>
          <a:lstStyle/>
          <a:p>
            <a:pPr marL="465138" lvl="1" indent="-465138">
              <a:lnSpc>
                <a:spcPct val="150000"/>
              </a:lnSpc>
              <a:spcBef>
                <a:spcPct val="20000"/>
              </a:spcBef>
              <a:buFont typeface="Wingdings" pitchFamily="2" charset="2"/>
              <a:buChar char="q"/>
              <a:tabLst>
                <a:tab pos="465138" algn="l"/>
              </a:tabLst>
            </a:pPr>
            <a:r>
              <a:rPr lang="en-US" sz="1600" b="1" dirty="0">
                <a:latin typeface="Arial" pitchFamily="34" charset="0"/>
                <a:cs typeface="Arial" pitchFamily="34" charset="0"/>
              </a:rPr>
              <a:t>To understand the concept of Revenue Deficit, we need to quickly understand the following two terms from the previous two slides:</a:t>
            </a:r>
          </a:p>
          <a:p>
            <a:pPr marL="465138" lvl="1" indent="-465138">
              <a:lnSpc>
                <a:spcPct val="150000"/>
              </a:lnSpc>
              <a:spcBef>
                <a:spcPct val="20000"/>
              </a:spcBef>
              <a:buFont typeface="Wingdings" pitchFamily="2" charset="2"/>
              <a:buChar char="q"/>
              <a:tabLst>
                <a:tab pos="465138" algn="l"/>
              </a:tabLst>
            </a:pPr>
            <a:endParaRPr lang="en-US" sz="600" b="1" dirty="0">
              <a:latin typeface="Arial" pitchFamily="34" charset="0"/>
              <a:cs typeface="Arial" pitchFamily="34" charset="0"/>
            </a:endParaRPr>
          </a:p>
          <a:p>
            <a:pPr marL="465138" lvl="1" indent="-465138">
              <a:lnSpc>
                <a:spcPct val="150000"/>
              </a:lnSpc>
              <a:spcBef>
                <a:spcPct val="20000"/>
              </a:spcBef>
              <a:buFont typeface="Wingdings" pitchFamily="2" charset="2"/>
              <a:buChar char="q"/>
              <a:tabLst>
                <a:tab pos="465138" algn="l"/>
              </a:tabLst>
            </a:pPr>
            <a:r>
              <a:rPr lang="en-US" sz="1600" b="1" dirty="0">
                <a:latin typeface="Arial" pitchFamily="34" charset="0"/>
                <a:cs typeface="Arial" pitchFamily="34" charset="0"/>
              </a:rPr>
              <a:t>Revenue Expenses: Revenue expenditure is the expense incurred for the normal running of the Govt.’s various departments and services, interest charged on debt incurred by Govt., subsidies, etc. </a:t>
            </a:r>
          </a:p>
          <a:p>
            <a:pPr marL="465138" lvl="1" indent="-465138">
              <a:lnSpc>
                <a:spcPct val="150000"/>
              </a:lnSpc>
              <a:spcBef>
                <a:spcPct val="20000"/>
              </a:spcBef>
              <a:buFont typeface="Wingdings" pitchFamily="2" charset="2"/>
              <a:buChar char="q"/>
              <a:tabLst>
                <a:tab pos="465138" algn="l"/>
              </a:tabLst>
            </a:pPr>
            <a:endParaRPr lang="en-US" sz="600" b="1" dirty="0">
              <a:latin typeface="Arial" pitchFamily="34" charset="0"/>
              <a:cs typeface="Arial" pitchFamily="34" charset="0"/>
            </a:endParaRPr>
          </a:p>
          <a:p>
            <a:pPr marL="465138" lvl="1" indent="-465138">
              <a:lnSpc>
                <a:spcPct val="150000"/>
              </a:lnSpc>
              <a:spcBef>
                <a:spcPct val="20000"/>
              </a:spcBef>
              <a:buFont typeface="Wingdings" pitchFamily="2" charset="2"/>
              <a:buChar char="q"/>
              <a:tabLst>
                <a:tab pos="465138" algn="l"/>
              </a:tabLst>
            </a:pPr>
            <a:r>
              <a:rPr lang="en-US" sz="1600" b="1" dirty="0">
                <a:latin typeface="Arial" pitchFamily="34" charset="0"/>
                <a:cs typeface="Arial" pitchFamily="34" charset="0"/>
              </a:rPr>
              <a:t>Revenue Receipts: Revenue receipts consist of tax collected by the government and other receipts consisting of interest and dividend on investments made by Govt., fees and other receipts for services rendered by Govt.</a:t>
            </a:r>
          </a:p>
        </p:txBody>
      </p:sp>
    </p:spTree>
    <p:extLst>
      <p:ext uri="{BB962C8B-B14F-4D97-AF65-F5344CB8AC3E}">
        <p14:creationId xmlns:p14="http://schemas.microsoft.com/office/powerpoint/2010/main" xmlns="" val="147895397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REVENUE &amp; TRADE</a:t>
            </a:r>
          </a:p>
        </p:txBody>
      </p:sp>
      <p:sp>
        <p:nvSpPr>
          <p:cNvPr id="3" name="Rectangle 2"/>
          <p:cNvSpPr/>
          <p:nvPr/>
        </p:nvSpPr>
        <p:spPr>
          <a:xfrm>
            <a:off x="714348" y="1052736"/>
            <a:ext cx="7242028" cy="456535"/>
          </a:xfrm>
          <a:prstGeom prst="rect">
            <a:avLst/>
          </a:prstGeom>
        </p:spPr>
        <p:txBody>
          <a:bodyPr wrap="square">
            <a:spAutoFit/>
          </a:bodyPr>
          <a:lstStyle/>
          <a:p>
            <a:pPr algn="ctr">
              <a:lnSpc>
                <a:spcPct val="150000"/>
              </a:lnSpc>
            </a:pPr>
            <a:r>
              <a:rPr lang="en-US" b="1" dirty="0">
                <a:latin typeface="Arial" pitchFamily="34" charset="0"/>
                <a:cs typeface="Arial" pitchFamily="34" charset="0"/>
              </a:rPr>
              <a:t>So what </a:t>
            </a:r>
            <a:r>
              <a:rPr lang="en-US" b="1" i="1" dirty="0">
                <a:latin typeface="Arial" pitchFamily="34" charset="0"/>
                <a:cs typeface="Arial" pitchFamily="34" charset="0"/>
              </a:rPr>
              <a:t>is</a:t>
            </a:r>
            <a:r>
              <a:rPr lang="en-US" b="1" dirty="0">
                <a:latin typeface="Arial" pitchFamily="34" charset="0"/>
                <a:cs typeface="Arial" pitchFamily="34" charset="0"/>
              </a:rPr>
              <a:t> Revenue Deficit?</a:t>
            </a:r>
          </a:p>
        </p:txBody>
      </p:sp>
      <p:sp>
        <p:nvSpPr>
          <p:cNvPr id="5" name="Rectangle 4"/>
          <p:cNvSpPr/>
          <p:nvPr/>
        </p:nvSpPr>
        <p:spPr>
          <a:xfrm>
            <a:off x="714348" y="1509271"/>
            <a:ext cx="7602068" cy="3610219"/>
          </a:xfrm>
          <a:prstGeom prst="rect">
            <a:avLst/>
          </a:prstGeom>
        </p:spPr>
        <p:txBody>
          <a:bodyPr wrap="square">
            <a:spAutoFit/>
          </a:bodyPr>
          <a:lstStyle/>
          <a:p>
            <a:pPr marL="465138" lvl="1" indent="-465138">
              <a:lnSpc>
                <a:spcPct val="150000"/>
              </a:lnSpc>
              <a:spcBef>
                <a:spcPct val="20000"/>
              </a:spcBef>
              <a:buFont typeface="Wingdings" pitchFamily="2" charset="2"/>
              <a:buChar char="q"/>
              <a:tabLst>
                <a:tab pos="465138" algn="l"/>
              </a:tabLst>
            </a:pPr>
            <a:r>
              <a:rPr lang="en-US" sz="1600" b="1" dirty="0" smtClean="0">
                <a:latin typeface="Arial" pitchFamily="34" charset="0"/>
                <a:cs typeface="Arial" pitchFamily="34" charset="0"/>
              </a:rPr>
              <a:t>Revenue </a:t>
            </a:r>
            <a:r>
              <a:rPr lang="en-US" sz="1600" b="1" dirty="0">
                <a:latin typeface="Arial" pitchFamily="34" charset="0"/>
                <a:cs typeface="Arial" pitchFamily="34" charset="0"/>
              </a:rPr>
              <a:t>deficit is the difference between the revenue expenditure and the revenue receipts (the recurring income for the Government). </a:t>
            </a:r>
          </a:p>
          <a:p>
            <a:pPr marL="465138" lvl="1" indent="-465138">
              <a:lnSpc>
                <a:spcPct val="150000"/>
              </a:lnSpc>
              <a:spcBef>
                <a:spcPct val="20000"/>
              </a:spcBef>
              <a:buFont typeface="Wingdings" pitchFamily="2" charset="2"/>
              <a:buChar char="q"/>
              <a:tabLst>
                <a:tab pos="465138" algn="l"/>
              </a:tabLst>
            </a:pPr>
            <a:endParaRPr lang="en-US" sz="1000" b="1" dirty="0">
              <a:latin typeface="Arial" pitchFamily="34" charset="0"/>
              <a:cs typeface="Arial" pitchFamily="34" charset="0"/>
            </a:endParaRPr>
          </a:p>
          <a:p>
            <a:pPr marL="465138" lvl="1" indent="-465138">
              <a:lnSpc>
                <a:spcPct val="150000"/>
              </a:lnSpc>
              <a:spcBef>
                <a:spcPct val="20000"/>
              </a:spcBef>
              <a:buFont typeface="Wingdings" pitchFamily="2" charset="2"/>
              <a:buChar char="q"/>
              <a:tabLst>
                <a:tab pos="465138" algn="l"/>
              </a:tabLst>
            </a:pPr>
            <a:r>
              <a:rPr lang="en-US" sz="1600" b="1" dirty="0">
                <a:latin typeface="Arial" pitchFamily="34" charset="0"/>
                <a:cs typeface="Arial" pitchFamily="34" charset="0"/>
              </a:rPr>
              <a:t>Thus, the Revenue Deficit </a:t>
            </a:r>
            <a:r>
              <a:rPr lang="en-US" sz="1600" b="1" dirty="0" smtClean="0">
                <a:latin typeface="Arial" pitchFamily="34" charset="0"/>
                <a:cs typeface="Arial" pitchFamily="34" charset="0"/>
              </a:rPr>
              <a:t>is: Revenue </a:t>
            </a:r>
            <a:r>
              <a:rPr lang="en-US" sz="1600" b="1" dirty="0">
                <a:latin typeface="Arial" pitchFamily="34" charset="0"/>
                <a:cs typeface="Arial" pitchFamily="34" charset="0"/>
              </a:rPr>
              <a:t>Expenditure – Revenue Receipts </a:t>
            </a:r>
          </a:p>
          <a:p>
            <a:pPr marL="465138" indent="-465138">
              <a:lnSpc>
                <a:spcPct val="150000"/>
              </a:lnSpc>
              <a:spcBef>
                <a:spcPct val="20000"/>
              </a:spcBef>
              <a:buFont typeface="Wingdings" pitchFamily="2" charset="2"/>
              <a:buChar char="q"/>
              <a:tabLst>
                <a:tab pos="465138" algn="l"/>
              </a:tabLst>
            </a:pPr>
            <a:endParaRPr lang="en-US" sz="1000" b="1" dirty="0">
              <a:latin typeface="Arial" pitchFamily="34" charset="0"/>
              <a:cs typeface="Arial" pitchFamily="34" charset="0"/>
            </a:endParaRPr>
          </a:p>
          <a:p>
            <a:pPr marL="465138" lvl="1" indent="-465138">
              <a:lnSpc>
                <a:spcPct val="150000"/>
              </a:lnSpc>
              <a:spcBef>
                <a:spcPct val="20000"/>
              </a:spcBef>
              <a:buFont typeface="Wingdings" pitchFamily="2" charset="2"/>
              <a:buChar char="q"/>
              <a:tabLst>
                <a:tab pos="465138" algn="l"/>
              </a:tabLst>
            </a:pPr>
            <a:r>
              <a:rPr lang="en-US" sz="1600" b="1" dirty="0">
                <a:latin typeface="Arial" pitchFamily="34" charset="0"/>
                <a:cs typeface="Arial" pitchFamily="34" charset="0"/>
              </a:rPr>
              <a:t>It shows the shortfall of government’s current receipts over current expenditure.</a:t>
            </a:r>
          </a:p>
          <a:p>
            <a:pPr marL="465138" lvl="1" indent="-465138">
              <a:lnSpc>
                <a:spcPct val="150000"/>
              </a:lnSpc>
              <a:spcBef>
                <a:spcPct val="20000"/>
              </a:spcBef>
              <a:buFont typeface="Wingdings" pitchFamily="2" charset="2"/>
              <a:buChar char="q"/>
              <a:tabLst>
                <a:tab pos="465138" algn="l"/>
              </a:tabLst>
            </a:pPr>
            <a:endParaRPr lang="en-US" sz="1000" b="1" dirty="0">
              <a:latin typeface="Arial" pitchFamily="34" charset="0"/>
              <a:cs typeface="Arial" pitchFamily="34" charset="0"/>
            </a:endParaRPr>
          </a:p>
          <a:p>
            <a:pPr marL="465138" lvl="1" indent="-465138">
              <a:lnSpc>
                <a:spcPct val="150000"/>
              </a:lnSpc>
              <a:spcBef>
                <a:spcPct val="20000"/>
              </a:spcBef>
              <a:buFont typeface="Wingdings" pitchFamily="2" charset="2"/>
              <a:buChar char="q"/>
              <a:tabLst>
                <a:tab pos="465138" algn="l"/>
              </a:tabLst>
            </a:pPr>
            <a:r>
              <a:rPr lang="en-US" sz="1600" b="1" dirty="0">
                <a:latin typeface="Arial" pitchFamily="34" charset="0"/>
                <a:cs typeface="Arial" pitchFamily="34" charset="0"/>
              </a:rPr>
              <a:t>When a country runs a revenue deficit, it means that the Govt. is unable to meet its running expenses from its recurring income.</a:t>
            </a:r>
          </a:p>
        </p:txBody>
      </p:sp>
    </p:spTree>
    <p:extLst>
      <p:ext uri="{BB962C8B-B14F-4D97-AF65-F5344CB8AC3E}">
        <p14:creationId xmlns:p14="http://schemas.microsoft.com/office/powerpoint/2010/main" xmlns="" val="357017587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REVENUE &amp; TRADE</a:t>
            </a:r>
          </a:p>
        </p:txBody>
      </p:sp>
      <p:sp>
        <p:nvSpPr>
          <p:cNvPr id="3" name="Rectangle 2"/>
          <p:cNvSpPr/>
          <p:nvPr/>
        </p:nvSpPr>
        <p:spPr>
          <a:xfrm>
            <a:off x="714348" y="1052736"/>
            <a:ext cx="7242028" cy="463075"/>
          </a:xfrm>
          <a:prstGeom prst="rect">
            <a:avLst/>
          </a:prstGeom>
        </p:spPr>
        <p:txBody>
          <a:bodyPr wrap="square">
            <a:spAutoFit/>
          </a:bodyPr>
          <a:lstStyle/>
          <a:p>
            <a:pPr algn="ctr">
              <a:lnSpc>
                <a:spcPct val="150000"/>
              </a:lnSpc>
            </a:pPr>
            <a:r>
              <a:rPr lang="en-US" b="1" dirty="0">
                <a:latin typeface="Arial" pitchFamily="34" charset="0"/>
                <a:cs typeface="Arial" pitchFamily="34" charset="0"/>
              </a:rPr>
              <a:t>So…</a:t>
            </a:r>
          </a:p>
        </p:txBody>
      </p:sp>
      <p:sp>
        <p:nvSpPr>
          <p:cNvPr id="5" name="Rectangle 4"/>
          <p:cNvSpPr/>
          <p:nvPr/>
        </p:nvSpPr>
        <p:spPr>
          <a:xfrm>
            <a:off x="714348" y="1596856"/>
            <a:ext cx="7602068" cy="3416320"/>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Revenue deficit indicates the shortfall between revenue incomes and revenue disbursements, which is to be filled by capital account surplus, or borrowings. </a:t>
            </a:r>
          </a:p>
          <a:p>
            <a:pPr marL="465138" indent="-465138">
              <a:lnSpc>
                <a:spcPct val="150000"/>
              </a:lnSpc>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Thus, a revenue deficit implies that the government is unable even to cover its expenditure on maintaining itself through the tax and non-tax revenues that it mobilizes, and has to resort to borrowings. </a:t>
            </a:r>
          </a:p>
        </p:txBody>
      </p:sp>
    </p:spTree>
    <p:extLst>
      <p:ext uri="{BB962C8B-B14F-4D97-AF65-F5344CB8AC3E}">
        <p14:creationId xmlns:p14="http://schemas.microsoft.com/office/powerpoint/2010/main" xmlns="" val="246263470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827584" y="1734865"/>
            <a:ext cx="7560840" cy="4790479"/>
          </a:xfrm>
          <a:prstGeom prst="rect">
            <a:avLst/>
          </a:prstGeom>
          <a:solidFill>
            <a:srgbClr val="92D050"/>
          </a:solidFill>
          <a:ln>
            <a:solidFill>
              <a:srgbClr val="FFFF00"/>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p:cNvSpPr/>
          <p:nvPr/>
        </p:nvSpPr>
        <p:spPr>
          <a:xfrm>
            <a:off x="827584" y="1093717"/>
            <a:ext cx="7272808" cy="463075"/>
          </a:xfrm>
          <a:prstGeom prst="rect">
            <a:avLst/>
          </a:prstGeom>
        </p:spPr>
        <p:txBody>
          <a:bodyPr wrap="square">
            <a:spAutoFit/>
          </a:bodyPr>
          <a:lstStyle/>
          <a:p>
            <a:pPr algn="ctr">
              <a:lnSpc>
                <a:spcPct val="150000"/>
              </a:lnSpc>
              <a:tabLst>
                <a:tab pos="465138" algn="l"/>
              </a:tabLst>
            </a:pPr>
            <a:r>
              <a:rPr lang="en-US" b="1" dirty="0">
                <a:latin typeface="Arial" pitchFamily="34" charset="0"/>
                <a:cs typeface="Arial" pitchFamily="34" charset="0"/>
              </a:rPr>
              <a:t>Confused</a:t>
            </a:r>
            <a:r>
              <a:rPr lang="en-US" b="1" dirty="0" smtClean="0">
                <a:latin typeface="Arial" pitchFamily="34" charset="0"/>
                <a:cs typeface="Arial" pitchFamily="34" charset="0"/>
              </a:rPr>
              <a:t>?! Look </a:t>
            </a:r>
            <a:r>
              <a:rPr lang="en-US" b="1" dirty="0">
                <a:latin typeface="Arial" pitchFamily="34" charset="0"/>
                <a:cs typeface="Arial" pitchFamily="34" charset="0"/>
              </a:rPr>
              <a:t>at the graph below…</a:t>
            </a:r>
          </a:p>
        </p:txBody>
      </p:sp>
      <p:sp>
        <p:nvSpPr>
          <p:cNvPr id="5" name="TextBox 4"/>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REVENUE &amp; TRADE</a:t>
            </a:r>
          </a:p>
        </p:txBody>
      </p:sp>
      <p:graphicFrame>
        <p:nvGraphicFramePr>
          <p:cNvPr id="6" name="Diagram 5"/>
          <p:cNvGraphicFramePr/>
          <p:nvPr/>
        </p:nvGraphicFramePr>
        <p:xfrm>
          <a:off x="1043608" y="1844824"/>
          <a:ext cx="2971800" cy="26812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Diagram 6"/>
          <p:cNvGraphicFramePr/>
          <p:nvPr/>
        </p:nvGraphicFramePr>
        <p:xfrm>
          <a:off x="4572000" y="1734865"/>
          <a:ext cx="3614738" cy="306228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8" name="Rectangle 7"/>
          <p:cNvSpPr/>
          <p:nvPr/>
        </p:nvSpPr>
        <p:spPr>
          <a:xfrm>
            <a:off x="1199550" y="4869160"/>
            <a:ext cx="1915909" cy="507831"/>
          </a:xfrm>
          <a:prstGeom prst="rect">
            <a:avLst/>
          </a:prstGeom>
        </p:spPr>
        <p:txBody>
          <a:bodyPr wrap="none">
            <a:spAutoFit/>
          </a:bodyPr>
          <a:lstStyle/>
          <a:p>
            <a:pPr algn="ctr">
              <a:lnSpc>
                <a:spcPct val="150000"/>
              </a:lnSpc>
              <a:spcBef>
                <a:spcPct val="50000"/>
              </a:spcBef>
            </a:pPr>
            <a:r>
              <a:rPr lang="en-US" b="1" u="sng" dirty="0">
                <a:solidFill>
                  <a:schemeClr val="bg1"/>
                </a:solidFill>
                <a:latin typeface="Arial" pitchFamily="34" charset="0"/>
                <a:cs typeface="Arial" pitchFamily="34" charset="0"/>
              </a:rPr>
              <a:t>FISCALDEFICIT</a:t>
            </a:r>
          </a:p>
        </p:txBody>
      </p:sp>
      <p:sp>
        <p:nvSpPr>
          <p:cNvPr id="9" name="Rectangle 8"/>
          <p:cNvSpPr/>
          <p:nvPr/>
        </p:nvSpPr>
        <p:spPr>
          <a:xfrm>
            <a:off x="1171243" y="5374957"/>
            <a:ext cx="2176621" cy="646331"/>
          </a:xfrm>
          <a:prstGeom prst="rect">
            <a:avLst/>
          </a:prstGeom>
        </p:spPr>
        <p:txBody>
          <a:bodyPr wrap="none">
            <a:spAutoFit/>
          </a:bodyPr>
          <a:lstStyle/>
          <a:p>
            <a:pPr>
              <a:spcBef>
                <a:spcPct val="50000"/>
              </a:spcBef>
            </a:pPr>
            <a:r>
              <a:rPr lang="en-US" b="1" dirty="0">
                <a:solidFill>
                  <a:schemeClr val="bg1"/>
                </a:solidFill>
                <a:latin typeface="Arial" pitchFamily="34" charset="0"/>
                <a:cs typeface="Arial" pitchFamily="34" charset="0"/>
              </a:rPr>
              <a:t>Govt.'s </a:t>
            </a:r>
            <a:r>
              <a:rPr lang="en-US" b="1" dirty="0" smtClean="0">
                <a:solidFill>
                  <a:schemeClr val="bg1"/>
                </a:solidFill>
                <a:latin typeface="Arial" pitchFamily="34" charset="0"/>
                <a:cs typeface="Arial" pitchFamily="34" charset="0"/>
              </a:rPr>
              <a:t>Expenses</a:t>
            </a:r>
            <a:br>
              <a:rPr lang="en-US" b="1" dirty="0" smtClean="0">
                <a:solidFill>
                  <a:schemeClr val="bg1"/>
                </a:solidFill>
                <a:latin typeface="Arial" pitchFamily="34" charset="0"/>
                <a:cs typeface="Arial" pitchFamily="34" charset="0"/>
              </a:rPr>
            </a:br>
            <a:r>
              <a:rPr lang="en-US" b="1" dirty="0" smtClean="0">
                <a:solidFill>
                  <a:schemeClr val="bg1"/>
                </a:solidFill>
                <a:latin typeface="Arial" pitchFamily="34" charset="0"/>
                <a:cs typeface="Arial" pitchFamily="34" charset="0"/>
              </a:rPr>
              <a:t>– Govt</a:t>
            </a:r>
            <a:r>
              <a:rPr lang="en-US" b="1" dirty="0">
                <a:solidFill>
                  <a:schemeClr val="bg1"/>
                </a:solidFill>
                <a:latin typeface="Arial" pitchFamily="34" charset="0"/>
                <a:cs typeface="Arial" pitchFamily="34" charset="0"/>
              </a:rPr>
              <a:t>.’s Receipts</a:t>
            </a:r>
          </a:p>
        </p:txBody>
      </p:sp>
      <p:sp>
        <p:nvSpPr>
          <p:cNvPr id="10" name="Rectangle 9"/>
          <p:cNvSpPr/>
          <p:nvPr/>
        </p:nvSpPr>
        <p:spPr>
          <a:xfrm>
            <a:off x="5303594" y="4865385"/>
            <a:ext cx="2262158" cy="507831"/>
          </a:xfrm>
          <a:prstGeom prst="rect">
            <a:avLst/>
          </a:prstGeom>
        </p:spPr>
        <p:txBody>
          <a:bodyPr wrap="none">
            <a:spAutoFit/>
          </a:bodyPr>
          <a:lstStyle/>
          <a:p>
            <a:pPr algn="ctr">
              <a:lnSpc>
                <a:spcPct val="150000"/>
              </a:lnSpc>
              <a:spcBef>
                <a:spcPct val="50000"/>
              </a:spcBef>
            </a:pPr>
            <a:r>
              <a:rPr lang="en-US" b="1" u="sng" dirty="0">
                <a:solidFill>
                  <a:schemeClr val="bg1"/>
                </a:solidFill>
                <a:latin typeface="Arial" pitchFamily="34" charset="0"/>
                <a:cs typeface="Arial" pitchFamily="34" charset="0"/>
              </a:rPr>
              <a:t>REVENUE DEFICIT</a:t>
            </a:r>
          </a:p>
        </p:txBody>
      </p:sp>
      <p:sp>
        <p:nvSpPr>
          <p:cNvPr id="11" name="Rectangle 10"/>
          <p:cNvSpPr/>
          <p:nvPr/>
        </p:nvSpPr>
        <p:spPr>
          <a:xfrm>
            <a:off x="5303594" y="5374957"/>
            <a:ext cx="2364750" cy="646331"/>
          </a:xfrm>
          <a:prstGeom prst="rect">
            <a:avLst/>
          </a:prstGeom>
        </p:spPr>
        <p:txBody>
          <a:bodyPr wrap="none">
            <a:spAutoFit/>
          </a:bodyPr>
          <a:lstStyle/>
          <a:p>
            <a:pPr>
              <a:spcBef>
                <a:spcPct val="50000"/>
              </a:spcBef>
            </a:pPr>
            <a:r>
              <a:rPr lang="en-US" b="1" dirty="0">
                <a:solidFill>
                  <a:schemeClr val="bg1"/>
                </a:solidFill>
                <a:latin typeface="Arial" pitchFamily="34" charset="0"/>
                <a:cs typeface="Arial" pitchFamily="34" charset="0"/>
              </a:rPr>
              <a:t>Revenue </a:t>
            </a:r>
            <a:r>
              <a:rPr lang="en-US" b="1" dirty="0" smtClean="0">
                <a:solidFill>
                  <a:schemeClr val="bg1"/>
                </a:solidFill>
                <a:latin typeface="Arial" pitchFamily="34" charset="0"/>
                <a:cs typeface="Arial" pitchFamily="34" charset="0"/>
              </a:rPr>
              <a:t>Expenses</a:t>
            </a:r>
            <a:br>
              <a:rPr lang="en-US" b="1" dirty="0" smtClean="0">
                <a:solidFill>
                  <a:schemeClr val="bg1"/>
                </a:solidFill>
                <a:latin typeface="Arial" pitchFamily="34" charset="0"/>
                <a:cs typeface="Arial" pitchFamily="34" charset="0"/>
              </a:rPr>
            </a:br>
            <a:r>
              <a:rPr lang="en-US" b="1" dirty="0" smtClean="0">
                <a:solidFill>
                  <a:schemeClr val="bg1"/>
                </a:solidFill>
                <a:latin typeface="Arial" pitchFamily="34" charset="0"/>
                <a:cs typeface="Arial" pitchFamily="34" charset="0"/>
              </a:rPr>
              <a:t>– </a:t>
            </a:r>
            <a:r>
              <a:rPr lang="en-US" b="1" dirty="0">
                <a:solidFill>
                  <a:schemeClr val="bg1"/>
                </a:solidFill>
                <a:latin typeface="Arial" pitchFamily="34" charset="0"/>
                <a:cs typeface="Arial" pitchFamily="34" charset="0"/>
              </a:rPr>
              <a:t>Revenue Receipts</a:t>
            </a:r>
          </a:p>
        </p:txBody>
      </p:sp>
    </p:spTree>
    <p:extLst>
      <p:ext uri="{BB962C8B-B14F-4D97-AF65-F5344CB8AC3E}">
        <p14:creationId xmlns:p14="http://schemas.microsoft.com/office/powerpoint/2010/main" xmlns="" val="8081912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REVENUE &amp; TRADE</a:t>
            </a:r>
          </a:p>
        </p:txBody>
      </p:sp>
      <p:sp>
        <p:nvSpPr>
          <p:cNvPr id="3" name="Rectangle 2"/>
          <p:cNvSpPr/>
          <p:nvPr/>
        </p:nvSpPr>
        <p:spPr>
          <a:xfrm>
            <a:off x="714348" y="1052736"/>
            <a:ext cx="7242028" cy="507831"/>
          </a:xfrm>
          <a:prstGeom prst="rect">
            <a:avLst/>
          </a:prstGeom>
        </p:spPr>
        <p:txBody>
          <a:bodyPr wrap="square">
            <a:spAutoFit/>
          </a:bodyPr>
          <a:lstStyle/>
          <a:p>
            <a:pPr algn="ctr">
              <a:lnSpc>
                <a:spcPct val="150000"/>
              </a:lnSpc>
            </a:pPr>
            <a:r>
              <a:rPr lang="en-US" b="1" dirty="0">
                <a:latin typeface="Arial" pitchFamily="34" charset="0"/>
                <a:cs typeface="Arial" pitchFamily="34" charset="0"/>
              </a:rPr>
              <a:t> Before we tackle Trade Deficit..</a:t>
            </a:r>
          </a:p>
        </p:txBody>
      </p:sp>
      <p:sp>
        <p:nvSpPr>
          <p:cNvPr id="5" name="Rectangle 4"/>
          <p:cNvSpPr/>
          <p:nvPr/>
        </p:nvSpPr>
        <p:spPr>
          <a:xfrm>
            <a:off x="714348" y="1596856"/>
            <a:ext cx="7890100" cy="3637919"/>
          </a:xfrm>
          <a:prstGeom prst="rect">
            <a:avLst/>
          </a:prstGeom>
        </p:spPr>
        <p:txBody>
          <a:bodyPr wrap="square">
            <a:spAutoFit/>
          </a:bodyPr>
          <a:lstStyle/>
          <a:p>
            <a:pPr marL="465138" indent="-465138">
              <a:lnSpc>
                <a:spcPct val="150000"/>
              </a:lnSpc>
              <a:spcBef>
                <a:spcPct val="20000"/>
              </a:spcBef>
              <a:buFont typeface="Wingdings" pitchFamily="2" charset="2"/>
              <a:buChar char="q"/>
              <a:tabLst>
                <a:tab pos="465138" algn="l"/>
              </a:tabLst>
            </a:pPr>
            <a:r>
              <a:rPr lang="en-US" b="1" dirty="0">
                <a:latin typeface="Arial" pitchFamily="34" charset="0"/>
                <a:cs typeface="Arial" pitchFamily="34" charset="0"/>
              </a:rPr>
              <a:t>We need to understand what is known as Balance of Trade</a:t>
            </a:r>
          </a:p>
          <a:p>
            <a:pPr marL="465138" indent="-465138">
              <a:lnSpc>
                <a:spcPct val="150000"/>
              </a:lnSpc>
              <a:spcBef>
                <a:spcPct val="20000"/>
              </a:spcBef>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spcBef>
                <a:spcPct val="20000"/>
              </a:spcBef>
              <a:buFont typeface="Wingdings" pitchFamily="2" charset="2"/>
              <a:buChar char="q"/>
              <a:tabLst>
                <a:tab pos="465138" algn="l"/>
              </a:tabLst>
            </a:pPr>
            <a:r>
              <a:rPr lang="en-US" b="1" dirty="0">
                <a:latin typeface="Arial" pitchFamily="34" charset="0"/>
                <a:cs typeface="Arial" pitchFamily="34" charset="0"/>
              </a:rPr>
              <a:t>Balance of Trade is a measure of a country's exports </a:t>
            </a:r>
            <a:r>
              <a:rPr lang="en-US" b="1" dirty="0" smtClean="0">
                <a:latin typeface="Arial" pitchFamily="34" charset="0"/>
                <a:cs typeface="Arial" pitchFamily="34" charset="0"/>
              </a:rPr>
              <a:t>minus</a:t>
            </a:r>
            <a:br>
              <a:rPr lang="en-US" b="1" dirty="0" smtClean="0">
                <a:latin typeface="Arial" pitchFamily="34" charset="0"/>
                <a:cs typeface="Arial" pitchFamily="34" charset="0"/>
              </a:rPr>
            </a:br>
            <a:r>
              <a:rPr lang="en-US" b="1" dirty="0" smtClean="0">
                <a:latin typeface="Arial" pitchFamily="34" charset="0"/>
                <a:cs typeface="Arial" pitchFamily="34" charset="0"/>
              </a:rPr>
              <a:t>its </a:t>
            </a:r>
            <a:r>
              <a:rPr lang="en-US" b="1" dirty="0">
                <a:latin typeface="Arial" pitchFamily="34" charset="0"/>
                <a:cs typeface="Arial" pitchFamily="34" charset="0"/>
              </a:rPr>
              <a:t>imports.</a:t>
            </a:r>
          </a:p>
          <a:p>
            <a:pPr marL="465138" indent="-465138">
              <a:lnSpc>
                <a:spcPct val="150000"/>
              </a:lnSpc>
              <a:spcBef>
                <a:spcPct val="20000"/>
              </a:spcBef>
              <a:buFont typeface="Wingdings" pitchFamily="2" charset="2"/>
              <a:buChar char="q"/>
              <a:tabLst>
                <a:tab pos="465138" algn="l"/>
              </a:tabLst>
            </a:pPr>
            <a:endParaRPr lang="en-US" b="1" dirty="0">
              <a:latin typeface="Arial" pitchFamily="34" charset="0"/>
              <a:cs typeface="Arial" pitchFamily="34" charset="0"/>
            </a:endParaRPr>
          </a:p>
          <a:p>
            <a:pPr marL="465138" indent="-465138">
              <a:lnSpc>
                <a:spcPct val="150000"/>
              </a:lnSpc>
              <a:spcBef>
                <a:spcPct val="20000"/>
              </a:spcBef>
              <a:buFont typeface="Wingdings" pitchFamily="2" charset="2"/>
              <a:buChar char="q"/>
              <a:tabLst>
                <a:tab pos="465138" algn="l"/>
              </a:tabLst>
            </a:pPr>
            <a:r>
              <a:rPr lang="en-US" b="1" dirty="0">
                <a:latin typeface="Arial" pitchFamily="34" charset="0"/>
                <a:cs typeface="Arial" pitchFamily="34" charset="0"/>
              </a:rPr>
              <a:t>A positive balance of trade is known as a trade surplus and consists of exporting more than is imported; a negative </a:t>
            </a:r>
            <a:r>
              <a:rPr lang="en-US" b="1" dirty="0" smtClean="0">
                <a:latin typeface="Arial" pitchFamily="34" charset="0"/>
                <a:cs typeface="Arial" pitchFamily="34" charset="0"/>
              </a:rPr>
              <a:t>balance</a:t>
            </a:r>
            <a:br>
              <a:rPr lang="en-US" b="1" dirty="0" smtClean="0">
                <a:latin typeface="Arial" pitchFamily="34" charset="0"/>
                <a:cs typeface="Arial" pitchFamily="34" charset="0"/>
              </a:rPr>
            </a:br>
            <a:r>
              <a:rPr lang="en-US" b="1" dirty="0" smtClean="0">
                <a:latin typeface="Arial" pitchFamily="34" charset="0"/>
                <a:cs typeface="Arial" pitchFamily="34" charset="0"/>
              </a:rPr>
              <a:t>of </a:t>
            </a:r>
            <a:r>
              <a:rPr lang="en-US" b="1" dirty="0">
                <a:latin typeface="Arial" pitchFamily="34" charset="0"/>
                <a:cs typeface="Arial" pitchFamily="34" charset="0"/>
              </a:rPr>
              <a:t>trade is known as a trade deficit or, informally, a trade gap.</a:t>
            </a:r>
            <a:endParaRPr lang="en-US" sz="2000" b="1" dirty="0">
              <a:latin typeface="Arial" pitchFamily="34" charset="0"/>
              <a:cs typeface="Arial" pitchFamily="34" charset="0"/>
            </a:endParaRPr>
          </a:p>
        </p:txBody>
      </p:sp>
    </p:spTree>
    <p:extLst>
      <p:ext uri="{BB962C8B-B14F-4D97-AF65-F5344CB8AC3E}">
        <p14:creationId xmlns:p14="http://schemas.microsoft.com/office/powerpoint/2010/main" xmlns="" val="319272169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27384"/>
            <a:ext cx="9144000" cy="6858000"/>
          </a:xfrm>
          <a:prstGeom prst="rect">
            <a:avLst/>
          </a:prstGeom>
          <a:noFill/>
        </p:spPr>
      </p:pic>
      <p:sp>
        <p:nvSpPr>
          <p:cNvPr id="4" name="TextBox 3"/>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REVENUE &amp; TRADE</a:t>
            </a:r>
          </a:p>
        </p:txBody>
      </p:sp>
      <p:sp>
        <p:nvSpPr>
          <p:cNvPr id="3" name="Rectangle 2"/>
          <p:cNvSpPr/>
          <p:nvPr/>
        </p:nvSpPr>
        <p:spPr>
          <a:xfrm>
            <a:off x="714348" y="1052736"/>
            <a:ext cx="7242028" cy="463075"/>
          </a:xfrm>
          <a:prstGeom prst="rect">
            <a:avLst/>
          </a:prstGeom>
        </p:spPr>
        <p:txBody>
          <a:bodyPr wrap="square">
            <a:spAutoFit/>
          </a:bodyPr>
          <a:lstStyle/>
          <a:p>
            <a:pPr algn="ctr">
              <a:lnSpc>
                <a:spcPct val="150000"/>
              </a:lnSpc>
            </a:pPr>
            <a:r>
              <a:rPr lang="en-US" b="1" dirty="0">
                <a:latin typeface="Arial" pitchFamily="34" charset="0"/>
                <a:cs typeface="Arial" pitchFamily="34" charset="0"/>
              </a:rPr>
              <a:t>Therefore…</a:t>
            </a:r>
          </a:p>
        </p:txBody>
      </p:sp>
      <p:sp>
        <p:nvSpPr>
          <p:cNvPr id="5" name="Rectangle 4"/>
          <p:cNvSpPr/>
          <p:nvPr/>
        </p:nvSpPr>
        <p:spPr>
          <a:xfrm>
            <a:off x="714348" y="1596856"/>
            <a:ext cx="7890100" cy="2169825"/>
          </a:xfrm>
          <a:prstGeom prst="rect">
            <a:avLst/>
          </a:prstGeom>
        </p:spPr>
        <p:txBody>
          <a:bodyPr wrap="square">
            <a:spAutoFit/>
          </a:bodyPr>
          <a:lstStyle/>
          <a:p>
            <a:pPr marL="465138" indent="-465138">
              <a:lnSpc>
                <a:spcPct val="150000"/>
              </a:lnSpc>
              <a:buFont typeface="Wingdings" pitchFamily="2" charset="2"/>
              <a:buChar char="q"/>
              <a:tabLst>
                <a:tab pos="465138" algn="l"/>
              </a:tabLst>
            </a:pPr>
            <a:r>
              <a:rPr lang="en-US" b="1" i="1" dirty="0">
                <a:latin typeface="Arial" pitchFamily="34" charset="0"/>
                <a:cs typeface="Arial" pitchFamily="34" charset="0"/>
              </a:rPr>
              <a:t>Simply</a:t>
            </a:r>
            <a:r>
              <a:rPr lang="en-US" b="1" dirty="0">
                <a:latin typeface="Arial" pitchFamily="34" charset="0"/>
                <a:cs typeface="Arial" pitchFamily="34" charset="0"/>
              </a:rPr>
              <a:t> put, Trade Deficit is a negative balance of </a:t>
            </a:r>
            <a:r>
              <a:rPr lang="en-US" b="1" dirty="0" smtClean="0">
                <a:latin typeface="Arial" pitchFamily="34" charset="0"/>
                <a:cs typeface="Arial" pitchFamily="34" charset="0"/>
              </a:rPr>
              <a:t>trade,</a:t>
            </a:r>
            <a:br>
              <a:rPr lang="en-US" b="1" dirty="0" smtClean="0">
                <a:latin typeface="Arial" pitchFamily="34" charset="0"/>
                <a:cs typeface="Arial" pitchFamily="34" charset="0"/>
              </a:rPr>
            </a:br>
            <a:r>
              <a:rPr lang="en-US" b="1" dirty="0" smtClean="0">
                <a:latin typeface="Arial" pitchFamily="34" charset="0"/>
                <a:cs typeface="Arial" pitchFamily="34" charset="0"/>
              </a:rPr>
              <a:t>i.e</a:t>
            </a:r>
            <a:r>
              <a:rPr lang="en-US" b="1" dirty="0">
                <a:latin typeface="Arial" pitchFamily="34" charset="0"/>
                <a:cs typeface="Arial" pitchFamily="34" charset="0"/>
              </a:rPr>
              <a:t>. when a country’s imports exceed its exports.</a:t>
            </a:r>
          </a:p>
          <a:p>
            <a:pPr>
              <a:lnSpc>
                <a:spcPct val="150000"/>
              </a:lnSpc>
            </a:pPr>
            <a:endParaRPr lang="en-US" b="1" dirty="0">
              <a:latin typeface="Arial" pitchFamily="34" charset="0"/>
              <a:cs typeface="Arial" pitchFamily="34" charset="0"/>
            </a:endParaRPr>
          </a:p>
          <a:p>
            <a:pPr marL="914400" lvl="1" indent="-449263">
              <a:lnSpc>
                <a:spcPct val="150000"/>
              </a:lnSpc>
              <a:buFont typeface="Wingdings" pitchFamily="2" charset="2"/>
              <a:buChar char="q"/>
              <a:tabLst>
                <a:tab pos="465138" algn="l"/>
                <a:tab pos="914400" algn="l"/>
              </a:tabLst>
            </a:pPr>
            <a:r>
              <a:rPr lang="en-US" b="1" dirty="0">
                <a:latin typeface="Arial" pitchFamily="34" charset="0"/>
                <a:cs typeface="Arial" pitchFamily="34" charset="0"/>
              </a:rPr>
              <a:t>Thus, the Trade Deficit is:</a:t>
            </a:r>
          </a:p>
          <a:p>
            <a:pPr marL="914400" indent="-449263">
              <a:lnSpc>
                <a:spcPct val="150000"/>
              </a:lnSpc>
              <a:buFontTx/>
              <a:buNone/>
              <a:tabLst>
                <a:tab pos="465138" algn="l"/>
                <a:tab pos="914400" algn="l"/>
              </a:tabLst>
            </a:pPr>
            <a:r>
              <a:rPr lang="en-US" b="1" dirty="0">
                <a:latin typeface="Arial" pitchFamily="34" charset="0"/>
                <a:cs typeface="Arial" pitchFamily="34" charset="0"/>
              </a:rPr>
              <a:t>		Export – Import </a:t>
            </a:r>
            <a:r>
              <a:rPr lang="en-US" b="1" dirty="0" smtClean="0">
                <a:latin typeface="Arial" pitchFamily="34" charset="0"/>
                <a:cs typeface="Arial" pitchFamily="34" charset="0"/>
              </a:rPr>
              <a:t> (</a:t>
            </a:r>
            <a:r>
              <a:rPr lang="en-US" b="1" dirty="0">
                <a:latin typeface="Arial" pitchFamily="34" charset="0"/>
                <a:cs typeface="Arial" pitchFamily="34" charset="0"/>
              </a:rPr>
              <a:t>where imports are greater </a:t>
            </a:r>
            <a:r>
              <a:rPr lang="en-US" b="1" dirty="0" smtClean="0">
                <a:latin typeface="Arial" pitchFamily="34" charset="0"/>
                <a:cs typeface="Arial" pitchFamily="34" charset="0"/>
              </a:rPr>
              <a:t>than exports</a:t>
            </a:r>
            <a:r>
              <a:rPr lang="en-US" b="1" dirty="0">
                <a:latin typeface="Arial" pitchFamily="34" charset="0"/>
                <a:cs typeface="Arial" pitchFamily="34" charset="0"/>
              </a:rPr>
              <a:t>)</a:t>
            </a:r>
          </a:p>
        </p:txBody>
      </p:sp>
    </p:spTree>
    <p:extLst>
      <p:ext uri="{BB962C8B-B14F-4D97-AF65-F5344CB8AC3E}">
        <p14:creationId xmlns:p14="http://schemas.microsoft.com/office/powerpoint/2010/main" xmlns="" val="7372058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067944" y="4482986"/>
            <a:ext cx="3744416" cy="1754326"/>
          </a:xfrm>
          <a:prstGeom prst="rect">
            <a:avLst/>
          </a:prstGeom>
        </p:spPr>
        <p:txBody>
          <a:bodyPr wrap="square">
            <a:spAutoFit/>
          </a:bodyPr>
          <a:lstStyle/>
          <a:p>
            <a:pPr>
              <a:lnSpc>
                <a:spcPct val="150000"/>
              </a:lnSpc>
              <a:buFontTx/>
              <a:buNone/>
            </a:pPr>
            <a:r>
              <a:rPr lang="en-US" b="1" dirty="0">
                <a:latin typeface="Arial" pitchFamily="34" charset="0"/>
                <a:cs typeface="Arial" pitchFamily="34" charset="0"/>
              </a:rPr>
              <a:t>Hope you have now </a:t>
            </a:r>
            <a:r>
              <a:rPr lang="en-US" b="1" dirty="0" smtClean="0">
                <a:latin typeface="Arial" pitchFamily="34" charset="0"/>
                <a:cs typeface="Arial" pitchFamily="34" charset="0"/>
              </a:rPr>
              <a:t>understood</a:t>
            </a:r>
            <a:br>
              <a:rPr lang="en-US" b="1" dirty="0" smtClean="0">
                <a:latin typeface="Arial" pitchFamily="34" charset="0"/>
                <a:cs typeface="Arial" pitchFamily="34" charset="0"/>
              </a:rPr>
            </a:br>
            <a:r>
              <a:rPr lang="en-US" b="1" dirty="0" smtClean="0">
                <a:latin typeface="Arial" pitchFamily="34" charset="0"/>
                <a:cs typeface="Arial" pitchFamily="34" charset="0"/>
              </a:rPr>
              <a:t>the </a:t>
            </a:r>
            <a:r>
              <a:rPr lang="en-US" b="1" dirty="0">
                <a:latin typeface="Arial" pitchFamily="34" charset="0"/>
                <a:cs typeface="Arial" pitchFamily="34" charset="0"/>
              </a:rPr>
              <a:t>difference between </a:t>
            </a:r>
          </a:p>
          <a:p>
            <a:pPr>
              <a:lnSpc>
                <a:spcPct val="150000"/>
              </a:lnSpc>
              <a:buFontTx/>
              <a:buNone/>
            </a:pPr>
            <a:r>
              <a:rPr lang="en-US" b="1" dirty="0">
                <a:latin typeface="Arial" pitchFamily="34" charset="0"/>
                <a:cs typeface="Arial" pitchFamily="34" charset="0"/>
              </a:rPr>
              <a:t>Fiscal Deficit, Revenue </a:t>
            </a:r>
            <a:r>
              <a:rPr lang="en-US" b="1" dirty="0" smtClean="0">
                <a:latin typeface="Arial" pitchFamily="34" charset="0"/>
                <a:cs typeface="Arial" pitchFamily="34" charset="0"/>
              </a:rPr>
              <a:t>Deficit</a:t>
            </a:r>
            <a:br>
              <a:rPr lang="en-US" b="1" dirty="0" smtClean="0">
                <a:latin typeface="Arial" pitchFamily="34" charset="0"/>
                <a:cs typeface="Arial" pitchFamily="34" charset="0"/>
              </a:rPr>
            </a:br>
            <a:r>
              <a:rPr lang="en-US" b="1" dirty="0" smtClean="0">
                <a:latin typeface="Arial" pitchFamily="34" charset="0"/>
                <a:cs typeface="Arial" pitchFamily="34" charset="0"/>
              </a:rPr>
              <a:t>&amp; </a:t>
            </a:r>
            <a:r>
              <a:rPr lang="en-US" b="1" dirty="0">
                <a:latin typeface="Arial" pitchFamily="34" charset="0"/>
                <a:cs typeface="Arial" pitchFamily="34" charset="0"/>
              </a:rPr>
              <a:t>Trade Deficit</a:t>
            </a:r>
          </a:p>
        </p:txBody>
      </p:sp>
      <p:sp>
        <p:nvSpPr>
          <p:cNvPr id="6" name="TextBox 5"/>
          <p:cNvSpPr txBox="1"/>
          <p:nvPr/>
        </p:nvSpPr>
        <p:spPr>
          <a:xfrm>
            <a:off x="714348" y="498158"/>
            <a:ext cx="724202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FISCAL, REVENUE &amp; TRADE</a:t>
            </a:r>
          </a:p>
        </p:txBody>
      </p:sp>
    </p:spTree>
    <p:extLst>
      <p:ext uri="{BB962C8B-B14F-4D97-AF65-F5344CB8AC3E}">
        <p14:creationId xmlns:p14="http://schemas.microsoft.com/office/powerpoint/2010/main" xmlns="" val="7779845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2" name="Rectangle 1"/>
          <p:cNvSpPr/>
          <p:nvPr/>
        </p:nvSpPr>
        <p:spPr>
          <a:xfrm>
            <a:off x="971600" y="1484784"/>
            <a:ext cx="4032448" cy="1342932"/>
          </a:xfrm>
          <a:prstGeom prst="rect">
            <a:avLst/>
          </a:prstGeom>
        </p:spPr>
        <p:txBody>
          <a:bodyPr wrap="square">
            <a:spAutoFit/>
          </a:bodyPr>
          <a:lstStyle/>
          <a:p>
            <a:pPr marL="342900" indent="-342900" algn="ctr">
              <a:lnSpc>
                <a:spcPct val="150000"/>
              </a:lnSpc>
              <a:spcBef>
                <a:spcPct val="20000"/>
              </a:spcBef>
            </a:pPr>
            <a:r>
              <a:rPr lang="en-US" b="1" dirty="0">
                <a:latin typeface="Arial" pitchFamily="34" charset="0"/>
                <a:cs typeface="Arial" pitchFamily="34" charset="0"/>
              </a:rPr>
              <a:t>In case of any </a:t>
            </a:r>
            <a:r>
              <a:rPr lang="en-US" b="1" dirty="0" smtClean="0">
                <a:latin typeface="Arial" pitchFamily="34" charset="0"/>
                <a:cs typeface="Arial" pitchFamily="34" charset="0"/>
              </a:rPr>
              <a:t>query,</a:t>
            </a:r>
            <a:br>
              <a:rPr lang="en-US" b="1" dirty="0" smtClean="0">
                <a:latin typeface="Arial" pitchFamily="34" charset="0"/>
                <a:cs typeface="Arial" pitchFamily="34" charset="0"/>
              </a:rPr>
            </a:br>
            <a:r>
              <a:rPr lang="en-US" b="1" dirty="0" smtClean="0">
                <a:latin typeface="Arial" pitchFamily="34" charset="0"/>
                <a:cs typeface="Arial" pitchFamily="34" charset="0"/>
              </a:rPr>
              <a:t>please </a:t>
            </a:r>
            <a:r>
              <a:rPr lang="en-US" b="1" dirty="0">
                <a:latin typeface="Arial" pitchFamily="34" charset="0"/>
                <a:cs typeface="Arial" pitchFamily="34" charset="0"/>
              </a:rPr>
              <a:t>e-mail </a:t>
            </a:r>
          </a:p>
          <a:p>
            <a:pPr marL="342900" indent="-342900" algn="ctr">
              <a:lnSpc>
                <a:spcPct val="150000"/>
              </a:lnSpc>
              <a:spcBef>
                <a:spcPct val="20000"/>
              </a:spcBef>
            </a:pPr>
            <a:r>
              <a:rPr lang="en-US" b="1" dirty="0">
                <a:latin typeface="Arial" pitchFamily="34" charset="0"/>
                <a:cs typeface="Arial" pitchFamily="34" charset="0"/>
                <a:hlinkClick r:id="rId4"/>
              </a:rPr>
              <a:t>lchaturvedi@tataamc.com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2511</TotalTime>
  <Words>713</Words>
  <Application>Microsoft Office PowerPoint</Application>
  <PresentationFormat>On-screen Show (4:3)</PresentationFormat>
  <Paragraphs>89</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huttamchandani</cp:lastModifiedBy>
  <cp:revision>291</cp:revision>
  <dcterms:created xsi:type="dcterms:W3CDTF">2013-10-22T09:41:31Z</dcterms:created>
  <dcterms:modified xsi:type="dcterms:W3CDTF">2014-09-22T09:55:51Z</dcterms:modified>
</cp:coreProperties>
</file>