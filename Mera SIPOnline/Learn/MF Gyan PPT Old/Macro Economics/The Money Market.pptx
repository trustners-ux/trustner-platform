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58" r:id="rId3"/>
    <p:sldId id="416" r:id="rId4"/>
    <p:sldId id="418" r:id="rId5"/>
    <p:sldId id="459" r:id="rId6"/>
    <p:sldId id="456" r:id="rId7"/>
    <p:sldId id="457" r:id="rId8"/>
    <p:sldId id="448" r:id="rId9"/>
    <p:sldId id="449" r:id="rId10"/>
    <p:sldId id="424" r:id="rId11"/>
    <p:sldId id="458" r:id="rId12"/>
    <p:sldId id="460"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1" d="100"/>
          <a:sy n="61" d="100"/>
        </p:scale>
        <p:origin x="-1542"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hmasurka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14414" y="1661544"/>
            <a:ext cx="3714776" cy="87857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Money </a:t>
            </a:r>
            <a:r>
              <a:rPr lang="en-US" b="1" dirty="0" smtClean="0">
                <a:latin typeface="Arial" pitchFamily="34" charset="0"/>
                <a:cs typeface="Arial" pitchFamily="34" charset="0"/>
              </a:rPr>
              <a:t>Market</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smtClean="0">
                <a:latin typeface="Arial" pitchFamily="34" charset="0"/>
                <a:cs typeface="Arial" pitchFamily="34" charset="0"/>
              </a:rPr>
              <a:t>By Prof. Simply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883464" cy="4339650"/>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The Money Market is a place for large institutions and the government </a:t>
            </a:r>
            <a:r>
              <a:rPr lang="en-US" sz="1600" b="1" dirty="0" smtClean="0">
                <a:latin typeface="Arial" pitchFamily="34" charset="0"/>
                <a:cs typeface="Arial" pitchFamily="34" charset="0"/>
              </a:rPr>
              <a: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to </a:t>
            </a:r>
            <a:r>
              <a:rPr lang="en-US" sz="1600" b="1" dirty="0" smtClean="0">
                <a:latin typeface="Arial" pitchFamily="34" charset="0"/>
                <a:cs typeface="Arial" pitchFamily="34" charset="0"/>
              </a:rPr>
              <a:t>manage their short term cash needs</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The money market is a subsection of the fixed income securities market</a:t>
            </a:r>
            <a:endParaRPr lang="en-US" sz="1600" b="1" u="sng"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Though we often confuse the words ‘fixed income’ with bonds, a bond is just another type of fixed income security</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The difference between money market and bond market is that money market specializes in very short term debt securities (maturing in less than one year)</a:t>
            </a:r>
          </a:p>
          <a:p>
            <a:pPr marL="357188" indent="-357188">
              <a:lnSpc>
                <a:spcPct val="150000"/>
              </a:lnSpc>
              <a:buFont typeface="Wingdings" pitchFamily="2" charset="2"/>
              <a:buChar char="q"/>
              <a:tabLst>
                <a:tab pos="357188" algn="l"/>
              </a:tabLst>
            </a:pPr>
            <a:endParaRPr lang="en-US" sz="6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sz="1600" b="1" dirty="0" smtClean="0">
                <a:latin typeface="Arial" pitchFamily="34" charset="0"/>
                <a:cs typeface="Arial" pitchFamily="34" charset="0"/>
              </a:rPr>
              <a:t>Money market investments are also called cash investments due to their short term maturities</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63075"/>
          </a:xfrm>
          <a:prstGeom prst="rect">
            <a:avLst/>
          </a:prstGeom>
        </p:spPr>
        <p:txBody>
          <a:bodyPr wrap="square">
            <a:spAutoFit/>
          </a:bodyPr>
          <a:lstStyle/>
          <a:p>
            <a:pPr marL="357188" indent="-357188" algn="ctr">
              <a:lnSpc>
                <a:spcPct val="150000"/>
              </a:lnSpc>
              <a:tabLst>
                <a:tab pos="357188" algn="l"/>
              </a:tabLst>
            </a:pPr>
            <a:r>
              <a:rPr lang="en-US" b="1" dirty="0" smtClean="0">
                <a:latin typeface="Arial" pitchFamily="34" charset="0"/>
                <a:cs typeface="Arial" pitchFamily="34" charset="0"/>
              </a:rPr>
              <a:t> Money market…what is it?</a:t>
            </a:r>
            <a:endParaRPr lang="en-US" b="1" dirty="0">
              <a:latin typeface="Arial" pitchFamily="34" charset="0"/>
              <a:cs typeface="Arial" pitchFamily="34" charset="0"/>
            </a:endParaRPr>
          </a:p>
        </p:txBody>
      </p:sp>
      <p:sp>
        <p:nvSpPr>
          <p:cNvPr id="5" name="Rectangle 4"/>
          <p:cNvSpPr/>
          <p:nvPr/>
        </p:nvSpPr>
        <p:spPr>
          <a:xfrm>
            <a:off x="571472" y="1595021"/>
            <a:ext cx="7786742" cy="3770263"/>
          </a:xfrm>
          <a:prstGeom prst="rect">
            <a:avLst/>
          </a:prstGeom>
        </p:spPr>
        <p:txBody>
          <a:bodyPr wrap="square">
            <a:spAutoFit/>
          </a:bodyPr>
          <a:lstStyle/>
          <a:p>
            <a:pPr marL="357188" indent="-357188">
              <a:spcBef>
                <a:spcPct val="20000"/>
              </a:spcBef>
              <a:buFont typeface="Wingdings" pitchFamily="2" charset="2"/>
              <a:buChar char="q"/>
              <a:tabLst>
                <a:tab pos="357188" algn="l"/>
              </a:tabLst>
            </a:pPr>
            <a:r>
              <a:rPr lang="en-US" sz="1700" b="1" dirty="0" smtClean="0">
                <a:latin typeface="Arial" pitchFamily="34" charset="0"/>
                <a:cs typeface="Arial" pitchFamily="34" charset="0"/>
              </a:rPr>
              <a:t>Money market securities are essentially issued by governments, financial institutions and large corporations</a:t>
            </a:r>
          </a:p>
          <a:p>
            <a:pPr marL="357188" indent="-357188">
              <a:spcBef>
                <a:spcPct val="20000"/>
              </a:spcBef>
              <a:buFont typeface="Wingdings" pitchFamily="2" charset="2"/>
              <a:buChar char="q"/>
              <a:tabLst>
                <a:tab pos="357188" algn="l"/>
              </a:tabLst>
            </a:pPr>
            <a:endParaRPr lang="en-US" sz="800" b="1" dirty="0" smtClean="0">
              <a:latin typeface="Arial" pitchFamily="34" charset="0"/>
              <a:cs typeface="Arial" pitchFamily="34" charset="0"/>
            </a:endParaRPr>
          </a:p>
          <a:p>
            <a:pPr marL="357188" indent="-357188">
              <a:spcBef>
                <a:spcPct val="20000"/>
              </a:spcBef>
              <a:buFont typeface="Wingdings" pitchFamily="2" charset="2"/>
              <a:buChar char="q"/>
              <a:tabLst>
                <a:tab pos="357188" algn="l"/>
              </a:tabLst>
            </a:pPr>
            <a:r>
              <a:rPr lang="en-US" sz="1700" b="1" dirty="0" smtClean="0">
                <a:latin typeface="Arial" pitchFamily="34" charset="0"/>
                <a:cs typeface="Arial" pitchFamily="34" charset="0"/>
              </a:rPr>
              <a:t>These instruments are very liquid (can be disposed for cash </a:t>
            </a:r>
            <a:r>
              <a:rPr lang="en-US" sz="1700" b="1" dirty="0" smtClean="0">
                <a:latin typeface="Arial" pitchFamily="34" charset="0"/>
                <a:cs typeface="Arial" pitchFamily="34" charset="0"/>
              </a:rPr>
              <a:t>quickly,</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if </a:t>
            </a:r>
            <a:r>
              <a:rPr lang="en-US" sz="1700" b="1" dirty="0" smtClean="0">
                <a:latin typeface="Arial" pitchFamily="34" charset="0"/>
                <a:cs typeface="Arial" pitchFamily="34" charset="0"/>
              </a:rPr>
              <a:t>required) and very safe</a:t>
            </a:r>
          </a:p>
          <a:p>
            <a:pPr marL="357188" indent="-357188">
              <a:spcBef>
                <a:spcPct val="20000"/>
              </a:spcBef>
              <a:buFont typeface="Wingdings" pitchFamily="2" charset="2"/>
              <a:buChar char="q"/>
              <a:tabLst>
                <a:tab pos="357188" algn="l"/>
              </a:tabLst>
            </a:pPr>
            <a:endParaRPr lang="en-US" sz="800" b="1" dirty="0" smtClean="0">
              <a:latin typeface="Arial" pitchFamily="34" charset="0"/>
              <a:cs typeface="Arial" pitchFamily="34" charset="0"/>
            </a:endParaRPr>
          </a:p>
          <a:p>
            <a:pPr marL="357188" indent="-357188">
              <a:spcBef>
                <a:spcPct val="20000"/>
              </a:spcBef>
              <a:buFont typeface="Wingdings" pitchFamily="2" charset="2"/>
              <a:buChar char="q"/>
              <a:tabLst>
                <a:tab pos="357188" algn="l"/>
              </a:tabLst>
            </a:pPr>
            <a:r>
              <a:rPr lang="en-US" sz="1700" b="1" dirty="0" smtClean="0">
                <a:latin typeface="Arial" pitchFamily="34" charset="0"/>
                <a:cs typeface="Arial" pitchFamily="34" charset="0"/>
              </a:rPr>
              <a:t>Because, they are very conservative and less risky, they offer much lower returns than most other securities</a:t>
            </a:r>
          </a:p>
          <a:p>
            <a:pPr marL="357188" indent="-357188">
              <a:spcBef>
                <a:spcPct val="20000"/>
              </a:spcBef>
              <a:buFont typeface="Wingdings" pitchFamily="2" charset="2"/>
              <a:buChar char="q"/>
              <a:tabLst>
                <a:tab pos="357188" algn="l"/>
              </a:tabLst>
            </a:pPr>
            <a:endParaRPr lang="en-US" sz="800" b="1" dirty="0" smtClean="0">
              <a:latin typeface="Arial" pitchFamily="34" charset="0"/>
              <a:cs typeface="Arial" pitchFamily="34" charset="0"/>
            </a:endParaRPr>
          </a:p>
          <a:p>
            <a:pPr marL="357188" indent="-357188">
              <a:spcBef>
                <a:spcPct val="20000"/>
              </a:spcBef>
              <a:buFont typeface="Wingdings" pitchFamily="2" charset="2"/>
              <a:buChar char="q"/>
              <a:tabLst>
                <a:tab pos="357188" algn="l"/>
              </a:tabLst>
            </a:pPr>
            <a:r>
              <a:rPr lang="en-US" sz="1700" b="1" dirty="0" smtClean="0">
                <a:latin typeface="Arial" pitchFamily="34" charset="0"/>
                <a:cs typeface="Arial" pitchFamily="34" charset="0"/>
              </a:rPr>
              <a:t>The main difference between money market and the stock market is that most money market instruments trade in very high denominations. So, individual retail investors’ participation is limited. </a:t>
            </a:r>
          </a:p>
          <a:p>
            <a:pPr marL="357188" indent="-357188">
              <a:spcBef>
                <a:spcPct val="20000"/>
              </a:spcBef>
              <a:buFont typeface="Wingdings" pitchFamily="2" charset="2"/>
              <a:buChar char="q"/>
              <a:tabLst>
                <a:tab pos="357188" algn="l"/>
              </a:tabLst>
            </a:pPr>
            <a:endParaRPr lang="en-US" sz="800" b="1" dirty="0" smtClean="0">
              <a:latin typeface="Arial" pitchFamily="34" charset="0"/>
              <a:cs typeface="Arial" pitchFamily="34" charset="0"/>
            </a:endParaRPr>
          </a:p>
          <a:p>
            <a:pPr marL="357188" indent="-357188">
              <a:spcBef>
                <a:spcPct val="20000"/>
              </a:spcBef>
              <a:buFont typeface="Wingdings" pitchFamily="2" charset="2"/>
              <a:buChar char="q"/>
              <a:tabLst>
                <a:tab pos="357188" algn="l"/>
              </a:tabLst>
            </a:pPr>
            <a:r>
              <a:rPr lang="en-US" sz="1700" b="1" dirty="0" smtClean="0">
                <a:latin typeface="Arial" pitchFamily="34" charset="0"/>
                <a:cs typeface="Arial" pitchFamily="34" charset="0"/>
              </a:rPr>
              <a:t>So, retail investors access this market through Money </a:t>
            </a:r>
            <a:r>
              <a:rPr lang="en-US" sz="1700" b="1" dirty="0" smtClean="0">
                <a:latin typeface="Arial" pitchFamily="34" charset="0"/>
                <a:cs typeface="Arial" pitchFamily="34" charset="0"/>
              </a:rPr>
              <a:t>Market</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Mutual </a:t>
            </a:r>
            <a:r>
              <a:rPr lang="en-US" sz="1700" b="1" dirty="0" smtClean="0">
                <a:latin typeface="Arial" pitchFamily="34" charset="0"/>
                <a:cs typeface="Arial" pitchFamily="34" charset="0"/>
              </a:rPr>
              <a:t>Funds </a:t>
            </a:r>
            <a:endParaRPr lang="en-US" sz="1700"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57488" y="1500174"/>
            <a:ext cx="4214842" cy="923330"/>
          </a:xfrm>
          <a:prstGeom prst="rect">
            <a:avLst/>
          </a:prstGeom>
        </p:spPr>
        <p:txBody>
          <a:bodyPr wrap="square">
            <a:spAutoFit/>
          </a:bodyPr>
          <a:lstStyle/>
          <a:p>
            <a:pPr>
              <a:lnSpc>
                <a:spcPct val="150000"/>
              </a:lnSpc>
              <a:spcBef>
                <a:spcPct val="50000"/>
              </a:spcBef>
            </a:pPr>
            <a:r>
              <a:rPr lang="en-US" b="1" dirty="0" smtClean="0">
                <a:latin typeface="Arial" pitchFamily="34" charset="0"/>
                <a:cs typeface="Arial" pitchFamily="34" charset="0"/>
              </a:rPr>
              <a:t>Let us now see the various types of Money Market Instruments</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71546"/>
            <a:ext cx="7242028"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 Treasury Bills (T-Bills)</a:t>
            </a:r>
            <a:endParaRPr lang="en-US" b="1" dirty="0">
              <a:latin typeface="Arial" pitchFamily="34" charset="0"/>
              <a:cs typeface="Arial" pitchFamily="34" charset="0"/>
            </a:endParaRPr>
          </a:p>
        </p:txBody>
      </p:sp>
      <p:sp>
        <p:nvSpPr>
          <p:cNvPr id="5" name="Rectangle 4"/>
          <p:cNvSpPr/>
          <p:nvPr/>
        </p:nvSpPr>
        <p:spPr>
          <a:xfrm>
            <a:off x="785786" y="1643050"/>
            <a:ext cx="7572428" cy="3490186"/>
          </a:xfrm>
          <a:prstGeom prst="rect">
            <a:avLst/>
          </a:prstGeom>
        </p:spPr>
        <p:txBody>
          <a:bodyPr wrap="square">
            <a:spAutoFit/>
          </a:bodyPr>
          <a:lstStyle/>
          <a:p>
            <a:pPr marL="357188" lvl="1" indent="-357188">
              <a:spcBef>
                <a:spcPct val="20000"/>
              </a:spcBef>
              <a:buFont typeface="Wingdings" pitchFamily="2" charset="2"/>
              <a:buChar char="q"/>
              <a:tabLst>
                <a:tab pos="357188" algn="l"/>
              </a:tabLst>
            </a:pPr>
            <a:r>
              <a:rPr lang="en-US" sz="1600" b="1" dirty="0" smtClean="0">
                <a:latin typeface="Arial" pitchFamily="34" charset="0"/>
                <a:cs typeface="Arial" pitchFamily="34" charset="0"/>
              </a:rPr>
              <a:t>T-Bills is a way for governments to raise money from the public</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sz="1600" b="1" dirty="0" smtClean="0">
                <a:latin typeface="Arial" pitchFamily="34" charset="0"/>
                <a:cs typeface="Arial" pitchFamily="34" charset="0"/>
              </a:rPr>
              <a:t>T-Bills are short term securities that mature in 1 year or less from their issue date. They are usually issued with 3 months, 6 months and 9 months maturities</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sz="1600" b="1" dirty="0" smtClean="0">
                <a:latin typeface="Arial" pitchFamily="34" charset="0"/>
                <a:cs typeface="Arial" pitchFamily="34" charset="0"/>
              </a:rPr>
              <a:t>They are sold to the public by the government of a country at a discount to face value. </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sz="1600" b="1" dirty="0" smtClean="0">
                <a:latin typeface="Arial" pitchFamily="34" charset="0"/>
                <a:cs typeface="Arial" pitchFamily="34" charset="0"/>
              </a:rPr>
              <a:t>On maturity, the investor is paid the face value; so that he earns interest by way of a difference in purchase price and face value</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sz="1600" b="1" dirty="0" smtClean="0">
                <a:latin typeface="Arial" pitchFamily="34" charset="0"/>
                <a:cs typeface="Arial" pitchFamily="34" charset="0"/>
              </a:rPr>
              <a:t>T-Bills are usually considered the safest investment in the world because of government backing </a:t>
            </a:r>
            <a:endParaRPr lang="en-US" sz="1600" b="1" u="sng"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5" name="Rectangle 4"/>
          <p:cNvSpPr/>
          <p:nvPr/>
        </p:nvSpPr>
        <p:spPr>
          <a:xfrm>
            <a:off x="785786" y="1000108"/>
            <a:ext cx="7215238" cy="463075"/>
          </a:xfrm>
          <a:prstGeom prst="rect">
            <a:avLst/>
          </a:prstGeom>
        </p:spPr>
        <p:txBody>
          <a:bodyPr wrap="square">
            <a:spAutoFit/>
          </a:bodyPr>
          <a:lstStyle/>
          <a:p>
            <a:pPr marL="357188" indent="-357188" algn="ctr">
              <a:lnSpc>
                <a:spcPct val="150000"/>
              </a:lnSpc>
              <a:tabLst>
                <a:tab pos="357188" algn="l"/>
              </a:tabLst>
            </a:pPr>
            <a:r>
              <a:rPr lang="en-US" b="1" dirty="0" smtClean="0">
                <a:latin typeface="Arial" pitchFamily="34" charset="0"/>
                <a:cs typeface="Arial" pitchFamily="34" charset="0"/>
              </a:rPr>
              <a:t>Certificate of Deposit (CD)</a:t>
            </a:r>
            <a:endParaRPr lang="en-US" b="1" dirty="0">
              <a:latin typeface="Arial" pitchFamily="34" charset="0"/>
              <a:cs typeface="Arial" pitchFamily="34" charset="0"/>
            </a:endParaRPr>
          </a:p>
        </p:txBody>
      </p:sp>
      <p:sp>
        <p:nvSpPr>
          <p:cNvPr id="6" name="Rectangle 5"/>
          <p:cNvSpPr/>
          <p:nvPr/>
        </p:nvSpPr>
        <p:spPr>
          <a:xfrm>
            <a:off x="642910" y="1571612"/>
            <a:ext cx="8001056" cy="3693319"/>
          </a:xfrm>
          <a:prstGeom prst="rect">
            <a:avLst/>
          </a:prstGeom>
        </p:spPr>
        <p:txBody>
          <a:bodyPr wrap="square">
            <a:spAutoFit/>
          </a:bodyPr>
          <a:lstStyle/>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A CD is a time deposit with a bank</a:t>
            </a:r>
          </a:p>
          <a:p>
            <a:pPr marL="357188" lvl="1" indent="-357188">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Like most time deposits, funds cannot be withdrawn before maturity without paying a penalty</a:t>
            </a:r>
          </a:p>
          <a:p>
            <a:pPr marL="357188" lvl="1" indent="-357188">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CDs have specific maturity dates, interest rates and can be issued in any denomination</a:t>
            </a:r>
          </a:p>
          <a:p>
            <a:pPr marL="357188" lvl="1" indent="-357188">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The main advantage of CDs is their safety</a:t>
            </a:r>
          </a:p>
          <a:p>
            <a:pPr marL="357188" lvl="1" indent="-357188">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You will earn more than a savings account and you won’t be at the mercy of the stock market</a:t>
            </a:r>
          </a:p>
          <a:p>
            <a:pPr marL="357188" lvl="1" indent="-357188">
              <a:spcBef>
                <a:spcPct val="20000"/>
              </a:spcBef>
              <a:buFont typeface="Wingdings" pitchFamily="2" charset="2"/>
              <a:buChar char="q"/>
              <a:tabLst>
                <a:tab pos="357188" algn="l"/>
              </a:tabLst>
            </a:pPr>
            <a:endParaRPr lang="en-US" sz="6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But the disadvantage is that the returns are paltry compared to many other instruments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7" y="1094979"/>
            <a:ext cx="7572429" cy="369332"/>
          </a:xfrm>
          <a:prstGeom prst="rect">
            <a:avLst/>
          </a:prstGeom>
        </p:spPr>
        <p:txBody>
          <a:bodyPr wrap="square">
            <a:spAutoFit/>
          </a:bodyPr>
          <a:lstStyle/>
          <a:p>
            <a:pPr algn="ctr"/>
            <a:r>
              <a:rPr lang="en-US" b="1" dirty="0" smtClean="0">
                <a:latin typeface="Arial" pitchFamily="34" charset="0"/>
                <a:cs typeface="Arial" pitchFamily="34" charset="0"/>
              </a:rPr>
              <a:t>Commercial Paper (CP)</a:t>
            </a:r>
            <a:endParaRPr lang="en-US" b="1" dirty="0">
              <a:latin typeface="Arial" pitchFamily="34" charset="0"/>
              <a:cs typeface="Arial" pitchFamily="34" charset="0"/>
            </a:endParaRPr>
          </a:p>
        </p:txBody>
      </p:sp>
      <p:sp>
        <p:nvSpPr>
          <p:cNvPr id="5" name="Rectangle 4"/>
          <p:cNvSpPr/>
          <p:nvPr/>
        </p:nvSpPr>
        <p:spPr>
          <a:xfrm>
            <a:off x="714348" y="1585784"/>
            <a:ext cx="7858180" cy="3693319"/>
          </a:xfrm>
          <a:prstGeom prst="rect">
            <a:avLst/>
          </a:prstGeom>
        </p:spPr>
        <p:txBody>
          <a:bodyPr wrap="square">
            <a:spAutoFit/>
          </a:bodyPr>
          <a:lstStyle/>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CP is a short-term unsecured loan issued by a corporation typically for financing day-to-day operations</a:t>
            </a:r>
          </a:p>
          <a:p>
            <a:pPr marL="357188" indent="-357188">
              <a:lnSpc>
                <a:spcPct val="150000"/>
              </a:lnSpc>
              <a:buFont typeface="Wingdings" pitchFamily="2" charset="2"/>
              <a:buChar char="q"/>
              <a:tabLst>
                <a:tab pos="357188"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Corporate borrowers wishing to avoid the laborious task of applying for a bank loan resort to this avenue of financing</a:t>
            </a:r>
          </a:p>
          <a:p>
            <a:pPr marL="357188" indent="-357188">
              <a:lnSpc>
                <a:spcPct val="150000"/>
              </a:lnSpc>
              <a:buFont typeface="Wingdings" pitchFamily="2" charset="2"/>
              <a:buChar char="q"/>
              <a:tabLst>
                <a:tab pos="357188"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CP is a very safe investment because the financial situation of a company can easily be predicted over a few months</a:t>
            </a:r>
          </a:p>
          <a:p>
            <a:pPr marL="357188" indent="-357188">
              <a:lnSpc>
                <a:spcPct val="150000"/>
              </a:lnSpc>
              <a:buFont typeface="Wingdings" pitchFamily="2" charset="2"/>
              <a:buChar char="q"/>
              <a:tabLst>
                <a:tab pos="357188" algn="l"/>
              </a:tabLst>
            </a:pPr>
            <a:endParaRPr lang="en-US" sz="1000" b="1" dirty="0" smtClean="0">
              <a:latin typeface="Arial" pitchFamily="34" charset="0"/>
              <a:cs typeface="Arial" pitchFamily="34" charset="0"/>
            </a:endParaRPr>
          </a:p>
          <a:p>
            <a:pPr marL="357188" indent="-357188">
              <a:lnSpc>
                <a:spcPct val="150000"/>
              </a:lnSpc>
              <a:buFont typeface="Wingdings" pitchFamily="2" charset="2"/>
              <a:buChar char="q"/>
              <a:tabLst>
                <a:tab pos="357188" algn="l"/>
              </a:tabLst>
            </a:pPr>
            <a:r>
              <a:rPr lang="en-US" b="1" dirty="0" smtClean="0">
                <a:latin typeface="Arial" pitchFamily="34" charset="0"/>
                <a:cs typeface="Arial" pitchFamily="34" charset="0"/>
              </a:rPr>
              <a:t>Only companies with high credit ratings issue CPs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707169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7099"/>
            <a:ext cx="7386044"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 Repurchase Agreements (Repos)</a:t>
            </a:r>
            <a:endParaRPr lang="en-US" b="1" dirty="0">
              <a:latin typeface="Arial" pitchFamily="34" charset="0"/>
              <a:cs typeface="Arial" pitchFamily="34" charset="0"/>
            </a:endParaRPr>
          </a:p>
        </p:txBody>
      </p:sp>
      <p:sp>
        <p:nvSpPr>
          <p:cNvPr id="5" name="Rectangle 4"/>
          <p:cNvSpPr/>
          <p:nvPr/>
        </p:nvSpPr>
        <p:spPr>
          <a:xfrm>
            <a:off x="714380" y="1518996"/>
            <a:ext cx="7643834" cy="3582519"/>
          </a:xfrm>
          <a:prstGeom prst="rect">
            <a:avLst/>
          </a:prstGeom>
        </p:spPr>
        <p:txBody>
          <a:bodyPr wrap="square">
            <a:spAutoFit/>
          </a:bodyPr>
          <a:lstStyle/>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Repo is a form of overnight borrowing and is used by those who deal in government securities</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A holder of government securities usually sells the securities to a lender and agrees to buy them back (repurchase) at an agreed future date at an agreed price</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They are usually very short term repurchase agreements, from overnight to 30 days or more</a:t>
            </a:r>
          </a:p>
          <a:p>
            <a:pPr marL="357188" lvl="1" indent="-357188">
              <a:spcBef>
                <a:spcPct val="20000"/>
              </a:spcBef>
              <a:buFont typeface="Wingdings" pitchFamily="2" charset="2"/>
              <a:buChar char="q"/>
              <a:tabLst>
                <a:tab pos="357188" algn="l"/>
              </a:tabLst>
            </a:pPr>
            <a:endParaRPr lang="en-US" sz="1000" b="1" dirty="0" smtClean="0">
              <a:latin typeface="Arial" pitchFamily="34" charset="0"/>
              <a:cs typeface="Arial" pitchFamily="34" charset="0"/>
            </a:endParaRPr>
          </a:p>
          <a:p>
            <a:pPr marL="357188" lvl="1" indent="-357188">
              <a:spcBef>
                <a:spcPct val="20000"/>
              </a:spcBef>
              <a:buFont typeface="Wingdings" pitchFamily="2" charset="2"/>
              <a:buChar char="q"/>
              <a:tabLst>
                <a:tab pos="357188" algn="l"/>
              </a:tabLst>
            </a:pPr>
            <a:r>
              <a:rPr lang="en-US" b="1" dirty="0" smtClean="0">
                <a:latin typeface="Arial" pitchFamily="34" charset="0"/>
                <a:cs typeface="Arial" pitchFamily="34" charset="0"/>
              </a:rPr>
              <a:t>The short term maturity and government backing usually mean that repos provide lenders with extremely low risk. Repos are safe collateral for loans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9140819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389318"/>
            <a:ext cx="4286280" cy="1754326"/>
          </a:xfrm>
          <a:prstGeom prst="rect">
            <a:avLst/>
          </a:prstGeom>
        </p:spPr>
        <p:txBody>
          <a:bodyPr wrap="square">
            <a:spAutoFit/>
          </a:bodyPr>
          <a:lstStyle/>
          <a:p>
            <a:pPr>
              <a:lnSpc>
                <a:spcPct val="150000"/>
              </a:lnSpc>
              <a:spcBef>
                <a:spcPct val="50000"/>
              </a:spcBef>
            </a:pPr>
            <a:r>
              <a:rPr lang="en-US" b="1" dirty="0" smtClean="0">
                <a:latin typeface="Arial" pitchFamily="34" charset="0"/>
                <a:cs typeface="Arial" pitchFamily="34" charset="0"/>
              </a:rPr>
              <a:t>Money Market Instruments thus provide the level of safety that even ambitious investors look out for, during stock market volatilities</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4726332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00108"/>
            <a:ext cx="7386044"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sum it up…</a:t>
            </a:r>
            <a:endParaRPr lang="en-US" b="1" dirty="0">
              <a:latin typeface="Arial" pitchFamily="34" charset="0"/>
              <a:cs typeface="Arial" pitchFamily="34" charset="0"/>
            </a:endParaRPr>
          </a:p>
        </p:txBody>
      </p:sp>
      <p:sp>
        <p:nvSpPr>
          <p:cNvPr id="5" name="Rectangle 4"/>
          <p:cNvSpPr/>
          <p:nvPr/>
        </p:nvSpPr>
        <p:spPr>
          <a:xfrm>
            <a:off x="714380" y="1500174"/>
            <a:ext cx="7500958" cy="3586623"/>
          </a:xfrm>
          <a:prstGeom prst="rect">
            <a:avLst/>
          </a:prstGeom>
        </p:spPr>
        <p:txBody>
          <a:bodyPr wrap="square">
            <a:spAutoFit/>
          </a:bodyPr>
          <a:lstStyle/>
          <a:p>
            <a:pPr marL="342900" indent="-342900">
              <a:lnSpc>
                <a:spcPct val="150000"/>
              </a:lnSpc>
              <a:spcBef>
                <a:spcPct val="20000"/>
              </a:spcBef>
              <a:buFont typeface="Wingdings" pitchFamily="2" charset="2"/>
              <a:buChar char="q"/>
              <a:tabLst>
                <a:tab pos="357188" algn="l"/>
              </a:tabLst>
            </a:pPr>
            <a:r>
              <a:rPr lang="en-US" b="1" dirty="0" smtClean="0">
                <a:latin typeface="Arial" pitchFamily="34" charset="0"/>
                <a:cs typeface="Arial" pitchFamily="34" charset="0"/>
              </a:rPr>
              <a:t>Money Market specializes in debt securities that mature in less than one year</a:t>
            </a:r>
          </a:p>
          <a:p>
            <a:pPr marL="342900" indent="-342900">
              <a:lnSpc>
                <a:spcPct val="150000"/>
              </a:lnSpc>
              <a:spcBef>
                <a:spcPct val="20000"/>
              </a:spcBef>
              <a:buFont typeface="Wingdings" pitchFamily="2" charset="2"/>
              <a:buChar char="q"/>
              <a:tabLst>
                <a:tab pos="357188" algn="l"/>
              </a:tabLst>
            </a:pPr>
            <a:endParaRPr lang="en-US" b="1" dirty="0" smtClean="0">
              <a:latin typeface="Arial" pitchFamily="34" charset="0"/>
              <a:cs typeface="Arial" pitchFamily="34" charset="0"/>
            </a:endParaRPr>
          </a:p>
          <a:p>
            <a:pPr marL="342900" indent="-342900">
              <a:lnSpc>
                <a:spcPct val="150000"/>
              </a:lnSpc>
              <a:spcBef>
                <a:spcPct val="20000"/>
              </a:spcBef>
              <a:buFont typeface="Wingdings" pitchFamily="2" charset="2"/>
              <a:buChar char="q"/>
              <a:tabLst>
                <a:tab pos="357188" algn="l"/>
              </a:tabLst>
            </a:pPr>
            <a:r>
              <a:rPr lang="en-US" b="1" dirty="0" smtClean="0">
                <a:latin typeface="Arial" pitchFamily="34" charset="0"/>
                <a:cs typeface="Arial" pitchFamily="34" charset="0"/>
              </a:rPr>
              <a:t>These securities are very liquid and very safe. As a result, they offer lower level of return than other securities</a:t>
            </a:r>
          </a:p>
          <a:p>
            <a:pPr marL="342900" indent="-342900">
              <a:lnSpc>
                <a:spcPct val="150000"/>
              </a:lnSpc>
              <a:spcBef>
                <a:spcPct val="20000"/>
              </a:spcBef>
              <a:buFont typeface="Wingdings" pitchFamily="2" charset="2"/>
              <a:buChar char="q"/>
              <a:tabLst>
                <a:tab pos="357188" algn="l"/>
              </a:tabLst>
            </a:pPr>
            <a:endParaRPr lang="en-US" b="1" dirty="0" smtClean="0">
              <a:latin typeface="Arial" pitchFamily="34" charset="0"/>
              <a:cs typeface="Arial" pitchFamily="34" charset="0"/>
            </a:endParaRPr>
          </a:p>
          <a:p>
            <a:pPr marL="342900" indent="-342900">
              <a:lnSpc>
                <a:spcPct val="150000"/>
              </a:lnSpc>
              <a:spcBef>
                <a:spcPct val="20000"/>
              </a:spcBef>
              <a:buFont typeface="Wingdings" pitchFamily="2" charset="2"/>
              <a:buChar char="q"/>
              <a:tabLst>
                <a:tab pos="357188" algn="l"/>
              </a:tabLst>
            </a:pPr>
            <a:r>
              <a:rPr lang="en-US" b="1" dirty="0" smtClean="0">
                <a:latin typeface="Arial" pitchFamily="34" charset="0"/>
                <a:cs typeface="Arial" pitchFamily="34" charset="0"/>
              </a:rPr>
              <a:t>The easiest route for individuals to this market is through money market mutual funds</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2914081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57488" y="1500174"/>
            <a:ext cx="4214842" cy="878574"/>
          </a:xfrm>
          <a:prstGeom prst="rect">
            <a:avLst/>
          </a:prstGeom>
        </p:spPr>
        <p:txBody>
          <a:bodyPr wrap="square">
            <a:spAutoFit/>
          </a:bodyPr>
          <a:lstStyle/>
          <a:p>
            <a:pPr>
              <a:lnSpc>
                <a:spcPct val="150000"/>
              </a:lnSpc>
              <a:spcBef>
                <a:spcPct val="50000"/>
              </a:spcBef>
            </a:pPr>
            <a:r>
              <a:rPr lang="en-US" b="1" dirty="0" smtClean="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smtClean="0">
                <a:latin typeface="Arial" pitchFamily="34" charset="0"/>
                <a:cs typeface="Arial" pitchFamily="34" charset="0"/>
              </a:rPr>
              <a:t>concept of Money Market</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THE MONEY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71678"/>
            <a:ext cx="4032448" cy="1338828"/>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In case of any query please email to </a:t>
            </a:r>
            <a:r>
              <a:rPr lang="en-US" b="1" dirty="0" smtClean="0">
                <a:latin typeface="Arial" pitchFamily="34" charset="0"/>
                <a:cs typeface="Arial" pitchFamily="34" charset="0"/>
                <a:hlinkClick r:id="rId4"/>
              </a:rPr>
              <a:t>hmasurkar@tataamc.com</a:t>
            </a:r>
            <a:endParaRPr lang="en-US" b="1" dirty="0" smtClean="0">
              <a:latin typeface="Arial" pitchFamily="34" charset="0"/>
              <a:cs typeface="Arial" pitchFamily="34" charset="0"/>
            </a:endParaRPr>
          </a:p>
          <a:p>
            <a:pPr algn="ctr">
              <a:lnSpc>
                <a:spcPct val="150000"/>
              </a:lnSpc>
            </a:pP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2941</TotalTime>
  <Words>717</Words>
  <Application>Microsoft Office PowerPoint</Application>
  <PresentationFormat>On-screen Show (4:3)</PresentationFormat>
  <Paragraphs>83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410</cp:revision>
  <dcterms:created xsi:type="dcterms:W3CDTF">2013-10-22T09:41:31Z</dcterms:created>
  <dcterms:modified xsi:type="dcterms:W3CDTF">2014-03-07T22:44:39Z</dcterms:modified>
</cp:coreProperties>
</file>