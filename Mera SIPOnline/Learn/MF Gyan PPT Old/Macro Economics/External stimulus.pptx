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318" r:id="rId3"/>
    <p:sldId id="358" r:id="rId4"/>
    <p:sldId id="353" r:id="rId5"/>
    <p:sldId id="385" r:id="rId6"/>
    <p:sldId id="346" r:id="rId7"/>
    <p:sldId id="380" r:id="rId8"/>
    <p:sldId id="334" r:id="rId9"/>
    <p:sldId id="381" r:id="rId10"/>
    <p:sldId id="393" r:id="rId11"/>
    <p:sldId id="287" r:id="rId12"/>
    <p:sldId id="27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p:scale>
          <a:sx n="61" d="100"/>
          <a:sy n="61" d="100"/>
        </p:scale>
        <p:origin x="-1320"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3/6/2014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EXTERNAL STIMULUS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EXTERNAL STIMULUS</a:t>
            </a:r>
            <a:endParaRPr lang="en-US" sz="2000" b="1" dirty="0">
              <a:solidFill>
                <a:schemeClr val="bg1"/>
              </a:solidFill>
              <a:latin typeface="Arial" pitchFamily="34" charset="0"/>
              <a:cs typeface="Arial" pitchFamily="34" charset="0"/>
            </a:endParaRPr>
          </a:p>
        </p:txBody>
      </p:sp>
      <p:sp>
        <p:nvSpPr>
          <p:cNvPr id="3" name="Rectangle 2"/>
          <p:cNvSpPr/>
          <p:nvPr/>
        </p:nvSpPr>
        <p:spPr>
          <a:xfrm>
            <a:off x="714348" y="1124744"/>
            <a:ext cx="7386044" cy="2585323"/>
          </a:xfrm>
          <a:prstGeom prst="rect">
            <a:avLst/>
          </a:prstGeom>
        </p:spPr>
        <p:txBody>
          <a:bodyPr wrap="square">
            <a:spAutoFit/>
          </a:bodyPr>
          <a:lstStyle/>
          <a:p>
            <a:pPr>
              <a:lnSpc>
                <a:spcPct val="150000"/>
              </a:lnSpc>
            </a:pPr>
            <a:r>
              <a:rPr lang="en-US" b="1" dirty="0">
                <a:latin typeface="Arial" pitchFamily="34" charset="0"/>
                <a:cs typeface="Arial" pitchFamily="34" charset="0"/>
              </a:rPr>
              <a:t>External stimulus / fiscal stimulus / stimulus packages have become common terms after the world suffered one of </a:t>
            </a:r>
            <a:r>
              <a:rPr lang="en-US" b="1" dirty="0" smtClean="0">
                <a:latin typeface="Arial" pitchFamily="34" charset="0"/>
                <a:cs typeface="Arial" pitchFamily="34" charset="0"/>
              </a:rPr>
              <a:t>its</a:t>
            </a:r>
            <a:br>
              <a:rPr lang="en-US" b="1" dirty="0" smtClean="0">
                <a:latin typeface="Arial" pitchFamily="34" charset="0"/>
                <a:cs typeface="Arial" pitchFamily="34" charset="0"/>
              </a:rPr>
            </a:br>
            <a:r>
              <a:rPr lang="en-US" b="1" dirty="0" smtClean="0">
                <a:latin typeface="Arial" pitchFamily="34" charset="0"/>
                <a:cs typeface="Arial" pitchFamily="34" charset="0"/>
              </a:rPr>
              <a:t>worst </a:t>
            </a:r>
            <a:r>
              <a:rPr lang="en-US" b="1" dirty="0">
                <a:latin typeface="Arial" pitchFamily="34" charset="0"/>
                <a:cs typeface="Arial" pitchFamily="34" charset="0"/>
              </a:rPr>
              <a:t>meltdowns. </a:t>
            </a:r>
          </a:p>
          <a:p>
            <a:pPr>
              <a:lnSpc>
                <a:spcPct val="150000"/>
              </a:lnSpc>
            </a:pPr>
            <a:endParaRPr lang="en-US" b="1" i="1" dirty="0">
              <a:latin typeface="Arial" pitchFamily="34" charset="0"/>
              <a:cs typeface="Arial" pitchFamily="34" charset="0"/>
            </a:endParaRPr>
          </a:p>
          <a:p>
            <a:pPr>
              <a:lnSpc>
                <a:spcPct val="150000"/>
              </a:lnSpc>
            </a:pPr>
            <a:r>
              <a:rPr lang="en-US" b="1" i="1" dirty="0">
                <a:latin typeface="Arial" pitchFamily="34" charset="0"/>
                <a:cs typeface="Arial" pitchFamily="34" charset="0"/>
              </a:rPr>
              <a:t>Let’s try and understand what they conceptually mean with the help of an interesting story…</a:t>
            </a:r>
            <a:endParaRPr lang="en-US" b="1" i="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115616" y="2420888"/>
            <a:ext cx="3888432" cy="507831"/>
          </a:xfrm>
          <a:prstGeom prst="rect">
            <a:avLst/>
          </a:prstGeom>
          <a:noFill/>
        </p:spPr>
        <p:txBody>
          <a:bodyPr wrap="square" rtlCol="0">
            <a:spAutoFit/>
          </a:bodyPr>
          <a:lstStyle/>
          <a:p>
            <a:pPr>
              <a:lnSpc>
                <a:spcPct val="150000"/>
              </a:lnSpc>
              <a:buFontTx/>
              <a:buNone/>
            </a:pPr>
            <a:r>
              <a:rPr lang="en-US" b="1" dirty="0" smtClean="0">
                <a:latin typeface="Arial" pitchFamily="34" charset="0"/>
                <a:cs typeface="Arial" pitchFamily="34" charset="0"/>
              </a:rPr>
              <a:t>Understanding External </a:t>
            </a:r>
            <a:r>
              <a:rPr lang="en-US" b="1" dirty="0">
                <a:latin typeface="Arial" pitchFamily="34" charset="0"/>
                <a:cs typeface="Arial" pitchFamily="34" charset="0"/>
              </a:rPr>
              <a:t>Stimulus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578063" y="1196752"/>
            <a:ext cx="3882369" cy="5027017"/>
          </a:xfrm>
          <a:prstGeom prst="rect">
            <a:avLst/>
          </a:prstGeom>
        </p:spPr>
        <p:txBody>
          <a:bodyPr wrap="square">
            <a:spAutoFit/>
          </a:bodyPr>
          <a:lstStyle/>
          <a:p>
            <a:pPr marL="463550" indent="-463550">
              <a:lnSpc>
                <a:spcPct val="150000"/>
              </a:lnSpc>
              <a:buFont typeface="Wingdings" pitchFamily="2" charset="2"/>
              <a:buChar char="q"/>
              <a:tabLst>
                <a:tab pos="463550" algn="l"/>
              </a:tabLst>
            </a:pPr>
            <a:r>
              <a:rPr lang="en-US" b="1" dirty="0">
                <a:latin typeface="Arial" pitchFamily="34" charset="0"/>
                <a:cs typeface="Arial" pitchFamily="34" charset="0"/>
              </a:rPr>
              <a:t>In a small town in the </a:t>
            </a:r>
            <a:r>
              <a:rPr lang="en-US" b="1" dirty="0" smtClean="0">
                <a:latin typeface="Arial" pitchFamily="34" charset="0"/>
                <a:cs typeface="Arial" pitchFamily="34" charset="0"/>
              </a:rPr>
              <a:t>US,</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weather is horrendous and hence, despite being a holiday season, business is not picking up.</a:t>
            </a:r>
          </a:p>
          <a:p>
            <a:pPr marL="463550" indent="-463550">
              <a:lnSpc>
                <a:spcPct val="150000"/>
              </a:lnSpc>
              <a:buFont typeface="Wingdings" pitchFamily="2" charset="2"/>
              <a:buChar char="q"/>
              <a:tabLst>
                <a:tab pos="463550" algn="l"/>
              </a:tabLst>
            </a:pPr>
            <a:endParaRPr lang="en-US" b="1" dirty="0">
              <a:latin typeface="Arial" pitchFamily="34" charset="0"/>
              <a:cs typeface="Arial" pitchFamily="34" charset="0"/>
            </a:endParaRPr>
          </a:p>
          <a:p>
            <a:pPr marL="463550" indent="-463550">
              <a:lnSpc>
                <a:spcPct val="150000"/>
              </a:lnSpc>
              <a:buFont typeface="Wingdings" pitchFamily="2" charset="2"/>
              <a:buChar char="q"/>
              <a:tabLst>
                <a:tab pos="463550" algn="l"/>
              </a:tabLst>
            </a:pPr>
            <a:r>
              <a:rPr lang="en-US" b="1" dirty="0">
                <a:latin typeface="Arial" pitchFamily="34" charset="0"/>
                <a:cs typeface="Arial" pitchFamily="34" charset="0"/>
              </a:rPr>
              <a:t>Earnings and profits being affected, everyone is in debt. </a:t>
            </a:r>
          </a:p>
          <a:p>
            <a:pPr marL="463550" indent="-463550">
              <a:lnSpc>
                <a:spcPct val="150000"/>
              </a:lnSpc>
              <a:buFont typeface="Wingdings" pitchFamily="2" charset="2"/>
              <a:buChar char="q"/>
              <a:tabLst>
                <a:tab pos="463550" algn="l"/>
              </a:tabLst>
            </a:pPr>
            <a:endParaRPr lang="en-US" b="1" dirty="0">
              <a:latin typeface="Arial" pitchFamily="34" charset="0"/>
              <a:cs typeface="Arial" pitchFamily="34" charset="0"/>
            </a:endParaRPr>
          </a:p>
          <a:p>
            <a:pPr marL="463550" indent="-463550">
              <a:lnSpc>
                <a:spcPct val="150000"/>
              </a:lnSpc>
              <a:buFont typeface="Wingdings" pitchFamily="2" charset="2"/>
              <a:buChar char="q"/>
              <a:tabLst>
                <a:tab pos="463550" algn="l"/>
              </a:tabLst>
            </a:pPr>
            <a:r>
              <a:rPr lang="en-US" b="1" dirty="0">
                <a:latin typeface="Arial" pitchFamily="34" charset="0"/>
                <a:cs typeface="Arial" pitchFamily="34" charset="0"/>
              </a:rPr>
              <a:t>Luckily, a rich Russian tourist arrives in the foyer of the small local hotel. </a:t>
            </a:r>
            <a:endParaRPr lang="en-US" b="1" dirty="0">
              <a:latin typeface="Arial" pitchFamily="34" charset="0"/>
              <a:cs typeface="Arial" pitchFamily="34" charset="0"/>
            </a:endParaRP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EXTERNAL STIMULUS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1981463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788024" y="2405494"/>
            <a:ext cx="3600400" cy="3831818"/>
          </a:xfrm>
          <a:prstGeom prst="rect">
            <a:avLst/>
          </a:prstGeom>
        </p:spPr>
        <p:txBody>
          <a:bodyPr wrap="square">
            <a:spAutoFit/>
          </a:bodyPr>
          <a:lstStyle/>
          <a:p>
            <a:pPr>
              <a:lnSpc>
                <a:spcPct val="150000"/>
              </a:lnSpc>
            </a:pPr>
            <a:r>
              <a:rPr lang="en-US" b="1" dirty="0">
                <a:latin typeface="Arial" pitchFamily="34" charset="0"/>
                <a:cs typeface="Arial" pitchFamily="34" charset="0"/>
              </a:rPr>
              <a:t>He asks for a room and puts a $1000 note as advance on the reception counter and books a room for use after 7 days.</a:t>
            </a:r>
          </a:p>
          <a:p>
            <a:pPr>
              <a:lnSpc>
                <a:spcPct val="150000"/>
              </a:lnSpc>
            </a:pPr>
            <a:endParaRPr lang="en-US"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The </a:t>
            </a:r>
            <a:r>
              <a:rPr lang="en-US" b="1" dirty="0">
                <a:latin typeface="Arial" pitchFamily="34" charset="0"/>
                <a:cs typeface="Arial" pitchFamily="34" charset="0"/>
              </a:rPr>
              <a:t>hotel owner takes the banknote in a hurry and rushes to his meat supplier to whom he owes $1000.</a:t>
            </a:r>
            <a:endParaRPr lang="en-US" b="1" dirty="0">
              <a:latin typeface="Arial" pitchFamily="34" charset="0"/>
              <a:cs typeface="Arial" pitchFamily="34" charset="0"/>
            </a:endParaRP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EXTERNAL STIMULUS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7779845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789871" y="1052736"/>
            <a:ext cx="6950481" cy="464871"/>
          </a:xfrm>
          <a:prstGeom prst="rect">
            <a:avLst/>
          </a:prstGeom>
        </p:spPr>
        <p:txBody>
          <a:bodyPr wrap="square">
            <a:spAutoFit/>
          </a:bodyPr>
          <a:lstStyle/>
          <a:p>
            <a:pPr algn="ctr">
              <a:lnSpc>
                <a:spcPct val="150000"/>
              </a:lnSpc>
            </a:pPr>
            <a:r>
              <a:rPr lang="en-US" b="1" dirty="0">
                <a:latin typeface="Arial" pitchFamily="34" charset="0"/>
                <a:cs typeface="Arial" pitchFamily="34" charset="0"/>
              </a:rPr>
              <a:t>Now…</a:t>
            </a:r>
            <a:endParaRPr lang="en-US" b="1" dirty="0">
              <a:latin typeface="Arial" pitchFamily="34" charset="0"/>
              <a:cs typeface="Arial" pitchFamily="34" charset="0"/>
            </a:endParaRP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EXTERNAL STIMULUS</a:t>
            </a:r>
            <a:endParaRPr lang="en-US" sz="2000" b="1" dirty="0">
              <a:solidFill>
                <a:schemeClr val="bg1"/>
              </a:solidFill>
              <a:latin typeface="Arial" pitchFamily="34" charset="0"/>
              <a:cs typeface="Arial" pitchFamily="34" charset="0"/>
            </a:endParaRPr>
          </a:p>
        </p:txBody>
      </p:sp>
      <p:sp>
        <p:nvSpPr>
          <p:cNvPr id="4" name="Rectangle 3"/>
          <p:cNvSpPr/>
          <p:nvPr/>
        </p:nvSpPr>
        <p:spPr>
          <a:xfrm>
            <a:off x="717728" y="1628800"/>
            <a:ext cx="7382663" cy="337335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butcher takes the money and races to his wholesale supplier to pay his debt.</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wholesaler rushes to the farmer to pay $1000 for pigs he purchased some time ago.</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farmer triumphantly gives the $1000 note to a local cook who cooked food for him on credit.</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417281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EXTERNAL STIMULUS</a:t>
            </a:r>
            <a:endParaRPr lang="en-US" sz="2000" b="1" dirty="0">
              <a:solidFill>
                <a:schemeClr val="bg1"/>
              </a:solidFill>
              <a:latin typeface="Arial" pitchFamily="34" charset="0"/>
              <a:cs typeface="Arial" pitchFamily="34" charset="0"/>
            </a:endParaRPr>
          </a:p>
        </p:txBody>
      </p:sp>
      <p:sp>
        <p:nvSpPr>
          <p:cNvPr id="4" name="Rectangle 3"/>
          <p:cNvSpPr/>
          <p:nvPr/>
        </p:nvSpPr>
        <p:spPr>
          <a:xfrm>
            <a:off x="789870" y="1124744"/>
            <a:ext cx="7166506" cy="3000821"/>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cook goes quickly to the hotel, as she owed the hotel for using their kitchen.</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i="1" dirty="0">
                <a:latin typeface="Arial" pitchFamily="34" charset="0"/>
                <a:cs typeface="Arial" pitchFamily="34" charset="0"/>
              </a:rPr>
              <a:t>But here’s the twist in the tale:</a:t>
            </a:r>
            <a:r>
              <a:rPr lang="en-US" b="1" dirty="0">
                <a:latin typeface="Arial" pitchFamily="34" charset="0"/>
                <a:cs typeface="Arial" pitchFamily="34" charset="0"/>
              </a:rPr>
              <a:t> The Russian comes back after 7 days and informs the hotel owner that his plan of staying in the hotel is cancelled and takes his $1000 advance back and departs.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4978909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3059832" y="1043151"/>
            <a:ext cx="3909046" cy="2169825"/>
          </a:xfrm>
          <a:prstGeom prst="rect">
            <a:avLst/>
          </a:prstGeom>
        </p:spPr>
        <p:txBody>
          <a:bodyPr wrap="square">
            <a:spAutoFit/>
          </a:bodyPr>
          <a:lstStyle/>
          <a:p>
            <a:pPr>
              <a:lnSpc>
                <a:spcPct val="150000"/>
              </a:lnSpc>
            </a:pPr>
            <a:r>
              <a:rPr lang="en-US" b="1" dirty="0">
                <a:latin typeface="Arial" pitchFamily="34" charset="0"/>
                <a:cs typeface="Arial" pitchFamily="34" charset="0"/>
              </a:rPr>
              <a:t>So while there was no profit or income, everyone got free of their debts and the small town people now look optimistically towards their future!</a:t>
            </a:r>
            <a:endParaRPr lang="en-US" b="1" dirty="0">
              <a:latin typeface="Arial" pitchFamily="34" charset="0"/>
              <a:cs typeface="Arial" pitchFamily="34" charset="0"/>
            </a:endParaRP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EXTERNAL STIMULUS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789871" y="1124744"/>
            <a:ext cx="7166505" cy="3416320"/>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Thus the fiscal stimulus of the $1000 advance was the liquidity that got circulated within the economy and improved sentiments of the various stakeholders by making them get rid of their debt.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Once debt-free, people would happily resume their consumption, giving the various players in the economy a boost.</a:t>
            </a:r>
            <a:endParaRPr lang="en-US" b="1" dirty="0">
              <a:latin typeface="Arial" pitchFamily="34" charset="0"/>
              <a:cs typeface="Arial" pitchFamily="34" charset="0"/>
            </a:endParaRP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EXTERNAL STIMULUS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3444788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83968" y="4682460"/>
            <a:ext cx="3312368" cy="1295868"/>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this story succeeded in clarifying the concept of External Stimulus. </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EXTERNAL STIMULUS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8179720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971600" y="2060848"/>
            <a:ext cx="4032448" cy="935769"/>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Please give us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2304</TotalTime>
  <Words>489</Words>
  <Application>Microsoft Office PowerPoint</Application>
  <PresentationFormat>On-screen Show (4:3)</PresentationFormat>
  <Paragraphs>41</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265</cp:revision>
  <dcterms:created xsi:type="dcterms:W3CDTF">2013-10-22T09:41:31Z</dcterms:created>
  <dcterms:modified xsi:type="dcterms:W3CDTF">2014-03-06T11:28:19Z</dcterms:modified>
</cp:coreProperties>
</file>