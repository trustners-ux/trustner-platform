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424" r:id="rId3"/>
    <p:sldId id="318" r:id="rId4"/>
    <p:sldId id="426" r:id="rId5"/>
    <p:sldId id="358" r:id="rId6"/>
    <p:sldId id="416" r:id="rId7"/>
    <p:sldId id="417" r:id="rId8"/>
    <p:sldId id="418" r:id="rId9"/>
    <p:sldId id="419" r:id="rId10"/>
    <p:sldId id="420" r:id="rId11"/>
    <p:sldId id="434" r:id="rId12"/>
    <p:sldId id="421" r:id="rId13"/>
    <p:sldId id="427" r:id="rId14"/>
    <p:sldId id="422" r:id="rId15"/>
    <p:sldId id="423" r:id="rId16"/>
    <p:sldId id="425" r:id="rId17"/>
    <p:sldId id="435" r:id="rId18"/>
    <p:sldId id="385" r:id="rId19"/>
    <p:sldId id="287"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GOODS &amp; SERVICE TAX</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51314" y="2492896"/>
            <a:ext cx="3637110" cy="3000821"/>
          </a:xfrm>
          <a:prstGeom prst="rect">
            <a:avLst/>
          </a:prstGeom>
        </p:spPr>
        <p:txBody>
          <a:bodyPr wrap="square">
            <a:spAutoFit/>
          </a:bodyPr>
          <a:lstStyle/>
          <a:p>
            <a:pPr>
              <a:lnSpc>
                <a:spcPct val="150000"/>
              </a:lnSpc>
            </a:pPr>
            <a:r>
              <a:rPr lang="en-US" b="1" dirty="0">
                <a:latin typeface="Arial" pitchFamily="34" charset="0"/>
                <a:cs typeface="Arial" pitchFamily="34" charset="0"/>
              </a:rPr>
              <a:t>The Finance Minister of India, Mr. </a:t>
            </a:r>
            <a:r>
              <a:rPr lang="en-US" b="1" dirty="0" err="1">
                <a:latin typeface="Arial" pitchFamily="34" charset="0"/>
                <a:cs typeface="Arial" pitchFamily="34" charset="0"/>
              </a:rPr>
              <a:t>Pranab</a:t>
            </a:r>
            <a:r>
              <a:rPr lang="en-US" b="1" dirty="0">
                <a:latin typeface="Arial" pitchFamily="34" charset="0"/>
                <a:cs typeface="Arial" pitchFamily="34" charset="0"/>
              </a:rPr>
              <a:t> Mukherjee in his Union Budget 2010 had come up with a string of reforms including the GST (Goods and Services Tax). </a:t>
            </a:r>
          </a:p>
          <a:p>
            <a:pPr>
              <a:lnSpc>
                <a:spcPct val="150000"/>
              </a:lnSpc>
            </a:pP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714348" y="1086112"/>
            <a:ext cx="7458052" cy="1297856"/>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While </a:t>
            </a:r>
            <a:r>
              <a:rPr lang="en-US" b="1" dirty="0">
                <a:latin typeface="Arial" pitchFamily="34" charset="0"/>
                <a:cs typeface="Arial" pitchFamily="34" charset="0"/>
              </a:rPr>
              <a:t>GST is successfully implemented in countries like Brazil and China, it is somewhat new to India and requires huge operational and administration efforts.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59832" y="1196752"/>
            <a:ext cx="4248472" cy="1703030"/>
          </a:xfrm>
          <a:prstGeom prst="rect">
            <a:avLst/>
          </a:prstGeom>
        </p:spPr>
        <p:txBody>
          <a:bodyPr wrap="square">
            <a:spAutoFit/>
          </a:bodyPr>
          <a:lstStyle/>
          <a:p>
            <a:pPr>
              <a:lnSpc>
                <a:spcPct val="150000"/>
              </a:lnSpc>
            </a:pPr>
            <a:r>
              <a:rPr lang="en-US" b="1" dirty="0">
                <a:latin typeface="Arial" pitchFamily="34" charset="0"/>
                <a:cs typeface="Arial" pitchFamily="34" charset="0"/>
              </a:rPr>
              <a:t>So what is GST?</a:t>
            </a:r>
          </a:p>
          <a:p>
            <a:pPr>
              <a:lnSpc>
                <a:spcPct val="150000"/>
              </a:lnSpc>
            </a:pPr>
            <a:r>
              <a:rPr lang="en-US" b="1" dirty="0">
                <a:latin typeface="Arial" pitchFamily="34" charset="0"/>
                <a:cs typeface="Arial" pitchFamily="34" charset="0"/>
              </a:rPr>
              <a:t>GST means Goods &amp; Service Tax.</a:t>
            </a:r>
          </a:p>
          <a:p>
            <a:pPr>
              <a:lnSpc>
                <a:spcPct val="150000"/>
              </a:lnSpc>
            </a:pPr>
            <a:r>
              <a:rPr lang="en-US" b="1" dirty="0">
                <a:latin typeface="Arial" pitchFamily="34" charset="0"/>
                <a:cs typeface="Arial" pitchFamily="34" charset="0"/>
              </a:rPr>
              <a:t>How does it make life simpler? </a:t>
            </a:r>
          </a:p>
          <a:p>
            <a:pPr>
              <a:lnSpc>
                <a:spcPct val="150000"/>
              </a:lnSpc>
            </a:pPr>
            <a:r>
              <a:rPr lang="en-US" b="1" dirty="0">
                <a:latin typeface="Arial" pitchFamily="34" charset="0"/>
                <a:cs typeface="Arial" pitchFamily="34" charset="0"/>
              </a:rPr>
              <a:t>Let me explain…</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Tree>
    <p:extLst>
      <p:ext uri="{BB962C8B-B14F-4D97-AF65-F5344CB8AC3E}">
        <p14:creationId xmlns:p14="http://schemas.microsoft.com/office/powerpoint/2010/main" xmlns="" val="3770688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908894"/>
            <a:ext cx="3672408" cy="872034"/>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GST </a:t>
            </a:r>
            <a:br>
              <a:rPr lang="en-US" b="1" dirty="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124744"/>
            <a:ext cx="7987392" cy="309315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Let’s take a look at Mr. A.</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owns a leather factory in Maharashtra.</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He sells raw leather worth Rs.10,000 to Mr. B.</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Mr. B provides a value addition to the leather by tanning it.</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After doing so, Mr. B sells the tanned leather to Mr. C for Rs.12,000.</a:t>
            </a: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052736"/>
            <a:ext cx="7699360" cy="420115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Mr. C stitches the tanned leather into a shoe &amp; sells the finished product to the retail shop </a:t>
            </a:r>
            <a:r>
              <a:rPr lang="en-US" sz="1600" b="1" dirty="0" smtClean="0">
                <a:latin typeface="Arial" pitchFamily="34" charset="0"/>
                <a:cs typeface="Arial" pitchFamily="34" charset="0"/>
              </a:rPr>
              <a:t>at Rs.15,000</a:t>
            </a:r>
            <a:r>
              <a:rPr lang="en-US" sz="1600" b="1" dirty="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Now, in the absence of GST, each of these parties would have to pay taxes on union excise duties, customs duties, service tax and state VAT “individually”.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But the GST aims to eliminate multiplicity of these taxes &amp; integrate them under one head.</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It includes CENVAT, Additional Excise Duties, Service Tax, Surcharges, </a:t>
            </a:r>
            <a:r>
              <a:rPr lang="en-US" sz="1600" b="1" dirty="0" err="1">
                <a:latin typeface="Arial" pitchFamily="34" charset="0"/>
                <a:cs typeface="Arial" pitchFamily="34" charset="0"/>
              </a:rPr>
              <a:t>Cesses</a:t>
            </a:r>
            <a:r>
              <a:rPr lang="en-US" sz="1600" b="1" dirty="0">
                <a:latin typeface="Arial" pitchFamily="34" charset="0"/>
                <a:cs typeface="Arial" pitchFamily="34" charset="0"/>
              </a:rPr>
              <a:t>, </a:t>
            </a:r>
            <a:r>
              <a:rPr lang="en-US" sz="1600" b="1" dirty="0" err="1">
                <a:latin typeface="Arial" pitchFamily="34" charset="0"/>
                <a:cs typeface="Arial" pitchFamily="34" charset="0"/>
              </a:rPr>
              <a:t>Octroi</a:t>
            </a:r>
            <a:r>
              <a:rPr lang="en-US" sz="1600" b="1" dirty="0">
                <a:latin typeface="Arial" pitchFamily="34" charset="0"/>
                <a:cs typeface="Arial" pitchFamily="34" charset="0"/>
              </a:rPr>
              <a:t> among others at the Central Level &amp; State VAT, Luxury Tax, Entertainment Tax among others at the State Level.</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6" name="Rectangle 5"/>
          <p:cNvSpPr/>
          <p:nvPr/>
        </p:nvSpPr>
        <p:spPr>
          <a:xfrm>
            <a:off x="714347" y="1052736"/>
            <a:ext cx="7242029" cy="2585323"/>
          </a:xfrm>
          <a:prstGeom prst="rect">
            <a:avLst/>
          </a:prstGeom>
        </p:spPr>
        <p:txBody>
          <a:bodyPr wrap="square">
            <a:spAutoFit/>
          </a:bodyPr>
          <a:lstStyle/>
          <a:p>
            <a:pPr>
              <a:lnSpc>
                <a:spcPct val="150000"/>
              </a:lnSpc>
            </a:pPr>
            <a:r>
              <a:rPr lang="en-US" b="1" dirty="0">
                <a:latin typeface="Arial" pitchFamily="34" charset="0"/>
                <a:cs typeface="Arial" pitchFamily="34" charset="0"/>
              </a:rPr>
              <a:t>But with the advent of GST, a proposed standard rate of 20% would be charged from MR. A, Mr. B &amp; Mr. C “</a:t>
            </a:r>
            <a:r>
              <a:rPr lang="en-US" b="1" dirty="0" smtClean="0">
                <a:latin typeface="Arial" pitchFamily="34" charset="0"/>
                <a:cs typeface="Arial" pitchFamily="34" charset="0"/>
              </a:rPr>
              <a:t>collectively”</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the first year.</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Out of this 20%, 10% would go the Central Govt. (CGST) &amp; 10% would go to the State Govt. (SGST). </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124744"/>
            <a:ext cx="7267312"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a:t>
            </a:r>
            <a:r>
              <a:rPr lang="en-US" b="1" dirty="0">
                <a:latin typeface="Arial" pitchFamily="34" charset="0"/>
                <a:cs typeface="Arial" pitchFamily="34" charset="0"/>
              </a:rPr>
              <a:t>now, when Mr. A sells leather worth Rs.10,000 to Mr. B he is taxed 20% i.e. Rs.2,000. </a:t>
            </a:r>
          </a:p>
        </p:txBody>
      </p:sp>
      <p:sp>
        <p:nvSpPr>
          <p:cNvPr id="6" name="Rectangle 5"/>
          <p:cNvSpPr/>
          <p:nvPr/>
        </p:nvSpPr>
        <p:spPr>
          <a:xfrm>
            <a:off x="689064" y="2348880"/>
            <a:ext cx="6979280" cy="87203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Mr</a:t>
            </a:r>
            <a:r>
              <a:rPr lang="en-US" b="1" dirty="0">
                <a:latin typeface="Arial" pitchFamily="34" charset="0"/>
                <a:cs typeface="Arial" pitchFamily="34" charset="0"/>
              </a:rPr>
              <a:t>. B provides value addition to the process by tanning &amp; sells the tanned leather to Mr. C for </a:t>
            </a:r>
            <a:r>
              <a:rPr lang="en-US" b="1" dirty="0" smtClean="0">
                <a:latin typeface="Arial" pitchFamily="34" charset="0"/>
                <a:cs typeface="Arial" pitchFamily="34" charset="0"/>
              </a:rPr>
              <a:t>Rs.12,000</a:t>
            </a:r>
            <a:r>
              <a:rPr lang="en-US" b="1" dirty="0">
                <a:latin typeface="Arial" pitchFamily="34" charset="0"/>
                <a:cs typeface="Arial" pitchFamily="34" charset="0"/>
              </a:rPr>
              <a:t>. </a:t>
            </a:r>
          </a:p>
        </p:txBody>
      </p:sp>
    </p:spTree>
    <p:extLst>
      <p:ext uri="{BB962C8B-B14F-4D97-AF65-F5344CB8AC3E}">
        <p14:creationId xmlns:p14="http://schemas.microsoft.com/office/powerpoint/2010/main" xmlns="" val="32808151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124744"/>
            <a:ext cx="7267312" cy="1703030"/>
          </a:xfrm>
          <a:prstGeom prst="rect">
            <a:avLst/>
          </a:prstGeom>
        </p:spPr>
        <p:txBody>
          <a:bodyPr wrap="square">
            <a:spAutoFit/>
          </a:bodyPr>
          <a:lstStyle/>
          <a:p>
            <a:pPr>
              <a:lnSpc>
                <a:spcPct val="150000"/>
              </a:lnSpc>
            </a:pPr>
            <a:r>
              <a:rPr lang="en-US" b="1" dirty="0">
                <a:latin typeface="Arial" pitchFamily="34" charset="0"/>
                <a:cs typeface="Arial" pitchFamily="34" charset="0"/>
              </a:rPr>
              <a:t>In the absence of GST, when Mr. B sells the tanned leather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Mr</a:t>
            </a:r>
            <a:r>
              <a:rPr lang="en-US" b="1" dirty="0">
                <a:latin typeface="Arial" pitchFamily="34" charset="0"/>
                <a:cs typeface="Arial" pitchFamily="34" charset="0"/>
              </a:rPr>
              <a:t>. C he would have been taxed 20% too individually.</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He would then need to pay tax of </a:t>
            </a:r>
            <a:r>
              <a:rPr lang="en-US" b="1" dirty="0" smtClean="0">
                <a:latin typeface="Arial" pitchFamily="34" charset="0"/>
                <a:cs typeface="Arial" pitchFamily="34" charset="0"/>
              </a:rPr>
              <a:t>Rs.2,400 </a:t>
            </a:r>
            <a:r>
              <a:rPr lang="en-US" b="1" dirty="0">
                <a:latin typeface="Arial" pitchFamily="34" charset="0"/>
                <a:cs typeface="Arial" pitchFamily="34" charset="0"/>
              </a:rPr>
              <a:t>(20% of Rs.12,000). </a:t>
            </a:r>
          </a:p>
        </p:txBody>
      </p:sp>
      <p:sp>
        <p:nvSpPr>
          <p:cNvPr id="6" name="Rectangle 5"/>
          <p:cNvSpPr/>
          <p:nvPr/>
        </p:nvSpPr>
        <p:spPr>
          <a:xfrm>
            <a:off x="689064" y="3068960"/>
            <a:ext cx="791538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However with the advent of GST, when Mr. B sells the tanned leather to Mr. C he will be taxed 20% but will get credit on the tax paid by Mr. A.</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As Mr. A has already paid Rs.2000, Mr. B would then need to pay tax of </a:t>
            </a:r>
          </a:p>
          <a:p>
            <a:pPr>
              <a:lnSpc>
                <a:spcPct val="150000"/>
              </a:lnSpc>
            </a:pPr>
            <a:r>
              <a:rPr lang="en-US" b="1" dirty="0">
                <a:latin typeface="Arial" pitchFamily="34" charset="0"/>
                <a:cs typeface="Arial" pitchFamily="34" charset="0"/>
              </a:rPr>
              <a:t>Rs.2,400 - Rs.2,000 = Rs.400 only. </a:t>
            </a:r>
          </a:p>
        </p:txBody>
      </p:sp>
    </p:spTree>
    <p:extLst>
      <p:ext uri="{BB962C8B-B14F-4D97-AF65-F5344CB8AC3E}">
        <p14:creationId xmlns:p14="http://schemas.microsoft.com/office/powerpoint/2010/main" xmlns="" val="3440996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124744"/>
            <a:ext cx="741132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Now similarly, when Mr. C sells the stitched shoe to the retail shop, his selling price is Rs.15,000. Without GST, he would have been taxed 20% on </a:t>
            </a:r>
            <a:r>
              <a:rPr lang="en-US" b="1" dirty="0" smtClean="0">
                <a:latin typeface="Arial" pitchFamily="34" charset="0"/>
                <a:cs typeface="Arial" pitchFamily="34" charset="0"/>
              </a:rPr>
              <a:t>Rs.15,000 </a:t>
            </a:r>
            <a:r>
              <a:rPr lang="en-US" b="1" dirty="0">
                <a:latin typeface="Arial" pitchFamily="34" charset="0"/>
                <a:cs typeface="Arial" pitchFamily="34" charset="0"/>
              </a:rPr>
              <a:t>&amp; would have to pay tax of </a:t>
            </a:r>
            <a:r>
              <a:rPr lang="en-US" b="1" dirty="0" smtClean="0">
                <a:latin typeface="Arial" pitchFamily="34" charset="0"/>
                <a:cs typeface="Arial" pitchFamily="34" charset="0"/>
              </a:rPr>
              <a:t>Rs.3,000</a:t>
            </a:r>
            <a:r>
              <a:rPr lang="en-US" b="1" dirty="0">
                <a:latin typeface="Arial" pitchFamily="34" charset="0"/>
                <a:cs typeface="Arial" pitchFamily="34" charset="0"/>
              </a:rPr>
              <a:t>.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But since he gets credit on the tax paid by Mr. A (Rs.2,000) </a:t>
            </a:r>
            <a:r>
              <a:rPr lang="en-US" b="1" dirty="0" smtClean="0">
                <a:latin typeface="Arial" pitchFamily="34" charset="0"/>
                <a:cs typeface="Arial" pitchFamily="34" charset="0"/>
              </a:rPr>
              <a:t>&amp;</a:t>
            </a:r>
            <a:br>
              <a:rPr lang="en-US" b="1" dirty="0" smtClean="0">
                <a:latin typeface="Arial" pitchFamily="34" charset="0"/>
                <a:cs typeface="Arial" pitchFamily="34" charset="0"/>
              </a:rPr>
            </a:br>
            <a:r>
              <a:rPr lang="en-US" b="1" dirty="0" smtClean="0">
                <a:latin typeface="Arial" pitchFamily="34" charset="0"/>
                <a:cs typeface="Arial" pitchFamily="34" charset="0"/>
              </a:rPr>
              <a:t>Mr</a:t>
            </a:r>
            <a:r>
              <a:rPr lang="en-US" b="1" dirty="0">
                <a:latin typeface="Arial" pitchFamily="34" charset="0"/>
                <a:cs typeface="Arial" pitchFamily="34" charset="0"/>
              </a:rPr>
              <a:t>. B (Rs.400) he pays tax of just Rs.600 (Rs.3,000 - Rs.2,400).</a:t>
            </a:r>
          </a:p>
        </p:txBody>
      </p:sp>
    </p:spTree>
    <p:extLst>
      <p:ext uri="{BB962C8B-B14F-4D97-AF65-F5344CB8AC3E}">
        <p14:creationId xmlns:p14="http://schemas.microsoft.com/office/powerpoint/2010/main" xmlns="" val="2469929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094447"/>
            <a:ext cx="726731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Thus, GST would remove the hassle of filing &amp; claiming refunds for individual taxes later on </a:t>
            </a:r>
            <a:r>
              <a:rPr lang="en-US" b="1" u="sng" dirty="0">
                <a:latin typeface="Arial" pitchFamily="34" charset="0"/>
                <a:cs typeface="Arial" pitchFamily="34" charset="0"/>
              </a:rPr>
              <a:t>for manufacturers</a:t>
            </a:r>
            <a:r>
              <a:rPr lang="en-US" b="1" dirty="0">
                <a:latin typeface="Arial" pitchFamily="34" charset="0"/>
                <a:cs typeface="Arial" pitchFamily="34" charset="0"/>
              </a:rPr>
              <a:t>, which would greatly improve the cash flow situation for producers of goods and services. </a:t>
            </a:r>
          </a:p>
        </p:txBody>
      </p:sp>
    </p:spTree>
    <p:extLst>
      <p:ext uri="{BB962C8B-B14F-4D97-AF65-F5344CB8AC3E}">
        <p14:creationId xmlns:p14="http://schemas.microsoft.com/office/powerpoint/2010/main" xmlns="" val="15849585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4" name="Rectangle 3"/>
          <p:cNvSpPr/>
          <p:nvPr/>
        </p:nvSpPr>
        <p:spPr>
          <a:xfrm>
            <a:off x="2987824" y="1098610"/>
            <a:ext cx="403244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Thus, by merging all levies on goods and services into </a:t>
            </a:r>
            <a:r>
              <a:rPr lang="en-US" b="1" dirty="0" smtClean="0">
                <a:latin typeface="Arial" pitchFamily="34" charset="0"/>
                <a:cs typeface="Arial" pitchFamily="34" charset="0"/>
              </a:rPr>
              <a:t>one,</a:t>
            </a:r>
            <a:br>
              <a:rPr lang="en-US" b="1" dirty="0" smtClean="0">
                <a:latin typeface="Arial" pitchFamily="34" charset="0"/>
                <a:cs typeface="Arial" pitchFamily="34" charset="0"/>
              </a:rPr>
            </a:br>
            <a:r>
              <a:rPr lang="en-US" b="1" dirty="0" smtClean="0">
                <a:latin typeface="Arial" pitchFamily="34" charset="0"/>
                <a:cs typeface="Arial" pitchFamily="34" charset="0"/>
              </a:rPr>
              <a:t>GST </a:t>
            </a:r>
            <a:r>
              <a:rPr lang="en-US" b="1" dirty="0">
                <a:latin typeface="Arial" pitchFamily="34" charset="0"/>
                <a:cs typeface="Arial" pitchFamily="34" charset="0"/>
              </a:rPr>
              <a:t>acquires a very convenient and transparent character.</a:t>
            </a:r>
          </a:p>
        </p:txBody>
      </p:sp>
    </p:spTree>
    <p:extLst>
      <p:ext uri="{BB962C8B-B14F-4D97-AF65-F5344CB8AC3E}">
        <p14:creationId xmlns:p14="http://schemas.microsoft.com/office/powerpoint/2010/main" xmlns="" val="13697977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6" name="Rectangle 5"/>
          <p:cNvSpPr/>
          <p:nvPr/>
        </p:nvSpPr>
        <p:spPr>
          <a:xfrm>
            <a:off x="681906" y="1124744"/>
            <a:ext cx="7274470" cy="1287532"/>
          </a:xfrm>
          <a:prstGeom prst="rect">
            <a:avLst/>
          </a:prstGeom>
        </p:spPr>
        <p:txBody>
          <a:bodyPr wrap="square">
            <a:spAutoFit/>
          </a:bodyPr>
          <a:lstStyle/>
          <a:p>
            <a:pPr>
              <a:lnSpc>
                <a:spcPct val="150000"/>
              </a:lnSpc>
            </a:pPr>
            <a:r>
              <a:rPr lang="en-US" b="1" dirty="0">
                <a:latin typeface="Arial" pitchFamily="34" charset="0"/>
                <a:cs typeface="Arial" pitchFamily="34" charset="0"/>
              </a:rPr>
              <a:t>One more advantage of GST is that earlier if a manufacturer had to set up his plant, he would look at a city/state where the state tax was less.</a:t>
            </a:r>
          </a:p>
        </p:txBody>
      </p:sp>
      <p:sp>
        <p:nvSpPr>
          <p:cNvPr id="7" name="Rectangle 6"/>
          <p:cNvSpPr/>
          <p:nvPr/>
        </p:nvSpPr>
        <p:spPr>
          <a:xfrm>
            <a:off x="739138" y="2636912"/>
            <a:ext cx="7217237" cy="1703030"/>
          </a:xfrm>
          <a:prstGeom prst="rect">
            <a:avLst/>
          </a:prstGeom>
        </p:spPr>
        <p:txBody>
          <a:bodyPr wrap="square">
            <a:spAutoFit/>
          </a:bodyPr>
          <a:lstStyle/>
          <a:p>
            <a:pPr>
              <a:lnSpc>
                <a:spcPct val="150000"/>
              </a:lnSpc>
            </a:pPr>
            <a:r>
              <a:rPr lang="en-US" b="1" dirty="0">
                <a:latin typeface="Arial" pitchFamily="34" charset="0"/>
                <a:cs typeface="Arial" pitchFamily="34" charset="0"/>
              </a:rPr>
              <a:t>For e.g. today, Mr. A would set up a plant in Tamil Nadu even if his target market was, say, Punjab because, after accounting for transportation costs too, it might still be cheaper to run this plant from TN.</a:t>
            </a:r>
          </a:p>
        </p:txBody>
      </p:sp>
    </p:spTree>
    <p:extLst>
      <p:ext uri="{BB962C8B-B14F-4D97-AF65-F5344CB8AC3E}">
        <p14:creationId xmlns:p14="http://schemas.microsoft.com/office/powerpoint/2010/main" xmlns="" val="14199924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052736"/>
            <a:ext cx="7267312" cy="2118529"/>
          </a:xfrm>
          <a:prstGeom prst="rect">
            <a:avLst/>
          </a:prstGeom>
        </p:spPr>
        <p:txBody>
          <a:bodyPr wrap="square">
            <a:spAutoFit/>
          </a:bodyPr>
          <a:lstStyle/>
          <a:p>
            <a:pPr>
              <a:lnSpc>
                <a:spcPct val="150000"/>
              </a:lnSpc>
            </a:pPr>
            <a:r>
              <a:rPr lang="en-US" b="1" dirty="0">
                <a:latin typeface="Arial" pitchFamily="34" charset="0"/>
                <a:cs typeface="Arial" pitchFamily="34" charset="0"/>
              </a:rPr>
              <a:t>But after GST comes in, Mr. A will find that the tax laws are the same all over the country.</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He would then be free to set up his plant where his target audience is.</a:t>
            </a:r>
          </a:p>
        </p:txBody>
      </p:sp>
    </p:spTree>
    <p:extLst>
      <p:ext uri="{BB962C8B-B14F-4D97-AF65-F5344CB8AC3E}">
        <p14:creationId xmlns:p14="http://schemas.microsoft.com/office/powerpoint/2010/main" xmlns="" val="14208000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5" name="Rectangle 4"/>
          <p:cNvSpPr/>
          <p:nvPr/>
        </p:nvSpPr>
        <p:spPr>
          <a:xfrm>
            <a:off x="689064" y="1052736"/>
            <a:ext cx="7267312" cy="880369"/>
          </a:xfrm>
          <a:prstGeom prst="rect">
            <a:avLst/>
          </a:prstGeom>
        </p:spPr>
        <p:txBody>
          <a:bodyPr wrap="square">
            <a:spAutoFit/>
          </a:bodyPr>
          <a:lstStyle/>
          <a:p>
            <a:pPr>
              <a:lnSpc>
                <a:spcPct val="150000"/>
              </a:lnSpc>
            </a:pPr>
            <a:r>
              <a:rPr lang="en-US" b="1" dirty="0">
                <a:latin typeface="Arial" pitchFamily="34" charset="0"/>
                <a:cs typeface="Arial" pitchFamily="34" charset="0"/>
              </a:rPr>
              <a:t>This saving will then be passed on to you leading to lower operating costs for businesses and lower prices for consumers.</a:t>
            </a:r>
          </a:p>
        </p:txBody>
      </p:sp>
    </p:spTree>
    <p:extLst>
      <p:ext uri="{BB962C8B-B14F-4D97-AF65-F5344CB8AC3E}">
        <p14:creationId xmlns:p14="http://schemas.microsoft.com/office/powerpoint/2010/main" xmlns="" val="12633512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
        <p:nvSpPr>
          <p:cNvPr id="4" name="Rectangle 3"/>
          <p:cNvSpPr/>
          <p:nvPr/>
        </p:nvSpPr>
        <p:spPr>
          <a:xfrm>
            <a:off x="3059832" y="1052736"/>
            <a:ext cx="3816424" cy="2126864"/>
          </a:xfrm>
          <a:prstGeom prst="rect">
            <a:avLst/>
          </a:prstGeom>
        </p:spPr>
        <p:txBody>
          <a:bodyPr wrap="square">
            <a:spAutoFit/>
          </a:bodyPr>
          <a:lstStyle/>
          <a:p>
            <a:pPr>
              <a:lnSpc>
                <a:spcPct val="150000"/>
              </a:lnSpc>
            </a:pPr>
            <a:r>
              <a:rPr lang="en-US" b="1" dirty="0">
                <a:latin typeface="Arial" pitchFamily="34" charset="0"/>
                <a:cs typeface="Arial" pitchFamily="34" charset="0"/>
              </a:rPr>
              <a:t>One important thing to note: the current VAT system does not include services but the GST will include Goods &amp; Services, when it is introduced. </a:t>
            </a:r>
          </a:p>
        </p:txBody>
      </p:sp>
    </p:spTree>
    <p:extLst>
      <p:ext uri="{BB962C8B-B14F-4D97-AF65-F5344CB8AC3E}">
        <p14:creationId xmlns:p14="http://schemas.microsoft.com/office/powerpoint/2010/main" xmlns="" val="30444668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861222"/>
            <a:ext cx="4104456"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a:t>
            </a:r>
            <a:r>
              <a:rPr lang="en-US" b="1" dirty="0" smtClean="0">
                <a:latin typeface="Arial" pitchFamily="34" charset="0"/>
                <a:cs typeface="Arial" pitchFamily="34" charset="0"/>
              </a:rPr>
              <a:t>of GST</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GOODS &amp; SERVICE TAX</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1183"/>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2514</TotalTime>
  <Words>943</Words>
  <Application>Microsoft Office PowerPoint</Application>
  <PresentationFormat>On-screen Show (4:3)</PresentationFormat>
  <Paragraphs>71</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334</cp:revision>
  <dcterms:created xsi:type="dcterms:W3CDTF">2013-10-22T09:41:31Z</dcterms:created>
  <dcterms:modified xsi:type="dcterms:W3CDTF">2014-09-24T06:00:45Z</dcterms:modified>
</cp:coreProperties>
</file>