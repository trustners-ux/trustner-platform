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58" r:id="rId3"/>
    <p:sldId id="318" r:id="rId4"/>
    <p:sldId id="334" r:id="rId5"/>
    <p:sldId id="373" r:id="rId6"/>
    <p:sldId id="374" r:id="rId7"/>
    <p:sldId id="375" r:id="rId8"/>
    <p:sldId id="376" r:id="rId9"/>
    <p:sldId id="355" r:id="rId10"/>
    <p:sldId id="287" r:id="rId11"/>
    <p:sldId id="27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hmasurkar@tataamc.co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CASH RESERVE RATIO</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19672" y="2165955"/>
            <a:ext cx="2880320" cy="830997"/>
          </a:xfrm>
          <a:prstGeom prst="rect">
            <a:avLst/>
          </a:prstGeom>
          <a:noFill/>
        </p:spPr>
        <p:txBody>
          <a:bodyPr wrap="square" rtlCol="0">
            <a:spAutoFit/>
          </a:bodyPr>
          <a:lstStyle/>
          <a:p>
            <a:pPr>
              <a:lnSpc>
                <a:spcPct val="150000"/>
              </a:lnSpc>
              <a:buFontTx/>
              <a:buNone/>
            </a:pPr>
            <a:r>
              <a:rPr lang="en-US" sz="1600" b="1" dirty="0">
                <a:latin typeface="Arial" pitchFamily="34" charset="0"/>
                <a:cs typeface="Arial" pitchFamily="34" charset="0"/>
              </a:rPr>
              <a:t>Cash Reserve Ratio (CRR</a:t>
            </a:r>
            <a:r>
              <a:rPr lang="en-US" sz="1600" b="1" dirty="0" smtClean="0">
                <a:latin typeface="Arial" pitchFamily="34" charset="0"/>
                <a:cs typeface="Arial" pitchFamily="34" charset="0"/>
              </a:rPr>
              <a: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  </a:t>
            </a:r>
            <a:r>
              <a:rPr lang="en-US" sz="1600" b="1" dirty="0">
                <a:latin typeface="Arial" pitchFamily="34" charset="0"/>
                <a:cs typeface="Arial" pitchFamily="34" charset="0"/>
              </a:rPr>
              <a:t>By Prof. Simply Simple</a:t>
            </a:r>
            <a:endParaRPr lang="en-US" sz="1500"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242028" cy="3831818"/>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It is a bank regulation that sets the minimum reserves each bank must hold by way of customer deposits and notes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These deposits are designed to satisfy cash withdrawal demands of customers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Deposits are normally in the form of currency stored in a bank vault or with the central bank like the RBI</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CRR is also called the Liquidity Ratio as it seeks to control money supply in the </a:t>
            </a:r>
            <a:r>
              <a:rPr lang="en-US" b="1" dirty="0" smtClean="0">
                <a:latin typeface="Arial" pitchFamily="34" charset="0"/>
                <a:cs typeface="Arial" pitchFamily="34" charset="0"/>
              </a:rPr>
              <a:t>economy</a:t>
            </a:r>
            <a:endParaRPr lang="en-US" b="1" dirty="0">
              <a:latin typeface="Arial" pitchFamily="34" charset="0"/>
              <a:cs typeface="Arial" pitchFamily="34" charset="0"/>
            </a:endParaRP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6307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Effects on money supply…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
        <p:nvSpPr>
          <p:cNvPr id="3" name="Rectangle 2"/>
          <p:cNvSpPr/>
          <p:nvPr/>
        </p:nvSpPr>
        <p:spPr>
          <a:xfrm>
            <a:off x="683568" y="1412776"/>
            <a:ext cx="7560840"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CRR is used as a tool in monetary policy, influencing the country’s economy, borrowing and interest rates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CRR works like brakes on the economy’s money supply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CRR requirements affect the </a:t>
            </a:r>
            <a:r>
              <a:rPr lang="en-US" b="1">
                <a:latin typeface="Arial" pitchFamily="34" charset="0"/>
                <a:cs typeface="Arial" pitchFamily="34" charset="0"/>
              </a:rPr>
              <a:t>potential </a:t>
            </a:r>
            <a:r>
              <a:rPr lang="en-US" b="1" smtClean="0">
                <a:latin typeface="Arial" pitchFamily="34" charset="0"/>
                <a:cs typeface="Arial" pitchFamily="34" charset="0"/>
              </a:rPr>
              <a:t>of </a:t>
            </a:r>
            <a:r>
              <a:rPr lang="en-US" b="1" dirty="0">
                <a:latin typeface="Arial" pitchFamily="34" charset="0"/>
                <a:cs typeface="Arial" pitchFamily="34" charset="0"/>
              </a:rPr>
              <a:t>the banking system to create higher or lower money supply</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Let us now understand how CRR requirements affects the potential of banks to ‘create’ higher or lower money supply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5653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 CRR and liquidity…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
        <p:nvSpPr>
          <p:cNvPr id="3" name="Rectangle 2"/>
          <p:cNvSpPr/>
          <p:nvPr/>
        </p:nvSpPr>
        <p:spPr>
          <a:xfrm>
            <a:off x="683568" y="1463873"/>
            <a:ext cx="7920880" cy="3693319"/>
          </a:xfrm>
          <a:prstGeom prst="rect">
            <a:avLst/>
          </a:prstGeom>
        </p:spPr>
        <p:txBody>
          <a:bodyPr wrap="square">
            <a:spAutoFit/>
          </a:bodyPr>
          <a:lstStyle/>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For e.g. say…the CRR is pegged by RBI at 10%. if a bank </a:t>
            </a:r>
            <a:r>
              <a:rPr lang="en-US" b="1" dirty="0" smtClean="0">
                <a:latin typeface="Arial" pitchFamily="34" charset="0"/>
                <a:cs typeface="Arial" pitchFamily="34" charset="0"/>
              </a:rPr>
              <a:t>receives</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a:latin typeface="Arial" pitchFamily="34" charset="0"/>
                <a:cs typeface="Arial" pitchFamily="34" charset="0"/>
              </a:rPr>
              <a:t>. 100 as deposit, then they can lend </a:t>
            </a:r>
            <a:r>
              <a:rPr lang="en-US" b="1" dirty="0" err="1">
                <a:latin typeface="Arial" pitchFamily="34" charset="0"/>
                <a:cs typeface="Arial" pitchFamily="34" charset="0"/>
              </a:rPr>
              <a:t>Rs</a:t>
            </a:r>
            <a:r>
              <a:rPr lang="en-US" b="1" dirty="0">
                <a:latin typeface="Arial" pitchFamily="34" charset="0"/>
                <a:cs typeface="Arial" pitchFamily="34" charset="0"/>
              </a:rPr>
              <a:t>. 90 as a loan and will have </a:t>
            </a:r>
            <a:r>
              <a:rPr lang="en-US" b="1" dirty="0" smtClean="0">
                <a:latin typeface="Arial" pitchFamily="34" charset="0"/>
                <a:cs typeface="Arial" pitchFamily="34" charset="0"/>
              </a:rPr>
              <a:t>to keep </a:t>
            </a:r>
            <a:r>
              <a:rPr lang="en-US" b="1" dirty="0">
                <a:latin typeface="Arial" pitchFamily="34" charset="0"/>
                <a:cs typeface="Arial" pitchFamily="34" charset="0"/>
              </a:rPr>
              <a:t>the balance </a:t>
            </a:r>
            <a:r>
              <a:rPr lang="en-US" b="1" dirty="0" err="1">
                <a:latin typeface="Arial" pitchFamily="34" charset="0"/>
                <a:cs typeface="Arial" pitchFamily="34" charset="0"/>
              </a:rPr>
              <a:t>Rs</a:t>
            </a:r>
            <a:r>
              <a:rPr lang="en-US" b="1" dirty="0">
                <a:latin typeface="Arial" pitchFamily="34" charset="0"/>
                <a:cs typeface="Arial" pitchFamily="34" charset="0"/>
              </a:rPr>
              <a:t>. 10 in customer’s deposit account</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Now, the borrower who has received </a:t>
            </a:r>
            <a:r>
              <a:rPr lang="en-US" b="1" dirty="0" err="1">
                <a:latin typeface="Arial" pitchFamily="34" charset="0"/>
                <a:cs typeface="Arial" pitchFamily="34" charset="0"/>
              </a:rPr>
              <a:t>Rs</a:t>
            </a:r>
            <a:r>
              <a:rPr lang="en-US" b="1" dirty="0">
                <a:latin typeface="Arial" pitchFamily="34" charset="0"/>
                <a:cs typeface="Arial" pitchFamily="34" charset="0"/>
              </a:rPr>
              <a:t>. 90 as a loan will deposit </a:t>
            </a:r>
            <a:r>
              <a:rPr lang="en-US" b="1" dirty="0" smtClean="0">
                <a:latin typeface="Arial" pitchFamily="34" charset="0"/>
                <a:cs typeface="Arial" pitchFamily="34" charset="0"/>
              </a:rPr>
              <a:t>the same </a:t>
            </a:r>
            <a:r>
              <a:rPr lang="en-US" b="1" dirty="0">
                <a:latin typeface="Arial" pitchFamily="34" charset="0"/>
                <a:cs typeface="Arial" pitchFamily="34" charset="0"/>
              </a:rPr>
              <a:t>in his bank</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The borrower’s bank will now lend out </a:t>
            </a:r>
            <a:r>
              <a:rPr lang="en-US" b="1" dirty="0" err="1">
                <a:latin typeface="Arial" pitchFamily="34" charset="0"/>
                <a:cs typeface="Arial" pitchFamily="34" charset="0"/>
              </a:rPr>
              <a:t>Rs</a:t>
            </a:r>
            <a:r>
              <a:rPr lang="en-US" b="1" dirty="0">
                <a:latin typeface="Arial" pitchFamily="34" charset="0"/>
                <a:cs typeface="Arial" pitchFamily="34" charset="0"/>
              </a:rPr>
              <a:t>. 81 (</a:t>
            </a:r>
            <a:r>
              <a:rPr lang="en-US" b="1" dirty="0" err="1">
                <a:latin typeface="Arial" pitchFamily="34" charset="0"/>
                <a:cs typeface="Arial" pitchFamily="34" charset="0"/>
              </a:rPr>
              <a:t>Rs</a:t>
            </a:r>
            <a:r>
              <a:rPr lang="en-US" b="1" dirty="0">
                <a:latin typeface="Arial" pitchFamily="34" charset="0"/>
                <a:cs typeface="Arial" pitchFamily="34" charset="0"/>
              </a:rPr>
              <a:t>. 90 X 90%) and </a:t>
            </a:r>
            <a:r>
              <a:rPr lang="en-US" b="1" dirty="0" smtClean="0">
                <a:latin typeface="Arial" pitchFamily="34" charset="0"/>
                <a:cs typeface="Arial" pitchFamily="34" charset="0"/>
              </a:rPr>
              <a:t>keep </a:t>
            </a:r>
            <a:r>
              <a:rPr lang="en-US" b="1" dirty="0" err="1" smtClean="0">
                <a:latin typeface="Arial" pitchFamily="34" charset="0"/>
                <a:cs typeface="Arial" pitchFamily="34" charset="0"/>
              </a:rPr>
              <a:t>Rs</a:t>
            </a:r>
            <a:r>
              <a:rPr lang="en-US" b="1" dirty="0">
                <a:latin typeface="Arial" pitchFamily="34" charset="0"/>
                <a:cs typeface="Arial" pitchFamily="34" charset="0"/>
              </a:rPr>
              <a:t>. 9 in his deposit account</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As this process continues, the banking system can </a:t>
            </a:r>
            <a:r>
              <a:rPr lang="en-US" b="1" dirty="0" smtClean="0">
                <a:latin typeface="Arial" pitchFamily="34" charset="0"/>
                <a:cs typeface="Arial" pitchFamily="34" charset="0"/>
              </a:rPr>
              <a:t>expand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initial deposit of Rs.100 into a </a:t>
            </a:r>
            <a:r>
              <a:rPr lang="en-US" b="1" u="sng" dirty="0">
                <a:latin typeface="Arial" pitchFamily="34" charset="0"/>
                <a:cs typeface="Arial" pitchFamily="34" charset="0"/>
              </a:rPr>
              <a:t>maximum of </a:t>
            </a:r>
            <a:r>
              <a:rPr lang="en-US" b="1" u="sng" dirty="0" err="1">
                <a:latin typeface="Arial" pitchFamily="34" charset="0"/>
                <a:cs typeface="Arial" pitchFamily="34" charset="0"/>
              </a:rPr>
              <a:t>Rs</a:t>
            </a:r>
            <a:r>
              <a:rPr lang="en-US" b="1" u="sng" dirty="0">
                <a:latin typeface="Arial" pitchFamily="34" charset="0"/>
                <a:cs typeface="Arial" pitchFamily="34" charset="0"/>
              </a:rPr>
              <a:t>. </a:t>
            </a:r>
            <a:r>
              <a:rPr lang="en-US" b="1" u="sng" dirty="0" smtClean="0">
                <a:latin typeface="Arial" pitchFamily="34" charset="0"/>
                <a:cs typeface="Arial" pitchFamily="34" charset="0"/>
              </a:rPr>
              <a:t>1000</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err="1" smtClean="0">
                <a:latin typeface="Arial" pitchFamily="34" charset="0"/>
                <a:cs typeface="Arial" pitchFamily="34" charset="0"/>
              </a:rPr>
              <a:t>Rs</a:t>
            </a:r>
            <a:r>
              <a:rPr lang="en-US" b="1" dirty="0">
                <a:latin typeface="Arial" pitchFamily="34" charset="0"/>
                <a:cs typeface="Arial" pitchFamily="34" charset="0"/>
              </a:rPr>
              <a:t>. 100 + </a:t>
            </a:r>
            <a:r>
              <a:rPr lang="en-US" b="1" dirty="0" err="1">
                <a:latin typeface="Arial" pitchFamily="34" charset="0"/>
                <a:cs typeface="Arial" pitchFamily="34" charset="0"/>
              </a:rPr>
              <a:t>Rs</a:t>
            </a:r>
            <a:r>
              <a:rPr lang="en-US" b="1" dirty="0">
                <a:latin typeface="Arial" pitchFamily="34" charset="0"/>
                <a:cs typeface="Arial" pitchFamily="34" charset="0"/>
              </a:rPr>
              <a:t>. 90 + </a:t>
            </a:r>
            <a:r>
              <a:rPr lang="en-US" b="1" dirty="0" err="1">
                <a:latin typeface="Arial" pitchFamily="34" charset="0"/>
                <a:cs typeface="Arial" pitchFamily="34" charset="0"/>
              </a:rPr>
              <a:t>Rs</a:t>
            </a:r>
            <a:r>
              <a:rPr lang="en-US" b="1" dirty="0">
                <a:latin typeface="Arial" pitchFamily="34" charset="0"/>
                <a:cs typeface="Arial" pitchFamily="34" charset="0"/>
              </a:rPr>
              <a:t>. 81….=</a:t>
            </a:r>
            <a:r>
              <a:rPr lang="en-US" b="1" dirty="0" err="1">
                <a:latin typeface="Arial" pitchFamily="34" charset="0"/>
                <a:cs typeface="Arial" pitchFamily="34" charset="0"/>
              </a:rPr>
              <a:t>Rs</a:t>
            </a:r>
            <a:r>
              <a:rPr lang="en-US" b="1" dirty="0">
                <a:latin typeface="Arial" pitchFamily="34" charset="0"/>
                <a:cs typeface="Arial" pitchFamily="34" charset="0"/>
              </a:rPr>
              <a:t>. 1000)</a:t>
            </a:r>
          </a:p>
        </p:txBody>
      </p:sp>
    </p:spTree>
    <p:extLst>
      <p:ext uri="{BB962C8B-B14F-4D97-AF65-F5344CB8AC3E}">
        <p14:creationId xmlns:p14="http://schemas.microsoft.com/office/powerpoint/2010/main" xmlns="" val="1578876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6307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 Similarly…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
        <p:nvSpPr>
          <p:cNvPr id="3" name="Rectangle 2"/>
          <p:cNvSpPr/>
          <p:nvPr/>
        </p:nvSpPr>
        <p:spPr>
          <a:xfrm>
            <a:off x="683568" y="1400981"/>
            <a:ext cx="7920880" cy="3859518"/>
          </a:xfrm>
          <a:prstGeom prst="rect">
            <a:avLst/>
          </a:prstGeom>
        </p:spPr>
        <p:txBody>
          <a:bodyPr wrap="square">
            <a:spAutoFit/>
          </a:bodyPr>
          <a:lstStyle/>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For e.g. say…the CRR is pegged by RBI at 20%. if a bank receives </a:t>
            </a:r>
            <a:r>
              <a:rPr lang="en-US" b="1" dirty="0" err="1">
                <a:latin typeface="Arial" pitchFamily="34" charset="0"/>
                <a:cs typeface="Arial" pitchFamily="34" charset="0"/>
              </a:rPr>
              <a:t>Rs</a:t>
            </a:r>
            <a:r>
              <a:rPr lang="en-US" b="1" dirty="0">
                <a:latin typeface="Arial" pitchFamily="34" charset="0"/>
                <a:cs typeface="Arial" pitchFamily="34" charset="0"/>
              </a:rPr>
              <a:t>. 100 as deposit, then they can lend </a:t>
            </a:r>
            <a:r>
              <a:rPr lang="en-US" b="1" dirty="0" err="1">
                <a:latin typeface="Arial" pitchFamily="34" charset="0"/>
                <a:cs typeface="Arial" pitchFamily="34" charset="0"/>
              </a:rPr>
              <a:t>Rs</a:t>
            </a:r>
            <a:r>
              <a:rPr lang="en-US" b="1" dirty="0">
                <a:latin typeface="Arial" pitchFamily="34" charset="0"/>
                <a:cs typeface="Arial" pitchFamily="34" charset="0"/>
              </a:rPr>
              <a:t>. 80 as a loan and will have to keep the balance </a:t>
            </a:r>
            <a:r>
              <a:rPr lang="en-US" b="1" dirty="0" err="1">
                <a:latin typeface="Arial" pitchFamily="34" charset="0"/>
                <a:cs typeface="Arial" pitchFamily="34" charset="0"/>
              </a:rPr>
              <a:t>Rs</a:t>
            </a:r>
            <a:r>
              <a:rPr lang="en-US" b="1" dirty="0">
                <a:latin typeface="Arial" pitchFamily="34" charset="0"/>
                <a:cs typeface="Arial" pitchFamily="34" charset="0"/>
              </a:rPr>
              <a:t>. 20 in customer’s deposit account</a:t>
            </a:r>
          </a:p>
          <a:p>
            <a:pPr marL="465138" indent="-465138">
              <a:spcBef>
                <a:spcPct val="20000"/>
              </a:spcBef>
              <a:buFont typeface="Wingdings" pitchFamily="2" charset="2"/>
              <a:buChar char="q"/>
              <a:tabLst>
                <a:tab pos="465138" algn="l"/>
              </a:tabLst>
            </a:pPr>
            <a:endParaRPr lang="en-US" sz="15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Now, the borrower who has received </a:t>
            </a:r>
            <a:r>
              <a:rPr lang="en-US" b="1" dirty="0" err="1">
                <a:latin typeface="Arial" pitchFamily="34" charset="0"/>
                <a:cs typeface="Arial" pitchFamily="34" charset="0"/>
              </a:rPr>
              <a:t>Rs</a:t>
            </a:r>
            <a:r>
              <a:rPr lang="en-US" b="1" dirty="0">
                <a:latin typeface="Arial" pitchFamily="34" charset="0"/>
                <a:cs typeface="Arial" pitchFamily="34" charset="0"/>
              </a:rPr>
              <a:t>. 80 as a loan will deposit the same in his bank</a:t>
            </a:r>
          </a:p>
          <a:p>
            <a:pPr marL="465138" indent="-465138">
              <a:spcBef>
                <a:spcPct val="20000"/>
              </a:spcBef>
              <a:buFont typeface="Wingdings" pitchFamily="2" charset="2"/>
              <a:buChar char="q"/>
              <a:tabLst>
                <a:tab pos="465138" algn="l"/>
              </a:tabLst>
            </a:pPr>
            <a:endParaRPr lang="en-US" sz="15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The borrower’s bank will now lend out </a:t>
            </a:r>
            <a:r>
              <a:rPr lang="en-US" b="1" dirty="0" err="1">
                <a:latin typeface="Arial" pitchFamily="34" charset="0"/>
                <a:cs typeface="Arial" pitchFamily="34" charset="0"/>
              </a:rPr>
              <a:t>Rs</a:t>
            </a:r>
            <a:r>
              <a:rPr lang="en-US" b="1" dirty="0">
                <a:latin typeface="Arial" pitchFamily="34" charset="0"/>
                <a:cs typeface="Arial" pitchFamily="34" charset="0"/>
              </a:rPr>
              <a:t>. 64 (</a:t>
            </a:r>
            <a:r>
              <a:rPr lang="en-US" b="1" dirty="0" err="1">
                <a:latin typeface="Arial" pitchFamily="34" charset="0"/>
                <a:cs typeface="Arial" pitchFamily="34" charset="0"/>
              </a:rPr>
              <a:t>Rs</a:t>
            </a:r>
            <a:r>
              <a:rPr lang="en-US" b="1" dirty="0">
                <a:latin typeface="Arial" pitchFamily="34" charset="0"/>
                <a:cs typeface="Arial" pitchFamily="34" charset="0"/>
              </a:rPr>
              <a:t>. 80 X 80%) and keep </a:t>
            </a:r>
            <a:r>
              <a:rPr lang="en-US" b="1" dirty="0" err="1">
                <a:latin typeface="Arial" pitchFamily="34" charset="0"/>
                <a:cs typeface="Arial" pitchFamily="34" charset="0"/>
              </a:rPr>
              <a:t>Rs</a:t>
            </a:r>
            <a:r>
              <a:rPr lang="en-US" b="1" dirty="0">
                <a:latin typeface="Arial" pitchFamily="34" charset="0"/>
                <a:cs typeface="Arial" pitchFamily="34" charset="0"/>
              </a:rPr>
              <a:t>. 16 in his deposit account</a:t>
            </a:r>
          </a:p>
          <a:p>
            <a:pPr marL="465138" indent="-465138">
              <a:spcBef>
                <a:spcPct val="20000"/>
              </a:spcBef>
              <a:buFont typeface="Wingdings" pitchFamily="2" charset="2"/>
              <a:buChar char="q"/>
              <a:tabLst>
                <a:tab pos="465138" algn="l"/>
              </a:tabLst>
            </a:pPr>
            <a:endParaRPr lang="en-US" sz="15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As this process continues, the banking system can expand the initial deposit of Rs.100 into a </a:t>
            </a:r>
            <a:r>
              <a:rPr lang="en-US" b="1" u="sng" dirty="0">
                <a:latin typeface="Arial" pitchFamily="34" charset="0"/>
                <a:cs typeface="Arial" pitchFamily="34" charset="0"/>
              </a:rPr>
              <a:t>maximum of </a:t>
            </a:r>
            <a:r>
              <a:rPr lang="en-US" b="1" u="sng" dirty="0" err="1">
                <a:latin typeface="Arial" pitchFamily="34" charset="0"/>
                <a:cs typeface="Arial" pitchFamily="34" charset="0"/>
              </a:rPr>
              <a:t>Rs</a:t>
            </a:r>
            <a:r>
              <a:rPr lang="en-US" b="1" u="sng" dirty="0">
                <a:latin typeface="Arial" pitchFamily="34" charset="0"/>
                <a:cs typeface="Arial" pitchFamily="34" charset="0"/>
              </a:rPr>
              <a:t>. </a:t>
            </a:r>
            <a:r>
              <a:rPr lang="en-US" b="1" u="sng" dirty="0" smtClean="0">
                <a:latin typeface="Arial" pitchFamily="34" charset="0"/>
                <a:cs typeface="Arial" pitchFamily="34" charset="0"/>
              </a:rPr>
              <a:t>500</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err="1" smtClean="0">
                <a:latin typeface="Arial" pitchFamily="34" charset="0"/>
                <a:cs typeface="Arial" pitchFamily="34" charset="0"/>
              </a:rPr>
              <a:t>Rs</a:t>
            </a:r>
            <a:r>
              <a:rPr lang="en-US" b="1" dirty="0">
                <a:latin typeface="Arial" pitchFamily="34" charset="0"/>
                <a:cs typeface="Arial" pitchFamily="34" charset="0"/>
              </a:rPr>
              <a:t>. 100 </a:t>
            </a:r>
            <a:r>
              <a:rPr lang="en-US" b="1" dirty="0" smtClean="0">
                <a:latin typeface="Arial" pitchFamily="34" charset="0"/>
                <a:cs typeface="Arial" pitchFamily="34" charset="0"/>
              </a:rPr>
              <a:t>+ </a:t>
            </a:r>
            <a:r>
              <a:rPr lang="en-US" b="1" dirty="0" err="1" smtClean="0">
                <a:latin typeface="Arial" pitchFamily="34" charset="0"/>
                <a:cs typeface="Arial" pitchFamily="34" charset="0"/>
              </a:rPr>
              <a:t>Rs</a:t>
            </a:r>
            <a:r>
              <a:rPr lang="en-US" b="1" dirty="0">
                <a:latin typeface="Arial" pitchFamily="34" charset="0"/>
                <a:cs typeface="Arial" pitchFamily="34" charset="0"/>
              </a:rPr>
              <a:t>. 80 + </a:t>
            </a:r>
            <a:r>
              <a:rPr lang="en-US" b="1" dirty="0" err="1">
                <a:latin typeface="Arial" pitchFamily="34" charset="0"/>
                <a:cs typeface="Arial" pitchFamily="34" charset="0"/>
              </a:rPr>
              <a:t>Rs</a:t>
            </a:r>
            <a:r>
              <a:rPr lang="en-US" b="1" dirty="0">
                <a:latin typeface="Arial" pitchFamily="34" charset="0"/>
                <a:cs typeface="Arial" pitchFamily="34" charset="0"/>
              </a:rPr>
              <a:t>. 64….=</a:t>
            </a:r>
            <a:r>
              <a:rPr lang="en-US" b="1" dirty="0" err="1">
                <a:latin typeface="Arial" pitchFamily="34" charset="0"/>
                <a:cs typeface="Arial" pitchFamily="34" charset="0"/>
              </a:rPr>
              <a:t>Rs</a:t>
            </a:r>
            <a:r>
              <a:rPr lang="en-US" b="1" dirty="0">
                <a:latin typeface="Arial" pitchFamily="34" charset="0"/>
                <a:cs typeface="Arial" pitchFamily="34" charset="0"/>
              </a:rPr>
              <a:t>. 500)</a:t>
            </a:r>
          </a:p>
        </p:txBody>
      </p:sp>
    </p:spTree>
    <p:extLst>
      <p:ext uri="{BB962C8B-B14F-4D97-AF65-F5344CB8AC3E}">
        <p14:creationId xmlns:p14="http://schemas.microsoft.com/office/powerpoint/2010/main" xmlns="" val="3618872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507831"/>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So…</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
        <p:nvSpPr>
          <p:cNvPr id="3" name="Rectangle 2"/>
          <p:cNvSpPr/>
          <p:nvPr/>
        </p:nvSpPr>
        <p:spPr>
          <a:xfrm>
            <a:off x="683568" y="1400981"/>
            <a:ext cx="7920880" cy="3841052"/>
          </a:xfrm>
          <a:prstGeom prst="rect">
            <a:avLst/>
          </a:prstGeom>
        </p:spPr>
        <p:txBody>
          <a:bodyPr wrap="square">
            <a:spAutoFit/>
          </a:bodyPr>
          <a:lstStyle/>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The higher the cash reserve (CRR) required, the lower the money available for lending</a:t>
            </a:r>
          </a:p>
          <a:p>
            <a:pPr marL="465138" indent="-465138">
              <a:spcBef>
                <a:spcPct val="20000"/>
              </a:spcBef>
              <a:buFont typeface="Wingdings" pitchFamily="2" charset="2"/>
              <a:buChar char="q"/>
              <a:tabLst>
                <a:tab pos="465138" algn="l"/>
              </a:tabLst>
            </a:pPr>
            <a:endParaRPr lang="en-US" sz="7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Every time the borrowed money comes into a deposit account of a customer, the bank has to compulsorily keep a part of it as reserves</a:t>
            </a:r>
          </a:p>
          <a:p>
            <a:pPr marL="465138" indent="-465138">
              <a:spcBef>
                <a:spcPct val="20000"/>
              </a:spcBef>
              <a:buFont typeface="Wingdings" pitchFamily="2" charset="2"/>
              <a:buChar char="q"/>
              <a:tabLst>
                <a:tab pos="465138" algn="l"/>
              </a:tabLst>
            </a:pPr>
            <a:endParaRPr lang="en-US" sz="7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This reduces credit expansion by controlling the amount of money that goes out by way of loans</a:t>
            </a:r>
          </a:p>
          <a:p>
            <a:pPr marL="465138" indent="-465138">
              <a:spcBef>
                <a:spcPct val="20000"/>
              </a:spcBef>
              <a:buFont typeface="Wingdings" pitchFamily="2" charset="2"/>
              <a:buChar char="q"/>
              <a:tabLst>
                <a:tab pos="465138" algn="l"/>
              </a:tabLst>
            </a:pPr>
            <a:endParaRPr lang="en-US" sz="7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This directly affects money creation process and in turn affects the economic activity</a:t>
            </a:r>
          </a:p>
          <a:p>
            <a:pPr marL="465138" indent="-465138">
              <a:spcBef>
                <a:spcPct val="20000"/>
              </a:spcBef>
              <a:buFont typeface="Wingdings" pitchFamily="2" charset="2"/>
              <a:buChar char="q"/>
              <a:tabLst>
                <a:tab pos="465138" algn="l"/>
              </a:tabLst>
            </a:pPr>
            <a:endParaRPr lang="en-US" sz="7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Hence central banks in the world increase the requirement of cash reserves whenever they feel the need to control money supply</a:t>
            </a:r>
          </a:p>
        </p:txBody>
      </p:sp>
    </p:spTree>
    <p:extLst>
      <p:ext uri="{BB962C8B-B14F-4D97-AF65-F5344CB8AC3E}">
        <p14:creationId xmlns:p14="http://schemas.microsoft.com/office/powerpoint/2010/main" xmlns="" val="23370407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5653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 To sum it up…</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
        <p:nvSpPr>
          <p:cNvPr id="3" name="Rectangle 2"/>
          <p:cNvSpPr/>
          <p:nvPr/>
        </p:nvSpPr>
        <p:spPr>
          <a:xfrm>
            <a:off x="683568" y="1400981"/>
            <a:ext cx="7704856" cy="4025717"/>
          </a:xfrm>
          <a:prstGeom prst="rect">
            <a:avLst/>
          </a:prstGeom>
        </p:spPr>
        <p:txBody>
          <a:bodyPr wrap="square">
            <a:spAutoFit/>
          </a:bodyPr>
          <a:lstStyle/>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CRR is increased to bring down inflation which happens due to excessive spending power</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Spending power is augmented by loans - if money that goes out as loans is controlled, inflation can be tamed to some extent</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Conversely, if the government wants to stimulate higher economic activity and encourage higher spending to achieve economic growth, they will lower CRR</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A lower CRR allows the bank to lend more money and will fuel consumption and spending</a:t>
            </a:r>
          </a:p>
          <a:p>
            <a:pPr marL="465138" indent="-465138">
              <a:spcBef>
                <a:spcPct val="20000"/>
              </a:spcBef>
              <a:buFont typeface="Wingdings" pitchFamily="2" charset="2"/>
              <a:buChar char="q"/>
              <a:tabLst>
                <a:tab pos="465138" algn="l"/>
              </a:tabLst>
            </a:pPr>
            <a:endParaRPr lang="en-US" sz="1200" b="1" dirty="0">
              <a:latin typeface="Arial" pitchFamily="34" charset="0"/>
              <a:cs typeface="Arial" pitchFamily="34" charset="0"/>
            </a:endParaRPr>
          </a:p>
          <a:p>
            <a:pPr marL="465138" indent="-465138">
              <a:spcBef>
                <a:spcPct val="20000"/>
              </a:spcBef>
              <a:buFont typeface="Wingdings" pitchFamily="2" charset="2"/>
              <a:buChar char="q"/>
              <a:tabLst>
                <a:tab pos="465138" algn="l"/>
              </a:tabLst>
            </a:pPr>
            <a:r>
              <a:rPr lang="en-US" b="1" dirty="0">
                <a:latin typeface="Arial" pitchFamily="34" charset="0"/>
                <a:cs typeface="Arial" pitchFamily="34" charset="0"/>
              </a:rPr>
              <a:t>Thus…banks indirectly enjoy the power to create more money</a:t>
            </a:r>
          </a:p>
        </p:txBody>
      </p:sp>
    </p:spTree>
    <p:extLst>
      <p:ext uri="{BB962C8B-B14F-4D97-AF65-F5344CB8AC3E}">
        <p14:creationId xmlns:p14="http://schemas.microsoft.com/office/powerpoint/2010/main" xmlns="" val="2157395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953942"/>
            <a:ext cx="4104456"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of Cash Reserve Ratio.</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CASH RESERVE RATIO</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628800"/>
            <a:ext cx="3744416" cy="1754326"/>
          </a:xfrm>
          <a:prstGeom prst="rect">
            <a:avLst/>
          </a:prstGeom>
        </p:spPr>
        <p:txBody>
          <a:bodyPr wrap="square">
            <a:spAutoFit/>
          </a:bodyPr>
          <a:lstStyle/>
          <a:p>
            <a:pPr algn="ctr">
              <a:lnSpc>
                <a:spcPct val="150000"/>
              </a:lnSpc>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to </a:t>
            </a:r>
            <a:r>
              <a:rPr lang="en-US" b="1" dirty="0" smtClean="0">
                <a:latin typeface="Arial" pitchFamily="34" charset="0"/>
                <a:cs typeface="Arial" pitchFamily="34" charset="0"/>
                <a:hlinkClick r:id="rId4"/>
              </a:rPr>
              <a:t>hmasurkar@tataamc.com</a:t>
            </a:r>
            <a:endParaRPr lang="en-US" b="1" dirty="0" smtClean="0">
              <a:latin typeface="Arial" pitchFamily="34" charset="0"/>
              <a:cs typeface="Arial" pitchFamily="34" charset="0"/>
            </a:endParaRPr>
          </a:p>
          <a:p>
            <a:pPr algn="ctr">
              <a:lnSpc>
                <a:spcPct val="150000"/>
              </a:lnSpc>
            </a:pP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2071</TotalTime>
  <Words>685</Words>
  <Application>Microsoft Office PowerPoint</Application>
  <PresentationFormat>On-screen Show (4:3)</PresentationFormat>
  <Paragraphs>66</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241</cp:revision>
  <dcterms:created xsi:type="dcterms:W3CDTF">2013-10-22T09:41:31Z</dcterms:created>
  <dcterms:modified xsi:type="dcterms:W3CDTF">2014-09-18T10:49:13Z</dcterms:modified>
</cp:coreProperties>
</file>