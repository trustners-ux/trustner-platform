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358" r:id="rId3"/>
    <p:sldId id="496" r:id="rId4"/>
    <p:sldId id="416" r:id="rId5"/>
    <p:sldId id="514" r:id="rId6"/>
    <p:sldId id="485" r:id="rId7"/>
    <p:sldId id="486" r:id="rId8"/>
    <p:sldId id="512" r:id="rId9"/>
    <p:sldId id="515" r:id="rId10"/>
    <p:sldId id="487" r:id="rId11"/>
    <p:sldId id="499" r:id="rId12"/>
    <p:sldId id="473" r:id="rId13"/>
    <p:sldId id="287" r:id="rId14"/>
    <p:sldId id="273"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591" autoAdjust="0"/>
    <p:restoredTop sz="94595" autoAdjust="0"/>
  </p:normalViewPr>
  <p:slideViewPr>
    <p:cSldViewPr>
      <p:cViewPr>
        <p:scale>
          <a:sx n="62" d="100"/>
          <a:sy n="62" d="100"/>
        </p:scale>
        <p:origin x="-1512" y="-150"/>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0E05B8-715C-4FAF-BC8A-A5F0580F534E}" type="datetimeFigureOut">
              <a:rPr lang="en-US" smtClean="0"/>
              <a:pPr/>
              <a:t>3/9/2014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A204C8-0732-4ACB-BFB7-2799F61E2A0A}" type="slidenum">
              <a:rPr lang="en-IN" smtClean="0"/>
              <a:pPr/>
              <a:t>‹#›</a:t>
            </a:fld>
            <a:endParaRPr lang="en-IN"/>
          </a:p>
        </p:txBody>
      </p:sp>
    </p:spTree>
    <p:extLst>
      <p:ext uri="{BB962C8B-B14F-4D97-AF65-F5344CB8AC3E}">
        <p14:creationId xmlns="" xmlns:p14="http://schemas.microsoft.com/office/powerpoint/2010/main" val="1720646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62A204C8-0732-4ACB-BFB7-2799F61E2A0A}" type="slidenum">
              <a:rPr lang="en-IN" smtClean="0"/>
              <a:pPr/>
              <a:t>7</a:t>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62A204C8-0732-4ACB-BFB7-2799F61E2A0A}" type="slidenum">
              <a:rPr lang="en-IN" smtClean="0"/>
              <a:pPr/>
              <a:t>8</a:t>
            </a:fld>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62A204C8-0732-4ACB-BFB7-2799F61E2A0A}" type="slidenum">
              <a:rPr lang="en-IN" smtClean="0"/>
              <a:pPr/>
              <a:t>13</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3/9/2014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3/9/2014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7C54CB-0529-403B-B072-87342900D6A8}" type="datetimeFigureOut">
              <a:rPr lang="en-US" smtClean="0"/>
              <a:pPr/>
              <a:t>3/9/2014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A7C54CB-0529-403B-B072-87342900D6A8}" type="datetimeFigureOut">
              <a:rPr lang="en-US" smtClean="0"/>
              <a:pPr/>
              <a:t>3/9/2014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A7C54CB-0529-403B-B072-87342900D6A8}" type="datetimeFigureOut">
              <a:rPr lang="en-US" smtClean="0"/>
              <a:pPr/>
              <a:t>3/9/2014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A7C54CB-0529-403B-B072-87342900D6A8}" type="datetimeFigureOut">
              <a:rPr lang="en-US" smtClean="0"/>
              <a:pPr/>
              <a:t>3/9/2014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7C54CB-0529-403B-B072-87342900D6A8}" type="datetimeFigureOut">
              <a:rPr lang="en-US" smtClean="0"/>
              <a:pPr/>
              <a:t>3/9/2014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3/9/2014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3/9/2014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3/9/2014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3/9/2014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C54CB-0529-403B-B072-87342900D6A8}" type="datetimeFigureOut">
              <a:rPr lang="en-US" smtClean="0"/>
              <a:pPr/>
              <a:t>3/9/2014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570A3-6B67-4C18-ABAC-AE1ACD0864A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hyperlink" Target="mailto:professor@tataamc.com" TargetMode="External"/><Relationship Id="rId4" Type="http://schemas.openxmlformats.org/officeDocument/2006/relationships/image" Target="../media/image7.jpeg"/></Relationships>
</file>

<file path=ppt/slides/_rels/slide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3648" y="2740858"/>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FED TAPERING</a:t>
            </a:r>
            <a:endParaRPr lang="en-IN" sz="2000" b="1" dirty="0">
              <a:solidFill>
                <a:schemeClr val="bg1"/>
              </a:solidFill>
              <a:latin typeface="Arial" pitchFamily="34" charset="0"/>
              <a:cs typeface="Arial" pitchFamily="34" charset="0"/>
            </a:endParaRPr>
          </a:p>
        </p:txBody>
      </p:sp>
      <p:grpSp>
        <p:nvGrpSpPr>
          <p:cNvPr id="8" name="Group 7"/>
          <p:cNvGrpSpPr/>
          <p:nvPr/>
        </p:nvGrpSpPr>
        <p:grpSpPr>
          <a:xfrm>
            <a:off x="-1" y="-1"/>
            <a:ext cx="9144001" cy="6858001"/>
            <a:chOff x="-1" y="-1"/>
            <a:chExt cx="9144001" cy="6858001"/>
          </a:xfrm>
        </p:grpSpPr>
        <p:pic>
          <p:nvPicPr>
            <p:cNvPr id="2050" name="Picture 2" descr="H:\TATA\From Rajni\Jpegs_blank\PSS_LESSONS_PG1.jpg"/>
            <p:cNvPicPr>
              <a:picLocks noChangeAspect="1" noChangeArrowheads="1"/>
            </p:cNvPicPr>
            <p:nvPr/>
          </p:nvPicPr>
          <p:blipFill>
            <a:blip r:embed="rId2" cstate="print"/>
            <a:stretch>
              <a:fillRect/>
            </a:stretch>
          </p:blipFill>
          <p:spPr bwMode="auto">
            <a:xfrm>
              <a:off x="-1" y="-1"/>
              <a:ext cx="9144001" cy="6858001"/>
            </a:xfrm>
            <a:prstGeom prst="rect">
              <a:avLst/>
            </a:prstGeom>
            <a:noFill/>
            <a:ln>
              <a:noFill/>
            </a:ln>
          </p:spPr>
        </p:pic>
        <p:pic>
          <p:nvPicPr>
            <p:cNvPr id="4" name="Picture 23" descr="TMF Logo New.jpg"/>
            <p:cNvPicPr>
              <a:picLocks noChangeAspect="1"/>
            </p:cNvPicPr>
            <p:nvPr/>
          </p:nvPicPr>
          <p:blipFill>
            <a:blip r:embed="rId3" cstate="print"/>
            <a:srcRect/>
            <a:stretch>
              <a:fillRect/>
            </a:stretch>
          </p:blipFill>
          <p:spPr bwMode="auto">
            <a:xfrm>
              <a:off x="2411760" y="5321776"/>
              <a:ext cx="1177849" cy="822960"/>
            </a:xfrm>
            <a:prstGeom prst="rect">
              <a:avLst/>
            </a:prstGeom>
            <a:noFill/>
            <a:ln w="9525">
              <a:noFill/>
              <a:miter lim="800000"/>
              <a:headEnd/>
              <a:tailEnd/>
            </a:ln>
          </p:spPr>
        </p:pic>
        <p:cxnSp>
          <p:nvCxnSpPr>
            <p:cNvPr id="7" name="Straight Connector 6"/>
            <p:cNvCxnSpPr/>
            <p:nvPr/>
          </p:nvCxnSpPr>
          <p:spPr>
            <a:xfrm>
              <a:off x="2123728" y="5301208"/>
              <a:ext cx="0" cy="864096"/>
            </a:xfrm>
            <a:prstGeom prst="line">
              <a:avLst/>
            </a:prstGeom>
          </p:spPr>
          <p:style>
            <a:lnRef idx="1">
              <a:schemeClr val="dk1"/>
            </a:lnRef>
            <a:fillRef idx="0">
              <a:schemeClr val="dk1"/>
            </a:fillRef>
            <a:effectRef idx="0">
              <a:schemeClr val="dk1"/>
            </a:effectRef>
            <a:fontRef idx="minor">
              <a:schemeClr val="tx1"/>
            </a:fontRef>
          </p:style>
        </p:cxnSp>
      </p:grpSp>
      <p:sp>
        <p:nvSpPr>
          <p:cNvPr id="9" name="TextBox 8"/>
          <p:cNvSpPr txBox="1"/>
          <p:nvPr/>
        </p:nvSpPr>
        <p:spPr>
          <a:xfrm>
            <a:off x="899592" y="2786058"/>
            <a:ext cx="439248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WAGE PRICE SPIRAL</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4.jpg"/>
          <p:cNvPicPr>
            <a:picLocks noChangeAspect="1" noChangeArrowheads="1"/>
          </p:cNvPicPr>
          <p:nvPr/>
        </p:nvPicPr>
        <p:blipFill>
          <a:blip r:embed="rId2" cstate="print"/>
          <a:srcRect/>
          <a:stretch>
            <a:fillRect/>
          </a:stretch>
        </p:blipFill>
        <p:spPr bwMode="auto">
          <a:xfrm>
            <a:off x="0" y="0"/>
            <a:ext cx="9144000" cy="6858001"/>
          </a:xfrm>
          <a:prstGeom prst="rect">
            <a:avLst/>
          </a:prstGeom>
          <a:noFill/>
        </p:spPr>
      </p:pic>
      <p:sp>
        <p:nvSpPr>
          <p:cNvPr id="3" name="TextBox 2"/>
          <p:cNvSpPr txBox="1"/>
          <p:nvPr/>
        </p:nvSpPr>
        <p:spPr>
          <a:xfrm>
            <a:off x="1785918" y="1978922"/>
            <a:ext cx="2214578" cy="923330"/>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Understanding</a:t>
            </a:r>
            <a:br>
              <a:rPr lang="en-US" b="1" dirty="0" smtClean="0">
                <a:latin typeface="Arial" pitchFamily="34" charset="0"/>
                <a:cs typeface="Arial" pitchFamily="34" charset="0"/>
              </a:rPr>
            </a:br>
            <a:r>
              <a:rPr lang="en-US" b="1" dirty="0" smtClean="0">
                <a:latin typeface="Arial" pitchFamily="34" charset="0"/>
                <a:cs typeface="Arial" pitchFamily="34" charset="0"/>
              </a:rPr>
              <a:t>wage price </a:t>
            </a:r>
            <a:r>
              <a:rPr lang="en-US" b="1" dirty="0" smtClean="0">
                <a:latin typeface="Arial" pitchFamily="34" charset="0"/>
                <a:cs typeface="Arial" pitchFamily="34" charset="0"/>
              </a:rPr>
              <a:t>spiral</a:t>
            </a:r>
            <a:endParaRPr lang="en-US" b="1" i="1" dirty="0">
              <a:latin typeface="Arial" pitchFamily="34" charset="0"/>
              <a:cs typeface="Arial" pitchFamily="34" charset="0"/>
            </a:endParaRPr>
          </a:p>
        </p:txBody>
      </p:sp>
    </p:spTree>
    <p:extLst>
      <p:ext uri="{BB962C8B-B14F-4D97-AF65-F5344CB8AC3E}">
        <p14:creationId xmlns="" xmlns:p14="http://schemas.microsoft.com/office/powerpoint/2010/main" val="217452181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143372" y="3815595"/>
            <a:ext cx="4357718" cy="2585323"/>
          </a:xfrm>
          <a:prstGeom prst="rect">
            <a:avLst/>
          </a:prstGeom>
        </p:spPr>
        <p:txBody>
          <a:bodyPr wrap="square">
            <a:spAutoFit/>
          </a:bodyPr>
          <a:lstStyle/>
          <a:p>
            <a:pPr>
              <a:lnSpc>
                <a:spcPct val="150000"/>
              </a:lnSpc>
            </a:pPr>
            <a:r>
              <a:rPr lang="en-US" b="1" dirty="0" smtClean="0">
                <a:latin typeface="Arial" pitchFamily="34" charset="0"/>
                <a:cs typeface="Arial" pitchFamily="34" charset="0"/>
              </a:rPr>
              <a:t>Inflation is on the </a:t>
            </a:r>
            <a:r>
              <a:rPr lang="en-US" b="1" dirty="0" smtClean="0">
                <a:latin typeface="Arial" pitchFamily="34" charset="0"/>
                <a:cs typeface="Arial" pitchFamily="34" charset="0"/>
              </a:rPr>
              <a:t>headlines,</a:t>
            </a:r>
            <a:br>
              <a:rPr lang="en-US" b="1" dirty="0" smtClean="0">
                <a:latin typeface="Arial" pitchFamily="34" charset="0"/>
                <a:cs typeface="Arial" pitchFamily="34" charset="0"/>
              </a:rPr>
            </a:br>
            <a:r>
              <a:rPr lang="en-US" b="1" dirty="0" smtClean="0">
                <a:latin typeface="Arial" pitchFamily="34" charset="0"/>
                <a:cs typeface="Arial" pitchFamily="34" charset="0"/>
              </a:rPr>
              <a:t>day </a:t>
            </a:r>
            <a:r>
              <a:rPr lang="en-US" b="1" dirty="0" smtClean="0">
                <a:latin typeface="Arial" pitchFamily="34" charset="0"/>
                <a:cs typeface="Arial" pitchFamily="34" charset="0"/>
              </a:rPr>
              <a:t>in and day out. It is giving the government, industry and the common man sleepless nights. </a:t>
            </a:r>
          </a:p>
          <a:p>
            <a:pPr>
              <a:lnSpc>
                <a:spcPct val="150000"/>
              </a:lnSpc>
            </a:pPr>
            <a:r>
              <a:rPr lang="en-US" b="1" dirty="0" smtClean="0">
                <a:latin typeface="Arial" pitchFamily="34" charset="0"/>
                <a:cs typeface="Arial" pitchFamily="34" charset="0"/>
              </a:rPr>
              <a:t>RBI has raised interest </a:t>
            </a:r>
            <a:r>
              <a:rPr lang="en-US" b="1" dirty="0" smtClean="0">
                <a:latin typeface="Arial" pitchFamily="34" charset="0"/>
                <a:cs typeface="Arial" pitchFamily="34" charset="0"/>
              </a:rPr>
              <a:t>rates</a:t>
            </a:r>
            <a:br>
              <a:rPr lang="en-US" b="1" dirty="0" smtClean="0">
                <a:latin typeface="Arial" pitchFamily="34" charset="0"/>
                <a:cs typeface="Arial" pitchFamily="34" charset="0"/>
              </a:rPr>
            </a:br>
            <a:r>
              <a:rPr lang="en-US" b="1" dirty="0" smtClean="0">
                <a:latin typeface="Arial" pitchFamily="34" charset="0"/>
                <a:cs typeface="Arial" pitchFamily="34" charset="0"/>
              </a:rPr>
              <a:t>18 </a:t>
            </a:r>
            <a:r>
              <a:rPr lang="en-US" b="1" dirty="0" smtClean="0">
                <a:latin typeface="Arial" pitchFamily="34" charset="0"/>
                <a:cs typeface="Arial" pitchFamily="34" charset="0"/>
              </a:rPr>
              <a:t>times in a row</a:t>
            </a:r>
            <a:endParaRPr lang="en-US" b="1" dirty="0">
              <a:latin typeface="Arial" pitchFamily="34" charset="0"/>
              <a:cs typeface="Arial" pitchFamily="34" charset="0"/>
            </a:endParaRPr>
          </a:p>
        </p:txBody>
      </p:sp>
      <p:sp>
        <p:nvSpPr>
          <p:cNvPr id="4" name="TextBox 3"/>
          <p:cNvSpPr txBox="1"/>
          <p:nvPr/>
        </p:nvSpPr>
        <p:spPr>
          <a:xfrm>
            <a:off x="714348" y="498158"/>
            <a:ext cx="7242028"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WAGE PRICE SPIRAL</a:t>
            </a:r>
            <a:endParaRPr lang="en-US"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5" name="Rectangle 4"/>
          <p:cNvSpPr/>
          <p:nvPr/>
        </p:nvSpPr>
        <p:spPr>
          <a:xfrm>
            <a:off x="689064" y="1071546"/>
            <a:ext cx="7597712" cy="1703030"/>
          </a:xfrm>
          <a:prstGeom prst="rect">
            <a:avLst/>
          </a:prstGeom>
        </p:spPr>
        <p:txBody>
          <a:bodyPr wrap="square">
            <a:spAutoFit/>
          </a:bodyPr>
          <a:lstStyle/>
          <a:p>
            <a:pPr>
              <a:lnSpc>
                <a:spcPct val="150000"/>
              </a:lnSpc>
            </a:pPr>
            <a:r>
              <a:rPr lang="en-US" b="1" dirty="0" smtClean="0">
                <a:latin typeface="Arial" pitchFamily="34" charset="0"/>
                <a:cs typeface="Arial" pitchFamily="34" charset="0"/>
              </a:rPr>
              <a:t>It is also being said that inflation is now getting deep seated.</a:t>
            </a:r>
          </a:p>
          <a:p>
            <a:pPr>
              <a:lnSpc>
                <a:spcPct val="150000"/>
              </a:lnSpc>
            </a:pPr>
            <a:r>
              <a:rPr lang="en-US" b="1" dirty="0" smtClean="0">
                <a:latin typeface="Arial" pitchFamily="34" charset="0"/>
                <a:cs typeface="Arial" pitchFamily="34" charset="0"/>
              </a:rPr>
              <a:t>What does this mean</a:t>
            </a:r>
            <a:r>
              <a:rPr lang="en-US" b="1" dirty="0" smtClean="0">
                <a:latin typeface="Arial" pitchFamily="34" charset="0"/>
                <a:cs typeface="Arial" pitchFamily="34" charset="0"/>
              </a:rPr>
              <a:t>?</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Let’s understand.</a:t>
            </a:r>
            <a:endParaRPr lang="en-US" b="1" dirty="0">
              <a:latin typeface="Arial" pitchFamily="34" charset="0"/>
              <a:cs typeface="Arial" pitchFamily="34" charset="0"/>
            </a:endParaRPr>
          </a:p>
        </p:txBody>
      </p:sp>
      <p:sp>
        <p:nvSpPr>
          <p:cNvPr id="6" name="TextBox 5"/>
          <p:cNvSpPr txBox="1"/>
          <p:nvPr/>
        </p:nvSpPr>
        <p:spPr>
          <a:xfrm>
            <a:off x="714348" y="498158"/>
            <a:ext cx="7242028"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WAGE PRICE SPIRAL</a:t>
            </a:r>
            <a:endParaRPr lang="en-US" b="1" dirty="0">
              <a:solidFill>
                <a:schemeClr val="bg1"/>
              </a:solidFill>
              <a:latin typeface="Arial" pitchFamily="34" charset="0"/>
              <a:cs typeface="Arial" pitchFamily="34" charset="0"/>
            </a:endParaRPr>
          </a:p>
        </p:txBody>
      </p:sp>
    </p:spTree>
    <p:extLst>
      <p:ext uri="{BB962C8B-B14F-4D97-AF65-F5344CB8AC3E}">
        <p14:creationId xmlns="" xmlns:p14="http://schemas.microsoft.com/office/powerpoint/2010/main" val="311673311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3" name="Rectangle 2"/>
          <p:cNvSpPr/>
          <p:nvPr/>
        </p:nvSpPr>
        <p:spPr>
          <a:xfrm>
            <a:off x="3417022" y="1428736"/>
            <a:ext cx="3155242" cy="1338828"/>
          </a:xfrm>
          <a:prstGeom prst="rect">
            <a:avLst/>
          </a:prstGeom>
        </p:spPr>
        <p:txBody>
          <a:bodyPr wrap="square">
            <a:spAutoFit/>
          </a:bodyPr>
          <a:lstStyle/>
          <a:p>
            <a:pPr>
              <a:lnSpc>
                <a:spcPct val="150000"/>
              </a:lnSpc>
            </a:pPr>
            <a:r>
              <a:rPr lang="en-US" b="1" dirty="0" smtClean="0">
                <a:latin typeface="Arial" pitchFamily="34" charset="0"/>
                <a:cs typeface="Arial" pitchFamily="34" charset="0"/>
              </a:rPr>
              <a:t>Inflation is of two types. </a:t>
            </a:r>
          </a:p>
          <a:p>
            <a:pPr>
              <a:lnSpc>
                <a:spcPct val="150000"/>
              </a:lnSpc>
            </a:pPr>
            <a:r>
              <a:rPr lang="en-US" b="1" dirty="0" smtClean="0">
                <a:latin typeface="Arial" pitchFamily="34" charset="0"/>
                <a:cs typeface="Arial" pitchFamily="34" charset="0"/>
              </a:rPr>
              <a:t>1) Supply led inflation and</a:t>
            </a:r>
          </a:p>
          <a:p>
            <a:pPr>
              <a:lnSpc>
                <a:spcPct val="150000"/>
              </a:lnSpc>
            </a:pPr>
            <a:r>
              <a:rPr lang="en-US" b="1" dirty="0" smtClean="0">
                <a:latin typeface="Arial" pitchFamily="34" charset="0"/>
                <a:cs typeface="Arial" pitchFamily="34" charset="0"/>
              </a:rPr>
              <a:t>2) Demand led inflation. </a:t>
            </a:r>
            <a:endParaRPr lang="en-US" b="1" dirty="0">
              <a:latin typeface="Arial" pitchFamily="34" charset="0"/>
              <a:cs typeface="Arial" pitchFamily="34" charset="0"/>
            </a:endParaRPr>
          </a:p>
        </p:txBody>
      </p:sp>
      <p:sp>
        <p:nvSpPr>
          <p:cNvPr id="4" name="TextBox 3"/>
          <p:cNvSpPr txBox="1"/>
          <p:nvPr/>
        </p:nvSpPr>
        <p:spPr>
          <a:xfrm>
            <a:off x="714348" y="498158"/>
            <a:ext cx="7242028"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WAGE PRICE SPIRAL</a:t>
            </a:r>
            <a:endParaRPr lang="en-US"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7" name="TextBox 6"/>
          <p:cNvSpPr txBox="1"/>
          <p:nvPr/>
        </p:nvSpPr>
        <p:spPr>
          <a:xfrm>
            <a:off x="714348" y="498158"/>
            <a:ext cx="7242028"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WAGE PRICE SPIRAL</a:t>
            </a:r>
            <a:endParaRPr lang="en-US" b="1" dirty="0">
              <a:solidFill>
                <a:schemeClr val="bg1"/>
              </a:solidFill>
              <a:latin typeface="Arial" pitchFamily="34" charset="0"/>
              <a:cs typeface="Arial" pitchFamily="34" charset="0"/>
            </a:endParaRPr>
          </a:p>
        </p:txBody>
      </p:sp>
      <p:sp>
        <p:nvSpPr>
          <p:cNvPr id="8" name="Rectangle 7"/>
          <p:cNvSpPr/>
          <p:nvPr/>
        </p:nvSpPr>
        <p:spPr>
          <a:xfrm>
            <a:off x="642910" y="1142984"/>
            <a:ext cx="7500990" cy="1287532"/>
          </a:xfrm>
          <a:prstGeom prst="rect">
            <a:avLst/>
          </a:prstGeom>
        </p:spPr>
        <p:txBody>
          <a:bodyPr wrap="square">
            <a:spAutoFit/>
          </a:bodyPr>
          <a:lstStyle/>
          <a:p>
            <a:pPr>
              <a:lnSpc>
                <a:spcPct val="150000"/>
              </a:lnSpc>
            </a:pPr>
            <a:r>
              <a:rPr lang="en-US" b="1" dirty="0" smtClean="0">
                <a:solidFill>
                  <a:srgbClr val="000000"/>
                </a:solidFill>
                <a:latin typeface="Arial" pitchFamily="34" charset="0"/>
                <a:cs typeface="Arial" pitchFamily="34" charset="0"/>
              </a:rPr>
              <a:t>Simplistically put for taming “Supply” led inflation the solution is to increase the supply of goods in the system </a:t>
            </a:r>
            <a:r>
              <a:rPr lang="en-US" b="1" dirty="0" smtClean="0">
                <a:solidFill>
                  <a:srgbClr val="000000"/>
                </a:solidFill>
                <a:latin typeface="Arial" pitchFamily="34" charset="0"/>
                <a:cs typeface="Arial" pitchFamily="34" charset="0"/>
              </a:rPr>
              <a:t> </a:t>
            </a:r>
            <a:r>
              <a:rPr lang="en-US" b="1" dirty="0" smtClean="0">
                <a:solidFill>
                  <a:srgbClr val="000000"/>
                </a:solidFill>
                <a:latin typeface="Arial" pitchFamily="34" charset="0"/>
                <a:cs typeface="Arial" pitchFamily="34" charset="0"/>
              </a:rPr>
              <a:t>while </a:t>
            </a:r>
            <a:r>
              <a:rPr lang="en-US" b="1" dirty="0" smtClean="0">
                <a:solidFill>
                  <a:srgbClr val="000000"/>
                </a:solidFill>
                <a:latin typeface="Arial" pitchFamily="34" charset="0"/>
                <a:cs typeface="Arial" pitchFamily="34" charset="0"/>
              </a:rPr>
              <a:t>for </a:t>
            </a:r>
            <a:r>
              <a:rPr lang="en-US" b="1" dirty="0" smtClean="0">
                <a:solidFill>
                  <a:srgbClr val="000000"/>
                </a:solidFill>
                <a:latin typeface="Arial" pitchFamily="34" charset="0"/>
                <a:cs typeface="Arial" pitchFamily="34" charset="0"/>
              </a:rPr>
              <a:t>“Demand” led inflation the solution is in “raising interest rates</a:t>
            </a:r>
            <a:r>
              <a:rPr lang="en-US" b="1" dirty="0" smtClean="0">
                <a:solidFill>
                  <a:srgbClr val="000000"/>
                </a:solidFill>
                <a:latin typeface="Arial" pitchFamily="34" charset="0"/>
                <a:cs typeface="Arial" pitchFamily="34" charset="0"/>
              </a:rPr>
              <a:t>”.</a:t>
            </a:r>
            <a:endParaRPr lang="en-US" b="1" dirty="0" smtClean="0">
              <a:solidFill>
                <a:srgbClr val="000000"/>
              </a:solidFill>
              <a:latin typeface="Arial" pitchFamily="34" charset="0"/>
              <a:cs typeface="Arial" pitchFamily="34" charset="0"/>
            </a:endParaRPr>
          </a:p>
        </p:txBody>
      </p:sp>
    </p:spTree>
    <p:extLst>
      <p:ext uri="{BB962C8B-B14F-4D97-AF65-F5344CB8AC3E}">
        <p14:creationId xmlns="" xmlns:p14="http://schemas.microsoft.com/office/powerpoint/2010/main" val="311673311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3" cstate="print"/>
          <a:srcRect/>
          <a:stretch>
            <a:fillRect/>
          </a:stretch>
        </p:blipFill>
        <p:spPr bwMode="auto">
          <a:xfrm>
            <a:off x="0" y="27384"/>
            <a:ext cx="9144000" cy="6858000"/>
          </a:xfrm>
          <a:prstGeom prst="rect">
            <a:avLst/>
          </a:prstGeom>
          <a:noFill/>
        </p:spPr>
      </p:pic>
      <p:sp>
        <p:nvSpPr>
          <p:cNvPr id="7" name="TextBox 6"/>
          <p:cNvSpPr txBox="1"/>
          <p:nvPr/>
        </p:nvSpPr>
        <p:spPr>
          <a:xfrm>
            <a:off x="714348" y="498158"/>
            <a:ext cx="7242028"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WAGE PRICE SPIRAL</a:t>
            </a:r>
            <a:endParaRPr lang="en-US" b="1" dirty="0">
              <a:solidFill>
                <a:schemeClr val="bg1"/>
              </a:solidFill>
              <a:latin typeface="Arial" pitchFamily="34" charset="0"/>
              <a:cs typeface="Arial" pitchFamily="34" charset="0"/>
            </a:endParaRPr>
          </a:p>
        </p:txBody>
      </p:sp>
      <p:sp>
        <p:nvSpPr>
          <p:cNvPr id="9" name="Rectangle 8"/>
          <p:cNvSpPr/>
          <p:nvPr/>
        </p:nvSpPr>
        <p:spPr>
          <a:xfrm>
            <a:off x="714348" y="1142984"/>
            <a:ext cx="7572428" cy="872034"/>
          </a:xfrm>
          <a:prstGeom prst="rect">
            <a:avLst/>
          </a:prstGeom>
        </p:spPr>
        <p:txBody>
          <a:bodyPr wrap="square">
            <a:spAutoFit/>
          </a:bodyPr>
          <a:lstStyle/>
          <a:p>
            <a:pPr>
              <a:lnSpc>
                <a:spcPct val="150000"/>
              </a:lnSpc>
            </a:pPr>
            <a:r>
              <a:rPr lang="en-US" b="1" dirty="0" smtClean="0">
                <a:latin typeface="Arial" pitchFamily="34" charset="0"/>
                <a:cs typeface="Arial" pitchFamily="34" charset="0"/>
              </a:rPr>
              <a:t>While increasing production would require </a:t>
            </a:r>
            <a:r>
              <a:rPr lang="en-US" b="1" dirty="0" smtClean="0">
                <a:latin typeface="Arial" pitchFamily="34" charset="0"/>
                <a:cs typeface="Arial" pitchFamily="34" charset="0"/>
              </a:rPr>
              <a:t>a </a:t>
            </a:r>
            <a:r>
              <a:rPr lang="en-US" b="1" dirty="0" smtClean="0">
                <a:latin typeface="Arial" pitchFamily="34" charset="0"/>
                <a:cs typeface="Arial" pitchFamily="34" charset="0"/>
              </a:rPr>
              <a:t>higher lead time, </a:t>
            </a:r>
          </a:p>
          <a:p>
            <a:pPr>
              <a:lnSpc>
                <a:spcPct val="150000"/>
              </a:lnSpc>
            </a:pPr>
            <a:r>
              <a:rPr lang="en-US" b="1" dirty="0" smtClean="0">
                <a:latin typeface="Arial" pitchFamily="34" charset="0"/>
                <a:cs typeface="Arial" pitchFamily="34" charset="0"/>
              </a:rPr>
              <a:t>increasing interest rates can be implemented relatively faster</a:t>
            </a:r>
            <a:r>
              <a:rPr lang="en-US" b="1" dirty="0" smtClean="0">
                <a:latin typeface="Arial" pitchFamily="34" charset="0"/>
                <a:cs typeface="Arial" pitchFamily="34" charset="0"/>
              </a:rPr>
              <a:t>.</a:t>
            </a:r>
            <a:endParaRPr lang="en-US" b="1" dirty="0" smtClean="0">
              <a:latin typeface="Arial" pitchFamily="34" charset="0"/>
              <a:cs typeface="Arial" pitchFamily="34" charset="0"/>
            </a:endParaRPr>
          </a:p>
        </p:txBody>
      </p:sp>
    </p:spTree>
    <p:extLst>
      <p:ext uri="{BB962C8B-B14F-4D97-AF65-F5344CB8AC3E}">
        <p14:creationId xmlns="" xmlns:p14="http://schemas.microsoft.com/office/powerpoint/2010/main" val="311673311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3" cstate="print"/>
          <a:srcRect/>
          <a:stretch>
            <a:fillRect/>
          </a:stretch>
        </p:blipFill>
        <p:spPr bwMode="auto">
          <a:xfrm>
            <a:off x="0" y="27384"/>
            <a:ext cx="9144000" cy="6858000"/>
          </a:xfrm>
          <a:prstGeom prst="rect">
            <a:avLst/>
          </a:prstGeom>
          <a:noFill/>
        </p:spPr>
      </p:pic>
      <p:sp>
        <p:nvSpPr>
          <p:cNvPr id="7" name="TextBox 6"/>
          <p:cNvSpPr txBox="1"/>
          <p:nvPr/>
        </p:nvSpPr>
        <p:spPr>
          <a:xfrm>
            <a:off x="714348" y="498158"/>
            <a:ext cx="7242028"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WAGE PRICE SPIRAL</a:t>
            </a:r>
            <a:endParaRPr lang="en-US" b="1" dirty="0">
              <a:solidFill>
                <a:schemeClr val="bg1"/>
              </a:solidFill>
              <a:latin typeface="Arial" pitchFamily="34" charset="0"/>
              <a:cs typeface="Arial" pitchFamily="34" charset="0"/>
            </a:endParaRPr>
          </a:p>
        </p:txBody>
      </p:sp>
      <p:sp>
        <p:nvSpPr>
          <p:cNvPr id="9" name="Rectangle 8"/>
          <p:cNvSpPr/>
          <p:nvPr/>
        </p:nvSpPr>
        <p:spPr>
          <a:xfrm>
            <a:off x="714348" y="1142984"/>
            <a:ext cx="7286676" cy="880369"/>
          </a:xfrm>
          <a:prstGeom prst="rect">
            <a:avLst/>
          </a:prstGeom>
        </p:spPr>
        <p:txBody>
          <a:bodyPr wrap="square">
            <a:spAutoFit/>
          </a:bodyPr>
          <a:lstStyle/>
          <a:p>
            <a:pPr>
              <a:lnSpc>
                <a:spcPct val="150000"/>
              </a:lnSpc>
            </a:pPr>
            <a:r>
              <a:rPr lang="en-US" b="1" dirty="0" smtClean="0">
                <a:latin typeface="Arial" pitchFamily="34" charset="0"/>
                <a:cs typeface="Arial" pitchFamily="34" charset="0"/>
              </a:rPr>
              <a:t>However we have seen now that despite of  several rate hikes, inflation doesn’t seem to come down satisfactorily</a:t>
            </a:r>
            <a:r>
              <a:rPr lang="en-US" b="1" dirty="0" smtClean="0">
                <a:latin typeface="Arial" pitchFamily="34" charset="0"/>
                <a:cs typeface="Arial" pitchFamily="34" charset="0"/>
              </a:rPr>
              <a:t>.</a:t>
            </a:r>
            <a:endParaRPr lang="en-US" b="1" dirty="0" smtClean="0">
              <a:latin typeface="Arial" pitchFamily="34" charset="0"/>
              <a:cs typeface="Arial" pitchFamily="34" charset="0"/>
            </a:endParaRPr>
          </a:p>
        </p:txBody>
      </p:sp>
    </p:spTree>
    <p:extLst>
      <p:ext uri="{BB962C8B-B14F-4D97-AF65-F5344CB8AC3E}">
        <p14:creationId xmlns="" xmlns:p14="http://schemas.microsoft.com/office/powerpoint/2010/main" val="311673311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071934" y="5143512"/>
            <a:ext cx="3786214" cy="464871"/>
          </a:xfrm>
          <a:prstGeom prst="rect">
            <a:avLst/>
          </a:prstGeom>
        </p:spPr>
        <p:txBody>
          <a:bodyPr wrap="square">
            <a:spAutoFit/>
          </a:bodyPr>
          <a:lstStyle/>
          <a:p>
            <a:pPr>
              <a:lnSpc>
                <a:spcPct val="150000"/>
              </a:lnSpc>
            </a:pPr>
            <a:r>
              <a:rPr lang="en-US" b="1" dirty="0" smtClean="0">
                <a:latin typeface="Arial" pitchFamily="34" charset="0"/>
                <a:cs typeface="Arial" pitchFamily="34" charset="0"/>
              </a:rPr>
              <a:t>So what does one do?</a:t>
            </a:r>
            <a:endParaRPr lang="en-US" b="1" dirty="0">
              <a:latin typeface="Arial" pitchFamily="34" charset="0"/>
              <a:cs typeface="Arial" pitchFamily="34" charset="0"/>
            </a:endParaRPr>
          </a:p>
        </p:txBody>
      </p:sp>
      <p:sp>
        <p:nvSpPr>
          <p:cNvPr id="4" name="TextBox 3"/>
          <p:cNvSpPr txBox="1"/>
          <p:nvPr/>
        </p:nvSpPr>
        <p:spPr>
          <a:xfrm>
            <a:off x="714348" y="498158"/>
            <a:ext cx="7242028"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WAGE PRICE SPIRAL</a:t>
            </a:r>
            <a:endParaRPr lang="en-US"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6" name="Rectangle 5"/>
          <p:cNvSpPr/>
          <p:nvPr/>
        </p:nvSpPr>
        <p:spPr>
          <a:xfrm>
            <a:off x="714348" y="1142984"/>
            <a:ext cx="7215238" cy="3000821"/>
          </a:xfrm>
          <a:prstGeom prst="rect">
            <a:avLst/>
          </a:prstGeom>
        </p:spPr>
        <p:txBody>
          <a:bodyPr wrap="square">
            <a:spAutoFit/>
          </a:bodyPr>
          <a:lstStyle/>
          <a:p>
            <a:pPr>
              <a:lnSpc>
                <a:spcPct val="150000"/>
              </a:lnSpc>
            </a:pPr>
            <a:r>
              <a:rPr lang="en-US" b="1" dirty="0" smtClean="0">
                <a:latin typeface="Arial" pitchFamily="34" charset="0"/>
                <a:cs typeface="Arial" pitchFamily="34" charset="0"/>
              </a:rPr>
              <a:t>Due to inflationary expectations where people start to panic. This leads them to demand higher wages. Under such pressure organizations tend to increase wages. However more money in the hands of people only adds to inflation causing prices to rise further. Thus inflationary expectations continues unabated causing further panic and demands for wage hikes leading into a self perpetuating cycle of wage hikes and inflation and so on.</a:t>
            </a:r>
            <a:endParaRPr lang="en-US" b="1" dirty="0">
              <a:latin typeface="Arial" pitchFamily="34" charset="0"/>
              <a:cs typeface="Arial" pitchFamily="34" charset="0"/>
            </a:endParaRPr>
          </a:p>
        </p:txBody>
      </p:sp>
      <p:sp>
        <p:nvSpPr>
          <p:cNvPr id="5" name="TextBox 4"/>
          <p:cNvSpPr txBox="1"/>
          <p:nvPr/>
        </p:nvSpPr>
        <p:spPr>
          <a:xfrm>
            <a:off x="714348" y="498158"/>
            <a:ext cx="7242028"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WAGE PRICE SPIRAL</a:t>
            </a:r>
            <a:endParaRPr lang="en-US" b="1" dirty="0">
              <a:solidFill>
                <a:schemeClr val="bg1"/>
              </a:solidFill>
              <a:latin typeface="Arial" pitchFamily="34" charset="0"/>
              <a:cs typeface="Arial" pitchFamily="34" charset="0"/>
            </a:endParaRPr>
          </a:p>
        </p:txBody>
      </p:sp>
    </p:spTree>
    <p:extLst>
      <p:ext uri="{BB962C8B-B14F-4D97-AF65-F5344CB8AC3E}">
        <p14:creationId xmlns="" xmlns:p14="http://schemas.microsoft.com/office/powerpoint/2010/main" val="311673311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6" name="Rectangle 5"/>
          <p:cNvSpPr/>
          <p:nvPr/>
        </p:nvSpPr>
        <p:spPr>
          <a:xfrm>
            <a:off x="714348" y="1142984"/>
            <a:ext cx="7358114" cy="1295868"/>
          </a:xfrm>
          <a:prstGeom prst="rect">
            <a:avLst/>
          </a:prstGeom>
        </p:spPr>
        <p:txBody>
          <a:bodyPr wrap="square">
            <a:spAutoFit/>
          </a:bodyPr>
          <a:lstStyle/>
          <a:p>
            <a:pPr>
              <a:lnSpc>
                <a:spcPct val="150000"/>
              </a:lnSpc>
            </a:pPr>
            <a:r>
              <a:rPr lang="en-US" b="1" dirty="0" smtClean="0">
                <a:latin typeface="Arial" pitchFamily="34" charset="0"/>
                <a:cs typeface="Arial" pitchFamily="34" charset="0"/>
              </a:rPr>
              <a:t>This self perpetuating cycle of rising inflation followed by rising wages and then again rising inflation and so on is known as the</a:t>
            </a:r>
          </a:p>
          <a:p>
            <a:pPr>
              <a:lnSpc>
                <a:spcPct val="150000"/>
              </a:lnSpc>
            </a:pPr>
            <a:r>
              <a:rPr lang="en-US" b="1" dirty="0" smtClean="0">
                <a:latin typeface="Arial" pitchFamily="34" charset="0"/>
                <a:cs typeface="Arial" pitchFamily="34" charset="0"/>
              </a:rPr>
              <a:t>Wage Price Spiral. </a:t>
            </a:r>
            <a:endParaRPr lang="en-US" b="1" dirty="0">
              <a:latin typeface="Arial" pitchFamily="34" charset="0"/>
              <a:cs typeface="Arial" pitchFamily="34" charset="0"/>
            </a:endParaRPr>
          </a:p>
        </p:txBody>
      </p:sp>
      <p:sp>
        <p:nvSpPr>
          <p:cNvPr id="5" name="TextBox 4"/>
          <p:cNvSpPr txBox="1"/>
          <p:nvPr/>
        </p:nvSpPr>
        <p:spPr>
          <a:xfrm>
            <a:off x="714348" y="498158"/>
            <a:ext cx="7242028"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WAGE PRICE SPIRAL</a:t>
            </a:r>
            <a:endParaRPr lang="en-US" b="1" dirty="0">
              <a:solidFill>
                <a:schemeClr val="bg1"/>
              </a:solidFill>
              <a:latin typeface="Arial" pitchFamily="34" charset="0"/>
              <a:cs typeface="Arial" pitchFamily="34" charset="0"/>
            </a:endParaRPr>
          </a:p>
        </p:txBody>
      </p:sp>
    </p:spTree>
    <p:extLst>
      <p:ext uri="{BB962C8B-B14F-4D97-AF65-F5344CB8AC3E}">
        <p14:creationId xmlns="" xmlns:p14="http://schemas.microsoft.com/office/powerpoint/2010/main" val="311673311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214810" y="5006000"/>
            <a:ext cx="4071966" cy="923330"/>
          </a:xfrm>
          <a:prstGeom prst="rect">
            <a:avLst/>
          </a:prstGeom>
        </p:spPr>
        <p:txBody>
          <a:bodyPr wrap="square">
            <a:spAutoFit/>
          </a:bodyPr>
          <a:lstStyle/>
          <a:p>
            <a:pPr>
              <a:lnSpc>
                <a:spcPct val="150000"/>
              </a:lnSpc>
            </a:pPr>
            <a:r>
              <a:rPr lang="en-US" b="1" dirty="0" smtClean="0">
                <a:latin typeface="Arial" pitchFamily="34" charset="0"/>
                <a:cs typeface="Arial" pitchFamily="34" charset="0"/>
              </a:rPr>
              <a:t>Hope this story has further clarified the meaning of wage price spiral</a:t>
            </a:r>
          </a:p>
        </p:txBody>
      </p:sp>
      <p:sp>
        <p:nvSpPr>
          <p:cNvPr id="4" name="TextBox 3"/>
          <p:cNvSpPr txBox="1"/>
          <p:nvPr/>
        </p:nvSpPr>
        <p:spPr>
          <a:xfrm>
            <a:off x="714348" y="498158"/>
            <a:ext cx="7242028"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WAGE PRICE SPIRAL</a:t>
            </a:r>
            <a:endParaRPr lang="en-US"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10705" y="-1"/>
            <a:ext cx="9144000" cy="6858001"/>
            <a:chOff x="0" y="-1"/>
            <a:chExt cx="9144000" cy="6858001"/>
          </a:xfrm>
        </p:grpSpPr>
        <p:pic>
          <p:nvPicPr>
            <p:cNvPr id="9" name="Picture 2" descr="C:\Users\manisha\Desktop\From Rajni\Jpegs_blank\PSS_LESSONS_PG4.jpg"/>
            <p:cNvPicPr>
              <a:picLocks noChangeAspect="1" noChangeArrowheads="1"/>
            </p:cNvPicPr>
            <p:nvPr/>
          </p:nvPicPr>
          <p:blipFill>
            <a:blip r:embed="rId3" cstate="print"/>
            <a:srcRect/>
            <a:stretch>
              <a:fillRect/>
            </a:stretch>
          </p:blipFill>
          <p:spPr bwMode="auto">
            <a:xfrm>
              <a:off x="0" y="-1"/>
              <a:ext cx="9144000" cy="6858001"/>
            </a:xfrm>
            <a:prstGeom prst="rect">
              <a:avLst/>
            </a:prstGeom>
            <a:noFill/>
          </p:spPr>
        </p:pic>
        <p:pic>
          <p:nvPicPr>
            <p:cNvPr id="10" name="Picture 23" descr="TMF Logo New.jpg"/>
            <p:cNvPicPr>
              <a:picLocks noChangeAspect="1"/>
            </p:cNvPicPr>
            <p:nvPr/>
          </p:nvPicPr>
          <p:blipFill>
            <a:blip r:embed="rId4" cstate="print"/>
            <a:srcRect/>
            <a:stretch>
              <a:fillRect/>
            </a:stretch>
          </p:blipFill>
          <p:spPr bwMode="auto">
            <a:xfrm>
              <a:off x="7773739" y="285750"/>
              <a:ext cx="974725" cy="681038"/>
            </a:xfrm>
            <a:prstGeom prst="rect">
              <a:avLst/>
            </a:prstGeom>
            <a:noFill/>
            <a:ln w="9525">
              <a:noFill/>
              <a:miter lim="800000"/>
              <a:headEnd/>
              <a:tailEnd/>
            </a:ln>
          </p:spPr>
        </p:pic>
      </p:grpSp>
      <p:sp>
        <p:nvSpPr>
          <p:cNvPr id="2" name="Rectangle 1"/>
          <p:cNvSpPr/>
          <p:nvPr/>
        </p:nvSpPr>
        <p:spPr>
          <a:xfrm>
            <a:off x="1000100" y="1928802"/>
            <a:ext cx="4032448" cy="935769"/>
          </a:xfrm>
          <a:prstGeom prst="rect">
            <a:avLst/>
          </a:prstGeom>
        </p:spPr>
        <p:txBody>
          <a:bodyPr wrap="square">
            <a:spAutoFit/>
          </a:bodyPr>
          <a:lstStyle/>
          <a:p>
            <a:pPr marL="342900" indent="-342900" algn="ctr">
              <a:lnSpc>
                <a:spcPct val="150000"/>
              </a:lnSpc>
              <a:spcBef>
                <a:spcPct val="20000"/>
              </a:spcBef>
            </a:pPr>
            <a:r>
              <a:rPr lang="en-US" b="1" dirty="0" smtClean="0">
                <a:latin typeface="Arial" pitchFamily="34" charset="0"/>
                <a:cs typeface="Arial" pitchFamily="34" charset="0"/>
              </a:rPr>
              <a:t>Please give us your feedback at </a:t>
            </a:r>
          </a:p>
          <a:p>
            <a:pPr marL="342900" indent="-342900" algn="ctr">
              <a:lnSpc>
                <a:spcPct val="150000"/>
              </a:lnSpc>
              <a:spcBef>
                <a:spcPct val="20000"/>
              </a:spcBef>
            </a:pPr>
            <a:r>
              <a:rPr lang="en-US" b="1" dirty="0" smtClean="0">
                <a:latin typeface="Arial" pitchFamily="34" charset="0"/>
                <a:cs typeface="Arial" pitchFamily="34" charset="0"/>
                <a:hlinkClick r:id="rId5"/>
              </a:rPr>
              <a:t>professor@tataamc.com</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Arial" pitchFamily="34" charset="0"/>
              <a:cs typeface="Arial" pitchFamily="34" charset="0"/>
            </a:endParaRPr>
          </a:p>
        </p:txBody>
      </p:sp>
      <p:sp>
        <p:nvSpPr>
          <p:cNvPr id="3" name="Content Placeholder 2"/>
          <p:cNvSpPr>
            <a:spLocks noGrp="1"/>
          </p:cNvSpPr>
          <p:nvPr>
            <p:ph idx="1"/>
          </p:nvPr>
        </p:nvSpPr>
        <p:spPr/>
        <p:txBody>
          <a:bodyPr/>
          <a:lstStyle/>
          <a:p>
            <a:endParaRPr lang="en-US">
              <a:latin typeface="Arial" pitchFamily="34" charset="0"/>
              <a:cs typeface="Arial" pitchFamily="34" charset="0"/>
            </a:endParaRPr>
          </a:p>
        </p:txBody>
      </p:sp>
      <p:pic>
        <p:nvPicPr>
          <p:cNvPr id="1026"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200" b="1" dirty="0">
              <a:solidFill>
                <a:schemeClr val="bg1"/>
              </a:solidFill>
              <a:latin typeface="Arial" pitchFamily="34" charset="0"/>
              <a:cs typeface="Arial" pitchFamily="34" charset="0"/>
            </a:endParaRPr>
          </a:p>
        </p:txBody>
      </p:sp>
      <p:pic>
        <p:nvPicPr>
          <p:cNvPr id="10"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1"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smtClean="0">
                <a:solidFill>
                  <a:schemeClr val="bg1"/>
                </a:solidFill>
                <a:latin typeface="Arial" pitchFamily="34" charset="0"/>
                <a:cs typeface="Arial" pitchFamily="34" charset="0"/>
              </a:rPr>
              <a:t>DISCLAIMER</a:t>
            </a:r>
            <a:endParaRPr lang="en-US" sz="2200" b="1" dirty="0">
              <a:solidFill>
                <a:schemeClr val="bg1"/>
              </a:solidFill>
              <a:latin typeface="Arial" pitchFamily="34" charset="0"/>
              <a:cs typeface="Arial" pitchFamily="34" charset="0"/>
            </a:endParaRPr>
          </a:p>
        </p:txBody>
      </p:sp>
      <p:sp>
        <p:nvSpPr>
          <p:cNvPr id="12" name="Rectangle 11"/>
          <p:cNvSpPr/>
          <p:nvPr/>
        </p:nvSpPr>
        <p:spPr>
          <a:xfrm>
            <a:off x="914400" y="1040857"/>
            <a:ext cx="7315200" cy="3093154"/>
          </a:xfrm>
          <a:prstGeom prst="rect">
            <a:avLst/>
          </a:prstGeom>
        </p:spPr>
        <p:txBody>
          <a:bodyPr wrap="square">
            <a:spAutoFit/>
          </a:bodyPr>
          <a:lstStyle/>
          <a:p>
            <a:pPr indent="-1588" algn="just">
              <a:lnSpc>
                <a:spcPct val="150000"/>
              </a:lnSpc>
              <a:buFontTx/>
              <a:buNone/>
            </a:pPr>
            <a:r>
              <a:rPr lang="en-US" sz="1300" b="1" dirty="0" smtClean="0">
                <a:latin typeface="Arial" pitchFamily="34" charset="0"/>
                <a:cs typeface="Arial" pitchFamily="34" charset="0"/>
              </a:rPr>
              <a:t>The views expressed in this lesson are for information purposes only and do not construe to be any investment, legal or taxation advice. The lesson is a conceptual representation and may not include several nuances that are associated and vital. The purpose of this lesson is to clarify the basics of the concept so that readers at large can relate and thereby take more interest in the product / concept. In a nutshell, Professor Simply Simple lessons should be seen from the perspective of it being a primer on financial concepts. The contents are topical in nature and held true at the time of creation of the lesson. This is not indicative of future market trends, nor is Tata Asset Management Ltd. attempting to predict the same. Reprinting any part of this material will be at your own risk. Tata Asset Management Ltd. will not be liable for the consequences of such action.</a:t>
            </a:r>
          </a:p>
        </p:txBody>
      </p:sp>
      <p:sp>
        <p:nvSpPr>
          <p:cNvPr id="13" name="Rectangle 12"/>
          <p:cNvSpPr/>
          <p:nvPr/>
        </p:nvSpPr>
        <p:spPr>
          <a:xfrm>
            <a:off x="990600" y="4529909"/>
            <a:ext cx="7162800" cy="923330"/>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Mutual Fund investments are subject to market risks,</a:t>
            </a:r>
            <a:br>
              <a:rPr lang="en-US" b="1" dirty="0" smtClean="0">
                <a:latin typeface="Arial" pitchFamily="34" charset="0"/>
                <a:cs typeface="Arial" pitchFamily="34" charset="0"/>
              </a:rPr>
            </a:br>
            <a:r>
              <a:rPr lang="en-US" b="1" dirty="0" smtClean="0">
                <a:latin typeface="Arial" pitchFamily="34" charset="0"/>
                <a:cs typeface="Arial" pitchFamily="34" charset="0"/>
              </a:rPr>
              <a:t>read all scheme related documents carefully.</a:t>
            </a:r>
            <a:endParaRPr lang="en-US" dirty="0">
              <a:latin typeface="Arial" pitchFamily="34" charset="0"/>
              <a:cs typeface="Arial" pitchFamily="34" charset="0"/>
            </a:endParaRPr>
          </a:p>
        </p:txBody>
      </p:sp>
      <p:cxnSp>
        <p:nvCxnSpPr>
          <p:cNvPr id="15" name="Straight Connector 14"/>
          <p:cNvCxnSpPr/>
          <p:nvPr/>
        </p:nvCxnSpPr>
        <p:spPr>
          <a:xfrm>
            <a:off x="914400" y="4331960"/>
            <a:ext cx="73152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3609</TotalTime>
  <Words>461</Words>
  <Application>Microsoft Office PowerPoint</Application>
  <PresentationFormat>On-screen Show (4:3)</PresentationFormat>
  <Paragraphs>39</Paragraphs>
  <Slides>14</Slides>
  <Notes>3</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manisha</dc:creator>
  <cp:lastModifiedBy>Mangesh</cp:lastModifiedBy>
  <cp:revision>503</cp:revision>
  <dcterms:created xsi:type="dcterms:W3CDTF">2013-10-22T09:41:31Z</dcterms:created>
  <dcterms:modified xsi:type="dcterms:W3CDTF">2014-03-09T00:26:12Z</dcterms:modified>
</cp:coreProperties>
</file>