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358" r:id="rId3"/>
    <p:sldId id="353" r:id="rId4"/>
    <p:sldId id="411" r:id="rId5"/>
    <p:sldId id="318" r:id="rId6"/>
    <p:sldId id="394" r:id="rId7"/>
    <p:sldId id="395" r:id="rId8"/>
    <p:sldId id="396" r:id="rId9"/>
    <p:sldId id="397" r:id="rId10"/>
    <p:sldId id="398" r:id="rId11"/>
    <p:sldId id="385" r:id="rId12"/>
    <p:sldId id="287" r:id="rId13"/>
    <p:sldId id="273"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p:scale>
          <a:sx n="61" d="100"/>
          <a:sy n="61" d="100"/>
        </p:scale>
        <p:origin x="-1398" y="-9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9/22/2014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9/22/2014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9/22/2014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9/22/2014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9/22/2014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9/22/2014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9/22/2014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9/22/2014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80928"/>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FISCAL CONSOLIDATION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475656" y="1628800"/>
            <a:ext cx="3312368" cy="1287532"/>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Understanding “Fiscal Consolidation”</a:t>
            </a:r>
          </a:p>
          <a:p>
            <a:pPr>
              <a:lnSpc>
                <a:spcPct val="150000"/>
              </a:lnSpc>
            </a:pPr>
            <a:r>
              <a:rPr lang="en-US" b="1" dirty="0" smtClean="0">
                <a:latin typeface="Arial" pitchFamily="34" charset="0"/>
                <a:cs typeface="Arial" pitchFamily="34" charset="0"/>
              </a:rPr>
              <a:t>–  </a:t>
            </a:r>
            <a:r>
              <a:rPr lang="en-US" b="1" dirty="0">
                <a:latin typeface="Arial" pitchFamily="34" charset="0"/>
                <a:cs typeface="Arial" pitchFamily="34" charset="0"/>
              </a:rPr>
              <a:t>By Prof. </a:t>
            </a:r>
            <a:r>
              <a:rPr lang="en-US" b="1" i="1" dirty="0">
                <a:latin typeface="Arial" pitchFamily="34" charset="0"/>
                <a:cs typeface="Arial" pitchFamily="34" charset="0"/>
              </a:rPr>
              <a:t>Simply</a:t>
            </a:r>
            <a:r>
              <a:rPr lang="en-US" b="1" dirty="0">
                <a:latin typeface="Arial" pitchFamily="34" charset="0"/>
                <a:cs typeface="Arial" pitchFamily="34" charset="0"/>
              </a:rPr>
              <a:t> Simple </a:t>
            </a:r>
            <a:r>
              <a:rPr lang="en-US" b="1" baseline="70000" dirty="0">
                <a:latin typeface="Arial" pitchFamily="34" charset="0"/>
                <a:cs typeface="Arial" pitchFamily="34" charset="0"/>
              </a:rPr>
              <a:t>TM</a:t>
            </a: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86648" y="4482986"/>
            <a:ext cx="4301776" cy="1754326"/>
          </a:xfrm>
          <a:prstGeom prst="rect">
            <a:avLst/>
          </a:prstGeom>
        </p:spPr>
        <p:txBody>
          <a:bodyPr wrap="square">
            <a:spAutoFit/>
          </a:bodyPr>
          <a:lstStyle/>
          <a:p>
            <a:pPr>
              <a:lnSpc>
                <a:spcPct val="150000"/>
              </a:lnSpc>
            </a:pPr>
            <a:r>
              <a:rPr lang="en-US" b="1" dirty="0">
                <a:latin typeface="Arial" pitchFamily="34" charset="0"/>
                <a:cs typeface="Arial" pitchFamily="34" charset="0"/>
              </a:rPr>
              <a:t>Fiscal Consolidation is one </a:t>
            </a:r>
            <a:r>
              <a:rPr lang="en-US" b="1" dirty="0" smtClean="0">
                <a:latin typeface="Arial" pitchFamily="34" charset="0"/>
                <a:cs typeface="Arial" pitchFamily="34" charset="0"/>
              </a:rPr>
              <a:t>word</a:t>
            </a:r>
            <a:br>
              <a:rPr lang="en-US" b="1" dirty="0" smtClean="0">
                <a:latin typeface="Arial" pitchFamily="34" charset="0"/>
                <a:cs typeface="Arial" pitchFamily="34" charset="0"/>
              </a:rPr>
            </a:br>
            <a:r>
              <a:rPr lang="en-US" b="1" dirty="0" smtClean="0">
                <a:latin typeface="Arial" pitchFamily="34" charset="0"/>
                <a:cs typeface="Arial" pitchFamily="34" charset="0"/>
              </a:rPr>
              <a:t>that </a:t>
            </a:r>
            <a:r>
              <a:rPr lang="en-US" b="1" dirty="0">
                <a:latin typeface="Arial" pitchFamily="34" charset="0"/>
                <a:cs typeface="Arial" pitchFamily="34" charset="0"/>
              </a:rPr>
              <a:t>often appears in columns </a:t>
            </a:r>
            <a:r>
              <a:rPr lang="en-US" b="1" dirty="0" smtClean="0">
                <a:latin typeface="Arial" pitchFamily="34" charset="0"/>
                <a:cs typeface="Arial" pitchFamily="34" charset="0"/>
              </a:rPr>
              <a:t>of</a:t>
            </a:r>
            <a:br>
              <a:rPr lang="en-US" b="1" dirty="0" smtClean="0">
                <a:latin typeface="Arial" pitchFamily="34" charset="0"/>
                <a:cs typeface="Arial" pitchFamily="34" charset="0"/>
              </a:rPr>
            </a:br>
            <a:r>
              <a:rPr lang="en-US" b="1" dirty="0" smtClean="0">
                <a:latin typeface="Arial" pitchFamily="34" charset="0"/>
                <a:cs typeface="Arial" pitchFamily="34" charset="0"/>
              </a:rPr>
              <a:t>pink </a:t>
            </a:r>
            <a:r>
              <a:rPr lang="en-US" b="1" dirty="0">
                <a:latin typeface="Arial" pitchFamily="34" charset="0"/>
                <a:cs typeface="Arial" pitchFamily="34" charset="0"/>
              </a:rPr>
              <a:t>papers. So I </a:t>
            </a:r>
            <a:r>
              <a:rPr lang="en-US" b="1" dirty="0" smtClean="0">
                <a:latin typeface="Arial" pitchFamily="34" charset="0"/>
                <a:cs typeface="Arial" pitchFamily="34" charset="0"/>
              </a:rPr>
              <a:t>thought</a:t>
            </a:r>
            <a:br>
              <a:rPr lang="en-US" b="1" dirty="0" smtClean="0">
                <a:latin typeface="Arial" pitchFamily="34" charset="0"/>
                <a:cs typeface="Arial" pitchFamily="34" charset="0"/>
              </a:rPr>
            </a:br>
            <a:r>
              <a:rPr lang="en-US" b="1" dirty="0" smtClean="0">
                <a:latin typeface="Arial" pitchFamily="34" charset="0"/>
                <a:cs typeface="Arial" pitchFamily="34" charset="0"/>
              </a:rPr>
              <a:t>we </a:t>
            </a:r>
            <a:r>
              <a:rPr lang="en-US" b="1" dirty="0">
                <a:latin typeface="Arial" pitchFamily="34" charset="0"/>
                <a:cs typeface="Arial" pitchFamily="34" charset="0"/>
              </a:rPr>
              <a:t>should bust this jargon</a:t>
            </a: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CONSOLIDATION</a:t>
            </a:r>
          </a:p>
        </p:txBody>
      </p:sp>
    </p:spTree>
    <p:extLst>
      <p:ext uri="{BB962C8B-B14F-4D97-AF65-F5344CB8AC3E}">
        <p14:creationId xmlns:p14="http://schemas.microsoft.com/office/powerpoint/2010/main" xmlns="" val="11981463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2915816" y="1170618"/>
            <a:ext cx="4341094" cy="1713354"/>
          </a:xfrm>
          <a:prstGeom prst="rect">
            <a:avLst/>
          </a:prstGeom>
        </p:spPr>
        <p:txBody>
          <a:bodyPr wrap="square">
            <a:spAutoFit/>
          </a:bodyPr>
          <a:lstStyle/>
          <a:p>
            <a:pPr>
              <a:lnSpc>
                <a:spcPct val="150000"/>
              </a:lnSpc>
            </a:pPr>
            <a:r>
              <a:rPr lang="en-US" b="1" dirty="0">
                <a:latin typeface="Arial" pitchFamily="34" charset="0"/>
                <a:cs typeface="Arial" pitchFamily="34" charset="0"/>
              </a:rPr>
              <a:t>Let me tell you a story of 2 brothers Karan and </a:t>
            </a:r>
            <a:r>
              <a:rPr lang="en-US" b="1" dirty="0" err="1">
                <a:latin typeface="Arial" pitchFamily="34" charset="0"/>
                <a:cs typeface="Arial" pitchFamily="34" charset="0"/>
              </a:rPr>
              <a:t>Arjun</a:t>
            </a:r>
            <a:r>
              <a:rPr lang="en-US" b="1" dirty="0">
                <a:latin typeface="Arial" pitchFamily="34" charset="0"/>
                <a:cs typeface="Arial" pitchFamily="34" charset="0"/>
              </a:rPr>
              <a:t> both of whom were educated and did well in their jobs respectively.</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CONSOLIDATION</a:t>
            </a:r>
          </a:p>
        </p:txBody>
      </p:sp>
    </p:spTree>
    <p:extLst>
      <p:ext uri="{BB962C8B-B14F-4D97-AF65-F5344CB8AC3E}">
        <p14:creationId xmlns:p14="http://schemas.microsoft.com/office/powerpoint/2010/main" xmlns="" val="7651998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CONSOLIDATION</a:t>
            </a:r>
          </a:p>
        </p:txBody>
      </p:sp>
      <p:sp>
        <p:nvSpPr>
          <p:cNvPr id="3" name="Rectangle 2"/>
          <p:cNvSpPr/>
          <p:nvPr/>
        </p:nvSpPr>
        <p:spPr>
          <a:xfrm>
            <a:off x="714348" y="1124744"/>
            <a:ext cx="7386044" cy="1712200"/>
          </a:xfrm>
          <a:prstGeom prst="rect">
            <a:avLst/>
          </a:prstGeom>
        </p:spPr>
        <p:txBody>
          <a:bodyPr wrap="square">
            <a:spAutoFit/>
          </a:bodyPr>
          <a:lstStyle/>
          <a:p>
            <a:pPr>
              <a:lnSpc>
                <a:spcPct val="150000"/>
              </a:lnSpc>
            </a:pPr>
            <a:r>
              <a:rPr lang="en-US" b="1" dirty="0">
                <a:latin typeface="Arial" pitchFamily="34" charset="0"/>
                <a:cs typeface="Arial" pitchFamily="34" charset="0"/>
              </a:rPr>
              <a:t>However, two years back Karan lost his job. All of a sudden his world changed. He had to start making compromises in his day to day life. He was also considering to discontinue the education of his children</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CONSOLIDATION</a:t>
            </a:r>
          </a:p>
        </p:txBody>
      </p:sp>
      <p:sp>
        <p:nvSpPr>
          <p:cNvPr id="3" name="Rectangle 2"/>
          <p:cNvSpPr/>
          <p:nvPr/>
        </p:nvSpPr>
        <p:spPr>
          <a:xfrm>
            <a:off x="714348" y="1124744"/>
            <a:ext cx="7386044" cy="216982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But, </a:t>
            </a:r>
            <a:r>
              <a:rPr lang="en-US" b="1" dirty="0">
                <a:latin typeface="Arial" pitchFamily="34" charset="0"/>
                <a:cs typeface="Arial" pitchFamily="34" charset="0"/>
              </a:rPr>
              <a:t>fortunately </a:t>
            </a:r>
            <a:r>
              <a:rPr lang="en-US" b="1" dirty="0" err="1">
                <a:latin typeface="Arial" pitchFamily="34" charset="0"/>
                <a:cs typeface="Arial" pitchFamily="34" charset="0"/>
              </a:rPr>
              <a:t>Arjun</a:t>
            </a:r>
            <a:r>
              <a:rPr lang="en-US" b="1" dirty="0">
                <a:latin typeface="Arial" pitchFamily="34" charset="0"/>
                <a:cs typeface="Arial" pitchFamily="34" charset="0"/>
              </a:rPr>
              <a:t> came to his rescue. He agreed to share his salary </a:t>
            </a:r>
            <a:r>
              <a:rPr lang="en-US" b="1" dirty="0" smtClean="0">
                <a:latin typeface="Arial" pitchFamily="34" charset="0"/>
                <a:cs typeface="Arial" pitchFamily="34" charset="0"/>
              </a:rPr>
              <a:t>so </a:t>
            </a:r>
            <a:r>
              <a:rPr lang="en-US" b="1" dirty="0">
                <a:latin typeface="Arial" pitchFamily="34" charset="0"/>
                <a:cs typeface="Arial" pitchFamily="34" charset="0"/>
              </a:rPr>
              <a:t>that Karan’s </a:t>
            </a:r>
            <a:r>
              <a:rPr lang="en-US" b="1" dirty="0" smtClean="0">
                <a:latin typeface="Arial" pitchFamily="34" charset="0"/>
                <a:cs typeface="Arial" pitchFamily="34" charset="0"/>
              </a:rPr>
              <a:t>life </a:t>
            </a:r>
            <a:r>
              <a:rPr lang="en-US" b="1" dirty="0">
                <a:latin typeface="Arial" pitchFamily="34" charset="0"/>
                <a:cs typeface="Arial" pitchFamily="34" charset="0"/>
              </a:rPr>
              <a:t>did not get disrupted</a:t>
            </a:r>
            <a:r>
              <a:rPr lang="en-US" b="1" dirty="0" smtClean="0">
                <a:latin typeface="Arial" pitchFamily="34" charset="0"/>
                <a:cs typeface="Arial" pitchFamily="34" charset="0"/>
              </a:rPr>
              <a:t>.</a:t>
            </a:r>
          </a:p>
          <a:p>
            <a:pPr>
              <a:lnSpc>
                <a:spcPct val="150000"/>
              </a:lnSpc>
            </a:pPr>
            <a:r>
              <a:rPr lang="en-US" b="1" dirty="0">
                <a:latin typeface="Arial" pitchFamily="34" charset="0"/>
                <a:cs typeface="Arial" pitchFamily="34" charset="0"/>
              </a:rPr>
              <a:t/>
            </a:r>
            <a:br>
              <a:rPr lang="en-US" b="1" dirty="0">
                <a:latin typeface="Arial" pitchFamily="34" charset="0"/>
                <a:cs typeface="Arial" pitchFamily="34" charset="0"/>
              </a:rPr>
            </a:br>
            <a:r>
              <a:rPr lang="en-US" b="1" dirty="0">
                <a:latin typeface="Arial" pitchFamily="34" charset="0"/>
                <a:cs typeface="Arial" pitchFamily="34" charset="0"/>
              </a:rPr>
              <a:t>As a consequence </a:t>
            </a:r>
            <a:r>
              <a:rPr lang="en-US" b="1" dirty="0" err="1">
                <a:latin typeface="Arial" pitchFamily="34" charset="0"/>
                <a:cs typeface="Arial" pitchFamily="34" charset="0"/>
              </a:rPr>
              <a:t>Arjun</a:t>
            </a:r>
            <a:r>
              <a:rPr lang="en-US" b="1" dirty="0">
                <a:latin typeface="Arial" pitchFamily="34" charset="0"/>
                <a:cs typeface="Arial" pitchFamily="34" charset="0"/>
              </a:rPr>
              <a:t> had to postpone  many of his plans such as purchasing a car for his family.</a:t>
            </a:r>
          </a:p>
        </p:txBody>
      </p:sp>
    </p:spTree>
    <p:extLst>
      <p:ext uri="{BB962C8B-B14F-4D97-AF65-F5344CB8AC3E}">
        <p14:creationId xmlns:p14="http://schemas.microsoft.com/office/powerpoint/2010/main" xmlns="" val="25797854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CONSOLIDATION</a:t>
            </a:r>
          </a:p>
        </p:txBody>
      </p:sp>
      <p:sp>
        <p:nvSpPr>
          <p:cNvPr id="3" name="Rectangle 2"/>
          <p:cNvSpPr/>
          <p:nvPr/>
        </p:nvSpPr>
        <p:spPr>
          <a:xfrm>
            <a:off x="714348" y="1124744"/>
            <a:ext cx="7386044" cy="3000821"/>
          </a:xfrm>
          <a:prstGeom prst="rect">
            <a:avLst/>
          </a:prstGeom>
        </p:spPr>
        <p:txBody>
          <a:bodyPr wrap="square">
            <a:spAutoFit/>
          </a:bodyPr>
          <a:lstStyle/>
          <a:p>
            <a:pPr>
              <a:lnSpc>
                <a:spcPct val="150000"/>
              </a:lnSpc>
            </a:pPr>
            <a:r>
              <a:rPr lang="en-US" b="1" dirty="0">
                <a:latin typeface="Arial" pitchFamily="34" charset="0"/>
                <a:cs typeface="Arial" pitchFamily="34" charset="0"/>
              </a:rPr>
              <a:t>For the next 6 months Karan got financial support from </a:t>
            </a:r>
            <a:r>
              <a:rPr lang="en-US" b="1" dirty="0" err="1" smtClean="0">
                <a:latin typeface="Arial" pitchFamily="34" charset="0"/>
                <a:cs typeface="Arial" pitchFamily="34" charset="0"/>
              </a:rPr>
              <a:t>Arjun</a:t>
            </a: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Arial" pitchFamily="34" charset="0"/>
                <a:cs typeface="Arial" pitchFamily="34" charset="0"/>
              </a:rPr>
              <a:t>and </a:t>
            </a:r>
            <a:r>
              <a:rPr lang="en-US" b="1" dirty="0">
                <a:latin typeface="Arial" pitchFamily="34" charset="0"/>
                <a:cs typeface="Arial" pitchFamily="34" charset="0"/>
              </a:rPr>
              <a:t>managed to keep his problems at bay</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smtClean="0">
                <a:latin typeface="Arial" pitchFamily="34" charset="0"/>
                <a:cs typeface="Arial" pitchFamily="34" charset="0"/>
              </a:rPr>
              <a:t>However, </a:t>
            </a:r>
            <a:r>
              <a:rPr lang="en-US" b="1" dirty="0">
                <a:latin typeface="Arial" pitchFamily="34" charset="0"/>
                <a:cs typeface="Arial" pitchFamily="34" charset="0"/>
              </a:rPr>
              <a:t>after 6 difficult months Karan finally got a job and his cash flow situation improved significantly</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smtClean="0">
                <a:latin typeface="Arial" pitchFamily="34" charset="0"/>
                <a:cs typeface="Arial" pitchFamily="34" charset="0"/>
              </a:rPr>
              <a:t>Hence, </a:t>
            </a:r>
            <a:r>
              <a:rPr lang="en-US" b="1" dirty="0">
                <a:latin typeface="Arial" pitchFamily="34" charset="0"/>
                <a:cs typeface="Arial" pitchFamily="34" charset="0"/>
              </a:rPr>
              <a:t>his need for assistance also reduced </a:t>
            </a:r>
          </a:p>
        </p:txBody>
      </p:sp>
    </p:spTree>
    <p:extLst>
      <p:ext uri="{BB962C8B-B14F-4D97-AF65-F5344CB8AC3E}">
        <p14:creationId xmlns:p14="http://schemas.microsoft.com/office/powerpoint/2010/main" xmlns="" val="41162435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CONSOLIDATION</a:t>
            </a:r>
          </a:p>
        </p:txBody>
      </p:sp>
      <p:sp>
        <p:nvSpPr>
          <p:cNvPr id="3" name="Rectangle 2"/>
          <p:cNvSpPr/>
          <p:nvPr/>
        </p:nvSpPr>
        <p:spPr>
          <a:xfrm>
            <a:off x="714348" y="1124744"/>
            <a:ext cx="7602068" cy="133882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Hence, </a:t>
            </a:r>
            <a:r>
              <a:rPr lang="en-US" b="1" dirty="0" err="1">
                <a:latin typeface="Arial" pitchFamily="34" charset="0"/>
                <a:cs typeface="Arial" pitchFamily="34" charset="0"/>
              </a:rPr>
              <a:t>Arjun</a:t>
            </a:r>
            <a:r>
              <a:rPr lang="en-US" b="1" dirty="0">
                <a:latin typeface="Arial" pitchFamily="34" charset="0"/>
                <a:cs typeface="Arial" pitchFamily="34" charset="0"/>
              </a:rPr>
              <a:t> decided to discontinue the financial support to Karan. </a:t>
            </a:r>
          </a:p>
          <a:p>
            <a:pPr>
              <a:lnSpc>
                <a:spcPct val="150000"/>
              </a:lnSpc>
            </a:pPr>
            <a:r>
              <a:rPr lang="en-US" b="1" dirty="0">
                <a:latin typeface="Arial" pitchFamily="34" charset="0"/>
                <a:cs typeface="Arial" pitchFamily="34" charset="0"/>
              </a:rPr>
              <a:t>Having discontinued this financial support </a:t>
            </a:r>
            <a:r>
              <a:rPr lang="en-US" b="1" dirty="0" err="1">
                <a:latin typeface="Arial" pitchFamily="34" charset="0"/>
                <a:cs typeface="Arial" pitchFamily="34" charset="0"/>
              </a:rPr>
              <a:t>Arjun</a:t>
            </a:r>
            <a:r>
              <a:rPr lang="en-US" b="1" dirty="0">
                <a:latin typeface="Arial" pitchFamily="34" charset="0"/>
                <a:cs typeface="Arial" pitchFamily="34" charset="0"/>
              </a:rPr>
              <a:t> was in a good position to fulfill his plans of purchasing the car for this family.</a:t>
            </a:r>
          </a:p>
        </p:txBody>
      </p:sp>
    </p:spTree>
    <p:extLst>
      <p:ext uri="{BB962C8B-B14F-4D97-AF65-F5344CB8AC3E}">
        <p14:creationId xmlns:p14="http://schemas.microsoft.com/office/powerpoint/2010/main" xmlns="" val="33103417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CONSOLIDATION</a:t>
            </a:r>
          </a:p>
        </p:txBody>
      </p:sp>
      <p:sp>
        <p:nvSpPr>
          <p:cNvPr id="3" name="Rectangle 2"/>
          <p:cNvSpPr/>
          <p:nvPr/>
        </p:nvSpPr>
        <p:spPr>
          <a:xfrm>
            <a:off x="714348" y="1052736"/>
            <a:ext cx="7602068" cy="2128853"/>
          </a:xfrm>
          <a:prstGeom prst="rect">
            <a:avLst/>
          </a:prstGeom>
        </p:spPr>
        <p:txBody>
          <a:bodyPr wrap="square">
            <a:spAutoFit/>
          </a:bodyPr>
          <a:lstStyle/>
          <a:p>
            <a:pPr>
              <a:lnSpc>
                <a:spcPct val="150000"/>
              </a:lnSpc>
            </a:pPr>
            <a:r>
              <a:rPr lang="en-US" b="1" dirty="0">
                <a:latin typeface="Arial" pitchFamily="34" charset="0"/>
                <a:cs typeface="Arial" pitchFamily="34" charset="0"/>
              </a:rPr>
              <a:t>The financial support that </a:t>
            </a:r>
            <a:r>
              <a:rPr lang="en-US" b="1" dirty="0" err="1">
                <a:latin typeface="Arial" pitchFamily="34" charset="0"/>
                <a:cs typeface="Arial" pitchFamily="34" charset="0"/>
              </a:rPr>
              <a:t>Arjun</a:t>
            </a:r>
            <a:r>
              <a:rPr lang="en-US" b="1" dirty="0">
                <a:latin typeface="Arial" pitchFamily="34" charset="0"/>
                <a:cs typeface="Arial" pitchFamily="34" charset="0"/>
              </a:rPr>
              <a:t> provided Karan was like the fiscal stimulus that governments /central banks provided to industry during the financial crisis whereas his decision to discontinue the support once Karan’s position improved is nothing but the financial consolidation of Karan’s account.</a:t>
            </a:r>
          </a:p>
        </p:txBody>
      </p:sp>
    </p:spTree>
    <p:extLst>
      <p:ext uri="{BB962C8B-B14F-4D97-AF65-F5344CB8AC3E}">
        <p14:creationId xmlns:p14="http://schemas.microsoft.com/office/powerpoint/2010/main" xmlns="" val="14789539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CONSOLIDATION</a:t>
            </a:r>
          </a:p>
        </p:txBody>
      </p:sp>
      <p:sp>
        <p:nvSpPr>
          <p:cNvPr id="3" name="Rectangle 2"/>
          <p:cNvSpPr/>
          <p:nvPr/>
        </p:nvSpPr>
        <p:spPr>
          <a:xfrm>
            <a:off x="714348" y="1052736"/>
            <a:ext cx="7242028" cy="2128853"/>
          </a:xfrm>
          <a:prstGeom prst="rect">
            <a:avLst/>
          </a:prstGeom>
        </p:spPr>
        <p:txBody>
          <a:bodyPr wrap="square">
            <a:spAutoFit/>
          </a:bodyPr>
          <a:lstStyle/>
          <a:p>
            <a:pPr>
              <a:lnSpc>
                <a:spcPct val="150000"/>
              </a:lnSpc>
            </a:pPr>
            <a:r>
              <a:rPr lang="en-US" b="1" dirty="0">
                <a:latin typeface="Arial" pitchFamily="34" charset="0"/>
                <a:cs typeface="Arial" pitchFamily="34" charset="0"/>
              </a:rPr>
              <a:t>So when we talk of financial consolidation what is meant is that because the Indian economy is back on track, a time has come to withdraw the fiscal support that was provided during the financial meltdown in 2008 so that the money could be put to better use from the economy</a:t>
            </a:r>
          </a:p>
        </p:txBody>
      </p:sp>
    </p:spTree>
    <p:extLst>
      <p:ext uri="{BB962C8B-B14F-4D97-AF65-F5344CB8AC3E}">
        <p14:creationId xmlns:p14="http://schemas.microsoft.com/office/powerpoint/2010/main" xmlns="" val="35701758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4293096"/>
            <a:ext cx="4464496" cy="1754326"/>
          </a:xfrm>
          <a:prstGeom prst="rect">
            <a:avLst/>
          </a:prstGeom>
        </p:spPr>
        <p:txBody>
          <a:bodyPr wrap="square">
            <a:spAutoFit/>
          </a:bodyPr>
          <a:lstStyle/>
          <a:p>
            <a:pPr>
              <a:lnSpc>
                <a:spcPct val="150000"/>
              </a:lnSpc>
            </a:pPr>
            <a:r>
              <a:rPr lang="en-US" b="1" dirty="0">
                <a:latin typeface="Arial" pitchFamily="34" charset="0"/>
                <a:cs typeface="Arial" pitchFamily="34" charset="0"/>
              </a:rPr>
              <a:t>Hope this lesson has </a:t>
            </a:r>
            <a:r>
              <a:rPr lang="en-US" b="1" dirty="0" smtClean="0">
                <a:latin typeface="Arial" pitchFamily="34" charset="0"/>
                <a:cs typeface="Arial" pitchFamily="34" charset="0"/>
              </a:rPr>
              <a:t>succeeded</a:t>
            </a:r>
            <a:br>
              <a:rPr lang="en-US" b="1" dirty="0" smtClean="0">
                <a:latin typeface="Arial" pitchFamily="34" charset="0"/>
                <a:cs typeface="Arial" pitchFamily="34" charset="0"/>
              </a:rPr>
            </a:br>
            <a:r>
              <a:rPr lang="en-US" b="1" dirty="0" smtClean="0">
                <a:latin typeface="Arial" pitchFamily="34" charset="0"/>
                <a:cs typeface="Arial" pitchFamily="34" charset="0"/>
              </a:rPr>
              <a:t>in </a:t>
            </a:r>
            <a:r>
              <a:rPr lang="en-US" b="1" dirty="0">
                <a:latin typeface="Arial" pitchFamily="34" charset="0"/>
                <a:cs typeface="Arial" pitchFamily="34" charset="0"/>
              </a:rPr>
              <a:t>clarifying the meaning </a:t>
            </a:r>
            <a:r>
              <a:rPr lang="en-US" b="1" dirty="0" smtClean="0">
                <a:latin typeface="Arial" pitchFamily="34" charset="0"/>
                <a:cs typeface="Arial" pitchFamily="34" charset="0"/>
              </a:rPr>
              <a:t>of</a:t>
            </a:r>
            <a:br>
              <a:rPr lang="en-US" b="1" dirty="0" smtClean="0">
                <a:latin typeface="Arial" pitchFamily="34" charset="0"/>
                <a:cs typeface="Arial" pitchFamily="34" charset="0"/>
              </a:rPr>
            </a:br>
            <a:r>
              <a:rPr lang="en-US" b="1" dirty="0" smtClean="0">
                <a:latin typeface="Arial" pitchFamily="34" charset="0"/>
                <a:cs typeface="Arial" pitchFamily="34" charset="0"/>
              </a:rPr>
              <a:t>“Fiscal </a:t>
            </a:r>
            <a:r>
              <a:rPr lang="en-US" b="1" dirty="0">
                <a:latin typeface="Arial" pitchFamily="34" charset="0"/>
                <a:cs typeface="Arial" pitchFamily="34" charset="0"/>
              </a:rPr>
              <a:t>Consolidation” </a:t>
            </a:r>
            <a:r>
              <a:rPr lang="en-US" b="1" dirty="0" smtClean="0">
                <a:latin typeface="Arial" pitchFamily="34" charset="0"/>
                <a:cs typeface="Arial" pitchFamily="34" charset="0"/>
              </a:rPr>
              <a:t>approach</a:t>
            </a:r>
            <a:br>
              <a:rPr lang="en-US" b="1" dirty="0" smtClean="0">
                <a:latin typeface="Arial" pitchFamily="34" charset="0"/>
                <a:cs typeface="Arial" pitchFamily="34" charset="0"/>
              </a:rPr>
            </a:br>
            <a:r>
              <a:rPr lang="en-US" b="1" dirty="0" smtClean="0">
                <a:latin typeface="Arial" pitchFamily="34" charset="0"/>
                <a:cs typeface="Arial" pitchFamily="34" charset="0"/>
              </a:rPr>
              <a:t>to </a:t>
            </a:r>
            <a:r>
              <a:rPr lang="en-US" b="1" dirty="0">
                <a:latin typeface="Arial" pitchFamily="34" charset="0"/>
                <a:cs typeface="Arial" pitchFamily="34" charset="0"/>
              </a:rPr>
              <a:t>investing</a:t>
            </a: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CONSOLIDATION</a:t>
            </a:r>
          </a:p>
        </p:txBody>
      </p:sp>
    </p:spTree>
    <p:extLst>
      <p:ext uri="{BB962C8B-B14F-4D97-AF65-F5344CB8AC3E}">
        <p14:creationId xmlns:p14="http://schemas.microsoft.com/office/powerpoint/2010/main" xmlns="" val="7779845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971600" y="2060848"/>
            <a:ext cx="4032448" cy="978729"/>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Please give </a:t>
            </a:r>
            <a:r>
              <a:rPr lang="en-US" b="1" dirty="0" smtClean="0">
                <a:latin typeface="Arial" pitchFamily="34" charset="0"/>
                <a:cs typeface="Arial" pitchFamily="34" charset="0"/>
              </a:rPr>
              <a:t>me </a:t>
            </a:r>
            <a:r>
              <a:rPr lang="en-US" b="1" dirty="0">
                <a:latin typeface="Arial" pitchFamily="34" charset="0"/>
                <a:cs typeface="Arial" pitchFamily="34" charset="0"/>
              </a:rPr>
              <a:t>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2388</TotalTime>
  <Words>461</Words>
  <Application>Microsoft Office PowerPoint</Application>
  <PresentationFormat>On-screen Show (4:3)</PresentationFormat>
  <Paragraphs>33</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274</cp:revision>
  <dcterms:created xsi:type="dcterms:W3CDTF">2013-10-22T09:41:31Z</dcterms:created>
  <dcterms:modified xsi:type="dcterms:W3CDTF">2014-09-22T07:22:18Z</dcterms:modified>
</cp:coreProperties>
</file>