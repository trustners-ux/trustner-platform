
<file path=[Content_Types].xml><?xml version="1.0" encoding="utf-8"?>
<Types xmlns="http://schemas.openxmlformats.org/package/2006/content-types">
  <Override PartName="/ppt/slides/slide5.xml" ContentType="application/vnd.openxmlformats-officedocument.presentationml.slide+xml"/>
  <Override PartName="/ppt/slides/slide6.xml" ContentType="application/vnd.openxmlformats-officedocument.presentationml.slide+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slides/slide1.xml" ContentType="application/vnd.openxmlformats-officedocument.presentationml.slide+xml"/>
  <Override PartName="/ppt/slides/slide2.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notesMasters/notesMaster1.xml" ContentType="application/vnd.openxmlformats-officedocument.presentationml.notesMaster+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3"/>
  </p:notesMasterIdLst>
  <p:sldIdLst>
    <p:sldId id="256" r:id="rId2"/>
    <p:sldId id="343" r:id="rId3"/>
    <p:sldId id="332" r:id="rId4"/>
    <p:sldId id="325" r:id="rId5"/>
    <p:sldId id="344" r:id="rId6"/>
    <p:sldId id="345" r:id="rId7"/>
    <p:sldId id="334" r:id="rId8"/>
    <p:sldId id="323" r:id="rId9"/>
    <p:sldId id="341" r:id="rId10"/>
    <p:sldId id="287" r:id="rId11"/>
    <p:sldId id="273" r:id="rId12"/>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xmlns="" val="0"/>
    </p:ext>
    <p:ext uri="{D31A062A-798A-4329-ABDD-BBA856620510}">
      <p14:defaultImageDpi xmlns:p14="http://schemas.microsoft.com/office/powerpoint/2010/main" xmlns=""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napVertSplitter="1" vertBarState="minimized" horzBarState="maximized">
    <p:restoredLeft sz="15591" autoAdjust="0"/>
    <p:restoredTop sz="94595" autoAdjust="0"/>
  </p:normalViewPr>
  <p:slideViewPr>
    <p:cSldViewPr>
      <p:cViewPr varScale="1">
        <p:scale>
          <a:sx n="52" d="100"/>
          <a:sy n="52" d="100"/>
        </p:scale>
        <p:origin x="-1651" y="-86"/>
      </p:cViewPr>
      <p:guideLst>
        <p:guide orient="horz" pos="2160"/>
        <p:guide pos="2880"/>
      </p:guideLst>
    </p:cSldViewPr>
  </p:slideViewPr>
  <p:notesTextViewPr>
    <p:cViewPr>
      <p:scale>
        <a:sx n="100" d="100"/>
        <a:sy n="100" d="100"/>
      </p:scale>
      <p:origin x="0" y="0"/>
    </p:cViewPr>
  </p:notesTextViewPr>
  <p:gridSpacing cx="73736200" cy="7373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B10E05B8-715C-4FAF-BC8A-A5F0580F534E}" type="datetimeFigureOut">
              <a:rPr lang="en-US" smtClean="0"/>
              <a:pPr/>
              <a:t>9/19/2014</a:t>
            </a:fld>
            <a:endParaRPr lang="en-IN"/>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62A204C8-0732-4ACB-BFB7-2799F61E2A0A}" type="slidenum">
              <a:rPr lang="en-IN" smtClean="0"/>
              <a:pPr/>
              <a:t>‹#›</a:t>
            </a:fld>
            <a:endParaRPr lang="en-IN"/>
          </a:p>
        </p:txBody>
      </p:sp>
    </p:spTree>
    <p:extLst>
      <p:ext uri="{BB962C8B-B14F-4D97-AF65-F5344CB8AC3E}">
        <p14:creationId xmlns:p14="http://schemas.microsoft.com/office/powerpoint/2010/main" xmlns="" val="172064615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IN"/>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IN"/>
          </a:p>
        </p:txBody>
      </p:sp>
      <p:sp>
        <p:nvSpPr>
          <p:cNvPr id="4" name="Date Placeholder 3"/>
          <p:cNvSpPr>
            <a:spLocks noGrp="1"/>
          </p:cNvSpPr>
          <p:nvPr>
            <p:ph type="dt" sz="half" idx="10"/>
          </p:nvPr>
        </p:nvSpPr>
        <p:spPr/>
        <p:txBody>
          <a:bodyPr/>
          <a:lstStyle/>
          <a:p>
            <a:fld id="{3A7C54CB-0529-403B-B072-87342900D6A8}" type="datetimeFigureOut">
              <a:rPr lang="en-US" smtClean="0"/>
              <a:pPr/>
              <a:t>9/19/2014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60570A3-6B67-4C18-ABAC-AE1ACD0864A2}" type="slidenum">
              <a:rPr lang="en-IN" smtClean="0"/>
              <a:pPr/>
              <a:t>‹#›</a:t>
            </a:fld>
            <a:endParaRPr lang="en-I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3A7C54CB-0529-403B-B072-87342900D6A8}" type="datetimeFigureOut">
              <a:rPr lang="en-US" smtClean="0"/>
              <a:pPr/>
              <a:t>9/19/2014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60570A3-6B67-4C18-ABAC-AE1ACD0864A2}" type="slidenum">
              <a:rPr lang="en-IN" smtClean="0"/>
              <a:pPr/>
              <a:t>‹#›</a:t>
            </a:fld>
            <a:endParaRPr lang="en-I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IN"/>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3A7C54CB-0529-403B-B072-87342900D6A8}" type="datetimeFigureOut">
              <a:rPr lang="en-US" smtClean="0"/>
              <a:pPr/>
              <a:t>9/19/2014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60570A3-6B67-4C18-ABAC-AE1ACD0864A2}" type="slidenum">
              <a:rPr lang="en-IN" smtClean="0"/>
              <a:pPr/>
              <a:t>‹#›</a:t>
            </a:fld>
            <a:endParaRPr lang="en-I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Date Placeholder 4"/>
          <p:cNvSpPr>
            <a:spLocks noGrp="1"/>
          </p:cNvSpPr>
          <p:nvPr>
            <p:ph type="dt" sz="half" idx="10"/>
          </p:nvPr>
        </p:nvSpPr>
        <p:spPr/>
        <p:txBody>
          <a:bodyPr/>
          <a:lstStyle/>
          <a:p>
            <a:fld id="{3A7C54CB-0529-403B-B072-87342900D6A8}" type="datetimeFigureOut">
              <a:rPr lang="en-US" smtClean="0"/>
              <a:pPr/>
              <a:t>9/19/2014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A60570A3-6B67-4C18-ABAC-AE1ACD0864A2}" type="slidenum">
              <a:rPr lang="en-IN" smtClean="0"/>
              <a:pPr/>
              <a:t>‹#›</a:t>
            </a:fld>
            <a:endParaRPr lang="en-I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IN"/>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7" name="Date Placeholder 6"/>
          <p:cNvSpPr>
            <a:spLocks noGrp="1"/>
          </p:cNvSpPr>
          <p:nvPr>
            <p:ph type="dt" sz="half" idx="10"/>
          </p:nvPr>
        </p:nvSpPr>
        <p:spPr/>
        <p:txBody>
          <a:bodyPr/>
          <a:lstStyle/>
          <a:p>
            <a:fld id="{3A7C54CB-0529-403B-B072-87342900D6A8}" type="datetimeFigureOut">
              <a:rPr lang="en-US" smtClean="0"/>
              <a:pPr/>
              <a:t>9/19/2014</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A60570A3-6B67-4C18-ABAC-AE1ACD0864A2}" type="slidenum">
              <a:rPr lang="en-IN" smtClean="0"/>
              <a:pPr/>
              <a:t>‹#›</a:t>
            </a:fld>
            <a:endParaRPr lang="en-I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Date Placeholder 2"/>
          <p:cNvSpPr>
            <a:spLocks noGrp="1"/>
          </p:cNvSpPr>
          <p:nvPr>
            <p:ph type="dt" sz="half" idx="10"/>
          </p:nvPr>
        </p:nvSpPr>
        <p:spPr/>
        <p:txBody>
          <a:bodyPr/>
          <a:lstStyle/>
          <a:p>
            <a:fld id="{3A7C54CB-0529-403B-B072-87342900D6A8}" type="datetimeFigureOut">
              <a:rPr lang="en-US" smtClean="0"/>
              <a:pPr/>
              <a:t>9/19/2014</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A60570A3-6B67-4C18-ABAC-AE1ACD0864A2}" type="slidenum">
              <a:rPr lang="en-IN" smtClean="0"/>
              <a:pPr/>
              <a:t>‹#›</a:t>
            </a:fld>
            <a:endParaRPr lang="en-I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A7C54CB-0529-403B-B072-87342900D6A8}" type="datetimeFigureOut">
              <a:rPr lang="en-US" smtClean="0"/>
              <a:pPr/>
              <a:t>9/19/2014</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A60570A3-6B67-4C18-ABAC-AE1ACD0864A2}" type="slidenum">
              <a:rPr lang="en-IN" smtClean="0"/>
              <a:pPr/>
              <a:t>‹#›</a:t>
            </a:fld>
            <a:endParaRPr lang="en-I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IN"/>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3A7C54CB-0529-403B-B072-87342900D6A8}" type="datetimeFigureOut">
              <a:rPr lang="en-US" smtClean="0"/>
              <a:pPr/>
              <a:t>9/19/2014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A60570A3-6B67-4C18-ABAC-AE1ACD0864A2}" type="slidenum">
              <a:rPr lang="en-IN" smtClean="0"/>
              <a:pPr/>
              <a:t>‹#›</a:t>
            </a:fld>
            <a:endParaRPr lang="en-I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IN"/>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3A7C54CB-0529-403B-B072-87342900D6A8}" type="datetimeFigureOut">
              <a:rPr lang="en-US" smtClean="0"/>
              <a:pPr/>
              <a:t>9/19/2014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A60570A3-6B67-4C18-ABAC-AE1ACD0864A2}" type="slidenum">
              <a:rPr lang="en-IN" smtClean="0"/>
              <a:pPr/>
              <a:t>‹#›</a:t>
            </a:fld>
            <a:endParaRPr lang="en-I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3A7C54CB-0529-403B-B072-87342900D6A8}" type="datetimeFigureOut">
              <a:rPr lang="en-US" smtClean="0"/>
              <a:pPr/>
              <a:t>9/19/2014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60570A3-6B67-4C18-ABAC-AE1ACD0864A2}" type="slidenum">
              <a:rPr lang="en-IN" smtClean="0"/>
              <a:pPr/>
              <a:t>‹#›</a:t>
            </a:fld>
            <a:endParaRPr lang="en-I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IN"/>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3A7C54CB-0529-403B-B072-87342900D6A8}" type="datetimeFigureOut">
              <a:rPr lang="en-US" smtClean="0"/>
              <a:pPr/>
              <a:t>9/19/2014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60570A3-6B67-4C18-ABAC-AE1ACD0864A2}" type="slidenum">
              <a:rPr lang="en-IN" smtClean="0"/>
              <a:pPr/>
              <a:t>‹#›</a:t>
            </a:fld>
            <a:endParaRPr lang="en-IN"/>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IN"/>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A7C54CB-0529-403B-B072-87342900D6A8}" type="datetimeFigureOut">
              <a:rPr lang="en-US" smtClean="0"/>
              <a:pPr/>
              <a:t>9/19/2014</a:t>
            </a:fld>
            <a:endParaRPr lang="en-IN"/>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60570A3-6B67-4C18-ABAC-AE1ACD0864A2}" type="slidenum">
              <a:rPr lang="en-IN" smtClean="0"/>
              <a:pPr/>
              <a:t>‹#›</a:t>
            </a:fld>
            <a:endParaRPr lang="en-IN"/>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3.jpeg"/><Relationship Id="rId1" Type="http://schemas.openxmlformats.org/officeDocument/2006/relationships/slideLayout" Target="../slideLayouts/slideLayout2.xml"/><Relationship Id="rId4" Type="http://schemas.openxmlformats.org/officeDocument/2006/relationships/hyperlink" Target="mailto:professor@tataamc.com" TargetMode="External"/></Relationships>
</file>

<file path=ppt/slides/_rels/slide11.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1403648" y="2740858"/>
            <a:ext cx="3957590" cy="400110"/>
          </a:xfrm>
          <a:prstGeom prst="rect">
            <a:avLst/>
          </a:prstGeom>
          <a:noFill/>
        </p:spPr>
        <p:txBody>
          <a:bodyPr wrap="square" rtlCol="0">
            <a:spAutoFit/>
          </a:bodyPr>
          <a:lstStyle/>
          <a:p>
            <a:pPr algn="ctr"/>
            <a:r>
              <a:rPr lang="en-US" sz="2000" b="1" dirty="0" smtClean="0">
                <a:solidFill>
                  <a:schemeClr val="bg1"/>
                </a:solidFill>
                <a:latin typeface="Arial" pitchFamily="34" charset="0"/>
                <a:cs typeface="Arial" pitchFamily="34" charset="0"/>
              </a:rPr>
              <a:t>FED TAPERING</a:t>
            </a:r>
            <a:endParaRPr lang="en-IN" sz="2000" b="1" dirty="0">
              <a:solidFill>
                <a:schemeClr val="bg1"/>
              </a:solidFill>
              <a:latin typeface="Arial" pitchFamily="34" charset="0"/>
              <a:cs typeface="Arial" pitchFamily="34" charset="0"/>
            </a:endParaRPr>
          </a:p>
        </p:txBody>
      </p:sp>
      <p:grpSp>
        <p:nvGrpSpPr>
          <p:cNvPr id="8" name="Group 7"/>
          <p:cNvGrpSpPr/>
          <p:nvPr/>
        </p:nvGrpSpPr>
        <p:grpSpPr>
          <a:xfrm>
            <a:off x="-1" y="-1"/>
            <a:ext cx="9144001" cy="6858001"/>
            <a:chOff x="-1" y="-1"/>
            <a:chExt cx="9144001" cy="6858001"/>
          </a:xfrm>
        </p:grpSpPr>
        <p:pic>
          <p:nvPicPr>
            <p:cNvPr id="2050" name="Picture 2" descr="H:\TATA\From Rajni\Jpegs_blank\PSS_LESSONS_PG1.jpg"/>
            <p:cNvPicPr>
              <a:picLocks noChangeAspect="1" noChangeArrowheads="1"/>
            </p:cNvPicPr>
            <p:nvPr/>
          </p:nvPicPr>
          <p:blipFill>
            <a:blip r:embed="rId2" cstate="print"/>
            <a:stretch>
              <a:fillRect/>
            </a:stretch>
          </p:blipFill>
          <p:spPr bwMode="auto">
            <a:xfrm>
              <a:off x="-1" y="-1"/>
              <a:ext cx="9144001" cy="6858001"/>
            </a:xfrm>
            <a:prstGeom prst="rect">
              <a:avLst/>
            </a:prstGeom>
            <a:noFill/>
            <a:ln>
              <a:noFill/>
            </a:ln>
          </p:spPr>
        </p:pic>
        <p:pic>
          <p:nvPicPr>
            <p:cNvPr id="4" name="Picture 23" descr="TMF Logo New.jpg"/>
            <p:cNvPicPr>
              <a:picLocks noChangeAspect="1"/>
            </p:cNvPicPr>
            <p:nvPr/>
          </p:nvPicPr>
          <p:blipFill>
            <a:blip r:embed="rId3" cstate="print"/>
            <a:srcRect/>
            <a:stretch>
              <a:fillRect/>
            </a:stretch>
          </p:blipFill>
          <p:spPr bwMode="auto">
            <a:xfrm>
              <a:off x="2411760" y="5321776"/>
              <a:ext cx="1177849" cy="822960"/>
            </a:xfrm>
            <a:prstGeom prst="rect">
              <a:avLst/>
            </a:prstGeom>
            <a:noFill/>
            <a:ln w="9525">
              <a:noFill/>
              <a:miter lim="800000"/>
              <a:headEnd/>
              <a:tailEnd/>
            </a:ln>
          </p:spPr>
        </p:pic>
        <p:cxnSp>
          <p:nvCxnSpPr>
            <p:cNvPr id="7" name="Straight Connector 6"/>
            <p:cNvCxnSpPr/>
            <p:nvPr/>
          </p:nvCxnSpPr>
          <p:spPr>
            <a:xfrm>
              <a:off x="2123728" y="5301208"/>
              <a:ext cx="0" cy="864096"/>
            </a:xfrm>
            <a:prstGeom prst="line">
              <a:avLst/>
            </a:prstGeom>
          </p:spPr>
          <p:style>
            <a:lnRef idx="1">
              <a:schemeClr val="dk1"/>
            </a:lnRef>
            <a:fillRef idx="0">
              <a:schemeClr val="dk1"/>
            </a:fillRef>
            <a:effectRef idx="0">
              <a:schemeClr val="dk1"/>
            </a:effectRef>
            <a:fontRef idx="minor">
              <a:schemeClr val="tx1"/>
            </a:fontRef>
          </p:style>
        </p:cxnSp>
      </p:grpSp>
      <p:sp>
        <p:nvSpPr>
          <p:cNvPr id="9" name="TextBox 8"/>
          <p:cNvSpPr txBox="1"/>
          <p:nvPr/>
        </p:nvSpPr>
        <p:spPr>
          <a:xfrm>
            <a:off x="899592" y="2780928"/>
            <a:ext cx="4248472" cy="400110"/>
          </a:xfrm>
          <a:prstGeom prst="rect">
            <a:avLst/>
          </a:prstGeom>
          <a:noFill/>
        </p:spPr>
        <p:txBody>
          <a:bodyPr wrap="square" rtlCol="0">
            <a:spAutoFit/>
          </a:bodyPr>
          <a:lstStyle/>
          <a:p>
            <a:pPr algn="ctr"/>
            <a:r>
              <a:rPr lang="en-US" sz="2000" b="1" dirty="0" smtClean="0">
                <a:solidFill>
                  <a:schemeClr val="bg1"/>
                </a:solidFill>
                <a:latin typeface="Arial" pitchFamily="34" charset="0"/>
                <a:cs typeface="Arial" pitchFamily="34" charset="0"/>
              </a:rPr>
              <a:t>PASS THROUGH CERTIFICATES</a:t>
            </a:r>
            <a:endParaRPr lang="en-US" sz="2000" b="1" dirty="0">
              <a:solidFill>
                <a:schemeClr val="bg1"/>
              </a:solidFill>
              <a:latin typeface="Arial" pitchFamily="34" charset="0"/>
              <a:cs typeface="Arial" pitchFamily="34" charset="0"/>
            </a:endParaRP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manisha\Desktop\From Rajni\Jpegs_blank\PSS_LESSONS_PG4.jpg"/>
          <p:cNvPicPr>
            <a:picLocks noChangeAspect="1" noChangeArrowheads="1"/>
          </p:cNvPicPr>
          <p:nvPr/>
        </p:nvPicPr>
        <p:blipFill>
          <a:blip r:embed="rId2" cstate="print"/>
          <a:srcRect/>
          <a:stretch>
            <a:fillRect/>
          </a:stretch>
        </p:blipFill>
        <p:spPr bwMode="auto">
          <a:xfrm>
            <a:off x="0" y="0"/>
            <a:ext cx="9144000" cy="6858001"/>
          </a:xfrm>
          <a:prstGeom prst="rect">
            <a:avLst/>
          </a:prstGeom>
          <a:noFill/>
        </p:spPr>
      </p:pic>
      <p:sp>
        <p:nvSpPr>
          <p:cNvPr id="3" name="TextBox 2"/>
          <p:cNvSpPr txBox="1"/>
          <p:nvPr/>
        </p:nvSpPr>
        <p:spPr>
          <a:xfrm>
            <a:off x="1331640" y="1700808"/>
            <a:ext cx="3426744" cy="1338828"/>
          </a:xfrm>
          <a:prstGeom prst="rect">
            <a:avLst/>
          </a:prstGeom>
          <a:noFill/>
        </p:spPr>
        <p:txBody>
          <a:bodyPr wrap="square" rtlCol="0">
            <a:spAutoFit/>
          </a:bodyPr>
          <a:lstStyle/>
          <a:p>
            <a:pPr>
              <a:lnSpc>
                <a:spcPct val="150000"/>
              </a:lnSpc>
              <a:spcBef>
                <a:spcPct val="20000"/>
              </a:spcBef>
            </a:pPr>
            <a:r>
              <a:rPr lang="en-US" b="1" dirty="0" smtClean="0">
                <a:latin typeface="Arial" pitchFamily="34" charset="0"/>
                <a:cs typeface="Arial" pitchFamily="34" charset="0"/>
              </a:rPr>
              <a:t>Understanding</a:t>
            </a:r>
            <a:br>
              <a:rPr lang="en-US" b="1" dirty="0" smtClean="0">
                <a:latin typeface="Arial" pitchFamily="34" charset="0"/>
                <a:cs typeface="Arial" pitchFamily="34" charset="0"/>
              </a:rPr>
            </a:br>
            <a:r>
              <a:rPr lang="en-US" b="1" dirty="0" smtClean="0">
                <a:latin typeface="Arial" pitchFamily="34" charset="0"/>
                <a:cs typeface="Arial" pitchFamily="34" charset="0"/>
              </a:rPr>
              <a:t>Pass </a:t>
            </a:r>
            <a:r>
              <a:rPr lang="en-US" b="1" dirty="0">
                <a:latin typeface="Arial" pitchFamily="34" charset="0"/>
                <a:cs typeface="Arial" pitchFamily="34" charset="0"/>
              </a:rPr>
              <a:t>Through </a:t>
            </a:r>
            <a:r>
              <a:rPr lang="en-US" b="1" dirty="0" smtClean="0">
                <a:latin typeface="Arial" pitchFamily="34" charset="0"/>
                <a:cs typeface="Arial" pitchFamily="34" charset="0"/>
              </a:rPr>
              <a:t>Certificates</a:t>
            </a:r>
            <a:br>
              <a:rPr lang="en-US" b="1" dirty="0" smtClean="0">
                <a:latin typeface="Arial" pitchFamily="34" charset="0"/>
                <a:cs typeface="Arial" pitchFamily="34" charset="0"/>
              </a:rPr>
            </a:br>
            <a:r>
              <a:rPr lang="en-US" b="1" dirty="0" smtClean="0">
                <a:latin typeface="Arial" pitchFamily="34" charset="0"/>
                <a:cs typeface="Arial" pitchFamily="34" charset="0"/>
              </a:rPr>
              <a:t>–  </a:t>
            </a:r>
            <a:r>
              <a:rPr lang="en-US" b="1" dirty="0">
                <a:latin typeface="Arial" pitchFamily="34" charset="0"/>
                <a:cs typeface="Arial" pitchFamily="34" charset="0"/>
              </a:rPr>
              <a:t>By Prof. </a:t>
            </a:r>
            <a:r>
              <a:rPr lang="en-US" b="1" i="1" dirty="0">
                <a:latin typeface="Arial" pitchFamily="34" charset="0"/>
                <a:cs typeface="Arial" pitchFamily="34" charset="0"/>
              </a:rPr>
              <a:t>Simply</a:t>
            </a:r>
            <a:r>
              <a:rPr lang="en-US" b="1" dirty="0">
                <a:latin typeface="Arial" pitchFamily="34" charset="0"/>
                <a:cs typeface="Arial" pitchFamily="34" charset="0"/>
              </a:rPr>
              <a:t> Simple</a:t>
            </a:r>
          </a:p>
        </p:txBody>
      </p:sp>
    </p:spTree>
    <p:extLst>
      <p:ext uri="{BB962C8B-B14F-4D97-AF65-F5344CB8AC3E}">
        <p14:creationId xmlns:p14="http://schemas.microsoft.com/office/powerpoint/2010/main" xmlns="" val="151544995"/>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2" descr="C:\Users\manisha\Desktop\From Rajni\Jpegs_blank\PSS_LESSONS_PG3.jpg"/>
          <p:cNvPicPr>
            <a:picLocks noChangeAspect="1" noChangeArrowheads="1"/>
          </p:cNvPicPr>
          <p:nvPr/>
        </p:nvPicPr>
        <p:blipFill>
          <a:blip r:embed="rId2" cstate="print"/>
          <a:srcRect/>
          <a:stretch>
            <a:fillRect/>
          </a:stretch>
        </p:blipFill>
        <p:spPr bwMode="auto">
          <a:xfrm>
            <a:off x="0" y="0"/>
            <a:ext cx="9144000" cy="6858000"/>
          </a:xfrm>
          <a:prstGeom prst="rect">
            <a:avLst/>
          </a:prstGeom>
          <a:noFill/>
        </p:spPr>
      </p:pic>
      <p:sp>
        <p:nvSpPr>
          <p:cNvPr id="6" name="TextBox 5"/>
          <p:cNvSpPr txBox="1"/>
          <p:nvPr/>
        </p:nvSpPr>
        <p:spPr>
          <a:xfrm>
            <a:off x="683568" y="1052736"/>
            <a:ext cx="7488832" cy="2585323"/>
          </a:xfrm>
          <a:prstGeom prst="rect">
            <a:avLst/>
          </a:prstGeom>
          <a:noFill/>
        </p:spPr>
        <p:txBody>
          <a:bodyPr wrap="square" rtlCol="0">
            <a:spAutoFit/>
          </a:bodyPr>
          <a:lstStyle/>
          <a:p>
            <a:pPr marL="465138" indent="-465138">
              <a:lnSpc>
                <a:spcPct val="150000"/>
              </a:lnSpc>
              <a:buFont typeface="Wingdings" pitchFamily="2" charset="2"/>
              <a:buChar char="q"/>
              <a:tabLst>
                <a:tab pos="465138" algn="l"/>
              </a:tabLst>
            </a:pPr>
            <a:r>
              <a:rPr lang="en-US" b="1" dirty="0">
                <a:latin typeface="Arial" pitchFamily="34" charset="0"/>
                <a:cs typeface="Arial" pitchFamily="34" charset="0"/>
              </a:rPr>
              <a:t>Pass Through Certificates (PTCs) are issued by </a:t>
            </a:r>
            <a:r>
              <a:rPr lang="en-US" b="1" dirty="0" smtClean="0">
                <a:latin typeface="Arial" pitchFamily="34" charset="0"/>
                <a:cs typeface="Arial" pitchFamily="34" charset="0"/>
              </a:rPr>
              <a:t>banks</a:t>
            </a:r>
            <a:br>
              <a:rPr lang="en-US" b="1" dirty="0" smtClean="0">
                <a:latin typeface="Arial" pitchFamily="34" charset="0"/>
                <a:cs typeface="Arial" pitchFamily="34" charset="0"/>
              </a:rPr>
            </a:br>
            <a:r>
              <a:rPr lang="en-US" b="1" dirty="0" smtClean="0">
                <a:latin typeface="Arial" pitchFamily="34" charset="0"/>
                <a:cs typeface="Arial" pitchFamily="34" charset="0"/>
              </a:rPr>
              <a:t>as </a:t>
            </a:r>
            <a:r>
              <a:rPr lang="en-US" b="1" dirty="0">
                <a:latin typeface="Arial" pitchFamily="34" charset="0"/>
                <a:cs typeface="Arial" pitchFamily="34" charset="0"/>
              </a:rPr>
              <a:t>a  safeguard against risks.</a:t>
            </a:r>
          </a:p>
          <a:p>
            <a:pPr marL="465138" indent="-465138">
              <a:lnSpc>
                <a:spcPct val="150000"/>
              </a:lnSpc>
              <a:buFont typeface="Wingdings" pitchFamily="2" charset="2"/>
              <a:buChar char="q"/>
              <a:tabLst>
                <a:tab pos="465138" algn="l"/>
              </a:tabLst>
            </a:pPr>
            <a:endParaRPr lang="en-US" b="1" dirty="0">
              <a:latin typeface="Arial" pitchFamily="34" charset="0"/>
              <a:cs typeface="Arial" pitchFamily="34" charset="0"/>
            </a:endParaRPr>
          </a:p>
          <a:p>
            <a:pPr marL="465138" indent="-465138">
              <a:lnSpc>
                <a:spcPct val="150000"/>
              </a:lnSpc>
              <a:buFont typeface="Wingdings" pitchFamily="2" charset="2"/>
              <a:buChar char="q"/>
              <a:tabLst>
                <a:tab pos="465138" algn="l"/>
              </a:tabLst>
            </a:pPr>
            <a:r>
              <a:rPr lang="en-US" b="1" i="1" dirty="0">
                <a:latin typeface="Arial" pitchFamily="34" charset="0"/>
                <a:cs typeface="Arial" pitchFamily="34" charset="0"/>
              </a:rPr>
              <a:t>Simply </a:t>
            </a:r>
            <a:r>
              <a:rPr lang="en-US" b="1" dirty="0">
                <a:latin typeface="Arial" pitchFamily="34" charset="0"/>
                <a:cs typeface="Arial" pitchFamily="34" charset="0"/>
              </a:rPr>
              <a:t>put, the banks, through PTCs, transfer some of </a:t>
            </a:r>
            <a:r>
              <a:rPr lang="en-US" b="1" dirty="0" smtClean="0">
                <a:latin typeface="Arial" pitchFamily="34" charset="0"/>
                <a:cs typeface="Arial" pitchFamily="34" charset="0"/>
              </a:rPr>
              <a:t>their</a:t>
            </a:r>
            <a:br>
              <a:rPr lang="en-US" b="1" dirty="0" smtClean="0">
                <a:latin typeface="Arial" pitchFamily="34" charset="0"/>
                <a:cs typeface="Arial" pitchFamily="34" charset="0"/>
              </a:rPr>
            </a:br>
            <a:r>
              <a:rPr lang="en-US" b="1" dirty="0" smtClean="0">
                <a:latin typeface="Arial" pitchFamily="34" charset="0"/>
                <a:cs typeface="Arial" pitchFamily="34" charset="0"/>
              </a:rPr>
              <a:t>long </a:t>
            </a:r>
            <a:r>
              <a:rPr lang="en-US" b="1" dirty="0">
                <a:latin typeface="Arial" pitchFamily="34" charset="0"/>
                <a:cs typeface="Arial" pitchFamily="34" charset="0"/>
              </a:rPr>
              <a:t>term mortgaged assets (receivables) on to other </a:t>
            </a:r>
            <a:r>
              <a:rPr lang="en-US" b="1" dirty="0" smtClean="0">
                <a:latin typeface="Arial" pitchFamily="34" charset="0"/>
                <a:cs typeface="Arial" pitchFamily="34" charset="0"/>
              </a:rPr>
              <a:t>investors like </a:t>
            </a:r>
            <a:r>
              <a:rPr lang="en-US" b="1" dirty="0">
                <a:latin typeface="Arial" pitchFamily="34" charset="0"/>
                <a:cs typeface="Arial" pitchFamily="34" charset="0"/>
              </a:rPr>
              <a:t>NBFCs and Mutual Funds.</a:t>
            </a:r>
          </a:p>
        </p:txBody>
      </p:sp>
      <p:sp>
        <p:nvSpPr>
          <p:cNvPr id="7" name="TextBox 6"/>
          <p:cNvSpPr txBox="1"/>
          <p:nvPr/>
        </p:nvSpPr>
        <p:spPr>
          <a:xfrm>
            <a:off x="1619672" y="476672"/>
            <a:ext cx="5688632" cy="400110"/>
          </a:xfrm>
          <a:prstGeom prst="rect">
            <a:avLst/>
          </a:prstGeom>
          <a:noFill/>
        </p:spPr>
        <p:txBody>
          <a:bodyPr wrap="square" rtlCol="0">
            <a:spAutoFit/>
          </a:bodyPr>
          <a:lstStyle/>
          <a:p>
            <a:pPr algn="ctr"/>
            <a:r>
              <a:rPr lang="en-US" sz="2000" b="1" dirty="0">
                <a:solidFill>
                  <a:schemeClr val="bg1"/>
                </a:solidFill>
                <a:latin typeface="Arial" pitchFamily="34" charset="0"/>
                <a:cs typeface="Arial" pitchFamily="34" charset="0"/>
              </a:rPr>
              <a:t>PASS THROUGH CERTIFICATES</a:t>
            </a:r>
          </a:p>
        </p:txBody>
      </p:sp>
    </p:spTree>
    <p:extLst>
      <p:ext uri="{BB962C8B-B14F-4D97-AF65-F5344CB8AC3E}">
        <p14:creationId xmlns:p14="http://schemas.microsoft.com/office/powerpoint/2010/main" xmlns="" val="556543765"/>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manisha\Desktop\From Rajni\Jpegs_blank\PSS_LESSONS_PG3.jpg"/>
          <p:cNvPicPr>
            <a:picLocks noChangeAspect="1" noChangeArrowheads="1"/>
          </p:cNvPicPr>
          <p:nvPr/>
        </p:nvPicPr>
        <p:blipFill>
          <a:blip r:embed="rId2" cstate="print"/>
          <a:srcRect/>
          <a:stretch>
            <a:fillRect/>
          </a:stretch>
        </p:blipFill>
        <p:spPr bwMode="auto">
          <a:xfrm>
            <a:off x="0" y="0"/>
            <a:ext cx="9144000" cy="6858000"/>
          </a:xfrm>
          <a:prstGeom prst="rect">
            <a:avLst/>
          </a:prstGeom>
          <a:noFill/>
        </p:spPr>
      </p:pic>
      <p:sp>
        <p:nvSpPr>
          <p:cNvPr id="5" name="TextBox 4"/>
          <p:cNvSpPr txBox="1"/>
          <p:nvPr/>
        </p:nvSpPr>
        <p:spPr>
          <a:xfrm>
            <a:off x="683568" y="1124744"/>
            <a:ext cx="7200800" cy="3416320"/>
          </a:xfrm>
          <a:prstGeom prst="rect">
            <a:avLst/>
          </a:prstGeom>
          <a:noFill/>
        </p:spPr>
        <p:txBody>
          <a:bodyPr wrap="square" rtlCol="0">
            <a:spAutoFit/>
          </a:bodyPr>
          <a:lstStyle/>
          <a:p>
            <a:pPr>
              <a:lnSpc>
                <a:spcPct val="200000"/>
              </a:lnSpc>
            </a:pPr>
            <a:r>
              <a:rPr lang="en-US" b="1" dirty="0">
                <a:latin typeface="Arial" pitchFamily="34" charset="0"/>
                <a:cs typeface="Arial" pitchFamily="34" charset="0"/>
              </a:rPr>
              <a:t>Why do they do this</a:t>
            </a:r>
            <a:r>
              <a:rPr lang="en-US" b="1" dirty="0" smtClean="0">
                <a:latin typeface="Arial" pitchFamily="34" charset="0"/>
                <a:cs typeface="Arial" pitchFamily="34" charset="0"/>
              </a:rPr>
              <a:t>?</a:t>
            </a:r>
          </a:p>
          <a:p>
            <a:pPr marL="465138" indent="-465138">
              <a:lnSpc>
                <a:spcPct val="200000"/>
              </a:lnSpc>
              <a:buFont typeface="Wingdings" pitchFamily="2" charset="2"/>
              <a:buChar char="q"/>
              <a:tabLst>
                <a:tab pos="465138" algn="l"/>
              </a:tabLst>
            </a:pPr>
            <a:r>
              <a:rPr lang="en-US" b="1" dirty="0" smtClean="0">
                <a:latin typeface="Arial" pitchFamily="34" charset="0"/>
                <a:cs typeface="Arial" pitchFamily="34" charset="0"/>
              </a:rPr>
              <a:t>They </a:t>
            </a:r>
            <a:r>
              <a:rPr lang="en-US" b="1" dirty="0">
                <a:latin typeface="Arial" pitchFamily="34" charset="0"/>
                <a:cs typeface="Arial" pitchFamily="34" charset="0"/>
              </a:rPr>
              <a:t>do this because they want to share some of their risks with other players.</a:t>
            </a:r>
          </a:p>
          <a:p>
            <a:pPr marL="465138" indent="-465138">
              <a:lnSpc>
                <a:spcPct val="200000"/>
              </a:lnSpc>
              <a:buFont typeface="Wingdings" pitchFamily="2" charset="2"/>
              <a:buChar char="q"/>
              <a:tabLst>
                <a:tab pos="465138" algn="l"/>
              </a:tabLst>
            </a:pPr>
            <a:r>
              <a:rPr lang="en-US" b="1" dirty="0" smtClean="0">
                <a:latin typeface="Arial" pitchFamily="34" charset="0"/>
                <a:cs typeface="Arial" pitchFamily="34" charset="0"/>
              </a:rPr>
              <a:t>They </a:t>
            </a:r>
            <a:r>
              <a:rPr lang="en-US" b="1" dirty="0">
                <a:latin typeface="Arial" pitchFamily="34" charset="0"/>
                <a:cs typeface="Arial" pitchFamily="34" charset="0"/>
              </a:rPr>
              <a:t>also do this to release capital &amp; book profits.</a:t>
            </a:r>
          </a:p>
          <a:p>
            <a:pPr marL="465138" indent="-465138">
              <a:lnSpc>
                <a:spcPct val="200000"/>
              </a:lnSpc>
              <a:buFont typeface="Wingdings" pitchFamily="2" charset="2"/>
              <a:buChar char="q"/>
              <a:tabLst>
                <a:tab pos="465138" algn="l"/>
              </a:tabLst>
            </a:pPr>
            <a:r>
              <a:rPr lang="en-US" b="1" dirty="0" smtClean="0">
                <a:latin typeface="Arial" pitchFamily="34" charset="0"/>
                <a:cs typeface="Arial" pitchFamily="34" charset="0"/>
              </a:rPr>
              <a:t>Investors </a:t>
            </a:r>
            <a:r>
              <a:rPr lang="en-US" b="1" dirty="0">
                <a:latin typeface="Arial" pitchFamily="34" charset="0"/>
                <a:cs typeface="Arial" pitchFamily="34" charset="0"/>
              </a:rPr>
              <a:t>get interested because they stand to earn more for sharing the risk</a:t>
            </a:r>
            <a:r>
              <a:rPr lang="en-US" b="1" dirty="0" smtClean="0">
                <a:latin typeface="Arial" pitchFamily="34" charset="0"/>
                <a:cs typeface="Arial" pitchFamily="34" charset="0"/>
              </a:rPr>
              <a:t>.</a:t>
            </a:r>
            <a:endParaRPr lang="en-US" b="1" dirty="0">
              <a:latin typeface="Arial" pitchFamily="34" charset="0"/>
              <a:cs typeface="Arial" pitchFamily="34" charset="0"/>
            </a:endParaRPr>
          </a:p>
        </p:txBody>
      </p:sp>
      <p:sp>
        <p:nvSpPr>
          <p:cNvPr id="6" name="TextBox 5"/>
          <p:cNvSpPr txBox="1"/>
          <p:nvPr/>
        </p:nvSpPr>
        <p:spPr>
          <a:xfrm>
            <a:off x="1619672" y="476672"/>
            <a:ext cx="5688632" cy="400110"/>
          </a:xfrm>
          <a:prstGeom prst="rect">
            <a:avLst/>
          </a:prstGeom>
          <a:noFill/>
        </p:spPr>
        <p:txBody>
          <a:bodyPr wrap="square" rtlCol="0">
            <a:spAutoFit/>
          </a:bodyPr>
          <a:lstStyle/>
          <a:p>
            <a:pPr algn="ctr"/>
            <a:r>
              <a:rPr lang="en-US" sz="2000" b="1" dirty="0">
                <a:solidFill>
                  <a:schemeClr val="bg1"/>
                </a:solidFill>
                <a:latin typeface="Arial" pitchFamily="34" charset="0"/>
                <a:cs typeface="Arial" pitchFamily="34" charset="0"/>
              </a:rPr>
              <a:t>PASS THROUGH CERTIFICATES</a:t>
            </a:r>
          </a:p>
        </p:txBody>
      </p:sp>
    </p:spTree>
    <p:extLst>
      <p:ext uri="{BB962C8B-B14F-4D97-AF65-F5344CB8AC3E}">
        <p14:creationId xmlns:p14="http://schemas.microsoft.com/office/powerpoint/2010/main" xmlns="" val="2751265231"/>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manisha\Desktop\From Rajni\Jpegs_blank\PSS_LESSONS_PG3.jpg"/>
          <p:cNvPicPr>
            <a:picLocks noChangeAspect="1" noChangeArrowheads="1"/>
          </p:cNvPicPr>
          <p:nvPr/>
        </p:nvPicPr>
        <p:blipFill>
          <a:blip r:embed="rId2" cstate="print"/>
          <a:srcRect/>
          <a:stretch>
            <a:fillRect/>
          </a:stretch>
        </p:blipFill>
        <p:spPr bwMode="auto">
          <a:xfrm>
            <a:off x="0" y="0"/>
            <a:ext cx="9144000" cy="6858000"/>
          </a:xfrm>
          <a:prstGeom prst="rect">
            <a:avLst/>
          </a:prstGeom>
          <a:noFill/>
        </p:spPr>
      </p:pic>
      <p:sp>
        <p:nvSpPr>
          <p:cNvPr id="3" name="TextBox 2"/>
          <p:cNvSpPr txBox="1"/>
          <p:nvPr/>
        </p:nvSpPr>
        <p:spPr>
          <a:xfrm>
            <a:off x="827584" y="1164808"/>
            <a:ext cx="7200800" cy="3416320"/>
          </a:xfrm>
          <a:prstGeom prst="rect">
            <a:avLst/>
          </a:prstGeom>
          <a:noFill/>
        </p:spPr>
        <p:txBody>
          <a:bodyPr wrap="square" rtlCol="0">
            <a:spAutoFit/>
          </a:bodyPr>
          <a:lstStyle/>
          <a:p>
            <a:pPr marL="465138" indent="-465138">
              <a:lnSpc>
                <a:spcPct val="200000"/>
              </a:lnSpc>
              <a:buFont typeface="Wingdings" pitchFamily="2" charset="2"/>
              <a:buChar char="q"/>
              <a:tabLst>
                <a:tab pos="465138" algn="l"/>
              </a:tabLst>
            </a:pPr>
            <a:r>
              <a:rPr lang="en-US" b="1" dirty="0" smtClean="0">
                <a:latin typeface="Arial" pitchFamily="34" charset="0"/>
                <a:cs typeface="Arial" pitchFamily="34" charset="0"/>
              </a:rPr>
              <a:t>The </a:t>
            </a:r>
            <a:r>
              <a:rPr lang="en-US" b="1" dirty="0">
                <a:latin typeface="Arial" pitchFamily="34" charset="0"/>
                <a:cs typeface="Arial" pitchFamily="34" charset="0"/>
              </a:rPr>
              <a:t>transfer is done by means of a Special Purpose Vehicle </a:t>
            </a:r>
            <a:r>
              <a:rPr lang="en-US" b="1" dirty="0" smtClean="0">
                <a:latin typeface="Arial" pitchFamily="34" charset="0"/>
                <a:cs typeface="Arial" pitchFamily="34" charset="0"/>
              </a:rPr>
              <a:t> (SPV) which </a:t>
            </a:r>
            <a:r>
              <a:rPr lang="en-US" b="1" dirty="0">
                <a:latin typeface="Arial" pitchFamily="34" charset="0"/>
                <a:cs typeface="Arial" pitchFamily="34" charset="0"/>
              </a:rPr>
              <a:t>mediates between the investor and borrower</a:t>
            </a:r>
            <a:r>
              <a:rPr lang="en-US" b="1" dirty="0" smtClean="0">
                <a:latin typeface="Arial" pitchFamily="34" charset="0"/>
                <a:cs typeface="Arial" pitchFamily="34" charset="0"/>
              </a:rPr>
              <a:t>.</a:t>
            </a:r>
          </a:p>
          <a:p>
            <a:pPr marL="465138" indent="-465138">
              <a:lnSpc>
                <a:spcPct val="200000"/>
              </a:lnSpc>
              <a:buFont typeface="Wingdings" pitchFamily="2" charset="2"/>
              <a:buChar char="q"/>
              <a:tabLst>
                <a:tab pos="465138" algn="l"/>
              </a:tabLst>
            </a:pPr>
            <a:r>
              <a:rPr lang="en-US" b="1" dirty="0" smtClean="0">
                <a:latin typeface="Arial" pitchFamily="34" charset="0"/>
                <a:cs typeface="Arial" pitchFamily="34" charset="0"/>
              </a:rPr>
              <a:t>The PTC ensures that the loan re-payment is made to the investor instead of the bank.</a:t>
            </a:r>
          </a:p>
          <a:p>
            <a:pPr marL="465138" indent="-465138">
              <a:lnSpc>
                <a:spcPct val="200000"/>
              </a:lnSpc>
              <a:buFont typeface="Wingdings" pitchFamily="2" charset="2"/>
              <a:buChar char="q"/>
              <a:tabLst>
                <a:tab pos="465138" algn="l"/>
              </a:tabLst>
            </a:pPr>
            <a:r>
              <a:rPr lang="en-US" b="1" dirty="0" smtClean="0">
                <a:latin typeface="Arial" pitchFamily="34" charset="0"/>
                <a:cs typeface="Arial" pitchFamily="34" charset="0"/>
              </a:rPr>
              <a:t>Thus the borrower is accountable to the investor instead of the bank.</a:t>
            </a:r>
            <a:endParaRPr lang="en-US" b="1" dirty="0">
              <a:latin typeface="Arial" pitchFamily="34" charset="0"/>
              <a:cs typeface="Arial" pitchFamily="34" charset="0"/>
            </a:endParaRPr>
          </a:p>
        </p:txBody>
      </p:sp>
      <p:sp>
        <p:nvSpPr>
          <p:cNvPr id="4" name="TextBox 3"/>
          <p:cNvSpPr txBox="1"/>
          <p:nvPr/>
        </p:nvSpPr>
        <p:spPr>
          <a:xfrm>
            <a:off x="1619672" y="476672"/>
            <a:ext cx="5688632" cy="400110"/>
          </a:xfrm>
          <a:prstGeom prst="rect">
            <a:avLst/>
          </a:prstGeom>
          <a:noFill/>
        </p:spPr>
        <p:txBody>
          <a:bodyPr wrap="square" rtlCol="0">
            <a:spAutoFit/>
          </a:bodyPr>
          <a:lstStyle/>
          <a:p>
            <a:pPr algn="ctr"/>
            <a:r>
              <a:rPr lang="en-US" sz="2000" b="1" dirty="0">
                <a:solidFill>
                  <a:schemeClr val="bg1"/>
                </a:solidFill>
                <a:latin typeface="Arial" pitchFamily="34" charset="0"/>
                <a:cs typeface="Arial" pitchFamily="34" charset="0"/>
              </a:rPr>
              <a:t>PASS THROUGH CERTIFICATES</a:t>
            </a:r>
          </a:p>
        </p:txBody>
      </p:sp>
    </p:spTree>
    <p:extLst>
      <p:ext uri="{BB962C8B-B14F-4D97-AF65-F5344CB8AC3E}">
        <p14:creationId xmlns:p14="http://schemas.microsoft.com/office/powerpoint/2010/main" xmlns="" val="1475009375"/>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manisha\Desktop\From Rajni\Jpegs_blank\PSS_LESSONS_PG3.jpg"/>
          <p:cNvPicPr>
            <a:picLocks noChangeAspect="1" noChangeArrowheads="1"/>
          </p:cNvPicPr>
          <p:nvPr/>
        </p:nvPicPr>
        <p:blipFill>
          <a:blip r:embed="rId2" cstate="print"/>
          <a:srcRect/>
          <a:stretch>
            <a:fillRect/>
          </a:stretch>
        </p:blipFill>
        <p:spPr bwMode="auto">
          <a:xfrm>
            <a:off x="0" y="0"/>
            <a:ext cx="9144000" cy="6858000"/>
          </a:xfrm>
          <a:prstGeom prst="rect">
            <a:avLst/>
          </a:prstGeom>
          <a:noFill/>
        </p:spPr>
      </p:pic>
      <p:sp>
        <p:nvSpPr>
          <p:cNvPr id="3" name="TextBox 2"/>
          <p:cNvSpPr txBox="1"/>
          <p:nvPr/>
        </p:nvSpPr>
        <p:spPr>
          <a:xfrm>
            <a:off x="683568" y="1124744"/>
            <a:ext cx="7200800" cy="2308324"/>
          </a:xfrm>
          <a:prstGeom prst="rect">
            <a:avLst/>
          </a:prstGeom>
          <a:noFill/>
        </p:spPr>
        <p:txBody>
          <a:bodyPr wrap="square" rtlCol="0">
            <a:spAutoFit/>
          </a:bodyPr>
          <a:lstStyle/>
          <a:p>
            <a:pPr>
              <a:lnSpc>
                <a:spcPct val="200000"/>
              </a:lnSpc>
            </a:pPr>
            <a:r>
              <a:rPr lang="en-US" b="1" dirty="0">
                <a:latin typeface="Arial" pitchFamily="34" charset="0"/>
                <a:cs typeface="Arial" pitchFamily="34" charset="0"/>
              </a:rPr>
              <a:t>What happens </a:t>
            </a:r>
            <a:r>
              <a:rPr lang="en-US" b="1" dirty="0" smtClean="0">
                <a:latin typeface="Arial" pitchFamily="34" charset="0"/>
                <a:cs typeface="Arial" pitchFamily="34" charset="0"/>
              </a:rPr>
              <a:t>if  </a:t>
            </a:r>
            <a:r>
              <a:rPr lang="en-US" b="1" dirty="0">
                <a:latin typeface="Arial" pitchFamily="34" charset="0"/>
                <a:cs typeface="Arial" pitchFamily="34" charset="0"/>
              </a:rPr>
              <a:t>the borrower starts to default? </a:t>
            </a:r>
            <a:r>
              <a:rPr lang="en-US" b="1" dirty="0" smtClean="0">
                <a:latin typeface="Arial" pitchFamily="34" charset="0"/>
                <a:cs typeface="Arial" pitchFamily="34" charset="0"/>
              </a:rPr>
              <a:t>…</a:t>
            </a:r>
          </a:p>
          <a:p>
            <a:pPr>
              <a:lnSpc>
                <a:spcPct val="200000"/>
              </a:lnSpc>
            </a:pPr>
            <a:endParaRPr lang="en-US" b="1" dirty="0" smtClean="0">
              <a:latin typeface="Arial" pitchFamily="34" charset="0"/>
              <a:cs typeface="Arial" pitchFamily="34" charset="0"/>
            </a:endParaRPr>
          </a:p>
          <a:p>
            <a:pPr>
              <a:lnSpc>
                <a:spcPct val="200000"/>
              </a:lnSpc>
            </a:pPr>
            <a:r>
              <a:rPr lang="en-US" b="1" dirty="0" smtClean="0">
                <a:latin typeface="Arial" pitchFamily="34" charset="0"/>
                <a:cs typeface="Arial" pitchFamily="34" charset="0"/>
              </a:rPr>
              <a:t>If </a:t>
            </a:r>
            <a:r>
              <a:rPr lang="en-US" b="1" dirty="0">
                <a:latin typeface="Arial" pitchFamily="34" charset="0"/>
                <a:cs typeface="Arial" pitchFamily="34" charset="0"/>
              </a:rPr>
              <a:t>the borrower starts defaulting, the SPV sells </a:t>
            </a:r>
            <a:r>
              <a:rPr lang="en-US" b="1" dirty="0" smtClean="0">
                <a:latin typeface="Arial" pitchFamily="34" charset="0"/>
                <a:cs typeface="Arial" pitchFamily="34" charset="0"/>
              </a:rPr>
              <a:t>off the mortgaged </a:t>
            </a:r>
            <a:r>
              <a:rPr lang="en-US" b="1" dirty="0">
                <a:latin typeface="Arial" pitchFamily="34" charset="0"/>
                <a:cs typeface="Arial" pitchFamily="34" charset="0"/>
              </a:rPr>
              <a:t>asset and recovers the money</a:t>
            </a:r>
            <a:r>
              <a:rPr lang="en-US" b="1" dirty="0" smtClean="0">
                <a:latin typeface="Arial" pitchFamily="34" charset="0"/>
                <a:cs typeface="Arial" pitchFamily="34" charset="0"/>
              </a:rPr>
              <a:t>.</a:t>
            </a:r>
            <a:endParaRPr lang="en-US" b="1" dirty="0">
              <a:latin typeface="Arial" pitchFamily="34" charset="0"/>
              <a:cs typeface="Arial" pitchFamily="34" charset="0"/>
            </a:endParaRPr>
          </a:p>
        </p:txBody>
      </p:sp>
      <p:sp>
        <p:nvSpPr>
          <p:cNvPr id="4" name="TextBox 3"/>
          <p:cNvSpPr txBox="1"/>
          <p:nvPr/>
        </p:nvSpPr>
        <p:spPr>
          <a:xfrm>
            <a:off x="1619672" y="476672"/>
            <a:ext cx="5688632" cy="400110"/>
          </a:xfrm>
          <a:prstGeom prst="rect">
            <a:avLst/>
          </a:prstGeom>
          <a:noFill/>
        </p:spPr>
        <p:txBody>
          <a:bodyPr wrap="square" rtlCol="0">
            <a:spAutoFit/>
          </a:bodyPr>
          <a:lstStyle/>
          <a:p>
            <a:pPr algn="ctr"/>
            <a:r>
              <a:rPr lang="en-US" sz="2000" b="1" dirty="0">
                <a:solidFill>
                  <a:schemeClr val="bg1"/>
                </a:solidFill>
                <a:latin typeface="Arial" pitchFamily="34" charset="0"/>
                <a:cs typeface="Arial" pitchFamily="34" charset="0"/>
              </a:rPr>
              <a:t>PASS THROUGH CERTIFICATES</a:t>
            </a:r>
          </a:p>
        </p:txBody>
      </p:sp>
    </p:spTree>
    <p:extLst>
      <p:ext uri="{BB962C8B-B14F-4D97-AF65-F5344CB8AC3E}">
        <p14:creationId xmlns:p14="http://schemas.microsoft.com/office/powerpoint/2010/main" xmlns="" val="1977377962"/>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2" descr="C:\Users\Ramiz\Desktop\From Rajni\Jpegs_blank\PSS_LESSONS_PG6.jpg"/>
          <p:cNvPicPr>
            <a:picLocks noChangeAspect="1" noChangeArrowheads="1"/>
          </p:cNvPicPr>
          <p:nvPr/>
        </p:nvPicPr>
        <p:blipFill>
          <a:blip r:embed="rId2" cstate="print"/>
          <a:srcRect/>
          <a:stretch>
            <a:fillRect/>
          </a:stretch>
        </p:blipFill>
        <p:spPr bwMode="auto">
          <a:xfrm>
            <a:off x="0" y="0"/>
            <a:ext cx="9144000" cy="6858000"/>
          </a:xfrm>
          <a:prstGeom prst="rect">
            <a:avLst/>
          </a:prstGeom>
          <a:noFill/>
        </p:spPr>
      </p:pic>
      <p:sp>
        <p:nvSpPr>
          <p:cNvPr id="7" name="TextBox 6"/>
          <p:cNvSpPr txBox="1"/>
          <p:nvPr/>
        </p:nvSpPr>
        <p:spPr>
          <a:xfrm>
            <a:off x="1619672" y="476672"/>
            <a:ext cx="5688632" cy="400110"/>
          </a:xfrm>
          <a:prstGeom prst="rect">
            <a:avLst/>
          </a:prstGeom>
          <a:noFill/>
        </p:spPr>
        <p:txBody>
          <a:bodyPr wrap="square" rtlCol="0">
            <a:spAutoFit/>
          </a:bodyPr>
          <a:lstStyle/>
          <a:p>
            <a:pPr algn="ctr"/>
            <a:r>
              <a:rPr lang="en-US" sz="2000" b="1" dirty="0">
                <a:solidFill>
                  <a:schemeClr val="bg1"/>
                </a:solidFill>
                <a:latin typeface="Arial" pitchFamily="34" charset="0"/>
                <a:cs typeface="Arial" pitchFamily="34" charset="0"/>
              </a:rPr>
              <a:t>PASS THROUGH CERTIFICATES</a:t>
            </a:r>
          </a:p>
        </p:txBody>
      </p:sp>
      <p:sp>
        <p:nvSpPr>
          <p:cNvPr id="3" name="TextBox 2"/>
          <p:cNvSpPr txBox="1"/>
          <p:nvPr/>
        </p:nvSpPr>
        <p:spPr>
          <a:xfrm>
            <a:off x="4716016" y="3343245"/>
            <a:ext cx="3708920" cy="2534027"/>
          </a:xfrm>
          <a:prstGeom prst="rect">
            <a:avLst/>
          </a:prstGeom>
          <a:noFill/>
        </p:spPr>
        <p:txBody>
          <a:bodyPr wrap="square" rtlCol="0">
            <a:spAutoFit/>
          </a:bodyPr>
          <a:lstStyle/>
          <a:p>
            <a:pPr>
              <a:lnSpc>
                <a:spcPct val="150000"/>
              </a:lnSpc>
            </a:pPr>
            <a:r>
              <a:rPr lang="en-US" b="1" dirty="0">
                <a:latin typeface="Arial" pitchFamily="34" charset="0"/>
                <a:cs typeface="Arial" pitchFamily="34" charset="0"/>
              </a:rPr>
              <a:t>PTCs are also used </a:t>
            </a:r>
            <a:r>
              <a:rPr lang="en-US" b="1" dirty="0" smtClean="0">
                <a:latin typeface="Arial" pitchFamily="34" charset="0"/>
                <a:cs typeface="Arial" pitchFamily="34" charset="0"/>
              </a:rPr>
              <a:t>to</a:t>
            </a:r>
            <a:br>
              <a:rPr lang="en-US" b="1" dirty="0" smtClean="0">
                <a:latin typeface="Arial" pitchFamily="34" charset="0"/>
                <a:cs typeface="Arial" pitchFamily="34" charset="0"/>
              </a:rPr>
            </a:br>
            <a:r>
              <a:rPr lang="en-US" b="1" dirty="0" smtClean="0">
                <a:latin typeface="Arial" pitchFamily="34" charset="0"/>
                <a:cs typeface="Arial" pitchFamily="34" charset="0"/>
              </a:rPr>
              <a:t>ensure </a:t>
            </a:r>
            <a:r>
              <a:rPr lang="en-US" b="1" dirty="0">
                <a:latin typeface="Arial" pitchFamily="34" charset="0"/>
                <a:cs typeface="Arial" pitchFamily="34" charset="0"/>
              </a:rPr>
              <a:t>that banks </a:t>
            </a:r>
            <a:r>
              <a:rPr lang="en-US" b="1" dirty="0" smtClean="0">
                <a:latin typeface="Arial" pitchFamily="34" charset="0"/>
                <a:cs typeface="Arial" pitchFamily="34" charset="0"/>
              </a:rPr>
              <a:t>maintain</a:t>
            </a:r>
            <a:br>
              <a:rPr lang="en-US" b="1" dirty="0" smtClean="0">
                <a:latin typeface="Arial" pitchFamily="34" charset="0"/>
                <a:cs typeface="Arial" pitchFamily="34" charset="0"/>
              </a:rPr>
            </a:br>
            <a:r>
              <a:rPr lang="en-US" b="1" dirty="0" smtClean="0">
                <a:latin typeface="Arial" pitchFamily="34" charset="0"/>
                <a:cs typeface="Arial" pitchFamily="34" charset="0"/>
              </a:rPr>
              <a:t>their </a:t>
            </a:r>
            <a:r>
              <a:rPr lang="en-US" b="1" dirty="0">
                <a:latin typeface="Arial" pitchFamily="34" charset="0"/>
                <a:cs typeface="Arial" pitchFamily="34" charset="0"/>
              </a:rPr>
              <a:t>liquidity as per the statutory guidelines of </a:t>
            </a:r>
            <a:r>
              <a:rPr lang="en-US" b="1" dirty="0" smtClean="0">
                <a:latin typeface="Arial" pitchFamily="34" charset="0"/>
                <a:cs typeface="Arial" pitchFamily="34" charset="0"/>
              </a:rPr>
              <a:t>the</a:t>
            </a:r>
            <a:br>
              <a:rPr lang="en-US" b="1" dirty="0" smtClean="0">
                <a:latin typeface="Arial" pitchFamily="34" charset="0"/>
                <a:cs typeface="Arial" pitchFamily="34" charset="0"/>
              </a:rPr>
            </a:br>
            <a:r>
              <a:rPr lang="en-US" b="1" dirty="0" smtClean="0">
                <a:latin typeface="Arial" pitchFamily="34" charset="0"/>
                <a:cs typeface="Arial" pitchFamily="34" charset="0"/>
              </a:rPr>
              <a:t>Reserve </a:t>
            </a:r>
            <a:r>
              <a:rPr lang="en-US" b="1" dirty="0">
                <a:latin typeface="Arial" pitchFamily="34" charset="0"/>
                <a:cs typeface="Arial" pitchFamily="34" charset="0"/>
              </a:rPr>
              <a:t>Bank and at the same time continue lending. </a:t>
            </a:r>
          </a:p>
        </p:txBody>
      </p:sp>
    </p:spTree>
    <p:extLst>
      <p:ext uri="{BB962C8B-B14F-4D97-AF65-F5344CB8AC3E}">
        <p14:creationId xmlns:p14="http://schemas.microsoft.com/office/powerpoint/2010/main" xmlns="" val="2952693186"/>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manisha\Desktop\From Rajni\Jpegs_blank\PSS_LESSONS_PG3.jpg"/>
          <p:cNvPicPr>
            <a:picLocks noChangeAspect="1" noChangeArrowheads="1"/>
          </p:cNvPicPr>
          <p:nvPr/>
        </p:nvPicPr>
        <p:blipFill>
          <a:blip r:embed="rId2" cstate="print"/>
          <a:srcRect/>
          <a:stretch>
            <a:fillRect/>
          </a:stretch>
        </p:blipFill>
        <p:spPr bwMode="auto">
          <a:xfrm>
            <a:off x="0" y="0"/>
            <a:ext cx="9144000" cy="6858000"/>
          </a:xfrm>
          <a:prstGeom prst="rect">
            <a:avLst/>
          </a:prstGeom>
          <a:noFill/>
        </p:spPr>
      </p:pic>
      <p:sp>
        <p:nvSpPr>
          <p:cNvPr id="5" name="TextBox 4"/>
          <p:cNvSpPr txBox="1"/>
          <p:nvPr/>
        </p:nvSpPr>
        <p:spPr>
          <a:xfrm>
            <a:off x="1619672" y="476672"/>
            <a:ext cx="5688632" cy="400110"/>
          </a:xfrm>
          <a:prstGeom prst="rect">
            <a:avLst/>
          </a:prstGeom>
          <a:noFill/>
        </p:spPr>
        <p:txBody>
          <a:bodyPr wrap="square" rtlCol="0">
            <a:spAutoFit/>
          </a:bodyPr>
          <a:lstStyle/>
          <a:p>
            <a:pPr algn="ctr"/>
            <a:r>
              <a:rPr lang="en-US" sz="2000" b="1" dirty="0">
                <a:solidFill>
                  <a:schemeClr val="bg1"/>
                </a:solidFill>
                <a:latin typeface="Arial" pitchFamily="34" charset="0"/>
                <a:cs typeface="Arial" pitchFamily="34" charset="0"/>
              </a:rPr>
              <a:t>PASS THROUGH CERTIFICATES</a:t>
            </a:r>
          </a:p>
        </p:txBody>
      </p:sp>
      <p:sp>
        <p:nvSpPr>
          <p:cNvPr id="6" name="Rectangle 5"/>
          <p:cNvSpPr/>
          <p:nvPr/>
        </p:nvSpPr>
        <p:spPr>
          <a:xfrm>
            <a:off x="683568" y="981883"/>
            <a:ext cx="7776864" cy="4247317"/>
          </a:xfrm>
          <a:prstGeom prst="rect">
            <a:avLst/>
          </a:prstGeom>
        </p:spPr>
        <p:txBody>
          <a:bodyPr wrap="square">
            <a:spAutoFit/>
          </a:bodyPr>
          <a:lstStyle/>
          <a:p>
            <a:pPr algn="ctr">
              <a:lnSpc>
                <a:spcPct val="150000"/>
              </a:lnSpc>
            </a:pPr>
            <a:r>
              <a:rPr lang="en-US" b="1" dirty="0">
                <a:latin typeface="Arial" pitchFamily="34" charset="0"/>
                <a:cs typeface="Arial" pitchFamily="34" charset="0"/>
              </a:rPr>
              <a:t>To Sum </a:t>
            </a:r>
            <a:r>
              <a:rPr lang="en-US" b="1" dirty="0" smtClean="0">
                <a:latin typeface="Arial" pitchFamily="34" charset="0"/>
                <a:cs typeface="Arial" pitchFamily="34" charset="0"/>
              </a:rPr>
              <a:t>Up</a:t>
            </a:r>
          </a:p>
          <a:p>
            <a:pPr marL="465138" indent="-465138">
              <a:lnSpc>
                <a:spcPct val="150000"/>
              </a:lnSpc>
              <a:buFont typeface="Wingdings" pitchFamily="2" charset="2"/>
              <a:buChar char="q"/>
              <a:tabLst>
                <a:tab pos="465138" algn="l"/>
              </a:tabLst>
            </a:pPr>
            <a:r>
              <a:rPr lang="en-US" b="1" dirty="0">
                <a:latin typeface="Arial" pitchFamily="34" charset="0"/>
                <a:cs typeface="Arial" pitchFamily="34" charset="0"/>
              </a:rPr>
              <a:t>What: Pass Through Certificates (PTCs) are instruments of investment issued by banks.</a:t>
            </a:r>
          </a:p>
          <a:p>
            <a:pPr marL="465138" indent="-465138">
              <a:lnSpc>
                <a:spcPct val="150000"/>
              </a:lnSpc>
              <a:buFont typeface="Wingdings" pitchFamily="2" charset="2"/>
              <a:buChar char="q"/>
              <a:tabLst>
                <a:tab pos="465138" algn="l"/>
              </a:tabLst>
            </a:pPr>
            <a:endParaRPr lang="en-US" sz="600" b="1" dirty="0">
              <a:latin typeface="Arial" pitchFamily="34" charset="0"/>
              <a:cs typeface="Arial" pitchFamily="34" charset="0"/>
            </a:endParaRPr>
          </a:p>
          <a:p>
            <a:pPr marL="465138" indent="-465138">
              <a:lnSpc>
                <a:spcPct val="150000"/>
              </a:lnSpc>
              <a:buFont typeface="Wingdings" pitchFamily="2" charset="2"/>
              <a:buChar char="q"/>
              <a:tabLst>
                <a:tab pos="465138" algn="l"/>
              </a:tabLst>
            </a:pPr>
            <a:r>
              <a:rPr lang="en-US" b="1" dirty="0">
                <a:latin typeface="Arial" pitchFamily="34" charset="0"/>
                <a:cs typeface="Arial" pitchFamily="34" charset="0"/>
              </a:rPr>
              <a:t>Why: It provides the bank a tool for hedging risks.</a:t>
            </a:r>
          </a:p>
          <a:p>
            <a:pPr marL="465138" indent="-465138">
              <a:lnSpc>
                <a:spcPct val="150000"/>
              </a:lnSpc>
              <a:buFont typeface="Wingdings" pitchFamily="2" charset="2"/>
              <a:buChar char="q"/>
              <a:tabLst>
                <a:tab pos="465138" algn="l"/>
              </a:tabLst>
            </a:pPr>
            <a:endParaRPr lang="en-US" sz="600" b="1" dirty="0">
              <a:latin typeface="Arial" pitchFamily="34" charset="0"/>
              <a:cs typeface="Arial" pitchFamily="34" charset="0"/>
            </a:endParaRPr>
          </a:p>
          <a:p>
            <a:pPr marL="465138" indent="-465138">
              <a:lnSpc>
                <a:spcPct val="150000"/>
              </a:lnSpc>
              <a:buFont typeface="Wingdings" pitchFamily="2" charset="2"/>
              <a:buChar char="q"/>
              <a:tabLst>
                <a:tab pos="465138" algn="l"/>
              </a:tabLst>
            </a:pPr>
            <a:r>
              <a:rPr lang="en-US" b="1" dirty="0">
                <a:latin typeface="Arial" pitchFamily="34" charset="0"/>
                <a:cs typeface="Arial" pitchFamily="34" charset="0"/>
              </a:rPr>
              <a:t>When: They are issued when the bank feels it has too many risky assets to hold on to or when it needs additional capital for lending.</a:t>
            </a:r>
          </a:p>
          <a:p>
            <a:pPr marL="465138" indent="-465138">
              <a:lnSpc>
                <a:spcPct val="150000"/>
              </a:lnSpc>
              <a:buFont typeface="Wingdings" pitchFamily="2" charset="2"/>
              <a:buChar char="q"/>
              <a:tabLst>
                <a:tab pos="465138" algn="l"/>
              </a:tabLst>
            </a:pPr>
            <a:endParaRPr lang="en-US" sz="600" b="1" dirty="0">
              <a:latin typeface="Arial" pitchFamily="34" charset="0"/>
              <a:cs typeface="Arial" pitchFamily="34" charset="0"/>
            </a:endParaRPr>
          </a:p>
          <a:p>
            <a:pPr marL="465138" indent="-465138">
              <a:lnSpc>
                <a:spcPct val="150000"/>
              </a:lnSpc>
              <a:buFont typeface="Wingdings" pitchFamily="2" charset="2"/>
              <a:buChar char="q"/>
              <a:tabLst>
                <a:tab pos="465138" algn="l"/>
              </a:tabLst>
            </a:pPr>
            <a:r>
              <a:rPr lang="en-US" b="1" dirty="0">
                <a:latin typeface="Arial" pitchFamily="34" charset="0"/>
                <a:cs typeface="Arial" pitchFamily="34" charset="0"/>
              </a:rPr>
              <a:t>How: The transfer is done by means of a Special Purpose Vehicle or SPV which mediates between the investor and borrower</a:t>
            </a:r>
            <a:r>
              <a:rPr lang="en-US" b="1" dirty="0" smtClean="0">
                <a:latin typeface="Arial" pitchFamily="34" charset="0"/>
                <a:cs typeface="Arial" pitchFamily="34" charset="0"/>
              </a:rPr>
              <a:t>.</a:t>
            </a:r>
            <a:endParaRPr lang="en-US" b="1" dirty="0">
              <a:latin typeface="Arial" pitchFamily="34" charset="0"/>
              <a:cs typeface="Arial" pitchFamily="34" charset="0"/>
            </a:endParaRPr>
          </a:p>
        </p:txBody>
      </p:sp>
    </p:spTree>
    <p:extLst>
      <p:ext uri="{BB962C8B-B14F-4D97-AF65-F5344CB8AC3E}">
        <p14:creationId xmlns:p14="http://schemas.microsoft.com/office/powerpoint/2010/main" xmlns="" val="2418678052"/>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Ramiz\Desktop\From Rajni\Jpegs_blank\PSS_LESSONS_PG6.jpg"/>
          <p:cNvPicPr>
            <a:picLocks noChangeAspect="1" noChangeArrowheads="1"/>
          </p:cNvPicPr>
          <p:nvPr/>
        </p:nvPicPr>
        <p:blipFill>
          <a:blip r:embed="rId2" cstate="print"/>
          <a:srcRect/>
          <a:stretch>
            <a:fillRect/>
          </a:stretch>
        </p:blipFill>
        <p:spPr bwMode="auto">
          <a:xfrm>
            <a:off x="0" y="0"/>
            <a:ext cx="9144000" cy="6858000"/>
          </a:xfrm>
          <a:prstGeom prst="rect">
            <a:avLst/>
          </a:prstGeom>
          <a:noFill/>
        </p:spPr>
      </p:pic>
      <p:sp>
        <p:nvSpPr>
          <p:cNvPr id="3" name="TextBox 2"/>
          <p:cNvSpPr txBox="1"/>
          <p:nvPr/>
        </p:nvSpPr>
        <p:spPr>
          <a:xfrm>
            <a:off x="1619672" y="476672"/>
            <a:ext cx="5688632" cy="400110"/>
          </a:xfrm>
          <a:prstGeom prst="rect">
            <a:avLst/>
          </a:prstGeom>
          <a:noFill/>
        </p:spPr>
        <p:txBody>
          <a:bodyPr wrap="square" rtlCol="0">
            <a:spAutoFit/>
          </a:bodyPr>
          <a:lstStyle/>
          <a:p>
            <a:pPr algn="ctr"/>
            <a:r>
              <a:rPr lang="en-US" sz="2000" b="1" dirty="0">
                <a:solidFill>
                  <a:schemeClr val="bg1"/>
                </a:solidFill>
                <a:latin typeface="Arial" pitchFamily="34" charset="0"/>
                <a:cs typeface="Arial" pitchFamily="34" charset="0"/>
              </a:rPr>
              <a:t>PASS THROUGH CERTIFICATES</a:t>
            </a:r>
          </a:p>
        </p:txBody>
      </p:sp>
      <p:sp>
        <p:nvSpPr>
          <p:cNvPr id="4" name="TextBox 3"/>
          <p:cNvSpPr txBox="1"/>
          <p:nvPr/>
        </p:nvSpPr>
        <p:spPr>
          <a:xfrm>
            <a:off x="3995936" y="4653136"/>
            <a:ext cx="4176464" cy="1338828"/>
          </a:xfrm>
          <a:prstGeom prst="rect">
            <a:avLst/>
          </a:prstGeom>
          <a:noFill/>
        </p:spPr>
        <p:txBody>
          <a:bodyPr wrap="square" rtlCol="0">
            <a:spAutoFit/>
          </a:bodyPr>
          <a:lstStyle/>
          <a:p>
            <a:pPr>
              <a:lnSpc>
                <a:spcPct val="150000"/>
              </a:lnSpc>
              <a:buFontTx/>
              <a:buNone/>
            </a:pPr>
            <a:r>
              <a:rPr lang="en-US" b="1" dirty="0">
                <a:latin typeface="Arial" pitchFamily="34" charset="0"/>
                <a:cs typeface="Arial" pitchFamily="34" charset="0"/>
              </a:rPr>
              <a:t>Hope you have now </a:t>
            </a:r>
            <a:r>
              <a:rPr lang="en-US" b="1" dirty="0" smtClean="0">
                <a:latin typeface="Arial" pitchFamily="34" charset="0"/>
                <a:cs typeface="Arial" pitchFamily="34" charset="0"/>
              </a:rPr>
              <a:t>understood</a:t>
            </a:r>
            <a:br>
              <a:rPr lang="en-US" b="1" dirty="0" smtClean="0">
                <a:latin typeface="Arial" pitchFamily="34" charset="0"/>
                <a:cs typeface="Arial" pitchFamily="34" charset="0"/>
              </a:rPr>
            </a:br>
            <a:r>
              <a:rPr lang="en-US" b="1" dirty="0" smtClean="0">
                <a:latin typeface="Arial" pitchFamily="34" charset="0"/>
                <a:cs typeface="Arial" pitchFamily="34" charset="0"/>
              </a:rPr>
              <a:t>the </a:t>
            </a:r>
            <a:r>
              <a:rPr lang="en-US" b="1" dirty="0">
                <a:latin typeface="Arial" pitchFamily="34" charset="0"/>
                <a:cs typeface="Arial" pitchFamily="34" charset="0"/>
              </a:rPr>
              <a:t>concept of</a:t>
            </a:r>
          </a:p>
          <a:p>
            <a:pPr>
              <a:lnSpc>
                <a:spcPct val="150000"/>
              </a:lnSpc>
              <a:buFontTx/>
              <a:buNone/>
            </a:pPr>
            <a:r>
              <a:rPr lang="en-US" b="1" dirty="0">
                <a:latin typeface="Arial" pitchFamily="34" charset="0"/>
                <a:cs typeface="Arial" pitchFamily="34" charset="0"/>
              </a:rPr>
              <a:t>Pass Through Certificates</a:t>
            </a:r>
          </a:p>
        </p:txBody>
      </p:sp>
    </p:spTree>
    <p:extLst>
      <p:ext uri="{BB962C8B-B14F-4D97-AF65-F5344CB8AC3E}">
        <p14:creationId xmlns:p14="http://schemas.microsoft.com/office/powerpoint/2010/main" xmlns="" val="2664693058"/>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 name="Group 7"/>
          <p:cNvGrpSpPr/>
          <p:nvPr/>
        </p:nvGrpSpPr>
        <p:grpSpPr>
          <a:xfrm>
            <a:off x="-10705" y="-1"/>
            <a:ext cx="9144000" cy="6858001"/>
            <a:chOff x="0" y="-1"/>
            <a:chExt cx="9144000" cy="6858001"/>
          </a:xfrm>
        </p:grpSpPr>
        <p:pic>
          <p:nvPicPr>
            <p:cNvPr id="9" name="Picture 2" descr="C:\Users\manisha\Desktop\From Rajni\Jpegs_blank\PSS_LESSONS_PG4.jpg"/>
            <p:cNvPicPr>
              <a:picLocks noChangeAspect="1" noChangeArrowheads="1"/>
            </p:cNvPicPr>
            <p:nvPr/>
          </p:nvPicPr>
          <p:blipFill>
            <a:blip r:embed="rId2" cstate="print"/>
            <a:srcRect/>
            <a:stretch>
              <a:fillRect/>
            </a:stretch>
          </p:blipFill>
          <p:spPr bwMode="auto">
            <a:xfrm>
              <a:off x="0" y="-1"/>
              <a:ext cx="9144000" cy="6858001"/>
            </a:xfrm>
            <a:prstGeom prst="rect">
              <a:avLst/>
            </a:prstGeom>
            <a:noFill/>
          </p:spPr>
        </p:pic>
        <p:pic>
          <p:nvPicPr>
            <p:cNvPr id="10" name="Picture 23" descr="TMF Logo New.jpg"/>
            <p:cNvPicPr>
              <a:picLocks noChangeAspect="1"/>
            </p:cNvPicPr>
            <p:nvPr/>
          </p:nvPicPr>
          <p:blipFill>
            <a:blip r:embed="rId3" cstate="print"/>
            <a:srcRect/>
            <a:stretch>
              <a:fillRect/>
            </a:stretch>
          </p:blipFill>
          <p:spPr bwMode="auto">
            <a:xfrm>
              <a:off x="7773739" y="285750"/>
              <a:ext cx="974725" cy="681038"/>
            </a:xfrm>
            <a:prstGeom prst="rect">
              <a:avLst/>
            </a:prstGeom>
            <a:noFill/>
            <a:ln w="9525">
              <a:noFill/>
              <a:miter lim="800000"/>
              <a:headEnd/>
              <a:tailEnd/>
            </a:ln>
          </p:spPr>
        </p:pic>
      </p:grpSp>
      <p:sp>
        <p:nvSpPr>
          <p:cNvPr id="11" name="TextBox 10"/>
          <p:cNvSpPr txBox="1"/>
          <p:nvPr/>
        </p:nvSpPr>
        <p:spPr>
          <a:xfrm>
            <a:off x="1475656" y="1556792"/>
            <a:ext cx="2979532" cy="1394228"/>
          </a:xfrm>
          <a:prstGeom prst="rect">
            <a:avLst/>
          </a:prstGeom>
          <a:noFill/>
        </p:spPr>
        <p:txBody>
          <a:bodyPr wrap="square" rtlCol="0">
            <a:spAutoFit/>
          </a:bodyPr>
          <a:lstStyle/>
          <a:p>
            <a:pPr>
              <a:lnSpc>
                <a:spcPct val="150000"/>
              </a:lnSpc>
              <a:spcBef>
                <a:spcPct val="20000"/>
              </a:spcBef>
            </a:pPr>
            <a:r>
              <a:rPr lang="en-US" b="1" dirty="0">
                <a:latin typeface="Arial" pitchFamily="34" charset="0"/>
                <a:cs typeface="Arial" pitchFamily="34" charset="0"/>
              </a:rPr>
              <a:t>In case of any </a:t>
            </a:r>
            <a:r>
              <a:rPr lang="en-US" b="1" dirty="0" smtClean="0">
                <a:latin typeface="Arial" pitchFamily="34" charset="0"/>
                <a:cs typeface="Arial" pitchFamily="34" charset="0"/>
              </a:rPr>
              <a:t>query, </a:t>
            </a:r>
            <a:br>
              <a:rPr lang="en-US" b="1" dirty="0" smtClean="0">
                <a:latin typeface="Arial" pitchFamily="34" charset="0"/>
                <a:cs typeface="Arial" pitchFamily="34" charset="0"/>
              </a:rPr>
            </a:br>
            <a:r>
              <a:rPr lang="en-US" b="1" dirty="0" smtClean="0">
                <a:latin typeface="Arial" pitchFamily="34" charset="0"/>
                <a:cs typeface="Arial" pitchFamily="34" charset="0"/>
              </a:rPr>
              <a:t>please </a:t>
            </a:r>
            <a:r>
              <a:rPr lang="en-US" b="1" dirty="0">
                <a:latin typeface="Arial" pitchFamily="34" charset="0"/>
                <a:cs typeface="Arial" pitchFamily="34" charset="0"/>
              </a:rPr>
              <a:t>e-mail </a:t>
            </a:r>
          </a:p>
          <a:p>
            <a:pPr>
              <a:lnSpc>
                <a:spcPct val="150000"/>
              </a:lnSpc>
              <a:spcBef>
                <a:spcPct val="20000"/>
              </a:spcBef>
            </a:pPr>
            <a:r>
              <a:rPr lang="en-US" b="1" dirty="0">
                <a:latin typeface="Arial" pitchFamily="34" charset="0"/>
                <a:cs typeface="Arial" pitchFamily="34" charset="0"/>
                <a:hlinkClick r:id="rId4"/>
              </a:rPr>
              <a:t>professor@tataamc.com</a:t>
            </a:r>
            <a:endParaRPr lang="en-US" b="1" dirty="0">
              <a:latin typeface="Arial" pitchFamily="34" charset="0"/>
              <a:cs typeface="Arial" pitchFamily="34" charset="0"/>
            </a:endParaRPr>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latin typeface="Arial" pitchFamily="34" charset="0"/>
              <a:cs typeface="Arial" pitchFamily="34" charset="0"/>
            </a:endParaRPr>
          </a:p>
        </p:txBody>
      </p:sp>
      <p:sp>
        <p:nvSpPr>
          <p:cNvPr id="3" name="Content Placeholder 2"/>
          <p:cNvSpPr>
            <a:spLocks noGrp="1"/>
          </p:cNvSpPr>
          <p:nvPr>
            <p:ph idx="1"/>
          </p:nvPr>
        </p:nvSpPr>
        <p:spPr/>
        <p:txBody>
          <a:bodyPr/>
          <a:lstStyle/>
          <a:p>
            <a:endParaRPr lang="en-US">
              <a:latin typeface="Arial" pitchFamily="34" charset="0"/>
              <a:cs typeface="Arial" pitchFamily="34" charset="0"/>
            </a:endParaRPr>
          </a:p>
        </p:txBody>
      </p:sp>
      <p:pic>
        <p:nvPicPr>
          <p:cNvPr id="1026" name="Picture 2" descr="C:\Users\Ramiz\Desktop\From Rajni\Jpegs_blank\PSS_LESSONS_PG5.jpg"/>
          <p:cNvPicPr>
            <a:picLocks noChangeAspect="1" noChangeArrowheads="1"/>
          </p:cNvPicPr>
          <p:nvPr/>
        </p:nvPicPr>
        <p:blipFill>
          <a:blip r:embed="rId2" cstate="print"/>
          <a:srcRect/>
          <a:stretch>
            <a:fillRect/>
          </a:stretch>
        </p:blipFill>
        <p:spPr bwMode="auto">
          <a:xfrm>
            <a:off x="0" y="0"/>
            <a:ext cx="9144000" cy="6858000"/>
          </a:xfrm>
          <a:prstGeom prst="rect">
            <a:avLst/>
          </a:prstGeom>
          <a:noFill/>
        </p:spPr>
      </p:pic>
      <p:sp>
        <p:nvSpPr>
          <p:cNvPr id="5" name="TextBox 5"/>
          <p:cNvSpPr txBox="1"/>
          <p:nvPr/>
        </p:nvSpPr>
        <p:spPr>
          <a:xfrm>
            <a:off x="990600" y="457200"/>
            <a:ext cx="6934200" cy="430887"/>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lang="en-US" sz="2200" b="1" dirty="0">
              <a:solidFill>
                <a:schemeClr val="bg1"/>
              </a:solidFill>
              <a:latin typeface="Arial" pitchFamily="34" charset="0"/>
              <a:cs typeface="Arial" pitchFamily="34" charset="0"/>
            </a:endParaRPr>
          </a:p>
        </p:txBody>
      </p:sp>
      <p:pic>
        <p:nvPicPr>
          <p:cNvPr id="10" name="Picture 2" descr="C:\Users\Ramiz\Desktop\From Rajni\Jpegs_blank\PSS_LESSONS_PG5.jpg"/>
          <p:cNvPicPr>
            <a:picLocks noChangeAspect="1" noChangeArrowheads="1"/>
          </p:cNvPicPr>
          <p:nvPr/>
        </p:nvPicPr>
        <p:blipFill>
          <a:blip r:embed="rId2" cstate="print"/>
          <a:srcRect/>
          <a:stretch>
            <a:fillRect/>
          </a:stretch>
        </p:blipFill>
        <p:spPr bwMode="auto">
          <a:xfrm>
            <a:off x="0" y="0"/>
            <a:ext cx="9144000" cy="6858000"/>
          </a:xfrm>
          <a:prstGeom prst="rect">
            <a:avLst/>
          </a:prstGeom>
          <a:noFill/>
        </p:spPr>
      </p:pic>
      <p:sp>
        <p:nvSpPr>
          <p:cNvPr id="11" name="TextBox 5"/>
          <p:cNvSpPr txBox="1"/>
          <p:nvPr/>
        </p:nvSpPr>
        <p:spPr>
          <a:xfrm>
            <a:off x="990600" y="457200"/>
            <a:ext cx="6934200" cy="430887"/>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2200" b="1" dirty="0" smtClean="0">
                <a:solidFill>
                  <a:schemeClr val="bg1"/>
                </a:solidFill>
                <a:latin typeface="Arial" pitchFamily="34" charset="0"/>
                <a:cs typeface="Arial" pitchFamily="34" charset="0"/>
              </a:rPr>
              <a:t>DISCLAIMER</a:t>
            </a:r>
            <a:endParaRPr lang="en-US" sz="2200" b="1" dirty="0">
              <a:solidFill>
                <a:schemeClr val="bg1"/>
              </a:solidFill>
              <a:latin typeface="Arial" pitchFamily="34" charset="0"/>
              <a:cs typeface="Arial" pitchFamily="34" charset="0"/>
            </a:endParaRPr>
          </a:p>
        </p:txBody>
      </p:sp>
      <p:sp>
        <p:nvSpPr>
          <p:cNvPr id="12" name="Rectangle 11"/>
          <p:cNvSpPr/>
          <p:nvPr/>
        </p:nvSpPr>
        <p:spPr>
          <a:xfrm>
            <a:off x="914400" y="1040857"/>
            <a:ext cx="7315200" cy="3093154"/>
          </a:xfrm>
          <a:prstGeom prst="rect">
            <a:avLst/>
          </a:prstGeom>
        </p:spPr>
        <p:txBody>
          <a:bodyPr wrap="square">
            <a:spAutoFit/>
          </a:bodyPr>
          <a:lstStyle/>
          <a:p>
            <a:pPr indent="-1588" algn="just">
              <a:lnSpc>
                <a:spcPct val="150000"/>
              </a:lnSpc>
              <a:buFontTx/>
              <a:buNone/>
            </a:pPr>
            <a:r>
              <a:rPr lang="en-US" sz="1300" b="1" dirty="0" smtClean="0">
                <a:latin typeface="Arial" pitchFamily="34" charset="0"/>
                <a:cs typeface="Arial" pitchFamily="34" charset="0"/>
              </a:rPr>
              <a:t>The views expressed in this lesson are for information purposes only and do not construe to be any investment, legal or taxation advice. The lesson is a conceptual representation and may not include several nuances that are associated and vital. The purpose of this lesson is to clarify the basics of the concept so that readers at large can relate and thereby take more interest in the product / concept. In a nutshell, Professor Simply Simple lessons should be seen from the perspective of it being a primer on financial concepts. The contents are topical in nature and held true at the time of creation of the lesson. This is not indicative of future market trends, nor is Tata Asset Management Ltd. attempting to predict the same. Reprinting any part of this material will be at your own risk. Tata Asset Management Ltd. will not be liable for the consequences of such action.</a:t>
            </a:r>
          </a:p>
        </p:txBody>
      </p:sp>
      <p:sp>
        <p:nvSpPr>
          <p:cNvPr id="13" name="Rectangle 12"/>
          <p:cNvSpPr/>
          <p:nvPr/>
        </p:nvSpPr>
        <p:spPr>
          <a:xfrm>
            <a:off x="990600" y="4529909"/>
            <a:ext cx="7162800" cy="923330"/>
          </a:xfrm>
          <a:prstGeom prst="rect">
            <a:avLst/>
          </a:prstGeom>
        </p:spPr>
        <p:txBody>
          <a:bodyPr wrap="square">
            <a:spAutoFit/>
          </a:bodyPr>
          <a:lstStyle/>
          <a:p>
            <a:pPr algn="ctr">
              <a:lnSpc>
                <a:spcPct val="150000"/>
              </a:lnSpc>
            </a:pPr>
            <a:r>
              <a:rPr lang="en-US" b="1" dirty="0" smtClean="0">
                <a:latin typeface="Arial" pitchFamily="34" charset="0"/>
                <a:cs typeface="Arial" pitchFamily="34" charset="0"/>
              </a:rPr>
              <a:t>Mutual Fund investments are subject to market risks,</a:t>
            </a:r>
            <a:br>
              <a:rPr lang="en-US" b="1" dirty="0" smtClean="0">
                <a:latin typeface="Arial" pitchFamily="34" charset="0"/>
                <a:cs typeface="Arial" pitchFamily="34" charset="0"/>
              </a:rPr>
            </a:br>
            <a:r>
              <a:rPr lang="en-US" b="1" dirty="0" smtClean="0">
                <a:latin typeface="Arial" pitchFamily="34" charset="0"/>
                <a:cs typeface="Arial" pitchFamily="34" charset="0"/>
              </a:rPr>
              <a:t>read all scheme related documents carefully.</a:t>
            </a:r>
            <a:endParaRPr lang="en-US" dirty="0">
              <a:latin typeface="Arial" pitchFamily="34" charset="0"/>
              <a:cs typeface="Arial" pitchFamily="34" charset="0"/>
            </a:endParaRPr>
          </a:p>
        </p:txBody>
      </p:sp>
      <p:cxnSp>
        <p:nvCxnSpPr>
          <p:cNvPr id="15" name="Straight Connector 14"/>
          <p:cNvCxnSpPr/>
          <p:nvPr/>
        </p:nvCxnSpPr>
        <p:spPr>
          <a:xfrm>
            <a:off x="914400" y="4331960"/>
            <a:ext cx="7315200" cy="0"/>
          </a:xfrm>
          <a:prstGeom prst="line">
            <a:avLst/>
          </a:prstGeom>
        </p:spPr>
        <p:style>
          <a:lnRef idx="1">
            <a:schemeClr val="dk1"/>
          </a:lnRef>
          <a:fillRef idx="0">
            <a:schemeClr val="dk1"/>
          </a:fillRef>
          <a:effectRef idx="0">
            <a:schemeClr val="dk1"/>
          </a:effectRef>
          <a:fontRef idx="minor">
            <a:schemeClr val="tx1"/>
          </a:fontRef>
        </p:style>
      </p:cxnSp>
    </p:spTree>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1994</TotalTime>
  <Words>438</Words>
  <Application>Microsoft Office PowerPoint</Application>
  <PresentationFormat>On-screen Show (4:3)</PresentationFormat>
  <Paragraphs>39</Paragraphs>
  <Slides>11</Slides>
  <Notes>0</Notes>
  <HiddenSlides>0</HiddenSlides>
  <MMClips>0</MMClips>
  <ScaleCrop>false</ScaleCrop>
  <HeadingPairs>
    <vt:vector size="4" baseType="variant">
      <vt:variant>
        <vt:lpstr>Theme</vt:lpstr>
      </vt:variant>
      <vt:variant>
        <vt:i4>1</vt:i4>
      </vt:variant>
      <vt:variant>
        <vt:lpstr>Slide Titles</vt:lpstr>
      </vt:variant>
      <vt:variant>
        <vt:i4>11</vt:i4>
      </vt:variant>
    </vt:vector>
  </HeadingPairs>
  <TitlesOfParts>
    <vt:vector size="12" baseType="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manisha</dc:creator>
  <cp:lastModifiedBy>savio</cp:lastModifiedBy>
  <cp:revision>210</cp:revision>
  <dcterms:created xsi:type="dcterms:W3CDTF">2013-10-22T09:41:31Z</dcterms:created>
  <dcterms:modified xsi:type="dcterms:W3CDTF">2014-09-19T12:43:03Z</dcterms:modified>
</cp:coreProperties>
</file>