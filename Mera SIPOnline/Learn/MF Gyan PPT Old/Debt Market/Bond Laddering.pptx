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6" r:id="rId3"/>
    <p:sldId id="259" r:id="rId4"/>
    <p:sldId id="288" r:id="rId5"/>
    <p:sldId id="258" r:id="rId6"/>
    <p:sldId id="282" r:id="rId7"/>
    <p:sldId id="278" r:id="rId8"/>
    <p:sldId id="265" r:id="rId9"/>
    <p:sldId id="279" r:id="rId10"/>
    <p:sldId id="289" r:id="rId11"/>
    <p:sldId id="290" r:id="rId12"/>
    <p:sldId id="266" r:id="rId13"/>
    <p:sldId id="291" r:id="rId14"/>
    <p:sldId id="292" r:id="rId15"/>
    <p:sldId id="293" r:id="rId16"/>
    <p:sldId id="285"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implysimple.i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implysimple.i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87624"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539552" y="1196752"/>
            <a:ext cx="7532910" cy="17030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Bond investing is much like a game of musical chairs in which bond prices move to the tune of interest rates. Sometimes you might feel that you have no control over what happens to your bond portfolio with the future movements in interest rates. </a:t>
            </a:r>
            <a:endParaRPr lang="en-US" b="1" dirty="0">
              <a:latin typeface="Arial" pitchFamily="34" charset="0"/>
              <a:cs typeface="Arial" pitchFamily="34" charset="0"/>
            </a:endParaRPr>
          </a:p>
        </p:txBody>
      </p:sp>
      <p:sp>
        <p:nvSpPr>
          <p:cNvPr id="10" name="TextBox 9"/>
          <p:cNvSpPr txBox="1"/>
          <p:nvPr/>
        </p:nvSpPr>
        <p:spPr>
          <a:xfrm>
            <a:off x="571472" y="3357562"/>
            <a:ext cx="7532910" cy="1754326"/>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But familiarity with ‘bond laddering’, an investment strategy,</a:t>
            </a:r>
            <a:br>
              <a:rPr lang="en-US" b="1" dirty="0" smtClean="0">
                <a:latin typeface="Arial" pitchFamily="34" charset="0"/>
                <a:cs typeface="Arial" pitchFamily="34" charset="0"/>
              </a:rPr>
            </a:br>
            <a:r>
              <a:rPr lang="en-US" b="1" dirty="0" smtClean="0">
                <a:latin typeface="Arial" pitchFamily="34" charset="0"/>
                <a:cs typeface="Arial" pitchFamily="34" charset="0"/>
              </a:rPr>
              <a:t>could help deal with what is called reinvestment risk.</a:t>
            </a:r>
          </a:p>
          <a:p>
            <a:pPr>
              <a:lnSpc>
                <a:spcPct val="150000"/>
              </a:lnSpc>
              <a:buFontTx/>
              <a:buNone/>
            </a:pPr>
            <a:r>
              <a:rPr lang="en-US" b="1" dirty="0" smtClean="0">
                <a:latin typeface="Arial" pitchFamily="34" charset="0"/>
                <a:cs typeface="Arial" pitchFamily="34" charset="0"/>
              </a:rPr>
              <a:t>I will try to explain ‘Bond Laddering’ as a concept to you</a:t>
            </a:r>
            <a:br>
              <a:rPr lang="en-US" b="1" dirty="0" smtClean="0">
                <a:latin typeface="Arial" pitchFamily="34" charset="0"/>
                <a:cs typeface="Arial" pitchFamily="34" charset="0"/>
              </a:rPr>
            </a:br>
            <a:r>
              <a:rPr lang="en-US" b="1" dirty="0" smtClean="0">
                <a:latin typeface="Arial" pitchFamily="34" charset="0"/>
                <a:cs typeface="Arial" pitchFamily="34" charset="0"/>
              </a:rPr>
              <a:t>in the next few slides…</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2"/>
              </a:rPr>
              <a:t>http://simplysimple.in/</a:t>
            </a:r>
            <a:endParaRPr lang="en-US" sz="1400" dirty="0"/>
          </a:p>
        </p:txBody>
      </p:sp>
      <p:pic>
        <p:nvPicPr>
          <p:cNvPr id="6" name="Picture 2" descr="C:\Users\manisha\Desktop\From Rajni\Jpegs_blank\PSS_LESSONS_PG4.jpg"/>
          <p:cNvPicPr>
            <a:picLocks noChangeAspect="1" noChangeArrowheads="1"/>
          </p:cNvPicPr>
          <p:nvPr/>
        </p:nvPicPr>
        <p:blipFill>
          <a:blip r:embed="rId3" cstate="print"/>
          <a:srcRect/>
          <a:stretch>
            <a:fillRect/>
          </a:stretch>
        </p:blipFill>
        <p:spPr bwMode="auto">
          <a:xfrm>
            <a:off x="0" y="0"/>
            <a:ext cx="9144000" cy="6858001"/>
          </a:xfrm>
          <a:prstGeom prst="rect">
            <a:avLst/>
          </a:prstGeom>
          <a:noFill/>
        </p:spPr>
      </p:pic>
      <p:sp>
        <p:nvSpPr>
          <p:cNvPr id="7" name="TextBox 6"/>
          <p:cNvSpPr txBox="1"/>
          <p:nvPr/>
        </p:nvSpPr>
        <p:spPr>
          <a:xfrm>
            <a:off x="1214414" y="1928802"/>
            <a:ext cx="3714776" cy="87716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Bond Laddering</a:t>
            </a:r>
          </a:p>
          <a:p>
            <a:pPr algn="r">
              <a:lnSpc>
                <a:spcPct val="150000"/>
              </a:lnSpc>
            </a:pPr>
            <a:r>
              <a:rPr lang="en-US" sz="1600" b="1" dirty="0" smtClean="0">
                <a:latin typeface="Arial" pitchFamily="34" charset="0"/>
                <a:cs typeface="Arial" pitchFamily="34" charset="0"/>
              </a:rPr>
              <a:t>–  By Prof. </a:t>
            </a:r>
            <a:r>
              <a:rPr lang="en-US" sz="1600" b="1" i="1" dirty="0" smtClean="0">
                <a:latin typeface="Arial" pitchFamily="34" charset="0"/>
                <a:cs typeface="Arial" pitchFamily="34" charset="0"/>
              </a:rPr>
              <a:t>Simply</a:t>
            </a:r>
            <a:r>
              <a:rPr lang="en-US" sz="1600" b="1" dirty="0" smtClean="0">
                <a:latin typeface="Arial" pitchFamily="34" charset="0"/>
                <a:cs typeface="Arial" pitchFamily="34" charset="0"/>
              </a:rPr>
              <a:t> Simple </a:t>
            </a:r>
            <a:r>
              <a:rPr lang="en-US" sz="1600" b="1" baseline="70000" dirty="0" smtClean="0">
                <a:latin typeface="Arial" pitchFamily="34" charset="0"/>
                <a:cs typeface="Arial" pitchFamily="34" charset="0"/>
              </a:rPr>
              <a:t>TM</a:t>
            </a:r>
            <a:endParaRPr lang="en-US" sz="16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196752"/>
            <a:ext cx="7604348" cy="3083921"/>
          </a:xfrm>
          <a:prstGeom prst="rect">
            <a:avLst/>
          </a:prstGeom>
          <a:noFill/>
        </p:spPr>
        <p:txBody>
          <a:bodyPr wrap="square" rtlCol="0">
            <a:spAutoFit/>
          </a:bodyPr>
          <a:lstStyle/>
          <a:p>
            <a:pPr marL="442913" indent="-442913">
              <a:lnSpc>
                <a:spcPct val="120000"/>
              </a:lnSpc>
              <a:buFont typeface="Wingdings" pitchFamily="2" charset="2"/>
              <a:buChar char="q"/>
              <a:tabLst>
                <a:tab pos="442913" algn="l"/>
              </a:tabLst>
            </a:pPr>
            <a:r>
              <a:rPr lang="en-US" b="1" dirty="0" smtClean="0">
                <a:latin typeface="Arial" pitchFamily="34" charset="0"/>
                <a:cs typeface="Arial" pitchFamily="34" charset="0"/>
              </a:rPr>
              <a:t>A bond ladder or bond laddering is an investment strategy based on a very simple concept. </a:t>
            </a:r>
          </a:p>
          <a:p>
            <a:pPr marL="442913" indent="-442913">
              <a:lnSpc>
                <a:spcPct val="120000"/>
              </a:lnSpc>
              <a:buFont typeface="Wingdings" pitchFamily="2" charset="2"/>
              <a:buChar char="q"/>
              <a:tabLst>
                <a:tab pos="442913" algn="l"/>
              </a:tabLst>
            </a:pPr>
            <a:endParaRPr lang="en-US" b="1" dirty="0" smtClean="0">
              <a:latin typeface="Arial" pitchFamily="34" charset="0"/>
              <a:cs typeface="Arial" pitchFamily="34" charset="0"/>
            </a:endParaRPr>
          </a:p>
          <a:p>
            <a:pPr marL="442913" indent="-442913">
              <a:lnSpc>
                <a:spcPct val="120000"/>
              </a:lnSpc>
              <a:buFont typeface="Wingdings" pitchFamily="2" charset="2"/>
              <a:buChar char="q"/>
              <a:tabLst>
                <a:tab pos="442913" algn="l"/>
              </a:tabLst>
            </a:pPr>
            <a:r>
              <a:rPr lang="en-US" b="1" dirty="0" smtClean="0">
                <a:latin typeface="Arial" pitchFamily="34" charset="0"/>
                <a:cs typeface="Arial" pitchFamily="34" charset="0"/>
              </a:rPr>
              <a:t>It tries to minimize the risk associated with the future movements in interest rates while creating a regular flow of money for the bond holder. </a:t>
            </a:r>
          </a:p>
          <a:p>
            <a:pPr marL="442913" indent="-442913">
              <a:lnSpc>
                <a:spcPct val="120000"/>
              </a:lnSpc>
              <a:buFont typeface="Wingdings" pitchFamily="2" charset="2"/>
              <a:buChar char="q"/>
              <a:tabLst>
                <a:tab pos="442913" algn="l"/>
              </a:tabLst>
            </a:pPr>
            <a:endParaRPr lang="en-US" b="1" dirty="0" smtClean="0">
              <a:latin typeface="Arial" pitchFamily="34" charset="0"/>
              <a:cs typeface="Arial" pitchFamily="34" charset="0"/>
            </a:endParaRPr>
          </a:p>
          <a:p>
            <a:pPr marL="442913" indent="-442913">
              <a:lnSpc>
                <a:spcPct val="120000"/>
              </a:lnSpc>
              <a:buFont typeface="Wingdings" pitchFamily="2" charset="2"/>
              <a:buChar char="q"/>
              <a:tabLst>
                <a:tab pos="442913" algn="l"/>
              </a:tabLst>
            </a:pPr>
            <a:r>
              <a:rPr lang="en-US" b="1" dirty="0" smtClean="0">
                <a:latin typeface="Arial" pitchFamily="34" charset="0"/>
                <a:cs typeface="Arial" pitchFamily="34" charset="0"/>
              </a:rPr>
              <a:t>A bond portfolio using laddering would consist of bonds having</a:t>
            </a:r>
            <a:br>
              <a:rPr lang="en-US" b="1" dirty="0" smtClean="0">
                <a:latin typeface="Arial" pitchFamily="34" charset="0"/>
                <a:cs typeface="Arial" pitchFamily="34" charset="0"/>
              </a:rPr>
            </a:br>
            <a:r>
              <a:rPr lang="en-US" b="1" dirty="0" smtClean="0">
                <a:latin typeface="Arial" pitchFamily="34" charset="0"/>
                <a:cs typeface="Arial" pitchFamily="34" charset="0"/>
              </a:rPr>
              <a:t>different maturity dates at </a:t>
            </a:r>
            <a:r>
              <a:rPr lang="en-US" b="1" dirty="0" smtClean="0">
                <a:latin typeface="Arial" pitchFamily="34" charset="0"/>
                <a:cs typeface="Arial" pitchFamily="34" charset="0"/>
              </a:rPr>
              <a:t>regular </a:t>
            </a:r>
            <a:r>
              <a:rPr lang="en-US" b="1" dirty="0" smtClean="0">
                <a:latin typeface="Arial" pitchFamily="34" charset="0"/>
                <a:cs typeface="Arial" pitchFamily="34" charset="0"/>
              </a:rPr>
              <a:t>intervals.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8" name="TextBox 17"/>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9" name="TextBox 8"/>
          <p:cNvSpPr txBox="1"/>
          <p:nvPr/>
        </p:nvSpPr>
        <p:spPr>
          <a:xfrm>
            <a:off x="2928926" y="1071546"/>
            <a:ext cx="3429024" cy="369332"/>
          </a:xfrm>
          <a:prstGeom prst="rect">
            <a:avLst/>
          </a:prstGeom>
          <a:noFill/>
        </p:spPr>
        <p:txBody>
          <a:bodyPr wrap="square" rtlCol="0">
            <a:spAutoFit/>
          </a:bodyPr>
          <a:lstStyle/>
          <a:p>
            <a:pPr algn="ctr"/>
            <a:r>
              <a:rPr lang="en-US" b="1" dirty="0" smtClean="0">
                <a:latin typeface="Arial" pitchFamily="34" charset="0"/>
                <a:cs typeface="Arial" pitchFamily="34" charset="0"/>
              </a:rPr>
              <a:t>However…</a:t>
            </a:r>
            <a:endParaRPr lang="en-US" b="1" dirty="0">
              <a:latin typeface="Arial" pitchFamily="34" charset="0"/>
              <a:cs typeface="Arial" pitchFamily="34" charset="0"/>
            </a:endParaRPr>
          </a:p>
        </p:txBody>
      </p:sp>
      <p:sp>
        <p:nvSpPr>
          <p:cNvPr id="10" name="Rectangle 9"/>
          <p:cNvSpPr/>
          <p:nvPr/>
        </p:nvSpPr>
        <p:spPr>
          <a:xfrm>
            <a:off x="6588224" y="6093296"/>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12" name="TextBox 11"/>
          <p:cNvSpPr txBox="1"/>
          <p:nvPr/>
        </p:nvSpPr>
        <p:spPr>
          <a:xfrm>
            <a:off x="785786" y="1643050"/>
            <a:ext cx="7286676" cy="3416320"/>
          </a:xfrm>
          <a:prstGeom prst="rect">
            <a:avLst/>
          </a:prstGeom>
          <a:noFill/>
        </p:spPr>
        <p:txBody>
          <a:bodyPr wrap="square" rtlCol="0">
            <a:spAutoFit/>
          </a:bodyPr>
          <a:lstStyle/>
          <a:p>
            <a:pPr marL="354013" indent="-354013">
              <a:buFont typeface="Wingdings" pitchFamily="2" charset="2"/>
              <a:buChar char="q"/>
              <a:tabLst>
                <a:tab pos="354013" algn="l"/>
              </a:tabLst>
            </a:pPr>
            <a:r>
              <a:rPr lang="en-US" b="1" dirty="0" smtClean="0">
                <a:latin typeface="Arial" pitchFamily="34" charset="0"/>
                <a:cs typeface="Arial" pitchFamily="34" charset="0"/>
              </a:rPr>
              <a:t>The face value of each bond might be same. </a:t>
            </a:r>
          </a:p>
          <a:p>
            <a:pPr marL="354013" indent="-354013">
              <a:buFont typeface="Wingdings" pitchFamily="2" charset="2"/>
              <a:buChar char="q"/>
              <a:tabLst>
                <a:tab pos="354013" algn="l"/>
              </a:tabLst>
            </a:pPr>
            <a:endParaRPr lang="en-US" b="1" dirty="0" smtClean="0">
              <a:latin typeface="Arial" pitchFamily="34" charset="0"/>
              <a:cs typeface="Arial" pitchFamily="34" charset="0"/>
            </a:endParaRPr>
          </a:p>
          <a:p>
            <a:pPr marL="354013" indent="-354013">
              <a:buFont typeface="Wingdings" pitchFamily="2" charset="2"/>
              <a:buChar char="q"/>
              <a:tabLst>
                <a:tab pos="354013" algn="l"/>
              </a:tabLst>
            </a:pPr>
            <a:r>
              <a:rPr lang="en-US" b="1" dirty="0" smtClean="0">
                <a:latin typeface="Arial" pitchFamily="34" charset="0"/>
                <a:cs typeface="Arial" pitchFamily="34" charset="0"/>
              </a:rPr>
              <a:t>For example, a bond portfolio of Rs10 </a:t>
            </a:r>
            <a:r>
              <a:rPr lang="en-US" b="1" dirty="0" err="1" smtClean="0">
                <a:latin typeface="Arial" pitchFamily="34" charset="0"/>
                <a:cs typeface="Arial" pitchFamily="34" charset="0"/>
              </a:rPr>
              <a:t>lakh</a:t>
            </a:r>
            <a:r>
              <a:rPr lang="en-US" b="1" dirty="0" smtClean="0">
                <a:latin typeface="Arial" pitchFamily="34" charset="0"/>
                <a:cs typeface="Arial" pitchFamily="34" charset="0"/>
              </a:rPr>
              <a:t> may have 10 different bonds of Rs1 </a:t>
            </a:r>
            <a:r>
              <a:rPr lang="en-US" b="1" dirty="0" err="1" smtClean="0">
                <a:latin typeface="Arial" pitchFamily="34" charset="0"/>
                <a:cs typeface="Arial" pitchFamily="34" charset="0"/>
              </a:rPr>
              <a:t>lakh</a:t>
            </a:r>
            <a:r>
              <a:rPr lang="en-US" b="1" dirty="0" smtClean="0">
                <a:latin typeface="Arial" pitchFamily="34" charset="0"/>
                <a:cs typeface="Arial" pitchFamily="34" charset="0"/>
              </a:rPr>
              <a:t> each maturing after one year, </a:t>
            </a:r>
            <a:br>
              <a:rPr lang="en-US" b="1" dirty="0" smtClean="0">
                <a:latin typeface="Arial" pitchFamily="34" charset="0"/>
                <a:cs typeface="Arial" pitchFamily="34" charset="0"/>
              </a:rPr>
            </a:br>
            <a:r>
              <a:rPr lang="en-US" b="1" dirty="0" smtClean="0">
                <a:latin typeface="Arial" pitchFamily="34" charset="0"/>
                <a:cs typeface="Arial" pitchFamily="34" charset="0"/>
              </a:rPr>
              <a:t>two years, three years and so on. </a:t>
            </a:r>
          </a:p>
          <a:p>
            <a:pPr marL="354013" indent="-354013">
              <a:buFont typeface="Wingdings" pitchFamily="2" charset="2"/>
              <a:buChar char="q"/>
              <a:tabLst>
                <a:tab pos="354013" algn="l"/>
              </a:tabLst>
            </a:pPr>
            <a:endParaRPr lang="en-US" b="1" dirty="0" smtClean="0">
              <a:latin typeface="Arial" pitchFamily="34" charset="0"/>
              <a:cs typeface="Arial" pitchFamily="34" charset="0"/>
            </a:endParaRPr>
          </a:p>
          <a:p>
            <a:pPr marL="354013" indent="-354013">
              <a:buFont typeface="Wingdings" pitchFamily="2" charset="2"/>
              <a:buChar char="q"/>
              <a:tabLst>
                <a:tab pos="354013" algn="l"/>
              </a:tabLst>
            </a:pPr>
            <a:r>
              <a:rPr lang="en-US" b="1" dirty="0" smtClean="0">
                <a:latin typeface="Arial" pitchFamily="34" charset="0"/>
                <a:cs typeface="Arial" pitchFamily="34" charset="0"/>
              </a:rPr>
              <a:t>In such a situation, your bond portfolio would actually look like a ladder in which every year some of your bonds would be maturing, generating a steady cash flow </a:t>
            </a:r>
          </a:p>
          <a:p>
            <a:pPr marL="354013" indent="-354013">
              <a:buFont typeface="Wingdings" pitchFamily="2" charset="2"/>
              <a:buChar char="q"/>
              <a:tabLst>
                <a:tab pos="354013" algn="l"/>
              </a:tabLst>
            </a:pPr>
            <a:endParaRPr lang="en-US" b="1" dirty="0" smtClean="0">
              <a:latin typeface="Arial" pitchFamily="34" charset="0"/>
              <a:cs typeface="Arial" pitchFamily="34" charset="0"/>
            </a:endParaRPr>
          </a:p>
          <a:p>
            <a:pPr marL="354013" indent="-354013">
              <a:buFont typeface="Wingdings" pitchFamily="2" charset="2"/>
              <a:buChar char="q"/>
              <a:tabLst>
                <a:tab pos="354013" algn="l"/>
              </a:tabLst>
            </a:pPr>
            <a:r>
              <a:rPr lang="en-US" b="1" dirty="0" smtClean="0">
                <a:latin typeface="Arial" pitchFamily="34" charset="0"/>
                <a:cs typeface="Arial" pitchFamily="34" charset="0"/>
              </a:rPr>
              <a:t>This cash flow, if you so like, can be reinvested again to create another rung of a bond ladder.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42535" y="1214422"/>
            <a:ext cx="3029465" cy="17030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This kind of strategy ensures that your entire bond portfolio does not mature on the same date. </a:t>
            </a:r>
          </a:p>
        </p:txBody>
      </p:sp>
    </p:spTree>
    <p:extLst>
      <p:ext uri="{BB962C8B-B14F-4D97-AF65-F5344CB8AC3E}">
        <p14:creationId xmlns="" xmlns:p14="http://schemas.microsoft.com/office/powerpoint/2010/main" val="1782020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477000"/>
          </a:xfrm>
          <a:prstGeom prst="rect">
            <a:avLst/>
          </a:prstGeom>
          <a:noFill/>
        </p:spPr>
      </p:pic>
      <p:sp>
        <p:nvSpPr>
          <p:cNvPr id="5" name="Rectangle 4"/>
          <p:cNvSpPr/>
          <p:nvPr/>
        </p:nvSpPr>
        <p:spPr>
          <a:xfrm>
            <a:off x="762000" y="948690"/>
            <a:ext cx="7620000" cy="5909310"/>
          </a:xfrm>
          <a:prstGeom prst="rect">
            <a:avLst/>
          </a:prstGeom>
        </p:spPr>
        <p:txBody>
          <a:bodyPr wrap="square">
            <a:spAutoFit/>
          </a:bodyPr>
          <a:lstStyle/>
          <a:p>
            <a:pPr>
              <a:lnSpc>
                <a:spcPct val="150000"/>
              </a:lnSpc>
            </a:pPr>
            <a:r>
              <a:rPr lang="en-US" dirty="0" smtClean="0">
                <a:solidFill>
                  <a:schemeClr val="tx2">
                    <a:lumMod val="75000"/>
                  </a:schemeClr>
                </a:solidFill>
                <a:latin typeface="Gotham Bold" pitchFamily="2" charset="0"/>
              </a:rPr>
              <a:t>Let us see the formula of the Current Account Balance (CAB)</a:t>
            </a:r>
          </a:p>
          <a:p>
            <a:pPr>
              <a:lnSpc>
                <a:spcPct val="150000"/>
              </a:lnSpc>
            </a:pPr>
            <a:endParaRPr lang="en-US" b="1" dirty="0" smtClean="0">
              <a:solidFill>
                <a:schemeClr val="tx2">
                  <a:lumMod val="75000"/>
                </a:schemeClr>
              </a:solidFill>
              <a:latin typeface="Gotham Bold" pitchFamily="2" charset="0"/>
            </a:endParaRPr>
          </a:p>
          <a:p>
            <a:pPr>
              <a:lnSpc>
                <a:spcPct val="150000"/>
              </a:lnSpc>
            </a:pPr>
            <a:r>
              <a:rPr lang="da-DK" dirty="0" smtClean="0">
                <a:solidFill>
                  <a:schemeClr val="tx2">
                    <a:lumMod val="75000"/>
                  </a:schemeClr>
                </a:solidFill>
                <a:latin typeface="Gotham Bold" pitchFamily="2" charset="0"/>
              </a:rPr>
              <a:t>CAB = X - M + NI + NCT</a:t>
            </a:r>
          </a:p>
          <a:p>
            <a:pPr>
              <a:lnSpc>
                <a:spcPct val="150000"/>
              </a:lnSpc>
            </a:pPr>
            <a:r>
              <a:rPr lang="en-US" b="1" dirty="0" smtClean="0">
                <a:solidFill>
                  <a:schemeClr val="tx2">
                    <a:lumMod val="75000"/>
                  </a:schemeClr>
                </a:solidFill>
                <a:latin typeface="Gotham Bold" pitchFamily="2" charset="0"/>
              </a:rPr>
              <a:t>X = Exports of goods and services</a:t>
            </a:r>
            <a:r>
              <a:rPr lang="en-US" dirty="0" smtClean="0">
                <a:solidFill>
                  <a:schemeClr val="tx2">
                    <a:lumMod val="75000"/>
                  </a:schemeClr>
                </a:solidFill>
                <a:latin typeface="Gotham Bold" pitchFamily="2" charset="0"/>
              </a:rPr>
              <a:t/>
            </a:r>
            <a:br>
              <a:rPr lang="en-US" dirty="0" smtClean="0">
                <a:solidFill>
                  <a:schemeClr val="tx2">
                    <a:lumMod val="75000"/>
                  </a:schemeClr>
                </a:solidFill>
                <a:latin typeface="Gotham Bold" pitchFamily="2" charset="0"/>
              </a:rPr>
            </a:br>
            <a:r>
              <a:rPr lang="en-US" b="1" dirty="0" smtClean="0">
                <a:solidFill>
                  <a:schemeClr val="tx2">
                    <a:lumMod val="75000"/>
                  </a:schemeClr>
                </a:solidFill>
                <a:latin typeface="Gotham Bold" pitchFamily="2" charset="0"/>
              </a:rPr>
              <a:t>M = Imports of goods and services</a:t>
            </a:r>
            <a:r>
              <a:rPr lang="en-US" dirty="0" smtClean="0">
                <a:solidFill>
                  <a:schemeClr val="tx2">
                    <a:lumMod val="75000"/>
                  </a:schemeClr>
                </a:solidFill>
                <a:latin typeface="Gotham Bold" pitchFamily="2" charset="0"/>
              </a:rPr>
              <a:t/>
            </a:r>
            <a:br>
              <a:rPr lang="en-US" dirty="0" smtClean="0">
                <a:solidFill>
                  <a:schemeClr val="tx2">
                    <a:lumMod val="75000"/>
                  </a:schemeClr>
                </a:solidFill>
                <a:latin typeface="Gotham Bold" pitchFamily="2" charset="0"/>
              </a:rPr>
            </a:br>
            <a:r>
              <a:rPr lang="en-US" b="1" dirty="0" smtClean="0">
                <a:solidFill>
                  <a:schemeClr val="tx2">
                    <a:lumMod val="75000"/>
                  </a:schemeClr>
                </a:solidFill>
                <a:latin typeface="Gotham Bold" pitchFamily="2" charset="0"/>
              </a:rPr>
              <a:t>NI = Net income abroad</a:t>
            </a:r>
            <a:r>
              <a:rPr lang="en-US" dirty="0" smtClean="0">
                <a:solidFill>
                  <a:schemeClr val="tx2">
                    <a:lumMod val="75000"/>
                  </a:schemeClr>
                </a:solidFill>
                <a:latin typeface="Gotham Bold" pitchFamily="2" charset="0"/>
              </a:rPr>
              <a:t>  	</a:t>
            </a:r>
            <a:r>
              <a:rPr lang="en-US" i="1" dirty="0" smtClean="0">
                <a:solidFill>
                  <a:schemeClr val="tx2">
                    <a:lumMod val="75000"/>
                  </a:schemeClr>
                </a:solidFill>
                <a:latin typeface="Gotham Bold" pitchFamily="2" charset="0"/>
              </a:rPr>
              <a:t>[Salaries paid or received, 					credit  / debit of income from 					FII &amp; FDI etc. ]</a:t>
            </a:r>
            <a:r>
              <a:rPr lang="en-US" dirty="0" smtClean="0">
                <a:solidFill>
                  <a:schemeClr val="tx2">
                    <a:lumMod val="75000"/>
                  </a:schemeClr>
                </a:solidFill>
                <a:latin typeface="Gotham Bold" pitchFamily="2" charset="0"/>
              </a:rPr>
              <a:t/>
            </a:r>
            <a:br>
              <a:rPr lang="en-US" dirty="0" smtClean="0">
                <a:solidFill>
                  <a:schemeClr val="tx2">
                    <a:lumMod val="75000"/>
                  </a:schemeClr>
                </a:solidFill>
                <a:latin typeface="Gotham Bold" pitchFamily="2" charset="0"/>
              </a:rPr>
            </a:br>
            <a:r>
              <a:rPr lang="en-US" b="1" dirty="0" smtClean="0">
                <a:solidFill>
                  <a:schemeClr val="tx2">
                    <a:lumMod val="75000"/>
                  </a:schemeClr>
                </a:solidFill>
                <a:latin typeface="Gotham Bold" pitchFamily="2" charset="0"/>
              </a:rPr>
              <a:t>NCT = Net current transfers </a:t>
            </a:r>
            <a:r>
              <a:rPr lang="en-US" dirty="0" smtClean="0">
                <a:solidFill>
                  <a:schemeClr val="tx2">
                    <a:lumMod val="75000"/>
                  </a:schemeClr>
                </a:solidFill>
                <a:latin typeface="Gotham Bold" pitchFamily="2" charset="0"/>
              </a:rPr>
              <a:t>	[</a:t>
            </a:r>
            <a:r>
              <a:rPr lang="en-US" i="1" dirty="0" smtClean="0">
                <a:solidFill>
                  <a:schemeClr val="tx2">
                    <a:lumMod val="75000"/>
                  </a:schemeClr>
                </a:solidFill>
                <a:latin typeface="Gotham Bold" pitchFamily="2" charset="0"/>
              </a:rPr>
              <a:t>Workers' Remittances 						(unilateral), Donations, Aids &amp; 					Grants, Official, Assistance and 				Pensions etc]</a:t>
            </a:r>
          </a:p>
          <a:p>
            <a:pPr>
              <a:lnSpc>
                <a:spcPct val="150000"/>
              </a:lnSpc>
            </a:pPr>
            <a:endParaRPr lang="en-US" dirty="0" smtClean="0">
              <a:solidFill>
                <a:schemeClr val="tx2">
                  <a:lumMod val="75000"/>
                </a:schemeClr>
              </a:solidFill>
              <a:latin typeface="Gotham Bold" pitchFamily="2" charset="0"/>
            </a:endParaRPr>
          </a:p>
          <a:p>
            <a:pPr>
              <a:lnSpc>
                <a:spcPct val="150000"/>
              </a:lnSpc>
            </a:pPr>
            <a:endParaRPr lang="en-US" b="1" dirty="0">
              <a:solidFill>
                <a:schemeClr val="tx2">
                  <a:lumMod val="75000"/>
                </a:schemeClr>
              </a:solidFill>
              <a:latin typeface="Gotham Bold" pitchFamily="2" charset="0"/>
            </a:endParaRPr>
          </a:p>
        </p:txBody>
      </p:sp>
      <p:sp>
        <p:nvSpPr>
          <p:cNvPr id="6" name="TextBox 5"/>
          <p:cNvSpPr txBox="1"/>
          <p:nvPr/>
        </p:nvSpPr>
        <p:spPr>
          <a:xfrm>
            <a:off x="762000" y="457200"/>
            <a:ext cx="6934200" cy="430887"/>
          </a:xfrm>
          <a:prstGeom prst="rect">
            <a:avLst/>
          </a:prstGeom>
          <a:noFill/>
        </p:spPr>
        <p:txBody>
          <a:bodyPr wrap="square" rtlCol="0">
            <a:spAutoFit/>
          </a:bodyPr>
          <a:lstStyle/>
          <a:p>
            <a:pPr algn="ctr"/>
            <a:r>
              <a:rPr lang="en-US" sz="2200" dirty="0" smtClean="0">
                <a:solidFill>
                  <a:schemeClr val="bg1"/>
                </a:solidFill>
                <a:latin typeface="Gotham Bold" pitchFamily="2" charset="0"/>
              </a:rPr>
              <a:t>CURRENT ACCOUNT DEFICIT</a:t>
            </a:r>
            <a:endParaRPr lang="en-US" sz="2200" dirty="0">
              <a:solidFill>
                <a:schemeClr val="bg1"/>
              </a:solidFill>
              <a:latin typeface="Gotham Bold" pitchFamily="2" charset="0"/>
            </a:endParaRPr>
          </a:p>
        </p:txBody>
      </p:sp>
      <p:pic>
        <p:nvPicPr>
          <p:cNvPr id="7" name="Picture 2" descr="C:\Users\Ramiz\Desktop\From Rajni\Jpegs_blank\PSS_LESSONS_PG6.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12" name="Rectangle 11"/>
          <p:cNvSpPr/>
          <p:nvPr/>
        </p:nvSpPr>
        <p:spPr>
          <a:xfrm>
            <a:off x="3810000" y="3886200"/>
            <a:ext cx="4724400" cy="427618"/>
          </a:xfrm>
          <a:prstGeom prst="rect">
            <a:avLst/>
          </a:prstGeom>
        </p:spPr>
        <p:txBody>
          <a:bodyPr wrap="square">
            <a:spAutoFit/>
          </a:bodyPr>
          <a:lstStyle/>
          <a:p>
            <a:pPr algn="ctr">
              <a:lnSpc>
                <a:spcPct val="150000"/>
              </a:lnSpc>
            </a:pPr>
            <a:endParaRPr lang="en-US" sz="1700" b="1" dirty="0">
              <a:solidFill>
                <a:schemeClr val="tx2">
                  <a:lumMod val="75000"/>
                </a:schemeClr>
              </a:solidFill>
              <a:latin typeface="Gotham Bold" pitchFamily="2" charset="0"/>
            </a:endParaRPr>
          </a:p>
        </p:txBody>
      </p:sp>
      <p:sp>
        <p:nvSpPr>
          <p:cNvPr id="10" name="Rectangle 9"/>
          <p:cNvSpPr/>
          <p:nvPr/>
        </p:nvSpPr>
        <p:spPr>
          <a:xfrm>
            <a:off x="4071934" y="4929198"/>
            <a:ext cx="4149104" cy="369332"/>
          </a:xfrm>
          <a:prstGeom prst="rect">
            <a:avLst/>
          </a:prstGeom>
        </p:spPr>
        <p:txBody>
          <a:bodyPr wrap="square">
            <a:spAutoFit/>
          </a:bodyPr>
          <a:lstStyle/>
          <a:p>
            <a:pPr>
              <a:spcBef>
                <a:spcPct val="50000"/>
              </a:spcBef>
            </a:pPr>
            <a:r>
              <a:rPr lang="en-US" b="1" dirty="0" smtClean="0">
                <a:latin typeface="Arial" pitchFamily="34" charset="0"/>
                <a:cs typeface="Arial" pitchFamily="34" charset="0"/>
              </a:rPr>
              <a:t>Okay, but how does it work?</a:t>
            </a:r>
            <a:endParaRPr lang="en-US" b="1" dirty="0">
              <a:latin typeface="Arial" pitchFamily="34" charset="0"/>
              <a:cs typeface="Arial" pitchFamily="34" charset="0"/>
            </a:endParaRPr>
          </a:p>
        </p:txBody>
      </p:sp>
      <p:sp>
        <p:nvSpPr>
          <p:cNvPr id="13" name="TextBox 1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11" name="Rectangle 10"/>
          <p:cNvSpPr/>
          <p:nvPr/>
        </p:nvSpPr>
        <p:spPr>
          <a:xfrm>
            <a:off x="6656285" y="6093296"/>
            <a:ext cx="1876155" cy="307777"/>
          </a:xfrm>
          <a:prstGeom prst="rect">
            <a:avLst/>
          </a:prstGeom>
        </p:spPr>
        <p:txBody>
          <a:bodyPr wrap="none">
            <a:spAutoFit/>
          </a:bodyPr>
          <a:lstStyle/>
          <a:p>
            <a:r>
              <a:rPr lang="en-US" sz="1400" dirty="0" smtClean="0">
                <a:hlinkClick r:id="rId4"/>
              </a:rPr>
              <a:t>http://simplysimple.in/</a:t>
            </a:r>
            <a:endParaRPr 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142984"/>
            <a:ext cx="8136904" cy="3416320"/>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 bond ladder strategy is very useful in dealing with one of the most common risks facing your bond portfolio: </a:t>
            </a:r>
            <a:r>
              <a:rPr lang="en-US" b="1" dirty="0" smtClean="0">
                <a:latin typeface="Arial" pitchFamily="34" charset="0"/>
                <a:cs typeface="Arial" pitchFamily="34" charset="0"/>
              </a:rPr>
              <a:t>Reinvestment </a:t>
            </a:r>
            <a:r>
              <a:rPr lang="en-US" b="1" dirty="0" smtClean="0">
                <a:latin typeface="Arial" pitchFamily="34" charset="0"/>
                <a:cs typeface="Arial" pitchFamily="34" charset="0"/>
              </a:rPr>
              <a:t>risk. How? </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Well, reinvestment risk of a bond is something that </a:t>
            </a:r>
            <a:r>
              <a:rPr lang="en-US" b="1" dirty="0" smtClean="0">
                <a:latin typeface="Arial" pitchFamily="34" charset="0"/>
                <a:cs typeface="Arial" pitchFamily="34" charset="0"/>
              </a:rPr>
              <a:t>arises due </a:t>
            </a:r>
            <a:r>
              <a:rPr lang="en-US" b="1" dirty="0" smtClean="0">
                <a:latin typeface="Arial" pitchFamily="34" charset="0"/>
                <a:cs typeface="Arial" pitchFamily="34" charset="0"/>
              </a:rPr>
              <a:t>to future movements in interest rates.</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Suppose you hold a bond portfolio which is currently earning you</a:t>
            </a:r>
            <a:br>
              <a:rPr lang="en-US" b="1" dirty="0" smtClean="0">
                <a:latin typeface="Arial" pitchFamily="34" charset="0"/>
                <a:cs typeface="Arial" pitchFamily="34" charset="0"/>
              </a:rPr>
            </a:br>
            <a:r>
              <a:rPr lang="en-US" b="1" dirty="0" smtClean="0">
                <a:latin typeface="Arial" pitchFamily="34" charset="0"/>
                <a:cs typeface="Arial" pitchFamily="34" charset="0"/>
              </a:rPr>
              <a:t>an interest of 8%. </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Your bonds would continue to earn an interest of 8% till the</a:t>
            </a:r>
            <a:br>
              <a:rPr lang="en-US" b="1" dirty="0" smtClean="0">
                <a:latin typeface="Arial" pitchFamily="34" charset="0"/>
                <a:cs typeface="Arial" pitchFamily="34" charset="0"/>
              </a:rPr>
            </a:br>
            <a:r>
              <a:rPr lang="en-US" b="1" dirty="0" smtClean="0">
                <a:latin typeface="Arial" pitchFamily="34" charset="0"/>
                <a:cs typeface="Arial" pitchFamily="34" charset="0"/>
              </a:rPr>
              <a:t>date of maturity.</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5" name="Rectangle 4"/>
          <p:cNvSpPr/>
          <p:nvPr/>
        </p:nvSpPr>
        <p:spPr>
          <a:xfrm>
            <a:off x="6944317" y="6361583"/>
            <a:ext cx="1876155" cy="307777"/>
          </a:xfrm>
          <a:prstGeom prst="rect">
            <a:avLst/>
          </a:prstGeom>
        </p:spPr>
        <p:txBody>
          <a:bodyPr wrap="none">
            <a:spAutoFit/>
          </a:bodyPr>
          <a:lstStyle/>
          <a:p>
            <a:r>
              <a:rPr lang="en-US" sz="1400" dirty="0" smtClean="0">
                <a:hlinkClick r:id="rId3"/>
              </a:rPr>
              <a:t>http://simplysimple.in/</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584316"/>
            <a:ext cx="7358114" cy="3330399"/>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In the meantime, interest rates might not remain static.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They </a:t>
            </a:r>
            <a:r>
              <a:rPr lang="en-US" b="1" dirty="0" smtClean="0">
                <a:latin typeface="Arial" pitchFamily="34" charset="0"/>
                <a:cs typeface="Arial" pitchFamily="34" charset="0"/>
              </a:rPr>
              <a:t>can very well go up or down. In case you choose to hold your bonds till maturity, your entire portfolio would be maturing on the same day.</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This </a:t>
            </a:r>
            <a:r>
              <a:rPr lang="en-US" b="1" dirty="0" smtClean="0">
                <a:latin typeface="Arial" pitchFamily="34" charset="0"/>
                <a:cs typeface="Arial" pitchFamily="34" charset="0"/>
              </a:rPr>
              <a:t>means that you can reinvest your money only at the interest rates prevailing in the future. </a:t>
            </a:r>
          </a:p>
        </p:txBody>
      </p:sp>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7" name="TextBox 6"/>
          <p:cNvSpPr txBox="1"/>
          <p:nvPr/>
        </p:nvSpPr>
        <p:spPr>
          <a:xfrm>
            <a:off x="857224" y="1071546"/>
            <a:ext cx="7072362" cy="369332"/>
          </a:xfrm>
          <a:prstGeom prst="rect">
            <a:avLst/>
          </a:prstGeom>
          <a:noFill/>
        </p:spPr>
        <p:txBody>
          <a:bodyPr wrap="square" rtlCol="0">
            <a:spAutoFit/>
          </a:bodyPr>
          <a:lstStyle/>
          <a:p>
            <a:pPr algn="ctr">
              <a:spcBef>
                <a:spcPct val="50000"/>
              </a:spcBef>
            </a:pPr>
            <a:r>
              <a:rPr lang="en-US" b="1" dirty="0" smtClean="0">
                <a:latin typeface="Arial" pitchFamily="34" charset="0"/>
                <a:cs typeface="Arial" pitchFamily="34" charset="0"/>
              </a:rPr>
              <a:t>Now…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026602"/>
            <a:ext cx="7358114" cy="3884397"/>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In case the rates are higher, you are lucky. But in case the rates are lower, your entire portfolio gets invested at a lower interest rate.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This </a:t>
            </a:r>
            <a:r>
              <a:rPr lang="en-US" b="1" dirty="0" smtClean="0">
                <a:latin typeface="Arial" pitchFamily="34" charset="0"/>
                <a:cs typeface="Arial" pitchFamily="34" charset="0"/>
              </a:rPr>
              <a:t>is what we call reinvestment risk.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arithmetic behind a bond ladder strategy is simple. Spreading out bond maturity dates, in fact, spreads out reinvestment risk. </a:t>
            </a:r>
          </a:p>
        </p:txBody>
      </p:sp>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4" name="TextBox 3"/>
          <p:cNvSpPr txBox="1"/>
          <p:nvPr/>
        </p:nvSpPr>
        <p:spPr>
          <a:xfrm>
            <a:off x="2714612" y="1174608"/>
            <a:ext cx="4286280"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It </a:t>
            </a:r>
            <a:r>
              <a:rPr lang="en-US" b="1" dirty="0" smtClean="0">
                <a:latin typeface="Arial" pitchFamily="34" charset="0"/>
                <a:cs typeface="Arial" pitchFamily="34" charset="0"/>
              </a:rPr>
              <a:t>is a lot like ‘not </a:t>
            </a:r>
            <a:r>
              <a:rPr lang="en-US" b="1" dirty="0" smtClean="0">
                <a:latin typeface="Arial" pitchFamily="34" charset="0"/>
                <a:cs typeface="Arial" pitchFamily="34" charset="0"/>
              </a:rPr>
              <a:t>putting all your eggs in the same </a:t>
            </a:r>
            <a:r>
              <a:rPr lang="en-US" b="1" dirty="0" smtClean="0">
                <a:latin typeface="Arial" pitchFamily="34" charset="0"/>
                <a:cs typeface="Arial" pitchFamily="34" charset="0"/>
              </a:rPr>
              <a:t>basket’. </a:t>
            </a:r>
            <a:r>
              <a:rPr lang="en-US" b="1" dirty="0" smtClean="0">
                <a:latin typeface="Arial" pitchFamily="34" charset="0"/>
                <a:cs typeface="Arial" pitchFamily="34" charset="0"/>
              </a:rPr>
              <a:t>Likewise,</a:t>
            </a:r>
            <a:br>
              <a:rPr lang="en-US" b="1" dirty="0" smtClean="0">
                <a:latin typeface="Arial" pitchFamily="34" charset="0"/>
                <a:cs typeface="Arial" pitchFamily="34" charset="0"/>
              </a:rPr>
            </a:br>
            <a:r>
              <a:rPr lang="en-US" b="1" dirty="0" smtClean="0">
                <a:latin typeface="Arial" pitchFamily="34" charset="0"/>
                <a:cs typeface="Arial" pitchFamily="34" charset="0"/>
              </a:rPr>
              <a:t>your entire bond portfolio should</a:t>
            </a:r>
            <a:br>
              <a:rPr lang="en-US" b="1" dirty="0" smtClean="0">
                <a:latin typeface="Arial" pitchFamily="34" charset="0"/>
                <a:cs typeface="Arial" pitchFamily="34" charset="0"/>
              </a:rPr>
            </a:br>
            <a:r>
              <a:rPr lang="en-US" b="1" dirty="0" smtClean="0">
                <a:latin typeface="Arial" pitchFamily="34" charset="0"/>
                <a:cs typeface="Arial" pitchFamily="34" charset="0"/>
              </a:rPr>
              <a:t>not mature on the same date.</a:t>
            </a:r>
            <a:endParaRPr lang="en-US" b="1" dirty="0">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manisha\Desktop\From Rajni\Jpegs_blank\PSS_LESSONS_PG3.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5" name="Rectangle 4"/>
          <p:cNvSpPr/>
          <p:nvPr/>
        </p:nvSpPr>
        <p:spPr>
          <a:xfrm>
            <a:off x="6944317" y="6361583"/>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6" name="TextBox 5"/>
          <p:cNvSpPr txBox="1"/>
          <p:nvPr/>
        </p:nvSpPr>
        <p:spPr>
          <a:xfrm>
            <a:off x="857224" y="1473817"/>
            <a:ext cx="7358114" cy="3416320"/>
          </a:xfrm>
          <a:prstGeom prst="rect">
            <a:avLst/>
          </a:prstGeom>
          <a:noFill/>
        </p:spPr>
        <p:txBody>
          <a:bodyPr wrap="square" rtlCol="0">
            <a:spAutoFit/>
          </a:bodyPr>
          <a:lstStyle/>
          <a:p>
            <a:r>
              <a:rPr lang="en-US" b="1" dirty="0" smtClean="0">
                <a:latin typeface="Arial" pitchFamily="34" charset="0"/>
                <a:cs typeface="Arial" pitchFamily="34" charset="0"/>
              </a:rPr>
              <a:t>The same logic would also apply to any other fixed income security, say, for instance, a certificate of deposit or even a bank’s fixed deposit, all of which are subject to reinvestment risk. </a:t>
            </a: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But you should also keep in mind that spreading out your risk might also lower your overall return. </a:t>
            </a: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The simple truth is that when you gain </a:t>
            </a:r>
            <a:r>
              <a:rPr lang="en-US" b="1" dirty="0" smtClean="0">
                <a:latin typeface="Arial" pitchFamily="34" charset="0"/>
                <a:cs typeface="Arial" pitchFamily="34" charset="0"/>
              </a:rPr>
              <a:t>something, you </a:t>
            </a:r>
            <a:r>
              <a:rPr lang="en-US" b="1" dirty="0" smtClean="0">
                <a:latin typeface="Arial" pitchFamily="34" charset="0"/>
                <a:cs typeface="Arial" pitchFamily="34" charset="0"/>
              </a:rPr>
              <a:t>might also lose something. </a:t>
            </a: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The whole mechanism of bond laddering may require you to bear some kind of cost. </a:t>
            </a:r>
            <a:endParaRPr lang="en-US" b="1" dirty="0">
              <a:latin typeface="Arial" pitchFamily="34" charset="0"/>
              <a:cs typeface="Arial" pitchFamily="34" charset="0"/>
            </a:endParaRPr>
          </a:p>
        </p:txBody>
      </p:sp>
      <p:sp>
        <p:nvSpPr>
          <p:cNvPr id="7" name="TextBox 6"/>
          <p:cNvSpPr txBox="1"/>
          <p:nvPr/>
        </p:nvSpPr>
        <p:spPr>
          <a:xfrm>
            <a:off x="857224" y="987966"/>
            <a:ext cx="7072362" cy="369332"/>
          </a:xfrm>
          <a:prstGeom prst="rect">
            <a:avLst/>
          </a:prstGeom>
          <a:noFill/>
        </p:spPr>
        <p:txBody>
          <a:bodyPr wrap="square" rtlCol="0">
            <a:spAutoFit/>
          </a:bodyPr>
          <a:lstStyle/>
          <a:p>
            <a:pPr algn="ctr"/>
            <a:r>
              <a:rPr lang="en-US" b="1" dirty="0" smtClean="0">
                <a:latin typeface="Arial" pitchFamily="34" charset="0"/>
                <a:cs typeface="Arial" pitchFamily="34" charset="0"/>
              </a:rPr>
              <a:t>Here’s how…</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manisha\Desktop\From Rajni\Jpegs_blank\PSS_LESSONS_PG3.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4" name="TextBox 3"/>
          <p:cNvSpPr txBox="1"/>
          <p:nvPr/>
        </p:nvSpPr>
        <p:spPr>
          <a:xfrm>
            <a:off x="857224" y="1473817"/>
            <a:ext cx="7358114"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For instance, bonds of different maturity in a bond ladder</a:t>
            </a:r>
            <a:br>
              <a:rPr lang="en-US" b="1" dirty="0" smtClean="0">
                <a:latin typeface="Arial" pitchFamily="34" charset="0"/>
                <a:cs typeface="Arial" pitchFamily="34" charset="0"/>
              </a:rPr>
            </a:br>
            <a:r>
              <a:rPr lang="en-US" b="1" dirty="0" smtClean="0">
                <a:latin typeface="Arial" pitchFamily="34" charset="0"/>
                <a:cs typeface="Arial" pitchFamily="34" charset="0"/>
              </a:rPr>
              <a:t>would </a:t>
            </a:r>
            <a:r>
              <a:rPr lang="en-US" b="1" dirty="0" smtClean="0">
                <a:latin typeface="Arial" pitchFamily="34" charset="0"/>
                <a:cs typeface="Arial" pitchFamily="34" charset="0"/>
              </a:rPr>
              <a:t>earn </a:t>
            </a:r>
            <a:r>
              <a:rPr lang="en-US" b="1" dirty="0" smtClean="0">
                <a:latin typeface="Arial" pitchFamily="34" charset="0"/>
                <a:cs typeface="Arial" pitchFamily="34" charset="0"/>
              </a:rPr>
              <a:t>different interest rates.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a:t>
            </a:r>
            <a:r>
              <a:rPr lang="en-US" b="1" dirty="0" smtClean="0">
                <a:latin typeface="Arial" pitchFamily="34" charset="0"/>
                <a:cs typeface="Arial" pitchFamily="34" charset="0"/>
              </a:rPr>
              <a:t>a normal situation, bonds maturing early pay lower interest than bonds maturing at a later date.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by investing your entire money into bonds of longer maturity you could get a higher rate of return.</a:t>
            </a:r>
            <a:endParaRPr lang="en-US" b="1" dirty="0">
              <a:latin typeface="Arial" pitchFamily="34" charset="0"/>
              <a:cs typeface="Arial" pitchFamily="34" charset="0"/>
            </a:endParaRPr>
          </a:p>
        </p:txBody>
      </p:sp>
      <p:sp>
        <p:nvSpPr>
          <p:cNvPr id="5" name="TextBox 4"/>
          <p:cNvSpPr txBox="1"/>
          <p:nvPr/>
        </p:nvSpPr>
        <p:spPr>
          <a:xfrm>
            <a:off x="857224" y="987966"/>
            <a:ext cx="7072362" cy="369332"/>
          </a:xfrm>
          <a:prstGeom prst="rect">
            <a:avLst/>
          </a:prstGeom>
          <a:noFill/>
        </p:spPr>
        <p:txBody>
          <a:bodyPr wrap="square" rtlCol="0">
            <a:spAutoFit/>
          </a:bodyPr>
          <a:lstStyle/>
          <a:p>
            <a:pPr algn="ctr"/>
            <a:r>
              <a:rPr lang="en-US" b="1" dirty="0" smtClean="0">
                <a:latin typeface="Arial" pitchFamily="34" charset="0"/>
                <a:cs typeface="Arial" pitchFamily="34" charset="0"/>
              </a:rPr>
              <a:t>What kind of cost?</a:t>
            </a:r>
            <a:endParaRPr lang="en-US" b="1" dirty="0">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manisha\Desktop\From Rajni\Jpegs_blank\PSS_LESSONS_PG3.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6" name="TextBox 5"/>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7" name="TextBox 6"/>
          <p:cNvSpPr txBox="1"/>
          <p:nvPr/>
        </p:nvSpPr>
        <p:spPr>
          <a:xfrm>
            <a:off x="857224" y="1473817"/>
            <a:ext cx="7358114"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But despite </a:t>
            </a:r>
            <a:r>
              <a:rPr lang="en-US" b="1" dirty="0" smtClean="0">
                <a:latin typeface="Arial" pitchFamily="34" charset="0"/>
                <a:cs typeface="Arial" pitchFamily="34" charset="0"/>
              </a:rPr>
              <a:t>the lower </a:t>
            </a:r>
            <a:r>
              <a:rPr lang="en-US" b="1" dirty="0" smtClean="0">
                <a:latin typeface="Arial" pitchFamily="34" charset="0"/>
                <a:cs typeface="Arial" pitchFamily="34" charset="0"/>
              </a:rPr>
              <a:t>overall rate of return, the prospects of a bond ladder look bright.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As said, every year a part of your portfolio would be maturing, which means that every year you have an opportunity of</a:t>
            </a:r>
            <a:br>
              <a:rPr lang="en-US" b="1" dirty="0" smtClean="0">
                <a:latin typeface="Arial" pitchFamily="34" charset="0"/>
                <a:cs typeface="Arial" pitchFamily="34" charset="0"/>
              </a:rPr>
            </a:br>
            <a:r>
              <a:rPr lang="en-US" b="1" dirty="0" smtClean="0">
                <a:latin typeface="Arial" pitchFamily="34" charset="0"/>
                <a:cs typeface="Arial" pitchFamily="34" charset="0"/>
              </a:rPr>
              <a:t>making a new investment. </a:t>
            </a:r>
            <a:endParaRPr lang="en-US" b="1" dirty="0">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manisha\Desktop\From Rajni\Jpegs_blank\PSS_LESSONS_PG3.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
        <p:nvSpPr>
          <p:cNvPr id="4" name="TextBox 3"/>
          <p:cNvSpPr txBox="1"/>
          <p:nvPr/>
        </p:nvSpPr>
        <p:spPr>
          <a:xfrm>
            <a:off x="857224" y="1473817"/>
            <a:ext cx="7358114" cy="3831818"/>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 pos="1076325" algn="l"/>
              </a:tabLst>
            </a:pPr>
            <a:r>
              <a:rPr lang="en-US" b="1" dirty="0" smtClean="0">
                <a:latin typeface="Arial" pitchFamily="34" charset="0"/>
                <a:cs typeface="Arial" pitchFamily="34" charset="0"/>
              </a:rPr>
              <a:t>What: Bond laddering is an investment strategy that tries to minimize the risk associated with the future movement in interest rates.</a:t>
            </a:r>
          </a:p>
          <a:p>
            <a:pPr marL="354013" indent="-354013">
              <a:lnSpc>
                <a:spcPct val="150000"/>
              </a:lnSpc>
              <a:buFont typeface="Wingdings" pitchFamily="2" charset="2"/>
              <a:buChar char="q"/>
              <a:tabLst>
                <a:tab pos="354013" algn="l"/>
                <a:tab pos="1076325" algn="l"/>
              </a:tabLst>
            </a:pPr>
            <a:r>
              <a:rPr lang="en-US" b="1" dirty="0" smtClean="0">
                <a:latin typeface="Arial" pitchFamily="34" charset="0"/>
                <a:cs typeface="Arial" pitchFamily="34" charset="0"/>
              </a:rPr>
              <a:t>How: A bond portfolio using laddering would consist of bonds having same face value maturing on different dates at a regular interval. </a:t>
            </a:r>
          </a:p>
          <a:p>
            <a:pPr marL="354013" indent="-354013">
              <a:lnSpc>
                <a:spcPct val="150000"/>
              </a:lnSpc>
              <a:buFont typeface="Wingdings" pitchFamily="2" charset="2"/>
              <a:buChar char="q"/>
              <a:tabLst>
                <a:tab pos="354013" algn="l"/>
                <a:tab pos="1076325" algn="l"/>
              </a:tabLst>
            </a:pPr>
            <a:r>
              <a:rPr lang="en-US" b="1" dirty="0" smtClean="0">
                <a:latin typeface="Arial" pitchFamily="34" charset="0"/>
                <a:cs typeface="Arial" pitchFamily="34" charset="0"/>
              </a:rPr>
              <a:t>Why: Bond laddering strategy is useful because it helps </a:t>
            </a:r>
            <a:r>
              <a:rPr lang="en-US" b="1" dirty="0" smtClean="0">
                <a:latin typeface="Arial" pitchFamily="34" charset="0"/>
                <a:cs typeface="Arial" pitchFamily="34" charset="0"/>
              </a:rPr>
              <a:t>in </a:t>
            </a:r>
            <a:r>
              <a:rPr lang="en-US" b="1" dirty="0" smtClean="0">
                <a:latin typeface="Arial" pitchFamily="34" charset="0"/>
                <a:cs typeface="Arial" pitchFamily="34" charset="0"/>
              </a:rPr>
              <a:t>minimizing the reinvestment risk. </a:t>
            </a:r>
          </a:p>
          <a:p>
            <a:pPr marL="354013" indent="-354013">
              <a:lnSpc>
                <a:spcPct val="150000"/>
              </a:lnSpc>
              <a:buFont typeface="Wingdings" pitchFamily="2" charset="2"/>
              <a:buChar char="q"/>
              <a:tabLst>
                <a:tab pos="354013" algn="l"/>
                <a:tab pos="1076325" algn="l"/>
              </a:tabLst>
            </a:pPr>
            <a:endParaRPr lang="en-US" b="1" dirty="0">
              <a:latin typeface="Arial" pitchFamily="34" charset="0"/>
              <a:cs typeface="Arial" pitchFamily="34" charset="0"/>
            </a:endParaRPr>
          </a:p>
        </p:txBody>
      </p:sp>
      <p:sp>
        <p:nvSpPr>
          <p:cNvPr id="5" name="TextBox 4"/>
          <p:cNvSpPr txBox="1"/>
          <p:nvPr/>
        </p:nvSpPr>
        <p:spPr>
          <a:xfrm>
            <a:off x="857224" y="987966"/>
            <a:ext cx="7072362" cy="369332"/>
          </a:xfrm>
          <a:prstGeom prst="rect">
            <a:avLst/>
          </a:prstGeom>
          <a:noFill/>
        </p:spPr>
        <p:txBody>
          <a:bodyPr wrap="square" rtlCol="0">
            <a:spAutoFit/>
          </a:bodyPr>
          <a:lstStyle/>
          <a:p>
            <a:pPr algn="ct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928926" y="1714488"/>
            <a:ext cx="3891282" cy="1114408"/>
          </a:xfrm>
          <a:prstGeom prst="rect">
            <a:avLst/>
          </a:prstGeom>
          <a:noFill/>
        </p:spPr>
        <p:txBody>
          <a:bodyPr wrap="square" rtlCol="0">
            <a:spAutoFit/>
          </a:bodyPr>
          <a:lstStyle/>
          <a:p>
            <a:pPr>
              <a:lnSpc>
                <a:spcPct val="200000"/>
              </a:lnSpc>
              <a:buFontTx/>
              <a:buNone/>
            </a:pPr>
            <a:r>
              <a:rPr lang="en-US" b="1" dirty="0" smtClean="0">
                <a:latin typeface="Arial" pitchFamily="34" charset="0"/>
                <a:cs typeface="Arial" pitchFamily="34" charset="0"/>
              </a:rPr>
              <a:t>Hope you have now understood the concept of Bond Laddering</a:t>
            </a:r>
            <a:endParaRPr lang="en-US" b="1" dirty="0">
              <a:latin typeface="Arial" pitchFamily="34" charset="0"/>
              <a:cs typeface="Arial" pitchFamily="34" charset="0"/>
            </a:endParaRPr>
          </a:p>
        </p:txBody>
      </p:sp>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LADDERING</a:t>
            </a:r>
          </a:p>
        </p:txBody>
      </p:sp>
    </p:spTree>
    <p:extLst>
      <p:ext uri="{BB962C8B-B14F-4D97-AF65-F5344CB8AC3E}">
        <p14:creationId xmlns="" xmlns:p14="http://schemas.microsoft.com/office/powerpoint/2010/main" val="1927610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47664" y="1268760"/>
            <a:ext cx="3024336" cy="1398332"/>
          </a:xfrm>
          <a:prstGeom prst="rect">
            <a:avLst/>
          </a:prstGeom>
          <a:noFill/>
        </p:spPr>
        <p:txBody>
          <a:bodyPr wrap="square" rtlCol="0">
            <a:spAutoFit/>
          </a:bodyPr>
          <a:lstStyle/>
          <a:p>
            <a:pPr marL="342900" indent="-342900">
              <a:lnSpc>
                <a:spcPct val="150000"/>
              </a:lnSpc>
              <a:spcBef>
                <a:spcPct val="20000"/>
              </a:spcBef>
            </a:pPr>
            <a:r>
              <a:rPr lang="en-US" b="1" dirty="0" smtClean="0">
                <a:latin typeface="Arial" pitchFamily="34" charset="0"/>
                <a:cs typeface="Arial" pitchFamily="34" charset="0"/>
              </a:rPr>
              <a:t>Please give us </a:t>
            </a:r>
          </a:p>
          <a:p>
            <a:pPr marL="342900" indent="-342900">
              <a:lnSpc>
                <a:spcPct val="150000"/>
              </a:lnSpc>
              <a:spcBef>
                <a:spcPct val="20000"/>
              </a:spcBef>
            </a:pPr>
            <a:r>
              <a:rPr lang="en-US" b="1" dirty="0" smtClean="0">
                <a:latin typeface="Arial" pitchFamily="34" charset="0"/>
                <a:cs typeface="Arial" pitchFamily="34" charset="0"/>
              </a:rPr>
              <a:t>your feedback at</a:t>
            </a:r>
          </a:p>
          <a:p>
            <a:pPr marL="342900" indent="-342900">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1275</TotalTime>
  <Words>878</Words>
  <Application>Microsoft Office PowerPoint</Application>
  <PresentationFormat>On-screen Show (4:3)</PresentationFormat>
  <Paragraphs>87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126</cp:revision>
  <dcterms:created xsi:type="dcterms:W3CDTF">2013-10-22T09:41:31Z</dcterms:created>
  <dcterms:modified xsi:type="dcterms:W3CDTF">2014-09-15T12:01:46Z</dcterms:modified>
</cp:coreProperties>
</file>