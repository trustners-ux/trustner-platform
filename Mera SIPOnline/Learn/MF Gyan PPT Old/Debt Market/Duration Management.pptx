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8" r:id="rId3"/>
    <p:sldId id="312" r:id="rId4"/>
    <p:sldId id="319" r:id="rId5"/>
    <p:sldId id="315" r:id="rId6"/>
    <p:sldId id="321" r:id="rId7"/>
    <p:sldId id="322" r:id="rId8"/>
    <p:sldId id="307" r:id="rId9"/>
    <p:sldId id="323" r:id="rId10"/>
    <p:sldId id="324" r:id="rId11"/>
    <p:sldId id="327" r:id="rId12"/>
    <p:sldId id="328" r:id="rId13"/>
    <p:sldId id="329" r:id="rId14"/>
    <p:sldId id="330"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735"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2771800" y="1340768"/>
            <a:ext cx="4214842" cy="1269578"/>
          </a:xfrm>
          <a:prstGeom prst="rect">
            <a:avLst/>
          </a:prstGeom>
          <a:noFill/>
        </p:spPr>
        <p:txBody>
          <a:bodyPr wrap="square" rtlCol="0">
            <a:spAutoFit/>
          </a:bodyPr>
          <a:lstStyle/>
          <a:p>
            <a:pPr>
              <a:lnSpc>
                <a:spcPct val="150000"/>
              </a:lnSpc>
              <a:spcBef>
                <a:spcPct val="20000"/>
              </a:spcBef>
            </a:pPr>
            <a:r>
              <a:rPr lang="en-US" sz="1700" b="1" dirty="0" smtClean="0">
                <a:latin typeface="Arial" pitchFamily="34" charset="0"/>
                <a:cs typeface="Arial" pitchFamily="34" charset="0"/>
              </a:rPr>
              <a:t>Understanding</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‘Duration Management’ of Debt Papers </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  By Prof. </a:t>
            </a:r>
            <a:r>
              <a:rPr lang="en-US" sz="1700" b="1" i="1" dirty="0" smtClean="0">
                <a:latin typeface="Arial" pitchFamily="34" charset="0"/>
                <a:cs typeface="Arial" pitchFamily="34" charset="0"/>
              </a:rPr>
              <a:t>Simply</a:t>
            </a:r>
            <a:r>
              <a:rPr lang="en-US" sz="1700" b="1" dirty="0" smtClean="0">
                <a:latin typeface="Arial" pitchFamily="34" charset="0"/>
                <a:cs typeface="Arial" pitchFamily="34" charset="0"/>
              </a:rPr>
              <a:t> Simple </a:t>
            </a:r>
            <a:r>
              <a:rPr lang="en-US" sz="1700" baseline="70000" dirty="0" smtClean="0">
                <a:latin typeface="Arial" pitchFamily="34" charset="0"/>
                <a:cs typeface="Arial" pitchFamily="34" charset="0"/>
              </a:rPr>
              <a:t>TM</a:t>
            </a:r>
            <a:endParaRPr lang="en-US" sz="1700" b="1" dirty="0">
              <a:latin typeface="Arial" pitchFamily="34" charset="0"/>
              <a:cs typeface="Arial" pitchFamily="34" charset="0"/>
            </a:endParaRPr>
          </a:p>
        </p:txBody>
      </p:sp>
      <p:sp>
        <p:nvSpPr>
          <p:cNvPr id="5" name="TextBox 4"/>
          <p:cNvSpPr txBox="1"/>
          <p:nvPr/>
        </p:nvSpPr>
        <p:spPr>
          <a:xfrm>
            <a:off x="3500430" y="2357430"/>
            <a:ext cx="3357586" cy="416653"/>
          </a:xfrm>
          <a:prstGeom prst="rect">
            <a:avLst/>
          </a:prstGeom>
          <a:noFill/>
        </p:spPr>
        <p:txBody>
          <a:bodyPr wrap="square" rtlCol="0">
            <a:spAutoFit/>
          </a:bodyPr>
          <a:lstStyle/>
          <a:p>
            <a:pPr>
              <a:lnSpc>
                <a:spcPct val="140000"/>
              </a:lnSpc>
            </a:pPr>
            <a:endParaRPr lang="en-US" sz="17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683568" y="1142984"/>
            <a:ext cx="7960398" cy="2308324"/>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Debt funds invest in debt papers which need to give good fixed returns &amp; be of good quality. </a:t>
            </a:r>
          </a:p>
          <a:p>
            <a:pPr>
              <a:lnSpc>
                <a:spcPct val="200000"/>
              </a:lnSpc>
            </a:pPr>
            <a:r>
              <a:rPr lang="en-US" b="1" dirty="0" smtClean="0">
                <a:latin typeface="Arial" pitchFamily="34" charset="0"/>
                <a:cs typeface="Arial" pitchFamily="34" charset="0"/>
              </a:rPr>
              <a:t>Based on the interest rate outlook, the fund manager decides whether to invest in long duration papers or short duration papers.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6506" y="4214818"/>
            <a:ext cx="4647460"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how is his decision of</a:t>
            </a:r>
            <a:br>
              <a:rPr lang="en-US" b="1" dirty="0" smtClean="0">
                <a:latin typeface="Arial" pitchFamily="34" charset="0"/>
                <a:cs typeface="Arial" pitchFamily="34" charset="0"/>
              </a:rPr>
            </a:br>
            <a:r>
              <a:rPr lang="en-US" b="1" dirty="0" smtClean="0">
                <a:latin typeface="Arial" pitchFamily="34" charset="0"/>
                <a:cs typeface="Arial" pitchFamily="34" charset="0"/>
              </a:rPr>
              <a:t>selecting long duration papers</a:t>
            </a:r>
            <a:br>
              <a:rPr lang="en-US" b="1" dirty="0" smtClean="0">
                <a:latin typeface="Arial" pitchFamily="34" charset="0"/>
                <a:cs typeface="Arial" pitchFamily="34" charset="0"/>
              </a:rPr>
            </a:br>
            <a:r>
              <a:rPr lang="en-US" b="1" dirty="0" smtClean="0">
                <a:latin typeface="Arial" pitchFamily="34" charset="0"/>
                <a:cs typeface="Arial" pitchFamily="34" charset="0"/>
              </a:rPr>
              <a:t>or short duration papers connected</a:t>
            </a:r>
            <a:br>
              <a:rPr lang="en-US" b="1" dirty="0" smtClean="0">
                <a:latin typeface="Arial" pitchFamily="34" charset="0"/>
                <a:cs typeface="Arial" pitchFamily="34" charset="0"/>
              </a:rPr>
            </a:br>
            <a:r>
              <a:rPr lang="en-US" b="1" dirty="0" smtClean="0">
                <a:latin typeface="Arial" pitchFamily="34" charset="0"/>
                <a:cs typeface="Arial" pitchFamily="34" charset="0"/>
              </a:rPr>
              <a:t>with the interest rate outlook?</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683568" y="1071546"/>
            <a:ext cx="7817522" cy="2308324"/>
          </a:xfrm>
          <a:prstGeom prst="rect">
            <a:avLst/>
          </a:prstGeom>
          <a:noFill/>
        </p:spPr>
        <p:txBody>
          <a:bodyPr wrap="square" rtlCol="0">
            <a:spAutoFit/>
          </a:bodyPr>
          <a:lstStyle/>
          <a:p>
            <a:pPr>
              <a:lnSpc>
                <a:spcPct val="200000"/>
              </a:lnSpc>
            </a:pPr>
            <a:r>
              <a:rPr lang="en-US" b="1" i="1" dirty="0" smtClean="0">
                <a:latin typeface="Arial" pitchFamily="34" charset="0"/>
                <a:cs typeface="Arial" pitchFamily="34" charset="0"/>
              </a:rPr>
              <a:t>Simply</a:t>
            </a:r>
            <a:r>
              <a:rPr lang="en-US" b="1" dirty="0" smtClean="0">
                <a:latin typeface="Arial" pitchFamily="34" charset="0"/>
                <a:cs typeface="Arial" pitchFamily="34" charset="0"/>
              </a:rPr>
              <a:t> speaking, when interest rates are expected to go up,</a:t>
            </a:r>
            <a:br>
              <a:rPr lang="en-US" b="1" dirty="0" smtClean="0">
                <a:latin typeface="Arial" pitchFamily="34" charset="0"/>
                <a:cs typeface="Arial" pitchFamily="34" charset="0"/>
              </a:rPr>
            </a:br>
            <a:r>
              <a:rPr lang="en-US" b="1" dirty="0" smtClean="0">
                <a:latin typeface="Arial" pitchFamily="34" charset="0"/>
                <a:cs typeface="Arial" pitchFamily="34" charset="0"/>
              </a:rPr>
              <a:t>the debt fund manager would invest in shorter duration papers</a:t>
            </a:r>
            <a:br>
              <a:rPr lang="en-US" b="1" dirty="0" smtClean="0">
                <a:latin typeface="Arial" pitchFamily="34" charset="0"/>
                <a:cs typeface="Arial" pitchFamily="34" charset="0"/>
              </a:rPr>
            </a:br>
            <a:r>
              <a:rPr lang="en-US" b="1" dirty="0" smtClean="0">
                <a:latin typeface="Arial" pitchFamily="34" charset="0"/>
                <a:cs typeface="Arial" pitchFamily="34" charset="0"/>
              </a:rPr>
              <a:t>but if interest rates are expected to come down, then he would do the opposite and invest in longer duration papers.</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5013176"/>
            <a:ext cx="4147394" cy="369332"/>
          </a:xfrm>
          <a:prstGeom prst="rect">
            <a:avLst/>
          </a:prstGeom>
        </p:spPr>
        <p:txBody>
          <a:bodyPr wrap="square">
            <a:spAutoFit/>
          </a:bodyPr>
          <a:lstStyle/>
          <a:p>
            <a:r>
              <a:rPr lang="en-US" b="1" dirty="0" smtClean="0">
                <a:latin typeface="Arial" pitchFamily="34" charset="0"/>
                <a:cs typeface="Arial" pitchFamily="34" charset="0"/>
              </a:rPr>
              <a:t>Let’s understand this </a:t>
            </a:r>
            <a:r>
              <a:rPr lang="en-US" b="1" dirty="0" smtClean="0">
                <a:latin typeface="Arial" pitchFamily="34" charset="0"/>
                <a:cs typeface="Arial" pitchFamily="34" charset="0"/>
              </a:rPr>
              <a:t>better.</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2786050" y="1000108"/>
            <a:ext cx="4214842" cy="2031325"/>
          </a:xfrm>
          <a:prstGeom prst="rect">
            <a:avLst/>
          </a:prstGeom>
          <a:noFill/>
        </p:spPr>
        <p:txBody>
          <a:bodyPr wrap="square" rtlCol="0">
            <a:spAutoFit/>
          </a:bodyPr>
          <a:lstStyle/>
          <a:p>
            <a:pPr algn="ctr">
              <a:lnSpc>
                <a:spcPct val="140000"/>
              </a:lnSpc>
            </a:pPr>
            <a:r>
              <a:rPr lang="en-US" b="1" dirty="0" smtClean="0">
                <a:latin typeface="Arial" pitchFamily="34" charset="0"/>
                <a:cs typeface="Arial" pitchFamily="34" charset="0"/>
              </a:rPr>
              <a:t>When a </a:t>
            </a:r>
            <a:r>
              <a:rPr lang="en-US" b="1" dirty="0" smtClean="0">
                <a:latin typeface="Arial" pitchFamily="34" charset="0"/>
                <a:cs typeface="Arial" pitchFamily="34" charset="0"/>
              </a:rPr>
              <a:t>fund manager thinks that </a:t>
            </a:r>
            <a:r>
              <a:rPr lang="en-US" b="1" dirty="0" smtClean="0">
                <a:latin typeface="Arial" pitchFamily="34" charset="0"/>
                <a:cs typeface="Arial" pitchFamily="34" charset="0"/>
              </a:rPr>
              <a:t>interest </a:t>
            </a:r>
            <a:r>
              <a:rPr lang="en-US" b="1" dirty="0" smtClean="0">
                <a:latin typeface="Arial" pitchFamily="34" charset="0"/>
                <a:cs typeface="Arial" pitchFamily="34" charset="0"/>
              </a:rPr>
              <a:t>rates are likely to go up in the near future</a:t>
            </a:r>
            <a:r>
              <a:rPr lang="en-US" b="1" dirty="0" smtClean="0">
                <a:latin typeface="Arial" pitchFamily="34" charset="0"/>
                <a:cs typeface="Arial" pitchFamily="34" charset="0"/>
              </a:rPr>
              <a:t>, it </a:t>
            </a:r>
            <a:r>
              <a:rPr lang="en-US" b="1" dirty="0" smtClean="0">
                <a:latin typeface="Arial" pitchFamily="34" charset="0"/>
                <a:cs typeface="Arial" pitchFamily="34" charset="0"/>
              </a:rPr>
              <a:t>means that debt papers in the future will offer better rates of </a:t>
            </a:r>
            <a:r>
              <a:rPr lang="en-US" b="1" dirty="0" smtClean="0">
                <a:latin typeface="Arial" pitchFamily="34" charset="0"/>
                <a:cs typeface="Arial" pitchFamily="34" charset="0"/>
              </a:rPr>
              <a:t>return.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7076" y="1214422"/>
            <a:ext cx="7916890"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a:t>
            </a:r>
            <a:r>
              <a:rPr lang="en-US" b="1" dirty="0" smtClean="0">
                <a:latin typeface="Arial" pitchFamily="34" charset="0"/>
                <a:cs typeface="Arial" pitchFamily="34" charset="0"/>
              </a:rPr>
              <a:t>fund manager observes that since interest rates </a:t>
            </a:r>
            <a:r>
              <a:rPr lang="en-US" b="1" dirty="0" smtClean="0">
                <a:latin typeface="Arial" pitchFamily="34" charset="0"/>
                <a:cs typeface="Arial" pitchFamily="34" charset="0"/>
              </a:rPr>
              <a:t>are likely </a:t>
            </a:r>
            <a:r>
              <a:rPr lang="en-US" b="1" dirty="0" smtClean="0">
                <a:latin typeface="Arial" pitchFamily="34" charset="0"/>
                <a:cs typeface="Arial" pitchFamily="34" charset="0"/>
              </a:rPr>
              <a:t>to rise soon and </a:t>
            </a:r>
            <a:r>
              <a:rPr lang="en-US" b="1" dirty="0" smtClean="0">
                <a:latin typeface="Arial" pitchFamily="34" charset="0"/>
                <a:cs typeface="Arial" pitchFamily="34" charset="0"/>
              </a:rPr>
              <a:t>debt </a:t>
            </a:r>
            <a:r>
              <a:rPr lang="en-US" b="1" dirty="0" smtClean="0">
                <a:latin typeface="Arial" pitchFamily="34" charset="0"/>
                <a:cs typeface="Arial" pitchFamily="34" charset="0"/>
              </a:rPr>
              <a:t>papers giving a higher interest rates would become </a:t>
            </a:r>
            <a:r>
              <a:rPr lang="en-US" b="1" dirty="0" smtClean="0">
                <a:latin typeface="Arial" pitchFamily="34" charset="0"/>
                <a:cs typeface="Arial" pitchFamily="34" charset="0"/>
              </a:rPr>
              <a:t>available, he invests </a:t>
            </a:r>
            <a:r>
              <a:rPr lang="en-US" b="1" dirty="0" smtClean="0">
                <a:latin typeface="Arial" pitchFamily="34" charset="0"/>
                <a:cs typeface="Arial" pitchFamily="34" charset="0"/>
              </a:rPr>
              <a:t>in papers </a:t>
            </a:r>
            <a:r>
              <a:rPr lang="en-US" b="1" dirty="0" smtClean="0">
                <a:latin typeface="Arial" pitchFamily="34" charset="0"/>
                <a:cs typeface="Arial" pitchFamily="34" charset="0"/>
              </a:rPr>
              <a:t>with shorter </a:t>
            </a:r>
            <a:r>
              <a:rPr lang="en-US" b="1" dirty="0" smtClean="0">
                <a:latin typeface="Arial" pitchFamily="34" charset="0"/>
                <a:cs typeface="Arial" pitchFamily="34" charset="0"/>
              </a:rPr>
              <a:t>maturities so that by the time the interest rates rise</a:t>
            </a:r>
            <a:r>
              <a:rPr lang="en-US" b="1" dirty="0" smtClean="0">
                <a:latin typeface="Arial" pitchFamily="34" charset="0"/>
                <a:cs typeface="Arial" pitchFamily="34" charset="0"/>
              </a:rPr>
              <a:t>, his </a:t>
            </a:r>
            <a:r>
              <a:rPr lang="en-US" b="1" dirty="0" smtClean="0">
                <a:latin typeface="Arial" pitchFamily="34" charset="0"/>
                <a:cs typeface="Arial" pitchFamily="34" charset="0"/>
              </a:rPr>
              <a:t>papers have matured and he has cash to invest in the new papers.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4205729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6858001"/>
            <a:chOff x="0" y="-1"/>
            <a:chExt cx="9144000" cy="6858001"/>
          </a:xfrm>
        </p:grpSpPr>
        <p:pic>
          <p:nvPicPr>
            <p:cNvPr id="3"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4"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5" name="TextBox 4"/>
          <p:cNvSpPr txBox="1"/>
          <p:nvPr/>
        </p:nvSpPr>
        <p:spPr>
          <a:xfrm>
            <a:off x="1394083" y="1357298"/>
            <a:ext cx="3392231" cy="1643527"/>
          </a:xfrm>
          <a:prstGeom prst="rect">
            <a:avLst/>
          </a:prstGeom>
          <a:noFill/>
        </p:spPr>
        <p:txBody>
          <a:bodyPr wrap="square" rtlCol="0">
            <a:spAutoFit/>
          </a:bodyPr>
          <a:lstStyle/>
          <a:p>
            <a:pPr>
              <a:lnSpc>
                <a:spcPct val="140000"/>
              </a:lnSpc>
            </a:pPr>
            <a:r>
              <a:rPr lang="en-US" b="1" dirty="0" smtClean="0">
                <a:latin typeface="Arial" pitchFamily="34" charset="0"/>
                <a:cs typeface="Arial" pitchFamily="34" charset="0"/>
              </a:rPr>
              <a:t>Now what happens when</a:t>
            </a:r>
            <a:br>
              <a:rPr lang="en-US" b="1" dirty="0" smtClean="0">
                <a:latin typeface="Arial" pitchFamily="34" charset="0"/>
                <a:cs typeface="Arial" pitchFamily="34" charset="0"/>
              </a:rPr>
            </a:br>
            <a:r>
              <a:rPr lang="en-US" b="1" dirty="0" smtClean="0">
                <a:latin typeface="Arial" pitchFamily="34" charset="0"/>
                <a:cs typeface="Arial" pitchFamily="34" charset="0"/>
              </a:rPr>
              <a:t>the debt fund manager believes that interest </a:t>
            </a:r>
            <a:r>
              <a:rPr lang="en-US" b="1" dirty="0" smtClean="0">
                <a:latin typeface="Arial" pitchFamily="34" charset="0"/>
                <a:cs typeface="Arial" pitchFamily="34" charset="0"/>
              </a:rPr>
              <a:t>rate </a:t>
            </a:r>
            <a:r>
              <a:rPr lang="en-US" b="1" dirty="0" smtClean="0">
                <a:latin typeface="Arial" pitchFamily="34" charset="0"/>
                <a:cs typeface="Arial" pitchFamily="34" charset="0"/>
              </a:rPr>
              <a:t>is more likely to come down?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3995936" y="4789214"/>
            <a:ext cx="4147394" cy="87203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 just reverses his strategy and invests in long duration papers. </a:t>
            </a:r>
          </a:p>
        </p:txBody>
      </p:sp>
      <p:sp>
        <p:nvSpPr>
          <p:cNvPr id="7" name="TextBox 6"/>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214422"/>
            <a:ext cx="7215238"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If </a:t>
            </a:r>
            <a:r>
              <a:rPr lang="en-US" b="1" dirty="0" smtClean="0">
                <a:latin typeface="Arial" pitchFamily="34" charset="0"/>
                <a:cs typeface="Arial" pitchFamily="34" charset="0"/>
              </a:rPr>
              <a:t>a debt fund manager feels </a:t>
            </a:r>
            <a:r>
              <a:rPr lang="en-US" b="1" dirty="0" smtClean="0">
                <a:latin typeface="Arial" pitchFamily="34" charset="0"/>
                <a:cs typeface="Arial" pitchFamily="34" charset="0"/>
              </a:rPr>
              <a:t>that interest </a:t>
            </a:r>
            <a:r>
              <a:rPr lang="en-US" b="1" dirty="0" smtClean="0">
                <a:latin typeface="Arial" pitchFamily="34" charset="0"/>
                <a:cs typeface="Arial" pitchFamily="34" charset="0"/>
              </a:rPr>
              <a:t>rates are coming down and that fresh papers in the future would bear a lower interest rates, he would naturally invest in currently available papers for a longer duration</a:t>
            </a:r>
            <a:r>
              <a:rPr lang="en-US" b="1" dirty="0" smtClean="0">
                <a:latin typeface="Arial" pitchFamily="34" charset="0"/>
                <a:cs typeface="Arial" pitchFamily="34" charset="0"/>
              </a:rPr>
              <a: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By doing so, his money stays invested in higher interest</a:t>
            </a:r>
            <a:br>
              <a:rPr lang="en-US" b="1" dirty="0" smtClean="0">
                <a:latin typeface="Arial" pitchFamily="34" charset="0"/>
                <a:cs typeface="Arial" pitchFamily="34" charset="0"/>
              </a:rPr>
            </a:br>
            <a:r>
              <a:rPr lang="en-US" b="1" dirty="0" smtClean="0">
                <a:latin typeface="Arial" pitchFamily="34" charset="0"/>
                <a:cs typeface="Arial" pitchFamily="34" charset="0"/>
              </a:rPr>
              <a:t>bearing papers even in a lower interest rate regime.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214422"/>
            <a:ext cx="7215238"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a:t>
            </a:r>
            <a:r>
              <a:rPr lang="en-US" b="1" dirty="0" smtClean="0">
                <a:latin typeface="Arial" pitchFamily="34" charset="0"/>
                <a:cs typeface="Arial" pitchFamily="34" charset="0"/>
              </a:rPr>
              <a:t>value of the higher interest bearing papers too would go up and </a:t>
            </a:r>
            <a:r>
              <a:rPr lang="en-US" b="1" dirty="0" smtClean="0">
                <a:latin typeface="Arial" pitchFamily="34" charset="0"/>
                <a:cs typeface="Arial" pitchFamily="34" charset="0"/>
              </a:rPr>
              <a:t>the fund </a:t>
            </a:r>
            <a:r>
              <a:rPr lang="en-US" b="1" dirty="0" smtClean="0">
                <a:latin typeface="Arial" pitchFamily="34" charset="0"/>
                <a:cs typeface="Arial" pitchFamily="34" charset="0"/>
              </a:rPr>
              <a:t>manager too could extract a higher price by</a:t>
            </a:r>
            <a:br>
              <a:rPr lang="en-US" b="1" dirty="0" smtClean="0">
                <a:latin typeface="Arial" pitchFamily="34" charset="0"/>
                <a:cs typeface="Arial" pitchFamily="34" charset="0"/>
              </a:rPr>
            </a:br>
            <a:r>
              <a:rPr lang="en-US" b="1" dirty="0" smtClean="0">
                <a:latin typeface="Arial" pitchFamily="34" charset="0"/>
                <a:cs typeface="Arial" pitchFamily="34" charset="0"/>
              </a:rPr>
              <a:t>selling it in the market!</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1934" y="4519064"/>
            <a:ext cx="4147394"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this lesson has given you</a:t>
            </a:r>
            <a:br>
              <a:rPr lang="en-US" b="1" dirty="0" smtClean="0">
                <a:latin typeface="Arial" pitchFamily="34" charset="0"/>
                <a:cs typeface="Arial" pitchFamily="34" charset="0"/>
              </a:rPr>
            </a:br>
            <a:r>
              <a:rPr lang="en-US" b="1" dirty="0" smtClean="0">
                <a:latin typeface="Arial" pitchFamily="34" charset="0"/>
                <a:cs typeface="Arial" pitchFamily="34" charset="0"/>
              </a:rPr>
              <a:t>an idea of ‘Duration Management’ of debt papers.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214422"/>
            <a:ext cx="7215238" cy="1754326"/>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I will be glad to receive your feedback</a:t>
            </a:r>
            <a:br>
              <a:rPr lang="en-US" b="1" dirty="0" smtClean="0">
                <a:latin typeface="Arial" pitchFamily="34" charset="0"/>
                <a:cs typeface="Arial" pitchFamily="34" charset="0"/>
              </a:rPr>
            </a:br>
            <a:r>
              <a:rPr lang="en-US" b="1" dirty="0" smtClean="0">
                <a:latin typeface="Arial" pitchFamily="34" charset="0"/>
                <a:cs typeface="Arial" pitchFamily="34" charset="0"/>
              </a:rPr>
              <a:t>on this lesson to understand if there any gaps.</a:t>
            </a:r>
          </a:p>
          <a:p>
            <a:pPr>
              <a:lnSpc>
                <a:spcPct val="200000"/>
              </a:lnSpc>
            </a:pPr>
            <a:r>
              <a:rPr lang="en-US" b="1" dirty="0" smtClean="0">
                <a:latin typeface="Arial" pitchFamily="34" charset="0"/>
                <a:cs typeface="Arial" pitchFamily="34" charset="0"/>
              </a:rPr>
              <a:t>Your feedback will help me improve my lessons going forward.</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DURATION MANAGEMENT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85852" y="1460360"/>
            <a:ext cx="3571900" cy="1661993"/>
          </a:xfrm>
          <a:prstGeom prst="rect">
            <a:avLst/>
          </a:prstGeom>
          <a:noFill/>
        </p:spPr>
        <p:txBody>
          <a:bodyPr wrap="square" rtlCol="0">
            <a:spAutoFit/>
          </a:bodyPr>
          <a:lstStyle/>
          <a:p>
            <a:pPr>
              <a:lnSpc>
                <a:spcPct val="120000"/>
              </a:lnSpc>
            </a:pPr>
            <a:r>
              <a:rPr lang="en-US" sz="1700" b="1" dirty="0" smtClean="0">
                <a:latin typeface="Arial" pitchFamily="34" charset="0"/>
                <a:cs typeface="Arial" pitchFamily="34" charset="0"/>
              </a:rPr>
              <a:t>Also, if you wish to demystify any other concepts,</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please write to me on </a:t>
            </a:r>
            <a:r>
              <a:rPr lang="en-US" sz="1700" b="1" dirty="0" smtClean="0">
                <a:latin typeface="Arial" pitchFamily="34" charset="0"/>
                <a:cs typeface="Arial" pitchFamily="34" charset="0"/>
                <a:hlinkClick r:id="rId4"/>
              </a:rPr>
              <a:t>professor@tataamc.com</a:t>
            </a:r>
            <a:endParaRPr lang="en-US" sz="1700" b="1" dirty="0" smtClean="0">
              <a:latin typeface="Arial" pitchFamily="34" charset="0"/>
              <a:cs typeface="Arial" pitchFamily="34" charset="0"/>
            </a:endParaRPr>
          </a:p>
          <a:p>
            <a:pPr>
              <a:lnSpc>
                <a:spcPct val="120000"/>
              </a:lnSpc>
            </a:pPr>
            <a:r>
              <a:rPr lang="en-US" sz="1700" b="1" dirty="0" smtClean="0">
                <a:latin typeface="Arial" pitchFamily="34" charset="0"/>
                <a:cs typeface="Arial" pitchFamily="34" charset="0"/>
              </a:rPr>
              <a:t>Your feedback is my reward.</a:t>
            </a:r>
            <a:endParaRPr lang="en-US" sz="17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1861</TotalTime>
  <Words>474</Words>
  <Application>Microsoft Office PowerPoint</Application>
  <PresentationFormat>On-screen Show (4:3)</PresentationFormat>
  <Paragraphs>36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206</cp:revision>
  <dcterms:created xsi:type="dcterms:W3CDTF">2013-10-22T09:41:31Z</dcterms:created>
  <dcterms:modified xsi:type="dcterms:W3CDTF">2014-09-17T09:20:13Z</dcterms:modified>
</cp:coreProperties>
</file>