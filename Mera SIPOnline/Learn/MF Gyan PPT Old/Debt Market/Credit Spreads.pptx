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94" r:id="rId3"/>
    <p:sldId id="276" r:id="rId4"/>
    <p:sldId id="312" r:id="rId5"/>
    <p:sldId id="305" r:id="rId6"/>
    <p:sldId id="306" r:id="rId7"/>
    <p:sldId id="317" r:id="rId8"/>
    <p:sldId id="287" r:id="rId9"/>
    <p:sldId id="273"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9" d="100"/>
          <a:sy n="49" d="100"/>
        </p:scale>
        <p:origin x="-1214"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CREDIT SPREADS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61850" y="1934166"/>
            <a:ext cx="3567340" cy="923330"/>
          </a:xfrm>
          <a:prstGeom prst="rect">
            <a:avLst/>
          </a:prstGeom>
          <a:noFill/>
        </p:spPr>
        <p:txBody>
          <a:bodyPr wrap="square" rtlCol="0">
            <a:spAutoFit/>
          </a:bodyPr>
          <a:lstStyle/>
          <a:p>
            <a:pPr>
              <a:lnSpc>
                <a:spcPct val="150000"/>
              </a:lnSpc>
              <a:spcBef>
                <a:spcPct val="20000"/>
              </a:spcBef>
            </a:pPr>
            <a:r>
              <a:rPr lang="en-US" b="1" dirty="0" smtClean="0">
                <a:latin typeface="Arial" pitchFamily="34" charset="0"/>
                <a:cs typeface="Arial" pitchFamily="34" charset="0"/>
              </a:rPr>
              <a:t>Understanding Credit Spreads </a:t>
            </a:r>
            <a:br>
              <a:rPr lang="en-US" b="1" dirty="0" smtClean="0">
                <a:latin typeface="Arial" pitchFamily="34" charset="0"/>
                <a:cs typeface="Arial" pitchFamily="34" charset="0"/>
              </a:rPr>
            </a:b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255862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SPREADS</a:t>
            </a:r>
          </a:p>
        </p:txBody>
      </p:sp>
      <p:sp>
        <p:nvSpPr>
          <p:cNvPr id="5" name="Rectangle 4"/>
          <p:cNvSpPr/>
          <p:nvPr/>
        </p:nvSpPr>
        <p:spPr>
          <a:xfrm>
            <a:off x="6516216" y="6073551"/>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9" name="TextBox 8"/>
          <p:cNvSpPr txBox="1"/>
          <p:nvPr/>
        </p:nvSpPr>
        <p:spPr>
          <a:xfrm>
            <a:off x="683568" y="1129429"/>
            <a:ext cx="7532910" cy="3884397"/>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A credit spread refers to the difference in interest rates between a corporate bond and a comparable Government bond. </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Assume</a:t>
            </a:r>
            <a:r>
              <a:rPr lang="en-US" b="1" dirty="0" smtClean="0">
                <a:latin typeface="Arial" pitchFamily="34" charset="0"/>
                <a:cs typeface="Arial" pitchFamily="34" charset="0"/>
              </a:rPr>
              <a:t> that the </a:t>
            </a:r>
            <a:r>
              <a:rPr lang="en-US" b="1" dirty="0" smtClean="0">
                <a:latin typeface="Arial" pitchFamily="34" charset="0"/>
                <a:cs typeface="Arial" pitchFamily="34" charset="0"/>
              </a:rPr>
              <a:t>interest </a:t>
            </a:r>
            <a:r>
              <a:rPr lang="en-US" b="1" dirty="0" smtClean="0">
                <a:latin typeface="Arial" pitchFamily="34" charset="0"/>
                <a:cs typeface="Arial" pitchFamily="34" charset="0"/>
              </a:rPr>
              <a:t>rate on a five-year corporate bond is 6 per cent and that on a similar five-year Government bond is 5 per cent. </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This </a:t>
            </a:r>
            <a:r>
              <a:rPr lang="en-US" b="1" dirty="0" smtClean="0">
                <a:latin typeface="Arial" pitchFamily="34" charset="0"/>
                <a:cs typeface="Arial" pitchFamily="34" charset="0"/>
              </a:rPr>
              <a:t>means that the interest on a corporate bond consists of a risk-free rate of 5 per cent plus a credit spread of 1 per cent.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862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SPREADS</a:t>
            </a:r>
          </a:p>
        </p:txBody>
      </p:sp>
      <p:sp>
        <p:nvSpPr>
          <p:cNvPr id="4" name="TextBox 3"/>
          <p:cNvSpPr txBox="1"/>
          <p:nvPr/>
        </p:nvSpPr>
        <p:spPr>
          <a:xfrm>
            <a:off x="683568" y="1340768"/>
            <a:ext cx="7532910" cy="2222403"/>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Different securities in the market have different risk profiles.</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Therefore</a:t>
            </a:r>
            <a:r>
              <a:rPr lang="en-US" b="1" dirty="0" smtClean="0">
                <a:latin typeface="Arial" pitchFamily="34" charset="0"/>
                <a:cs typeface="Arial" pitchFamily="34" charset="0"/>
              </a:rPr>
              <a:t>, compensation is paid to investors proportionately according to the risk taken by the investor in selecting a particular security.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908720"/>
            <a:ext cx="8175852" cy="2708434"/>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sz="1700" b="1" dirty="0" smtClean="0">
                <a:latin typeface="Arial" pitchFamily="34" charset="0"/>
                <a:cs typeface="Arial" pitchFamily="34" charset="0"/>
              </a:rPr>
              <a:t>There will be a spread between two different kinds of papers due to the following reason:</a:t>
            </a:r>
          </a:p>
          <a:p>
            <a:pPr marL="811213" lvl="1" indent="-354013">
              <a:lnSpc>
                <a:spcPct val="200000"/>
              </a:lnSpc>
              <a:buFont typeface="Wingdings" pitchFamily="2" charset="2"/>
              <a:buChar char="q"/>
              <a:tabLst>
                <a:tab pos="354013" algn="l"/>
              </a:tabLst>
            </a:pPr>
            <a:r>
              <a:rPr lang="en-US" sz="1700" b="1" dirty="0" smtClean="0">
                <a:latin typeface="Arial" pitchFamily="34" charset="0"/>
                <a:cs typeface="Arial" pitchFamily="34" charset="0"/>
              </a:rPr>
              <a:t>Credit </a:t>
            </a:r>
            <a:r>
              <a:rPr lang="en-US" sz="1700" b="1" dirty="0" smtClean="0">
                <a:latin typeface="Arial" pitchFamily="34" charset="0"/>
                <a:cs typeface="Arial" pitchFamily="34" charset="0"/>
              </a:rPr>
              <a:t>quality – Lending money to the Govt. </a:t>
            </a:r>
            <a:r>
              <a:rPr lang="en-US" sz="1700" b="1" dirty="0" smtClean="0">
                <a:latin typeface="Arial" pitchFamily="34" charset="0"/>
                <a:cs typeface="Arial" pitchFamily="34" charset="0"/>
              </a:rPr>
              <a:t>is </a:t>
            </a:r>
            <a:r>
              <a:rPr lang="en-US" sz="1700" b="1" dirty="0" smtClean="0">
                <a:latin typeface="Arial" pitchFamily="34" charset="0"/>
                <a:cs typeface="Arial" pitchFamily="34" charset="0"/>
              </a:rPr>
              <a:t>any day safer than lending money to a corporate because the Govt. will never </a:t>
            </a:r>
            <a:r>
              <a:rPr lang="en-US" sz="1700" b="1" dirty="0" smtClean="0">
                <a:latin typeface="Arial" pitchFamily="34" charset="0"/>
                <a:cs typeface="Arial" pitchFamily="34" charset="0"/>
              </a:rPr>
              <a:t>default</a:t>
            </a:r>
            <a:r>
              <a:rPr lang="en-US" sz="1700" b="1" dirty="0" smtClean="0">
                <a:latin typeface="Arial" pitchFamily="34" charset="0"/>
                <a:cs typeface="Arial" pitchFamily="34" charset="0"/>
              </a:rPr>
              <a:t>. Hence, one is willing to park one’s money at a lower yield.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SPREADS</a:t>
            </a:r>
          </a:p>
        </p:txBody>
      </p:sp>
    </p:spTree>
    <p:extLst>
      <p:ext uri="{BB962C8B-B14F-4D97-AF65-F5344CB8AC3E}">
        <p14:creationId xmlns:p14="http://schemas.microsoft.com/office/powerpoint/2010/main" xmlns="" val="32686972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68052" y="1484784"/>
            <a:ext cx="7604348" cy="3277820"/>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 difference in yields between two different kinds of debt papers in the market is known as credit spread.</a:t>
            </a:r>
          </a:p>
          <a:p>
            <a:pPr marL="354013" indent="-354013">
              <a:lnSpc>
                <a:spcPct val="150000"/>
              </a:lnSpc>
              <a:buFont typeface="Wingdings" pitchFamily="2" charset="2"/>
              <a:buChar char="q"/>
              <a:tabLst>
                <a:tab pos="354013" algn="l"/>
              </a:tabLst>
            </a:pPr>
            <a:endParaRPr lang="en-US" sz="600"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For example, if the Govt. security is giving an yield of 5% while a corporate paper is giving an yield of 8%, the difference between them is 3% - which is the credit spread. </a:t>
            </a:r>
          </a:p>
          <a:p>
            <a:pPr marL="354013" indent="-354013">
              <a:lnSpc>
                <a:spcPct val="150000"/>
              </a:lnSpc>
              <a:buFont typeface="Wingdings" pitchFamily="2" charset="2"/>
              <a:buChar char="q"/>
              <a:tabLst>
                <a:tab pos="354013" algn="l"/>
              </a:tabLst>
            </a:pPr>
            <a:endParaRPr lang="en-US" sz="600"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However, the spread between a Govt. and good quality corporate papers </a:t>
            </a:r>
            <a:r>
              <a:rPr lang="en-US" b="1" dirty="0" smtClean="0">
                <a:latin typeface="Arial" pitchFamily="34" charset="0"/>
                <a:cs typeface="Arial" pitchFamily="34" charset="0"/>
              </a:rPr>
              <a:t>is </a:t>
            </a:r>
            <a:r>
              <a:rPr lang="en-US" b="1" dirty="0" smtClean="0">
                <a:latin typeface="Arial" pitchFamily="34" charset="0"/>
                <a:cs typeface="Arial" pitchFamily="34" charset="0"/>
              </a:rPr>
              <a:t>usually around 1.5%. </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CREDIT SPREADS</a:t>
            </a:r>
          </a:p>
        </p:txBody>
      </p:sp>
      <p:sp>
        <p:nvSpPr>
          <p:cNvPr id="5" name="TextBox 4"/>
          <p:cNvSpPr txBox="1"/>
          <p:nvPr/>
        </p:nvSpPr>
        <p:spPr>
          <a:xfrm>
            <a:off x="539552" y="1043444"/>
            <a:ext cx="8136904" cy="369332"/>
          </a:xfrm>
          <a:prstGeom prst="rect">
            <a:avLst/>
          </a:prstGeom>
          <a:noFill/>
        </p:spPr>
        <p:txBody>
          <a:bodyPr wrap="square" rtlCol="0">
            <a:spAutoFit/>
          </a:bodyPr>
          <a:lstStyle/>
          <a:p>
            <a:pPr algn="ctr"/>
            <a:r>
              <a:rPr lang="en-US" b="1" dirty="0" smtClean="0">
                <a:latin typeface="Arial" pitchFamily="34" charset="0"/>
                <a:cs typeface="Arial" pitchFamily="34" charset="0"/>
              </a:rPr>
              <a:t>To sum up…</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747770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485792"/>
            <a:ext cx="3933080" cy="923330"/>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now 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concept of  Credit Spreads</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36959" y="1268760"/>
            <a:ext cx="3024336" cy="1338828"/>
          </a:xfrm>
          <a:prstGeom prst="rect">
            <a:avLst/>
          </a:prstGeom>
          <a:noFill/>
        </p:spPr>
        <p:txBody>
          <a:bodyPr wrap="square" rtlCol="0">
            <a:spAutoFit/>
          </a:bodyPr>
          <a:lstStyle/>
          <a:p>
            <a:pPr>
              <a:lnSpc>
                <a:spcPct val="150000"/>
              </a:lnSpc>
              <a:spcBef>
                <a:spcPct val="20000"/>
              </a:spcBef>
            </a:pPr>
            <a:r>
              <a:rPr lang="en-US" b="1" dirty="0" smtClean="0">
                <a:latin typeface="Arial" pitchFamily="34" charset="0"/>
                <a:cs typeface="Arial" pitchFamily="34" charset="0"/>
              </a:rPr>
              <a:t>In case of any query, please e-mail</a:t>
            </a:r>
            <a:r>
              <a:rPr lang="en-US" dirty="0" smtClean="0">
                <a:solidFill>
                  <a:schemeClr val="bg1"/>
                </a:solidFill>
              </a:rPr>
              <a:t> </a:t>
            </a: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1711</TotalTime>
  <Words>457</Words>
  <Application>Microsoft Office PowerPoint</Application>
  <PresentationFormat>On-screen Show (4:3)</PresentationFormat>
  <Paragraphs>27</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Slide 1</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189</cp:revision>
  <dcterms:created xsi:type="dcterms:W3CDTF">2013-10-22T09:41:31Z</dcterms:created>
  <dcterms:modified xsi:type="dcterms:W3CDTF">2014-09-16T12:29:08Z</dcterms:modified>
</cp:coreProperties>
</file>