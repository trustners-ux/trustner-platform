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94" r:id="rId3"/>
    <p:sldId id="295" r:id="rId4"/>
    <p:sldId id="276" r:id="rId5"/>
    <p:sldId id="297" r:id="rId6"/>
    <p:sldId id="288" r:id="rId7"/>
    <p:sldId id="305" r:id="rId8"/>
    <p:sldId id="306" r:id="rId9"/>
    <p:sldId id="300" r:id="rId10"/>
    <p:sldId id="298" r:id="rId11"/>
    <p:sldId id="302" r:id="rId12"/>
    <p:sldId id="304"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varScale="1">
        <p:scale>
          <a:sx n="52" d="100"/>
          <a:sy n="52" d="100"/>
        </p:scale>
        <p:origin x="-1651"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CERTIFICATES OF DEPOSIT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59632" y="1877923"/>
            <a:ext cx="3570760" cy="830997"/>
          </a:xfrm>
          <a:prstGeom prst="rect">
            <a:avLst/>
          </a:prstGeom>
          <a:noFill/>
        </p:spPr>
        <p:txBody>
          <a:bodyPr wrap="square" rtlCol="0">
            <a:spAutoFit/>
          </a:bodyPr>
          <a:lstStyle/>
          <a:p>
            <a:pPr algn="ctr">
              <a:lnSpc>
                <a:spcPct val="150000"/>
              </a:lnSpc>
            </a:pPr>
            <a:r>
              <a:rPr lang="en-US" sz="1600" b="1" dirty="0" smtClean="0">
                <a:latin typeface="Arial" pitchFamily="34" charset="0"/>
                <a:cs typeface="Arial" pitchFamily="34" charset="0"/>
              </a:rPr>
              <a:t>CDs or Certificates </a:t>
            </a:r>
            <a:r>
              <a:rPr lang="en-US" sz="1600" b="1" dirty="0">
                <a:latin typeface="Arial" pitchFamily="34" charset="0"/>
                <a:cs typeface="Arial" pitchFamily="34" charset="0"/>
              </a:rPr>
              <a:t>of </a:t>
            </a:r>
            <a:r>
              <a:rPr lang="en-US" sz="1600" b="1" dirty="0" smtClean="0">
                <a:latin typeface="Arial" pitchFamily="34" charset="0"/>
                <a:cs typeface="Arial" pitchFamily="34" charset="0"/>
              </a:rPr>
              <a:t>Deposit are financial instruments</a:t>
            </a:r>
            <a:r>
              <a:rPr lang="en-US" sz="1600" b="1" dirty="0" smtClean="0">
                <a:latin typeface="Arial" pitchFamily="34" charset="0"/>
                <a:cs typeface="Arial" pitchFamily="34" charset="0"/>
              </a:rPr>
              <a:t>.</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355976" y="3895771"/>
            <a:ext cx="3888432" cy="2197525"/>
          </a:xfrm>
          <a:prstGeom prst="rect">
            <a:avLst/>
          </a:prstGeom>
        </p:spPr>
        <p:txBody>
          <a:bodyPr wrap="square">
            <a:spAutoFit/>
          </a:bodyPr>
          <a:lstStyle/>
          <a:p>
            <a:pPr>
              <a:lnSpc>
                <a:spcPct val="80000"/>
              </a:lnSpc>
              <a:spcBef>
                <a:spcPct val="20000"/>
              </a:spcBef>
            </a:pPr>
            <a:r>
              <a:rPr lang="en-US" b="1" dirty="0">
                <a:latin typeface="Arial" pitchFamily="34" charset="0"/>
                <a:cs typeface="Arial" pitchFamily="34" charset="0"/>
              </a:rPr>
              <a:t>But what do CDs actually mean?</a:t>
            </a:r>
          </a:p>
          <a:p>
            <a:pPr>
              <a:lnSpc>
                <a:spcPct val="80000"/>
              </a:lnSpc>
              <a:spcBef>
                <a:spcPct val="20000"/>
              </a:spcBef>
            </a:pPr>
            <a:endParaRPr lang="en-US" b="1" dirty="0">
              <a:latin typeface="Arial" pitchFamily="34" charset="0"/>
              <a:cs typeface="Arial" pitchFamily="34" charset="0"/>
            </a:endParaRPr>
          </a:p>
          <a:p>
            <a:pPr>
              <a:lnSpc>
                <a:spcPct val="80000"/>
              </a:lnSpc>
              <a:spcBef>
                <a:spcPct val="20000"/>
              </a:spcBef>
            </a:pPr>
            <a:r>
              <a:rPr lang="en-US" b="1" dirty="0">
                <a:latin typeface="Arial" pitchFamily="34" charset="0"/>
                <a:cs typeface="Arial" pitchFamily="34" charset="0"/>
              </a:rPr>
              <a:t>Who issues them?? </a:t>
            </a:r>
          </a:p>
          <a:p>
            <a:pPr>
              <a:lnSpc>
                <a:spcPct val="80000"/>
              </a:lnSpc>
              <a:spcBef>
                <a:spcPct val="20000"/>
              </a:spcBef>
            </a:pPr>
            <a:endParaRPr lang="en-US" b="1" dirty="0">
              <a:latin typeface="Arial" pitchFamily="34" charset="0"/>
              <a:cs typeface="Arial" pitchFamily="34" charset="0"/>
            </a:endParaRPr>
          </a:p>
          <a:p>
            <a:pPr>
              <a:lnSpc>
                <a:spcPct val="80000"/>
              </a:lnSpc>
              <a:spcBef>
                <a:spcPct val="20000"/>
              </a:spcBef>
            </a:pPr>
            <a:r>
              <a:rPr lang="en-US" b="1" dirty="0">
                <a:latin typeface="Arial" pitchFamily="34" charset="0"/>
                <a:cs typeface="Arial" pitchFamily="34" charset="0"/>
              </a:rPr>
              <a:t>Who subscribes to them???  </a:t>
            </a:r>
          </a:p>
          <a:p>
            <a:pPr>
              <a:lnSpc>
                <a:spcPct val="80000"/>
              </a:lnSpc>
              <a:spcBef>
                <a:spcPct val="20000"/>
              </a:spcBef>
            </a:pPr>
            <a:endParaRPr lang="en-US" b="1" dirty="0">
              <a:latin typeface="Arial" pitchFamily="34" charset="0"/>
              <a:cs typeface="Arial" pitchFamily="34" charset="0"/>
            </a:endParaRPr>
          </a:p>
          <a:p>
            <a:pPr>
              <a:lnSpc>
                <a:spcPct val="80000"/>
              </a:lnSpc>
              <a:spcBef>
                <a:spcPct val="20000"/>
              </a:spcBef>
            </a:pPr>
            <a:r>
              <a:rPr lang="en-US" b="1" dirty="0">
                <a:latin typeface="Arial" pitchFamily="34" charset="0"/>
                <a:cs typeface="Arial" pitchFamily="34" charset="0"/>
              </a:rPr>
              <a:t>Let me explain this to </a:t>
            </a:r>
            <a:r>
              <a:rPr lang="en-US" b="1" dirty="0" smtClean="0">
                <a:latin typeface="Arial" pitchFamily="34" charset="0"/>
                <a:cs typeface="Arial" pitchFamily="34" charset="0"/>
              </a:rPr>
              <a:t>you</a:t>
            </a:r>
            <a:br>
              <a:rPr lang="en-US" b="1" dirty="0" smtClean="0">
                <a:latin typeface="Arial" pitchFamily="34" charset="0"/>
                <a:cs typeface="Arial" pitchFamily="34" charset="0"/>
              </a:rPr>
            </a:br>
            <a:r>
              <a:rPr lang="en-US" b="1" dirty="0" smtClean="0">
                <a:latin typeface="Arial" pitchFamily="34" charset="0"/>
                <a:cs typeface="Arial" pitchFamily="34" charset="0"/>
              </a:rPr>
              <a:t>with </a:t>
            </a:r>
            <a:r>
              <a:rPr lang="en-US" b="1" dirty="0">
                <a:latin typeface="Arial" pitchFamily="34" charset="0"/>
                <a:cs typeface="Arial" pitchFamily="34" charset="0"/>
              </a:rPr>
              <a:t>an </a:t>
            </a:r>
            <a:r>
              <a:rPr lang="en-US" b="1" dirty="0" smtClean="0">
                <a:latin typeface="Arial" pitchFamily="34" charset="0"/>
                <a:cs typeface="Arial" pitchFamily="34" charset="0"/>
              </a:rPr>
              <a:t>example.</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Tree>
    <p:extLst>
      <p:ext uri="{BB962C8B-B14F-4D97-AF65-F5344CB8AC3E}">
        <p14:creationId xmlns:p14="http://schemas.microsoft.com/office/powerpoint/2010/main" xmlns="" val="2261896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9" name="TextBox 8"/>
          <p:cNvSpPr txBox="1"/>
          <p:nvPr/>
        </p:nvSpPr>
        <p:spPr>
          <a:xfrm>
            <a:off x="683568" y="1114866"/>
            <a:ext cx="7920880" cy="3970318"/>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Amar </a:t>
            </a:r>
            <a:r>
              <a:rPr lang="en-US" b="1" dirty="0">
                <a:latin typeface="Arial" pitchFamily="34" charset="0"/>
                <a:cs typeface="Arial" pitchFamily="34" charset="0"/>
              </a:rPr>
              <a:t>wishes to borrow Rs. 30 Lakhs for </a:t>
            </a:r>
            <a:r>
              <a:rPr lang="en-US" b="1" dirty="0" smtClean="0">
                <a:latin typeface="Arial" pitchFamily="34" charset="0"/>
                <a:cs typeface="Arial" pitchFamily="34" charset="0"/>
              </a:rPr>
              <a:t>his new business venture.</a:t>
            </a:r>
            <a:endParaRPr lang="en-US" b="1" dirty="0" smtClean="0">
              <a:latin typeface="Arial" pitchFamily="34" charset="0"/>
              <a:cs typeface="Arial" pitchFamily="34" charset="0"/>
            </a:endParaRP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He </a:t>
            </a:r>
            <a:r>
              <a:rPr lang="en-US" b="1" dirty="0">
                <a:latin typeface="Arial" pitchFamily="34" charset="0"/>
                <a:cs typeface="Arial" pitchFamily="34" charset="0"/>
              </a:rPr>
              <a:t>goes to his bank to ask for </a:t>
            </a:r>
            <a:r>
              <a:rPr lang="en-US" b="1" dirty="0" smtClean="0">
                <a:latin typeface="Arial" pitchFamily="34" charset="0"/>
                <a:cs typeface="Arial" pitchFamily="34" charset="0"/>
              </a:rPr>
              <a:t>a </a:t>
            </a:r>
            <a:r>
              <a:rPr lang="en-US" b="1" dirty="0">
                <a:latin typeface="Arial" pitchFamily="34" charset="0"/>
                <a:cs typeface="Arial" pitchFamily="34" charset="0"/>
              </a:rPr>
              <a:t>loan</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But </a:t>
            </a:r>
            <a:r>
              <a:rPr lang="en-US" b="1" dirty="0">
                <a:latin typeface="Arial" pitchFamily="34" charset="0"/>
                <a:cs typeface="Arial" pitchFamily="34" charset="0"/>
              </a:rPr>
              <a:t>though the bank agrees to provide a </a:t>
            </a:r>
            <a:r>
              <a:rPr lang="en-US" b="1" dirty="0" smtClean="0">
                <a:latin typeface="Arial" pitchFamily="34" charset="0"/>
                <a:cs typeface="Arial" pitchFamily="34" charset="0"/>
              </a:rPr>
              <a:t>loan</a:t>
            </a:r>
            <a:r>
              <a:rPr lang="en-US" b="1" dirty="0" smtClean="0">
                <a:latin typeface="Arial" pitchFamily="34" charset="0"/>
                <a:cs typeface="Arial" pitchFamily="34" charset="0"/>
              </a:rPr>
              <a:t>, it </a:t>
            </a:r>
            <a:r>
              <a:rPr lang="en-US" b="1" dirty="0">
                <a:latin typeface="Arial" pitchFamily="34" charset="0"/>
                <a:cs typeface="Arial" pitchFamily="34" charset="0"/>
              </a:rPr>
              <a:t>realizes that it has only Rs. 20 </a:t>
            </a:r>
            <a:r>
              <a:rPr lang="en-US" b="1" dirty="0" err="1">
                <a:latin typeface="Arial" pitchFamily="34" charset="0"/>
                <a:cs typeface="Arial" pitchFamily="34" charset="0"/>
              </a:rPr>
              <a:t>lacs</a:t>
            </a:r>
            <a:r>
              <a:rPr lang="en-US" b="1" dirty="0">
                <a:latin typeface="Arial" pitchFamily="34" charset="0"/>
                <a:cs typeface="Arial" pitchFamily="34" charset="0"/>
              </a:rPr>
              <a:t> at present</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Now </a:t>
            </a:r>
            <a:r>
              <a:rPr lang="en-US" b="1" dirty="0">
                <a:latin typeface="Arial" pitchFamily="34" charset="0"/>
                <a:cs typeface="Arial" pitchFamily="34" charset="0"/>
              </a:rPr>
              <a:t>the bank does not wish to lose him to another bank</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So </a:t>
            </a:r>
            <a:r>
              <a:rPr lang="en-US" b="1" dirty="0">
                <a:latin typeface="Arial" pitchFamily="34" charset="0"/>
                <a:cs typeface="Arial" pitchFamily="34" charset="0"/>
              </a:rPr>
              <a:t>the bank asks him to come back later to collect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loan </a:t>
            </a:r>
            <a:r>
              <a:rPr lang="en-US" b="1" dirty="0" smtClean="0">
                <a:latin typeface="Arial" pitchFamily="34" charset="0"/>
                <a:cs typeface="Arial" pitchFamily="34" charset="0"/>
              </a:rPr>
              <a:t>amount.</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76261" y="4869160"/>
            <a:ext cx="4320480" cy="923330"/>
          </a:xfrm>
          <a:prstGeom prst="rect">
            <a:avLst/>
          </a:prstGeom>
        </p:spPr>
        <p:txBody>
          <a:bodyPr wrap="square">
            <a:spAutoFit/>
          </a:bodyPr>
          <a:lstStyle/>
          <a:p>
            <a:pPr>
              <a:lnSpc>
                <a:spcPct val="150000"/>
              </a:lnSpc>
              <a:spcBef>
                <a:spcPct val="20000"/>
              </a:spcBef>
            </a:pPr>
            <a:r>
              <a:rPr lang="en-US" b="1" dirty="0">
                <a:latin typeface="Arial" pitchFamily="34" charset="0"/>
                <a:cs typeface="Arial" pitchFamily="34" charset="0"/>
              </a:rPr>
              <a:t>So how does the bank </a:t>
            </a:r>
            <a:r>
              <a:rPr lang="en-US" b="1" dirty="0" smtClean="0">
                <a:latin typeface="Arial" pitchFamily="34" charset="0"/>
                <a:cs typeface="Arial" pitchFamily="34" charset="0"/>
              </a:rPr>
              <a:t>provide</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additional Rs.10 lakhs?</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Tree>
    <p:extLst>
      <p:ext uri="{BB962C8B-B14F-4D97-AF65-F5344CB8AC3E}">
        <p14:creationId xmlns:p14="http://schemas.microsoft.com/office/powerpoint/2010/main" xmlns="" val="8596043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467544" y="980728"/>
            <a:ext cx="8352928" cy="3416320"/>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The bank has corporate relationships from whom they can borrow</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GB" b="1" dirty="0" smtClean="0">
                <a:latin typeface="Arial" pitchFamily="34" charset="0"/>
                <a:cs typeface="Arial" pitchFamily="34" charset="0"/>
              </a:rPr>
              <a:t>In </a:t>
            </a:r>
            <a:r>
              <a:rPr lang="en-GB" b="1" dirty="0">
                <a:latin typeface="Arial" pitchFamily="34" charset="0"/>
                <a:cs typeface="Arial" pitchFamily="34" charset="0"/>
              </a:rPr>
              <a:t>order to borrow, they issue ‘Certificates of Deposit’ to these corporate </a:t>
            </a:r>
            <a:r>
              <a:rPr lang="en-GB" b="1" dirty="0" smtClean="0">
                <a:latin typeface="Arial" pitchFamily="34" charset="0"/>
                <a:cs typeface="Arial" pitchFamily="34" charset="0"/>
              </a:rPr>
              <a:t>relationships.</a:t>
            </a:r>
            <a:endParaRPr lang="en-GB" b="1" dirty="0" smtClean="0">
              <a:latin typeface="Arial" pitchFamily="34" charset="0"/>
              <a:cs typeface="Arial" pitchFamily="34" charset="0"/>
            </a:endParaRPr>
          </a:p>
          <a:p>
            <a:pPr marL="465138" indent="-465138">
              <a:lnSpc>
                <a:spcPct val="200000"/>
              </a:lnSpc>
              <a:buFont typeface="Wingdings" pitchFamily="2" charset="2"/>
              <a:buChar char="q"/>
              <a:tabLst>
                <a:tab pos="465138" algn="l"/>
              </a:tabLst>
            </a:pPr>
            <a:r>
              <a:rPr lang="en-GB" b="1" dirty="0" smtClean="0">
                <a:latin typeface="Arial" pitchFamily="34" charset="0"/>
                <a:cs typeface="Arial" pitchFamily="34" charset="0"/>
              </a:rPr>
              <a:t>Obviously </a:t>
            </a:r>
            <a:r>
              <a:rPr lang="en-GB" b="1" dirty="0">
                <a:latin typeface="Arial" pitchFamily="34" charset="0"/>
                <a:cs typeface="Arial" pitchFamily="34" charset="0"/>
              </a:rPr>
              <a:t>the rate of interest offered by the bank to the corporate institutions would be higher than </a:t>
            </a:r>
            <a:r>
              <a:rPr lang="en-GB" b="1" dirty="0" smtClean="0">
                <a:latin typeface="Arial" pitchFamily="34" charset="0"/>
                <a:cs typeface="Arial" pitchFamily="34" charset="0"/>
              </a:rPr>
              <a:t>regular </a:t>
            </a:r>
            <a:r>
              <a:rPr lang="en-GB" b="1" dirty="0">
                <a:latin typeface="Arial" pitchFamily="34" charset="0"/>
                <a:cs typeface="Arial" pitchFamily="34" charset="0"/>
              </a:rPr>
              <a:t>fixed deposits</a:t>
            </a:r>
            <a:r>
              <a:rPr lang="en-GB"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GB" b="1" dirty="0" smtClean="0">
                <a:latin typeface="Arial" pitchFamily="34" charset="0"/>
                <a:cs typeface="Arial" pitchFamily="34" charset="0"/>
              </a:rPr>
              <a:t>Thus </a:t>
            </a:r>
            <a:r>
              <a:rPr lang="en-GB" b="1" dirty="0">
                <a:latin typeface="Arial" pitchFamily="34" charset="0"/>
                <a:cs typeface="Arial" pitchFamily="34" charset="0"/>
              </a:rPr>
              <a:t>money comes into the bank and is </a:t>
            </a:r>
            <a:r>
              <a:rPr lang="en-GB" b="1" dirty="0" smtClean="0">
                <a:latin typeface="Arial" pitchFamily="34" charset="0"/>
                <a:cs typeface="Arial" pitchFamily="34" charset="0"/>
              </a:rPr>
              <a:t>in turn offered </a:t>
            </a:r>
            <a:r>
              <a:rPr lang="en-GB" b="1" dirty="0">
                <a:latin typeface="Arial" pitchFamily="34" charset="0"/>
                <a:cs typeface="Arial" pitchFamily="34" charset="0"/>
              </a:rPr>
              <a:t>to Amar</a:t>
            </a:r>
            <a:r>
              <a:rPr lang="en-GB" b="1" dirty="0" smtClean="0">
                <a:latin typeface="Arial" pitchFamily="34" charset="0"/>
                <a:cs typeface="Arial" pitchFamily="34" charset="0"/>
              </a:rPr>
              <a:t>.</a:t>
            </a:r>
            <a:endParaRPr lang="en-GB" b="1" dirty="0" smtClean="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196752"/>
            <a:ext cx="8136904" cy="3831818"/>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GB" b="1" dirty="0">
                <a:latin typeface="Arial" pitchFamily="34" charset="0"/>
                <a:cs typeface="Arial" pitchFamily="34" charset="0"/>
              </a:rPr>
              <a:t>CDs, thus, become the financial instrument issued by banks at a higher interest rate than Fixed Deposits to entice corporates to park money with them in order to meet a lending need.</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A </a:t>
            </a:r>
            <a:r>
              <a:rPr lang="en-US" b="1" dirty="0">
                <a:latin typeface="Arial" pitchFamily="34" charset="0"/>
                <a:cs typeface="Arial" pitchFamily="34" charset="0"/>
              </a:rPr>
              <a:t>CD bears:</a:t>
            </a:r>
          </a:p>
          <a:p>
            <a:pPr marL="914400" lvl="1" indent="-457200">
              <a:lnSpc>
                <a:spcPct val="150000"/>
              </a:lnSpc>
              <a:tabLst>
                <a:tab pos="465138" algn="l"/>
                <a:tab pos="914400" algn="l"/>
              </a:tabLst>
            </a:pPr>
            <a:r>
              <a:rPr lang="en-US" b="1" dirty="0" smtClean="0">
                <a:latin typeface="Arial" pitchFamily="34" charset="0"/>
                <a:cs typeface="Arial" pitchFamily="34" charset="0"/>
              </a:rPr>
              <a:t>-	a </a:t>
            </a:r>
            <a:r>
              <a:rPr lang="en-US" b="1" dirty="0">
                <a:latin typeface="Arial" pitchFamily="34" charset="0"/>
                <a:cs typeface="Arial" pitchFamily="34" charset="0"/>
              </a:rPr>
              <a:t>maturity date, </a:t>
            </a:r>
          </a:p>
          <a:p>
            <a:pPr lvl="1">
              <a:lnSpc>
                <a:spcPct val="150000"/>
              </a:lnSpc>
              <a:tabLst>
                <a:tab pos="465138" algn="l"/>
                <a:tab pos="914400" algn="l"/>
              </a:tabLst>
            </a:pPr>
            <a:r>
              <a:rPr lang="en-US" b="1" dirty="0" smtClean="0">
                <a:latin typeface="Arial" pitchFamily="34" charset="0"/>
                <a:cs typeface="Arial" pitchFamily="34" charset="0"/>
              </a:rPr>
              <a:t>-	a </a:t>
            </a:r>
            <a:r>
              <a:rPr lang="en-US" b="1" dirty="0">
                <a:latin typeface="Arial" pitchFamily="34" charset="0"/>
                <a:cs typeface="Arial" pitchFamily="34" charset="0"/>
              </a:rPr>
              <a:t>specified interest rate, and </a:t>
            </a:r>
          </a:p>
          <a:p>
            <a:pPr lvl="1">
              <a:lnSpc>
                <a:spcPct val="150000"/>
              </a:lnSpc>
              <a:tabLst>
                <a:tab pos="465138" algn="l"/>
                <a:tab pos="914400" algn="l"/>
              </a:tabLst>
            </a:pPr>
            <a:r>
              <a:rPr lang="en-US" b="1" dirty="0" smtClean="0">
                <a:latin typeface="Arial" pitchFamily="34" charset="0"/>
                <a:cs typeface="Arial" pitchFamily="34" charset="0"/>
              </a:rPr>
              <a:t>-	can </a:t>
            </a:r>
            <a:r>
              <a:rPr lang="en-US" b="1" dirty="0">
                <a:latin typeface="Arial" pitchFamily="34" charset="0"/>
                <a:cs typeface="Arial" pitchFamily="34" charset="0"/>
              </a:rPr>
              <a:t>be issued in any denomination. </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CDs </a:t>
            </a:r>
            <a:r>
              <a:rPr lang="en-US" b="1" dirty="0">
                <a:latin typeface="Arial" pitchFamily="34" charset="0"/>
                <a:cs typeface="Arial" pitchFamily="34" charset="0"/>
              </a:rPr>
              <a:t>are generally issued by commercial banks.</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The </a:t>
            </a:r>
            <a:r>
              <a:rPr lang="en-US" b="1" dirty="0">
                <a:latin typeface="Arial" pitchFamily="34" charset="0"/>
                <a:cs typeface="Arial" pitchFamily="34" charset="0"/>
              </a:rPr>
              <a:t>term of a CD usually ranges from one month to five years.</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Tree>
    <p:extLst>
      <p:ext uri="{BB962C8B-B14F-4D97-AF65-F5344CB8AC3E}">
        <p14:creationId xmlns:p14="http://schemas.microsoft.com/office/powerpoint/2010/main" xmlns="" val="3268697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
        <p:nvSpPr>
          <p:cNvPr id="4" name="TextBox 3"/>
          <p:cNvSpPr txBox="1"/>
          <p:nvPr/>
        </p:nvSpPr>
        <p:spPr>
          <a:xfrm>
            <a:off x="539552" y="1052736"/>
            <a:ext cx="8136904" cy="463075"/>
          </a:xfrm>
          <a:prstGeom prst="rect">
            <a:avLst/>
          </a:prstGeom>
          <a:noFill/>
        </p:spPr>
        <p:txBody>
          <a:bodyPr wrap="square" rtlCol="0">
            <a:spAutoFit/>
          </a:bodyPr>
          <a:lstStyle/>
          <a:p>
            <a:pPr algn="ctr">
              <a:lnSpc>
                <a:spcPct val="150000"/>
              </a:lnSpc>
              <a:tabLst>
                <a:tab pos="465138" algn="l"/>
              </a:tabLst>
            </a:pPr>
            <a:r>
              <a:rPr lang="en-US" b="1" dirty="0">
                <a:latin typeface="Arial" pitchFamily="34" charset="0"/>
                <a:cs typeface="Arial" pitchFamily="34" charset="0"/>
              </a:rPr>
              <a:t>How CDs Work!</a:t>
            </a:r>
          </a:p>
        </p:txBody>
      </p:sp>
      <p:pic>
        <p:nvPicPr>
          <p:cNvPr id="5" name="Picture 9" descr="j023301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092280" y="1556792"/>
            <a:ext cx="1498285" cy="152190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9" descr="j023301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092279" y="3203243"/>
            <a:ext cx="1498285" cy="1521901"/>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9" descr="j023301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092280" y="4931435"/>
            <a:ext cx="1498285" cy="152190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j020546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131840" y="2576512"/>
            <a:ext cx="1819275" cy="1809750"/>
          </a:xfrm>
          <a:prstGeom prst="rect">
            <a:avLst/>
          </a:prstGeom>
          <a:noFill/>
          <a:extLst>
            <a:ext uri="{909E8E84-426E-40DD-AFC4-6F175D3DCCD1}">
              <a14:hiddenFill xmlns:a14="http://schemas.microsoft.com/office/drawing/2010/main" xmlns="">
                <a:solidFill>
                  <a:srgbClr val="FFFFFF"/>
                </a:solidFill>
              </a14:hiddenFill>
            </a:ext>
          </a:extLst>
        </p:spPr>
      </p:pic>
      <p:pic>
        <p:nvPicPr>
          <p:cNvPr id="10" name="Picture 12" descr="j0285360"/>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51520" y="2611419"/>
            <a:ext cx="1474787" cy="1817688"/>
          </a:xfrm>
          <a:prstGeom prst="rect">
            <a:avLst/>
          </a:prstGeom>
          <a:noFill/>
          <a:extLst>
            <a:ext uri="{909E8E84-426E-40DD-AFC4-6F175D3DCCD1}">
              <a14:hiddenFill xmlns:a14="http://schemas.microsoft.com/office/drawing/2010/main" xmlns="">
                <a:solidFill>
                  <a:srgbClr val="FFFFFF"/>
                </a:solidFill>
              </a14:hiddenFill>
            </a:ext>
          </a:extLst>
        </p:spPr>
      </p:pic>
      <p:pic>
        <p:nvPicPr>
          <p:cNvPr id="11" name="Picture 6" descr="j0291984"/>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a:xfrm>
            <a:off x="964307" y="2687619"/>
            <a:ext cx="1808163" cy="1914525"/>
          </a:xfrm>
          <a:prstGeom prst="rect">
            <a:avLst/>
          </a:prstGeom>
        </p:spPr>
      </p:pic>
      <p:sp>
        <p:nvSpPr>
          <p:cNvPr id="12" name="TextBox 11"/>
          <p:cNvSpPr txBox="1"/>
          <p:nvPr/>
        </p:nvSpPr>
        <p:spPr>
          <a:xfrm>
            <a:off x="1653080" y="1966045"/>
            <a:ext cx="2232248" cy="646331"/>
          </a:xfrm>
          <a:prstGeom prst="rect">
            <a:avLst/>
          </a:prstGeom>
          <a:noFill/>
        </p:spPr>
        <p:txBody>
          <a:bodyPr wrap="square" rtlCol="0">
            <a:spAutoFit/>
          </a:bodyPr>
          <a:lstStyle/>
          <a:p>
            <a:r>
              <a:rPr lang="en-US" b="1" dirty="0" smtClean="0">
                <a:latin typeface="Arial" pitchFamily="34" charset="0"/>
                <a:cs typeface="Arial" pitchFamily="34" charset="0"/>
              </a:rPr>
              <a:t>Borrower</a:t>
            </a:r>
            <a:br>
              <a:rPr lang="en-US" b="1" dirty="0" smtClean="0">
                <a:latin typeface="Arial" pitchFamily="34" charset="0"/>
                <a:cs typeface="Arial" pitchFamily="34" charset="0"/>
              </a:rPr>
            </a:br>
            <a:r>
              <a:rPr lang="en-US" b="1" dirty="0" smtClean="0">
                <a:latin typeface="Arial" pitchFamily="34" charset="0"/>
                <a:cs typeface="Arial" pitchFamily="34" charset="0"/>
              </a:rPr>
              <a:t>Approaches </a:t>
            </a:r>
            <a:r>
              <a:rPr lang="en-US" b="1" dirty="0">
                <a:latin typeface="Arial" pitchFamily="34" charset="0"/>
                <a:cs typeface="Arial" pitchFamily="34" charset="0"/>
              </a:rPr>
              <a:t>Bank</a:t>
            </a:r>
          </a:p>
        </p:txBody>
      </p:sp>
      <p:sp>
        <p:nvSpPr>
          <p:cNvPr id="14" name="TextBox 13"/>
          <p:cNvSpPr txBox="1"/>
          <p:nvPr/>
        </p:nvSpPr>
        <p:spPr>
          <a:xfrm>
            <a:off x="1708515" y="4789882"/>
            <a:ext cx="2287421" cy="369332"/>
          </a:xfrm>
          <a:prstGeom prst="rect">
            <a:avLst/>
          </a:prstGeom>
          <a:noFill/>
        </p:spPr>
        <p:txBody>
          <a:bodyPr wrap="square" rtlCol="0">
            <a:spAutoFit/>
          </a:bodyPr>
          <a:lstStyle/>
          <a:p>
            <a:r>
              <a:rPr lang="en-US" b="1" dirty="0">
                <a:latin typeface="Arial" pitchFamily="34" charset="0"/>
                <a:cs typeface="Arial" pitchFamily="34" charset="0"/>
              </a:rPr>
              <a:t>Bank Lends Money</a:t>
            </a:r>
          </a:p>
        </p:txBody>
      </p:sp>
      <p:sp>
        <p:nvSpPr>
          <p:cNvPr id="16" name="TextBox 15"/>
          <p:cNvSpPr txBox="1"/>
          <p:nvPr/>
        </p:nvSpPr>
        <p:spPr>
          <a:xfrm rot="1939369">
            <a:off x="4868449" y="5390374"/>
            <a:ext cx="2287421" cy="646331"/>
          </a:xfrm>
          <a:prstGeom prst="rect">
            <a:avLst/>
          </a:prstGeom>
          <a:noFill/>
        </p:spPr>
        <p:txBody>
          <a:bodyPr wrap="square" rtlCol="0">
            <a:spAutoFit/>
          </a:bodyPr>
          <a:lstStyle/>
          <a:p>
            <a:r>
              <a:rPr lang="en-US" b="1" dirty="0">
                <a:latin typeface="Arial" pitchFamily="34" charset="0"/>
                <a:cs typeface="Arial" pitchFamily="34" charset="0"/>
              </a:rPr>
              <a:t>Corporates Put Money in Bank</a:t>
            </a:r>
          </a:p>
        </p:txBody>
      </p:sp>
      <p:sp>
        <p:nvSpPr>
          <p:cNvPr id="17" name="Line 23"/>
          <p:cNvSpPr>
            <a:spLocks noChangeShapeType="1"/>
          </p:cNvSpPr>
          <p:nvPr/>
        </p:nvSpPr>
        <p:spPr bwMode="auto">
          <a:xfrm rot="6776088">
            <a:off x="5341274" y="1913315"/>
            <a:ext cx="1341772" cy="1308788"/>
          </a:xfrm>
          <a:prstGeom prst="line">
            <a:avLst/>
          </a:prstGeom>
          <a:noFill/>
          <a:ln w="76200">
            <a:solidFill>
              <a:schemeClr val="fo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8" name="Line 24"/>
          <p:cNvSpPr>
            <a:spLocks noChangeShapeType="1"/>
          </p:cNvSpPr>
          <p:nvPr/>
        </p:nvSpPr>
        <p:spPr bwMode="auto">
          <a:xfrm rot="8598932">
            <a:off x="5319485" y="3452482"/>
            <a:ext cx="1385350" cy="1033177"/>
          </a:xfrm>
          <a:prstGeom prst="line">
            <a:avLst/>
          </a:prstGeom>
          <a:noFill/>
          <a:ln w="76200">
            <a:solidFill>
              <a:schemeClr val="fo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9" name="Line 23"/>
          <p:cNvSpPr>
            <a:spLocks noChangeShapeType="1"/>
          </p:cNvSpPr>
          <p:nvPr/>
        </p:nvSpPr>
        <p:spPr bwMode="auto">
          <a:xfrm rot="6776088" flipH="1">
            <a:off x="5858552" y="4156700"/>
            <a:ext cx="307214" cy="2006527"/>
          </a:xfrm>
          <a:prstGeom prst="line">
            <a:avLst/>
          </a:prstGeom>
          <a:noFill/>
          <a:ln w="76200">
            <a:solidFill>
              <a:schemeClr val="fo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20" name="Line 24"/>
          <p:cNvSpPr>
            <a:spLocks noChangeShapeType="1"/>
          </p:cNvSpPr>
          <p:nvPr/>
        </p:nvSpPr>
        <p:spPr bwMode="auto">
          <a:xfrm rot="8598932">
            <a:off x="2627604" y="4131651"/>
            <a:ext cx="579381" cy="432552"/>
          </a:xfrm>
          <a:prstGeom prst="line">
            <a:avLst/>
          </a:prstGeom>
          <a:noFill/>
          <a:ln w="76200">
            <a:solidFill>
              <a:schemeClr val="folHlink"/>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22" name="Line 15"/>
          <p:cNvSpPr>
            <a:spLocks noChangeShapeType="1"/>
          </p:cNvSpPr>
          <p:nvPr/>
        </p:nvSpPr>
        <p:spPr bwMode="auto">
          <a:xfrm>
            <a:off x="2195734" y="2961203"/>
            <a:ext cx="1220244" cy="0"/>
          </a:xfrm>
          <a:prstGeom prst="line">
            <a:avLst/>
          </a:prstGeom>
          <a:noFill/>
          <a:ln w="76200">
            <a:solidFill>
              <a:srgbClr val="FFFF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xmlns="" val="37426374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1178721"/>
            <a:ext cx="7560840" cy="369332"/>
          </a:xfrm>
          <a:prstGeom prst="rect">
            <a:avLst/>
          </a:prstGeom>
          <a:noFill/>
        </p:spPr>
        <p:txBody>
          <a:bodyPr wrap="square" rtlCol="0">
            <a:spAutoFit/>
          </a:bodyPr>
          <a:lstStyle/>
          <a:p>
            <a:pPr algn="ctr"/>
            <a:r>
              <a:rPr lang="en-US" b="1" dirty="0">
                <a:latin typeface="Arial" pitchFamily="34" charset="0"/>
                <a:cs typeface="Arial" pitchFamily="34" charset="0"/>
              </a:rPr>
              <a:t>To Sum Up</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
        <p:nvSpPr>
          <p:cNvPr id="5" name="TextBox 4"/>
          <p:cNvSpPr txBox="1"/>
          <p:nvPr/>
        </p:nvSpPr>
        <p:spPr>
          <a:xfrm>
            <a:off x="755576" y="1763524"/>
            <a:ext cx="7560840" cy="3277820"/>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A Certificate of Deposit or CD is a time deposit or a financial product commonly offered to consumers by banks.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Why: Sometimes, a bank may not have enough </a:t>
            </a:r>
            <a:r>
              <a:rPr lang="en-US" b="1" dirty="0" smtClean="0">
                <a:latin typeface="Arial" pitchFamily="34" charset="0"/>
                <a:cs typeface="Arial" pitchFamily="34" charset="0"/>
              </a:rPr>
              <a:t>funds so </a:t>
            </a:r>
            <a:r>
              <a:rPr lang="en-US" b="1" dirty="0">
                <a:latin typeface="Arial" pitchFamily="34" charset="0"/>
                <a:cs typeface="Arial" pitchFamily="34" charset="0"/>
              </a:rPr>
              <a:t>it takes the help of </a:t>
            </a:r>
            <a:r>
              <a:rPr lang="en-US" b="1" dirty="0" smtClean="0">
                <a:latin typeface="Arial" pitchFamily="34" charset="0"/>
                <a:cs typeface="Arial" pitchFamily="34" charset="0"/>
              </a:rPr>
              <a:t>CDs to </a:t>
            </a:r>
            <a:r>
              <a:rPr lang="en-US" b="1" dirty="0">
                <a:latin typeface="Arial" pitchFamily="34" charset="0"/>
                <a:cs typeface="Arial" pitchFamily="34" charset="0"/>
              </a:rPr>
              <a:t>provide a higher rate of interest to corporates.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When: The term of a CD generally ranges from one month to five years.</a:t>
            </a:r>
          </a:p>
        </p:txBody>
      </p:sp>
    </p:spTree>
    <p:extLst>
      <p:ext uri="{BB962C8B-B14F-4D97-AF65-F5344CB8AC3E}">
        <p14:creationId xmlns:p14="http://schemas.microsoft.com/office/powerpoint/2010/main" xmlns="" val="1572091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246250"/>
            <a:ext cx="4464496" cy="9233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What  is the difference between a CD, a CP and a T-Bill ?</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Tree>
    <p:extLst>
      <p:ext uri="{BB962C8B-B14F-4D97-AF65-F5344CB8AC3E}">
        <p14:creationId xmlns:p14="http://schemas.microsoft.com/office/powerpoint/2010/main" xmlns="" val="13708730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
        <p:nvSpPr>
          <p:cNvPr id="4" name="TextBox 3"/>
          <p:cNvSpPr txBox="1"/>
          <p:nvPr/>
        </p:nvSpPr>
        <p:spPr>
          <a:xfrm>
            <a:off x="812468" y="1122534"/>
            <a:ext cx="7071900" cy="3970318"/>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CD: Money raised by the bank from the market to service an outstanding loan.</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CP</a:t>
            </a:r>
            <a:r>
              <a:rPr lang="en-US" b="1" dirty="0">
                <a:latin typeface="Arial" pitchFamily="34" charset="0"/>
                <a:cs typeface="Arial" pitchFamily="34" charset="0"/>
              </a:rPr>
              <a:t>: Money raised by a reputed corporate directly from the market </a:t>
            </a:r>
            <a:r>
              <a:rPr lang="en-US" b="1" dirty="0" smtClean="0">
                <a:latin typeface="Arial" pitchFamily="34" charset="0"/>
                <a:cs typeface="Arial" pitchFamily="34" charset="0"/>
              </a:rPr>
              <a:t>by-passing </a:t>
            </a:r>
            <a:r>
              <a:rPr lang="en-US" b="1" dirty="0">
                <a:latin typeface="Arial" pitchFamily="34" charset="0"/>
                <a:cs typeface="Arial" pitchFamily="34" charset="0"/>
              </a:rPr>
              <a:t>the </a:t>
            </a:r>
            <a:r>
              <a:rPr lang="en-US" b="1" dirty="0" smtClean="0">
                <a:latin typeface="Arial" pitchFamily="34" charset="0"/>
                <a:cs typeface="Arial" pitchFamily="34" charset="0"/>
              </a:rPr>
              <a:t>bank, </a:t>
            </a:r>
            <a:r>
              <a:rPr lang="en-US" b="1" dirty="0">
                <a:latin typeface="Arial" pitchFamily="34" charset="0"/>
                <a:cs typeface="Arial" pitchFamily="34" charset="0"/>
              </a:rPr>
              <a:t>for meeting working capital requirement </a:t>
            </a:r>
            <a:r>
              <a:rPr lang="en-US" b="1" dirty="0" smtClean="0">
                <a:latin typeface="Arial" pitchFamily="34" charset="0"/>
                <a:cs typeface="Arial" pitchFamily="34" charset="0"/>
              </a:rPr>
              <a:t>(short </a:t>
            </a:r>
            <a:r>
              <a:rPr lang="en-US" b="1" dirty="0">
                <a:latin typeface="Arial" pitchFamily="34" charset="0"/>
                <a:cs typeface="Arial" pitchFamily="34" charset="0"/>
              </a:rPr>
              <a:t>term borrowing).</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T-Bill </a:t>
            </a:r>
            <a:r>
              <a:rPr lang="en-US" b="1" dirty="0">
                <a:latin typeface="Arial" pitchFamily="34" charset="0"/>
                <a:cs typeface="Arial" pitchFamily="34" charset="0"/>
              </a:rPr>
              <a:t>: Same as CP but issued by </a:t>
            </a:r>
            <a:r>
              <a:rPr lang="en-US" b="1" dirty="0" smtClean="0">
                <a:latin typeface="Arial" pitchFamily="34" charset="0"/>
                <a:cs typeface="Arial" pitchFamily="34" charset="0"/>
              </a:rPr>
              <a:t>the government </a:t>
            </a:r>
            <a:r>
              <a:rPr lang="en-US" b="1" dirty="0">
                <a:latin typeface="Arial" pitchFamily="34" charset="0"/>
                <a:cs typeface="Arial" pitchFamily="34" charset="0"/>
              </a:rPr>
              <a:t>to meet </a:t>
            </a:r>
            <a:r>
              <a:rPr lang="en-US" b="1" dirty="0" smtClean="0">
                <a:latin typeface="Arial" pitchFamily="34" charset="0"/>
                <a:cs typeface="Arial" pitchFamily="34" charset="0"/>
              </a:rPr>
              <a:t>working </a:t>
            </a:r>
            <a:r>
              <a:rPr lang="en-US" b="1" dirty="0">
                <a:latin typeface="Arial" pitchFamily="34" charset="0"/>
                <a:cs typeface="Arial" pitchFamily="34" charset="0"/>
              </a:rPr>
              <a:t>capital needs</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42628494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CERTIFICATES OF DEPOSIT</a:t>
            </a:r>
          </a:p>
        </p:txBody>
      </p:sp>
      <p:sp>
        <p:nvSpPr>
          <p:cNvPr id="4" name="TextBox 3"/>
          <p:cNvSpPr txBox="1"/>
          <p:nvPr/>
        </p:nvSpPr>
        <p:spPr>
          <a:xfrm>
            <a:off x="2843808" y="1484784"/>
            <a:ext cx="4142264" cy="1338828"/>
          </a:xfrm>
          <a:prstGeom prst="rect">
            <a:avLst/>
          </a:prstGeom>
          <a:noFill/>
        </p:spPr>
        <p:txBody>
          <a:bodyPr wrap="square" rtlCol="0">
            <a:spAutoFit/>
          </a:bodyPr>
          <a:lstStyle/>
          <a:p>
            <a:pPr algn="ct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of</a:t>
            </a:r>
          </a:p>
          <a:p>
            <a:pPr algn="ctr">
              <a:lnSpc>
                <a:spcPct val="150000"/>
              </a:lnSpc>
              <a:buFontTx/>
              <a:buNone/>
            </a:pPr>
            <a:r>
              <a:rPr lang="en-US" b="1" dirty="0">
                <a:latin typeface="Arial" pitchFamily="34" charset="0"/>
                <a:cs typeface="Arial" pitchFamily="34" charset="0"/>
              </a:rPr>
              <a:t>Certificate of Deposits</a:t>
            </a:r>
          </a:p>
        </p:txBody>
      </p:sp>
    </p:spTree>
    <p:extLst>
      <p:ext uri="{BB962C8B-B14F-4D97-AF65-F5344CB8AC3E}">
        <p14:creationId xmlns:p14="http://schemas.microsoft.com/office/powerpoint/2010/main" xmlns="" val="42330395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47664" y="1268760"/>
            <a:ext cx="3024336" cy="13942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In case of any query, please </a:t>
            </a:r>
            <a:r>
              <a:rPr lang="en-US" b="1" dirty="0" smtClean="0">
                <a:latin typeface="Arial" pitchFamily="34" charset="0"/>
                <a:cs typeface="Arial" pitchFamily="34" charset="0"/>
              </a:rPr>
              <a:t>e-mail</a:t>
            </a:r>
          </a:p>
          <a:p>
            <a:pPr>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1392</TotalTime>
  <Words>586</Words>
  <Application>Microsoft Office PowerPoint</Application>
  <PresentationFormat>On-screen Show (4:3)</PresentationFormat>
  <Paragraphs>59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149</cp:revision>
  <dcterms:created xsi:type="dcterms:W3CDTF">2013-10-22T09:41:31Z</dcterms:created>
  <dcterms:modified xsi:type="dcterms:W3CDTF">2014-09-15T12:51:32Z</dcterms:modified>
</cp:coreProperties>
</file>