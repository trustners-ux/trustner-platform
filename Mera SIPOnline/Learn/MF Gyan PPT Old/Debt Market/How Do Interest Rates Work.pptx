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318" r:id="rId3"/>
    <p:sldId id="340" r:id="rId4"/>
    <p:sldId id="312" r:id="rId5"/>
    <p:sldId id="335" r:id="rId6"/>
    <p:sldId id="336" r:id="rId7"/>
    <p:sldId id="337" r:id="rId8"/>
    <p:sldId id="341" r:id="rId9"/>
    <p:sldId id="342" r:id="rId10"/>
    <p:sldId id="343" r:id="rId11"/>
    <p:sldId id="344" r:id="rId12"/>
    <p:sldId id="345" r:id="rId13"/>
    <p:sldId id="346" r:id="rId14"/>
    <p:sldId id="347" r:id="rId15"/>
    <p:sldId id="348" r:id="rId16"/>
    <p:sldId id="287"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735" autoAdjust="0"/>
    <p:restoredTop sz="94595" autoAdjust="0"/>
  </p:normalViewPr>
  <p:slideViewPr>
    <p:cSldViewPr>
      <p:cViewPr>
        <p:scale>
          <a:sx n="50" d="100"/>
          <a:sy n="50" d="100"/>
        </p:scale>
        <p:origin x="-1699" y="-12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9/17/2014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9/17/2014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9/17/2014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9/17/2014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9/17/2014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28662" y="2755060"/>
            <a:ext cx="4144544"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HOW DO INTEREST RATES WORK?</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7" name="TextBox 6"/>
          <p:cNvSpPr txBox="1"/>
          <p:nvPr/>
        </p:nvSpPr>
        <p:spPr>
          <a:xfrm>
            <a:off x="1361850" y="1934166"/>
            <a:ext cx="3567340" cy="646331"/>
          </a:xfrm>
          <a:prstGeom prst="rect">
            <a:avLst/>
          </a:prstGeom>
          <a:noFill/>
        </p:spPr>
        <p:txBody>
          <a:bodyPr wrap="square" rtlCol="0">
            <a:spAutoFit/>
          </a:bodyPr>
          <a:lstStyle/>
          <a:p>
            <a:pPr>
              <a:spcBef>
                <a:spcPct val="20000"/>
              </a:spcBef>
            </a:pPr>
            <a:r>
              <a:rPr lang="en-US" b="1" dirty="0" smtClean="0">
                <a:latin typeface="Arial" pitchFamily="34" charset="0"/>
                <a:cs typeface="Arial" pitchFamily="34" charset="0"/>
              </a:rPr>
              <a:t>How Do Interest Rates Work? </a:t>
            </a:r>
            <a:br>
              <a:rPr lang="en-US" b="1" dirty="0" smtClean="0">
                <a:latin typeface="Arial" pitchFamily="34" charset="0"/>
                <a:cs typeface="Arial" pitchFamily="34" charset="0"/>
              </a:rPr>
            </a:br>
            <a:r>
              <a:rPr lang="en-US" b="1" dirty="0" smtClean="0">
                <a:latin typeface="Arial" pitchFamily="34" charset="0"/>
                <a:cs typeface="Arial" pitchFamily="34" charset="0"/>
              </a:rPr>
              <a:t>–  </a:t>
            </a:r>
            <a:r>
              <a:rPr lang="en-US" sz="1600" b="1" dirty="0" smtClean="0">
                <a:latin typeface="Arial" pitchFamily="34" charset="0"/>
                <a:cs typeface="Arial" pitchFamily="34" charset="0"/>
              </a:rPr>
              <a:t>By Prof. </a:t>
            </a:r>
            <a:r>
              <a:rPr lang="en-US" sz="1600" b="1" i="1" dirty="0" smtClean="0">
                <a:latin typeface="Arial" pitchFamily="34" charset="0"/>
                <a:cs typeface="Arial" pitchFamily="34" charset="0"/>
              </a:rPr>
              <a:t>Simply</a:t>
            </a:r>
            <a:r>
              <a:rPr lang="en-US" sz="1600" b="1" dirty="0" smtClean="0">
                <a:latin typeface="Arial" pitchFamily="34" charset="0"/>
                <a:cs typeface="Arial" pitchFamily="34" charset="0"/>
              </a:rPr>
              <a:t> Simple </a:t>
            </a:r>
            <a:r>
              <a:rPr lang="en-US" sz="1100" b="1" baseline="70000" dirty="0" smtClean="0">
                <a:latin typeface="Arial" pitchFamily="34" charset="0"/>
                <a:cs typeface="Arial" pitchFamily="34" charset="0"/>
              </a:rPr>
              <a:t>TM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457144"/>
            <a:ext cx="4357718" cy="1708160"/>
          </a:xfrm>
          <a:prstGeom prst="rect">
            <a:avLst/>
          </a:prstGeom>
        </p:spPr>
        <p:txBody>
          <a:bodyPr wrap="square">
            <a:spAutoFit/>
          </a:bodyPr>
          <a:lstStyle/>
          <a:p>
            <a:r>
              <a:rPr lang="en-US" sz="1750" b="1" dirty="0" smtClean="0">
                <a:latin typeface="Arial" pitchFamily="34" charset="0"/>
                <a:cs typeface="Arial" pitchFamily="34" charset="0"/>
              </a:rPr>
              <a:t>An interest rate is </a:t>
            </a:r>
            <a:r>
              <a:rPr lang="en-US" sz="1750" b="1" dirty="0" smtClean="0">
                <a:latin typeface="Arial" pitchFamily="34" charset="0"/>
                <a:cs typeface="Arial" pitchFamily="34" charset="0"/>
              </a:rPr>
              <a:t>the cost </a:t>
            </a:r>
            <a:r>
              <a:rPr lang="en-US" sz="1750" b="1" dirty="0" smtClean="0">
                <a:latin typeface="Arial" pitchFamily="34" charset="0"/>
                <a:cs typeface="Arial" pitchFamily="34" charset="0"/>
              </a:rPr>
              <a:t>of borrowing money. </a:t>
            </a:r>
            <a:r>
              <a:rPr lang="en-US" sz="1750" b="1" dirty="0" smtClean="0">
                <a:latin typeface="Arial" pitchFamily="34" charset="0"/>
                <a:cs typeface="Arial" pitchFamily="34" charset="0"/>
              </a:rPr>
              <a:t> </a:t>
            </a:r>
          </a:p>
          <a:p>
            <a:endParaRPr lang="en-US" sz="1750" b="1" dirty="0" smtClean="0">
              <a:latin typeface="Arial" pitchFamily="34" charset="0"/>
              <a:cs typeface="Arial" pitchFamily="34" charset="0"/>
            </a:endParaRPr>
          </a:p>
          <a:p>
            <a:r>
              <a:rPr lang="en-US" sz="1750" b="1" dirty="0" smtClean="0">
                <a:latin typeface="Arial" pitchFamily="34" charset="0"/>
                <a:cs typeface="Arial" pitchFamily="34" charset="0"/>
              </a:rPr>
              <a:t>A borrower pays interest for the ability to spend money now, rather than wait until </a:t>
            </a:r>
            <a:r>
              <a:rPr lang="en-US" sz="1750" b="1" dirty="0" smtClean="0">
                <a:latin typeface="Arial" pitchFamily="34" charset="0"/>
                <a:cs typeface="Arial" pitchFamily="34" charset="0"/>
              </a:rPr>
              <a:t>he has </a:t>
            </a:r>
            <a:r>
              <a:rPr lang="en-US" sz="1750" b="1" dirty="0" smtClean="0">
                <a:latin typeface="Arial" pitchFamily="34" charset="0"/>
                <a:cs typeface="Arial" pitchFamily="34" charset="0"/>
              </a:rPr>
              <a:t>saved the same amount. </a:t>
            </a: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857224" y="1142984"/>
            <a:ext cx="7215238" cy="3000821"/>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For example, if you borrow </a:t>
            </a:r>
            <a:r>
              <a:rPr lang="en-US" b="1" dirty="0" smtClean="0">
                <a:latin typeface="Arial" pitchFamily="34" charset="0"/>
                <a:cs typeface="Arial" pitchFamily="34" charset="0"/>
              </a:rPr>
              <a:t>Rs 100 </a:t>
            </a:r>
            <a:r>
              <a:rPr lang="en-US" b="1" dirty="0" smtClean="0">
                <a:latin typeface="Arial" pitchFamily="34" charset="0"/>
                <a:cs typeface="Arial" pitchFamily="34" charset="0"/>
              </a:rPr>
              <a:t>at an annual interest rate of</a:t>
            </a:r>
            <a:br>
              <a:rPr lang="en-US" b="1" dirty="0" smtClean="0">
                <a:latin typeface="Arial" pitchFamily="34" charset="0"/>
                <a:cs typeface="Arial" pitchFamily="34" charset="0"/>
              </a:rPr>
            </a:br>
            <a:r>
              <a:rPr lang="en-US" b="1" dirty="0" smtClean="0">
                <a:latin typeface="Arial" pitchFamily="34" charset="0"/>
                <a:cs typeface="Arial" pitchFamily="34" charset="0"/>
              </a:rPr>
              <a:t>five percent, at the end of the year you'll owe </a:t>
            </a:r>
            <a:r>
              <a:rPr lang="en-US" b="1" dirty="0" smtClean="0">
                <a:latin typeface="Arial" pitchFamily="34" charset="0"/>
                <a:cs typeface="Arial" pitchFamily="34" charset="0"/>
              </a:rPr>
              <a:t>Rs</a:t>
            </a:r>
            <a:r>
              <a:rPr lang="en-US" b="1" dirty="0" smtClean="0">
                <a:latin typeface="Rupee" pitchFamily="2" charset="0"/>
                <a:cs typeface="Arial" pitchFamily="34" charset="0"/>
              </a:rPr>
              <a:t> </a:t>
            </a:r>
            <a:r>
              <a:rPr lang="en-US" b="1" dirty="0" smtClean="0">
                <a:latin typeface="Arial" pitchFamily="34" charset="0"/>
                <a:cs typeface="Arial" pitchFamily="34" charset="0"/>
              </a:rPr>
              <a:t>105.</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a:t>
            </a:r>
            <a:r>
              <a:rPr lang="en-US" b="1" dirty="0" smtClean="0">
                <a:latin typeface="Arial" pitchFamily="34" charset="0"/>
                <a:cs typeface="Arial" pitchFamily="34" charset="0"/>
              </a:rPr>
              <a:t>interest a lender receives is his compensation for taking a risk.</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How?</a:t>
            </a:r>
            <a:endParaRPr lang="en-US" b="1" dirty="0">
              <a:latin typeface="Arial" pitchFamily="34" charset="0"/>
              <a:cs typeface="Arial" pitchFamily="34" charset="0"/>
            </a:endParaRPr>
          </a:p>
        </p:txBody>
      </p:sp>
      <p:sp>
        <p:nvSpPr>
          <p:cNvPr id="7" name="TextBox 6"/>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42910" y="1142984"/>
            <a:ext cx="7286676" cy="341632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With every loan, </a:t>
            </a:r>
            <a:r>
              <a:rPr lang="en-US" b="1" dirty="0" smtClean="0">
                <a:latin typeface="Arial" pitchFamily="34" charset="0"/>
                <a:cs typeface="Arial" pitchFamily="34" charset="0"/>
              </a:rPr>
              <a:t>there is a </a:t>
            </a:r>
            <a:r>
              <a:rPr lang="en-US" b="1" dirty="0" smtClean="0">
                <a:latin typeface="Arial" pitchFamily="34" charset="0"/>
                <a:cs typeface="Arial" pitchFamily="34" charset="0"/>
              </a:rPr>
              <a:t>risk that the borrower </a:t>
            </a:r>
            <a:r>
              <a:rPr lang="en-US" b="1" dirty="0" smtClean="0">
                <a:latin typeface="Arial" pitchFamily="34" charset="0"/>
                <a:cs typeface="Arial" pitchFamily="34" charset="0"/>
              </a:rPr>
              <a:t>will not be </a:t>
            </a:r>
            <a:r>
              <a:rPr lang="en-US" b="1" dirty="0" smtClean="0">
                <a:latin typeface="Arial" pitchFamily="34" charset="0"/>
                <a:cs typeface="Arial" pitchFamily="34" charset="0"/>
              </a:rPr>
              <a:t>able to pay it back.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higher the risk that the borrower will </a:t>
            </a:r>
            <a:r>
              <a:rPr lang="en-US" b="1" dirty="0" smtClean="0">
                <a:latin typeface="Arial" pitchFamily="34" charset="0"/>
                <a:cs typeface="Arial" pitchFamily="34" charset="0"/>
              </a:rPr>
              <a:t>default (fail </a:t>
            </a:r>
            <a:r>
              <a:rPr lang="en-US" b="1" dirty="0" smtClean="0">
                <a:latin typeface="Arial" pitchFamily="34" charset="0"/>
                <a:cs typeface="Arial" pitchFamily="34" charset="0"/>
              </a:rPr>
              <a:t>to repay the loan), </a:t>
            </a:r>
            <a:r>
              <a:rPr lang="en-US" b="1" dirty="0" smtClean="0">
                <a:latin typeface="Arial" pitchFamily="34" charset="0"/>
                <a:cs typeface="Arial" pitchFamily="34" charset="0"/>
              </a:rPr>
              <a:t>higher is the </a:t>
            </a:r>
            <a:r>
              <a:rPr lang="en-US" b="1" dirty="0" smtClean="0">
                <a:latin typeface="Arial" pitchFamily="34" charset="0"/>
                <a:cs typeface="Arial" pitchFamily="34" charset="0"/>
              </a:rPr>
              <a:t>interest rate.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That's why maintaining a good credit score will </a:t>
            </a:r>
            <a:r>
              <a:rPr lang="en-US" b="1" dirty="0" smtClean="0">
                <a:latin typeface="Arial" pitchFamily="34" charset="0"/>
                <a:cs typeface="Arial" pitchFamily="34" charset="0"/>
              </a:rPr>
              <a:t>help lower </a:t>
            </a:r>
            <a:r>
              <a:rPr lang="en-US" b="1" dirty="0" smtClean="0">
                <a:latin typeface="Arial" pitchFamily="34" charset="0"/>
                <a:cs typeface="Arial" pitchFamily="34" charset="0"/>
              </a:rPr>
              <a:t>the interest rates offered to you by lenders.</a:t>
            </a:r>
            <a:endParaRPr lang="en-US" b="1" dirty="0">
              <a:latin typeface="Arial" pitchFamily="34" charset="0"/>
              <a:cs typeface="Arial" pitchFamily="34" charset="0"/>
            </a:endParaRPr>
          </a:p>
        </p:txBody>
      </p:sp>
      <p:sp>
        <p:nvSpPr>
          <p:cNvPr id="6" name="TextBox 5"/>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42910" y="1214422"/>
            <a:ext cx="7500990" cy="3000821"/>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Interest </a:t>
            </a:r>
            <a:r>
              <a:rPr lang="en-US" b="1" dirty="0" smtClean="0">
                <a:latin typeface="Arial" pitchFamily="34" charset="0"/>
                <a:cs typeface="Arial" pitchFamily="34" charset="0"/>
              </a:rPr>
              <a:t>rates work both ways.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Banks</a:t>
            </a:r>
            <a:r>
              <a:rPr lang="en-US" b="1" dirty="0" smtClean="0">
                <a:latin typeface="Arial" pitchFamily="34" charset="0"/>
                <a:cs typeface="Arial" pitchFamily="34" charset="0"/>
              </a:rPr>
              <a:t>, governments and other large financial institutions need </a:t>
            </a:r>
            <a:r>
              <a:rPr lang="en-US" b="1" dirty="0" smtClean="0">
                <a:latin typeface="Arial" pitchFamily="34" charset="0"/>
                <a:cs typeface="Arial" pitchFamily="34" charset="0"/>
              </a:rPr>
              <a:t>cash </a:t>
            </a:r>
            <a:r>
              <a:rPr lang="en-US" b="1" dirty="0" smtClean="0">
                <a:latin typeface="Arial" pitchFamily="34" charset="0"/>
                <a:cs typeface="Arial" pitchFamily="34" charset="0"/>
              </a:rPr>
              <a:t>and </a:t>
            </a:r>
            <a:r>
              <a:rPr lang="en-US" b="1" dirty="0" smtClean="0">
                <a:latin typeface="Arial" pitchFamily="34" charset="0"/>
                <a:cs typeface="Arial" pitchFamily="34" charset="0"/>
              </a:rPr>
              <a:t>they are </a:t>
            </a:r>
            <a:r>
              <a:rPr lang="en-US" b="1" dirty="0" smtClean="0">
                <a:latin typeface="Arial" pitchFamily="34" charset="0"/>
                <a:cs typeface="Arial" pitchFamily="34" charset="0"/>
              </a:rPr>
              <a:t>willing to pay for it.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If </a:t>
            </a:r>
            <a:r>
              <a:rPr lang="en-US" b="1" dirty="0" smtClean="0">
                <a:latin typeface="Arial" pitchFamily="34" charset="0"/>
                <a:cs typeface="Arial" pitchFamily="34" charset="0"/>
              </a:rPr>
              <a:t>you put money into a savings account at a bank, the bank will pay you interest for the temporary use of that money. </a:t>
            </a:r>
            <a:endParaRPr lang="en-US" b="1" u="sng" dirty="0">
              <a:latin typeface="Arial" pitchFamily="34" charset="0"/>
              <a:cs typeface="Arial" pitchFamily="34" charset="0"/>
            </a:endParaRPr>
          </a:p>
        </p:txBody>
      </p:sp>
      <p:sp>
        <p:nvSpPr>
          <p:cNvPr id="6" name="TextBox 5"/>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42910" y="1142984"/>
            <a:ext cx="7500990" cy="341632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Governments sell bonds and other securities for the same reason.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In this case, </a:t>
            </a:r>
            <a:r>
              <a:rPr lang="en-US" b="1" dirty="0" smtClean="0">
                <a:latin typeface="Arial" pitchFamily="34" charset="0"/>
                <a:cs typeface="Arial" pitchFamily="34" charset="0"/>
              </a:rPr>
              <a:t>you are </a:t>
            </a:r>
            <a:r>
              <a:rPr lang="en-US" b="1" dirty="0" smtClean="0">
                <a:latin typeface="Arial" pitchFamily="34" charset="0"/>
                <a:cs typeface="Arial" pitchFamily="34" charset="0"/>
              </a:rPr>
              <a:t>the lender to the government and the interest rate is your compensation for temporarily giving up the ability </a:t>
            </a:r>
            <a:r>
              <a:rPr lang="en-US" b="1" dirty="0" smtClean="0">
                <a:latin typeface="Arial" pitchFamily="34" charset="0"/>
                <a:cs typeface="Arial" pitchFamily="34" charset="0"/>
              </a:rPr>
              <a:t>of spending your </a:t>
            </a:r>
            <a:r>
              <a:rPr lang="en-US" b="1" dirty="0" smtClean="0">
                <a:latin typeface="Arial" pitchFamily="34" charset="0"/>
                <a:cs typeface="Arial" pitchFamily="34" charset="0"/>
              </a:rPr>
              <a:t>cash.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Government-issued </a:t>
            </a:r>
            <a:r>
              <a:rPr lang="en-US" b="1" dirty="0" smtClean="0">
                <a:latin typeface="Arial" pitchFamily="34" charset="0"/>
                <a:cs typeface="Arial" pitchFamily="34" charset="0"/>
              </a:rPr>
              <a:t>bonds pay relatively low interest </a:t>
            </a:r>
            <a:r>
              <a:rPr lang="en-US" b="1" dirty="0" smtClean="0">
                <a:latin typeface="Arial" pitchFamily="34" charset="0"/>
                <a:cs typeface="Arial" pitchFamily="34" charset="0"/>
              </a:rPr>
              <a:t>rates as the </a:t>
            </a:r>
            <a:r>
              <a:rPr lang="en-US" b="1" dirty="0" smtClean="0">
                <a:latin typeface="Arial" pitchFamily="34" charset="0"/>
                <a:cs typeface="Arial" pitchFamily="34" charset="0"/>
              </a:rPr>
              <a:t>risk of </a:t>
            </a:r>
            <a:r>
              <a:rPr lang="en-US" b="1" dirty="0" smtClean="0">
                <a:latin typeface="Arial" pitchFamily="34" charset="0"/>
                <a:cs typeface="Arial" pitchFamily="34" charset="0"/>
              </a:rPr>
              <a:t>default </a:t>
            </a:r>
            <a:r>
              <a:rPr lang="en-US" b="1" dirty="0" smtClean="0">
                <a:latin typeface="Arial" pitchFamily="34" charset="0"/>
                <a:cs typeface="Arial" pitchFamily="34" charset="0"/>
              </a:rPr>
              <a:t>is close to zero. </a:t>
            </a:r>
            <a:endParaRPr lang="en-US" b="1" dirty="0">
              <a:latin typeface="Arial" pitchFamily="34" charset="0"/>
              <a:cs typeface="Arial" pitchFamily="34" charset="0"/>
            </a:endParaRPr>
          </a:p>
        </p:txBody>
      </p:sp>
      <p:sp>
        <p:nvSpPr>
          <p:cNvPr id="6" name="TextBox 5"/>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42910" y="1142984"/>
            <a:ext cx="7500990" cy="383181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Interest </a:t>
            </a:r>
            <a:r>
              <a:rPr lang="en-US" b="1" dirty="0" smtClean="0">
                <a:latin typeface="Arial" pitchFamily="34" charset="0"/>
                <a:cs typeface="Arial" pitchFamily="34" charset="0"/>
              </a:rPr>
              <a:t>rates for unsecured credit will always be higher than secured credit.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Secured credit is backed by collateral. A home loan is a classic example of secured credit, because if the borrower defaults on the loan, the bank can always take the house.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Credit cards are unsecured </a:t>
            </a:r>
            <a:r>
              <a:rPr lang="en-US" b="1" dirty="0" smtClean="0">
                <a:latin typeface="Arial" pitchFamily="34" charset="0"/>
                <a:cs typeface="Arial" pitchFamily="34" charset="0"/>
              </a:rPr>
              <a:t>credit </a:t>
            </a:r>
            <a:r>
              <a:rPr lang="en-US" b="1" dirty="0" smtClean="0">
                <a:latin typeface="Arial" pitchFamily="34" charset="0"/>
                <a:cs typeface="Arial" pitchFamily="34" charset="0"/>
              </a:rPr>
              <a:t>because </a:t>
            </a:r>
            <a:r>
              <a:rPr lang="en-US" b="1" dirty="0" smtClean="0">
                <a:latin typeface="Arial" pitchFamily="34" charset="0"/>
                <a:cs typeface="Arial" pitchFamily="34" charset="0"/>
              </a:rPr>
              <a:t>there </a:t>
            </a:r>
            <a:r>
              <a:rPr lang="en-US" b="1" dirty="0" smtClean="0">
                <a:latin typeface="Arial" pitchFamily="34" charset="0"/>
                <a:cs typeface="Arial" pitchFamily="34" charset="0"/>
              </a:rPr>
              <a:t>i</a:t>
            </a:r>
            <a:r>
              <a:rPr lang="en-US" b="1" dirty="0" smtClean="0">
                <a:latin typeface="Arial" pitchFamily="34" charset="0"/>
                <a:cs typeface="Arial" pitchFamily="34" charset="0"/>
              </a:rPr>
              <a:t>s </a:t>
            </a:r>
            <a:r>
              <a:rPr lang="en-US" b="1" dirty="0" smtClean="0">
                <a:latin typeface="Arial" pitchFamily="34" charset="0"/>
                <a:cs typeface="Arial" pitchFamily="34" charset="0"/>
              </a:rPr>
              <a:t>no collateral backing the loan, only the cardholder's credit score.</a:t>
            </a:r>
            <a:endParaRPr lang="en-US"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133979"/>
            <a:ext cx="4320480" cy="2031325"/>
          </a:xfrm>
          <a:prstGeom prst="rect">
            <a:avLst/>
          </a:prstGeom>
        </p:spPr>
        <p:txBody>
          <a:bodyPr wrap="square">
            <a:spAutoFit/>
          </a:bodyPr>
          <a:lstStyle/>
          <a:p>
            <a:r>
              <a:rPr lang="en-US" b="1" dirty="0" smtClean="0">
                <a:latin typeface="Arial" pitchFamily="34" charset="0"/>
                <a:cs typeface="Arial" pitchFamily="34" charset="0"/>
              </a:rPr>
              <a:t>Long-term loans also carry higher interest rates than short-term loans, because the more time a borrower has to pay back a loan, the more time there is for things to possibly go bad financially, causing the borrower to default.</a:t>
            </a:r>
            <a:endParaRPr lang="en-US"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42910" y="1142984"/>
            <a:ext cx="7715304" cy="341632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Another factor that makes long-term loans less attractive to</a:t>
            </a:r>
            <a:br>
              <a:rPr lang="en-US" b="1" dirty="0" smtClean="0">
                <a:latin typeface="Arial" pitchFamily="34" charset="0"/>
                <a:cs typeface="Arial" pitchFamily="34" charset="0"/>
              </a:rPr>
            </a:br>
            <a:r>
              <a:rPr lang="en-US" b="1" dirty="0" smtClean="0">
                <a:latin typeface="Arial" pitchFamily="34" charset="0"/>
                <a:cs typeface="Arial" pitchFamily="34" charset="0"/>
              </a:rPr>
              <a:t>lenders </a:t>
            </a:r>
            <a:r>
              <a:rPr lang="en-US" b="1" dirty="0" smtClean="0">
                <a:latin typeface="Arial" pitchFamily="34" charset="0"/>
                <a:cs typeface="Arial" pitchFamily="34" charset="0"/>
              </a:rPr>
              <a:t>is </a:t>
            </a:r>
            <a:r>
              <a:rPr lang="en-US" b="1" dirty="0" smtClean="0">
                <a:latin typeface="Arial" pitchFamily="34" charset="0"/>
                <a:cs typeface="Arial" pitchFamily="34" charset="0"/>
              </a:rPr>
              <a:t>inflation.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In a healthy economy, inflation almost always rises, meaning the same rupee amount today is worth less </a:t>
            </a:r>
            <a:r>
              <a:rPr lang="en-US" b="1" dirty="0" smtClean="0">
                <a:latin typeface="Arial" pitchFamily="34" charset="0"/>
                <a:cs typeface="Arial" pitchFamily="34" charset="0"/>
              </a:rPr>
              <a:t>in a few </a:t>
            </a:r>
            <a:r>
              <a:rPr lang="en-US" b="1" dirty="0" smtClean="0">
                <a:latin typeface="Arial" pitchFamily="34" charset="0"/>
                <a:cs typeface="Arial" pitchFamily="34" charset="0"/>
              </a:rPr>
              <a:t>years from now.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Lenders know that the longer it takes the borrower to pay back</a:t>
            </a:r>
            <a:br>
              <a:rPr lang="en-US" b="1" dirty="0" smtClean="0">
                <a:latin typeface="Arial" pitchFamily="34" charset="0"/>
                <a:cs typeface="Arial" pitchFamily="34" charset="0"/>
              </a:rPr>
            </a:br>
            <a:r>
              <a:rPr lang="en-US" b="1" dirty="0" smtClean="0">
                <a:latin typeface="Arial" pitchFamily="34" charset="0"/>
                <a:cs typeface="Arial" pitchFamily="34" charset="0"/>
              </a:rPr>
              <a:t>a loan, the less that money is going to be worth.</a:t>
            </a:r>
            <a:endParaRPr lang="en-US"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42910" y="1142984"/>
            <a:ext cx="7715304" cy="2585323"/>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That's why interest rates are actually calculated </a:t>
            </a:r>
            <a:r>
              <a:rPr lang="en-US" b="1" dirty="0" smtClean="0">
                <a:latin typeface="Arial" pitchFamily="34" charset="0"/>
                <a:cs typeface="Arial" pitchFamily="34" charset="0"/>
              </a:rPr>
              <a:t>as two </a:t>
            </a:r>
            <a:r>
              <a:rPr lang="en-US" b="1" dirty="0" smtClean="0">
                <a:latin typeface="Arial" pitchFamily="34" charset="0"/>
                <a:cs typeface="Arial" pitchFamily="34" charset="0"/>
              </a:rPr>
              <a:t>different values: the nominal rate and the real rate. </a:t>
            </a:r>
          </a:p>
          <a:p>
            <a:pPr>
              <a:lnSpc>
                <a:spcPct val="150000"/>
              </a:lnSpc>
            </a:pPr>
            <a:endParaRPr lang="en-US" b="1" dirty="0" smtClean="0">
              <a:latin typeface="Arial" pitchFamily="34" charset="0"/>
              <a:cs typeface="Arial" pitchFamily="34" charset="0"/>
            </a:endParaRPr>
          </a:p>
          <a:p>
            <a:pPr>
              <a:lnSpc>
                <a:spcPct val="150000"/>
              </a:lnSpc>
              <a:buFont typeface="Wingdings" pitchFamily="2" charset="2"/>
              <a:buChar char="q"/>
            </a:pPr>
            <a:r>
              <a:rPr lang="en-US" b="1" dirty="0" smtClean="0">
                <a:latin typeface="Arial" pitchFamily="34" charset="0"/>
                <a:cs typeface="Arial" pitchFamily="34" charset="0"/>
              </a:rPr>
              <a:t>The nominal rate is the interest rate set by the lending institution.</a:t>
            </a:r>
          </a:p>
          <a:p>
            <a:pPr>
              <a:lnSpc>
                <a:spcPct val="150000"/>
              </a:lnSpc>
              <a:buFont typeface="Wingdings" pitchFamily="2" charset="2"/>
              <a:buChar char="q"/>
            </a:pPr>
            <a:endParaRPr lang="en-US" b="1" dirty="0" smtClean="0">
              <a:latin typeface="Arial" pitchFamily="34" charset="0"/>
              <a:cs typeface="Arial" pitchFamily="34" charset="0"/>
            </a:endParaRPr>
          </a:p>
          <a:p>
            <a:pPr>
              <a:lnSpc>
                <a:spcPct val="150000"/>
              </a:lnSpc>
              <a:buFont typeface="Wingdings" pitchFamily="2" charset="2"/>
              <a:buChar char="q"/>
            </a:pPr>
            <a:r>
              <a:rPr lang="en-US" b="1" dirty="0" smtClean="0">
                <a:latin typeface="Arial" pitchFamily="34" charset="0"/>
                <a:cs typeface="Arial" pitchFamily="34" charset="0"/>
              </a:rPr>
              <a:t>The real rate is the nominal rate minus the rate of inflation.  </a:t>
            </a:r>
            <a:endParaRPr lang="en-US"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29058" y="4143380"/>
            <a:ext cx="4500594" cy="2054409"/>
          </a:xfrm>
          <a:prstGeom prst="rect">
            <a:avLst/>
          </a:prstGeom>
        </p:spPr>
        <p:txBody>
          <a:bodyPr wrap="square">
            <a:spAutoFit/>
          </a:bodyPr>
          <a:lstStyle/>
          <a:p>
            <a:pPr>
              <a:lnSpc>
                <a:spcPct val="150000"/>
              </a:lnSpc>
            </a:pPr>
            <a:r>
              <a:rPr lang="en-US" sz="1700" b="1" dirty="0" smtClean="0">
                <a:latin typeface="Arial" pitchFamily="34" charset="0"/>
                <a:cs typeface="Arial" pitchFamily="34" charset="0"/>
              </a:rPr>
              <a:t>For example, if you take out a home loan with a nominal interest rate of 10 percent, but the annual rate of inflation is</a:t>
            </a:r>
            <a:br>
              <a:rPr lang="en-US" sz="1700" b="1" dirty="0" smtClean="0">
                <a:latin typeface="Arial" pitchFamily="34" charset="0"/>
                <a:cs typeface="Arial" pitchFamily="34" charset="0"/>
              </a:rPr>
            </a:br>
            <a:r>
              <a:rPr lang="en-US" sz="1700" b="1" dirty="0" smtClean="0">
                <a:latin typeface="Arial" pitchFamily="34" charset="0"/>
                <a:cs typeface="Arial" pitchFamily="34" charset="0"/>
              </a:rPr>
              <a:t>four percent, then the bank is only</a:t>
            </a:r>
            <a:br>
              <a:rPr lang="en-US" sz="1700" b="1" dirty="0" smtClean="0">
                <a:latin typeface="Arial" pitchFamily="34" charset="0"/>
                <a:cs typeface="Arial" pitchFamily="34" charset="0"/>
              </a:rPr>
            </a:br>
            <a:r>
              <a:rPr lang="en-US" sz="1700" b="1" dirty="0" smtClean="0">
                <a:latin typeface="Arial" pitchFamily="34" charset="0"/>
                <a:cs typeface="Arial" pitchFamily="34" charset="0"/>
              </a:rPr>
              <a:t>really collecting six percent on the loan.</a:t>
            </a:r>
            <a:endParaRPr lang="en-US" sz="1700"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42910" y="1142984"/>
            <a:ext cx="7715304" cy="2169825"/>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So how do interest rates affect the rise and fall of inflation?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Well, lower interest rates put more borrowing power in the hands of consumers. And when consumers spend more, the economy grows, </a:t>
            </a:r>
            <a:r>
              <a:rPr lang="en-US" b="1" dirty="0" smtClean="0">
                <a:latin typeface="Arial" pitchFamily="34" charset="0"/>
                <a:cs typeface="Arial" pitchFamily="34" charset="0"/>
              </a:rPr>
              <a:t>creating </a:t>
            </a:r>
            <a:r>
              <a:rPr lang="en-US" b="1" dirty="0" smtClean="0">
                <a:latin typeface="Arial" pitchFamily="34" charset="0"/>
                <a:cs typeface="Arial" pitchFamily="34" charset="0"/>
              </a:rPr>
              <a:t>inflation. </a:t>
            </a:r>
            <a:endParaRPr lang="en-US"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42910" y="1142984"/>
            <a:ext cx="7715304" cy="1754326"/>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If the RBI decides that the economy is growing too </a:t>
            </a:r>
            <a:r>
              <a:rPr lang="en-US" b="1" dirty="0" smtClean="0">
                <a:latin typeface="Arial" pitchFamily="34" charset="0"/>
                <a:cs typeface="Arial" pitchFamily="34" charset="0"/>
              </a:rPr>
              <a:t>fast, then </a:t>
            </a:r>
            <a:r>
              <a:rPr lang="en-US" b="1" dirty="0" smtClean="0">
                <a:latin typeface="Arial" pitchFamily="34" charset="0"/>
                <a:cs typeface="Arial" pitchFamily="34" charset="0"/>
              </a:rPr>
              <a:t>it can raise interest rates, slowing the amount of cash entering the economy. </a:t>
            </a:r>
          </a:p>
          <a:p>
            <a:pPr>
              <a:lnSpc>
                <a:spcPct val="150000"/>
              </a:lnSpc>
            </a:pPr>
            <a:endParaRPr lang="en-US" b="1" dirty="0" smtClean="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29058" y="4661940"/>
            <a:ext cx="4429156" cy="133882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Hope you have now got</a:t>
            </a:r>
            <a:br>
              <a:rPr lang="en-US" b="1" dirty="0" smtClean="0">
                <a:latin typeface="Arial" pitchFamily="34" charset="0"/>
                <a:cs typeface="Arial" pitchFamily="34" charset="0"/>
              </a:rPr>
            </a:br>
            <a:r>
              <a:rPr lang="en-US" b="1" dirty="0" smtClean="0">
                <a:latin typeface="Arial" pitchFamily="34" charset="0"/>
                <a:cs typeface="Arial" pitchFamily="34" charset="0"/>
              </a:rPr>
              <a:t>an understanding of how interest rates work at a conceptual level.</a:t>
            </a:r>
            <a:endParaRPr lang="en-US" b="1" dirty="0">
              <a:latin typeface="Arial" pitchFamily="34" charset="0"/>
              <a:cs typeface="Arial" pitchFamily="34" charset="0"/>
            </a:endParaRPr>
          </a:p>
        </p:txBody>
      </p:sp>
      <p:sp>
        <p:nvSpPr>
          <p:cNvPr id="5" name="TextBox 4"/>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HOW DO INTEREST RATES WORK?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142976" y="2143116"/>
            <a:ext cx="3714776" cy="923330"/>
          </a:xfrm>
          <a:prstGeom prst="rect">
            <a:avLst/>
          </a:prstGeom>
          <a:noFill/>
        </p:spPr>
        <p:txBody>
          <a:bodyPr wrap="square" rtlCol="0">
            <a:spAutoFit/>
          </a:bodyPr>
          <a:lstStyle/>
          <a:p>
            <a:r>
              <a:rPr lang="en-US" b="1" dirty="0" smtClean="0">
                <a:latin typeface="Arial" pitchFamily="34" charset="0"/>
                <a:cs typeface="Arial" pitchFamily="34" charset="0"/>
              </a:rPr>
              <a:t>Do write to me at </a:t>
            </a:r>
            <a:r>
              <a:rPr lang="en-US" b="1" dirty="0" smtClean="0">
                <a:solidFill>
                  <a:schemeClr val="bg1"/>
                </a:solidFill>
                <a:latin typeface="Arial" pitchFamily="34" charset="0"/>
                <a:cs typeface="Arial" pitchFamily="34" charset="0"/>
                <a:hlinkClick r:id="rId4"/>
              </a:rPr>
              <a:t>professor@tataamc.com</a:t>
            </a:r>
            <a:endParaRPr lang="en-US" b="1" dirty="0" smtClean="0">
              <a:latin typeface="Arial" pitchFamily="34" charset="0"/>
              <a:cs typeface="Arial" pitchFamily="34" charset="0"/>
            </a:endParaRPr>
          </a:p>
          <a:p>
            <a:endParaRPr lang="en-US" b="1"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2111</TotalTime>
  <Words>756</Words>
  <Application>Microsoft Office PowerPoint</Application>
  <PresentationFormat>On-screen Show (4:3)</PresentationFormat>
  <Paragraphs>65</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246</cp:revision>
  <dcterms:created xsi:type="dcterms:W3CDTF">2013-10-22T09:41:31Z</dcterms:created>
  <dcterms:modified xsi:type="dcterms:W3CDTF">2014-09-17T10:28:33Z</dcterms:modified>
</cp:coreProperties>
</file>