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94" r:id="rId3"/>
    <p:sldId id="304" r:id="rId4"/>
    <p:sldId id="295" r:id="rId5"/>
    <p:sldId id="312" r:id="rId6"/>
    <p:sldId id="313" r:id="rId7"/>
    <p:sldId id="314" r:id="rId8"/>
    <p:sldId id="315" r:id="rId9"/>
    <p:sldId id="316" r:id="rId10"/>
    <p:sldId id="287" r:id="rId11"/>
    <p:sldId id="273"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91" autoAdjust="0"/>
    <p:restoredTop sz="94595" autoAdjust="0"/>
  </p:normalViewPr>
  <p:slideViewPr>
    <p:cSldViewPr>
      <p:cViewPr varScale="1">
        <p:scale>
          <a:sx n="49" d="100"/>
          <a:sy n="49" d="100"/>
        </p:scale>
        <p:origin x="-1214" y="-67"/>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9/19/2014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p14="http://schemas.microsoft.com/office/powerpoint/2010/main" xmlns=""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9/19/2014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9/19/2014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9/19/2014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9/19/2014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9/19/2014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9/19/2014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9/19/2014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9/19/2014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9/19/2014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9/19/2014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9/19/2014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9/19/2014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hyperlink" Target="mailto:professor@tataamc.com" TargetMode="Externa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1115616" y="2755060"/>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ZERO COUPON BONDS</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3" name="TextBox 2"/>
          <p:cNvSpPr txBox="1"/>
          <p:nvPr/>
        </p:nvSpPr>
        <p:spPr>
          <a:xfrm>
            <a:off x="1433288" y="2193499"/>
            <a:ext cx="3426744" cy="646331"/>
          </a:xfrm>
          <a:prstGeom prst="rect">
            <a:avLst/>
          </a:prstGeom>
          <a:noFill/>
        </p:spPr>
        <p:txBody>
          <a:bodyPr wrap="square" rtlCol="0">
            <a:spAutoFit/>
          </a:bodyPr>
          <a:lstStyle/>
          <a:p>
            <a:pPr>
              <a:spcBef>
                <a:spcPct val="20000"/>
              </a:spcBef>
            </a:pPr>
            <a:r>
              <a:rPr lang="en-US" b="1" dirty="0" smtClean="0">
                <a:latin typeface="Arial" pitchFamily="34" charset="0"/>
                <a:cs typeface="Arial" pitchFamily="34" charset="0"/>
              </a:rPr>
              <a:t>Understanding </a:t>
            </a:r>
            <a:r>
              <a:rPr lang="en-US" b="1" dirty="0">
                <a:latin typeface="Arial" pitchFamily="34" charset="0"/>
                <a:cs typeface="Arial" pitchFamily="34" charset="0"/>
              </a:rPr>
              <a:t/>
            </a:r>
            <a:br>
              <a:rPr lang="en-US" b="1" dirty="0">
                <a:latin typeface="Arial" pitchFamily="34" charset="0"/>
                <a:cs typeface="Arial" pitchFamily="34" charset="0"/>
              </a:rPr>
            </a:br>
            <a:r>
              <a:rPr lang="en-US" b="1" dirty="0">
                <a:latin typeface="Arial" pitchFamily="34" charset="0"/>
                <a:cs typeface="Arial" pitchFamily="34" charset="0"/>
              </a:rPr>
              <a:t>Zero Coupon Bonds</a:t>
            </a:r>
          </a:p>
        </p:txBody>
      </p:sp>
    </p:spTree>
    <p:extLst>
      <p:ext uri="{BB962C8B-B14F-4D97-AF65-F5344CB8AC3E}">
        <p14:creationId xmlns:p14="http://schemas.microsoft.com/office/powerpoint/2010/main" xmlns="" val="149177993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3" name="TextBox 2"/>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ZERO COUPON BONDS</a:t>
            </a:r>
          </a:p>
        </p:txBody>
      </p:sp>
      <p:sp>
        <p:nvSpPr>
          <p:cNvPr id="4" name="TextBox 3"/>
          <p:cNvSpPr txBox="1"/>
          <p:nvPr/>
        </p:nvSpPr>
        <p:spPr>
          <a:xfrm>
            <a:off x="3203848" y="1261390"/>
            <a:ext cx="3456384" cy="1754326"/>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Zero coupon bonds is a bond </a:t>
            </a:r>
          </a:p>
          <a:p>
            <a:pPr>
              <a:lnSpc>
                <a:spcPct val="150000"/>
              </a:lnSpc>
            </a:pPr>
            <a:r>
              <a:rPr lang="en-US" b="1" dirty="0">
                <a:latin typeface="Arial" pitchFamily="34" charset="0"/>
                <a:cs typeface="Arial" pitchFamily="34" charset="0"/>
              </a:rPr>
              <a:t>that is issued at a discounted </a:t>
            </a:r>
          </a:p>
          <a:p>
            <a:pPr>
              <a:lnSpc>
                <a:spcPct val="150000"/>
              </a:lnSpc>
            </a:pPr>
            <a:r>
              <a:rPr lang="en-US" b="1" dirty="0">
                <a:latin typeface="Arial" pitchFamily="34" charset="0"/>
                <a:cs typeface="Arial" pitchFamily="34" charset="0"/>
              </a:rPr>
              <a:t>price and redeemed at par </a:t>
            </a:r>
          </a:p>
          <a:p>
            <a:pPr>
              <a:lnSpc>
                <a:spcPct val="150000"/>
              </a:lnSpc>
            </a:pPr>
            <a:r>
              <a:rPr lang="en-US" b="1" dirty="0">
                <a:latin typeface="Arial" pitchFamily="34" charset="0"/>
                <a:cs typeface="Arial" pitchFamily="34" charset="0"/>
              </a:rPr>
              <a:t>at the time of maturity. </a:t>
            </a:r>
          </a:p>
        </p:txBody>
      </p:sp>
    </p:spTree>
    <p:extLst>
      <p:ext uri="{BB962C8B-B14F-4D97-AF65-F5344CB8AC3E}">
        <p14:creationId xmlns:p14="http://schemas.microsoft.com/office/powerpoint/2010/main" xmlns="" val="423303955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139952" y="4797152"/>
            <a:ext cx="3240360" cy="923330"/>
          </a:xfrm>
          <a:prstGeom prst="rect">
            <a:avLst/>
          </a:prstGeom>
        </p:spPr>
        <p:txBody>
          <a:bodyPr wrap="square">
            <a:spAutoFit/>
          </a:bodyPr>
          <a:lstStyle/>
          <a:p>
            <a:pPr>
              <a:lnSpc>
                <a:spcPct val="150000"/>
              </a:lnSpc>
            </a:pPr>
            <a:r>
              <a:rPr lang="en-US" b="1" dirty="0">
                <a:latin typeface="Arial" pitchFamily="34" charset="0"/>
                <a:cs typeface="Arial" pitchFamily="34" charset="0"/>
              </a:rPr>
              <a:t>Lets  try  and  understand </a:t>
            </a:r>
          </a:p>
          <a:p>
            <a:pPr>
              <a:lnSpc>
                <a:spcPct val="150000"/>
              </a:lnSpc>
            </a:pPr>
            <a:r>
              <a:rPr lang="en-US" b="1" dirty="0">
                <a:latin typeface="Arial" pitchFamily="34" charset="0"/>
                <a:cs typeface="Arial" pitchFamily="34" charset="0"/>
              </a:rPr>
              <a:t>this  through an illustration</a:t>
            </a: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ZERO COUPON BONDS</a:t>
            </a:r>
          </a:p>
        </p:txBody>
      </p:sp>
    </p:spTree>
    <p:extLst>
      <p:ext uri="{BB962C8B-B14F-4D97-AF65-F5344CB8AC3E}">
        <p14:creationId xmlns:p14="http://schemas.microsoft.com/office/powerpoint/2010/main" xmlns="" val="226189699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3" name="TextBox 2"/>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ZERO COUPON BONDS</a:t>
            </a:r>
          </a:p>
        </p:txBody>
      </p:sp>
      <p:sp>
        <p:nvSpPr>
          <p:cNvPr id="4" name="TextBox 3"/>
          <p:cNvSpPr txBox="1"/>
          <p:nvPr/>
        </p:nvSpPr>
        <p:spPr>
          <a:xfrm>
            <a:off x="2987824" y="1260037"/>
            <a:ext cx="3816424" cy="1477328"/>
          </a:xfrm>
          <a:prstGeom prst="rect">
            <a:avLst/>
          </a:prstGeom>
          <a:noFill/>
        </p:spPr>
        <p:txBody>
          <a:bodyPr wrap="square" rtlCol="0">
            <a:spAutoFit/>
          </a:bodyPr>
          <a:lstStyle/>
          <a:p>
            <a:pPr>
              <a:lnSpc>
                <a:spcPct val="125000"/>
              </a:lnSpc>
            </a:pPr>
            <a:r>
              <a:rPr lang="en-US" b="1" dirty="0" smtClean="0">
                <a:latin typeface="Arial" pitchFamily="34" charset="0"/>
                <a:cs typeface="Arial" pitchFamily="34" charset="0"/>
              </a:rPr>
              <a:t>Rahul  has </a:t>
            </a:r>
            <a:r>
              <a:rPr lang="en-US" b="1" dirty="0">
                <a:latin typeface="Arial" pitchFamily="34" charset="0"/>
                <a:cs typeface="Arial" pitchFamily="34" charset="0"/>
              </a:rPr>
              <a:t>invested Rs. 920/- in a zero coupon. </a:t>
            </a:r>
            <a:r>
              <a:rPr lang="en-US" b="1" dirty="0" smtClean="0">
                <a:latin typeface="Arial" pitchFamily="34" charset="0"/>
                <a:cs typeface="Arial" pitchFamily="34" charset="0"/>
              </a:rPr>
              <a:t>Assume that  </a:t>
            </a:r>
            <a:r>
              <a:rPr lang="en-US" b="1" dirty="0">
                <a:latin typeface="Arial" pitchFamily="34" charset="0"/>
                <a:cs typeface="Arial" pitchFamily="34" charset="0"/>
              </a:rPr>
              <a:t>after  1 year  he  would </a:t>
            </a:r>
            <a:r>
              <a:rPr lang="en-US" b="1" dirty="0" smtClean="0">
                <a:latin typeface="Arial" pitchFamily="34" charset="0"/>
                <a:cs typeface="Arial" pitchFamily="34" charset="0"/>
              </a:rPr>
              <a:t> receive </a:t>
            </a:r>
            <a:r>
              <a:rPr lang="en-US" b="1" dirty="0">
                <a:latin typeface="Arial" pitchFamily="34" charset="0"/>
                <a:cs typeface="Arial" pitchFamily="34" charset="0"/>
              </a:rPr>
              <a:t>Rs. 1000/- .</a:t>
            </a:r>
          </a:p>
        </p:txBody>
      </p:sp>
    </p:spTree>
    <p:extLst>
      <p:ext uri="{BB962C8B-B14F-4D97-AF65-F5344CB8AC3E}">
        <p14:creationId xmlns:p14="http://schemas.microsoft.com/office/powerpoint/2010/main" xmlns="" val="142611222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3" name="TextBox 2"/>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ZERO COUPON BONDS</a:t>
            </a:r>
          </a:p>
        </p:txBody>
      </p:sp>
      <p:sp>
        <p:nvSpPr>
          <p:cNvPr id="4" name="TextBox 3"/>
          <p:cNvSpPr txBox="1"/>
          <p:nvPr/>
        </p:nvSpPr>
        <p:spPr>
          <a:xfrm>
            <a:off x="2987824" y="1260037"/>
            <a:ext cx="3816424" cy="1754326"/>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In   the   instant  case </a:t>
            </a:r>
            <a:r>
              <a:rPr lang="en-US" b="1" dirty="0" smtClean="0">
                <a:latin typeface="Arial" pitchFamily="34" charset="0"/>
                <a:cs typeface="Arial" pitchFamily="34" charset="0"/>
              </a:rPr>
              <a:t>Rahul pays  </a:t>
            </a:r>
            <a:r>
              <a:rPr lang="en-US" b="1" dirty="0" err="1">
                <a:latin typeface="Arial" pitchFamily="34" charset="0"/>
                <a:cs typeface="Arial" pitchFamily="34" charset="0"/>
              </a:rPr>
              <a:t>Rs</a:t>
            </a:r>
            <a:r>
              <a:rPr lang="en-US" b="1" dirty="0">
                <a:latin typeface="Arial" pitchFamily="34" charset="0"/>
                <a:cs typeface="Arial" pitchFamily="34" charset="0"/>
              </a:rPr>
              <a:t>. 920/- (Discounted price)  and  he would </a:t>
            </a:r>
            <a:r>
              <a:rPr lang="en-US" b="1" dirty="0" smtClean="0">
                <a:latin typeface="Arial" pitchFamily="34" charset="0"/>
                <a:cs typeface="Arial" pitchFamily="34" charset="0"/>
              </a:rPr>
              <a:t>receive </a:t>
            </a:r>
            <a:r>
              <a:rPr lang="en-US" b="1" dirty="0" err="1" smtClean="0">
                <a:latin typeface="Arial" pitchFamily="34" charset="0"/>
                <a:cs typeface="Arial" pitchFamily="34" charset="0"/>
              </a:rPr>
              <a:t>Rs</a:t>
            </a:r>
            <a:r>
              <a:rPr lang="en-US" b="1" dirty="0">
                <a:latin typeface="Arial" pitchFamily="34" charset="0"/>
                <a:cs typeface="Arial" pitchFamily="34" charset="0"/>
              </a:rPr>
              <a:t>. 1000</a:t>
            </a:r>
            <a:r>
              <a:rPr lang="en-US" b="1" dirty="0" smtClean="0">
                <a:latin typeface="Arial" pitchFamily="34" charset="0"/>
                <a:cs typeface="Arial" pitchFamily="34" charset="0"/>
              </a:rPr>
              <a:t>/-</a:t>
            </a:r>
            <a:br>
              <a:rPr lang="en-US" b="1" dirty="0" smtClean="0">
                <a:latin typeface="Arial" pitchFamily="34" charset="0"/>
                <a:cs typeface="Arial" pitchFamily="34" charset="0"/>
              </a:rPr>
            </a:br>
            <a:r>
              <a:rPr lang="en-US" b="1" dirty="0" smtClean="0">
                <a:latin typeface="Arial" pitchFamily="34" charset="0"/>
                <a:cs typeface="Arial" pitchFamily="34" charset="0"/>
              </a:rPr>
              <a:t>(</a:t>
            </a:r>
            <a:r>
              <a:rPr lang="en-US" b="1" dirty="0">
                <a:latin typeface="Arial" pitchFamily="34" charset="0"/>
                <a:cs typeface="Arial" pitchFamily="34" charset="0"/>
              </a:rPr>
              <a:t>Par value) </a:t>
            </a:r>
            <a:r>
              <a:rPr lang="en-US" b="1" dirty="0" smtClean="0">
                <a:latin typeface="Arial" pitchFamily="34" charset="0"/>
                <a:cs typeface="Arial" pitchFamily="34" charset="0"/>
              </a:rPr>
              <a:t>after 1 </a:t>
            </a:r>
            <a:r>
              <a:rPr lang="en-US" b="1" dirty="0">
                <a:latin typeface="Arial" pitchFamily="34" charset="0"/>
                <a:cs typeface="Arial" pitchFamily="34" charset="0"/>
              </a:rPr>
              <a:t>year. </a:t>
            </a:r>
          </a:p>
        </p:txBody>
      </p:sp>
    </p:spTree>
    <p:extLst>
      <p:ext uri="{BB962C8B-B14F-4D97-AF65-F5344CB8AC3E}">
        <p14:creationId xmlns:p14="http://schemas.microsoft.com/office/powerpoint/2010/main" xmlns="" val="158020695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3" name="TextBox 2"/>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ZERO COUPON BONDS</a:t>
            </a:r>
          </a:p>
        </p:txBody>
      </p:sp>
      <p:sp>
        <p:nvSpPr>
          <p:cNvPr id="4" name="TextBox 3"/>
          <p:cNvSpPr txBox="1"/>
          <p:nvPr/>
        </p:nvSpPr>
        <p:spPr>
          <a:xfrm>
            <a:off x="2987824" y="1260037"/>
            <a:ext cx="3816424" cy="1711366"/>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Return  (yield)   on   the   bond </a:t>
            </a:r>
          </a:p>
          <a:p>
            <a:pPr>
              <a:lnSpc>
                <a:spcPct val="150000"/>
              </a:lnSpc>
            </a:pPr>
            <a:r>
              <a:rPr lang="en-US" b="1" dirty="0">
                <a:latin typeface="Arial" pitchFamily="34" charset="0"/>
                <a:cs typeface="Arial" pitchFamily="34" charset="0"/>
              </a:rPr>
              <a:t>for Rahul is  8.70%  and  can be  arrived  as  follows  </a:t>
            </a:r>
          </a:p>
          <a:p>
            <a:pPr>
              <a:lnSpc>
                <a:spcPct val="150000"/>
              </a:lnSpc>
            </a:pPr>
            <a:r>
              <a:rPr lang="en-US" b="1" dirty="0">
                <a:latin typeface="Arial" pitchFamily="34" charset="0"/>
                <a:cs typeface="Arial" pitchFamily="34" charset="0"/>
              </a:rPr>
              <a:t>(1000 – 920) / </a:t>
            </a:r>
            <a:r>
              <a:rPr lang="en-US" b="1" dirty="0" smtClean="0">
                <a:latin typeface="Arial" pitchFamily="34" charset="0"/>
                <a:cs typeface="Arial" pitchFamily="34" charset="0"/>
              </a:rPr>
              <a:t>920</a:t>
            </a:r>
            <a:endParaRPr lang="en-US" b="1" dirty="0">
              <a:latin typeface="Arial" pitchFamily="34" charset="0"/>
              <a:cs typeface="Arial" pitchFamily="34" charset="0"/>
            </a:endParaRPr>
          </a:p>
        </p:txBody>
      </p:sp>
    </p:spTree>
    <p:extLst>
      <p:ext uri="{BB962C8B-B14F-4D97-AF65-F5344CB8AC3E}">
        <p14:creationId xmlns:p14="http://schemas.microsoft.com/office/powerpoint/2010/main" xmlns="" val="36272167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3" name="TextBox 2"/>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ZERO COUPON BONDS</a:t>
            </a:r>
          </a:p>
        </p:txBody>
      </p:sp>
      <p:sp>
        <p:nvSpPr>
          <p:cNvPr id="4" name="TextBox 3"/>
          <p:cNvSpPr txBox="1"/>
          <p:nvPr/>
        </p:nvSpPr>
        <p:spPr>
          <a:xfrm>
            <a:off x="2843808" y="1124744"/>
            <a:ext cx="4320480" cy="1754326"/>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Thus Zero Coupon Bond is nothing  but  a  terminology used for a bond that is issued at  a  discounted  price  and redeemed at par on maturity</a:t>
            </a:r>
          </a:p>
        </p:txBody>
      </p:sp>
    </p:spTree>
    <p:extLst>
      <p:ext uri="{BB962C8B-B14F-4D97-AF65-F5344CB8AC3E}">
        <p14:creationId xmlns:p14="http://schemas.microsoft.com/office/powerpoint/2010/main" xmlns="" val="31569852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139952" y="4797152"/>
            <a:ext cx="3816424" cy="923330"/>
          </a:xfrm>
          <a:prstGeom prst="rect">
            <a:avLst/>
          </a:prstGeom>
        </p:spPr>
        <p:txBody>
          <a:bodyPr wrap="square">
            <a:spAutoFit/>
          </a:bodyPr>
          <a:lstStyle/>
          <a:p>
            <a:pPr>
              <a:lnSpc>
                <a:spcPct val="150000"/>
              </a:lnSpc>
              <a:buFontTx/>
              <a:buNone/>
            </a:pPr>
            <a:r>
              <a:rPr lang="en-US" b="1" dirty="0">
                <a:latin typeface="Arial" pitchFamily="34" charset="0"/>
                <a:cs typeface="Arial" pitchFamily="34" charset="0"/>
              </a:rPr>
              <a:t>Hope you have understood the </a:t>
            </a:r>
          </a:p>
          <a:p>
            <a:pPr>
              <a:lnSpc>
                <a:spcPct val="150000"/>
              </a:lnSpc>
              <a:buFontTx/>
              <a:buNone/>
            </a:pPr>
            <a:r>
              <a:rPr lang="en-US" b="1" dirty="0">
                <a:latin typeface="Arial" pitchFamily="34" charset="0"/>
                <a:cs typeface="Arial" pitchFamily="34" charset="0"/>
              </a:rPr>
              <a:t>Concept of Zero Coupon Bond</a:t>
            </a: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ZERO COUPON BONDS</a:t>
            </a:r>
          </a:p>
        </p:txBody>
      </p:sp>
    </p:spTree>
    <p:extLst>
      <p:ext uri="{BB962C8B-B14F-4D97-AF65-F5344CB8AC3E}">
        <p14:creationId xmlns:p14="http://schemas.microsoft.com/office/powerpoint/2010/main" xmlns="" val="935328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11" name="TextBox 10"/>
          <p:cNvSpPr txBox="1"/>
          <p:nvPr/>
        </p:nvSpPr>
        <p:spPr>
          <a:xfrm>
            <a:off x="1536958" y="1268760"/>
            <a:ext cx="3024337" cy="1338828"/>
          </a:xfrm>
          <a:prstGeom prst="rect">
            <a:avLst/>
          </a:prstGeom>
          <a:noFill/>
        </p:spPr>
        <p:txBody>
          <a:bodyPr wrap="square" rtlCol="0">
            <a:spAutoFit/>
          </a:bodyPr>
          <a:lstStyle/>
          <a:p>
            <a:pPr>
              <a:lnSpc>
                <a:spcPct val="150000"/>
              </a:lnSpc>
              <a:spcBef>
                <a:spcPct val="20000"/>
              </a:spcBef>
            </a:pPr>
            <a:r>
              <a:rPr lang="en-US" b="1" dirty="0">
                <a:latin typeface="Arial" pitchFamily="34" charset="0"/>
                <a:cs typeface="Arial" pitchFamily="34" charset="0"/>
              </a:rPr>
              <a:t>Please give us your feedback at</a:t>
            </a:r>
            <a:r>
              <a:rPr lang="en-US" dirty="0">
                <a:solidFill>
                  <a:schemeClr val="bg1"/>
                </a:solidFill>
              </a:rPr>
              <a:t> </a:t>
            </a:r>
            <a:r>
              <a:rPr lang="en-US" b="1" dirty="0" smtClean="0">
                <a:latin typeface="Arial" pitchFamily="34" charset="0"/>
                <a:cs typeface="Arial" pitchFamily="34" charset="0"/>
                <a:hlinkClick r:id="rId4"/>
              </a:rPr>
              <a:t>professor@tataamc.com</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1608</TotalTime>
  <Words>349</Words>
  <Application>Microsoft Office PowerPoint</Application>
  <PresentationFormat>On-screen Show (4:3)</PresentationFormat>
  <Paragraphs>28</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savio</cp:lastModifiedBy>
  <cp:revision>167</cp:revision>
  <dcterms:created xsi:type="dcterms:W3CDTF">2013-10-22T09:41:31Z</dcterms:created>
  <dcterms:modified xsi:type="dcterms:W3CDTF">2014-09-19T13:08:48Z</dcterms:modified>
</cp:coreProperties>
</file>