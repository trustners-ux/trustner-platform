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94" r:id="rId3"/>
    <p:sldId id="295" r:id="rId4"/>
    <p:sldId id="312" r:id="rId5"/>
    <p:sldId id="317" r:id="rId6"/>
    <p:sldId id="318" r:id="rId7"/>
    <p:sldId id="319" r:id="rId8"/>
    <p:sldId id="313" r:id="rId9"/>
    <p:sldId id="320" r:id="rId10"/>
    <p:sldId id="321" r:id="rId11"/>
    <p:sldId id="322" r:id="rId12"/>
    <p:sldId id="316"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1" autoAdjust="0"/>
    <p:restoredTop sz="94595" autoAdjust="0"/>
  </p:normalViewPr>
  <p:slideViewPr>
    <p:cSldViewPr>
      <p:cViewPr varScale="1">
        <p:scale>
          <a:sx n="52" d="100"/>
          <a:sy n="52" d="100"/>
        </p:scale>
        <p:origin x="-1651"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9/17/2014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9/17/2014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9/17/2014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9/17/2014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9/17/2014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LONG TERM DEBT FUNDS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33288" y="1326827"/>
            <a:ext cx="3426744" cy="1754326"/>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Understanding why one moves </a:t>
            </a:r>
            <a:r>
              <a:rPr lang="en-US" b="1" dirty="0" smtClean="0">
                <a:latin typeface="Arial" pitchFamily="34" charset="0"/>
                <a:cs typeface="Arial" pitchFamily="34" charset="0"/>
              </a:rPr>
              <a:t>into </a:t>
            </a:r>
            <a:r>
              <a:rPr lang="en-US" b="1" dirty="0">
                <a:latin typeface="Arial" pitchFamily="34" charset="0"/>
                <a:cs typeface="Arial" pitchFamily="34" charset="0"/>
              </a:rPr>
              <a:t>long term debt funds when interest </a:t>
            </a:r>
            <a:r>
              <a:rPr lang="en-US" b="1" dirty="0" smtClean="0">
                <a:latin typeface="Arial" pitchFamily="34" charset="0"/>
                <a:cs typeface="Arial" pitchFamily="34" charset="0"/>
              </a:rPr>
              <a:t>rates begin </a:t>
            </a:r>
            <a:r>
              <a:rPr lang="en-US" b="1" dirty="0">
                <a:latin typeface="Arial" pitchFamily="34" charset="0"/>
                <a:cs typeface="Arial" pitchFamily="34" charset="0"/>
              </a:rPr>
              <a:t>to fall</a:t>
            </a:r>
          </a:p>
        </p:txBody>
      </p:sp>
    </p:spTree>
    <p:extLst>
      <p:ext uri="{BB962C8B-B14F-4D97-AF65-F5344CB8AC3E}">
        <p14:creationId xmlns:p14="http://schemas.microsoft.com/office/powerpoint/2010/main" xmlns=""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6008" y="4005064"/>
            <a:ext cx="4176464"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Everyone </a:t>
            </a:r>
            <a:r>
              <a:rPr lang="en-US" b="1" dirty="0">
                <a:latin typeface="Arial" pitchFamily="34" charset="0"/>
                <a:cs typeface="Arial" pitchFamily="34" charset="0"/>
              </a:rPr>
              <a:t>knows that prices rise when there is increase in demand and </a:t>
            </a:r>
            <a:r>
              <a:rPr lang="en-US" b="1" dirty="0" smtClean="0">
                <a:latin typeface="Arial" pitchFamily="34" charset="0"/>
                <a:cs typeface="Arial" pitchFamily="34" charset="0"/>
              </a:rPr>
              <a:t>fall </a:t>
            </a:r>
            <a:r>
              <a:rPr lang="en-US" b="1" dirty="0">
                <a:latin typeface="Arial" pitchFamily="34" charset="0"/>
                <a:cs typeface="Arial" pitchFamily="34" charset="0"/>
              </a:rPr>
              <a:t>with the fall in demand. </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same is applicable </a:t>
            </a:r>
            <a:r>
              <a:rPr lang="en-US" b="1" dirty="0" smtClean="0">
                <a:latin typeface="Arial" pitchFamily="34" charset="0"/>
                <a:cs typeface="Arial" pitchFamily="34" charset="0"/>
              </a:rPr>
              <a:t>to </a:t>
            </a:r>
            <a:r>
              <a:rPr lang="en-US" b="1" dirty="0">
                <a:latin typeface="Arial" pitchFamily="34" charset="0"/>
                <a:cs typeface="Arial" pitchFamily="34" charset="0"/>
              </a:rPr>
              <a:t>Bonds with long </a:t>
            </a:r>
            <a:r>
              <a:rPr lang="en-US" b="1" dirty="0" smtClean="0">
                <a:latin typeface="Arial" pitchFamily="34" charset="0"/>
                <a:cs typeface="Arial" pitchFamily="34" charset="0"/>
              </a:rPr>
              <a:t>durations.</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Tree>
    <p:extLst>
      <p:ext uri="{BB962C8B-B14F-4D97-AF65-F5344CB8AC3E}">
        <p14:creationId xmlns:p14="http://schemas.microsoft.com/office/powerpoint/2010/main" xmlns="" val="2261896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
        <p:nvSpPr>
          <p:cNvPr id="4" name="TextBox 3"/>
          <p:cNvSpPr txBox="1"/>
          <p:nvPr/>
        </p:nvSpPr>
        <p:spPr>
          <a:xfrm>
            <a:off x="2987824" y="1124744"/>
            <a:ext cx="3960440" cy="2054409"/>
          </a:xfrm>
          <a:prstGeom prst="rect">
            <a:avLst/>
          </a:prstGeom>
          <a:noFill/>
        </p:spPr>
        <p:txBody>
          <a:bodyPr wrap="square" rtlCol="0">
            <a:spAutoFit/>
          </a:bodyPr>
          <a:lstStyle/>
          <a:p>
            <a:pPr>
              <a:lnSpc>
                <a:spcPct val="150000"/>
              </a:lnSpc>
            </a:pPr>
            <a:r>
              <a:rPr lang="en-US" sz="1700" b="1" dirty="0">
                <a:latin typeface="Arial" pitchFamily="34" charset="0"/>
                <a:cs typeface="Arial" pitchFamily="34" charset="0"/>
              </a:rPr>
              <a:t>Let’s </a:t>
            </a:r>
            <a:r>
              <a:rPr lang="en-US" sz="1700" b="1" dirty="0" smtClean="0">
                <a:latin typeface="Arial" pitchFamily="34" charset="0"/>
                <a:cs typeface="Arial" pitchFamily="34" charset="0"/>
              </a:rPr>
              <a:t>revisit </a:t>
            </a:r>
            <a:r>
              <a:rPr lang="en-US" sz="1700" b="1" dirty="0">
                <a:latin typeface="Arial" pitchFamily="34" charset="0"/>
                <a:cs typeface="Arial" pitchFamily="34" charset="0"/>
              </a:rPr>
              <a:t>the basics of Bond price and Interest relationship:</a:t>
            </a:r>
          </a:p>
          <a:p>
            <a:pPr>
              <a:lnSpc>
                <a:spcPct val="150000"/>
              </a:lnSpc>
            </a:pPr>
            <a:r>
              <a:rPr lang="en-US" sz="1700" b="1" dirty="0">
                <a:latin typeface="Arial" pitchFamily="34" charset="0"/>
                <a:cs typeface="Arial" pitchFamily="34" charset="0"/>
              </a:rPr>
              <a:t>When Interest rates rise, price of bonds </a:t>
            </a:r>
            <a:r>
              <a:rPr lang="en-US" sz="1700" b="1" dirty="0" smtClean="0">
                <a:latin typeface="Arial" pitchFamily="34" charset="0"/>
                <a:cs typeface="Arial" pitchFamily="34" charset="0"/>
              </a:rPr>
              <a:t>fall. Likewise, prices </a:t>
            </a:r>
            <a:r>
              <a:rPr lang="en-US" sz="1700" b="1" dirty="0">
                <a:latin typeface="Arial" pitchFamily="34" charset="0"/>
                <a:cs typeface="Arial" pitchFamily="34" charset="0"/>
              </a:rPr>
              <a:t>rise with </a:t>
            </a:r>
            <a:r>
              <a:rPr lang="en-US" sz="1700" b="1" dirty="0" smtClean="0">
                <a:latin typeface="Arial" pitchFamily="34" charset="0"/>
                <a:cs typeface="Arial" pitchFamily="34" charset="0"/>
              </a:rPr>
              <a:t>a </a:t>
            </a:r>
            <a:r>
              <a:rPr lang="en-US" sz="1700" b="1" dirty="0">
                <a:latin typeface="Arial" pitchFamily="34" charset="0"/>
                <a:cs typeface="Arial" pitchFamily="34" charset="0"/>
              </a:rPr>
              <a:t>fall in interest rates</a:t>
            </a:r>
          </a:p>
        </p:txBody>
      </p:sp>
    </p:spTree>
    <p:extLst>
      <p:ext uri="{BB962C8B-B14F-4D97-AF65-F5344CB8AC3E}">
        <p14:creationId xmlns:p14="http://schemas.microsoft.com/office/powerpoint/2010/main" xmlns="" val="14261122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16564" y="4365104"/>
            <a:ext cx="4320480"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Meet the typical </a:t>
            </a:r>
            <a:r>
              <a:rPr lang="en-US" b="1" dirty="0">
                <a:latin typeface="Arial" pitchFamily="34" charset="0"/>
                <a:cs typeface="Arial" pitchFamily="34" charset="0"/>
              </a:rPr>
              <a:t>Indian middle class housewife who manages her house efficiently with the money that her husband gives her.</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Tree>
    <p:extLst>
      <p:ext uri="{BB962C8B-B14F-4D97-AF65-F5344CB8AC3E}">
        <p14:creationId xmlns:p14="http://schemas.microsoft.com/office/powerpoint/2010/main" xmlns="" val="39077329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76759"/>
            <a:ext cx="7940330" cy="2299091"/>
          </a:xfrm>
          <a:prstGeom prst="rect">
            <a:avLst/>
          </a:prstGeom>
          <a:noFill/>
        </p:spPr>
        <p:txBody>
          <a:bodyPr wrap="square" rtlCol="0">
            <a:spAutoFit/>
          </a:bodyPr>
          <a:lstStyle/>
          <a:p>
            <a:pPr>
              <a:lnSpc>
                <a:spcPct val="150000"/>
              </a:lnSpc>
            </a:pPr>
            <a:r>
              <a:rPr lang="en-US" sz="1790" b="1" dirty="0" smtClean="0">
                <a:latin typeface="Arial" pitchFamily="34" charset="0"/>
                <a:cs typeface="Arial" pitchFamily="34" charset="0"/>
              </a:rPr>
              <a:t>When she </a:t>
            </a:r>
            <a:r>
              <a:rPr lang="en-US" sz="1790" b="1" dirty="0">
                <a:latin typeface="Arial" pitchFamily="34" charset="0"/>
                <a:cs typeface="Arial" pitchFamily="34" charset="0"/>
              </a:rPr>
              <a:t>expects </a:t>
            </a:r>
            <a:r>
              <a:rPr lang="en-US" sz="1790" b="1" dirty="0" smtClean="0">
                <a:latin typeface="Arial" pitchFamily="34" charset="0"/>
                <a:cs typeface="Arial" pitchFamily="34" charset="0"/>
              </a:rPr>
              <a:t>the price </a:t>
            </a:r>
            <a:r>
              <a:rPr lang="en-US" sz="1790" b="1" dirty="0">
                <a:latin typeface="Arial" pitchFamily="34" charset="0"/>
                <a:cs typeface="Arial" pitchFamily="34" charset="0"/>
              </a:rPr>
              <a:t>of vegetables </a:t>
            </a:r>
            <a:r>
              <a:rPr lang="en-US" sz="1790" b="1" dirty="0" smtClean="0">
                <a:latin typeface="Arial" pitchFamily="34" charset="0"/>
                <a:cs typeface="Arial" pitchFamily="34" charset="0"/>
              </a:rPr>
              <a:t>to rise</a:t>
            </a:r>
            <a:r>
              <a:rPr lang="en-US" sz="1790" b="1" dirty="0" smtClean="0">
                <a:latin typeface="Arial" pitchFamily="34" charset="0"/>
                <a:cs typeface="Arial" pitchFamily="34" charset="0"/>
              </a:rPr>
              <a:t>, she </a:t>
            </a:r>
            <a:r>
              <a:rPr lang="en-US" sz="1790" b="1" dirty="0">
                <a:latin typeface="Arial" pitchFamily="34" charset="0"/>
                <a:cs typeface="Arial" pitchFamily="34" charset="0"/>
              </a:rPr>
              <a:t>decides to purchase large quantities of vegetables </a:t>
            </a:r>
            <a:r>
              <a:rPr lang="en-US" sz="1790" b="1" dirty="0" smtClean="0">
                <a:latin typeface="Arial" pitchFamily="34" charset="0"/>
                <a:cs typeface="Arial" pitchFamily="34" charset="0"/>
              </a:rPr>
              <a:t>for use over a longer </a:t>
            </a:r>
            <a:r>
              <a:rPr lang="en-US" sz="1790" b="1" dirty="0">
                <a:latin typeface="Arial" pitchFamily="34" charset="0"/>
                <a:cs typeface="Arial" pitchFamily="34" charset="0"/>
              </a:rPr>
              <a:t>period.</a:t>
            </a:r>
            <a:r>
              <a:rPr lang="en-US" b="1" dirty="0">
                <a:latin typeface="Arial" pitchFamily="34" charset="0"/>
                <a:cs typeface="Arial" pitchFamily="34" charset="0"/>
              </a:rPr>
              <a:t> </a:t>
            </a:r>
            <a:br>
              <a:rPr lang="en-US" b="1" dirty="0">
                <a:latin typeface="Arial" pitchFamily="34" charset="0"/>
                <a:cs typeface="Arial" pitchFamily="34" charset="0"/>
              </a:rPr>
            </a:br>
            <a:r>
              <a:rPr lang="en-US" sz="600" b="1" dirty="0">
                <a:latin typeface="Arial" pitchFamily="34" charset="0"/>
                <a:cs typeface="Arial" pitchFamily="34" charset="0"/>
              </a:rPr>
              <a:t/>
            </a:r>
            <a:br>
              <a:rPr lang="en-US" sz="600" b="1" dirty="0">
                <a:latin typeface="Arial" pitchFamily="34" charset="0"/>
                <a:cs typeface="Arial" pitchFamily="34" charset="0"/>
              </a:rPr>
            </a:br>
            <a:r>
              <a:rPr lang="en-US" sz="1790" b="1" dirty="0">
                <a:latin typeface="Arial" pitchFamily="34" charset="0"/>
                <a:cs typeface="Arial" pitchFamily="34" charset="0"/>
              </a:rPr>
              <a:t>Now, even if the price of vegetables were to go up, it </a:t>
            </a:r>
            <a:r>
              <a:rPr lang="en-US" sz="1790" b="1" dirty="0" smtClean="0">
                <a:latin typeface="Arial" pitchFamily="34" charset="0"/>
                <a:cs typeface="Arial" pitchFamily="34" charset="0"/>
              </a:rPr>
              <a:t>would not</a:t>
            </a:r>
            <a:br>
              <a:rPr lang="en-US" sz="1790" b="1" dirty="0" smtClean="0">
                <a:latin typeface="Arial" pitchFamily="34" charset="0"/>
                <a:cs typeface="Arial" pitchFamily="34" charset="0"/>
              </a:rPr>
            </a:br>
            <a:r>
              <a:rPr lang="en-US" sz="1790" b="1" dirty="0" smtClean="0">
                <a:latin typeface="Arial" pitchFamily="34" charset="0"/>
                <a:cs typeface="Arial" pitchFamily="34" charset="0"/>
              </a:rPr>
              <a:t>make a </a:t>
            </a:r>
            <a:r>
              <a:rPr lang="en-US" sz="1790" b="1" dirty="0">
                <a:latin typeface="Arial" pitchFamily="34" charset="0"/>
                <a:cs typeface="Arial" pitchFamily="34" charset="0"/>
              </a:rPr>
              <a:t>difference </a:t>
            </a:r>
            <a:r>
              <a:rPr lang="en-US" sz="1790" b="1" dirty="0" smtClean="0">
                <a:latin typeface="Arial" pitchFamily="34" charset="0"/>
                <a:cs typeface="Arial" pitchFamily="34" charset="0"/>
              </a:rPr>
              <a:t>to her as </a:t>
            </a:r>
            <a:r>
              <a:rPr lang="en-US" sz="1790" b="1" dirty="0">
                <a:latin typeface="Arial" pitchFamily="34" charset="0"/>
                <a:cs typeface="Arial" pitchFamily="34" charset="0"/>
              </a:rPr>
              <a:t>she </a:t>
            </a:r>
            <a:r>
              <a:rPr lang="en-US" sz="1790" b="1" dirty="0" smtClean="0">
                <a:latin typeface="Arial" pitchFamily="34" charset="0"/>
                <a:cs typeface="Arial" pitchFamily="34" charset="0"/>
              </a:rPr>
              <a:t>had purchased </a:t>
            </a:r>
            <a:r>
              <a:rPr lang="en-US" sz="1790" b="1" dirty="0" smtClean="0">
                <a:latin typeface="Arial" pitchFamily="34" charset="0"/>
                <a:cs typeface="Arial" pitchFamily="34" charset="0"/>
              </a:rPr>
              <a:t>for </a:t>
            </a:r>
            <a:r>
              <a:rPr lang="en-US" sz="1790" b="1" dirty="0">
                <a:latin typeface="Arial" pitchFamily="34" charset="0"/>
                <a:cs typeface="Arial" pitchFamily="34" charset="0"/>
              </a:rPr>
              <a:t>a longer duration because of her </a:t>
            </a:r>
            <a:r>
              <a:rPr lang="en-US" sz="1790" b="1" dirty="0" smtClean="0">
                <a:latin typeface="Arial" pitchFamily="34" charset="0"/>
                <a:cs typeface="Arial" pitchFamily="34" charset="0"/>
              </a:rPr>
              <a:t>expectations that </a:t>
            </a:r>
            <a:r>
              <a:rPr lang="en-US" sz="1790" b="1" dirty="0">
                <a:latin typeface="Arial" pitchFamily="34" charset="0"/>
                <a:cs typeface="Arial" pitchFamily="34" charset="0"/>
              </a:rPr>
              <a:t>prices are set to rise.</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Tree>
    <p:extLst>
      <p:ext uri="{BB962C8B-B14F-4D97-AF65-F5344CB8AC3E}">
        <p14:creationId xmlns:p14="http://schemas.microsoft.com/office/powerpoint/2010/main" xmlns="" val="2138517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16630"/>
            <a:ext cx="7940330" cy="341632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Similarly when interest rates are expected to come </a:t>
            </a:r>
            <a:r>
              <a:rPr lang="en-US" b="1" dirty="0" smtClean="0">
                <a:latin typeface="Arial" pitchFamily="34" charset="0"/>
                <a:cs typeface="Arial" pitchFamily="34" charset="0"/>
              </a:rPr>
              <a:t>down,  </a:t>
            </a:r>
            <a:r>
              <a:rPr lang="en-US" b="1" dirty="0">
                <a:latin typeface="Arial" pitchFamily="34" charset="0"/>
                <a:cs typeface="Arial" pitchFamily="34" charset="0"/>
              </a:rPr>
              <a:t>it means that the demand for bonds yielding higher interest rates would increase. </a:t>
            </a:r>
            <a:r>
              <a:rPr lang="en-US" b="1" dirty="0" smtClean="0">
                <a:latin typeface="Arial" pitchFamily="34" charset="0"/>
                <a:cs typeface="Arial" pitchFamily="34" charset="0"/>
              </a:rPr>
              <a:t>Also </a:t>
            </a:r>
            <a:r>
              <a:rPr lang="en-US" b="1" dirty="0">
                <a:latin typeface="Arial" pitchFamily="34" charset="0"/>
                <a:cs typeface="Arial" pitchFamily="34" charset="0"/>
              </a:rPr>
              <a:t>the supply of bonds with higher interest rates will come down</a:t>
            </a:r>
            <a:r>
              <a:rPr lang="en-US" b="1" dirty="0" smtClean="0">
                <a:latin typeface="Arial" pitchFamily="34" charset="0"/>
                <a:cs typeface="Arial" pitchFamily="34" charset="0"/>
              </a:rPr>
              <a:t>. Therefore </a:t>
            </a:r>
            <a:r>
              <a:rPr lang="en-US" b="1" dirty="0">
                <a:latin typeface="Arial" pitchFamily="34" charset="0"/>
                <a:cs typeface="Arial" pitchFamily="34" charset="0"/>
              </a:rPr>
              <a:t>the price of such bonds would go up.</a:t>
            </a:r>
            <a:br>
              <a:rPr lang="en-US" b="1" dirty="0">
                <a:latin typeface="Arial" pitchFamily="34" charset="0"/>
                <a:cs typeface="Arial" pitchFamily="34" charset="0"/>
              </a:rPr>
            </a:b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So </a:t>
            </a:r>
            <a:r>
              <a:rPr lang="en-US" b="1" dirty="0">
                <a:latin typeface="Arial" pitchFamily="34" charset="0"/>
                <a:cs typeface="Arial" pitchFamily="34" charset="0"/>
              </a:rPr>
              <a:t>a smart fund manager would </a:t>
            </a:r>
            <a:r>
              <a:rPr lang="en-US" b="1" dirty="0" smtClean="0">
                <a:latin typeface="Arial" pitchFamily="34" charset="0"/>
                <a:cs typeface="Arial" pitchFamily="34" charset="0"/>
              </a:rPr>
              <a:t>buy </a:t>
            </a:r>
            <a:r>
              <a:rPr lang="en-US" b="1" dirty="0">
                <a:latin typeface="Arial" pitchFamily="34" charset="0"/>
                <a:cs typeface="Arial" pitchFamily="34" charset="0"/>
              </a:rPr>
              <a:t>such bonds for a much longer duration so that he can gain from the increase in the price when interest rates go down as per his </a:t>
            </a:r>
            <a:r>
              <a:rPr lang="en-US" b="1" dirty="0" smtClean="0">
                <a:latin typeface="Arial" pitchFamily="34" charset="0"/>
                <a:cs typeface="Arial" pitchFamily="34" charset="0"/>
              </a:rPr>
              <a:t>expectation.</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Tree>
    <p:extLst>
      <p:ext uri="{BB962C8B-B14F-4D97-AF65-F5344CB8AC3E}">
        <p14:creationId xmlns:p14="http://schemas.microsoft.com/office/powerpoint/2010/main" xmlns="" val="34414165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
        <p:nvSpPr>
          <p:cNvPr id="4" name="TextBox 3"/>
          <p:cNvSpPr txBox="1"/>
          <p:nvPr/>
        </p:nvSpPr>
        <p:spPr>
          <a:xfrm>
            <a:off x="3995936" y="4005064"/>
            <a:ext cx="4320480"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Thus whenever interest rates are poised to fall it makes ample sense to buy funds that hold papers of longer </a:t>
            </a:r>
            <a:r>
              <a:rPr lang="en-US" b="1" dirty="0" smtClean="0">
                <a:latin typeface="Arial" pitchFamily="34" charset="0"/>
                <a:cs typeface="Arial" pitchFamily="34" charset="0"/>
              </a:rPr>
              <a:t>duration.</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5802069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1016630"/>
            <a:ext cx="7992888" cy="341632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Going back to our housewife example. What do you think she will do when she expects supply of vegetables in the market is likely to go up?</a:t>
            </a:r>
            <a:br>
              <a:rPr lang="en-US" b="1" dirty="0">
                <a:latin typeface="Arial" pitchFamily="34" charset="0"/>
                <a:cs typeface="Arial" pitchFamily="34" charset="0"/>
              </a:rPr>
            </a:b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 When supply is expected to go up, prices would come down. Hence the housewife does not buy vegetables for the long term any more.</a:t>
            </a:r>
            <a:br>
              <a:rPr lang="en-US" b="1" dirty="0">
                <a:latin typeface="Arial" pitchFamily="34" charset="0"/>
                <a:cs typeface="Arial" pitchFamily="34" charset="0"/>
              </a:rPr>
            </a:b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She just buys enough for a day or two so that she can take advantage of the falling prices.</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Tree>
    <p:extLst>
      <p:ext uri="{BB962C8B-B14F-4D97-AF65-F5344CB8AC3E}">
        <p14:creationId xmlns:p14="http://schemas.microsoft.com/office/powerpoint/2010/main" xmlns="" val="16605691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1016630"/>
            <a:ext cx="7488832" cy="4247317"/>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Similarly when </a:t>
            </a:r>
            <a:r>
              <a:rPr lang="en-US" b="1" dirty="0" smtClean="0">
                <a:latin typeface="Arial" pitchFamily="34" charset="0"/>
                <a:cs typeface="Arial" pitchFamily="34" charset="0"/>
              </a:rPr>
              <a:t>a </a:t>
            </a:r>
            <a:r>
              <a:rPr lang="en-US" b="1" dirty="0">
                <a:latin typeface="Arial" pitchFamily="34" charset="0"/>
                <a:cs typeface="Arial" pitchFamily="34" charset="0"/>
              </a:rPr>
              <a:t>fund manager expects </a:t>
            </a:r>
            <a:r>
              <a:rPr lang="en-US" b="1" dirty="0" smtClean="0">
                <a:latin typeface="Arial" pitchFamily="34" charset="0"/>
                <a:cs typeface="Arial" pitchFamily="34" charset="0"/>
              </a:rPr>
              <a:t>interest rates to rise</a:t>
            </a:r>
            <a:r>
              <a:rPr lang="en-US" b="1" dirty="0">
                <a:latin typeface="Arial" pitchFamily="34" charset="0"/>
                <a:cs typeface="Arial" pitchFamily="34" charset="0"/>
              </a:rPr>
              <a:t>, he realizes that the prices of bonds are set to fall because of higher </a:t>
            </a:r>
            <a:r>
              <a:rPr lang="en-US" b="1" dirty="0" smtClean="0">
                <a:latin typeface="Arial" pitchFamily="34" charset="0"/>
                <a:cs typeface="Arial" pitchFamily="34" charset="0"/>
              </a:rPr>
              <a:t>supply.</a:t>
            </a: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So he sells </a:t>
            </a:r>
            <a:r>
              <a:rPr lang="en-US" b="1" dirty="0" smtClean="0">
                <a:latin typeface="Arial" pitchFamily="34" charset="0"/>
                <a:cs typeface="Arial" pitchFamily="34" charset="0"/>
              </a:rPr>
              <a:t>long </a:t>
            </a:r>
            <a:r>
              <a:rPr lang="en-US" b="1" dirty="0">
                <a:latin typeface="Arial" pitchFamily="34" charset="0"/>
                <a:cs typeface="Arial" pitchFamily="34" charset="0"/>
              </a:rPr>
              <a:t>duration papers and moves into short duration papers. This is exactly like what the smart housewife did when she purchased vegetables for a day or two.</a:t>
            </a:r>
            <a:br>
              <a:rPr lang="en-US" b="1" dirty="0">
                <a:latin typeface="Arial" pitchFamily="34" charset="0"/>
                <a:cs typeface="Arial" pitchFamily="34" charset="0"/>
              </a:rPr>
            </a:b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Both their objectives being the same – i.e. to have the money to buy at the right time.</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Tree>
    <p:extLst>
      <p:ext uri="{BB962C8B-B14F-4D97-AF65-F5344CB8AC3E}">
        <p14:creationId xmlns:p14="http://schemas.microsoft.com/office/powerpoint/2010/main" xmlns="" val="37754689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1016630"/>
            <a:ext cx="7488832" cy="2585323"/>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Therefore when one is expecting interest rates to rise, it makes sense to invest in funds like Short Term Bond Fund which invests in papers of shorter duration. </a:t>
            </a:r>
            <a:br>
              <a:rPr lang="en-US" b="1" dirty="0">
                <a:latin typeface="Arial" pitchFamily="34" charset="0"/>
                <a:cs typeface="Arial" pitchFamily="34" charset="0"/>
              </a:rPr>
            </a:b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This ensures that you are prepared with money to buy </a:t>
            </a:r>
            <a:r>
              <a:rPr lang="en-US" b="1" dirty="0" smtClean="0">
                <a:latin typeface="Arial" pitchFamily="34" charset="0"/>
                <a:cs typeface="Arial" pitchFamily="34" charset="0"/>
              </a:rPr>
              <a:t>when </a:t>
            </a:r>
            <a:r>
              <a:rPr lang="en-US" b="1" dirty="0">
                <a:latin typeface="Arial" pitchFamily="34" charset="0"/>
                <a:cs typeface="Arial" pitchFamily="34" charset="0"/>
              </a:rPr>
              <a:t>the prices start to fall</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Tree>
    <p:extLst>
      <p:ext uri="{BB962C8B-B14F-4D97-AF65-F5344CB8AC3E}">
        <p14:creationId xmlns:p14="http://schemas.microsoft.com/office/powerpoint/2010/main" xmlns="" val="23366871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3915913"/>
            <a:ext cx="4392488" cy="2169825"/>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this story has clarified why one should invest in long duration bonds when interest rates are expected to fall and short duration funds when interest rates are expected to rise</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LONG TERM DEBT FUNDS</a:t>
            </a:r>
          </a:p>
        </p:txBody>
      </p:sp>
    </p:spTree>
    <p:extLst>
      <p:ext uri="{BB962C8B-B14F-4D97-AF65-F5344CB8AC3E}">
        <p14:creationId xmlns:p14="http://schemas.microsoft.com/office/powerpoint/2010/main" xmlns="" val="935328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36958" y="1268760"/>
            <a:ext cx="3024337" cy="1338828"/>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Please give us your feedback at</a:t>
            </a:r>
            <a:r>
              <a:rPr lang="en-US" dirty="0">
                <a:solidFill>
                  <a:schemeClr val="bg1"/>
                </a:solidFill>
              </a:rPr>
              <a:t> </a:t>
            </a: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1835</TotalTime>
  <Words>526</Words>
  <Application>Microsoft Office PowerPoint</Application>
  <PresentationFormat>On-screen Show (4:3)</PresentationFormat>
  <Paragraphs>32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173</cp:revision>
  <dcterms:created xsi:type="dcterms:W3CDTF">2013-10-22T09:41:31Z</dcterms:created>
  <dcterms:modified xsi:type="dcterms:W3CDTF">2014-09-17T12:04:30Z</dcterms:modified>
</cp:coreProperties>
</file>