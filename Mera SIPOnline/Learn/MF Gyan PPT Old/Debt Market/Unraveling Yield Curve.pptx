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94" r:id="rId3"/>
    <p:sldId id="324" r:id="rId4"/>
    <p:sldId id="325" r:id="rId5"/>
    <p:sldId id="327" r:id="rId6"/>
    <p:sldId id="328" r:id="rId7"/>
    <p:sldId id="329" r:id="rId8"/>
    <p:sldId id="330" r:id="rId9"/>
    <p:sldId id="331" r:id="rId10"/>
    <p:sldId id="316" r:id="rId11"/>
    <p:sldId id="287" r:id="rId12"/>
    <p:sldId id="2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9" d="100"/>
          <a:sy n="49" d="100"/>
        </p:scale>
        <p:origin x="-121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UNRAVELING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2060848"/>
            <a:ext cx="3426744" cy="878574"/>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Unraveling the ‘Yield Curve’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p>
        </p:txBody>
      </p:sp>
    </p:spTree>
    <p:extLst>
      <p:ext uri="{BB962C8B-B14F-4D97-AF65-F5344CB8AC3E}">
        <p14:creationId xmlns=""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65334"/>
            <a:ext cx="7796314" cy="1338828"/>
          </a:xfrm>
          <a:prstGeom prst="rect">
            <a:avLst/>
          </a:prstGeom>
          <a:noFill/>
        </p:spPr>
        <p:txBody>
          <a:bodyPr wrap="square" rtlCol="0">
            <a:spAutoFit/>
          </a:bodyPr>
          <a:lstStyle/>
          <a:p>
            <a:pPr marL="465138" indent="-465138" fontAlgn="t">
              <a:lnSpc>
                <a:spcPct val="150000"/>
              </a:lnSpc>
              <a:buFont typeface="Wingdings" pitchFamily="2" charset="2"/>
              <a:buChar char="q"/>
              <a:tabLst>
                <a:tab pos="465138" algn="l"/>
              </a:tabLst>
            </a:pPr>
            <a:r>
              <a:rPr lang="en-US" b="1" dirty="0" smtClean="0">
                <a:latin typeface="Arial" pitchFamily="34" charset="0"/>
                <a:cs typeface="Arial" pitchFamily="34" charset="0"/>
              </a:rPr>
              <a:t>The yield </a:t>
            </a:r>
            <a:r>
              <a:rPr lang="en-US" b="1" dirty="0">
                <a:latin typeface="Arial" pitchFamily="34" charset="0"/>
                <a:cs typeface="Arial" pitchFamily="34" charset="0"/>
              </a:rPr>
              <a:t>curve is the relation between the </a:t>
            </a:r>
            <a:r>
              <a:rPr lang="en-US" b="1" dirty="0" smtClean="0">
                <a:latin typeface="Arial" pitchFamily="34" charset="0"/>
                <a:cs typeface="Arial" pitchFamily="34" charset="0"/>
              </a:rPr>
              <a:t>interest rate </a:t>
            </a:r>
            <a:r>
              <a:rPr lang="en-US" b="1" dirty="0" smtClean="0">
                <a:latin typeface="Arial" pitchFamily="34" charset="0"/>
                <a:cs typeface="Arial" pitchFamily="34" charset="0"/>
              </a:rPr>
              <a:t>and </a:t>
            </a:r>
            <a:r>
              <a:rPr lang="en-US" b="1" dirty="0">
                <a:latin typeface="Arial" pitchFamily="34" charset="0"/>
                <a:cs typeface="Arial" pitchFamily="34" charset="0"/>
              </a:rPr>
              <a:t>the time to maturity of </a:t>
            </a:r>
            <a:r>
              <a:rPr lang="en-US" b="1" dirty="0" smtClean="0">
                <a:latin typeface="Arial" pitchFamily="34" charset="0"/>
                <a:cs typeface="Arial" pitchFamily="34" charset="0"/>
              </a:rPr>
              <a:t>the debt </a:t>
            </a:r>
            <a:r>
              <a:rPr lang="en-US" b="1" dirty="0">
                <a:latin typeface="Arial" pitchFamily="34" charset="0"/>
                <a:cs typeface="Arial" pitchFamily="34" charset="0"/>
              </a:rPr>
              <a:t>for </a:t>
            </a:r>
            <a:r>
              <a:rPr lang="en-US" b="1" dirty="0" smtClean="0">
                <a:latin typeface="Arial" pitchFamily="34" charset="0"/>
                <a:cs typeface="Arial" pitchFamily="34" charset="0"/>
              </a:rPr>
              <a:t>a given </a:t>
            </a:r>
            <a:r>
              <a:rPr lang="en-US" b="1" dirty="0">
                <a:latin typeface="Arial" pitchFamily="34" charset="0"/>
                <a:cs typeface="Arial" pitchFamily="34" charset="0"/>
              </a:rPr>
              <a:t>borrower in a given currency.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Tree>
    <p:extLst>
      <p:ext uri="{BB962C8B-B14F-4D97-AF65-F5344CB8AC3E}">
        <p14:creationId xmlns="" xmlns:p14="http://schemas.microsoft.com/office/powerpoint/2010/main" val="32104835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71143"/>
            <a:ext cx="7580290" cy="507831"/>
          </a:xfrm>
          <a:prstGeom prst="rect">
            <a:avLst/>
          </a:prstGeom>
          <a:noFill/>
        </p:spPr>
        <p:txBody>
          <a:bodyPr wrap="square" rtlCol="0">
            <a:spAutoFit/>
          </a:bodyPr>
          <a:lstStyle/>
          <a:p>
            <a:pPr algn="ctr" fontAlgn="t">
              <a:lnSpc>
                <a:spcPct val="150000"/>
              </a:lnSpc>
              <a:tabLst>
                <a:tab pos="465138" algn="l"/>
              </a:tabLst>
            </a:pPr>
            <a:r>
              <a:rPr lang="en-US" b="1" dirty="0">
                <a:latin typeface="Arial" pitchFamily="34" charset="0"/>
                <a:cs typeface="Arial" pitchFamily="34" charset="0"/>
              </a:rPr>
              <a:t>So what is ‘yield’?</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
        <p:nvSpPr>
          <p:cNvPr id="5" name="TextBox 4"/>
          <p:cNvSpPr txBox="1"/>
          <p:nvPr/>
        </p:nvSpPr>
        <p:spPr>
          <a:xfrm>
            <a:off x="520102" y="1628800"/>
            <a:ext cx="7580290" cy="2169825"/>
          </a:xfrm>
          <a:prstGeom prst="rect">
            <a:avLst/>
          </a:prstGeom>
          <a:noFill/>
        </p:spPr>
        <p:txBody>
          <a:bodyPr wrap="square" rtlCol="0">
            <a:spAutoFit/>
          </a:bodyPr>
          <a:lstStyle/>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The yield of a debt instrument is the annualized percentage increase in the value of the investment. </a:t>
            </a:r>
          </a:p>
          <a:p>
            <a:pPr marL="465138" indent="-465138" fontAlgn="t">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For instance, a bank account that pays an interest rate of 4% per year has a 4% yield. </a:t>
            </a:r>
          </a:p>
        </p:txBody>
      </p:sp>
    </p:spTree>
    <p:extLst>
      <p:ext uri="{BB962C8B-B14F-4D97-AF65-F5344CB8AC3E}">
        <p14:creationId xmlns="" xmlns:p14="http://schemas.microsoft.com/office/powerpoint/2010/main" val="27512652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3" name="TextBox 2"/>
          <p:cNvSpPr txBox="1"/>
          <p:nvPr/>
        </p:nvSpPr>
        <p:spPr>
          <a:xfrm>
            <a:off x="520102" y="971143"/>
            <a:ext cx="7580290" cy="507831"/>
          </a:xfrm>
          <a:prstGeom prst="rect">
            <a:avLst/>
          </a:prstGeom>
          <a:noFill/>
        </p:spPr>
        <p:txBody>
          <a:bodyPr wrap="square" rtlCol="0">
            <a:spAutoFit/>
          </a:bodyPr>
          <a:lstStyle/>
          <a:p>
            <a:pPr algn="ctr" fontAlgn="t">
              <a:lnSpc>
                <a:spcPct val="150000"/>
              </a:lnSpc>
              <a:tabLst>
                <a:tab pos="465138" algn="l"/>
              </a:tabLst>
            </a:pPr>
            <a:r>
              <a:rPr lang="en-US" b="1" dirty="0">
                <a:latin typeface="Arial" pitchFamily="34" charset="0"/>
                <a:cs typeface="Arial" pitchFamily="34" charset="0"/>
              </a:rPr>
              <a:t>So what are the uses of the Yield Curve?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
        <p:nvSpPr>
          <p:cNvPr id="5" name="TextBox 4"/>
          <p:cNvSpPr txBox="1"/>
          <p:nvPr/>
        </p:nvSpPr>
        <p:spPr>
          <a:xfrm>
            <a:off x="520102" y="1484784"/>
            <a:ext cx="7796314" cy="3970318"/>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Yield </a:t>
            </a:r>
            <a:r>
              <a:rPr lang="en-US" b="1" dirty="0">
                <a:latin typeface="Arial" pitchFamily="34" charset="0"/>
                <a:cs typeface="Arial" pitchFamily="34" charset="0"/>
              </a:rPr>
              <a:t>curves are used by fixed income </a:t>
            </a:r>
            <a:r>
              <a:rPr lang="en-US" b="1" dirty="0" smtClean="0">
                <a:latin typeface="Arial" pitchFamily="34" charset="0"/>
                <a:cs typeface="Arial" pitchFamily="34" charset="0"/>
              </a:rPr>
              <a:t>analysts </a:t>
            </a:r>
            <a:r>
              <a:rPr lang="en-US" b="1" dirty="0">
                <a:latin typeface="Arial" pitchFamily="34" charset="0"/>
                <a:cs typeface="Arial" pitchFamily="34" charset="0"/>
              </a:rPr>
              <a:t>who analyze bonds and related </a:t>
            </a:r>
            <a:r>
              <a:rPr lang="en-US" b="1" dirty="0" smtClean="0">
                <a:latin typeface="Arial" pitchFamily="34" charset="0"/>
                <a:cs typeface="Arial" pitchFamily="34" charset="0"/>
              </a:rPr>
              <a:t>securities </a:t>
            </a:r>
            <a:r>
              <a:rPr lang="en-US" b="1" dirty="0">
                <a:latin typeface="Arial" pitchFamily="34" charset="0"/>
                <a:cs typeface="Arial" pitchFamily="34" charset="0"/>
              </a:rPr>
              <a:t>to understand conditions in financial markets and </a:t>
            </a:r>
            <a:r>
              <a:rPr lang="en-US" b="1" dirty="0" smtClean="0">
                <a:latin typeface="Arial" pitchFamily="34" charset="0"/>
                <a:cs typeface="Arial" pitchFamily="34" charset="0"/>
              </a:rPr>
              <a:t>seek </a:t>
            </a:r>
            <a:r>
              <a:rPr lang="en-US" b="1" dirty="0">
                <a:latin typeface="Arial" pitchFamily="34" charset="0"/>
                <a:cs typeface="Arial" pitchFamily="34" charset="0"/>
              </a:rPr>
              <a:t>trading opportunities. </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Economists </a:t>
            </a:r>
            <a:r>
              <a:rPr lang="en-US" b="1" dirty="0">
                <a:latin typeface="Arial" pitchFamily="34" charset="0"/>
                <a:cs typeface="Arial" pitchFamily="34" charset="0"/>
              </a:rPr>
              <a:t>use the </a:t>
            </a:r>
            <a:r>
              <a:rPr lang="en-US" b="1" dirty="0" smtClean="0">
                <a:latin typeface="Arial" pitchFamily="34" charset="0"/>
                <a:cs typeface="Arial" pitchFamily="34" charset="0"/>
              </a:rPr>
              <a:t>curve </a:t>
            </a:r>
            <a:r>
              <a:rPr lang="en-US" b="1" dirty="0">
                <a:latin typeface="Arial" pitchFamily="34" charset="0"/>
                <a:cs typeface="Arial" pitchFamily="34" charset="0"/>
              </a:rPr>
              <a:t>to understand economic conditions.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 </a:t>
            </a:r>
            <a:r>
              <a:rPr lang="en-US" b="1" dirty="0">
                <a:latin typeface="Arial" pitchFamily="34" charset="0"/>
                <a:cs typeface="Arial" pitchFamily="34" charset="0"/>
              </a:rPr>
              <a:t>yield curve function Y is actually only known with certainty for a few specific maturity dates. The other maturities are calculated by interpolation. </a:t>
            </a:r>
          </a:p>
        </p:txBody>
      </p:sp>
    </p:spTree>
    <p:extLst>
      <p:ext uri="{BB962C8B-B14F-4D97-AF65-F5344CB8AC3E}">
        <p14:creationId xmlns="" xmlns:p14="http://schemas.microsoft.com/office/powerpoint/2010/main" val="6781085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pic>
        <p:nvPicPr>
          <p:cNvPr id="6" name="Picture 8" descr="basic_yield_curv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653436" y="1388302"/>
            <a:ext cx="5510852" cy="3840898"/>
          </a:xfrm>
          <a:prstGeom prst="rect">
            <a:avLst/>
          </a:prstGeom>
          <a:noFill/>
          <a:effectLst>
            <a:outerShdw blurRad="177800" dir="5580000" sx="103000" sy="103000" algn="tl" rotWithShape="0">
              <a:prstClr val="black">
                <a:alpha val="40000"/>
              </a:prstClr>
            </a:outerShdw>
          </a:effectLst>
          <a:extLst>
            <a:ext uri="{909E8E84-426E-40DD-AFC4-6F175D3DCCD1}">
              <a14:hiddenFill xmlns="" xmlns:a14="http://schemas.microsoft.com/office/drawing/2010/main">
                <a:solidFill>
                  <a:srgbClr val="FFFFFF"/>
                </a:solidFill>
              </a14:hiddenFill>
            </a:ext>
          </a:extLst>
        </p:spPr>
      </p:pic>
      <p:sp>
        <p:nvSpPr>
          <p:cNvPr id="7" name="Rectangle 6"/>
          <p:cNvSpPr/>
          <p:nvPr/>
        </p:nvSpPr>
        <p:spPr>
          <a:xfrm>
            <a:off x="755576" y="980728"/>
            <a:ext cx="7272808" cy="369332"/>
          </a:xfrm>
          <a:prstGeom prst="rect">
            <a:avLst/>
          </a:prstGeom>
        </p:spPr>
        <p:txBody>
          <a:bodyPr wrap="square">
            <a:spAutoFit/>
          </a:bodyPr>
          <a:lstStyle/>
          <a:p>
            <a:pPr algn="ctr"/>
            <a:r>
              <a:rPr lang="en-US" b="1" dirty="0">
                <a:latin typeface="Arial" pitchFamily="34" charset="0"/>
                <a:cs typeface="Arial" pitchFamily="34" charset="0"/>
              </a:rPr>
              <a:t>The typical shape of </a:t>
            </a:r>
            <a:r>
              <a:rPr lang="en-US" b="1" dirty="0" smtClean="0">
                <a:latin typeface="Arial" pitchFamily="34" charset="0"/>
                <a:cs typeface="Arial" pitchFamily="34" charset="0"/>
              </a:rPr>
              <a:t>a Yield </a:t>
            </a:r>
            <a:r>
              <a:rPr lang="en-US" b="1" dirty="0">
                <a:latin typeface="Arial" pitchFamily="34" charset="0"/>
                <a:cs typeface="Arial" pitchFamily="34" charset="0"/>
              </a:rPr>
              <a:t>Curve</a:t>
            </a:r>
          </a:p>
        </p:txBody>
      </p:sp>
    </p:spTree>
    <p:extLst>
      <p:ext uri="{BB962C8B-B14F-4D97-AF65-F5344CB8AC3E}">
        <p14:creationId xmlns="" xmlns:p14="http://schemas.microsoft.com/office/powerpoint/2010/main" val="41830583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71143"/>
            <a:ext cx="7580290" cy="507831"/>
          </a:xfrm>
          <a:prstGeom prst="rect">
            <a:avLst/>
          </a:prstGeom>
          <a:noFill/>
        </p:spPr>
        <p:txBody>
          <a:bodyPr wrap="square" rtlCol="0">
            <a:spAutoFit/>
          </a:bodyPr>
          <a:lstStyle/>
          <a:p>
            <a:pPr algn="ctr" fontAlgn="t">
              <a:lnSpc>
                <a:spcPct val="150000"/>
              </a:lnSpc>
              <a:tabLst>
                <a:tab pos="465138" algn="l"/>
              </a:tabLst>
            </a:pPr>
            <a:r>
              <a:rPr lang="en-US" b="1" dirty="0">
                <a:latin typeface="Arial" pitchFamily="34" charset="0"/>
                <a:cs typeface="Arial" pitchFamily="34" charset="0"/>
              </a:rPr>
              <a:t>Now…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
        <p:nvSpPr>
          <p:cNvPr id="5" name="TextBox 4"/>
          <p:cNvSpPr txBox="1"/>
          <p:nvPr/>
        </p:nvSpPr>
        <p:spPr>
          <a:xfrm>
            <a:off x="520102" y="1550690"/>
            <a:ext cx="7580290" cy="1754326"/>
          </a:xfrm>
          <a:prstGeom prst="rect">
            <a:avLst/>
          </a:prstGeom>
          <a:noFill/>
        </p:spPr>
        <p:txBody>
          <a:bodyPr wrap="square" rtlCol="0">
            <a:spAutoFit/>
          </a:bodyPr>
          <a:lstStyle/>
          <a:p>
            <a:pPr>
              <a:lnSpc>
                <a:spcPct val="150000"/>
              </a:lnSpc>
              <a:buFontTx/>
              <a:buNone/>
            </a:pPr>
            <a:r>
              <a:rPr lang="en-US" b="1" dirty="0" smtClean="0">
                <a:latin typeface="Arial" pitchFamily="34" charset="0"/>
                <a:cs typeface="Arial" pitchFamily="34" charset="0"/>
              </a:rPr>
              <a:t>Yield </a:t>
            </a:r>
            <a:r>
              <a:rPr lang="en-US" b="1" dirty="0">
                <a:latin typeface="Arial" pitchFamily="34" charset="0"/>
                <a:cs typeface="Arial" pitchFamily="34" charset="0"/>
              </a:rPr>
              <a:t>curves are usually upward sloping i.e. the longer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maturity</a:t>
            </a:r>
            <a:r>
              <a:rPr lang="en-US" b="1" dirty="0">
                <a:latin typeface="Arial" pitchFamily="34" charset="0"/>
                <a:cs typeface="Arial" pitchFamily="34" charset="0"/>
              </a:rPr>
              <a:t>, the higher the yield, with diminishing marginal growth (which means that after a point every increase in </a:t>
            </a:r>
            <a:r>
              <a:rPr lang="en-US" b="1" dirty="0" smtClean="0">
                <a:latin typeface="Arial" pitchFamily="34" charset="0"/>
                <a:cs typeface="Arial" pitchFamily="34" charset="0"/>
              </a:rPr>
              <a:t>duration</a:t>
            </a:r>
            <a:br>
              <a:rPr lang="en-US" b="1" dirty="0" smtClean="0">
                <a:latin typeface="Arial" pitchFamily="34" charset="0"/>
                <a:cs typeface="Arial" pitchFamily="34" charset="0"/>
              </a:rPr>
            </a:br>
            <a:r>
              <a:rPr lang="en-US" b="1" dirty="0" smtClean="0">
                <a:latin typeface="Arial" pitchFamily="34" charset="0"/>
                <a:cs typeface="Arial" pitchFamily="34" charset="0"/>
              </a:rPr>
              <a:t>will </a:t>
            </a:r>
            <a:r>
              <a:rPr lang="en-US" b="1" dirty="0">
                <a:latin typeface="Arial" pitchFamily="34" charset="0"/>
                <a:cs typeface="Arial" pitchFamily="34" charset="0"/>
              </a:rPr>
              <a:t>bring lesser incremental return).</a:t>
            </a:r>
          </a:p>
        </p:txBody>
      </p:sp>
    </p:spTree>
    <p:extLst>
      <p:ext uri="{BB962C8B-B14F-4D97-AF65-F5344CB8AC3E}">
        <p14:creationId xmlns="" xmlns:p14="http://schemas.microsoft.com/office/powerpoint/2010/main" val="32945812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71143"/>
            <a:ext cx="7580290" cy="507831"/>
          </a:xfrm>
          <a:prstGeom prst="rect">
            <a:avLst/>
          </a:prstGeom>
          <a:noFill/>
        </p:spPr>
        <p:txBody>
          <a:bodyPr wrap="square" rtlCol="0">
            <a:spAutoFit/>
          </a:bodyPr>
          <a:lstStyle/>
          <a:p>
            <a:pPr algn="ctr" fontAlgn="t">
              <a:lnSpc>
                <a:spcPct val="150000"/>
              </a:lnSpc>
              <a:tabLst>
                <a:tab pos="465138" algn="l"/>
              </a:tabLst>
            </a:pPr>
            <a:r>
              <a:rPr lang="en-US" b="1" dirty="0">
                <a:latin typeface="Arial" pitchFamily="34" charset="0"/>
                <a:cs typeface="Arial" pitchFamily="34" charset="0"/>
              </a:rPr>
              <a:t>This is because…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
        <p:nvSpPr>
          <p:cNvPr id="5" name="TextBox 4"/>
          <p:cNvSpPr txBox="1"/>
          <p:nvPr/>
        </p:nvSpPr>
        <p:spPr>
          <a:xfrm>
            <a:off x="520102" y="1550690"/>
            <a:ext cx="7580290" cy="3391954"/>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sz="2000" b="1" dirty="0">
                <a:latin typeface="Arial" pitchFamily="34" charset="0"/>
                <a:cs typeface="Arial" pitchFamily="34" charset="0"/>
              </a:rPr>
              <a:t>It </a:t>
            </a:r>
            <a:r>
              <a:rPr lang="en-US" b="1" dirty="0">
                <a:latin typeface="Arial" pitchFamily="34" charset="0"/>
                <a:cs typeface="Arial" pitchFamily="34" charset="0"/>
              </a:rPr>
              <a:t>is easier to predict the near term as against the long term. </a:t>
            </a:r>
            <a:endParaRPr lang="en-US" b="1" dirty="0" smtClean="0">
              <a:latin typeface="Arial" pitchFamily="34" charset="0"/>
              <a:cs typeface="Arial" pitchFamily="34" charset="0"/>
            </a:endParaRP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Hence, short term papers are usually held by the investor</a:t>
            </a:r>
            <a:br>
              <a:rPr lang="en-US" b="1" dirty="0" smtClean="0">
                <a:latin typeface="Arial" pitchFamily="34" charset="0"/>
                <a:cs typeface="Arial" pitchFamily="34" charset="0"/>
              </a:rPr>
            </a:br>
            <a:r>
              <a:rPr lang="en-US" b="1" dirty="0" smtClean="0">
                <a:latin typeface="Arial" pitchFamily="34" charset="0"/>
                <a:cs typeface="Arial" pitchFamily="34" charset="0"/>
              </a:rPr>
              <a:t>till its maturity.</a:t>
            </a:r>
            <a:endParaRPr lang="en-US" b="1" dirty="0">
              <a:latin typeface="Arial" pitchFamily="34" charset="0"/>
              <a:cs typeface="Arial" pitchFamily="34" charset="0"/>
            </a:endParaRPr>
          </a:p>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And long term instruments are usually traded in the </a:t>
            </a:r>
            <a:r>
              <a:rPr lang="en-US" b="1" dirty="0" smtClean="0">
                <a:latin typeface="Arial" pitchFamily="34" charset="0"/>
                <a:cs typeface="Arial" pitchFamily="34" charset="0"/>
              </a:rPr>
              <a:t>market</a:t>
            </a:r>
            <a:br>
              <a:rPr lang="en-US" b="1" dirty="0" smtClean="0">
                <a:latin typeface="Arial" pitchFamily="34" charset="0"/>
                <a:cs typeface="Arial" pitchFamily="34" charset="0"/>
              </a:rPr>
            </a:br>
            <a:r>
              <a:rPr lang="en-US" b="1" dirty="0" smtClean="0">
                <a:latin typeface="Arial" pitchFamily="34" charset="0"/>
                <a:cs typeface="Arial" pitchFamily="34" charset="0"/>
              </a:rPr>
              <a:t>as </a:t>
            </a:r>
            <a:r>
              <a:rPr lang="en-US" b="1" dirty="0">
                <a:latin typeface="Arial" pitchFamily="34" charset="0"/>
                <a:cs typeface="Arial" pitchFamily="34" charset="0"/>
              </a:rPr>
              <a:t>their returns get affected by changes in interest </a:t>
            </a:r>
            <a:r>
              <a:rPr lang="en-US" b="1" dirty="0" smtClean="0">
                <a:latin typeface="Arial" pitchFamily="34" charset="0"/>
                <a:cs typeface="Arial" pitchFamily="34" charset="0"/>
              </a:rPr>
              <a:t>rates,</a:t>
            </a:r>
            <a:br>
              <a:rPr lang="en-US" b="1" dirty="0" smtClean="0">
                <a:latin typeface="Arial" pitchFamily="34" charset="0"/>
                <a:cs typeface="Arial" pitchFamily="34" charset="0"/>
              </a:rPr>
            </a:br>
            <a:r>
              <a:rPr lang="en-US" b="1" dirty="0" smtClean="0">
                <a:latin typeface="Arial" pitchFamily="34" charset="0"/>
                <a:cs typeface="Arial" pitchFamily="34" charset="0"/>
              </a:rPr>
              <a:t>which </a:t>
            </a:r>
            <a:r>
              <a:rPr lang="en-US" b="1" dirty="0">
                <a:latin typeface="Arial" pitchFamily="34" charset="0"/>
                <a:cs typeface="Arial" pitchFamily="34" charset="0"/>
              </a:rPr>
              <a:t>occur regularly in an economy.</a:t>
            </a:r>
          </a:p>
        </p:txBody>
      </p:sp>
    </p:spTree>
    <p:extLst>
      <p:ext uri="{BB962C8B-B14F-4D97-AF65-F5344CB8AC3E}">
        <p14:creationId xmlns="" xmlns:p14="http://schemas.microsoft.com/office/powerpoint/2010/main" val="31897295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71143"/>
            <a:ext cx="7580290" cy="507831"/>
          </a:xfrm>
          <a:prstGeom prst="rect">
            <a:avLst/>
          </a:prstGeom>
          <a:noFill/>
        </p:spPr>
        <p:txBody>
          <a:bodyPr wrap="square" rtlCol="0">
            <a:spAutoFit/>
          </a:bodyPr>
          <a:lstStyle/>
          <a:p>
            <a:pPr algn="ctr" fontAlgn="t">
              <a:lnSpc>
                <a:spcPct val="150000"/>
              </a:lnSpc>
              <a:tabLst>
                <a:tab pos="465138" algn="l"/>
              </a:tabLst>
            </a:pPr>
            <a:r>
              <a:rPr lang="en-US" b="1" dirty="0">
                <a:latin typeface="Arial" pitchFamily="34" charset="0"/>
                <a:cs typeface="Arial" pitchFamily="34" charset="0"/>
              </a:rPr>
              <a:t>Also…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
        <p:nvSpPr>
          <p:cNvPr id="5" name="TextBox 4"/>
          <p:cNvSpPr txBox="1"/>
          <p:nvPr/>
        </p:nvSpPr>
        <p:spPr>
          <a:xfrm>
            <a:off x="520102" y="1412776"/>
            <a:ext cx="7580290" cy="2862322"/>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The yield curve can also be flat or even concave in shape where the short term yield is seen to be more than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long </a:t>
            </a:r>
            <a:r>
              <a:rPr lang="en-US" b="1" dirty="0">
                <a:latin typeface="Arial" pitchFamily="34" charset="0"/>
                <a:cs typeface="Arial" pitchFamily="34" charset="0"/>
              </a:rPr>
              <a:t>term yield</a:t>
            </a:r>
            <a:r>
              <a:rPr lang="en-US" b="1" dirty="0" smtClean="0">
                <a:latin typeface="Arial" pitchFamily="34" charset="0"/>
                <a:cs typeface="Arial" pitchFamily="34" charset="0"/>
              </a:rPr>
              <a:t>.</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Yield </a:t>
            </a:r>
            <a:r>
              <a:rPr lang="en-US" b="1" dirty="0">
                <a:latin typeface="Arial" pitchFamily="34" charset="0"/>
                <a:cs typeface="Arial" pitchFamily="34" charset="0"/>
              </a:rPr>
              <a:t>curves move on a daily basis, reflecting the market's reaction to news.</a:t>
            </a:r>
          </a:p>
        </p:txBody>
      </p:sp>
    </p:spTree>
    <p:extLst>
      <p:ext uri="{BB962C8B-B14F-4D97-AF65-F5344CB8AC3E}">
        <p14:creationId xmlns="" xmlns:p14="http://schemas.microsoft.com/office/powerpoint/2010/main" val="35237685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809321"/>
            <a:ext cx="3811488"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concept </a:t>
            </a:r>
            <a:r>
              <a:rPr lang="en-US" b="1" dirty="0" smtClean="0">
                <a:latin typeface="Arial" pitchFamily="34" charset="0"/>
                <a:cs typeface="Arial" pitchFamily="34" charset="0"/>
              </a:rPr>
              <a:t>of Yield </a:t>
            </a:r>
            <a:r>
              <a:rPr lang="en-US" b="1" dirty="0">
                <a:latin typeface="Arial" pitchFamily="34" charset="0"/>
                <a:cs typeface="Arial" pitchFamily="34" charset="0"/>
              </a:rPr>
              <a:t>Curve</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UNRAVELING YIELD CURVE</a:t>
            </a:r>
          </a:p>
        </p:txBody>
      </p:sp>
    </p:spTree>
    <p:extLst>
      <p:ext uri="{BB962C8B-B14F-4D97-AF65-F5344CB8AC3E}">
        <p14:creationId xmlns="" xmlns:p14="http://schemas.microsoft.com/office/powerpoint/2010/main" val="935328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8" y="1268760"/>
            <a:ext cx="3024337" cy="1338828"/>
          </a:xfrm>
          <a:prstGeom prst="rect">
            <a:avLst/>
          </a:prstGeom>
          <a:noFill/>
        </p:spPr>
        <p:txBody>
          <a:bodyPr wrap="square" rtlCol="0">
            <a:spAutoFit/>
          </a:bodyPr>
          <a:lstStyle/>
          <a:p>
            <a:pPr>
              <a:lnSpc>
                <a:spcPct val="150000"/>
              </a:lnSpc>
              <a:spcBef>
                <a:spcPct val="20000"/>
              </a:spcBef>
            </a:pPr>
            <a:r>
              <a:rPr lang="en-US" b="1" dirty="0">
                <a:latin typeface="Arial" pitchFamily="34" charset="0"/>
                <a:cs typeface="Arial" pitchFamily="34" charset="0"/>
              </a:rPr>
              <a:t>In case of any query, please e-mail</a:t>
            </a:r>
            <a:r>
              <a:rPr lang="en-US" dirty="0">
                <a:solidFill>
                  <a:schemeClr val="bg1"/>
                </a:solidFill>
              </a:rPr>
              <a:t> </a:t>
            </a: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1846</TotalTime>
  <Words>443</Words>
  <Application>Microsoft Office PowerPoint</Application>
  <PresentationFormat>On-screen Show (4:3)</PresentationFormat>
  <Paragraphs>35</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185</cp:revision>
  <dcterms:created xsi:type="dcterms:W3CDTF">2013-10-22T09:41:31Z</dcterms:created>
  <dcterms:modified xsi:type="dcterms:W3CDTF">2014-09-19T13:13:37Z</dcterms:modified>
</cp:coreProperties>
</file>