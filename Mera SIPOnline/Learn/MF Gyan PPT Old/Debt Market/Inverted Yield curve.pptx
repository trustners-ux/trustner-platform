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318" r:id="rId3"/>
    <p:sldId id="329" r:id="rId4"/>
    <p:sldId id="276" r:id="rId5"/>
    <p:sldId id="312" r:id="rId6"/>
    <p:sldId id="339" r:id="rId7"/>
    <p:sldId id="349" r:id="rId8"/>
    <p:sldId id="350" r:id="rId9"/>
    <p:sldId id="351" r:id="rId10"/>
    <p:sldId id="352" r:id="rId11"/>
    <p:sldId id="353" r:id="rId12"/>
    <p:sldId id="354" r:id="rId13"/>
    <p:sldId id="355" r:id="rId14"/>
    <p:sldId id="348" r:id="rId15"/>
    <p:sldId id="287" r:id="rId16"/>
    <p:sldId id="273"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735" autoAdjust="0"/>
    <p:restoredTop sz="94595" autoAdjust="0"/>
  </p:normalViewPr>
  <p:slideViewPr>
    <p:cSldViewPr>
      <p:cViewPr>
        <p:scale>
          <a:sx n="50" d="100"/>
          <a:sy n="50" d="100"/>
        </p:scale>
        <p:origin x="-1699" y="-12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9/17/2014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9/17/2014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9/17/2014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9/17/2014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9/17/2014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9/17/2014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9/17/2014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implysimple.in/" TargetMode="External"/><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28662" y="2755060"/>
            <a:ext cx="4144544"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INVERTED YIELD CURVE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7" name="TextBox 6"/>
          <p:cNvSpPr txBox="1"/>
          <p:nvPr/>
        </p:nvSpPr>
        <p:spPr>
          <a:xfrm>
            <a:off x="1571604" y="1500174"/>
            <a:ext cx="2714644" cy="1394228"/>
          </a:xfrm>
          <a:prstGeom prst="rect">
            <a:avLst/>
          </a:prstGeom>
          <a:noFill/>
        </p:spPr>
        <p:txBody>
          <a:bodyPr wrap="square" rtlCol="0">
            <a:spAutoFit/>
          </a:bodyPr>
          <a:lstStyle/>
          <a:p>
            <a:pPr>
              <a:lnSpc>
                <a:spcPct val="150000"/>
              </a:lnSpc>
              <a:spcBef>
                <a:spcPct val="20000"/>
              </a:spcBef>
            </a:pPr>
            <a:r>
              <a:rPr lang="en-US" b="1" dirty="0" smtClean="0">
                <a:latin typeface="Arial" pitchFamily="34" charset="0"/>
                <a:cs typeface="Arial" pitchFamily="34" charset="0"/>
              </a:rPr>
              <a:t>Understanding</a:t>
            </a:r>
          </a:p>
          <a:p>
            <a:pPr>
              <a:lnSpc>
                <a:spcPct val="150000"/>
              </a:lnSpc>
              <a:spcBef>
                <a:spcPct val="20000"/>
              </a:spcBef>
            </a:pPr>
            <a:r>
              <a:rPr lang="en-US" b="1" dirty="0" smtClean="0">
                <a:latin typeface="Arial" pitchFamily="34" charset="0"/>
                <a:cs typeface="Arial" pitchFamily="34" charset="0"/>
              </a:rPr>
              <a:t>The meaning of an</a:t>
            </a:r>
            <a:br>
              <a:rPr lang="en-US" b="1" dirty="0" smtClean="0">
                <a:latin typeface="Arial" pitchFamily="34" charset="0"/>
                <a:cs typeface="Arial" pitchFamily="34" charset="0"/>
              </a:rPr>
            </a:br>
            <a:r>
              <a:rPr lang="en-US" b="1" dirty="0" smtClean="0">
                <a:latin typeface="Arial" pitchFamily="34" charset="0"/>
                <a:cs typeface="Arial" pitchFamily="34" charset="0"/>
              </a:rPr>
              <a:t>‘Inverted Yield curve’.</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71934" y="4071942"/>
            <a:ext cx="4286280" cy="2169825"/>
          </a:xfrm>
          <a:prstGeom prst="rect">
            <a:avLst/>
          </a:prstGeom>
        </p:spPr>
        <p:txBody>
          <a:bodyPr wrap="square">
            <a:spAutoFit/>
          </a:bodyPr>
          <a:lstStyle/>
          <a:p>
            <a:pPr>
              <a:lnSpc>
                <a:spcPct val="150000"/>
              </a:lnSpc>
            </a:pPr>
            <a:r>
              <a:rPr lang="en-US" b="1" dirty="0" smtClean="0">
                <a:latin typeface="Arial" pitchFamily="34" charset="0"/>
                <a:cs typeface="Arial" pitchFamily="34" charset="0"/>
              </a:rPr>
              <a:t>The "Yield Curve” is a graphical representation of interest rates on securities of different </a:t>
            </a:r>
            <a:r>
              <a:rPr lang="en-US" b="1" dirty="0" smtClean="0">
                <a:latin typeface="Arial" pitchFamily="34" charset="0"/>
                <a:cs typeface="Arial" pitchFamily="34" charset="0"/>
              </a:rPr>
              <a:t>maturities, </a:t>
            </a:r>
            <a:r>
              <a:rPr lang="en-US" b="1" dirty="0" smtClean="0">
                <a:latin typeface="Arial" pitchFamily="34" charset="0"/>
                <a:cs typeface="Arial" pitchFamily="34" charset="0"/>
              </a:rPr>
              <a:t>ranging from short to longest tenure </a:t>
            </a:r>
            <a:r>
              <a:rPr lang="en-US" b="1" dirty="0" smtClean="0">
                <a:latin typeface="Arial" pitchFamily="34" charset="0"/>
                <a:cs typeface="Arial" pitchFamily="34" charset="0"/>
              </a:rPr>
              <a:t>bonds.</a:t>
            </a:r>
            <a:endParaRPr lang="en-US" b="1" dirty="0" smtClean="0">
              <a:latin typeface="Arial" pitchFamily="34" charset="0"/>
              <a:cs typeface="Arial" pitchFamily="34" charset="0"/>
            </a:endParaRPr>
          </a:p>
        </p:txBody>
      </p:sp>
      <p:sp>
        <p:nvSpPr>
          <p:cNvPr id="6" name="TextBox 5"/>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INVERTED YIELD CURVE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Rectangle 4"/>
          <p:cNvSpPr/>
          <p:nvPr/>
        </p:nvSpPr>
        <p:spPr>
          <a:xfrm>
            <a:off x="6516216" y="6073551"/>
            <a:ext cx="1876155" cy="307777"/>
          </a:xfrm>
          <a:prstGeom prst="rect">
            <a:avLst/>
          </a:prstGeom>
        </p:spPr>
        <p:txBody>
          <a:bodyPr wrap="none">
            <a:spAutoFit/>
          </a:bodyPr>
          <a:lstStyle/>
          <a:p>
            <a:r>
              <a:rPr lang="en-US" sz="1400" dirty="0" smtClean="0">
                <a:hlinkClick r:id="rId3"/>
              </a:rPr>
              <a:t>http://simplysimple.in/</a:t>
            </a:r>
            <a:endParaRPr lang="en-US" sz="1400" dirty="0"/>
          </a:p>
        </p:txBody>
      </p:sp>
      <p:sp>
        <p:nvSpPr>
          <p:cNvPr id="9" name="TextBox 8"/>
          <p:cNvSpPr txBox="1"/>
          <p:nvPr/>
        </p:nvSpPr>
        <p:spPr>
          <a:xfrm>
            <a:off x="683568" y="1071546"/>
            <a:ext cx="7674646" cy="464871"/>
          </a:xfrm>
          <a:prstGeom prst="rect">
            <a:avLst/>
          </a:prstGeom>
          <a:noFill/>
        </p:spPr>
        <p:txBody>
          <a:bodyPr wrap="square" rtlCol="0">
            <a:spAutoFit/>
          </a:bodyPr>
          <a:lstStyle/>
          <a:p>
            <a:pPr algn="ctr">
              <a:lnSpc>
                <a:spcPct val="150000"/>
              </a:lnSpc>
            </a:pPr>
            <a:r>
              <a:rPr lang="en-US" b="1" dirty="0" smtClean="0">
                <a:latin typeface="Arial" pitchFamily="34" charset="0"/>
                <a:cs typeface="Arial" pitchFamily="34" charset="0"/>
              </a:rPr>
              <a:t>This is how the “Normal Yield Curve” typically looks like. </a:t>
            </a:r>
            <a:endParaRPr lang="en-US" b="1" dirty="0">
              <a:latin typeface="Arial" pitchFamily="34" charset="0"/>
              <a:cs typeface="Arial" pitchFamily="34" charset="0"/>
            </a:endParaRPr>
          </a:p>
        </p:txBody>
      </p:sp>
      <p:sp>
        <p:nvSpPr>
          <p:cNvPr id="7" name="TextBox 6"/>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INVERTED YIELD CURVE</a:t>
            </a:r>
            <a:endParaRPr lang="en-US" sz="2000" b="1" dirty="0">
              <a:solidFill>
                <a:schemeClr val="bg1"/>
              </a:solidFill>
              <a:latin typeface="Arial" pitchFamily="34" charset="0"/>
              <a:cs typeface="Arial" pitchFamily="34" charset="0"/>
            </a:endParaRPr>
          </a:p>
        </p:txBody>
      </p:sp>
      <p:grpSp>
        <p:nvGrpSpPr>
          <p:cNvPr id="18" name="Group 10"/>
          <p:cNvGrpSpPr>
            <a:grpSpLocks/>
          </p:cNvGrpSpPr>
          <p:nvPr/>
        </p:nvGrpSpPr>
        <p:grpSpPr bwMode="auto">
          <a:xfrm>
            <a:off x="2357422" y="1643050"/>
            <a:ext cx="5487987" cy="4113212"/>
            <a:chOff x="2894806" y="2210594"/>
            <a:chExt cx="5487194" cy="4114006"/>
          </a:xfrm>
        </p:grpSpPr>
        <p:cxnSp>
          <p:nvCxnSpPr>
            <p:cNvPr id="19" name="Straight Arrow Connector 18"/>
            <p:cNvCxnSpPr/>
            <p:nvPr/>
          </p:nvCxnSpPr>
          <p:spPr>
            <a:xfrm>
              <a:off x="2896393" y="5638668"/>
              <a:ext cx="5485607"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flipH="1" flipV="1">
              <a:off x="1180769" y="3924631"/>
              <a:ext cx="3429662" cy="158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1" name="Arc 20"/>
            <p:cNvSpPr/>
            <p:nvPr/>
          </p:nvSpPr>
          <p:spPr>
            <a:xfrm rot="16200000">
              <a:off x="4114941" y="2895620"/>
              <a:ext cx="2819944" cy="4038016"/>
            </a:xfrm>
            <a:prstGeom prst="arc">
              <a:avLst>
                <a:gd name="adj1" fmla="val 16622662"/>
                <a:gd name="adj2" fmla="val 1135888"/>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grpSp>
        <p:nvGrpSpPr>
          <p:cNvPr id="22" name="Group 23"/>
          <p:cNvGrpSpPr>
            <a:grpSpLocks/>
          </p:cNvGrpSpPr>
          <p:nvPr/>
        </p:nvGrpSpPr>
        <p:grpSpPr bwMode="auto">
          <a:xfrm>
            <a:off x="2968609" y="5451462"/>
            <a:ext cx="4572000" cy="369888"/>
            <a:chOff x="3505200" y="6019800"/>
            <a:chExt cx="4572000" cy="369332"/>
          </a:xfrm>
        </p:grpSpPr>
        <p:cxnSp>
          <p:nvCxnSpPr>
            <p:cNvPr id="23" name="Straight Arrow Connector 22"/>
            <p:cNvCxnSpPr/>
            <p:nvPr/>
          </p:nvCxnSpPr>
          <p:spPr>
            <a:xfrm rot="10800000">
              <a:off x="3505200" y="6171971"/>
              <a:ext cx="1447800" cy="15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TextBox 13"/>
            <p:cNvSpPr txBox="1">
              <a:spLocks noChangeArrowheads="1"/>
            </p:cNvSpPr>
            <p:nvPr/>
          </p:nvSpPr>
          <p:spPr bwMode="auto">
            <a:xfrm>
              <a:off x="5029200" y="6019800"/>
              <a:ext cx="2743200" cy="369332"/>
            </a:xfrm>
            <a:prstGeom prst="rect">
              <a:avLst/>
            </a:prstGeom>
            <a:noFill/>
            <a:ln w="9525">
              <a:noFill/>
              <a:miter lim="800000"/>
              <a:headEnd/>
              <a:tailEnd/>
            </a:ln>
          </p:spPr>
          <p:txBody>
            <a:bodyPr>
              <a:spAutoFit/>
            </a:bodyPr>
            <a:lstStyle/>
            <a:p>
              <a:r>
                <a:rPr lang="en-US" b="1" dirty="0">
                  <a:latin typeface="Arial" pitchFamily="34" charset="0"/>
                  <a:cs typeface="Arial" pitchFamily="34" charset="0"/>
                </a:rPr>
                <a:t>Maturity</a:t>
              </a:r>
            </a:p>
          </p:txBody>
        </p:sp>
        <p:cxnSp>
          <p:nvCxnSpPr>
            <p:cNvPr id="25" name="Straight Arrow Connector 24"/>
            <p:cNvCxnSpPr/>
            <p:nvPr/>
          </p:nvCxnSpPr>
          <p:spPr>
            <a:xfrm>
              <a:off x="6172200" y="6213184"/>
              <a:ext cx="1905000" cy="158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26" name="Straight Arrow Connector 25"/>
          <p:cNvCxnSpPr/>
          <p:nvPr/>
        </p:nvCxnSpPr>
        <p:spPr>
          <a:xfrm rot="5400000" flipH="1" flipV="1">
            <a:off x="1674797" y="2251062"/>
            <a:ext cx="60801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7" name="Group 22"/>
          <p:cNvGrpSpPr>
            <a:grpSpLocks/>
          </p:cNvGrpSpPr>
          <p:nvPr/>
        </p:nvGrpSpPr>
        <p:grpSpPr bwMode="auto">
          <a:xfrm>
            <a:off x="1825609" y="2528875"/>
            <a:ext cx="304800" cy="2314575"/>
            <a:chOff x="2362200" y="3096904"/>
            <a:chExt cx="304800" cy="2314090"/>
          </a:xfrm>
        </p:grpSpPr>
        <p:sp>
          <p:nvSpPr>
            <p:cNvPr id="28" name="TextBox 18"/>
            <p:cNvSpPr txBox="1">
              <a:spLocks noChangeArrowheads="1"/>
            </p:cNvSpPr>
            <p:nvPr/>
          </p:nvSpPr>
          <p:spPr bwMode="auto">
            <a:xfrm>
              <a:off x="2362200" y="3096904"/>
              <a:ext cx="304800" cy="1477328"/>
            </a:xfrm>
            <a:prstGeom prst="rect">
              <a:avLst/>
            </a:prstGeom>
            <a:noFill/>
            <a:ln w="9525">
              <a:noFill/>
              <a:miter lim="800000"/>
              <a:headEnd/>
              <a:tailEnd/>
            </a:ln>
          </p:spPr>
          <p:txBody>
            <a:bodyPr>
              <a:spAutoFit/>
            </a:bodyPr>
            <a:lstStyle/>
            <a:p>
              <a:r>
                <a:rPr lang="en-US" b="1" dirty="0">
                  <a:latin typeface="Arial" pitchFamily="34" charset="0"/>
                  <a:cs typeface="Arial" pitchFamily="34" charset="0"/>
                </a:rPr>
                <a:t>Rates</a:t>
              </a:r>
            </a:p>
          </p:txBody>
        </p:sp>
        <p:cxnSp>
          <p:nvCxnSpPr>
            <p:cNvPr id="29" name="Straight Arrow Connector 28"/>
            <p:cNvCxnSpPr>
              <a:stCxn id="28" idx="2"/>
            </p:cNvCxnSpPr>
            <p:nvPr/>
          </p:nvCxnSpPr>
          <p:spPr>
            <a:xfrm rot="5400000">
              <a:off x="2096382" y="4991188"/>
              <a:ext cx="836438"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857224" y="1142984"/>
            <a:ext cx="7215238" cy="3000821"/>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In a typical yield curve </a:t>
            </a:r>
            <a:r>
              <a:rPr lang="en-US" b="1" dirty="0" smtClean="0">
                <a:latin typeface="Arial" pitchFamily="34" charset="0"/>
                <a:cs typeface="Arial" pitchFamily="34" charset="0"/>
              </a:rPr>
              <a:t>scenario, </a:t>
            </a:r>
            <a:r>
              <a:rPr lang="en-US" b="1" dirty="0" smtClean="0">
                <a:latin typeface="Arial" pitchFamily="34" charset="0"/>
                <a:cs typeface="Arial" pitchFamily="34" charset="0"/>
              </a:rPr>
              <a:t>a lender would charge </a:t>
            </a:r>
            <a:r>
              <a:rPr lang="en-US" b="1" dirty="0" smtClean="0">
                <a:latin typeface="Arial" pitchFamily="34" charset="0"/>
                <a:cs typeface="Arial" pitchFamily="34" charset="0"/>
              </a:rPr>
              <a:t>a lower interest </a:t>
            </a:r>
            <a:r>
              <a:rPr lang="en-US" b="1" dirty="0" smtClean="0">
                <a:latin typeface="Arial" pitchFamily="34" charset="0"/>
                <a:cs typeface="Arial" pitchFamily="34" charset="0"/>
              </a:rPr>
              <a:t>if he lends for a </a:t>
            </a:r>
            <a:r>
              <a:rPr lang="en-US" b="1" dirty="0" smtClean="0">
                <a:latin typeface="Arial" pitchFamily="34" charset="0"/>
                <a:cs typeface="Arial" pitchFamily="34" charset="0"/>
              </a:rPr>
              <a:t>shorter time </a:t>
            </a:r>
            <a:r>
              <a:rPr lang="en-US" b="1" dirty="0" smtClean="0">
                <a:latin typeface="Arial" pitchFamily="34" charset="0"/>
                <a:cs typeface="Arial" pitchFamily="34" charset="0"/>
              </a:rPr>
              <a:t>period and higher interest for a longer term loan. </a:t>
            </a:r>
            <a:endParaRPr lang="en-US" b="1" dirty="0" smtClean="0">
              <a:latin typeface="Arial" pitchFamily="34" charset="0"/>
              <a:cs typeface="Arial" pitchFamily="34" charset="0"/>
            </a:endParaRP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This is because he takes a bigger risk for a </a:t>
            </a:r>
            <a:r>
              <a:rPr lang="en-US" b="1" dirty="0" smtClean="0">
                <a:latin typeface="Arial" pitchFamily="34" charset="0"/>
                <a:cs typeface="Arial" pitchFamily="34" charset="0"/>
              </a:rPr>
              <a:t>longer period </a:t>
            </a:r>
            <a:r>
              <a:rPr lang="en-US" b="1" dirty="0" smtClean="0">
                <a:latin typeface="Arial" pitchFamily="34" charset="0"/>
                <a:cs typeface="Arial" pitchFamily="34" charset="0"/>
              </a:rPr>
              <a:t>as he </a:t>
            </a:r>
            <a:r>
              <a:rPr lang="en-US" b="1" dirty="0" smtClean="0">
                <a:latin typeface="Arial" pitchFamily="34" charset="0"/>
                <a:cs typeface="Arial" pitchFamily="34" charset="0"/>
              </a:rPr>
              <a:t>is </a:t>
            </a:r>
            <a:r>
              <a:rPr lang="en-US" b="1" dirty="0" smtClean="0">
                <a:latin typeface="Arial" pitchFamily="34" charset="0"/>
                <a:cs typeface="Arial" pitchFamily="34" charset="0"/>
              </a:rPr>
              <a:t>not </a:t>
            </a:r>
            <a:r>
              <a:rPr lang="en-US" b="1" dirty="0" smtClean="0">
                <a:latin typeface="Arial" pitchFamily="34" charset="0"/>
                <a:cs typeface="Arial" pitchFamily="34" charset="0"/>
              </a:rPr>
              <a:t>too </a:t>
            </a:r>
            <a:r>
              <a:rPr lang="en-US" b="1" dirty="0" smtClean="0">
                <a:latin typeface="Arial" pitchFamily="34" charset="0"/>
                <a:cs typeface="Arial" pitchFamily="34" charset="0"/>
              </a:rPr>
              <a:t>sure what </a:t>
            </a:r>
            <a:r>
              <a:rPr lang="en-US" b="1" dirty="0" smtClean="0">
                <a:latin typeface="Arial" pitchFamily="34" charset="0"/>
                <a:cs typeface="Arial" pitchFamily="34" charset="0"/>
              </a:rPr>
              <a:t>would be the state of the borrower over a longer term.</a:t>
            </a:r>
            <a:endParaRPr lang="en-US" b="1" dirty="0">
              <a:latin typeface="Arial" pitchFamily="34" charset="0"/>
              <a:cs typeface="Arial" pitchFamily="34" charset="0"/>
            </a:endParaRPr>
          </a:p>
        </p:txBody>
      </p:sp>
      <p:sp>
        <p:nvSpPr>
          <p:cNvPr id="7" name="TextBox 6"/>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INVERTED YIELD CURVE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3" name="TextBox 2"/>
          <p:cNvSpPr txBox="1"/>
          <p:nvPr/>
        </p:nvSpPr>
        <p:spPr>
          <a:xfrm>
            <a:off x="2928926" y="1071546"/>
            <a:ext cx="4000528" cy="2118529"/>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However over the shorter term he </a:t>
            </a:r>
            <a:r>
              <a:rPr lang="en-US" b="1" dirty="0" smtClean="0">
                <a:latin typeface="Arial" pitchFamily="34" charset="0"/>
                <a:cs typeface="Arial" pitchFamily="34" charset="0"/>
              </a:rPr>
              <a:t>does not </a:t>
            </a:r>
            <a:r>
              <a:rPr lang="en-US" b="1" dirty="0" smtClean="0">
                <a:latin typeface="Arial" pitchFamily="34" charset="0"/>
                <a:cs typeface="Arial" pitchFamily="34" charset="0"/>
              </a:rPr>
              <a:t>mind charging a smaller rate of interest </a:t>
            </a:r>
            <a:r>
              <a:rPr lang="en-US" b="1" dirty="0" smtClean="0">
                <a:latin typeface="Arial" pitchFamily="34" charset="0"/>
                <a:cs typeface="Arial" pitchFamily="34" charset="0"/>
              </a:rPr>
              <a:t>as he is more </a:t>
            </a:r>
            <a:r>
              <a:rPr lang="en-US" b="1" dirty="0" smtClean="0">
                <a:latin typeface="Arial" pitchFamily="34" charset="0"/>
                <a:cs typeface="Arial" pitchFamily="34" charset="0"/>
              </a:rPr>
              <a:t>confident of the state of the borrower in the short run.</a:t>
            </a:r>
            <a:endParaRPr lang="en-US" b="1" dirty="0">
              <a:latin typeface="Arial" pitchFamily="34" charset="0"/>
              <a:cs typeface="Arial" pitchFamily="34" charset="0"/>
            </a:endParaRPr>
          </a:p>
        </p:txBody>
      </p:sp>
      <p:sp>
        <p:nvSpPr>
          <p:cNvPr id="5" name="TextBox 4"/>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INVERTED YIELD CURVE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83568" y="1071546"/>
            <a:ext cx="7674646" cy="412934"/>
          </a:xfrm>
          <a:prstGeom prst="rect">
            <a:avLst/>
          </a:prstGeom>
          <a:noFill/>
        </p:spPr>
        <p:txBody>
          <a:bodyPr wrap="square" rtlCol="0">
            <a:spAutoFit/>
          </a:bodyPr>
          <a:lstStyle/>
          <a:p>
            <a:pPr algn="ctr">
              <a:lnSpc>
                <a:spcPct val="125000"/>
              </a:lnSpc>
            </a:pPr>
            <a:r>
              <a:rPr lang="en-US" b="1" dirty="0" smtClean="0">
                <a:latin typeface="Arial" pitchFamily="34" charset="0"/>
                <a:cs typeface="Arial" pitchFamily="34" charset="0"/>
              </a:rPr>
              <a:t>So what is an “Inverted Yield curve”?</a:t>
            </a:r>
            <a:endParaRPr lang="en-US" b="1" dirty="0">
              <a:latin typeface="Arial" pitchFamily="34" charset="0"/>
              <a:cs typeface="Arial" pitchFamily="34" charset="0"/>
            </a:endParaRP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INVERTED YIELD CURVE</a:t>
            </a:r>
            <a:endParaRPr lang="en-US" sz="2000" b="1" dirty="0">
              <a:solidFill>
                <a:schemeClr val="bg1"/>
              </a:solidFill>
              <a:latin typeface="Arial" pitchFamily="34" charset="0"/>
              <a:cs typeface="Arial" pitchFamily="34" charset="0"/>
            </a:endParaRPr>
          </a:p>
        </p:txBody>
      </p:sp>
      <p:grpSp>
        <p:nvGrpSpPr>
          <p:cNvPr id="16" name="Group 21"/>
          <p:cNvGrpSpPr>
            <a:grpSpLocks/>
          </p:cNvGrpSpPr>
          <p:nvPr/>
        </p:nvGrpSpPr>
        <p:grpSpPr bwMode="auto">
          <a:xfrm>
            <a:off x="2416175" y="1285860"/>
            <a:ext cx="6727825" cy="4997450"/>
            <a:chOff x="2895600" y="1086779"/>
            <a:chExt cx="6727446" cy="4997553"/>
          </a:xfrm>
        </p:grpSpPr>
        <p:cxnSp>
          <p:nvCxnSpPr>
            <p:cNvPr id="17" name="Straight Arrow Connector 16"/>
            <p:cNvCxnSpPr/>
            <p:nvPr/>
          </p:nvCxnSpPr>
          <p:spPr>
            <a:xfrm>
              <a:off x="3276579" y="5562033"/>
              <a:ext cx="5028917"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5400000" flipH="1" flipV="1">
              <a:off x="1258031" y="3564123"/>
              <a:ext cx="4038683" cy="1588"/>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9" name="Arc 18"/>
            <p:cNvSpPr/>
            <p:nvPr/>
          </p:nvSpPr>
          <p:spPr>
            <a:xfrm rot="10563255">
              <a:off x="3787725" y="1086779"/>
              <a:ext cx="5835321" cy="3995819"/>
            </a:xfrm>
            <a:prstGeom prst="arc">
              <a:avLst>
                <a:gd name="adj1" fmla="val 15780589"/>
                <a:gd name="adj2" fmla="val 0"/>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nvGrpSpPr>
            <p:cNvPr id="20" name="Group 13"/>
            <p:cNvGrpSpPr>
              <a:grpSpLocks/>
            </p:cNvGrpSpPr>
            <p:nvPr/>
          </p:nvGrpSpPr>
          <p:grpSpPr bwMode="auto">
            <a:xfrm>
              <a:off x="2895600" y="2971800"/>
              <a:ext cx="304800" cy="2314002"/>
              <a:chOff x="2362200" y="3096904"/>
              <a:chExt cx="304800" cy="2314002"/>
            </a:xfrm>
          </p:grpSpPr>
          <p:sp>
            <p:nvSpPr>
              <p:cNvPr id="26" name="TextBox 14"/>
              <p:cNvSpPr txBox="1">
                <a:spLocks noChangeArrowheads="1"/>
              </p:cNvSpPr>
              <p:nvPr/>
            </p:nvSpPr>
            <p:spPr bwMode="auto">
              <a:xfrm>
                <a:off x="2362200" y="3096904"/>
                <a:ext cx="304800" cy="1477328"/>
              </a:xfrm>
              <a:prstGeom prst="rect">
                <a:avLst/>
              </a:prstGeom>
              <a:noFill/>
              <a:ln w="9525">
                <a:noFill/>
                <a:miter lim="800000"/>
                <a:headEnd/>
                <a:tailEnd/>
              </a:ln>
            </p:spPr>
            <p:txBody>
              <a:bodyPr>
                <a:spAutoFit/>
              </a:bodyPr>
              <a:lstStyle/>
              <a:p>
                <a:r>
                  <a:rPr lang="en-US" b="1" dirty="0">
                    <a:latin typeface="Arial" pitchFamily="34" charset="0"/>
                    <a:cs typeface="Arial" pitchFamily="34" charset="0"/>
                  </a:rPr>
                  <a:t>Rates</a:t>
                </a:r>
              </a:p>
            </p:txBody>
          </p:sp>
          <p:cxnSp>
            <p:nvCxnSpPr>
              <p:cNvPr id="27" name="Straight Arrow Connector 26"/>
              <p:cNvCxnSpPr>
                <a:stCxn id="26" idx="2"/>
              </p:cNvCxnSpPr>
              <p:nvPr/>
            </p:nvCxnSpPr>
            <p:spPr>
              <a:xfrm rot="5400000">
                <a:off x="2096278" y="4991004"/>
                <a:ext cx="836629" cy="31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cxnSp>
          <p:nvCxnSpPr>
            <p:cNvPr id="21" name="Straight Arrow Connector 20"/>
            <p:cNvCxnSpPr/>
            <p:nvPr/>
          </p:nvCxnSpPr>
          <p:spPr>
            <a:xfrm rot="5400000" flipH="1" flipV="1">
              <a:off x="2554269" y="2399668"/>
              <a:ext cx="989032"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nvGrpSpPr>
            <p:cNvPr id="22" name="Group 17"/>
            <p:cNvGrpSpPr>
              <a:grpSpLocks/>
            </p:cNvGrpSpPr>
            <p:nvPr/>
          </p:nvGrpSpPr>
          <p:grpSpPr bwMode="auto">
            <a:xfrm>
              <a:off x="3428970" y="5715000"/>
              <a:ext cx="4571743" cy="369332"/>
              <a:chOff x="3505170" y="6019800"/>
              <a:chExt cx="4571743" cy="369332"/>
            </a:xfrm>
          </p:grpSpPr>
          <p:cxnSp>
            <p:nvCxnSpPr>
              <p:cNvPr id="23" name="Straight Arrow Connector 22"/>
              <p:cNvCxnSpPr/>
              <p:nvPr/>
            </p:nvCxnSpPr>
            <p:spPr>
              <a:xfrm rot="10800000">
                <a:off x="3505170" y="6171639"/>
                <a:ext cx="1447718"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TextBox 19"/>
              <p:cNvSpPr txBox="1">
                <a:spLocks noChangeArrowheads="1"/>
              </p:cNvSpPr>
              <p:nvPr/>
            </p:nvSpPr>
            <p:spPr bwMode="auto">
              <a:xfrm>
                <a:off x="5029200" y="6019800"/>
                <a:ext cx="2743200" cy="369332"/>
              </a:xfrm>
              <a:prstGeom prst="rect">
                <a:avLst/>
              </a:prstGeom>
              <a:noFill/>
              <a:ln w="9525">
                <a:noFill/>
                <a:miter lim="800000"/>
                <a:headEnd/>
                <a:tailEnd/>
              </a:ln>
            </p:spPr>
            <p:txBody>
              <a:bodyPr>
                <a:spAutoFit/>
              </a:bodyPr>
              <a:lstStyle/>
              <a:p>
                <a:r>
                  <a:rPr lang="en-US" b="1" dirty="0">
                    <a:latin typeface="Arial" pitchFamily="34" charset="0"/>
                    <a:cs typeface="Arial" pitchFamily="34" charset="0"/>
                  </a:rPr>
                  <a:t>Maturity</a:t>
                </a:r>
              </a:p>
            </p:txBody>
          </p:sp>
          <p:cxnSp>
            <p:nvCxnSpPr>
              <p:cNvPr id="25" name="Straight Arrow Connector 24"/>
              <p:cNvCxnSpPr/>
              <p:nvPr/>
            </p:nvCxnSpPr>
            <p:spPr>
              <a:xfrm>
                <a:off x="6172020" y="6212915"/>
                <a:ext cx="1904893"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857224" y="1142984"/>
            <a:ext cx="7429552" cy="2585323"/>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As seen in the diagram, an inverted Yield Curve is </a:t>
            </a:r>
            <a:r>
              <a:rPr lang="en-US" b="1" dirty="0" smtClean="0">
                <a:latin typeface="Arial" pitchFamily="34" charset="0"/>
                <a:cs typeface="Arial" pitchFamily="34" charset="0"/>
              </a:rPr>
              <a:t>a representation </a:t>
            </a:r>
            <a:r>
              <a:rPr lang="en-US" b="1" dirty="0" smtClean="0">
                <a:latin typeface="Arial" pitchFamily="34" charset="0"/>
                <a:cs typeface="Arial" pitchFamily="34" charset="0"/>
              </a:rPr>
              <a:t>of a specific scenario in the market </a:t>
            </a:r>
            <a:r>
              <a:rPr lang="en-US" b="1" dirty="0" smtClean="0">
                <a:latin typeface="Arial" pitchFamily="34" charset="0"/>
                <a:cs typeface="Arial" pitchFamily="34" charset="0"/>
              </a:rPr>
              <a:t>wherein </a:t>
            </a:r>
            <a:r>
              <a:rPr lang="en-US" b="1" dirty="0" smtClean="0">
                <a:latin typeface="Arial" pitchFamily="34" charset="0"/>
                <a:cs typeface="Arial" pitchFamily="34" charset="0"/>
              </a:rPr>
              <a:t>the short term interest rates are higher than the long term interest rates.</a:t>
            </a:r>
          </a:p>
          <a:p>
            <a:pPr>
              <a:lnSpc>
                <a:spcPct val="150000"/>
              </a:lnSpc>
            </a:pPr>
            <a:endParaRPr lang="en-US" b="1" dirty="0" smtClean="0">
              <a:latin typeface="Arial" pitchFamily="34" charset="0"/>
              <a:cs typeface="Arial" pitchFamily="34" charset="0"/>
            </a:endParaRPr>
          </a:p>
          <a:p>
            <a:pPr>
              <a:lnSpc>
                <a:spcPct val="150000"/>
              </a:lnSpc>
            </a:pPr>
            <a:r>
              <a:rPr lang="en-US" b="1" dirty="0" smtClean="0">
                <a:latin typeface="Arial" pitchFamily="34" charset="0"/>
                <a:cs typeface="Arial" pitchFamily="34" charset="0"/>
              </a:rPr>
              <a:t>Why </a:t>
            </a:r>
            <a:r>
              <a:rPr lang="en-US" b="1" dirty="0" smtClean="0">
                <a:latin typeface="Arial" pitchFamily="34" charset="0"/>
                <a:cs typeface="Arial" pitchFamily="34" charset="0"/>
              </a:rPr>
              <a:t>does this happen?</a:t>
            </a:r>
            <a:endParaRPr lang="en-US" b="1" dirty="0">
              <a:latin typeface="Arial" pitchFamily="34" charset="0"/>
              <a:cs typeface="Arial" pitchFamily="34" charset="0"/>
            </a:endParaRP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INVERTED YIELD CURVE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857224" y="1142984"/>
            <a:ext cx="7072362" cy="2862322"/>
          </a:xfrm>
          <a:prstGeom prst="rect">
            <a:avLst/>
          </a:prstGeom>
          <a:noFill/>
        </p:spPr>
        <p:txBody>
          <a:bodyPr wrap="square" rtlCol="0">
            <a:spAutoFit/>
          </a:bodyPr>
          <a:lstStyle/>
          <a:p>
            <a:pPr>
              <a:lnSpc>
                <a:spcPct val="200000"/>
              </a:lnSpc>
            </a:pPr>
            <a:r>
              <a:rPr lang="en-US" b="1" dirty="0" smtClean="0">
                <a:latin typeface="Arial" pitchFamily="34" charset="0"/>
                <a:cs typeface="Arial" pitchFamily="34" charset="0"/>
              </a:rPr>
              <a:t>This happens due to a tight liquidity environment </a:t>
            </a:r>
            <a:r>
              <a:rPr lang="en-US" b="1" dirty="0" smtClean="0">
                <a:latin typeface="Arial" pitchFamily="34" charset="0"/>
                <a:cs typeface="Arial" pitchFamily="34" charset="0"/>
              </a:rPr>
              <a:t>when money </a:t>
            </a:r>
            <a:r>
              <a:rPr lang="en-US" b="1" dirty="0" smtClean="0">
                <a:latin typeface="Arial" pitchFamily="34" charset="0"/>
                <a:cs typeface="Arial" pitchFamily="34" charset="0"/>
              </a:rPr>
              <a:t>supply is inadequate. For e.g. Sometimes organizations have to borrow at a high cost to meet their working capital needs to support their operating expenses which is </a:t>
            </a:r>
            <a:r>
              <a:rPr lang="en-US" b="1" dirty="0" smtClean="0">
                <a:latin typeface="Arial" pitchFamily="34" charset="0"/>
                <a:cs typeface="Arial" pitchFamily="34" charset="0"/>
              </a:rPr>
              <a:t>vital for </a:t>
            </a:r>
            <a:r>
              <a:rPr lang="en-US" b="1" dirty="0" smtClean="0">
                <a:latin typeface="Arial" pitchFamily="34" charset="0"/>
                <a:cs typeface="Arial" pitchFamily="34" charset="0"/>
              </a:rPr>
              <a:t>the day to day running of an organization.</a:t>
            </a:r>
            <a:endParaRPr lang="en-US" b="1" dirty="0">
              <a:latin typeface="Arial" pitchFamily="34" charset="0"/>
              <a:cs typeface="Arial" pitchFamily="34" charset="0"/>
            </a:endParaRP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INVERTED YIELD CURVE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857224" y="1142984"/>
            <a:ext cx="7572428" cy="1287532"/>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Hence in moments of tight liquidity when companies need money badly to run their </a:t>
            </a:r>
            <a:r>
              <a:rPr lang="en-US" b="1" dirty="0" smtClean="0">
                <a:latin typeface="Arial" pitchFamily="34" charset="0"/>
                <a:cs typeface="Arial" pitchFamily="34" charset="0"/>
              </a:rPr>
              <a:t>operations, </a:t>
            </a:r>
            <a:r>
              <a:rPr lang="en-US" b="1" dirty="0" smtClean="0">
                <a:latin typeface="Arial" pitchFamily="34" charset="0"/>
                <a:cs typeface="Arial" pitchFamily="34" charset="0"/>
              </a:rPr>
              <a:t>they are open to </a:t>
            </a:r>
            <a:r>
              <a:rPr lang="en-US" b="1" dirty="0" smtClean="0">
                <a:latin typeface="Arial" pitchFamily="34" charset="0"/>
                <a:cs typeface="Arial" pitchFamily="34" charset="0"/>
              </a:rPr>
              <a:t>paying higher </a:t>
            </a:r>
            <a:r>
              <a:rPr lang="en-US" b="1" dirty="0" smtClean="0">
                <a:latin typeface="Arial" pitchFamily="34" charset="0"/>
                <a:cs typeface="Arial" pitchFamily="34" charset="0"/>
              </a:rPr>
              <a:t>in the short run than what is prevailing for long term borrowing. </a:t>
            </a: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INVERTED YIELD CURVE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857224" y="1142984"/>
            <a:ext cx="7072362" cy="3000821"/>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Another reason that can be attributed  to the inverted shape of the Yield Curve is the pessimistic expectation of the economy in the medium to long term. If people feel that the policies of the government will be unable to push growth then the propensity for long term investments reduce which brings down the demand for long term borrowing which in turn</a:t>
            </a:r>
            <a:br>
              <a:rPr lang="en-US" b="1" dirty="0" smtClean="0">
                <a:latin typeface="Arial" pitchFamily="34" charset="0"/>
                <a:cs typeface="Arial" pitchFamily="34" charset="0"/>
              </a:rPr>
            </a:br>
            <a:r>
              <a:rPr lang="en-US" b="1" dirty="0" smtClean="0">
                <a:latin typeface="Arial" pitchFamily="34" charset="0"/>
                <a:cs typeface="Arial" pitchFamily="34" charset="0"/>
              </a:rPr>
              <a:t>brings down the long term rate of interest.</a:t>
            </a:r>
            <a:endParaRPr lang="en-US" b="1" dirty="0">
              <a:latin typeface="Arial" pitchFamily="34" charset="0"/>
              <a:cs typeface="Arial" pitchFamily="34" charset="0"/>
            </a:endParaRP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INVERTED YIELD CURVE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857224" y="1142984"/>
            <a:ext cx="7072362" cy="1711366"/>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However these kind of situations ease out over a period of time  as liquidity and expectations improve and the “Inverted Yield Curve” reverts to its original state to become a ‘Normal Yield Curve’. This is known as “Steepening” of the Yield Curve. </a:t>
            </a:r>
            <a:endParaRPr lang="en-US" b="1" dirty="0">
              <a:latin typeface="Arial" pitchFamily="34" charset="0"/>
              <a:cs typeface="Arial" pitchFamily="34" charset="0"/>
            </a:endParaRP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INVERTED YIELD CURVE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857224" y="1142984"/>
            <a:ext cx="7072362" cy="1200329"/>
          </a:xfrm>
          <a:prstGeom prst="rect">
            <a:avLst/>
          </a:prstGeom>
          <a:noFill/>
        </p:spPr>
        <p:txBody>
          <a:bodyPr wrap="square" rtlCol="0">
            <a:spAutoFit/>
          </a:bodyPr>
          <a:lstStyle/>
          <a:p>
            <a:pPr>
              <a:lnSpc>
                <a:spcPct val="200000"/>
              </a:lnSpc>
            </a:pPr>
            <a:r>
              <a:rPr lang="en-US" b="1" dirty="0" smtClean="0">
                <a:latin typeface="Arial" pitchFamily="34" charset="0"/>
                <a:cs typeface="Arial" pitchFamily="34" charset="0"/>
              </a:rPr>
              <a:t>Hope you got an idea about the Yield Curve </a:t>
            </a:r>
            <a:r>
              <a:rPr lang="en-US" b="1" dirty="0" smtClean="0">
                <a:latin typeface="Arial" pitchFamily="34" charset="0"/>
                <a:cs typeface="Arial" pitchFamily="34" charset="0"/>
              </a:rPr>
              <a:t>and the </a:t>
            </a:r>
            <a:r>
              <a:rPr lang="en-US" b="1" dirty="0" smtClean="0">
                <a:latin typeface="Arial" pitchFamily="34" charset="0"/>
                <a:cs typeface="Arial" pitchFamily="34" charset="0"/>
              </a:rPr>
              <a:t>“Inverted Yield Curve</a:t>
            </a:r>
            <a:r>
              <a:rPr lang="en-US" b="1" dirty="0" smtClean="0">
                <a:latin typeface="Arial" pitchFamily="34" charset="0"/>
                <a:cs typeface="Arial" pitchFamily="34" charset="0"/>
              </a:rPr>
              <a:t>” through </a:t>
            </a:r>
            <a:r>
              <a:rPr lang="en-US" b="1" dirty="0" smtClean="0">
                <a:latin typeface="Arial" pitchFamily="34" charset="0"/>
                <a:cs typeface="Arial" pitchFamily="34" charset="0"/>
              </a:rPr>
              <a:t>this lesson</a:t>
            </a:r>
            <a:endParaRPr lang="en-US" b="1" dirty="0">
              <a:latin typeface="Arial" pitchFamily="34" charset="0"/>
              <a:cs typeface="Arial" pitchFamily="34" charset="0"/>
            </a:endParaRPr>
          </a:p>
        </p:txBody>
      </p:sp>
      <p:sp>
        <p:nvSpPr>
          <p:cNvPr id="4" name="TextBox 3"/>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INVERTED YIELD CURVE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43372" y="4661940"/>
            <a:ext cx="3500462" cy="1338828"/>
          </a:xfrm>
          <a:prstGeom prst="rect">
            <a:avLst/>
          </a:prstGeom>
        </p:spPr>
        <p:txBody>
          <a:bodyPr wrap="square">
            <a:spAutoFit/>
          </a:bodyPr>
          <a:lstStyle/>
          <a:p>
            <a:pPr>
              <a:lnSpc>
                <a:spcPct val="150000"/>
              </a:lnSpc>
              <a:buFontTx/>
              <a:buNone/>
            </a:pPr>
            <a:r>
              <a:rPr lang="en-US" b="1" dirty="0" smtClean="0">
                <a:latin typeface="Arial" pitchFamily="34" charset="0"/>
                <a:cs typeface="Arial" pitchFamily="34" charset="0"/>
              </a:rPr>
              <a:t>Hope you have understood </a:t>
            </a:r>
          </a:p>
          <a:p>
            <a:pPr>
              <a:lnSpc>
                <a:spcPct val="150000"/>
              </a:lnSpc>
              <a:buFontTx/>
              <a:buNone/>
            </a:pPr>
            <a:r>
              <a:rPr lang="en-US" b="1" dirty="0" smtClean="0">
                <a:latin typeface="Arial" pitchFamily="34" charset="0"/>
                <a:cs typeface="Arial" pitchFamily="34" charset="0"/>
              </a:rPr>
              <a:t>The significance of the</a:t>
            </a:r>
            <a:br>
              <a:rPr lang="en-US" b="1" dirty="0" smtClean="0">
                <a:latin typeface="Arial" pitchFamily="34" charset="0"/>
                <a:cs typeface="Arial" pitchFamily="34" charset="0"/>
              </a:rPr>
            </a:br>
            <a:r>
              <a:rPr lang="en-US" b="1" dirty="0" smtClean="0">
                <a:latin typeface="Arial" pitchFamily="34" charset="0"/>
                <a:cs typeface="Arial" pitchFamily="34" charset="0"/>
              </a:rPr>
              <a:t>“Inverted Yield Curve”</a:t>
            </a:r>
          </a:p>
        </p:txBody>
      </p:sp>
      <p:sp>
        <p:nvSpPr>
          <p:cNvPr id="5" name="TextBox 4"/>
          <p:cNvSpPr txBox="1"/>
          <p:nvPr/>
        </p:nvSpPr>
        <p:spPr>
          <a:xfrm>
            <a:off x="2071670" y="476672"/>
            <a:ext cx="464347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INVERTED YIELD CURVE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142976" y="2143116"/>
            <a:ext cx="3714776" cy="596445"/>
          </a:xfrm>
          <a:prstGeom prst="rect">
            <a:avLst/>
          </a:prstGeom>
          <a:noFill/>
        </p:spPr>
        <p:txBody>
          <a:bodyPr wrap="square" rtlCol="0">
            <a:spAutoFit/>
          </a:bodyPr>
          <a:lstStyle/>
          <a:p>
            <a:pPr marL="342900" indent="-342900" algn="ctr">
              <a:lnSpc>
                <a:spcPct val="80000"/>
              </a:lnSpc>
              <a:spcBef>
                <a:spcPct val="20000"/>
              </a:spcBef>
            </a:pPr>
            <a:r>
              <a:rPr lang="en-US" b="1" dirty="0" smtClean="0">
                <a:latin typeface="Arial" pitchFamily="34" charset="0"/>
                <a:cs typeface="Arial" pitchFamily="34" charset="0"/>
              </a:rPr>
              <a:t>Please give us your feedback at </a:t>
            </a:r>
          </a:p>
          <a:p>
            <a:pPr marL="342900" indent="-342900" algn="ctr">
              <a:lnSpc>
                <a:spcPct val="80000"/>
              </a:lnSpc>
              <a:spcBef>
                <a:spcPct val="20000"/>
              </a:spcBef>
            </a:pPr>
            <a:r>
              <a:rPr lang="en-US" b="1" dirty="0" smtClean="0">
                <a:solidFill>
                  <a:schemeClr val="bg1"/>
                </a:solidFill>
                <a:latin typeface="Arial" pitchFamily="34" charset="0"/>
                <a:cs typeface="Arial" pitchFamily="34" charset="0"/>
                <a:hlinkClick r:id="rId4"/>
              </a:rPr>
              <a:t>professor@tataamc.com</a:t>
            </a:r>
            <a:endParaRPr lang="en-US"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2158</TotalTime>
  <Words>642</Words>
  <Application>Microsoft Office PowerPoint</Application>
  <PresentationFormat>On-screen Show (4:3)</PresentationFormat>
  <Paragraphs>43</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cp:lastModifiedBy>
  <cp:revision>253</cp:revision>
  <dcterms:created xsi:type="dcterms:W3CDTF">2013-10-22T09:41:31Z</dcterms:created>
  <dcterms:modified xsi:type="dcterms:W3CDTF">2014-09-17T10:56:24Z</dcterms:modified>
</cp:coreProperties>
</file>