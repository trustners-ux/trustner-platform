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94" r:id="rId3"/>
    <p:sldId id="295" r:id="rId4"/>
    <p:sldId id="276" r:id="rId5"/>
    <p:sldId id="296" r:id="rId6"/>
    <p:sldId id="288" r:id="rId7"/>
    <p:sldId id="299" r:id="rId8"/>
    <p:sldId id="300" r:id="rId9"/>
    <p:sldId id="301" r:id="rId10"/>
    <p:sldId id="302" r:id="rId11"/>
    <p:sldId id="303" r:id="rId12"/>
    <p:sldId id="304"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87624"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BOND PRICES &amp; YIELDS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05296" y="1196752"/>
            <a:ext cx="3210720" cy="170816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the Inverse Relationship </a:t>
            </a:r>
            <a:r>
              <a:rPr lang="en-US" b="1" dirty="0" smtClean="0">
                <a:latin typeface="Arial" pitchFamily="34" charset="0"/>
                <a:cs typeface="Arial" pitchFamily="34" charset="0"/>
              </a:rPr>
              <a:t>between</a:t>
            </a:r>
            <a:br>
              <a:rPr lang="en-US" b="1" dirty="0" smtClean="0">
                <a:latin typeface="Arial" pitchFamily="34" charset="0"/>
                <a:cs typeface="Arial" pitchFamily="34" charset="0"/>
              </a:rPr>
            </a:br>
            <a:r>
              <a:rPr lang="en-US" b="1" dirty="0" smtClean="0">
                <a:latin typeface="Arial" pitchFamily="34" charset="0"/>
                <a:cs typeface="Arial" pitchFamily="34" charset="0"/>
              </a:rPr>
              <a:t>Bond </a:t>
            </a:r>
            <a:r>
              <a:rPr lang="en-US" b="1" dirty="0">
                <a:latin typeface="Arial" pitchFamily="34" charset="0"/>
                <a:cs typeface="Arial" pitchFamily="34" charset="0"/>
              </a:rPr>
              <a:t>Prices &amp; </a:t>
            </a:r>
            <a:r>
              <a:rPr lang="en-US" b="1" dirty="0" smtClean="0">
                <a:latin typeface="Arial" pitchFamily="34" charset="0"/>
                <a:cs typeface="Arial" pitchFamily="34" charset="0"/>
              </a:rPr>
              <a:t>Yields</a:t>
            </a:r>
          </a:p>
          <a:p>
            <a:pPr>
              <a:lnSpc>
                <a:spcPct val="150000"/>
              </a:lnSpc>
            </a:pPr>
            <a:r>
              <a:rPr lang="en-US" sz="1600" b="1" dirty="0" smtClean="0">
                <a:latin typeface="Arial" pitchFamily="34" charset="0"/>
                <a:cs typeface="Arial" pitchFamily="34" charset="0"/>
              </a:rPr>
              <a:t>–  By Prof. </a:t>
            </a:r>
            <a:r>
              <a:rPr lang="en-US" sz="1600" b="1" i="1" dirty="0" smtClean="0">
                <a:latin typeface="Arial" pitchFamily="34" charset="0"/>
                <a:cs typeface="Arial" pitchFamily="34" charset="0"/>
              </a:rPr>
              <a:t>Simply</a:t>
            </a:r>
            <a:r>
              <a:rPr lang="en-US" sz="1600" b="1" dirty="0" smtClean="0">
                <a:latin typeface="Arial" pitchFamily="34" charset="0"/>
                <a:cs typeface="Arial" pitchFamily="34" charset="0"/>
              </a:rPr>
              <a:t> Simple </a:t>
            </a:r>
            <a:r>
              <a:rPr lang="en-US" sz="1600" b="1" baseline="70000" dirty="0" smtClean="0">
                <a:latin typeface="Arial" pitchFamily="34" charset="0"/>
                <a:cs typeface="Arial" pitchFamily="34" charset="0"/>
              </a:rPr>
              <a:t>TM</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xmlns="" val="149177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355976" y="4869160"/>
            <a:ext cx="3312368" cy="872034"/>
          </a:xfrm>
          <a:prstGeom prst="rect">
            <a:avLst/>
          </a:prstGeom>
        </p:spPr>
        <p:txBody>
          <a:bodyPr wrap="square">
            <a:spAutoFit/>
          </a:bodyPr>
          <a:lstStyle/>
          <a:p>
            <a:pPr>
              <a:lnSpc>
                <a:spcPct val="150000"/>
              </a:lnSpc>
              <a:spcBef>
                <a:spcPct val="50000"/>
              </a:spcBef>
            </a:pPr>
            <a:r>
              <a:rPr lang="en-US" b="1" dirty="0">
                <a:latin typeface="Arial" pitchFamily="34" charset="0"/>
                <a:cs typeface="Arial" pitchFamily="34" charset="0"/>
              </a:rPr>
              <a:t>Why do bond yields go </a:t>
            </a:r>
            <a:r>
              <a:rPr lang="en-US" b="1" dirty="0" smtClean="0">
                <a:latin typeface="Arial" pitchFamily="34" charset="0"/>
                <a:cs typeface="Arial" pitchFamily="34" charset="0"/>
              </a:rPr>
              <a:t>up</a:t>
            </a:r>
            <a:br>
              <a:rPr lang="en-US" b="1" dirty="0" smtClean="0">
                <a:latin typeface="Arial" pitchFamily="34" charset="0"/>
                <a:cs typeface="Arial" pitchFamily="34" charset="0"/>
              </a:rPr>
            </a:br>
            <a:r>
              <a:rPr lang="en-US" b="1" dirty="0" smtClean="0">
                <a:latin typeface="Arial" pitchFamily="34" charset="0"/>
                <a:cs typeface="Arial" pitchFamily="34" charset="0"/>
              </a:rPr>
              <a:t>when </a:t>
            </a:r>
            <a:r>
              <a:rPr lang="en-US" b="1" dirty="0">
                <a:latin typeface="Arial" pitchFamily="34" charset="0"/>
                <a:cs typeface="Arial" pitchFamily="34" charset="0"/>
              </a:rPr>
              <a:t>bond prices go down?</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extLst>
      <p:ext uri="{BB962C8B-B14F-4D97-AF65-F5344CB8AC3E}">
        <p14:creationId xmlns:p14="http://schemas.microsoft.com/office/powerpoint/2010/main" xmlns="" val="2261896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862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539552" y="1196752"/>
            <a:ext cx="7532910"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You might have come across </a:t>
            </a:r>
            <a:r>
              <a:rPr lang="en-US" b="1" dirty="0" smtClean="0">
                <a:latin typeface="Arial" pitchFamily="34" charset="0"/>
                <a:cs typeface="Arial" pitchFamily="34" charset="0"/>
              </a:rPr>
              <a:t>a rule </a:t>
            </a:r>
            <a:r>
              <a:rPr lang="en-US" b="1" dirty="0">
                <a:latin typeface="Arial" pitchFamily="34" charset="0"/>
                <a:cs typeface="Arial" pitchFamily="34" charset="0"/>
              </a:rPr>
              <a:t>which </a:t>
            </a:r>
            <a:r>
              <a:rPr lang="en-US" b="1" dirty="0" smtClean="0">
                <a:latin typeface="Arial" pitchFamily="34" charset="0"/>
                <a:cs typeface="Arial" pitchFamily="34" charset="0"/>
              </a:rPr>
              <a:t>states that</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a:latin typeface="Arial" pitchFamily="34" charset="0"/>
                <a:cs typeface="Arial" pitchFamily="34" charset="0"/>
              </a:rPr>
              <a:t>When bond prices </a:t>
            </a:r>
            <a:r>
              <a:rPr lang="en-US" b="1" dirty="0" smtClean="0">
                <a:latin typeface="Arial" pitchFamily="34" charset="0"/>
                <a:cs typeface="Arial" pitchFamily="34" charset="0"/>
              </a:rPr>
              <a:t>go </a:t>
            </a:r>
            <a:r>
              <a:rPr lang="en-US" b="1" dirty="0">
                <a:latin typeface="Arial" pitchFamily="34" charset="0"/>
                <a:cs typeface="Arial" pitchFamily="34" charset="0"/>
              </a:rPr>
              <a:t>down, bond </a:t>
            </a:r>
            <a:r>
              <a:rPr lang="en-US" b="1" dirty="0" smtClean="0">
                <a:latin typeface="Arial" pitchFamily="34" charset="0"/>
                <a:cs typeface="Arial" pitchFamily="34" charset="0"/>
              </a:rPr>
              <a:t>yields go </a:t>
            </a:r>
            <a:r>
              <a:rPr lang="en-US" b="1" dirty="0">
                <a:latin typeface="Arial" pitchFamily="34" charset="0"/>
                <a:cs typeface="Arial" pitchFamily="34" charset="0"/>
              </a:rPr>
              <a:t>up &amp; vice versa’. </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understand this rule.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
        <p:nvSpPr>
          <p:cNvPr id="4" name="TextBox 3"/>
          <p:cNvSpPr txBox="1"/>
          <p:nvPr/>
        </p:nvSpPr>
        <p:spPr>
          <a:xfrm>
            <a:off x="2843808" y="980728"/>
            <a:ext cx="4392488"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You </a:t>
            </a:r>
            <a:r>
              <a:rPr lang="en-US" b="1" dirty="0">
                <a:latin typeface="Arial" pitchFamily="34" charset="0"/>
                <a:cs typeface="Arial" pitchFamily="34" charset="0"/>
              </a:rPr>
              <a:t>will agree </a:t>
            </a:r>
            <a:r>
              <a:rPr lang="en-US" b="1" dirty="0" smtClean="0">
                <a:latin typeface="Arial" pitchFamily="34" charset="0"/>
                <a:cs typeface="Arial" pitchFamily="34" charset="0"/>
              </a:rPr>
              <a:t>that when a seller </a:t>
            </a:r>
            <a:r>
              <a:rPr lang="en-US" b="1" dirty="0">
                <a:latin typeface="Arial" pitchFamily="34" charset="0"/>
                <a:cs typeface="Arial" pitchFamily="34" charset="0"/>
              </a:rPr>
              <a:t>of a good sells at a lower cost, he makes a lower profit. However, </a:t>
            </a:r>
            <a:r>
              <a:rPr lang="en-US" b="1" dirty="0" smtClean="0">
                <a:latin typeface="Arial" pitchFamily="34" charset="0"/>
                <a:cs typeface="Arial" pitchFamily="34" charset="0"/>
              </a:rPr>
              <a:t>the </a:t>
            </a:r>
            <a:r>
              <a:rPr lang="en-US" b="1" dirty="0">
                <a:latin typeface="Arial" pitchFamily="34" charset="0"/>
                <a:cs typeface="Arial" pitchFamily="34" charset="0"/>
              </a:rPr>
              <a:t>purchaser of the good makes </a:t>
            </a:r>
            <a:r>
              <a:rPr lang="en-US" b="1" dirty="0" smtClean="0">
                <a:latin typeface="Arial" pitchFamily="34" charset="0"/>
                <a:cs typeface="Arial" pitchFamily="34" charset="0"/>
              </a:rPr>
              <a:t>a gain </a:t>
            </a:r>
            <a:r>
              <a:rPr lang="en-US" b="1" dirty="0">
                <a:latin typeface="Arial" pitchFamily="34" charset="0"/>
                <a:cs typeface="Arial" pitchFamily="34" charset="0"/>
              </a:rPr>
              <a:t>due to the </a:t>
            </a:r>
            <a:r>
              <a:rPr lang="en-US" b="1" dirty="0" smtClean="0">
                <a:latin typeface="Arial" pitchFamily="34" charset="0"/>
                <a:cs typeface="Arial" pitchFamily="34" charset="0"/>
              </a:rPr>
              <a:t>attractive price </a:t>
            </a:r>
            <a:r>
              <a:rPr lang="en-US" b="1" dirty="0">
                <a:latin typeface="Arial" pitchFamily="34" charset="0"/>
                <a:cs typeface="Arial" pitchFamily="34" charset="0"/>
              </a:rPr>
              <a:t>of purchase.</a:t>
            </a:r>
          </a:p>
        </p:txBody>
      </p:sp>
    </p:spTree>
    <p:extLst>
      <p:ext uri="{BB962C8B-B14F-4D97-AF65-F5344CB8AC3E}">
        <p14:creationId xmlns:p14="http://schemas.microsoft.com/office/powerpoint/2010/main" xmlns="" val="2833462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196752"/>
            <a:ext cx="8352928" cy="383181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Now let’s understand with a simple example.</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Ravi </a:t>
            </a:r>
            <a:r>
              <a:rPr lang="en-US" b="1" dirty="0">
                <a:latin typeface="Arial" pitchFamily="34" charset="0"/>
                <a:cs typeface="Arial" pitchFamily="34" charset="0"/>
              </a:rPr>
              <a:t>has a corporate bond of Rs </a:t>
            </a:r>
            <a:r>
              <a:rPr lang="en-US" b="1" dirty="0" smtClean="0">
                <a:latin typeface="Arial" pitchFamily="34" charset="0"/>
                <a:cs typeface="Arial" pitchFamily="34" charset="0"/>
              </a:rPr>
              <a:t>100 which gives </a:t>
            </a:r>
            <a:r>
              <a:rPr lang="en-US" b="1" dirty="0">
                <a:latin typeface="Arial" pitchFamily="34" charset="0"/>
                <a:cs typeface="Arial" pitchFamily="34" charset="0"/>
              </a:rPr>
              <a:t>him 10% returns per annum.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other words, the company would pay him </a:t>
            </a:r>
            <a:r>
              <a:rPr lang="en-US" b="1" dirty="0" err="1">
                <a:latin typeface="Arial" pitchFamily="34" charset="0"/>
                <a:cs typeface="Arial" pitchFamily="34" charset="0"/>
              </a:rPr>
              <a:t>Rs</a:t>
            </a:r>
            <a:r>
              <a:rPr lang="en-US" b="1" dirty="0">
                <a:latin typeface="Arial" pitchFamily="34" charset="0"/>
                <a:cs typeface="Arial" pitchFamily="34" charset="0"/>
              </a:rPr>
              <a:t>. </a:t>
            </a:r>
            <a:r>
              <a:rPr lang="en-US" b="1" dirty="0" smtClean="0">
                <a:latin typeface="Arial" pitchFamily="34" charset="0"/>
                <a:cs typeface="Arial" pitchFamily="34" charset="0"/>
              </a:rPr>
              <a:t>110 at </a:t>
            </a:r>
            <a:r>
              <a:rPr lang="en-US" b="1" dirty="0">
                <a:latin typeface="Arial" pitchFamily="34" charset="0"/>
                <a:cs typeface="Arial" pitchFamily="34" charset="0"/>
              </a:rPr>
              <a:t>the end of the year for the </a:t>
            </a:r>
            <a:r>
              <a:rPr lang="en-US" b="1" dirty="0" err="1">
                <a:latin typeface="Arial" pitchFamily="34" charset="0"/>
                <a:cs typeface="Arial" pitchFamily="34" charset="0"/>
              </a:rPr>
              <a:t>Rs</a:t>
            </a:r>
            <a:r>
              <a:rPr lang="en-US" b="1" dirty="0">
                <a:latin typeface="Arial" pitchFamily="34" charset="0"/>
                <a:cs typeface="Arial" pitchFamily="34" charset="0"/>
              </a:rPr>
              <a:t> 100 loan that Ravi has given to the corporate.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 10% yield thus translates to </a:t>
            </a:r>
            <a:r>
              <a:rPr lang="en-US" b="1" dirty="0" smtClean="0">
                <a:latin typeface="Arial" pitchFamily="34" charset="0"/>
                <a:cs typeface="Arial" pitchFamily="34" charset="0"/>
              </a:rPr>
              <a:t>a Rs </a:t>
            </a:r>
            <a:r>
              <a:rPr lang="en-US" b="1" dirty="0">
                <a:latin typeface="Arial" pitchFamily="34" charset="0"/>
                <a:cs typeface="Arial" pitchFamily="34" charset="0"/>
              </a:rPr>
              <a:t>10 </a:t>
            </a:r>
            <a:r>
              <a:rPr lang="en-US" b="1" dirty="0" smtClean="0">
                <a:latin typeface="Arial" pitchFamily="34" charset="0"/>
                <a:cs typeface="Arial" pitchFamily="34" charset="0"/>
              </a:rPr>
              <a:t>profit </a:t>
            </a:r>
            <a:r>
              <a:rPr lang="en-US" b="1" dirty="0">
                <a:latin typeface="Arial" pitchFamily="34" charset="0"/>
                <a:cs typeface="Arial" pitchFamily="34" charset="0"/>
              </a:rPr>
              <a:t>for Ravi.</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TextBox 8"/>
          <p:cNvSpPr txBox="1"/>
          <p:nvPr/>
        </p:nvSpPr>
        <p:spPr>
          <a:xfrm>
            <a:off x="899592" y="1178721"/>
            <a:ext cx="7560840" cy="2862322"/>
          </a:xfrm>
          <a:prstGeom prst="rect">
            <a:avLst/>
          </a:prstGeom>
          <a:noFill/>
        </p:spPr>
        <p:txBody>
          <a:bodyPr wrap="square" rtlCol="0">
            <a:spAutoFit/>
          </a:bodyPr>
          <a:lstStyle/>
          <a:p>
            <a:pPr>
              <a:lnSpc>
                <a:spcPct val="200000"/>
              </a:lnSpc>
            </a:pPr>
            <a:r>
              <a:rPr lang="en-US" b="1" dirty="0">
                <a:latin typeface="Arial" pitchFamily="34" charset="0"/>
                <a:cs typeface="Arial" pitchFamily="34" charset="0"/>
              </a:rPr>
              <a:t>Now let’s assume that Ravi has an emergency </a:t>
            </a:r>
            <a:r>
              <a:rPr lang="en-US" b="1" dirty="0" smtClean="0">
                <a:latin typeface="Arial" pitchFamily="34" charset="0"/>
                <a:cs typeface="Arial" pitchFamily="34" charset="0"/>
              </a:rPr>
              <a:t>and needs </a:t>
            </a:r>
            <a:r>
              <a:rPr lang="en-US" b="1" dirty="0" smtClean="0">
                <a:latin typeface="Arial" pitchFamily="34" charset="0"/>
                <a:cs typeface="Arial" pitchFamily="34" charset="0"/>
              </a:rPr>
              <a:t>money. He </a:t>
            </a:r>
            <a:r>
              <a:rPr lang="en-US" b="1" dirty="0">
                <a:latin typeface="Arial" pitchFamily="34" charset="0"/>
                <a:cs typeface="Arial" pitchFamily="34" charset="0"/>
              </a:rPr>
              <a:t>goes to </a:t>
            </a:r>
            <a:r>
              <a:rPr lang="en-US" b="1" dirty="0" smtClean="0">
                <a:latin typeface="Arial" pitchFamily="34" charset="0"/>
                <a:cs typeface="Arial" pitchFamily="34" charset="0"/>
              </a:rPr>
              <a:t>his friend John who quickly realizes </a:t>
            </a:r>
            <a:r>
              <a:rPr lang="en-US" b="1" dirty="0">
                <a:latin typeface="Arial" pitchFamily="34" charset="0"/>
                <a:cs typeface="Arial" pitchFamily="34" charset="0"/>
              </a:rPr>
              <a:t>that Ravi needs money </a:t>
            </a:r>
            <a:r>
              <a:rPr lang="en-US" b="1" dirty="0" smtClean="0">
                <a:latin typeface="Arial" pitchFamily="34" charset="0"/>
                <a:cs typeface="Arial" pitchFamily="34" charset="0"/>
              </a:rPr>
              <a:t>urgently.</a:t>
            </a:r>
            <a:br>
              <a:rPr lang="en-US" b="1" dirty="0" smtClean="0">
                <a:latin typeface="Arial" pitchFamily="34" charset="0"/>
                <a:cs typeface="Arial" pitchFamily="34" charset="0"/>
              </a:rPr>
            </a:br>
            <a:r>
              <a:rPr lang="en-US" b="1" dirty="0" smtClean="0">
                <a:latin typeface="Arial" pitchFamily="34" charset="0"/>
                <a:cs typeface="Arial" pitchFamily="34" charset="0"/>
              </a:rPr>
              <a:t>So </a:t>
            </a:r>
            <a:r>
              <a:rPr lang="en-US" b="1" dirty="0">
                <a:latin typeface="Arial" pitchFamily="34" charset="0"/>
                <a:cs typeface="Arial" pitchFamily="34" charset="0"/>
              </a:rPr>
              <a:t>he </a:t>
            </a:r>
            <a:r>
              <a:rPr lang="en-US" b="1" dirty="0" smtClean="0">
                <a:latin typeface="Arial" pitchFamily="34" charset="0"/>
                <a:cs typeface="Arial" pitchFamily="34" charset="0"/>
              </a:rPr>
              <a:t>makes and offer to Ravi </a:t>
            </a:r>
            <a:r>
              <a:rPr lang="en-US" b="1" dirty="0">
                <a:latin typeface="Arial" pitchFamily="34" charset="0"/>
                <a:cs typeface="Arial" pitchFamily="34" charset="0"/>
              </a:rPr>
              <a:t>to buy </a:t>
            </a:r>
            <a:r>
              <a:rPr lang="en-US" b="1" dirty="0" smtClean="0">
                <a:latin typeface="Arial" pitchFamily="34" charset="0"/>
                <a:cs typeface="Arial" pitchFamily="34" charset="0"/>
              </a:rPr>
              <a:t>his </a:t>
            </a:r>
            <a:r>
              <a:rPr lang="en-US" b="1" dirty="0" smtClean="0">
                <a:latin typeface="Arial" pitchFamily="34" charset="0"/>
                <a:cs typeface="Arial" pitchFamily="34" charset="0"/>
              </a:rPr>
              <a:t>bond for Rs </a:t>
            </a:r>
            <a:r>
              <a:rPr lang="en-US" b="1" dirty="0">
                <a:latin typeface="Arial" pitchFamily="34" charset="0"/>
                <a:cs typeface="Arial" pitchFamily="34" charset="0"/>
              </a:rPr>
              <a:t>90. </a:t>
            </a:r>
            <a:r>
              <a:rPr lang="en-US" b="1" dirty="0" smtClean="0">
                <a:latin typeface="Arial" pitchFamily="34" charset="0"/>
                <a:cs typeface="Arial" pitchFamily="34" charset="0"/>
              </a:rPr>
              <a:t>Ravi agrees to </a:t>
            </a:r>
            <a:r>
              <a:rPr lang="en-US" b="1" dirty="0">
                <a:latin typeface="Arial" pitchFamily="34" charset="0"/>
                <a:cs typeface="Arial" pitchFamily="34" charset="0"/>
              </a:rPr>
              <a:t>the offer and sells </a:t>
            </a:r>
            <a:r>
              <a:rPr lang="en-US" b="1" dirty="0" smtClean="0">
                <a:latin typeface="Arial" pitchFamily="34" charset="0"/>
                <a:cs typeface="Arial" pitchFamily="34" charset="0"/>
              </a:rPr>
              <a:t>the </a:t>
            </a:r>
            <a:r>
              <a:rPr lang="en-US" b="1" dirty="0" smtClean="0">
                <a:latin typeface="Arial" pitchFamily="34" charset="0"/>
                <a:cs typeface="Arial" pitchFamily="34" charset="0"/>
              </a:rPr>
              <a:t>bond </a:t>
            </a:r>
            <a:r>
              <a:rPr lang="en-US" b="1" dirty="0">
                <a:latin typeface="Arial" pitchFamily="34" charset="0"/>
                <a:cs typeface="Arial" pitchFamily="34" charset="0"/>
              </a:rPr>
              <a:t>for Rs 90.</a:t>
            </a:r>
          </a:p>
        </p:txBody>
      </p:sp>
      <p:sp>
        <p:nvSpPr>
          <p:cNvPr id="10" name="TextBox 9"/>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extLst>
      <p:ext uri="{BB962C8B-B14F-4D97-AF65-F5344CB8AC3E}">
        <p14:creationId xmlns:p14="http://schemas.microsoft.com/office/powerpoint/2010/main" xmlns="" val="2604459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1178721"/>
            <a:ext cx="7560840" cy="341632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At the end of the </a:t>
            </a:r>
            <a:r>
              <a:rPr lang="en-US" b="1" dirty="0" smtClean="0">
                <a:latin typeface="Arial" pitchFamily="34" charset="0"/>
                <a:cs typeface="Arial" pitchFamily="34" charset="0"/>
              </a:rPr>
              <a:t>year, </a:t>
            </a:r>
            <a:r>
              <a:rPr lang="en-US" b="1" dirty="0">
                <a:latin typeface="Arial" pitchFamily="34" charset="0"/>
                <a:cs typeface="Arial" pitchFamily="34" charset="0"/>
              </a:rPr>
              <a:t>John receives </a:t>
            </a:r>
            <a:r>
              <a:rPr lang="en-US" b="1" dirty="0" smtClean="0">
                <a:latin typeface="Arial" pitchFamily="34" charset="0"/>
                <a:cs typeface="Arial" pitchFamily="34" charset="0"/>
              </a:rPr>
              <a:t>Rs </a:t>
            </a:r>
            <a:r>
              <a:rPr lang="en-US" b="1" dirty="0">
                <a:latin typeface="Arial" pitchFamily="34" charset="0"/>
                <a:cs typeface="Arial" pitchFamily="34" charset="0"/>
              </a:rPr>
              <a:t>110 from the corporate.</a:t>
            </a:r>
          </a:p>
          <a:p>
            <a:pPr>
              <a:lnSpc>
                <a:spcPct val="150000"/>
              </a:lnSpc>
            </a:pPr>
            <a:r>
              <a:rPr lang="en-US" b="1" dirty="0">
                <a:latin typeface="Arial" pitchFamily="34" charset="0"/>
                <a:cs typeface="Arial" pitchFamily="34" charset="0"/>
              </a:rPr>
              <a:t>Thus John earns </a:t>
            </a:r>
            <a:r>
              <a:rPr lang="en-US" b="1" dirty="0" err="1">
                <a:latin typeface="Arial" pitchFamily="34" charset="0"/>
                <a:cs typeface="Arial" pitchFamily="34" charset="0"/>
              </a:rPr>
              <a:t>Rs</a:t>
            </a:r>
            <a:r>
              <a:rPr lang="en-US" b="1" dirty="0">
                <a:latin typeface="Arial" pitchFamily="34" charset="0"/>
                <a:cs typeface="Arial" pitchFamily="34" charset="0"/>
              </a:rPr>
              <a:t>. 20 from his investment of Rs 90 </a:t>
            </a:r>
            <a:r>
              <a:rPr lang="en-US" b="1" dirty="0" smtClean="0">
                <a:latin typeface="Arial" pitchFamily="34" charset="0"/>
                <a:cs typeface="Arial" pitchFamily="34" charset="0"/>
              </a:rPr>
              <a:t>in the  </a:t>
            </a:r>
            <a:r>
              <a:rPr lang="en-US" b="1" dirty="0">
                <a:latin typeface="Arial" pitchFamily="34" charset="0"/>
                <a:cs typeface="Arial" pitchFamily="34" charset="0"/>
              </a:rPr>
              <a:t>corporate bond </a:t>
            </a:r>
            <a:r>
              <a:rPr lang="en-US" b="1" dirty="0" smtClean="0">
                <a:latin typeface="Arial" pitchFamily="34" charset="0"/>
                <a:cs typeface="Arial" pitchFamily="34" charset="0"/>
              </a:rPr>
              <a:t>he bought from </a:t>
            </a:r>
            <a:r>
              <a:rPr lang="en-US" b="1" dirty="0">
                <a:latin typeface="Arial" pitchFamily="34" charset="0"/>
                <a:cs typeface="Arial" pitchFamily="34" charset="0"/>
              </a:rPr>
              <a:t>Ravi.</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John’s % return (which is popularly known as the </a:t>
            </a:r>
            <a:r>
              <a:rPr lang="en-US" b="1" dirty="0" smtClean="0">
                <a:latin typeface="Arial" pitchFamily="34" charset="0"/>
                <a:cs typeface="Arial" pitchFamily="34" charset="0"/>
              </a:rPr>
              <a:t>yield)works </a:t>
            </a:r>
            <a:r>
              <a:rPr lang="en-US" b="1" dirty="0">
                <a:latin typeface="Arial" pitchFamily="34" charset="0"/>
                <a:cs typeface="Arial" pitchFamily="34" charset="0"/>
              </a:rPr>
              <a:t>out to</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a:t>
            </a:r>
            <a:r>
              <a:rPr lang="en-US" b="1" dirty="0">
                <a:latin typeface="Arial" pitchFamily="34" charset="0"/>
                <a:cs typeface="Arial" pitchFamily="34" charset="0"/>
              </a:rPr>
              <a:t>20/90}x100 = 22.2%</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extLst>
      <p:ext uri="{BB962C8B-B14F-4D97-AF65-F5344CB8AC3E}">
        <p14:creationId xmlns:p14="http://schemas.microsoft.com/office/powerpoint/2010/main" xmlns="" val="157209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39320" y="3789040"/>
            <a:ext cx="4149104" cy="2086725"/>
          </a:xfrm>
          <a:prstGeom prst="rect">
            <a:avLst/>
          </a:prstGeom>
        </p:spPr>
        <p:txBody>
          <a:bodyPr wrap="square">
            <a:spAutoFit/>
          </a:bodyPr>
          <a:lstStyle/>
          <a:p>
            <a:pPr>
              <a:lnSpc>
                <a:spcPct val="120000"/>
              </a:lnSpc>
            </a:pPr>
            <a:r>
              <a:rPr lang="en-US" b="1" dirty="0">
                <a:latin typeface="Arial" pitchFamily="34" charset="0"/>
                <a:cs typeface="Arial" pitchFamily="34" charset="0"/>
              </a:rPr>
              <a:t>Thus while Ravi </a:t>
            </a:r>
            <a:r>
              <a:rPr lang="en-US" b="1" dirty="0" smtClean="0">
                <a:latin typeface="Arial" pitchFamily="34" charset="0"/>
                <a:cs typeface="Arial" pitchFamily="34" charset="0"/>
              </a:rPr>
              <a:t>was earning a return a 10%, the sale of the bond at a lower </a:t>
            </a:r>
            <a:r>
              <a:rPr lang="en-US" b="1" dirty="0">
                <a:latin typeface="Arial" pitchFamily="34" charset="0"/>
                <a:cs typeface="Arial" pitchFamily="34" charset="0"/>
              </a:rPr>
              <a:t>price of Rs 90 </a:t>
            </a:r>
            <a:r>
              <a:rPr lang="en-US" b="1" dirty="0" smtClean="0">
                <a:latin typeface="Arial" pitchFamily="34" charset="0"/>
                <a:cs typeface="Arial" pitchFamily="34" charset="0"/>
              </a:rPr>
              <a:t>translated into a gain for John in terms of higher yield which went up from 10% to 22.22%.</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extLst>
      <p:ext uri="{BB962C8B-B14F-4D97-AF65-F5344CB8AC3E}">
        <p14:creationId xmlns:p14="http://schemas.microsoft.com/office/powerpoint/2010/main" xmlns="" val="2311637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
        <p:nvSpPr>
          <p:cNvPr id="4" name="TextBox 3"/>
          <p:cNvSpPr txBox="1"/>
          <p:nvPr/>
        </p:nvSpPr>
        <p:spPr>
          <a:xfrm>
            <a:off x="812468" y="1122534"/>
            <a:ext cx="7071900"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Having understood the concept, it will not be difficult for </a:t>
            </a:r>
            <a:r>
              <a:rPr lang="en-US" b="1" dirty="0" smtClean="0">
                <a:latin typeface="Arial" pitchFamily="34" charset="0"/>
                <a:cs typeface="Arial" pitchFamily="34" charset="0"/>
              </a:rPr>
              <a:t>you</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appreciate the inverse relationship between the price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bond and its yield (for the buyer of the bond</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i.e. A bond’s yield goes up when its price goes </a:t>
            </a:r>
            <a:r>
              <a:rPr lang="en-US" b="1" dirty="0" smtClean="0">
                <a:latin typeface="Arial" pitchFamily="34" charset="0"/>
                <a:cs typeface="Arial" pitchFamily="34" charset="0"/>
              </a:rPr>
              <a:t>down</a:t>
            </a:r>
            <a:br>
              <a:rPr lang="en-US" b="1" dirty="0" smtClean="0">
                <a:latin typeface="Arial" pitchFamily="34" charset="0"/>
                <a:cs typeface="Arial" pitchFamily="34" charset="0"/>
              </a:rPr>
            </a:br>
            <a:r>
              <a:rPr lang="en-US" b="1" dirty="0" smtClean="0">
                <a:latin typeface="Arial" pitchFamily="34" charset="0"/>
                <a:cs typeface="Arial" pitchFamily="34" charset="0"/>
              </a:rPr>
              <a:t>and </a:t>
            </a:r>
            <a:r>
              <a:rPr lang="en-US" b="1" dirty="0">
                <a:latin typeface="Arial" pitchFamily="34" charset="0"/>
                <a:cs typeface="Arial" pitchFamily="34" charset="0"/>
              </a:rPr>
              <a:t>conversely the yield of the bond comes down </a:t>
            </a:r>
            <a:r>
              <a:rPr lang="en-US" b="1" dirty="0" smtClean="0">
                <a:latin typeface="Arial" pitchFamily="34" charset="0"/>
                <a:cs typeface="Arial" pitchFamily="34" charset="0"/>
              </a:rPr>
              <a:t>when</a:t>
            </a:r>
            <a:br>
              <a:rPr lang="en-US" b="1" dirty="0" smtClean="0">
                <a:latin typeface="Arial" pitchFamily="34" charset="0"/>
                <a:cs typeface="Arial" pitchFamily="34" charset="0"/>
              </a:rPr>
            </a:br>
            <a:r>
              <a:rPr lang="en-US" b="1" dirty="0" smtClean="0">
                <a:latin typeface="Arial" pitchFamily="34" charset="0"/>
                <a:cs typeface="Arial" pitchFamily="34" charset="0"/>
              </a:rPr>
              <a:t>the price </a:t>
            </a:r>
            <a:r>
              <a:rPr lang="en-US" b="1" dirty="0">
                <a:latin typeface="Arial" pitchFamily="34" charset="0"/>
                <a:cs typeface="Arial" pitchFamily="34" charset="0"/>
              </a:rPr>
              <a:t>of the bond goes up.</a:t>
            </a:r>
          </a:p>
        </p:txBody>
      </p:sp>
    </p:spTree>
    <p:extLst>
      <p:ext uri="{BB962C8B-B14F-4D97-AF65-F5344CB8AC3E}">
        <p14:creationId xmlns:p14="http://schemas.microsoft.com/office/powerpoint/2010/main" xmlns="" val="426284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150587"/>
            <a:ext cx="4392488" cy="1421928"/>
          </a:xfrm>
          <a:prstGeom prst="rect">
            <a:avLst/>
          </a:prstGeom>
        </p:spPr>
        <p:txBody>
          <a:bodyPr wrap="square">
            <a:spAutoFit/>
          </a:bodyPr>
          <a:lstStyle/>
          <a:p>
            <a:pPr>
              <a:lnSpc>
                <a:spcPct val="120000"/>
              </a:lnSpc>
            </a:pPr>
            <a:r>
              <a:rPr lang="en-US" b="1" dirty="0">
                <a:latin typeface="Arial" pitchFamily="34" charset="0"/>
                <a:cs typeface="Arial" pitchFamily="34" charset="0"/>
              </a:rPr>
              <a:t>I hope you now have a better conceptual understanding of the inverse relationship between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price </a:t>
            </a:r>
            <a:r>
              <a:rPr lang="en-US" b="1" dirty="0">
                <a:latin typeface="Arial" pitchFamily="34" charset="0"/>
                <a:cs typeface="Arial" pitchFamily="34" charset="0"/>
              </a:rPr>
              <a:t>and yield of a “bond</a:t>
            </a:r>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Tree>
    <p:extLst>
      <p:ext uri="{BB962C8B-B14F-4D97-AF65-F5344CB8AC3E}">
        <p14:creationId xmlns:p14="http://schemas.microsoft.com/office/powerpoint/2010/main" xmlns="" val="1868499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BOND PRICES &amp; YIELDS</a:t>
            </a:r>
          </a:p>
        </p:txBody>
      </p:sp>
      <p:sp>
        <p:nvSpPr>
          <p:cNvPr id="4" name="TextBox 3"/>
          <p:cNvSpPr txBox="1"/>
          <p:nvPr/>
        </p:nvSpPr>
        <p:spPr>
          <a:xfrm>
            <a:off x="2950016" y="1052736"/>
            <a:ext cx="4142264" cy="2031325"/>
          </a:xfrm>
          <a:prstGeom prst="rect">
            <a:avLst/>
          </a:prstGeom>
          <a:noFill/>
        </p:spPr>
        <p:txBody>
          <a:bodyPr wrap="square" rtlCol="0">
            <a:spAutoFit/>
          </a:bodyPr>
          <a:lstStyle/>
          <a:p>
            <a:r>
              <a:rPr lang="en-US" b="1" dirty="0">
                <a:latin typeface="Arial" pitchFamily="34" charset="0"/>
                <a:cs typeface="Arial" pitchFamily="34" charset="0"/>
              </a:rPr>
              <a:t>I will be glad to receive your feedback on this lesson to understand if there any gaps.</a:t>
            </a:r>
          </a:p>
          <a:p>
            <a:endParaRPr lang="en-US" b="1" dirty="0">
              <a:latin typeface="Arial" pitchFamily="34" charset="0"/>
              <a:cs typeface="Arial" pitchFamily="34" charset="0"/>
            </a:endParaRPr>
          </a:p>
          <a:p>
            <a:r>
              <a:rPr lang="en-US" b="1" dirty="0">
                <a:latin typeface="Arial" pitchFamily="34" charset="0"/>
                <a:cs typeface="Arial" pitchFamily="34" charset="0"/>
              </a:rPr>
              <a:t>Also if you wish to </a:t>
            </a:r>
            <a:r>
              <a:rPr lang="en-US" b="1" dirty="0" smtClean="0">
                <a:latin typeface="Arial" pitchFamily="34" charset="0"/>
                <a:cs typeface="Arial" pitchFamily="34" charset="0"/>
              </a:rPr>
              <a:t>demystify</a:t>
            </a:r>
            <a:br>
              <a:rPr lang="en-US" b="1" dirty="0" smtClean="0">
                <a:latin typeface="Arial" pitchFamily="34" charset="0"/>
                <a:cs typeface="Arial" pitchFamily="34" charset="0"/>
              </a:rPr>
            </a:br>
            <a:r>
              <a:rPr lang="en-US" b="1" dirty="0" smtClean="0">
                <a:latin typeface="Arial" pitchFamily="34" charset="0"/>
                <a:cs typeface="Arial" pitchFamily="34" charset="0"/>
              </a:rPr>
              <a:t>any </a:t>
            </a:r>
            <a:r>
              <a:rPr lang="en-US" b="1" dirty="0">
                <a:latin typeface="Arial" pitchFamily="34" charset="0"/>
                <a:cs typeface="Arial" pitchFamily="34" charset="0"/>
              </a:rPr>
              <a:t>other </a:t>
            </a:r>
            <a:r>
              <a:rPr lang="en-US" b="1" dirty="0" smtClean="0">
                <a:latin typeface="Arial" pitchFamily="34" charset="0"/>
                <a:cs typeface="Arial" pitchFamily="34" charset="0"/>
              </a:rPr>
              <a:t>concepts,</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write to me about them.</a:t>
            </a:r>
          </a:p>
        </p:txBody>
      </p:sp>
    </p:spTree>
    <p:extLst>
      <p:ext uri="{BB962C8B-B14F-4D97-AF65-F5344CB8AC3E}">
        <p14:creationId xmlns:p14="http://schemas.microsoft.com/office/powerpoint/2010/main" xmlns="" val="423303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0"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47664" y="1268760"/>
            <a:ext cx="3024336" cy="1398332"/>
          </a:xfrm>
          <a:prstGeom prst="rect">
            <a:avLst/>
          </a:prstGeom>
          <a:noFill/>
        </p:spPr>
        <p:txBody>
          <a:bodyPr wrap="square" rtlCol="0">
            <a:spAutoFit/>
          </a:bodyPr>
          <a:lstStyle/>
          <a:p>
            <a:pPr marL="342900" indent="-342900">
              <a:lnSpc>
                <a:spcPct val="150000"/>
              </a:lnSpc>
              <a:spcBef>
                <a:spcPct val="20000"/>
              </a:spcBef>
            </a:pPr>
            <a:r>
              <a:rPr lang="en-US" b="1" dirty="0" smtClean="0">
                <a:latin typeface="Arial" pitchFamily="34" charset="0"/>
                <a:cs typeface="Arial" pitchFamily="34" charset="0"/>
              </a:rPr>
              <a:t>Please give us </a:t>
            </a:r>
          </a:p>
          <a:p>
            <a:pPr marL="342900" indent="-342900">
              <a:lnSpc>
                <a:spcPct val="150000"/>
              </a:lnSpc>
              <a:spcBef>
                <a:spcPct val="20000"/>
              </a:spcBef>
            </a:pPr>
            <a:r>
              <a:rPr lang="en-US" b="1" dirty="0" smtClean="0">
                <a:latin typeface="Arial" pitchFamily="34" charset="0"/>
                <a:cs typeface="Arial" pitchFamily="34" charset="0"/>
              </a:rPr>
              <a:t>your feedback at</a:t>
            </a:r>
          </a:p>
          <a:p>
            <a:pPr marL="342900" indent="-342900">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1326</TotalTime>
  <Words>541</Words>
  <Application>Microsoft Office PowerPoint</Application>
  <PresentationFormat>On-screen Show (4:3)</PresentationFormat>
  <Paragraphs>48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136</cp:revision>
  <dcterms:created xsi:type="dcterms:W3CDTF">2013-10-22T09:41:31Z</dcterms:created>
  <dcterms:modified xsi:type="dcterms:W3CDTF">2014-09-15T12:23:12Z</dcterms:modified>
</cp:coreProperties>
</file>