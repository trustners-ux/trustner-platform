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24" r:id="rId3"/>
    <p:sldId id="316" r:id="rId4"/>
    <p:sldId id="332" r:id="rId5"/>
    <p:sldId id="334" r:id="rId6"/>
    <p:sldId id="336" r:id="rId7"/>
    <p:sldId id="326" r:id="rId8"/>
    <p:sldId id="337" r:id="rId9"/>
    <p:sldId id="327" r:id="rId10"/>
    <p:sldId id="338" r:id="rId11"/>
    <p:sldId id="329" r:id="rId12"/>
    <p:sldId id="339" r:id="rId13"/>
    <p:sldId id="341" r:id="rId14"/>
    <p:sldId id="342" r:id="rId15"/>
    <p:sldId id="287"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91" autoAdjust="0"/>
    <p:restoredTop sz="94595" autoAdjust="0"/>
  </p:normalViewPr>
  <p:slideViewPr>
    <p:cSldViewPr>
      <p:cViewPr varScale="1">
        <p:scale>
          <a:sx n="52" d="100"/>
          <a:sy n="52" d="100"/>
        </p:scale>
        <p:origin x="-1651" y="-8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817803"/>
            <a:ext cx="4248472" cy="323165"/>
          </a:xfrm>
          <a:prstGeom prst="rect">
            <a:avLst/>
          </a:prstGeom>
          <a:noFill/>
        </p:spPr>
        <p:txBody>
          <a:bodyPr wrap="square" rtlCol="0">
            <a:spAutoFit/>
          </a:bodyPr>
          <a:lstStyle/>
          <a:p>
            <a:pPr algn="ctr"/>
            <a:r>
              <a:rPr lang="en-US" sz="1500" b="1" dirty="0" smtClean="0">
                <a:solidFill>
                  <a:schemeClr val="bg1"/>
                </a:solidFill>
                <a:latin typeface="Arial" pitchFamily="34" charset="0"/>
                <a:cs typeface="Arial" pitchFamily="34" charset="0"/>
              </a:rPr>
              <a:t>SIGNIFICANCE OF YIELD IN BOND MARKET</a:t>
            </a:r>
            <a:endParaRPr lang="en-US" sz="15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876782"/>
            <a:ext cx="7488832" cy="3416320"/>
          </a:xfrm>
          <a:prstGeom prst="rect">
            <a:avLst/>
          </a:prstGeom>
          <a:noFill/>
        </p:spPr>
        <p:txBody>
          <a:bodyPr wrap="square" rtlCol="0">
            <a:spAutoFit/>
          </a:bodyPr>
          <a:lstStyle/>
          <a:p>
            <a:pPr>
              <a:lnSpc>
                <a:spcPct val="150000"/>
              </a:lnSpc>
              <a:buFontTx/>
              <a:buNone/>
            </a:pPr>
            <a:r>
              <a:rPr lang="en-US" b="1" dirty="0" smtClean="0">
                <a:latin typeface="Arial" pitchFamily="34" charset="0"/>
                <a:cs typeface="Arial" pitchFamily="34" charset="0"/>
              </a:rPr>
              <a:t>When </a:t>
            </a:r>
            <a:r>
              <a:rPr lang="en-US" b="1" dirty="0">
                <a:latin typeface="Arial" pitchFamily="34" charset="0"/>
                <a:cs typeface="Arial" pitchFamily="34" charset="0"/>
              </a:rPr>
              <a:t>equity markets are bullish we say </a:t>
            </a:r>
            <a:r>
              <a:rPr lang="en-US" b="1" dirty="0" smtClean="0">
                <a:latin typeface="Arial" pitchFamily="34" charset="0"/>
                <a:cs typeface="Arial" pitchFamily="34" charset="0"/>
              </a:rPr>
              <a:t>“ the </a:t>
            </a:r>
            <a:r>
              <a:rPr lang="en-US" b="1" dirty="0" err="1" smtClean="0">
                <a:latin typeface="Arial" pitchFamily="34" charset="0"/>
                <a:cs typeface="Arial" pitchFamily="34" charset="0"/>
              </a:rPr>
              <a:t>Sensex</a:t>
            </a:r>
            <a:r>
              <a:rPr lang="en-US" b="1" dirty="0" smtClean="0">
                <a:latin typeface="Arial" pitchFamily="34" charset="0"/>
                <a:cs typeface="Arial" pitchFamily="34" charset="0"/>
              </a:rPr>
              <a:t> </a:t>
            </a:r>
            <a:r>
              <a:rPr lang="en-US" b="1" dirty="0">
                <a:latin typeface="Arial" pitchFamily="34" charset="0"/>
                <a:cs typeface="Arial" pitchFamily="34" charset="0"/>
              </a:rPr>
              <a:t>has “gone </a:t>
            </a:r>
            <a:r>
              <a:rPr lang="en-US" b="1" dirty="0" smtClean="0">
                <a:latin typeface="Arial" pitchFamily="34" charset="0"/>
                <a:cs typeface="Arial" pitchFamily="34" charset="0"/>
              </a:rPr>
              <a:t>up”  or  “Equity prices have “gone up” </a:t>
            </a:r>
            <a:br>
              <a:rPr lang="en-US" b="1" dirty="0" smtClean="0">
                <a:latin typeface="Arial" pitchFamily="34" charset="0"/>
                <a:cs typeface="Arial" pitchFamily="34" charset="0"/>
              </a:rPr>
            </a:br>
            <a:r>
              <a:rPr lang="en-US" b="1" dirty="0">
                <a:latin typeface="Arial" pitchFamily="34" charset="0"/>
                <a:cs typeface="Arial" pitchFamily="34" charset="0"/>
              </a:rPr>
              <a:t/>
            </a:r>
            <a:br>
              <a:rPr lang="en-US" b="1" dirty="0">
                <a:latin typeface="Arial" pitchFamily="34" charset="0"/>
                <a:cs typeface="Arial" pitchFamily="34" charset="0"/>
              </a:rPr>
            </a:br>
            <a:r>
              <a:rPr lang="en-US" b="1" dirty="0">
                <a:latin typeface="Arial" pitchFamily="34" charset="0"/>
                <a:cs typeface="Arial" pitchFamily="34" charset="0"/>
              </a:rPr>
              <a:t>BUT </a:t>
            </a:r>
            <a:br>
              <a:rPr lang="en-US" b="1" dirty="0">
                <a:latin typeface="Arial" pitchFamily="34" charset="0"/>
                <a:cs typeface="Arial" pitchFamily="34" charset="0"/>
              </a:rPr>
            </a:br>
            <a:r>
              <a:rPr lang="en-US" b="1" dirty="0">
                <a:latin typeface="Arial" pitchFamily="34" charset="0"/>
                <a:cs typeface="Arial" pitchFamily="34" charset="0"/>
              </a:rPr>
              <a:t/>
            </a:r>
            <a:br>
              <a:rPr lang="en-US" b="1" dirty="0">
                <a:latin typeface="Arial" pitchFamily="34" charset="0"/>
                <a:cs typeface="Arial" pitchFamily="34" charset="0"/>
              </a:rPr>
            </a:br>
            <a:r>
              <a:rPr lang="en-US" b="1" dirty="0" smtClean="0">
                <a:latin typeface="Arial" pitchFamily="34" charset="0"/>
                <a:cs typeface="Arial" pitchFamily="34" charset="0"/>
              </a:rPr>
              <a:t>When </a:t>
            </a:r>
            <a:r>
              <a:rPr lang="en-US" b="1" dirty="0">
                <a:latin typeface="Arial" pitchFamily="34" charset="0"/>
                <a:cs typeface="Arial" pitchFamily="34" charset="0"/>
              </a:rPr>
              <a:t>bond markets are bullish we say “yields” </a:t>
            </a:r>
            <a:r>
              <a:rPr lang="en-US" b="1" dirty="0" smtClean="0">
                <a:latin typeface="Arial" pitchFamily="34" charset="0"/>
                <a:cs typeface="Arial" pitchFamily="34" charset="0"/>
              </a:rPr>
              <a:t>have “gone </a:t>
            </a:r>
            <a:r>
              <a:rPr lang="en-US" b="1" dirty="0">
                <a:latin typeface="Arial" pitchFamily="34" charset="0"/>
                <a:cs typeface="Arial" pitchFamily="34" charset="0"/>
              </a:rPr>
              <a:t>down” </a:t>
            </a:r>
            <a:endParaRPr lang="en-US" b="1" dirty="0" smtClean="0">
              <a:latin typeface="Arial" pitchFamily="34" charset="0"/>
              <a:cs typeface="Arial" pitchFamily="34" charset="0"/>
            </a:endParaRPr>
          </a:p>
          <a:p>
            <a:pPr>
              <a:lnSpc>
                <a:spcPct val="150000"/>
              </a:lnSpc>
              <a:buFontTx/>
              <a:buNone/>
            </a:pPr>
            <a:endParaRPr lang="en-US" b="1" dirty="0" smtClean="0">
              <a:latin typeface="Arial" pitchFamily="34" charset="0"/>
              <a:cs typeface="Arial" pitchFamily="34" charset="0"/>
            </a:endParaRPr>
          </a:p>
          <a:p>
            <a:pPr>
              <a:lnSpc>
                <a:spcPct val="150000"/>
              </a:lnSpc>
              <a:buFontTx/>
              <a:buNone/>
            </a:pPr>
            <a:r>
              <a:rPr lang="en-US" b="1" dirty="0" smtClean="0">
                <a:latin typeface="Arial" pitchFamily="34" charset="0"/>
                <a:cs typeface="Arial" pitchFamily="34" charset="0"/>
              </a:rPr>
              <a:t>Why??</a:t>
            </a:r>
            <a:endParaRPr lang="en-US" b="1" dirty="0">
              <a:latin typeface="Arial" pitchFamily="34" charset="0"/>
              <a:cs typeface="Arial" pitchFamily="34" charset="0"/>
            </a:endParaRPr>
          </a:p>
        </p:txBody>
      </p:sp>
      <p:sp>
        <p:nvSpPr>
          <p:cNvPr id="5" name="TextBox 4"/>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Tree>
    <p:extLst>
      <p:ext uri="{BB962C8B-B14F-4D97-AF65-F5344CB8AC3E}">
        <p14:creationId xmlns:p14="http://schemas.microsoft.com/office/powerpoint/2010/main" xmlns="" val="32104835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16016" y="2348880"/>
            <a:ext cx="3637317" cy="383181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When </a:t>
            </a:r>
            <a:r>
              <a:rPr lang="en-US" b="1" dirty="0">
                <a:latin typeface="Arial" pitchFamily="34" charset="0"/>
                <a:cs typeface="Arial" pitchFamily="34" charset="0"/>
              </a:rPr>
              <a:t>bond markets move </a:t>
            </a:r>
            <a:r>
              <a:rPr lang="en-US" b="1" dirty="0" smtClean="0">
                <a:latin typeface="Arial" pitchFamily="34" charset="0"/>
                <a:cs typeface="Arial" pitchFamily="34" charset="0"/>
              </a:rPr>
              <a:t>up, we </a:t>
            </a:r>
            <a:r>
              <a:rPr lang="en-US" b="1" dirty="0">
                <a:latin typeface="Arial" pitchFamily="34" charset="0"/>
                <a:cs typeface="Arial" pitchFamily="34" charset="0"/>
              </a:rPr>
              <a:t>say </a:t>
            </a:r>
            <a:r>
              <a:rPr lang="en-US" b="1" dirty="0" smtClean="0">
                <a:latin typeface="Arial" pitchFamily="34" charset="0"/>
                <a:cs typeface="Arial" pitchFamily="34" charset="0"/>
              </a:rPr>
              <a:t>that  </a:t>
            </a:r>
            <a:r>
              <a:rPr lang="en-US" b="1" dirty="0">
                <a:latin typeface="Arial" pitchFamily="34" charset="0"/>
                <a:cs typeface="Arial" pitchFamily="34" charset="0"/>
              </a:rPr>
              <a:t>“yields” have gone down whereas when bond markets fall we say the “yields” have gone </a:t>
            </a:r>
            <a:r>
              <a:rPr lang="en-US" b="1" dirty="0" smtClean="0">
                <a:latin typeface="Arial" pitchFamily="34" charset="0"/>
                <a:cs typeface="Arial" pitchFamily="34" charset="0"/>
              </a:rPr>
              <a:t>up</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Thus there seems to be an inverse relationship between the markets and the “yields”</a:t>
            </a: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Tree>
    <p:extLst>
      <p:ext uri="{BB962C8B-B14F-4D97-AF65-F5344CB8AC3E}">
        <p14:creationId xmlns:p14="http://schemas.microsoft.com/office/powerpoint/2010/main" xmlns="" val="935328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TextBox 5"/>
          <p:cNvSpPr txBox="1"/>
          <p:nvPr/>
        </p:nvSpPr>
        <p:spPr>
          <a:xfrm>
            <a:off x="683568" y="876782"/>
            <a:ext cx="7488832" cy="3000821"/>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HOWEVER </a:t>
            </a:r>
          </a:p>
          <a:p>
            <a:pPr>
              <a:lnSpc>
                <a:spcPct val="150000"/>
              </a:lnSpc>
            </a:pPr>
            <a:r>
              <a:rPr lang="en-US" b="1" dirty="0">
                <a:latin typeface="Arial" pitchFamily="34" charset="0"/>
                <a:cs typeface="Arial" pitchFamily="34" charset="0"/>
              </a:rPr>
              <a:t>It is quite the opposite with Equity Markets where the “SENSEX” is said to go up with rising markets and go down with falling markets</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THUS</a:t>
            </a: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There </a:t>
            </a:r>
            <a:r>
              <a:rPr lang="en-US" b="1" dirty="0">
                <a:latin typeface="Arial" pitchFamily="34" charset="0"/>
                <a:cs typeface="Arial" pitchFamily="34" charset="0"/>
              </a:rPr>
              <a:t>seems to be a direct relationship between the equity markets and the SENSEX</a:t>
            </a:r>
          </a:p>
        </p:txBody>
      </p:sp>
      <p:sp>
        <p:nvSpPr>
          <p:cNvPr id="7" name="TextBox 6"/>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Tree>
    <p:extLst>
      <p:ext uri="{BB962C8B-B14F-4D97-AF65-F5344CB8AC3E}">
        <p14:creationId xmlns:p14="http://schemas.microsoft.com/office/powerpoint/2010/main" xmlns="" val="5565437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
        <p:nvSpPr>
          <p:cNvPr id="3" name="TextBox 2"/>
          <p:cNvSpPr txBox="1"/>
          <p:nvPr/>
        </p:nvSpPr>
        <p:spPr>
          <a:xfrm>
            <a:off x="4067944" y="3923471"/>
            <a:ext cx="4392488" cy="2118529"/>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In equity </a:t>
            </a:r>
            <a:r>
              <a:rPr lang="en-US" b="1" dirty="0">
                <a:latin typeface="Arial" pitchFamily="34" charset="0"/>
                <a:cs typeface="Arial" pitchFamily="34" charset="0"/>
              </a:rPr>
              <a:t>markets </a:t>
            </a:r>
            <a:r>
              <a:rPr lang="en-US" b="1" dirty="0" smtClean="0">
                <a:latin typeface="Arial" pitchFamily="34" charset="0"/>
                <a:cs typeface="Arial" pitchFamily="34" charset="0"/>
              </a:rPr>
              <a:t> a business </a:t>
            </a:r>
            <a:r>
              <a:rPr lang="en-US" b="1" dirty="0">
                <a:latin typeface="Arial" pitchFamily="34" charset="0"/>
                <a:cs typeface="Arial" pitchFamily="34" charset="0"/>
              </a:rPr>
              <a:t>offers its shares to investors who are willing to take </a:t>
            </a:r>
            <a:r>
              <a:rPr lang="en-US" b="1" dirty="0" smtClean="0">
                <a:latin typeface="Arial" pitchFamily="34" charset="0"/>
                <a:cs typeface="Arial" pitchFamily="34" charset="0"/>
              </a:rPr>
              <a:t>a risk on the business succeeding and thereby making big gains.</a:t>
            </a:r>
          </a:p>
        </p:txBody>
      </p:sp>
    </p:spTree>
    <p:extLst>
      <p:ext uri="{BB962C8B-B14F-4D97-AF65-F5344CB8AC3E}">
        <p14:creationId xmlns:p14="http://schemas.microsoft.com/office/powerpoint/2010/main" xmlns="" val="29526931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
        <p:nvSpPr>
          <p:cNvPr id="4" name="TextBox 3"/>
          <p:cNvSpPr txBox="1"/>
          <p:nvPr/>
        </p:nvSpPr>
        <p:spPr>
          <a:xfrm>
            <a:off x="4032154" y="4437112"/>
            <a:ext cx="4392488"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In a bond market the business raises debt capital where the </a:t>
            </a:r>
            <a:r>
              <a:rPr lang="en-US" b="1" dirty="0" smtClean="0">
                <a:latin typeface="Arial" pitchFamily="34" charset="0"/>
                <a:cs typeface="Arial" pitchFamily="34" charset="0"/>
              </a:rPr>
              <a:t>investors</a:t>
            </a:r>
            <a:br>
              <a:rPr lang="en-US" b="1" dirty="0" smtClean="0">
                <a:latin typeface="Arial" pitchFamily="34" charset="0"/>
                <a:cs typeface="Arial" pitchFamily="34" charset="0"/>
              </a:rPr>
            </a:br>
            <a:r>
              <a:rPr lang="en-US" b="1" dirty="0" smtClean="0">
                <a:latin typeface="Arial" pitchFamily="34" charset="0"/>
                <a:cs typeface="Arial" pitchFamily="34" charset="0"/>
              </a:rPr>
              <a:t>invest </a:t>
            </a:r>
            <a:r>
              <a:rPr lang="en-US" b="1" dirty="0">
                <a:latin typeface="Arial" pitchFamily="34" charset="0"/>
                <a:cs typeface="Arial" pitchFamily="34" charset="0"/>
              </a:rPr>
              <a:t>money for a fixed </a:t>
            </a:r>
            <a:r>
              <a:rPr lang="en-US" b="1" dirty="0" smtClean="0">
                <a:latin typeface="Arial" pitchFamily="34" charset="0"/>
                <a:cs typeface="Arial" pitchFamily="34" charset="0"/>
              </a:rPr>
              <a:t>period</a:t>
            </a:r>
            <a:br>
              <a:rPr lang="en-US" b="1" dirty="0" smtClean="0">
                <a:latin typeface="Arial" pitchFamily="34" charset="0"/>
                <a:cs typeface="Arial" pitchFamily="34" charset="0"/>
              </a:rPr>
            </a:br>
            <a:r>
              <a:rPr lang="en-US" b="1" dirty="0" smtClean="0">
                <a:latin typeface="Arial" pitchFamily="34" charset="0"/>
                <a:cs typeface="Arial" pitchFamily="34" charset="0"/>
              </a:rPr>
              <a:t>at </a:t>
            </a:r>
            <a:r>
              <a:rPr lang="en-US" b="1" dirty="0">
                <a:latin typeface="Arial" pitchFamily="34" charset="0"/>
                <a:cs typeface="Arial" pitchFamily="34" charset="0"/>
              </a:rPr>
              <a:t>a particular rate of interest.</a:t>
            </a:r>
          </a:p>
        </p:txBody>
      </p:sp>
    </p:spTree>
    <p:extLst>
      <p:ext uri="{BB962C8B-B14F-4D97-AF65-F5344CB8AC3E}">
        <p14:creationId xmlns:p14="http://schemas.microsoft.com/office/powerpoint/2010/main" xmlns="" val="15629763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71143"/>
            <a:ext cx="7416824" cy="3000821"/>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When the bond markets are </a:t>
            </a:r>
            <a:r>
              <a:rPr lang="en-US" b="1" dirty="0" smtClean="0">
                <a:latin typeface="Arial" pitchFamily="34" charset="0"/>
                <a:cs typeface="Arial" pitchFamily="34" charset="0"/>
              </a:rPr>
              <a:t>bullish (positive) </a:t>
            </a:r>
            <a:r>
              <a:rPr lang="en-US" b="1" dirty="0">
                <a:latin typeface="Arial" pitchFamily="34" charset="0"/>
                <a:cs typeface="Arial" pitchFamily="34" charset="0"/>
              </a:rPr>
              <a:t>it means there are </a:t>
            </a:r>
            <a:r>
              <a:rPr lang="en-US" b="1" dirty="0" smtClean="0">
                <a:latin typeface="Arial" pitchFamily="34" charset="0"/>
                <a:cs typeface="Arial" pitchFamily="34" charset="0"/>
              </a:rPr>
              <a:t>many investors who </a:t>
            </a:r>
            <a:r>
              <a:rPr lang="en-US" b="1" dirty="0">
                <a:latin typeface="Arial" pitchFamily="34" charset="0"/>
                <a:cs typeface="Arial" pitchFamily="34" charset="0"/>
              </a:rPr>
              <a:t>are willing to lend money</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In such a situation the business can expect to raise </a:t>
            </a:r>
            <a:r>
              <a:rPr lang="en-US" b="1" dirty="0" smtClean="0">
                <a:latin typeface="Arial" pitchFamily="34" charset="0"/>
                <a:cs typeface="Arial" pitchFamily="34" charset="0"/>
              </a:rPr>
              <a:t>capital</a:t>
            </a:r>
            <a:br>
              <a:rPr lang="en-US" b="1" dirty="0" smtClean="0">
                <a:latin typeface="Arial" pitchFamily="34" charset="0"/>
                <a:cs typeface="Arial" pitchFamily="34" charset="0"/>
              </a:rPr>
            </a:br>
            <a:r>
              <a:rPr lang="en-US" b="1" dirty="0" smtClean="0">
                <a:latin typeface="Arial" pitchFamily="34" charset="0"/>
                <a:cs typeface="Arial" pitchFamily="34" charset="0"/>
              </a:rPr>
              <a:t>at </a:t>
            </a:r>
            <a:r>
              <a:rPr lang="en-US" b="1" dirty="0">
                <a:latin typeface="Arial" pitchFamily="34" charset="0"/>
                <a:cs typeface="Arial" pitchFamily="34" charset="0"/>
              </a:rPr>
              <a:t>a lower interest rate </a:t>
            </a:r>
            <a:r>
              <a:rPr lang="en-US" b="1" dirty="0" smtClean="0">
                <a:latin typeface="Arial" pitchFamily="34" charset="0"/>
                <a:cs typeface="Arial" pitchFamily="34" charset="0"/>
              </a:rPr>
              <a:t>or “</a:t>
            </a:r>
            <a:r>
              <a:rPr lang="en-US" b="1" dirty="0" smtClean="0">
                <a:latin typeface="Arial" pitchFamily="34" charset="0"/>
                <a:cs typeface="Arial" pitchFamily="34" charset="0"/>
              </a:rPr>
              <a:t>lower </a:t>
            </a:r>
            <a:r>
              <a:rPr lang="en-US" b="1" dirty="0">
                <a:latin typeface="Arial" pitchFamily="34" charset="0"/>
                <a:cs typeface="Arial" pitchFamily="34" charset="0"/>
              </a:rPr>
              <a:t>yield” </a:t>
            </a:r>
            <a:endParaRPr lang="en-US" b="1" dirty="0" smtClean="0">
              <a:latin typeface="Arial" pitchFamily="34" charset="0"/>
              <a:cs typeface="Arial" pitchFamily="34" charset="0"/>
            </a:endParaRP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Hence we say that “when bond markets are bullish the yields fall”.</a:t>
            </a:r>
          </a:p>
        </p:txBody>
      </p:sp>
      <p:sp>
        <p:nvSpPr>
          <p:cNvPr id="6" name="TextBox 5"/>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Tree>
    <p:extLst>
      <p:ext uri="{BB962C8B-B14F-4D97-AF65-F5344CB8AC3E}">
        <p14:creationId xmlns:p14="http://schemas.microsoft.com/office/powerpoint/2010/main" xmlns="" val="31159162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TextBox 5"/>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
        <p:nvSpPr>
          <p:cNvPr id="3" name="TextBox 2"/>
          <p:cNvSpPr txBox="1"/>
          <p:nvPr/>
        </p:nvSpPr>
        <p:spPr>
          <a:xfrm>
            <a:off x="4718135" y="1916832"/>
            <a:ext cx="3672408" cy="4358116"/>
          </a:xfrm>
          <a:prstGeom prst="rect">
            <a:avLst/>
          </a:prstGeom>
          <a:noFill/>
        </p:spPr>
        <p:txBody>
          <a:bodyPr wrap="square" rtlCol="0">
            <a:spAutoFit/>
          </a:bodyPr>
          <a:lstStyle/>
          <a:p>
            <a:pPr>
              <a:lnSpc>
                <a:spcPct val="140000"/>
              </a:lnSpc>
            </a:pPr>
            <a:r>
              <a:rPr lang="en-US" b="1" dirty="0">
                <a:latin typeface="Arial" pitchFamily="34" charset="0"/>
                <a:cs typeface="Arial" pitchFamily="34" charset="0"/>
              </a:rPr>
              <a:t>Let me explain with an example. </a:t>
            </a:r>
          </a:p>
          <a:p>
            <a:pPr>
              <a:lnSpc>
                <a:spcPct val="140000"/>
              </a:lnSpc>
            </a:pPr>
            <a:r>
              <a:rPr lang="en-US" b="1" dirty="0">
                <a:latin typeface="Arial" pitchFamily="34" charset="0"/>
                <a:cs typeface="Arial" pitchFamily="34" charset="0"/>
              </a:rPr>
              <a:t>Let’s say I issue a debt </a:t>
            </a:r>
            <a:r>
              <a:rPr lang="en-US" b="1" dirty="0" smtClean="0">
                <a:latin typeface="Arial" pitchFamily="34" charset="0"/>
                <a:cs typeface="Arial" pitchFamily="34" charset="0"/>
              </a:rPr>
              <a:t>paper </a:t>
            </a:r>
            <a:r>
              <a:rPr lang="en-US" b="1" dirty="0">
                <a:latin typeface="Arial" pitchFamily="34" charset="0"/>
                <a:cs typeface="Arial" pitchFamily="34" charset="0"/>
              </a:rPr>
              <a:t>of Rs. 100 each  at 10% </a:t>
            </a:r>
            <a:r>
              <a:rPr lang="en-US" b="1" dirty="0" smtClean="0">
                <a:latin typeface="Arial" pitchFamily="34" charset="0"/>
                <a:cs typeface="Arial" pitchFamily="34" charset="0"/>
              </a:rPr>
              <a:t>interest p.a.</a:t>
            </a:r>
            <a:r>
              <a:rPr lang="en-US" b="1" dirty="0" smtClean="0">
                <a:latin typeface="Arial" pitchFamily="34" charset="0"/>
                <a:cs typeface="Arial" pitchFamily="34" charset="0"/>
              </a:rPr>
              <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a:lnSpc>
                <a:spcPct val="140000"/>
              </a:lnSpc>
            </a:pPr>
            <a:r>
              <a:rPr lang="en-US" b="1" dirty="0" smtClean="0">
                <a:latin typeface="Arial" pitchFamily="34" charset="0"/>
                <a:cs typeface="Arial" pitchFamily="34" charset="0"/>
              </a:rPr>
              <a:t>This means </a:t>
            </a:r>
            <a:r>
              <a:rPr lang="en-US" b="1" dirty="0">
                <a:latin typeface="Arial" pitchFamily="34" charset="0"/>
                <a:cs typeface="Arial" pitchFamily="34" charset="0"/>
              </a:rPr>
              <a:t>that an investor who lends me Rs 100 for one year will earn Rs 10 at the end of the year. Thus at the end of the year I will return</a:t>
            </a:r>
          </a:p>
          <a:p>
            <a:pPr>
              <a:lnSpc>
                <a:spcPct val="140000"/>
              </a:lnSpc>
            </a:pPr>
            <a:r>
              <a:rPr lang="en-US" b="1" dirty="0" err="1">
                <a:latin typeface="Arial" pitchFamily="34" charset="0"/>
                <a:cs typeface="Arial" pitchFamily="34" charset="0"/>
              </a:rPr>
              <a:t>Rs</a:t>
            </a:r>
            <a:r>
              <a:rPr lang="en-US" b="1" dirty="0">
                <a:latin typeface="Arial" pitchFamily="34" charset="0"/>
                <a:cs typeface="Arial" pitchFamily="34" charset="0"/>
              </a:rPr>
              <a:t>. 110 (</a:t>
            </a:r>
            <a:r>
              <a:rPr lang="en-US" b="1" dirty="0" err="1">
                <a:latin typeface="Arial" pitchFamily="34" charset="0"/>
                <a:cs typeface="Arial" pitchFamily="34" charset="0"/>
              </a:rPr>
              <a:t>Rs</a:t>
            </a:r>
            <a:r>
              <a:rPr lang="en-US" b="1" dirty="0">
                <a:latin typeface="Arial" pitchFamily="34" charset="0"/>
                <a:cs typeface="Arial" pitchFamily="34" charset="0"/>
              </a:rPr>
              <a:t> 100 + </a:t>
            </a:r>
            <a:r>
              <a:rPr lang="en-US" b="1" dirty="0" err="1">
                <a:latin typeface="Arial" pitchFamily="34" charset="0"/>
                <a:cs typeface="Arial" pitchFamily="34" charset="0"/>
              </a:rPr>
              <a:t>Rs</a:t>
            </a:r>
            <a:r>
              <a:rPr lang="en-US" b="1" dirty="0">
                <a:latin typeface="Arial" pitchFamily="34" charset="0"/>
                <a:cs typeface="Arial" pitchFamily="34" charset="0"/>
              </a:rPr>
              <a:t> 10)</a:t>
            </a:r>
          </a:p>
        </p:txBody>
      </p:sp>
    </p:spTree>
    <p:extLst>
      <p:ext uri="{BB962C8B-B14F-4D97-AF65-F5344CB8AC3E}">
        <p14:creationId xmlns:p14="http://schemas.microsoft.com/office/powerpoint/2010/main" xmlns="" val="1749560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43151"/>
            <a:ext cx="7272808" cy="2585323"/>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In  </a:t>
            </a:r>
            <a:r>
              <a:rPr lang="en-US" b="1" dirty="0">
                <a:latin typeface="Arial" pitchFamily="34" charset="0"/>
                <a:cs typeface="Arial" pitchFamily="34" charset="0"/>
              </a:rPr>
              <a:t>a bullish market there are several investors who want to invest and </a:t>
            </a:r>
            <a:r>
              <a:rPr lang="en-US" b="1" dirty="0" smtClean="0">
                <a:latin typeface="Arial" pitchFamily="34" charset="0"/>
                <a:cs typeface="Arial" pitchFamily="34" charset="0"/>
              </a:rPr>
              <a:t>papers </a:t>
            </a:r>
            <a:r>
              <a:rPr lang="en-US" b="1" dirty="0">
                <a:latin typeface="Arial" pitchFamily="34" charset="0"/>
                <a:cs typeface="Arial" pitchFamily="34" charset="0"/>
              </a:rPr>
              <a:t>are </a:t>
            </a:r>
            <a:r>
              <a:rPr lang="en-US" b="1" dirty="0" smtClean="0">
                <a:latin typeface="Arial" pitchFamily="34" charset="0"/>
                <a:cs typeface="Arial" pitchFamily="34" charset="0"/>
              </a:rPr>
              <a:t>in </a:t>
            </a:r>
            <a:r>
              <a:rPr lang="en-US" b="1" dirty="0">
                <a:latin typeface="Arial" pitchFamily="34" charset="0"/>
                <a:cs typeface="Arial" pitchFamily="34" charset="0"/>
              </a:rPr>
              <a:t>short supply. </a:t>
            </a:r>
            <a:endParaRPr lang="en-US" b="1" dirty="0" smtClean="0">
              <a:latin typeface="Arial" pitchFamily="34" charset="0"/>
              <a:cs typeface="Arial" pitchFamily="34" charset="0"/>
            </a:endParaRP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In </a:t>
            </a:r>
            <a:r>
              <a:rPr lang="en-US" b="1" dirty="0">
                <a:latin typeface="Arial" pitchFamily="34" charset="0"/>
                <a:cs typeface="Arial" pitchFamily="34" charset="0"/>
              </a:rPr>
              <a:t>such a situation, perhaps I would find an investor who is willing to pay Rs105 for my debt instrument for which I had paid Rs 100 to the original issuer for earning a 10% </a:t>
            </a:r>
            <a:r>
              <a:rPr lang="en-US" b="1" dirty="0" smtClean="0">
                <a:latin typeface="Arial" pitchFamily="34" charset="0"/>
                <a:cs typeface="Arial" pitchFamily="34" charset="0"/>
              </a:rPr>
              <a:t>interest.</a:t>
            </a:r>
            <a:endParaRPr lang="en-US" b="1" dirty="0">
              <a:latin typeface="Arial" pitchFamily="34" charset="0"/>
              <a:cs typeface="Arial" pitchFamily="34" charset="0"/>
            </a:endParaRPr>
          </a:p>
        </p:txBody>
      </p:sp>
      <p:sp>
        <p:nvSpPr>
          <p:cNvPr id="6" name="TextBox 5"/>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Tree>
    <p:extLst>
      <p:ext uri="{BB962C8B-B14F-4D97-AF65-F5344CB8AC3E}">
        <p14:creationId xmlns:p14="http://schemas.microsoft.com/office/powerpoint/2010/main" xmlns="" val="6781085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771800" y="1340768"/>
            <a:ext cx="4248472" cy="1287532"/>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In this situation I become the issuer to the new investor who purchased the debt paper from me for </a:t>
            </a:r>
            <a:r>
              <a:rPr lang="en-US" b="1" dirty="0" err="1">
                <a:latin typeface="Arial" pitchFamily="34" charset="0"/>
                <a:cs typeface="Arial" pitchFamily="34" charset="0"/>
              </a:rPr>
              <a:t>Rs</a:t>
            </a:r>
            <a:r>
              <a:rPr lang="en-US" b="1" dirty="0">
                <a:latin typeface="Arial" pitchFamily="34" charset="0"/>
                <a:cs typeface="Arial" pitchFamily="34" charset="0"/>
              </a:rPr>
              <a:t> 105.</a:t>
            </a:r>
          </a:p>
        </p:txBody>
      </p:sp>
      <p:sp>
        <p:nvSpPr>
          <p:cNvPr id="4" name="TextBox 3"/>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Tree>
    <p:extLst>
      <p:ext uri="{BB962C8B-B14F-4D97-AF65-F5344CB8AC3E}">
        <p14:creationId xmlns:p14="http://schemas.microsoft.com/office/powerpoint/2010/main" xmlns="" val="41079521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971143"/>
            <a:ext cx="7416824" cy="3000821"/>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The  </a:t>
            </a:r>
            <a:r>
              <a:rPr lang="en-US" b="1" dirty="0">
                <a:latin typeface="Arial" pitchFamily="34" charset="0"/>
                <a:cs typeface="Arial" pitchFamily="34" charset="0"/>
              </a:rPr>
              <a:t>earning of the new investor works out to be </a:t>
            </a: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 </a:t>
            </a:r>
            <a:r>
              <a:rPr lang="en-US" b="1" dirty="0" smtClean="0">
                <a:latin typeface="Arial" pitchFamily="34" charset="0"/>
                <a:cs typeface="Arial" pitchFamily="34" charset="0"/>
              </a:rPr>
              <a:t>Rs </a:t>
            </a:r>
            <a:r>
              <a:rPr lang="en-US" b="1" dirty="0">
                <a:latin typeface="Arial" pitchFamily="34" charset="0"/>
                <a:cs typeface="Arial" pitchFamily="34" charset="0"/>
              </a:rPr>
              <a:t>110 – Rs 105 = Rs 5</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And </a:t>
            </a:r>
            <a:r>
              <a:rPr lang="en-US" b="1" dirty="0">
                <a:latin typeface="Arial" pitchFamily="34" charset="0"/>
                <a:cs typeface="Arial" pitchFamily="34" charset="0"/>
              </a:rPr>
              <a:t>the amount of interest he earns works out </a:t>
            </a:r>
            <a:r>
              <a:rPr lang="en-US" b="1" dirty="0" smtClean="0">
                <a:latin typeface="Arial" pitchFamily="34" charset="0"/>
                <a:cs typeface="Arial" pitchFamily="34" charset="0"/>
              </a:rPr>
              <a:t>to</a:t>
            </a: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(Profit/Invested amount) x </a:t>
            </a:r>
            <a:r>
              <a:rPr lang="en-US" b="1" dirty="0" smtClean="0">
                <a:latin typeface="Arial" pitchFamily="34" charset="0"/>
                <a:cs typeface="Arial" pitchFamily="34" charset="0"/>
              </a:rPr>
              <a:t>100 = </a:t>
            </a:r>
            <a:r>
              <a:rPr lang="en-US" b="1" dirty="0">
                <a:latin typeface="Arial" pitchFamily="34" charset="0"/>
                <a:cs typeface="Arial" pitchFamily="34" charset="0"/>
              </a:rPr>
              <a:t>{5 / 105</a:t>
            </a:r>
            <a:r>
              <a:rPr lang="en-US" b="1" dirty="0" smtClean="0">
                <a:latin typeface="Arial" pitchFamily="34" charset="0"/>
                <a:cs typeface="Arial" pitchFamily="34" charset="0"/>
              </a:rPr>
              <a:t>}% = </a:t>
            </a:r>
            <a:r>
              <a:rPr lang="en-US" b="1" dirty="0">
                <a:latin typeface="Arial" pitchFamily="34" charset="0"/>
                <a:cs typeface="Arial" pitchFamily="34" charset="0"/>
              </a:rPr>
              <a:t>4.7%</a:t>
            </a:r>
          </a:p>
          <a:p>
            <a:pPr>
              <a:lnSpc>
                <a:spcPct val="150000"/>
              </a:lnSpc>
            </a:pPr>
            <a:r>
              <a:rPr lang="en-US" b="1" dirty="0" smtClean="0">
                <a:latin typeface="Arial" pitchFamily="34" charset="0"/>
                <a:cs typeface="Arial" pitchFamily="34" charset="0"/>
              </a:rPr>
              <a:t/>
            </a:r>
            <a:br>
              <a:rPr lang="en-US" b="1" dirty="0" smtClean="0">
                <a:latin typeface="Arial" pitchFamily="34" charset="0"/>
                <a:cs typeface="Arial" pitchFamily="34" charset="0"/>
              </a:rPr>
            </a:br>
            <a:endParaRPr lang="en-US" b="1" dirty="0">
              <a:latin typeface="Arial" pitchFamily="34" charset="0"/>
              <a:cs typeface="Arial" pitchFamily="34" charset="0"/>
            </a:endParaRPr>
          </a:p>
        </p:txBody>
      </p:sp>
      <p:sp>
        <p:nvSpPr>
          <p:cNvPr id="6" name="TextBox 5"/>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Tree>
    <p:extLst>
      <p:ext uri="{BB962C8B-B14F-4D97-AF65-F5344CB8AC3E}">
        <p14:creationId xmlns:p14="http://schemas.microsoft.com/office/powerpoint/2010/main" xmlns="" val="32945812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
        <p:nvSpPr>
          <p:cNvPr id="4" name="TextBox 3"/>
          <p:cNvSpPr txBox="1"/>
          <p:nvPr/>
        </p:nvSpPr>
        <p:spPr>
          <a:xfrm>
            <a:off x="4572000" y="3890318"/>
            <a:ext cx="3600400" cy="1986954"/>
          </a:xfrm>
          <a:prstGeom prst="rect">
            <a:avLst/>
          </a:prstGeom>
          <a:noFill/>
        </p:spPr>
        <p:txBody>
          <a:bodyPr wrap="square" rtlCol="0">
            <a:spAutoFit/>
          </a:bodyPr>
          <a:lstStyle/>
          <a:p>
            <a:pPr>
              <a:lnSpc>
                <a:spcPct val="140000"/>
              </a:lnSpc>
            </a:pPr>
            <a:r>
              <a:rPr lang="en-US" b="1" dirty="0">
                <a:latin typeface="Arial" pitchFamily="34" charset="0"/>
                <a:cs typeface="Arial" pitchFamily="34" charset="0"/>
              </a:rPr>
              <a:t>Thus we see </a:t>
            </a:r>
            <a:r>
              <a:rPr lang="en-US" b="1" dirty="0" smtClean="0">
                <a:latin typeface="Arial" pitchFamily="34" charset="0"/>
                <a:cs typeface="Arial" pitchFamily="34" charset="0"/>
              </a:rPr>
              <a:t>that when </a:t>
            </a:r>
            <a:r>
              <a:rPr lang="en-US" b="1" dirty="0">
                <a:latin typeface="Arial" pitchFamily="34" charset="0"/>
                <a:cs typeface="Arial" pitchFamily="34" charset="0"/>
              </a:rPr>
              <a:t>the </a:t>
            </a:r>
            <a:r>
              <a:rPr lang="en-US" b="1" dirty="0" smtClean="0">
                <a:latin typeface="Arial" pitchFamily="34" charset="0"/>
                <a:cs typeface="Arial" pitchFamily="34" charset="0"/>
              </a:rPr>
              <a:t>market </a:t>
            </a:r>
            <a:r>
              <a:rPr lang="en-US" b="1" dirty="0">
                <a:latin typeface="Arial" pitchFamily="34" charset="0"/>
                <a:cs typeface="Arial" pitchFamily="34" charset="0"/>
              </a:rPr>
              <a:t>is bullish the yields </a:t>
            </a:r>
            <a:r>
              <a:rPr lang="en-US" b="1" dirty="0" smtClean="0">
                <a:latin typeface="Arial" pitchFamily="34" charset="0"/>
                <a:cs typeface="Arial" pitchFamily="34" charset="0"/>
              </a:rPr>
              <a:t>come </a:t>
            </a:r>
            <a:r>
              <a:rPr lang="en-US" b="1" dirty="0">
                <a:latin typeface="Arial" pitchFamily="34" charset="0"/>
                <a:cs typeface="Arial" pitchFamily="34" charset="0"/>
              </a:rPr>
              <a:t>down and one is able to raise capital at lower interest rate. </a:t>
            </a:r>
          </a:p>
        </p:txBody>
      </p:sp>
    </p:spTree>
    <p:extLst>
      <p:ext uri="{BB962C8B-B14F-4D97-AF65-F5344CB8AC3E}">
        <p14:creationId xmlns:p14="http://schemas.microsoft.com/office/powerpoint/2010/main" xmlns="" val="14271729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
        <p:nvSpPr>
          <p:cNvPr id="4" name="TextBox 3"/>
          <p:cNvSpPr txBox="1"/>
          <p:nvPr/>
        </p:nvSpPr>
        <p:spPr>
          <a:xfrm>
            <a:off x="4139952" y="4941168"/>
            <a:ext cx="4176464" cy="831894"/>
          </a:xfrm>
          <a:prstGeom prst="rect">
            <a:avLst/>
          </a:prstGeom>
          <a:noFill/>
        </p:spPr>
        <p:txBody>
          <a:bodyPr wrap="square" rtlCol="0">
            <a:spAutoFit/>
          </a:bodyPr>
          <a:lstStyle/>
          <a:p>
            <a:pPr>
              <a:lnSpc>
                <a:spcPct val="140000"/>
              </a:lnSpc>
            </a:pPr>
            <a:r>
              <a:rPr lang="en-US" b="1" dirty="0">
                <a:latin typeface="Arial" pitchFamily="34" charset="0"/>
                <a:cs typeface="Arial" pitchFamily="34" charset="0"/>
              </a:rPr>
              <a:t>I hope this lesson has </a:t>
            </a:r>
            <a:r>
              <a:rPr lang="en-US" b="1" dirty="0" smtClean="0">
                <a:latin typeface="Arial" pitchFamily="34" charset="0"/>
                <a:cs typeface="Arial" pitchFamily="34" charset="0"/>
              </a:rPr>
              <a:t>succeeded</a:t>
            </a:r>
          </a:p>
          <a:p>
            <a:pPr>
              <a:lnSpc>
                <a:spcPct val="140000"/>
              </a:lnSpc>
            </a:pPr>
            <a:r>
              <a:rPr lang="en-US" b="1" dirty="0" smtClean="0">
                <a:latin typeface="Arial" pitchFamily="34" charset="0"/>
                <a:cs typeface="Arial" pitchFamily="34" charset="0"/>
              </a:rPr>
              <a:t>in </a:t>
            </a:r>
            <a:r>
              <a:rPr lang="en-US" b="1" dirty="0">
                <a:latin typeface="Arial" pitchFamily="34" charset="0"/>
                <a:cs typeface="Arial" pitchFamily="34" charset="0"/>
              </a:rPr>
              <a:t>clarifying this concept.</a:t>
            </a:r>
          </a:p>
        </p:txBody>
      </p:sp>
    </p:spTree>
    <p:extLst>
      <p:ext uri="{BB962C8B-B14F-4D97-AF65-F5344CB8AC3E}">
        <p14:creationId xmlns:p14="http://schemas.microsoft.com/office/powerpoint/2010/main" xmlns="" val="26646930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TextBox 5"/>
          <p:cNvSpPr txBox="1"/>
          <p:nvPr/>
        </p:nvSpPr>
        <p:spPr>
          <a:xfrm>
            <a:off x="683568" y="971143"/>
            <a:ext cx="7056784" cy="2585323"/>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I will be glad to receive your feedback on this lesson to understand if there any gaps</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Your feedback will help me improve my lessons going forward.</a:t>
            </a:r>
          </a:p>
          <a:p>
            <a:pPr>
              <a:lnSpc>
                <a:spcPct val="150000"/>
              </a:lnSpc>
            </a:pPr>
            <a:r>
              <a:rPr lang="en-US" b="1" dirty="0">
                <a:latin typeface="Arial" pitchFamily="34" charset="0"/>
                <a:cs typeface="Arial" pitchFamily="34" charset="0"/>
              </a:rPr>
              <a:t>Also if you wish to demystify any other concepts, please write to me about them</a:t>
            </a:r>
            <a:r>
              <a:rPr lang="en-US" b="1" dirty="0" smtClean="0">
                <a:latin typeface="Arial" pitchFamily="34" charset="0"/>
                <a:cs typeface="Arial" pitchFamily="34" charset="0"/>
              </a:rPr>
              <a:t>.</a:t>
            </a:r>
          </a:p>
        </p:txBody>
      </p:sp>
      <p:sp>
        <p:nvSpPr>
          <p:cNvPr id="7" name="TextBox 6"/>
          <p:cNvSpPr txBox="1"/>
          <p:nvPr/>
        </p:nvSpPr>
        <p:spPr>
          <a:xfrm>
            <a:off x="1619672" y="476672"/>
            <a:ext cx="568863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SIGNIFICANCE OF YIELD IN BOND MARKET</a:t>
            </a:r>
          </a:p>
        </p:txBody>
      </p:sp>
    </p:spTree>
    <p:extLst>
      <p:ext uri="{BB962C8B-B14F-4D97-AF65-F5344CB8AC3E}">
        <p14:creationId xmlns:p14="http://schemas.microsoft.com/office/powerpoint/2010/main" xmlns="" val="17672243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331640" y="1628800"/>
            <a:ext cx="3467090" cy="1394228"/>
          </a:xfrm>
          <a:prstGeom prst="rect">
            <a:avLst/>
          </a:prstGeom>
          <a:noFill/>
        </p:spPr>
        <p:txBody>
          <a:bodyPr wrap="square" rtlCol="0">
            <a:spAutoFit/>
          </a:bodyPr>
          <a:lstStyle/>
          <a:p>
            <a:pPr>
              <a:lnSpc>
                <a:spcPct val="150000"/>
              </a:lnSpc>
              <a:spcBef>
                <a:spcPct val="20000"/>
              </a:spcBef>
            </a:pPr>
            <a:r>
              <a:rPr lang="en-US" b="1" dirty="0">
                <a:latin typeface="Arial" pitchFamily="34" charset="0"/>
                <a:cs typeface="Arial" pitchFamily="34" charset="0"/>
              </a:rPr>
              <a:t>Please send your feedback to</a:t>
            </a:r>
            <a:r>
              <a:rPr lang="en-US" dirty="0" smtClean="0">
                <a:solidFill>
                  <a:schemeClr val="bg1"/>
                </a:solidFill>
              </a:rPr>
              <a:t> </a:t>
            </a:r>
            <a:r>
              <a:rPr lang="en-US" b="1" dirty="0" smtClean="0">
                <a:latin typeface="Arial" pitchFamily="34" charset="0"/>
                <a:cs typeface="Arial" pitchFamily="34" charset="0"/>
                <a:hlinkClick r:id="rId4"/>
              </a:rPr>
              <a:t>professor@tataamc.com</a:t>
            </a:r>
            <a:endParaRPr lang="en-US" b="1" dirty="0" smtClean="0">
              <a:latin typeface="Arial" pitchFamily="34" charset="0"/>
              <a:cs typeface="Arial" pitchFamily="34" charset="0"/>
            </a:endParaRPr>
          </a:p>
          <a:p>
            <a:pPr>
              <a:lnSpc>
                <a:spcPct val="150000"/>
              </a:lnSpc>
              <a:spcBef>
                <a:spcPct val="20000"/>
              </a:spcBef>
            </a:pPr>
            <a:r>
              <a:rPr lang="en-US" b="1" dirty="0">
                <a:latin typeface="Arial" pitchFamily="34" charset="0"/>
                <a:cs typeface="Arial" pitchFamily="34" charset="0"/>
              </a:rPr>
              <a:t>Your feedback is my reward.</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1939</TotalTime>
  <Words>689</Words>
  <Application>Microsoft Office PowerPoint</Application>
  <PresentationFormat>On-screen Show (4:3)</PresentationFormat>
  <Paragraphs>59</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200</cp:revision>
  <dcterms:created xsi:type="dcterms:W3CDTF">2013-10-22T09:41:31Z</dcterms:created>
  <dcterms:modified xsi:type="dcterms:W3CDTF">2014-09-19T13:00:21Z</dcterms:modified>
</cp:coreProperties>
</file>