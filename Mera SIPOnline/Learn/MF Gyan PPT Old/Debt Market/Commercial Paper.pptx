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6" r:id="rId2"/>
    <p:sldId id="294" r:id="rId3"/>
    <p:sldId id="295" r:id="rId4"/>
    <p:sldId id="276" r:id="rId5"/>
    <p:sldId id="297" r:id="rId6"/>
    <p:sldId id="288" r:id="rId7"/>
    <p:sldId id="305" r:id="rId8"/>
    <p:sldId id="306" r:id="rId9"/>
    <p:sldId id="307" r:id="rId10"/>
    <p:sldId id="298" r:id="rId11"/>
    <p:sldId id="308" r:id="rId12"/>
    <p:sldId id="299" r:id="rId13"/>
    <p:sldId id="304" r:id="rId14"/>
    <p:sldId id="300" r:id="rId15"/>
    <p:sldId id="309" r:id="rId16"/>
    <p:sldId id="302" r:id="rId17"/>
    <p:sldId id="310" r:id="rId18"/>
    <p:sldId id="311" r:id="rId19"/>
    <p:sldId id="287" r:id="rId20"/>
    <p:sldId id="273"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91" autoAdjust="0"/>
    <p:restoredTop sz="94595" autoAdjust="0"/>
  </p:normalViewPr>
  <p:slideViewPr>
    <p:cSldViewPr>
      <p:cViewPr varScale="1">
        <p:scale>
          <a:sx n="49" d="100"/>
          <a:sy n="49" d="100"/>
        </p:scale>
        <p:origin x="-1214" y="-67"/>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10E05B8-715C-4FAF-BC8A-A5F0580F534E}" type="datetimeFigureOut">
              <a:rPr lang="en-US" smtClean="0"/>
              <a:pPr/>
              <a:t>9/16/2014</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2A204C8-0732-4ACB-BFB7-2799F61E2A0A}" type="slidenum">
              <a:rPr lang="en-IN" smtClean="0"/>
              <a:pPr/>
              <a:t>‹#›</a:t>
            </a:fld>
            <a:endParaRPr lang="en-IN"/>
          </a:p>
        </p:txBody>
      </p:sp>
    </p:spTree>
    <p:extLst>
      <p:ext uri="{BB962C8B-B14F-4D97-AF65-F5344CB8AC3E}">
        <p14:creationId xmlns:p14="http://schemas.microsoft.com/office/powerpoint/2010/main" xmlns="" val="1720646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9/16/2014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9/16/2014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A7C54CB-0529-403B-B072-87342900D6A8}" type="datetimeFigureOut">
              <a:rPr lang="en-US" smtClean="0"/>
              <a:pPr/>
              <a:t>9/16/2014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3A7C54CB-0529-403B-B072-87342900D6A8}" type="datetimeFigureOut">
              <a:rPr lang="en-US" smtClean="0"/>
              <a:pPr/>
              <a:t>9/16/2014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3A7C54CB-0529-403B-B072-87342900D6A8}" type="datetimeFigureOut">
              <a:rPr lang="en-US" smtClean="0"/>
              <a:pPr/>
              <a:t>9/16/2014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3A7C54CB-0529-403B-B072-87342900D6A8}" type="datetimeFigureOut">
              <a:rPr lang="en-US" smtClean="0"/>
              <a:pPr/>
              <a:t>9/16/2014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A7C54CB-0529-403B-B072-87342900D6A8}" type="datetimeFigureOut">
              <a:rPr lang="en-US" smtClean="0"/>
              <a:pPr/>
              <a:t>9/16/2014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9/16/2014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9/16/2014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9/16/2014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9/16/2014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7C54CB-0529-403B-B072-87342900D6A8}" type="datetimeFigureOut">
              <a:rPr lang="en-US" smtClean="0"/>
              <a:pPr/>
              <a:t>9/16/2014</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0570A3-6B67-4C18-ABAC-AE1ACD0864A2}"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hyperlink" Target="http://simplysimple.in/" TargetMode="External"/><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hyperlink" Target="mailto:professor@tataamc.com" TargetMode="External"/></Relationships>
</file>

<file path=ppt/slides/_rels/slide2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03648" y="2740858"/>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FED TAPERING</a:t>
            </a:r>
            <a:endParaRPr lang="en-IN" sz="2000" b="1" dirty="0">
              <a:solidFill>
                <a:schemeClr val="bg1"/>
              </a:solidFill>
              <a:latin typeface="Arial" pitchFamily="34" charset="0"/>
              <a:cs typeface="Arial" pitchFamily="34" charset="0"/>
            </a:endParaRPr>
          </a:p>
        </p:txBody>
      </p:sp>
      <p:grpSp>
        <p:nvGrpSpPr>
          <p:cNvPr id="8" name="Group 7"/>
          <p:cNvGrpSpPr/>
          <p:nvPr/>
        </p:nvGrpSpPr>
        <p:grpSpPr>
          <a:xfrm>
            <a:off x="-1" y="-1"/>
            <a:ext cx="9144001" cy="6858001"/>
            <a:chOff x="-1" y="-1"/>
            <a:chExt cx="9144001" cy="6858001"/>
          </a:xfrm>
        </p:grpSpPr>
        <p:pic>
          <p:nvPicPr>
            <p:cNvPr id="2050" name="Picture 2" descr="H:\TATA\From Rajni\Jpegs_blank\PSS_LESSONS_PG1.jpg"/>
            <p:cNvPicPr>
              <a:picLocks noChangeAspect="1" noChangeArrowheads="1"/>
            </p:cNvPicPr>
            <p:nvPr/>
          </p:nvPicPr>
          <p:blipFill>
            <a:blip r:embed="rId2" cstate="print"/>
            <a:stretch>
              <a:fillRect/>
            </a:stretch>
          </p:blipFill>
          <p:spPr bwMode="auto">
            <a:xfrm>
              <a:off x="-1" y="-1"/>
              <a:ext cx="9144001" cy="6858001"/>
            </a:xfrm>
            <a:prstGeom prst="rect">
              <a:avLst/>
            </a:prstGeom>
            <a:noFill/>
            <a:ln>
              <a:noFill/>
            </a:ln>
          </p:spPr>
        </p:pic>
        <p:pic>
          <p:nvPicPr>
            <p:cNvPr id="4" name="Picture 23" descr="TMF Logo New.jpg"/>
            <p:cNvPicPr>
              <a:picLocks noChangeAspect="1"/>
            </p:cNvPicPr>
            <p:nvPr/>
          </p:nvPicPr>
          <p:blipFill>
            <a:blip r:embed="rId3" cstate="print"/>
            <a:srcRect/>
            <a:stretch>
              <a:fillRect/>
            </a:stretch>
          </p:blipFill>
          <p:spPr bwMode="auto">
            <a:xfrm>
              <a:off x="2411760" y="5321776"/>
              <a:ext cx="1177849" cy="822960"/>
            </a:xfrm>
            <a:prstGeom prst="rect">
              <a:avLst/>
            </a:prstGeom>
            <a:noFill/>
            <a:ln w="9525">
              <a:noFill/>
              <a:miter lim="800000"/>
              <a:headEnd/>
              <a:tailEnd/>
            </a:ln>
          </p:spPr>
        </p:pic>
        <p:cxnSp>
          <p:nvCxnSpPr>
            <p:cNvPr id="7" name="Straight Connector 6"/>
            <p:cNvCxnSpPr/>
            <p:nvPr/>
          </p:nvCxnSpPr>
          <p:spPr>
            <a:xfrm>
              <a:off x="2123728" y="5301208"/>
              <a:ext cx="0" cy="864096"/>
            </a:xfrm>
            <a:prstGeom prst="line">
              <a:avLst/>
            </a:prstGeom>
          </p:spPr>
          <p:style>
            <a:lnRef idx="1">
              <a:schemeClr val="dk1"/>
            </a:lnRef>
            <a:fillRef idx="0">
              <a:schemeClr val="dk1"/>
            </a:fillRef>
            <a:effectRef idx="0">
              <a:schemeClr val="dk1"/>
            </a:effectRef>
            <a:fontRef idx="minor">
              <a:schemeClr val="tx1"/>
            </a:fontRef>
          </p:style>
        </p:cxnSp>
      </p:grpSp>
      <p:sp>
        <p:nvSpPr>
          <p:cNvPr id="9" name="TextBox 8"/>
          <p:cNvSpPr txBox="1"/>
          <p:nvPr/>
        </p:nvSpPr>
        <p:spPr>
          <a:xfrm>
            <a:off x="1115616" y="2755060"/>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COMMERCIAL </a:t>
            </a:r>
            <a:r>
              <a:rPr lang="en-US" sz="2000" b="1" dirty="0">
                <a:solidFill>
                  <a:schemeClr val="bg1"/>
                </a:solidFill>
                <a:latin typeface="Arial" pitchFamily="34" charset="0"/>
                <a:cs typeface="Arial" pitchFamily="34" charset="0"/>
              </a:rPr>
              <a:t>PAPER</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4.jpg"/>
          <p:cNvPicPr>
            <a:picLocks noChangeAspect="1" noChangeArrowheads="1"/>
          </p:cNvPicPr>
          <p:nvPr/>
        </p:nvPicPr>
        <p:blipFill>
          <a:blip r:embed="rId2" cstate="print"/>
          <a:srcRect/>
          <a:stretch>
            <a:fillRect/>
          </a:stretch>
        </p:blipFill>
        <p:spPr bwMode="auto">
          <a:xfrm>
            <a:off x="0" y="0"/>
            <a:ext cx="9144000" cy="6858001"/>
          </a:xfrm>
          <a:prstGeom prst="rect">
            <a:avLst/>
          </a:prstGeom>
          <a:noFill/>
        </p:spPr>
      </p:pic>
      <p:sp>
        <p:nvSpPr>
          <p:cNvPr id="3" name="TextBox 2"/>
          <p:cNvSpPr txBox="1"/>
          <p:nvPr/>
        </p:nvSpPr>
        <p:spPr>
          <a:xfrm>
            <a:off x="1433288" y="1484784"/>
            <a:ext cx="3426744" cy="1477328"/>
          </a:xfrm>
          <a:prstGeom prst="rect">
            <a:avLst/>
          </a:prstGeom>
          <a:noFill/>
        </p:spPr>
        <p:txBody>
          <a:bodyPr wrap="square" rtlCol="0">
            <a:spAutoFit/>
          </a:bodyPr>
          <a:lstStyle/>
          <a:p>
            <a:pPr>
              <a:spcBef>
                <a:spcPct val="20000"/>
              </a:spcBef>
            </a:pPr>
            <a:r>
              <a:rPr lang="en-US" b="1" dirty="0">
                <a:latin typeface="Arial" pitchFamily="34" charset="0"/>
                <a:cs typeface="Arial" pitchFamily="34" charset="0"/>
              </a:rPr>
              <a:t>A Commercial Paper (CP) </a:t>
            </a:r>
            <a:r>
              <a:rPr lang="en-US" b="1" dirty="0" smtClean="0">
                <a:latin typeface="Arial" pitchFamily="34" charset="0"/>
                <a:cs typeface="Arial" pitchFamily="34" charset="0"/>
              </a:rPr>
              <a:t>is</a:t>
            </a:r>
            <a:br>
              <a:rPr lang="en-US" b="1" dirty="0" smtClean="0">
                <a:latin typeface="Arial" pitchFamily="34" charset="0"/>
                <a:cs typeface="Arial" pitchFamily="34" charset="0"/>
              </a:rPr>
            </a:br>
            <a:r>
              <a:rPr lang="en-US" b="1" dirty="0" smtClean="0">
                <a:latin typeface="Arial" pitchFamily="34" charset="0"/>
                <a:cs typeface="Arial" pitchFamily="34" charset="0"/>
              </a:rPr>
              <a:t>an </a:t>
            </a:r>
            <a:r>
              <a:rPr lang="en-US" b="1" dirty="0">
                <a:latin typeface="Arial" pitchFamily="34" charset="0"/>
                <a:cs typeface="Arial" pitchFamily="34" charset="0"/>
              </a:rPr>
              <a:t>unsecured, </a:t>
            </a:r>
            <a:r>
              <a:rPr lang="en-US" b="1" dirty="0" smtClean="0">
                <a:latin typeface="Arial" pitchFamily="34" charset="0"/>
                <a:cs typeface="Arial" pitchFamily="34" charset="0"/>
              </a:rPr>
              <a:t>short-term</a:t>
            </a:r>
            <a:br>
              <a:rPr lang="en-US" b="1" dirty="0" smtClean="0">
                <a:latin typeface="Arial" pitchFamily="34" charset="0"/>
                <a:cs typeface="Arial" pitchFamily="34" charset="0"/>
              </a:rPr>
            </a:br>
            <a:r>
              <a:rPr lang="en-US" b="1" dirty="0" smtClean="0">
                <a:latin typeface="Arial" pitchFamily="34" charset="0"/>
                <a:cs typeface="Arial" pitchFamily="34" charset="0"/>
              </a:rPr>
              <a:t>debt </a:t>
            </a:r>
            <a:r>
              <a:rPr lang="en-US" b="1" dirty="0">
                <a:latin typeface="Arial" pitchFamily="34" charset="0"/>
                <a:cs typeface="Arial" pitchFamily="34" charset="0"/>
              </a:rPr>
              <a:t>instrument issued by a corporation, typically </a:t>
            </a:r>
            <a:r>
              <a:rPr lang="en-US" b="1" dirty="0" smtClean="0">
                <a:latin typeface="Arial" pitchFamily="34" charset="0"/>
                <a:cs typeface="Arial" pitchFamily="34" charset="0"/>
              </a:rPr>
              <a:t>for</a:t>
            </a:r>
            <a:br>
              <a:rPr lang="en-US" b="1" dirty="0" smtClean="0">
                <a:latin typeface="Arial" pitchFamily="34" charset="0"/>
                <a:cs typeface="Arial" pitchFamily="34" charset="0"/>
              </a:rPr>
            </a:br>
            <a:r>
              <a:rPr lang="en-US" b="1" dirty="0" smtClean="0">
                <a:latin typeface="Arial" pitchFamily="34" charset="0"/>
                <a:cs typeface="Arial" pitchFamily="34" charset="0"/>
              </a:rPr>
              <a:t>meeting </a:t>
            </a:r>
            <a:r>
              <a:rPr lang="en-US" b="1" dirty="0">
                <a:latin typeface="Arial" pitchFamily="34" charset="0"/>
                <a:cs typeface="Arial" pitchFamily="34" charset="0"/>
              </a:rPr>
              <a:t>short-term liabilities. </a:t>
            </a:r>
          </a:p>
        </p:txBody>
      </p:sp>
    </p:spTree>
    <p:extLst>
      <p:ext uri="{BB962C8B-B14F-4D97-AF65-F5344CB8AC3E}">
        <p14:creationId xmlns:p14="http://schemas.microsoft.com/office/powerpoint/2010/main" xmlns="" val="149177993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067944" y="4040022"/>
            <a:ext cx="4176464" cy="1154675"/>
          </a:xfrm>
          <a:prstGeom prst="rect">
            <a:avLst/>
          </a:prstGeom>
        </p:spPr>
        <p:txBody>
          <a:bodyPr wrap="square">
            <a:spAutoFit/>
          </a:bodyPr>
          <a:lstStyle/>
          <a:p>
            <a:pPr marL="285750" indent="-285750">
              <a:lnSpc>
                <a:spcPct val="150000"/>
              </a:lnSpc>
              <a:buFont typeface="Wingdings" pitchFamily="2" charset="2"/>
              <a:buChar char="q"/>
            </a:pPr>
            <a:r>
              <a:rPr lang="en-US" sz="1600" b="1" dirty="0" smtClean="0">
                <a:latin typeface="Arial" pitchFamily="34" charset="0"/>
                <a:cs typeface="Arial" pitchFamily="34" charset="0"/>
              </a:rPr>
              <a:t>In </a:t>
            </a:r>
            <a:r>
              <a:rPr lang="en-US" sz="1600" b="1" dirty="0">
                <a:latin typeface="Arial" pitchFamily="34" charset="0"/>
                <a:cs typeface="Arial" pitchFamily="34" charset="0"/>
              </a:rPr>
              <a:t>this lesson, I will try to </a:t>
            </a:r>
            <a:r>
              <a:rPr lang="en-US" sz="1600" b="1" i="1" dirty="0" smtClean="0">
                <a:latin typeface="Arial" pitchFamily="34" charset="0"/>
                <a:cs typeface="Arial" pitchFamily="34" charset="0"/>
              </a:rPr>
              <a:t>simplify</a:t>
            </a:r>
            <a:br>
              <a:rPr lang="en-US" sz="1600" b="1" i="1" dirty="0" smtClean="0">
                <a:latin typeface="Arial" pitchFamily="34" charset="0"/>
                <a:cs typeface="Arial" pitchFamily="34" charset="0"/>
              </a:rPr>
            </a:br>
            <a:r>
              <a:rPr lang="en-US" sz="1600" b="1" dirty="0" smtClean="0">
                <a:latin typeface="Arial" pitchFamily="34" charset="0"/>
                <a:cs typeface="Arial" pitchFamily="34" charset="0"/>
              </a:rPr>
              <a:t>the </a:t>
            </a:r>
            <a:r>
              <a:rPr lang="en-US" sz="1600" b="1" dirty="0">
                <a:latin typeface="Arial" pitchFamily="34" charset="0"/>
                <a:cs typeface="Arial" pitchFamily="34" charset="0"/>
              </a:rPr>
              <a:t>concept of ‘Commercial Papers’ for you…</a:t>
            </a:r>
          </a:p>
        </p:txBody>
      </p:sp>
      <p:sp>
        <p:nvSpPr>
          <p:cNvPr id="4" name="TextBox 3"/>
          <p:cNvSpPr txBox="1"/>
          <p:nvPr/>
        </p:nvSpPr>
        <p:spPr>
          <a:xfrm>
            <a:off x="2555776" y="476672"/>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COMMERCIAL </a:t>
            </a:r>
            <a:r>
              <a:rPr lang="en-US" sz="2000" b="1" dirty="0">
                <a:solidFill>
                  <a:schemeClr val="bg1"/>
                </a:solidFill>
                <a:latin typeface="Arial" pitchFamily="34" charset="0"/>
                <a:cs typeface="Arial" pitchFamily="34" charset="0"/>
              </a:rPr>
              <a:t>PAPER</a:t>
            </a:r>
          </a:p>
        </p:txBody>
      </p:sp>
    </p:spTree>
    <p:extLst>
      <p:ext uri="{BB962C8B-B14F-4D97-AF65-F5344CB8AC3E}">
        <p14:creationId xmlns:p14="http://schemas.microsoft.com/office/powerpoint/2010/main" xmlns="" val="226189699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4" name="TextBox 3"/>
          <p:cNvSpPr txBox="1"/>
          <p:nvPr/>
        </p:nvSpPr>
        <p:spPr>
          <a:xfrm>
            <a:off x="2558626" y="476672"/>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COMMERCIAL </a:t>
            </a:r>
            <a:r>
              <a:rPr lang="en-US" sz="2000" b="1" dirty="0">
                <a:solidFill>
                  <a:schemeClr val="bg1"/>
                </a:solidFill>
                <a:latin typeface="Arial" pitchFamily="34" charset="0"/>
                <a:cs typeface="Arial" pitchFamily="34" charset="0"/>
              </a:rPr>
              <a:t>PAPER</a:t>
            </a:r>
          </a:p>
        </p:txBody>
      </p:sp>
      <p:sp>
        <p:nvSpPr>
          <p:cNvPr id="5" name="Rectangle 4"/>
          <p:cNvSpPr/>
          <p:nvPr/>
        </p:nvSpPr>
        <p:spPr>
          <a:xfrm>
            <a:off x="6516216" y="6073551"/>
            <a:ext cx="1876155" cy="307777"/>
          </a:xfrm>
          <a:prstGeom prst="rect">
            <a:avLst/>
          </a:prstGeom>
        </p:spPr>
        <p:txBody>
          <a:bodyPr wrap="none">
            <a:spAutoFit/>
          </a:bodyPr>
          <a:lstStyle/>
          <a:p>
            <a:r>
              <a:rPr lang="en-US" sz="1400" dirty="0" smtClean="0">
                <a:hlinkClick r:id="rId3"/>
              </a:rPr>
              <a:t>http://simplysimple.in/</a:t>
            </a:r>
            <a:endParaRPr lang="en-US" sz="1400" dirty="0"/>
          </a:p>
        </p:txBody>
      </p:sp>
      <p:sp>
        <p:nvSpPr>
          <p:cNvPr id="9" name="TextBox 8"/>
          <p:cNvSpPr txBox="1"/>
          <p:nvPr/>
        </p:nvSpPr>
        <p:spPr>
          <a:xfrm>
            <a:off x="683568" y="1916832"/>
            <a:ext cx="7532910" cy="2862322"/>
          </a:xfrm>
          <a:prstGeom prst="rect">
            <a:avLst/>
          </a:prstGeom>
          <a:noFill/>
        </p:spPr>
        <p:txBody>
          <a:bodyPr wrap="square" rtlCol="0">
            <a:spAutoFit/>
          </a:bodyPr>
          <a:lstStyle/>
          <a:p>
            <a:pPr marL="0" lvl="2">
              <a:lnSpc>
                <a:spcPct val="200000"/>
              </a:lnSpc>
            </a:pPr>
            <a:r>
              <a:rPr lang="en-US" b="1" dirty="0">
                <a:latin typeface="Arial" pitchFamily="34" charset="0"/>
                <a:cs typeface="Arial" pitchFamily="34" charset="0"/>
              </a:rPr>
              <a:t>A Commercial Paper (CP) is </a:t>
            </a:r>
          </a:p>
          <a:p>
            <a:pPr marL="465138" lvl="1" indent="-465138">
              <a:lnSpc>
                <a:spcPct val="200000"/>
              </a:lnSpc>
              <a:tabLst>
                <a:tab pos="465138" algn="l"/>
              </a:tabLst>
            </a:pPr>
            <a:r>
              <a:rPr lang="en-US" b="1" dirty="0" smtClean="0">
                <a:latin typeface="Arial" pitchFamily="34" charset="0"/>
                <a:cs typeface="Arial" pitchFamily="34" charset="0"/>
              </a:rPr>
              <a:t>1.	a </a:t>
            </a:r>
            <a:r>
              <a:rPr lang="en-US" b="1" dirty="0">
                <a:latin typeface="Arial" pitchFamily="34" charset="0"/>
                <a:cs typeface="Arial" pitchFamily="34" charset="0"/>
              </a:rPr>
              <a:t>money-market instrument</a:t>
            </a:r>
          </a:p>
          <a:p>
            <a:pPr marL="465138" lvl="1" indent="-465138">
              <a:lnSpc>
                <a:spcPct val="200000"/>
              </a:lnSpc>
              <a:tabLst>
                <a:tab pos="465138" algn="l"/>
              </a:tabLst>
            </a:pPr>
            <a:r>
              <a:rPr lang="en-US" b="1" dirty="0" smtClean="0">
                <a:latin typeface="Arial" pitchFamily="34" charset="0"/>
                <a:cs typeface="Arial" pitchFamily="34" charset="0"/>
              </a:rPr>
              <a:t>2.	issued </a:t>
            </a:r>
            <a:r>
              <a:rPr lang="en-US" b="1" dirty="0">
                <a:latin typeface="Arial" pitchFamily="34" charset="0"/>
                <a:cs typeface="Arial" pitchFamily="34" charset="0"/>
              </a:rPr>
              <a:t>by large banks &amp; corporations </a:t>
            </a:r>
          </a:p>
          <a:p>
            <a:pPr marL="465138" lvl="1" indent="-465138">
              <a:lnSpc>
                <a:spcPct val="200000"/>
              </a:lnSpc>
              <a:tabLst>
                <a:tab pos="465138" algn="l"/>
              </a:tabLst>
            </a:pPr>
            <a:r>
              <a:rPr lang="en-US" b="1" dirty="0" smtClean="0">
                <a:latin typeface="Arial" pitchFamily="34" charset="0"/>
                <a:cs typeface="Arial" pitchFamily="34" charset="0"/>
              </a:rPr>
              <a:t>3.	to </a:t>
            </a:r>
            <a:r>
              <a:rPr lang="en-US" b="1" dirty="0">
                <a:latin typeface="Arial" pitchFamily="34" charset="0"/>
                <a:cs typeface="Arial" pitchFamily="34" charset="0"/>
              </a:rPr>
              <a:t>garner money from the market</a:t>
            </a:r>
          </a:p>
          <a:p>
            <a:pPr marL="465138" lvl="1" indent="-465138">
              <a:lnSpc>
                <a:spcPct val="200000"/>
              </a:lnSpc>
              <a:tabLst>
                <a:tab pos="465138" algn="l"/>
              </a:tabLst>
            </a:pPr>
            <a:r>
              <a:rPr lang="en-US" b="1" dirty="0" smtClean="0">
                <a:latin typeface="Arial" pitchFamily="34" charset="0"/>
                <a:cs typeface="Arial" pitchFamily="34" charset="0"/>
              </a:rPr>
              <a:t>4.	to </a:t>
            </a:r>
            <a:r>
              <a:rPr lang="en-US" b="1" dirty="0">
                <a:latin typeface="Arial" pitchFamily="34" charset="0"/>
                <a:cs typeface="Arial" pitchFamily="34" charset="0"/>
              </a:rPr>
              <a:t>meet short term needs</a:t>
            </a:r>
            <a:r>
              <a:rPr lang="en-US" b="1" dirty="0" smtClean="0">
                <a:latin typeface="Arial" pitchFamily="34" charset="0"/>
                <a:cs typeface="Arial" pitchFamily="34" charset="0"/>
              </a:rPr>
              <a:t>.</a:t>
            </a:r>
            <a:endParaRPr lang="en-US" b="1" dirty="0">
              <a:latin typeface="Arial" pitchFamily="34" charset="0"/>
              <a:cs typeface="Arial" pitchFamily="34" charset="0"/>
            </a:endParaRPr>
          </a:p>
        </p:txBody>
      </p:sp>
      <p:sp>
        <p:nvSpPr>
          <p:cNvPr id="7" name="TextBox 6"/>
          <p:cNvSpPr txBox="1"/>
          <p:nvPr/>
        </p:nvSpPr>
        <p:spPr>
          <a:xfrm>
            <a:off x="683568" y="980728"/>
            <a:ext cx="7532910" cy="877163"/>
          </a:xfrm>
          <a:prstGeom prst="rect">
            <a:avLst/>
          </a:prstGeom>
          <a:noFill/>
        </p:spPr>
        <p:txBody>
          <a:bodyPr wrap="square" rtlCol="0">
            <a:spAutoFit/>
          </a:bodyPr>
          <a:lstStyle/>
          <a:p>
            <a:pPr algn="ctr">
              <a:lnSpc>
                <a:spcPct val="150000"/>
              </a:lnSpc>
              <a:tabLst>
                <a:tab pos="465138" algn="l"/>
              </a:tabLst>
            </a:pPr>
            <a:r>
              <a:rPr lang="en-US" b="1" dirty="0">
                <a:latin typeface="Arial" pitchFamily="34" charset="0"/>
                <a:cs typeface="Arial" pitchFamily="34" charset="0"/>
              </a:rPr>
              <a:t>Understanding Commercial </a:t>
            </a:r>
            <a:r>
              <a:rPr lang="en-US" b="1" dirty="0" smtClean="0">
                <a:latin typeface="Arial" pitchFamily="34" charset="0"/>
                <a:cs typeface="Arial" pitchFamily="34" charset="0"/>
              </a:rPr>
              <a:t>Papers</a:t>
            </a:r>
          </a:p>
          <a:p>
            <a:pPr algn="r">
              <a:lnSpc>
                <a:spcPct val="150000"/>
              </a:lnSpc>
              <a:tabLst>
                <a:tab pos="465138" algn="l"/>
              </a:tabLst>
            </a:pPr>
            <a:r>
              <a:rPr lang="en-US" sz="1600" b="1" dirty="0" smtClean="0">
                <a:latin typeface="Arial" pitchFamily="34" charset="0"/>
                <a:cs typeface="Arial" pitchFamily="34" charset="0"/>
              </a:rPr>
              <a:t>–  </a:t>
            </a:r>
            <a:r>
              <a:rPr lang="en-US" sz="1600" b="1" dirty="0">
                <a:latin typeface="Arial" pitchFamily="34" charset="0"/>
                <a:cs typeface="Arial" pitchFamily="34" charset="0"/>
              </a:rPr>
              <a:t>By Prof. </a:t>
            </a:r>
            <a:r>
              <a:rPr lang="en-US" sz="1600" b="1" i="1" dirty="0">
                <a:latin typeface="Arial" pitchFamily="34" charset="0"/>
                <a:cs typeface="Arial" pitchFamily="34" charset="0"/>
              </a:rPr>
              <a:t>Simply</a:t>
            </a:r>
            <a:r>
              <a:rPr lang="en-US" sz="1600" b="1" dirty="0">
                <a:latin typeface="Arial" pitchFamily="34" charset="0"/>
                <a:cs typeface="Arial" pitchFamily="34" charset="0"/>
              </a:rPr>
              <a:t> Simple</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076261" y="4869160"/>
            <a:ext cx="4320480" cy="872034"/>
          </a:xfrm>
          <a:prstGeom prst="rect">
            <a:avLst/>
          </a:prstGeom>
        </p:spPr>
        <p:txBody>
          <a:bodyPr wrap="square">
            <a:spAutoFit/>
          </a:bodyPr>
          <a:lstStyle/>
          <a:p>
            <a:pPr>
              <a:lnSpc>
                <a:spcPct val="150000"/>
              </a:lnSpc>
            </a:pPr>
            <a:r>
              <a:rPr lang="en-US" b="1" dirty="0">
                <a:latin typeface="Arial" pitchFamily="34" charset="0"/>
                <a:cs typeface="Arial" pitchFamily="34" charset="0"/>
              </a:rPr>
              <a:t>When &amp; why was it </a:t>
            </a:r>
            <a:r>
              <a:rPr lang="en-US" b="1" dirty="0" smtClean="0">
                <a:latin typeface="Arial" pitchFamily="34" charset="0"/>
                <a:cs typeface="Arial" pitchFamily="34" charset="0"/>
              </a:rPr>
              <a:t>introduced</a:t>
            </a:r>
            <a:br>
              <a:rPr lang="en-US" b="1" dirty="0" smtClean="0">
                <a:latin typeface="Arial" pitchFamily="34" charset="0"/>
                <a:cs typeface="Arial" pitchFamily="34" charset="0"/>
              </a:rPr>
            </a:br>
            <a:r>
              <a:rPr lang="en-US" b="1" dirty="0" smtClean="0">
                <a:latin typeface="Arial" pitchFamily="34" charset="0"/>
                <a:cs typeface="Arial" pitchFamily="34" charset="0"/>
              </a:rPr>
              <a:t>in </a:t>
            </a:r>
            <a:r>
              <a:rPr lang="en-US" b="1" dirty="0">
                <a:latin typeface="Arial" pitchFamily="34" charset="0"/>
                <a:cs typeface="Arial" pitchFamily="34" charset="0"/>
              </a:rPr>
              <a:t>India?</a:t>
            </a:r>
          </a:p>
        </p:txBody>
      </p:sp>
      <p:sp>
        <p:nvSpPr>
          <p:cNvPr id="4" name="TextBox 3"/>
          <p:cNvSpPr txBox="1"/>
          <p:nvPr/>
        </p:nvSpPr>
        <p:spPr>
          <a:xfrm>
            <a:off x="2555776" y="476672"/>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COMMERCIAL </a:t>
            </a:r>
            <a:r>
              <a:rPr lang="en-US" sz="2000" b="1" dirty="0">
                <a:solidFill>
                  <a:schemeClr val="bg1"/>
                </a:solidFill>
                <a:latin typeface="Arial" pitchFamily="34" charset="0"/>
                <a:cs typeface="Arial" pitchFamily="34" charset="0"/>
              </a:rPr>
              <a:t>PAPER</a:t>
            </a:r>
          </a:p>
        </p:txBody>
      </p:sp>
    </p:spTree>
    <p:extLst>
      <p:ext uri="{BB962C8B-B14F-4D97-AF65-F5344CB8AC3E}">
        <p14:creationId xmlns:p14="http://schemas.microsoft.com/office/powerpoint/2010/main" xmlns="" val="85960435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467544" y="980728"/>
            <a:ext cx="8352928" cy="3884397"/>
          </a:xfrm>
          <a:prstGeom prst="rect">
            <a:avLst/>
          </a:prstGeom>
          <a:noFill/>
        </p:spPr>
        <p:txBody>
          <a:bodyPr wrap="square" rtlCol="0">
            <a:spAutoFit/>
          </a:bodyPr>
          <a:lstStyle/>
          <a:p>
            <a:pPr marL="465138" indent="-465138">
              <a:lnSpc>
                <a:spcPct val="200000"/>
              </a:lnSpc>
              <a:buFont typeface="Wingdings" pitchFamily="2" charset="2"/>
              <a:buChar char="q"/>
              <a:tabLst>
                <a:tab pos="465138" algn="l"/>
              </a:tabLst>
            </a:pPr>
            <a:r>
              <a:rPr lang="en-US" b="1" dirty="0">
                <a:latin typeface="Arial" pitchFamily="34" charset="0"/>
                <a:cs typeface="Arial" pitchFamily="34" charset="0"/>
              </a:rPr>
              <a:t>It was introduced in India in 1990</a:t>
            </a:r>
            <a:r>
              <a:rPr lang="en-US" b="1" dirty="0" smtClean="0">
                <a:latin typeface="Arial" pitchFamily="34" charset="0"/>
                <a:cs typeface="Arial" pitchFamily="34" charset="0"/>
              </a:rPr>
              <a:t>.</a:t>
            </a:r>
          </a:p>
          <a:p>
            <a:pPr marL="465138" indent="-465138">
              <a:lnSpc>
                <a:spcPct val="200000"/>
              </a:lnSpc>
              <a:buFont typeface="Wingdings" pitchFamily="2" charset="2"/>
              <a:buChar char="q"/>
              <a:tabLst>
                <a:tab pos="465138" algn="l"/>
              </a:tabLst>
            </a:pPr>
            <a:r>
              <a:rPr lang="en-US" b="1" dirty="0" smtClean="0">
                <a:latin typeface="Arial" pitchFamily="34" charset="0"/>
                <a:cs typeface="Arial" pitchFamily="34" charset="0"/>
              </a:rPr>
              <a:t>It </a:t>
            </a:r>
            <a:r>
              <a:rPr lang="en-US" b="1" dirty="0">
                <a:latin typeface="Arial" pitchFamily="34" charset="0"/>
                <a:cs typeface="Arial" pitchFamily="34" charset="0"/>
              </a:rPr>
              <a:t>was aimed at providing </a:t>
            </a:r>
            <a:r>
              <a:rPr lang="en-US" b="1" dirty="0" smtClean="0">
                <a:latin typeface="Arial" pitchFamily="34" charset="0"/>
                <a:cs typeface="Arial" pitchFamily="34" charset="0"/>
              </a:rPr>
              <a:t>high </a:t>
            </a:r>
            <a:r>
              <a:rPr lang="en-US" b="1" dirty="0">
                <a:latin typeface="Arial" pitchFamily="34" charset="0"/>
                <a:cs typeface="Arial" pitchFamily="34" charset="0"/>
              </a:rPr>
              <a:t>rated </a:t>
            </a:r>
            <a:r>
              <a:rPr lang="en-US" b="1" dirty="0" err="1" smtClean="0">
                <a:latin typeface="Arial" pitchFamily="34" charset="0"/>
                <a:cs typeface="Arial" pitchFamily="34" charset="0"/>
              </a:rPr>
              <a:t>corporates</a:t>
            </a:r>
            <a:r>
              <a:rPr lang="en-US" b="1" dirty="0" smtClean="0">
                <a:latin typeface="Arial" pitchFamily="34" charset="0"/>
                <a:cs typeface="Arial" pitchFamily="34" charset="0"/>
              </a:rPr>
              <a:t> with </a:t>
            </a:r>
            <a:r>
              <a:rPr lang="en-US" b="1" dirty="0">
                <a:latin typeface="Arial" pitchFamily="34" charset="0"/>
                <a:cs typeface="Arial" pitchFamily="34" charset="0"/>
              </a:rPr>
              <a:t>a borrowing option</a:t>
            </a:r>
            <a:r>
              <a:rPr lang="en-US" b="1" dirty="0" smtClean="0">
                <a:latin typeface="Arial" pitchFamily="34" charset="0"/>
                <a:cs typeface="Arial" pitchFamily="34" charset="0"/>
              </a:rPr>
              <a:t>.</a:t>
            </a:r>
          </a:p>
          <a:p>
            <a:pPr marL="465138" indent="-465138">
              <a:lnSpc>
                <a:spcPct val="200000"/>
              </a:lnSpc>
              <a:buFont typeface="Wingdings" pitchFamily="2" charset="2"/>
              <a:buChar char="q"/>
              <a:tabLst>
                <a:tab pos="465138" algn="l"/>
              </a:tabLst>
            </a:pPr>
            <a:r>
              <a:rPr lang="en-US" b="1" dirty="0" smtClean="0">
                <a:latin typeface="Arial" pitchFamily="34" charset="0"/>
                <a:cs typeface="Arial" pitchFamily="34" charset="0"/>
              </a:rPr>
              <a:t>So </a:t>
            </a:r>
            <a:r>
              <a:rPr lang="en-US" b="1" dirty="0">
                <a:latin typeface="Arial" pitchFamily="34" charset="0"/>
                <a:cs typeface="Arial" pitchFamily="34" charset="0"/>
              </a:rPr>
              <a:t>while they could borrow from a bank, now with the help of a CP, they could also borrow from the open market</a:t>
            </a:r>
            <a:r>
              <a:rPr lang="en-US" b="1" dirty="0" smtClean="0">
                <a:latin typeface="Arial" pitchFamily="34" charset="0"/>
                <a:cs typeface="Arial" pitchFamily="34" charset="0"/>
              </a:rPr>
              <a:t>.</a:t>
            </a:r>
          </a:p>
          <a:p>
            <a:pPr marL="465138" indent="-465138">
              <a:lnSpc>
                <a:spcPct val="200000"/>
              </a:lnSpc>
              <a:buFont typeface="Wingdings" pitchFamily="2" charset="2"/>
              <a:buChar char="q"/>
              <a:tabLst>
                <a:tab pos="465138" algn="l"/>
              </a:tabLst>
            </a:pPr>
            <a:r>
              <a:rPr lang="en-US" b="1" dirty="0" smtClean="0">
                <a:latin typeface="Arial" pitchFamily="34" charset="0"/>
                <a:cs typeface="Arial" pitchFamily="34" charset="0"/>
              </a:rPr>
              <a:t>Since </a:t>
            </a:r>
            <a:r>
              <a:rPr lang="en-US" b="1" dirty="0">
                <a:latin typeface="Arial" pitchFamily="34" charset="0"/>
                <a:cs typeface="Arial" pitchFamily="34" charset="0"/>
              </a:rPr>
              <a:t>CP is used to borrow directly from the </a:t>
            </a:r>
            <a:r>
              <a:rPr lang="en-US" b="1" dirty="0" smtClean="0">
                <a:latin typeface="Arial" pitchFamily="34" charset="0"/>
                <a:cs typeface="Arial" pitchFamily="34" charset="0"/>
              </a:rPr>
              <a:t>market</a:t>
            </a:r>
            <a:r>
              <a:rPr lang="en-US" b="1" dirty="0" smtClean="0">
                <a:latin typeface="Arial" pitchFamily="34" charset="0"/>
                <a:cs typeface="Arial" pitchFamily="34" charset="0"/>
              </a:rPr>
              <a:t>, the </a:t>
            </a:r>
            <a:r>
              <a:rPr lang="en-US" b="1" dirty="0">
                <a:latin typeface="Arial" pitchFamily="34" charset="0"/>
                <a:cs typeface="Arial" pitchFamily="34" charset="0"/>
              </a:rPr>
              <a:t>rate of interest is lesser as compared to the banks. </a:t>
            </a:r>
          </a:p>
        </p:txBody>
      </p:sp>
      <p:sp>
        <p:nvSpPr>
          <p:cNvPr id="4" name="TextBox 3"/>
          <p:cNvSpPr txBox="1"/>
          <p:nvPr/>
        </p:nvSpPr>
        <p:spPr>
          <a:xfrm>
            <a:off x="2555776" y="476672"/>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COMMERCIAL </a:t>
            </a:r>
            <a:r>
              <a:rPr lang="en-US" sz="2000" b="1" dirty="0">
                <a:solidFill>
                  <a:schemeClr val="bg1"/>
                </a:solidFill>
                <a:latin typeface="Arial" pitchFamily="34" charset="0"/>
                <a:cs typeface="Arial" pitchFamily="34" charset="0"/>
              </a:rPr>
              <a:t>PAPER</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539552" y="1556792"/>
            <a:ext cx="8136904" cy="2169825"/>
          </a:xfrm>
          <a:prstGeom prst="rect">
            <a:avLst/>
          </a:prstGeom>
          <a:noFill/>
        </p:spPr>
        <p:txBody>
          <a:bodyPr wrap="square" rtlCol="0">
            <a:spAutoFit/>
          </a:bodyPr>
          <a:lstStyle/>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A commercial paper is a lower cost </a:t>
            </a:r>
            <a:r>
              <a:rPr lang="en-US" b="1" dirty="0" smtClean="0">
                <a:latin typeface="Arial" pitchFamily="34" charset="0"/>
                <a:cs typeface="Arial" pitchFamily="34" charset="0"/>
              </a:rPr>
              <a:t>alternative to </a:t>
            </a:r>
            <a:r>
              <a:rPr lang="en-US" b="1" dirty="0">
                <a:latin typeface="Arial" pitchFamily="34" charset="0"/>
                <a:cs typeface="Arial" pitchFamily="34" charset="0"/>
              </a:rPr>
              <a:t>borrowing from a bank. </a:t>
            </a:r>
            <a:endParaRPr lang="en-US" b="1" dirty="0" smtClean="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smtClean="0">
                <a:latin typeface="Arial" pitchFamily="34" charset="0"/>
                <a:cs typeface="Arial" pitchFamily="34" charset="0"/>
              </a:rPr>
              <a:t>However </a:t>
            </a:r>
            <a:r>
              <a:rPr lang="en-US" b="1" dirty="0">
                <a:latin typeface="Arial" pitchFamily="34" charset="0"/>
                <a:cs typeface="Arial" pitchFamily="34" charset="0"/>
              </a:rPr>
              <a:t>not all organizations are in a position to issue CPs</a:t>
            </a:r>
            <a:r>
              <a:rPr lang="en-US" b="1" dirty="0" smtClean="0">
                <a:latin typeface="Arial" pitchFamily="34" charset="0"/>
                <a:cs typeface="Arial" pitchFamily="34" charset="0"/>
              </a:rPr>
              <a:t>.</a:t>
            </a:r>
          </a:p>
          <a:p>
            <a:pPr marL="465138" indent="-465138">
              <a:lnSpc>
                <a:spcPct val="150000"/>
              </a:lnSpc>
              <a:buFont typeface="Wingdings" pitchFamily="2" charset="2"/>
              <a:buChar char="q"/>
              <a:tabLst>
                <a:tab pos="465138" algn="l"/>
              </a:tabLst>
            </a:pPr>
            <a:r>
              <a:rPr lang="en-US" b="1" dirty="0" smtClean="0">
                <a:latin typeface="Arial" pitchFamily="34" charset="0"/>
                <a:cs typeface="Arial" pitchFamily="34" charset="0"/>
              </a:rPr>
              <a:t>Only </a:t>
            </a:r>
            <a:r>
              <a:rPr lang="en-US" b="1" dirty="0">
                <a:latin typeface="Arial" pitchFamily="34" charset="0"/>
                <a:cs typeface="Arial" pitchFamily="34" charset="0"/>
              </a:rPr>
              <a:t>reputed organizations whose papers have a good </a:t>
            </a:r>
            <a:r>
              <a:rPr lang="en-US" b="1" dirty="0" smtClean="0">
                <a:latin typeface="Arial" pitchFamily="34" charset="0"/>
                <a:cs typeface="Arial" pitchFamily="34" charset="0"/>
              </a:rPr>
              <a:t>rating</a:t>
            </a:r>
            <a:br>
              <a:rPr lang="en-US" b="1" dirty="0" smtClean="0">
                <a:latin typeface="Arial" pitchFamily="34" charset="0"/>
                <a:cs typeface="Arial" pitchFamily="34" charset="0"/>
              </a:rPr>
            </a:br>
            <a:r>
              <a:rPr lang="en-US" b="1" dirty="0" smtClean="0">
                <a:latin typeface="Arial" pitchFamily="34" charset="0"/>
                <a:cs typeface="Arial" pitchFamily="34" charset="0"/>
              </a:rPr>
              <a:t>can </a:t>
            </a:r>
            <a:r>
              <a:rPr lang="en-US" b="1" dirty="0">
                <a:latin typeface="Arial" pitchFamily="34" charset="0"/>
                <a:cs typeface="Arial" pitchFamily="34" charset="0"/>
              </a:rPr>
              <a:t>borrow directly through CPs and save money</a:t>
            </a:r>
            <a:r>
              <a:rPr lang="en-US" b="1" dirty="0" smtClean="0">
                <a:latin typeface="Arial" pitchFamily="34" charset="0"/>
                <a:cs typeface="Arial" pitchFamily="34" charset="0"/>
              </a:rPr>
              <a:t>.</a:t>
            </a:r>
            <a:endParaRPr lang="en-US" b="1" dirty="0">
              <a:latin typeface="Arial" pitchFamily="34" charset="0"/>
              <a:cs typeface="Arial" pitchFamily="34" charset="0"/>
            </a:endParaRPr>
          </a:p>
        </p:txBody>
      </p:sp>
      <p:sp>
        <p:nvSpPr>
          <p:cNvPr id="4" name="TextBox 3"/>
          <p:cNvSpPr txBox="1"/>
          <p:nvPr/>
        </p:nvSpPr>
        <p:spPr>
          <a:xfrm>
            <a:off x="2555776" y="476672"/>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COMMERCIAL </a:t>
            </a:r>
            <a:r>
              <a:rPr lang="en-US" sz="2000" b="1" dirty="0">
                <a:solidFill>
                  <a:schemeClr val="bg1"/>
                </a:solidFill>
                <a:latin typeface="Arial" pitchFamily="34" charset="0"/>
                <a:cs typeface="Arial" pitchFamily="34" charset="0"/>
              </a:rPr>
              <a:t>PAPER</a:t>
            </a:r>
          </a:p>
        </p:txBody>
      </p:sp>
      <p:sp>
        <p:nvSpPr>
          <p:cNvPr id="5" name="TextBox 4"/>
          <p:cNvSpPr txBox="1"/>
          <p:nvPr/>
        </p:nvSpPr>
        <p:spPr>
          <a:xfrm>
            <a:off x="539552" y="1043444"/>
            <a:ext cx="8136904" cy="369332"/>
          </a:xfrm>
          <a:prstGeom prst="rect">
            <a:avLst/>
          </a:prstGeom>
          <a:noFill/>
        </p:spPr>
        <p:txBody>
          <a:bodyPr wrap="square" rtlCol="0">
            <a:spAutoFit/>
          </a:bodyPr>
          <a:lstStyle/>
          <a:p>
            <a:pPr algn="ctr"/>
            <a:r>
              <a:rPr lang="en-US" b="1" dirty="0">
                <a:latin typeface="Arial" pitchFamily="34" charset="0"/>
                <a:cs typeface="Arial" pitchFamily="34" charset="0"/>
              </a:rPr>
              <a:t>Thus…</a:t>
            </a:r>
          </a:p>
        </p:txBody>
      </p:sp>
    </p:spTree>
    <p:extLst>
      <p:ext uri="{BB962C8B-B14F-4D97-AF65-F5344CB8AC3E}">
        <p14:creationId xmlns:p14="http://schemas.microsoft.com/office/powerpoint/2010/main" xmlns="" val="326869726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323528" y="1412776"/>
            <a:ext cx="8496944" cy="3416320"/>
          </a:xfrm>
          <a:prstGeom prst="rect">
            <a:avLst/>
          </a:prstGeom>
          <a:noFill/>
        </p:spPr>
        <p:txBody>
          <a:bodyPr wrap="square" rtlCol="0">
            <a:spAutoFit/>
          </a:bodyPr>
          <a:lstStyle/>
          <a:p>
            <a:pPr marL="465138" indent="-465138">
              <a:lnSpc>
                <a:spcPct val="200000"/>
              </a:lnSpc>
              <a:buFont typeface="Wingdings" pitchFamily="2" charset="2"/>
              <a:buChar char="q"/>
              <a:tabLst>
                <a:tab pos="465138" algn="l"/>
              </a:tabLst>
            </a:pPr>
            <a:r>
              <a:rPr lang="en-US" b="1" dirty="0" smtClean="0">
                <a:latin typeface="Arial" pitchFamily="34" charset="0"/>
                <a:cs typeface="Arial" pitchFamily="34" charset="0"/>
              </a:rPr>
              <a:t>ABC Group are the owners </a:t>
            </a:r>
            <a:r>
              <a:rPr lang="en-US" b="1" dirty="0">
                <a:latin typeface="Arial" pitchFamily="34" charset="0"/>
                <a:cs typeface="Arial" pitchFamily="34" charset="0"/>
              </a:rPr>
              <a:t>of </a:t>
            </a:r>
            <a:r>
              <a:rPr lang="en-US" b="1" dirty="0" smtClean="0">
                <a:latin typeface="Arial" pitchFamily="34" charset="0"/>
                <a:cs typeface="Arial" pitchFamily="34" charset="0"/>
              </a:rPr>
              <a:t>a large </a:t>
            </a:r>
            <a:r>
              <a:rPr lang="en-US" b="1" dirty="0">
                <a:latin typeface="Arial" pitchFamily="34" charset="0"/>
                <a:cs typeface="Arial" pitchFamily="34" charset="0"/>
              </a:rPr>
              <a:t>retail </a:t>
            </a:r>
            <a:r>
              <a:rPr lang="en-US" b="1" dirty="0" smtClean="0">
                <a:latin typeface="Arial" pitchFamily="34" charset="0"/>
                <a:cs typeface="Arial" pitchFamily="34" charset="0"/>
              </a:rPr>
              <a:t>stores.</a:t>
            </a:r>
          </a:p>
          <a:p>
            <a:pPr marL="465138" indent="-465138">
              <a:lnSpc>
                <a:spcPct val="200000"/>
              </a:lnSpc>
              <a:buFont typeface="Wingdings" pitchFamily="2" charset="2"/>
              <a:buChar char="q"/>
              <a:tabLst>
                <a:tab pos="465138" algn="l"/>
              </a:tabLst>
            </a:pPr>
            <a:r>
              <a:rPr lang="en-US" b="1" dirty="0" smtClean="0">
                <a:latin typeface="Arial" pitchFamily="34" charset="0"/>
                <a:cs typeface="Arial" pitchFamily="34" charset="0"/>
              </a:rPr>
              <a:t>They want </a:t>
            </a:r>
            <a:r>
              <a:rPr lang="en-US" b="1" dirty="0" smtClean="0">
                <a:latin typeface="Arial" pitchFamily="34" charset="0"/>
                <a:cs typeface="Arial" pitchFamily="34" charset="0"/>
              </a:rPr>
              <a:t>to </a:t>
            </a:r>
            <a:r>
              <a:rPr lang="en-US" b="1" dirty="0">
                <a:latin typeface="Arial" pitchFamily="34" charset="0"/>
                <a:cs typeface="Arial" pitchFamily="34" charset="0"/>
              </a:rPr>
              <a:t>raise funds from the market to purchase </a:t>
            </a:r>
            <a:r>
              <a:rPr lang="en-US" b="1" dirty="0" smtClean="0">
                <a:latin typeface="Arial" pitchFamily="34" charset="0"/>
                <a:cs typeface="Arial" pitchFamily="34" charset="0"/>
              </a:rPr>
              <a:t>merchandise</a:t>
            </a:r>
            <a:r>
              <a:rPr lang="en-US" b="1" dirty="0">
                <a:latin typeface="Arial" pitchFamily="34" charset="0"/>
                <a:cs typeface="Arial" pitchFamily="34" charset="0"/>
              </a:rPr>
              <a:t>.</a:t>
            </a:r>
          </a:p>
          <a:p>
            <a:pPr marL="465138" indent="-465138">
              <a:lnSpc>
                <a:spcPct val="200000"/>
              </a:lnSpc>
              <a:buFont typeface="Wingdings" pitchFamily="2" charset="2"/>
              <a:buChar char="q"/>
              <a:tabLst>
                <a:tab pos="465138" algn="l"/>
              </a:tabLst>
            </a:pPr>
            <a:r>
              <a:rPr lang="en-US" b="1" dirty="0" smtClean="0">
                <a:latin typeface="Arial" pitchFamily="34" charset="0"/>
                <a:cs typeface="Arial" pitchFamily="34" charset="0"/>
              </a:rPr>
              <a:t>If they go </a:t>
            </a:r>
            <a:r>
              <a:rPr lang="en-US" b="1" dirty="0">
                <a:latin typeface="Arial" pitchFamily="34" charset="0"/>
                <a:cs typeface="Arial" pitchFamily="34" charset="0"/>
              </a:rPr>
              <a:t>to a bank for a loan, </a:t>
            </a:r>
            <a:r>
              <a:rPr lang="en-US" b="1" dirty="0" smtClean="0">
                <a:latin typeface="Arial" pitchFamily="34" charset="0"/>
                <a:cs typeface="Arial" pitchFamily="34" charset="0"/>
              </a:rPr>
              <a:t>they would have </a:t>
            </a:r>
            <a:r>
              <a:rPr lang="en-US" b="1" dirty="0">
                <a:latin typeface="Arial" pitchFamily="34" charset="0"/>
                <a:cs typeface="Arial" pitchFamily="34" charset="0"/>
              </a:rPr>
              <a:t>to pay </a:t>
            </a:r>
            <a:r>
              <a:rPr lang="en-US" b="1" dirty="0" smtClean="0">
                <a:latin typeface="Arial" pitchFamily="34" charset="0"/>
                <a:cs typeface="Arial" pitchFamily="34" charset="0"/>
              </a:rPr>
              <a:t>15</a:t>
            </a:r>
            <a:r>
              <a:rPr lang="en-US" b="1" dirty="0">
                <a:latin typeface="Arial" pitchFamily="34" charset="0"/>
                <a:cs typeface="Arial" pitchFamily="34" charset="0"/>
              </a:rPr>
              <a:t>% interest on the loan.</a:t>
            </a:r>
          </a:p>
          <a:p>
            <a:pPr marL="465138" indent="-465138">
              <a:lnSpc>
                <a:spcPct val="200000"/>
              </a:lnSpc>
              <a:buFont typeface="Wingdings" pitchFamily="2" charset="2"/>
              <a:buChar char="q"/>
              <a:tabLst>
                <a:tab pos="465138" algn="l"/>
              </a:tabLst>
            </a:pPr>
            <a:r>
              <a:rPr lang="en-US" b="1" dirty="0" smtClean="0">
                <a:latin typeface="Arial" pitchFamily="34" charset="0"/>
                <a:cs typeface="Arial" pitchFamily="34" charset="0"/>
              </a:rPr>
              <a:t>But </a:t>
            </a:r>
            <a:r>
              <a:rPr lang="en-US" b="1" dirty="0">
                <a:latin typeface="Arial" pitchFamily="34" charset="0"/>
                <a:cs typeface="Arial" pitchFamily="34" charset="0"/>
              </a:rPr>
              <a:t>from the open market </a:t>
            </a:r>
            <a:r>
              <a:rPr lang="en-US" b="1" dirty="0" smtClean="0">
                <a:latin typeface="Arial" pitchFamily="34" charset="0"/>
                <a:cs typeface="Arial" pitchFamily="34" charset="0"/>
              </a:rPr>
              <a:t>they could </a:t>
            </a:r>
            <a:r>
              <a:rPr lang="en-US" b="1" dirty="0">
                <a:latin typeface="Arial" pitchFamily="34" charset="0"/>
                <a:cs typeface="Arial" pitchFamily="34" charset="0"/>
              </a:rPr>
              <a:t>perhaps get  the loan at only 10%.</a:t>
            </a:r>
          </a:p>
          <a:p>
            <a:pPr marL="465138" indent="-465138">
              <a:lnSpc>
                <a:spcPct val="200000"/>
              </a:lnSpc>
              <a:buFont typeface="Wingdings" pitchFamily="2" charset="2"/>
              <a:buChar char="q"/>
              <a:tabLst>
                <a:tab pos="465138" algn="l"/>
              </a:tabLst>
            </a:pPr>
            <a:r>
              <a:rPr lang="en-US" b="1" dirty="0" smtClean="0">
                <a:latin typeface="Arial" pitchFamily="34" charset="0"/>
                <a:cs typeface="Arial" pitchFamily="34" charset="0"/>
              </a:rPr>
              <a:t>Hence </a:t>
            </a:r>
            <a:r>
              <a:rPr lang="en-US" b="1" dirty="0">
                <a:latin typeface="Arial" pitchFamily="34" charset="0"/>
                <a:cs typeface="Arial" pitchFamily="34" charset="0"/>
              </a:rPr>
              <a:t>by resorting to an instrument like </a:t>
            </a:r>
            <a:r>
              <a:rPr lang="en-US" b="1" dirty="0" smtClean="0">
                <a:latin typeface="Arial" pitchFamily="34" charset="0"/>
                <a:cs typeface="Arial" pitchFamily="34" charset="0"/>
              </a:rPr>
              <a:t>CP, the </a:t>
            </a:r>
            <a:r>
              <a:rPr lang="en-US" b="1" dirty="0">
                <a:latin typeface="Arial" pitchFamily="34" charset="0"/>
                <a:cs typeface="Arial" pitchFamily="34" charset="0"/>
              </a:rPr>
              <a:t>organization gains 5</a:t>
            </a:r>
            <a:r>
              <a:rPr lang="en-US" b="1" dirty="0" smtClean="0">
                <a:latin typeface="Arial" pitchFamily="34" charset="0"/>
                <a:cs typeface="Arial" pitchFamily="34" charset="0"/>
              </a:rPr>
              <a:t>%.</a:t>
            </a:r>
            <a:endParaRPr lang="en-US" b="1" dirty="0">
              <a:latin typeface="Arial" pitchFamily="34" charset="0"/>
              <a:cs typeface="Arial" pitchFamily="34" charset="0"/>
            </a:endParaRPr>
          </a:p>
        </p:txBody>
      </p:sp>
      <p:sp>
        <p:nvSpPr>
          <p:cNvPr id="4" name="TextBox 3"/>
          <p:cNvSpPr txBox="1"/>
          <p:nvPr/>
        </p:nvSpPr>
        <p:spPr>
          <a:xfrm>
            <a:off x="2555776" y="476672"/>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COMMERCIAL </a:t>
            </a:r>
            <a:r>
              <a:rPr lang="en-US" sz="2000" b="1" dirty="0">
                <a:solidFill>
                  <a:schemeClr val="bg1"/>
                </a:solidFill>
                <a:latin typeface="Arial" pitchFamily="34" charset="0"/>
                <a:cs typeface="Arial" pitchFamily="34" charset="0"/>
              </a:rPr>
              <a:t>PAPER</a:t>
            </a:r>
          </a:p>
        </p:txBody>
      </p:sp>
      <p:sp>
        <p:nvSpPr>
          <p:cNvPr id="5" name="TextBox 4"/>
          <p:cNvSpPr txBox="1"/>
          <p:nvPr/>
        </p:nvSpPr>
        <p:spPr>
          <a:xfrm>
            <a:off x="539552" y="1043444"/>
            <a:ext cx="8136904" cy="369332"/>
          </a:xfrm>
          <a:prstGeom prst="rect">
            <a:avLst/>
          </a:prstGeom>
          <a:noFill/>
        </p:spPr>
        <p:txBody>
          <a:bodyPr wrap="square" rtlCol="0">
            <a:spAutoFit/>
          </a:bodyPr>
          <a:lstStyle/>
          <a:p>
            <a:pPr algn="ctr"/>
            <a:r>
              <a:rPr lang="en-US" b="1" dirty="0" smtClean="0">
                <a:latin typeface="Arial" pitchFamily="34" charset="0"/>
                <a:cs typeface="Arial" pitchFamily="34" charset="0"/>
              </a:rPr>
              <a:t>Let’s take an </a:t>
            </a:r>
            <a:r>
              <a:rPr lang="en-US" b="1" dirty="0">
                <a:latin typeface="Arial" pitchFamily="34" charset="0"/>
                <a:cs typeface="Arial" pitchFamily="34" charset="0"/>
              </a:rPr>
              <a:t>example…</a:t>
            </a:r>
          </a:p>
        </p:txBody>
      </p:sp>
    </p:spTree>
    <p:extLst>
      <p:ext uri="{BB962C8B-B14F-4D97-AF65-F5344CB8AC3E}">
        <p14:creationId xmlns:p14="http://schemas.microsoft.com/office/powerpoint/2010/main" xmlns="" val="7477707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539552" y="1504136"/>
            <a:ext cx="7416824" cy="3046988"/>
          </a:xfrm>
          <a:prstGeom prst="rect">
            <a:avLst/>
          </a:prstGeom>
          <a:noFill/>
        </p:spPr>
        <p:txBody>
          <a:bodyPr wrap="square" rtlCol="0">
            <a:spAutoFit/>
          </a:bodyPr>
          <a:lstStyle/>
          <a:p>
            <a:pPr marL="465138" indent="-465138">
              <a:lnSpc>
                <a:spcPct val="150000"/>
              </a:lnSpc>
              <a:buFont typeface="Wingdings" pitchFamily="2" charset="2"/>
              <a:buChar char="q"/>
              <a:tabLst>
                <a:tab pos="465138" algn="l"/>
              </a:tabLst>
            </a:pPr>
            <a:r>
              <a:rPr lang="en-GB" b="1" dirty="0">
                <a:latin typeface="Arial" pitchFamily="34" charset="0"/>
                <a:cs typeface="Arial" pitchFamily="34" charset="0"/>
              </a:rPr>
              <a:t>By issuing CPs the organization borrows directly </a:t>
            </a:r>
            <a:r>
              <a:rPr lang="en-GB" b="1" dirty="0" smtClean="0">
                <a:latin typeface="Arial" pitchFamily="34" charset="0"/>
                <a:cs typeface="Arial" pitchFamily="34" charset="0"/>
              </a:rPr>
              <a:t>from</a:t>
            </a:r>
            <a:br>
              <a:rPr lang="en-GB" b="1" dirty="0" smtClean="0">
                <a:latin typeface="Arial" pitchFamily="34" charset="0"/>
                <a:cs typeface="Arial" pitchFamily="34" charset="0"/>
              </a:rPr>
            </a:br>
            <a:r>
              <a:rPr lang="en-GB" b="1" dirty="0" smtClean="0">
                <a:latin typeface="Arial" pitchFamily="34" charset="0"/>
                <a:cs typeface="Arial" pitchFamily="34" charset="0"/>
              </a:rPr>
              <a:t>investors </a:t>
            </a:r>
            <a:r>
              <a:rPr lang="en-GB" b="1" dirty="0">
                <a:latin typeface="Arial" pitchFamily="34" charset="0"/>
                <a:cs typeface="Arial" pitchFamily="34" charset="0"/>
              </a:rPr>
              <a:t>and by-passes the banks.</a:t>
            </a:r>
          </a:p>
          <a:p>
            <a:pPr marL="465138" indent="-465138">
              <a:lnSpc>
                <a:spcPct val="150000"/>
              </a:lnSpc>
              <a:buFont typeface="Wingdings" pitchFamily="2" charset="2"/>
              <a:buChar char="q"/>
              <a:tabLst>
                <a:tab pos="465138" algn="l"/>
              </a:tabLst>
            </a:pPr>
            <a:endParaRPr lang="en-GB" sz="10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GB" b="1" dirty="0">
                <a:latin typeface="Arial" pitchFamily="34" charset="0"/>
                <a:cs typeface="Arial" pitchFamily="34" charset="0"/>
              </a:rPr>
              <a:t>As a result, it gets to borrow at a lower rate from </a:t>
            </a:r>
            <a:r>
              <a:rPr lang="en-GB" b="1" dirty="0" smtClean="0">
                <a:latin typeface="Arial" pitchFamily="34" charset="0"/>
                <a:cs typeface="Arial" pitchFamily="34" charset="0"/>
              </a:rPr>
              <a:t>the</a:t>
            </a:r>
            <a:br>
              <a:rPr lang="en-GB" b="1" dirty="0" smtClean="0">
                <a:latin typeface="Arial" pitchFamily="34" charset="0"/>
                <a:cs typeface="Arial" pitchFamily="34" charset="0"/>
              </a:rPr>
            </a:br>
            <a:r>
              <a:rPr lang="en-GB" b="1" dirty="0" smtClean="0">
                <a:latin typeface="Arial" pitchFamily="34" charset="0"/>
                <a:cs typeface="Arial" pitchFamily="34" charset="0"/>
              </a:rPr>
              <a:t>market </a:t>
            </a:r>
            <a:r>
              <a:rPr lang="en-GB" b="1" dirty="0">
                <a:latin typeface="Arial" pitchFamily="34" charset="0"/>
                <a:cs typeface="Arial" pitchFamily="34" charset="0"/>
              </a:rPr>
              <a:t>as compared to what the banks would have charged.</a:t>
            </a:r>
          </a:p>
          <a:p>
            <a:pPr marL="465138" indent="-465138">
              <a:lnSpc>
                <a:spcPct val="150000"/>
              </a:lnSpc>
              <a:buFont typeface="Wingdings" pitchFamily="2" charset="2"/>
              <a:buChar char="q"/>
              <a:tabLst>
                <a:tab pos="465138" algn="l"/>
              </a:tabLst>
            </a:pPr>
            <a:endParaRPr lang="en-GB" sz="10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GB" b="1" dirty="0">
                <a:latin typeface="Arial" pitchFamily="34" charset="0"/>
                <a:cs typeface="Arial" pitchFamily="34" charset="0"/>
              </a:rPr>
              <a:t>This process is also called Financial </a:t>
            </a:r>
            <a:r>
              <a:rPr lang="en-GB" b="1" dirty="0" smtClean="0">
                <a:latin typeface="Arial" pitchFamily="34" charset="0"/>
                <a:cs typeface="Arial" pitchFamily="34" charset="0"/>
              </a:rPr>
              <a:t>Disintermediation</a:t>
            </a:r>
            <a:br>
              <a:rPr lang="en-GB" b="1" dirty="0" smtClean="0">
                <a:latin typeface="Arial" pitchFamily="34" charset="0"/>
                <a:cs typeface="Arial" pitchFamily="34" charset="0"/>
              </a:rPr>
            </a:br>
            <a:r>
              <a:rPr lang="en-GB" b="1" i="1" dirty="0" smtClean="0">
                <a:latin typeface="Arial" pitchFamily="34" charset="0"/>
                <a:cs typeface="Arial" pitchFamily="34" charset="0"/>
              </a:rPr>
              <a:t>or </a:t>
            </a:r>
            <a:r>
              <a:rPr lang="en-GB" b="1" i="1" dirty="0">
                <a:latin typeface="Arial" pitchFamily="34" charset="0"/>
                <a:cs typeface="Arial" pitchFamily="34" charset="0"/>
              </a:rPr>
              <a:t>in other words</a:t>
            </a:r>
            <a:r>
              <a:rPr lang="en-GB" b="1" dirty="0">
                <a:latin typeface="Arial" pitchFamily="34" charset="0"/>
                <a:cs typeface="Arial" pitchFamily="34" charset="0"/>
              </a:rPr>
              <a:t> getting rid of the mediator.</a:t>
            </a:r>
            <a:endParaRPr lang="en-US" b="1" dirty="0">
              <a:latin typeface="Arial" pitchFamily="34" charset="0"/>
              <a:cs typeface="Arial" pitchFamily="34" charset="0"/>
            </a:endParaRPr>
          </a:p>
        </p:txBody>
      </p:sp>
      <p:sp>
        <p:nvSpPr>
          <p:cNvPr id="4" name="TextBox 3"/>
          <p:cNvSpPr txBox="1"/>
          <p:nvPr/>
        </p:nvSpPr>
        <p:spPr>
          <a:xfrm>
            <a:off x="2555776" y="476672"/>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COMMERCIAL </a:t>
            </a:r>
            <a:r>
              <a:rPr lang="en-US" sz="2000" b="1" dirty="0">
                <a:solidFill>
                  <a:schemeClr val="bg1"/>
                </a:solidFill>
                <a:latin typeface="Arial" pitchFamily="34" charset="0"/>
                <a:cs typeface="Arial" pitchFamily="34" charset="0"/>
              </a:rPr>
              <a:t>PAPER</a:t>
            </a:r>
          </a:p>
        </p:txBody>
      </p:sp>
      <p:sp>
        <p:nvSpPr>
          <p:cNvPr id="5" name="TextBox 4"/>
          <p:cNvSpPr txBox="1"/>
          <p:nvPr/>
        </p:nvSpPr>
        <p:spPr>
          <a:xfrm>
            <a:off x="539552" y="1043444"/>
            <a:ext cx="8136904" cy="369332"/>
          </a:xfrm>
          <a:prstGeom prst="rect">
            <a:avLst/>
          </a:prstGeom>
          <a:noFill/>
        </p:spPr>
        <p:txBody>
          <a:bodyPr wrap="square" rtlCol="0">
            <a:spAutoFit/>
          </a:bodyPr>
          <a:lstStyle/>
          <a:p>
            <a:pPr algn="ctr"/>
            <a:r>
              <a:rPr lang="en-US" b="1" dirty="0">
                <a:latin typeface="Arial" pitchFamily="34" charset="0"/>
                <a:cs typeface="Arial" pitchFamily="34" charset="0"/>
              </a:rPr>
              <a:t>Therefore…</a:t>
            </a:r>
          </a:p>
        </p:txBody>
      </p:sp>
    </p:spTree>
    <p:extLst>
      <p:ext uri="{BB962C8B-B14F-4D97-AF65-F5344CB8AC3E}">
        <p14:creationId xmlns:p14="http://schemas.microsoft.com/office/powerpoint/2010/main" xmlns="" val="342057292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211960" y="3773939"/>
            <a:ext cx="3960440" cy="2308324"/>
          </a:xfrm>
          <a:prstGeom prst="rect">
            <a:avLst/>
          </a:prstGeom>
        </p:spPr>
        <p:txBody>
          <a:bodyPr wrap="square">
            <a:spAutoFit/>
          </a:bodyPr>
          <a:lstStyle/>
          <a:p>
            <a:pPr>
              <a:lnSpc>
                <a:spcPct val="200000"/>
              </a:lnSpc>
            </a:pPr>
            <a:r>
              <a:rPr lang="en-US" b="1" dirty="0">
                <a:latin typeface="Arial" pitchFamily="34" charset="0"/>
                <a:cs typeface="Arial" pitchFamily="34" charset="0"/>
              </a:rPr>
              <a:t>So who is eligible to issue CPs</a:t>
            </a:r>
            <a:r>
              <a:rPr lang="en-US" b="1" dirty="0" smtClean="0">
                <a:latin typeface="Arial" pitchFamily="34" charset="0"/>
                <a:cs typeface="Arial" pitchFamily="34" charset="0"/>
              </a:rPr>
              <a:t>?</a:t>
            </a:r>
          </a:p>
          <a:p>
            <a:pPr marL="465138" indent="-465138">
              <a:lnSpc>
                <a:spcPct val="200000"/>
              </a:lnSpc>
              <a:buFont typeface="Wingdings" pitchFamily="2" charset="2"/>
              <a:buChar char="q"/>
              <a:tabLst>
                <a:tab pos="465138" algn="l"/>
              </a:tabLst>
            </a:pPr>
            <a:r>
              <a:rPr lang="en-US" b="1" dirty="0">
                <a:latin typeface="Arial" pitchFamily="34" charset="0"/>
                <a:cs typeface="Arial" pitchFamily="34" charset="0"/>
              </a:rPr>
              <a:t>Corporates</a:t>
            </a:r>
          </a:p>
          <a:p>
            <a:pPr marL="465138" indent="-465138">
              <a:lnSpc>
                <a:spcPct val="200000"/>
              </a:lnSpc>
              <a:buFont typeface="Wingdings" pitchFamily="2" charset="2"/>
              <a:buChar char="q"/>
              <a:tabLst>
                <a:tab pos="465138" algn="l"/>
              </a:tabLst>
            </a:pPr>
            <a:r>
              <a:rPr lang="en-US" b="1" dirty="0" smtClean="0">
                <a:latin typeface="Arial" pitchFamily="34" charset="0"/>
                <a:cs typeface="Arial" pitchFamily="34" charset="0"/>
              </a:rPr>
              <a:t>Primary </a:t>
            </a:r>
            <a:r>
              <a:rPr lang="en-US" b="1" dirty="0">
                <a:latin typeface="Arial" pitchFamily="34" charset="0"/>
                <a:cs typeface="Arial" pitchFamily="34" charset="0"/>
              </a:rPr>
              <a:t>dealers </a:t>
            </a:r>
          </a:p>
          <a:p>
            <a:pPr marL="465138" indent="-465138">
              <a:lnSpc>
                <a:spcPct val="200000"/>
              </a:lnSpc>
              <a:buFont typeface="Wingdings" pitchFamily="2" charset="2"/>
              <a:buChar char="q"/>
              <a:tabLst>
                <a:tab pos="465138" algn="l"/>
              </a:tabLst>
            </a:pPr>
            <a:r>
              <a:rPr lang="en-US" b="1" dirty="0" smtClean="0">
                <a:latin typeface="Arial" pitchFamily="34" charset="0"/>
                <a:cs typeface="Arial" pitchFamily="34" charset="0"/>
              </a:rPr>
              <a:t>Financial </a:t>
            </a:r>
            <a:r>
              <a:rPr lang="en-US" b="1" dirty="0">
                <a:latin typeface="Arial" pitchFamily="34" charset="0"/>
                <a:cs typeface="Arial" pitchFamily="34" charset="0"/>
              </a:rPr>
              <a:t>Institutions (FIs</a:t>
            </a:r>
            <a:r>
              <a:rPr lang="en-US" b="1" dirty="0" smtClean="0">
                <a:latin typeface="Arial" pitchFamily="34" charset="0"/>
                <a:cs typeface="Arial" pitchFamily="34" charset="0"/>
              </a:rPr>
              <a:t>)</a:t>
            </a:r>
            <a:endParaRPr lang="en-US" b="1" dirty="0">
              <a:latin typeface="Arial" pitchFamily="34" charset="0"/>
              <a:cs typeface="Arial" pitchFamily="34" charset="0"/>
            </a:endParaRPr>
          </a:p>
        </p:txBody>
      </p:sp>
      <p:sp>
        <p:nvSpPr>
          <p:cNvPr id="4" name="TextBox 3"/>
          <p:cNvSpPr txBox="1"/>
          <p:nvPr/>
        </p:nvSpPr>
        <p:spPr>
          <a:xfrm>
            <a:off x="2555776" y="476672"/>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COMMERCIAL </a:t>
            </a:r>
            <a:r>
              <a:rPr lang="en-US" sz="2000" b="1" dirty="0">
                <a:solidFill>
                  <a:schemeClr val="bg1"/>
                </a:solidFill>
                <a:latin typeface="Arial" pitchFamily="34" charset="0"/>
                <a:cs typeface="Arial" pitchFamily="34" charset="0"/>
              </a:rPr>
              <a:t>PAPER</a:t>
            </a:r>
          </a:p>
        </p:txBody>
      </p:sp>
    </p:spTree>
    <p:extLst>
      <p:ext uri="{BB962C8B-B14F-4D97-AF65-F5344CB8AC3E}">
        <p14:creationId xmlns:p14="http://schemas.microsoft.com/office/powerpoint/2010/main" xmlns="" val="137087309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067944" y="3773939"/>
            <a:ext cx="4464496" cy="2585323"/>
          </a:xfrm>
          <a:prstGeom prst="rect">
            <a:avLst/>
          </a:prstGeom>
        </p:spPr>
        <p:txBody>
          <a:bodyPr wrap="square">
            <a:spAutoFit/>
          </a:bodyPr>
          <a:lstStyle/>
          <a:p>
            <a:pPr>
              <a:lnSpc>
                <a:spcPct val="150000"/>
              </a:lnSpc>
            </a:pPr>
            <a:r>
              <a:rPr lang="en-US" b="1" dirty="0">
                <a:latin typeface="Arial" pitchFamily="34" charset="0"/>
                <a:cs typeface="Arial" pitchFamily="34" charset="0"/>
              </a:rPr>
              <a:t>And who can invest in CPs?</a:t>
            </a: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Individuals</a:t>
            </a:r>
          </a:p>
          <a:p>
            <a:pPr marL="465138" indent="-465138">
              <a:lnSpc>
                <a:spcPct val="150000"/>
              </a:lnSpc>
              <a:buFont typeface="Wingdings" pitchFamily="2" charset="2"/>
              <a:buChar char="q"/>
              <a:tabLst>
                <a:tab pos="465138" algn="l"/>
              </a:tabLst>
            </a:pPr>
            <a:r>
              <a:rPr lang="en-US" b="1" dirty="0" smtClean="0">
                <a:latin typeface="Arial" pitchFamily="34" charset="0"/>
                <a:cs typeface="Arial" pitchFamily="34" charset="0"/>
              </a:rPr>
              <a:t>Banking </a:t>
            </a:r>
            <a:r>
              <a:rPr lang="en-US" b="1" dirty="0">
                <a:latin typeface="Arial" pitchFamily="34" charset="0"/>
                <a:cs typeface="Arial" pitchFamily="34" charset="0"/>
              </a:rPr>
              <a:t>companies </a:t>
            </a:r>
          </a:p>
          <a:p>
            <a:pPr marL="465138" indent="-465138">
              <a:lnSpc>
                <a:spcPct val="150000"/>
              </a:lnSpc>
              <a:buFont typeface="Wingdings" pitchFamily="2" charset="2"/>
              <a:buChar char="q"/>
              <a:tabLst>
                <a:tab pos="465138" algn="l"/>
              </a:tabLst>
            </a:pPr>
            <a:r>
              <a:rPr lang="en-US" b="1" dirty="0" smtClean="0">
                <a:latin typeface="Arial" pitchFamily="34" charset="0"/>
                <a:cs typeface="Arial" pitchFamily="34" charset="0"/>
              </a:rPr>
              <a:t>Non-Resident </a:t>
            </a:r>
            <a:r>
              <a:rPr lang="en-US" b="1" dirty="0">
                <a:latin typeface="Arial" pitchFamily="34" charset="0"/>
                <a:cs typeface="Arial" pitchFamily="34" charset="0"/>
              </a:rPr>
              <a:t>Indians (NRIs) and </a:t>
            </a:r>
          </a:p>
          <a:p>
            <a:pPr marL="465138" indent="-465138">
              <a:lnSpc>
                <a:spcPct val="150000"/>
              </a:lnSpc>
              <a:buFont typeface="Wingdings" pitchFamily="2" charset="2"/>
              <a:buChar char="q"/>
              <a:tabLst>
                <a:tab pos="465138" algn="l"/>
              </a:tabLst>
            </a:pPr>
            <a:r>
              <a:rPr lang="en-US" b="1" dirty="0" smtClean="0">
                <a:latin typeface="Arial" pitchFamily="34" charset="0"/>
                <a:cs typeface="Arial" pitchFamily="34" charset="0"/>
              </a:rPr>
              <a:t>Foreign </a:t>
            </a:r>
            <a:r>
              <a:rPr lang="en-US" b="1" dirty="0">
                <a:latin typeface="Arial" pitchFamily="34" charset="0"/>
                <a:cs typeface="Arial" pitchFamily="34" charset="0"/>
              </a:rPr>
              <a:t>Institutional Investors (FIIs) etc. </a:t>
            </a:r>
          </a:p>
        </p:txBody>
      </p:sp>
      <p:sp>
        <p:nvSpPr>
          <p:cNvPr id="4" name="TextBox 3"/>
          <p:cNvSpPr txBox="1"/>
          <p:nvPr/>
        </p:nvSpPr>
        <p:spPr>
          <a:xfrm>
            <a:off x="2555776" y="476672"/>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COMMERCIAL </a:t>
            </a:r>
            <a:r>
              <a:rPr lang="en-US" sz="2000" b="1" dirty="0">
                <a:solidFill>
                  <a:schemeClr val="bg1"/>
                </a:solidFill>
                <a:latin typeface="Arial" pitchFamily="34" charset="0"/>
                <a:cs typeface="Arial" pitchFamily="34" charset="0"/>
              </a:rPr>
              <a:t>PAPER</a:t>
            </a:r>
          </a:p>
        </p:txBody>
      </p:sp>
    </p:spTree>
    <p:extLst>
      <p:ext uri="{BB962C8B-B14F-4D97-AF65-F5344CB8AC3E}">
        <p14:creationId xmlns:p14="http://schemas.microsoft.com/office/powerpoint/2010/main" xmlns="" val="78094774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9" name="TextBox 8"/>
          <p:cNvSpPr txBox="1"/>
          <p:nvPr/>
        </p:nvSpPr>
        <p:spPr>
          <a:xfrm>
            <a:off x="899592" y="1628800"/>
            <a:ext cx="7560840" cy="2360903"/>
          </a:xfrm>
          <a:prstGeom prst="rect">
            <a:avLst/>
          </a:prstGeom>
          <a:noFill/>
        </p:spPr>
        <p:txBody>
          <a:bodyPr wrap="square" rtlCol="0">
            <a:spAutoFit/>
          </a:bodyPr>
          <a:lstStyle/>
          <a:p>
            <a:pPr>
              <a:lnSpc>
                <a:spcPct val="200000"/>
              </a:lnSpc>
              <a:spcBef>
                <a:spcPct val="50000"/>
              </a:spcBef>
            </a:pPr>
            <a:r>
              <a:rPr lang="en-US" b="1" dirty="0">
                <a:latin typeface="Arial" pitchFamily="34" charset="0"/>
                <a:cs typeface="Arial" pitchFamily="34" charset="0"/>
              </a:rPr>
              <a:t>CPs can be issued for maturities between a minimum </a:t>
            </a:r>
            <a:r>
              <a:rPr lang="en-US" b="1" dirty="0" smtClean="0">
                <a:latin typeface="Arial" pitchFamily="34" charset="0"/>
                <a:cs typeface="Arial" pitchFamily="34" charset="0"/>
              </a:rPr>
              <a:t>of</a:t>
            </a:r>
            <a:br>
              <a:rPr lang="en-US" b="1" dirty="0" smtClean="0">
                <a:latin typeface="Arial" pitchFamily="34" charset="0"/>
                <a:cs typeface="Arial" pitchFamily="34" charset="0"/>
              </a:rPr>
            </a:br>
            <a:r>
              <a:rPr lang="en-US" b="1" dirty="0" smtClean="0">
                <a:latin typeface="Arial" pitchFamily="34" charset="0"/>
                <a:cs typeface="Arial" pitchFamily="34" charset="0"/>
              </a:rPr>
              <a:t>15 </a:t>
            </a:r>
            <a:r>
              <a:rPr lang="en-US" b="1" dirty="0">
                <a:latin typeface="Arial" pitchFamily="34" charset="0"/>
                <a:cs typeface="Arial" pitchFamily="34" charset="0"/>
              </a:rPr>
              <a:t>days and a maximum of up to one year from the date of issue</a:t>
            </a:r>
            <a:r>
              <a:rPr lang="en-US" b="1" dirty="0" smtClean="0">
                <a:latin typeface="Arial" pitchFamily="34" charset="0"/>
                <a:cs typeface="Arial" pitchFamily="34" charset="0"/>
              </a:rPr>
              <a:t>.</a:t>
            </a:r>
          </a:p>
          <a:p>
            <a:pPr>
              <a:lnSpc>
                <a:spcPct val="200000"/>
              </a:lnSpc>
              <a:spcBef>
                <a:spcPct val="50000"/>
              </a:spcBef>
            </a:pPr>
            <a:r>
              <a:rPr lang="en-US" b="1" dirty="0" smtClean="0">
                <a:latin typeface="Arial" pitchFamily="34" charset="0"/>
                <a:cs typeface="Arial" pitchFamily="34" charset="0"/>
              </a:rPr>
              <a:t>Therefore </a:t>
            </a:r>
            <a:r>
              <a:rPr lang="en-US" b="1" dirty="0">
                <a:latin typeface="Arial" pitchFamily="34" charset="0"/>
                <a:cs typeface="Arial" pitchFamily="34" charset="0"/>
              </a:rPr>
              <a:t>it is used to fund the working capital or current requirements of organizations</a:t>
            </a:r>
            <a:r>
              <a:rPr lang="en-US" b="1" dirty="0" smtClean="0">
                <a:latin typeface="Arial" pitchFamily="34" charset="0"/>
                <a:cs typeface="Arial" pitchFamily="34" charset="0"/>
              </a:rPr>
              <a:t>.</a:t>
            </a:r>
            <a:endParaRPr lang="en-US" b="1" dirty="0">
              <a:latin typeface="Arial" pitchFamily="34" charset="0"/>
              <a:cs typeface="Arial" pitchFamily="34" charset="0"/>
            </a:endParaRPr>
          </a:p>
        </p:txBody>
      </p:sp>
      <p:sp>
        <p:nvSpPr>
          <p:cNvPr id="10" name="TextBox 9"/>
          <p:cNvSpPr txBox="1"/>
          <p:nvPr/>
        </p:nvSpPr>
        <p:spPr>
          <a:xfrm>
            <a:off x="2555776" y="476672"/>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COMMERCIAL </a:t>
            </a:r>
            <a:r>
              <a:rPr lang="en-US" sz="2000" b="1" dirty="0">
                <a:solidFill>
                  <a:schemeClr val="bg1"/>
                </a:solidFill>
                <a:latin typeface="Arial" pitchFamily="34" charset="0"/>
                <a:cs typeface="Arial" pitchFamily="34" charset="0"/>
              </a:rPr>
              <a:t>PAPER</a:t>
            </a:r>
          </a:p>
        </p:txBody>
      </p:sp>
      <p:sp>
        <p:nvSpPr>
          <p:cNvPr id="5" name="TextBox 4"/>
          <p:cNvSpPr txBox="1"/>
          <p:nvPr/>
        </p:nvSpPr>
        <p:spPr>
          <a:xfrm>
            <a:off x="899592" y="1043444"/>
            <a:ext cx="7560840" cy="369332"/>
          </a:xfrm>
          <a:prstGeom prst="rect">
            <a:avLst/>
          </a:prstGeom>
          <a:noFill/>
        </p:spPr>
        <p:txBody>
          <a:bodyPr wrap="square" rtlCol="0">
            <a:spAutoFit/>
          </a:bodyPr>
          <a:lstStyle/>
          <a:p>
            <a:pPr algn="ctr"/>
            <a:r>
              <a:rPr lang="en-US" b="1" dirty="0" smtClean="0">
                <a:latin typeface="Arial" pitchFamily="34" charset="0"/>
                <a:cs typeface="Arial" pitchFamily="34" charset="0"/>
              </a:rPr>
              <a:t>For </a:t>
            </a:r>
            <a:r>
              <a:rPr lang="en-US" b="1" dirty="0">
                <a:latin typeface="Arial" pitchFamily="34" charset="0"/>
                <a:cs typeface="Arial" pitchFamily="34" charset="0"/>
              </a:rPr>
              <a:t>what maturity periods are CPs issued?</a:t>
            </a:r>
          </a:p>
        </p:txBody>
      </p:sp>
    </p:spTree>
    <p:extLst>
      <p:ext uri="{BB962C8B-B14F-4D97-AF65-F5344CB8AC3E}">
        <p14:creationId xmlns:p14="http://schemas.microsoft.com/office/powerpoint/2010/main" xmlns="" val="260445960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2.jpg"/>
          <p:cNvPicPr>
            <a:picLocks noChangeAspect="1" noChangeArrowheads="1"/>
          </p:cNvPicPr>
          <p:nvPr/>
        </p:nvPicPr>
        <p:blipFill>
          <a:blip r:embed="rId2" cstate="print"/>
          <a:srcRect/>
          <a:stretch>
            <a:fillRect/>
          </a:stretch>
        </p:blipFill>
        <p:spPr bwMode="auto">
          <a:xfrm>
            <a:off x="0" y="-1"/>
            <a:ext cx="9144000" cy="6858001"/>
          </a:xfrm>
          <a:prstGeom prst="rect">
            <a:avLst/>
          </a:prstGeom>
          <a:ln w="228600" cap="sq" cmpd="thickThin">
            <a:solidFill>
              <a:srgbClr val="000000"/>
            </a:solidFill>
            <a:prstDash val="solid"/>
            <a:miter lim="800000"/>
          </a:ln>
          <a:effectLst>
            <a:innerShdw blurRad="76200">
              <a:srgbClr val="000000"/>
            </a:innerShdw>
          </a:effectLst>
        </p:spPr>
      </p:pic>
      <p:sp>
        <p:nvSpPr>
          <p:cNvPr id="3" name="TextBox 2"/>
          <p:cNvSpPr txBox="1"/>
          <p:nvPr/>
        </p:nvSpPr>
        <p:spPr>
          <a:xfrm>
            <a:off x="2555776" y="476672"/>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COMMERCIAL </a:t>
            </a:r>
            <a:r>
              <a:rPr lang="en-US" sz="2000" b="1" dirty="0">
                <a:solidFill>
                  <a:schemeClr val="bg1"/>
                </a:solidFill>
                <a:latin typeface="Arial" pitchFamily="34" charset="0"/>
                <a:cs typeface="Arial" pitchFamily="34" charset="0"/>
              </a:rPr>
              <a:t>PAPER</a:t>
            </a:r>
          </a:p>
        </p:txBody>
      </p:sp>
      <p:sp>
        <p:nvSpPr>
          <p:cNvPr id="4" name="TextBox 3"/>
          <p:cNvSpPr txBox="1"/>
          <p:nvPr/>
        </p:nvSpPr>
        <p:spPr>
          <a:xfrm>
            <a:off x="3491880" y="1508591"/>
            <a:ext cx="3312368" cy="1200329"/>
          </a:xfrm>
          <a:prstGeom prst="rect">
            <a:avLst/>
          </a:prstGeom>
          <a:noFill/>
        </p:spPr>
        <p:txBody>
          <a:bodyPr wrap="square" rtlCol="0">
            <a:spAutoFit/>
          </a:bodyPr>
          <a:lstStyle/>
          <a:p>
            <a:pPr>
              <a:lnSpc>
                <a:spcPct val="200000"/>
              </a:lnSpc>
              <a:buFontTx/>
              <a:buNone/>
            </a:pPr>
            <a:r>
              <a:rPr lang="en-US" b="1" dirty="0">
                <a:latin typeface="Arial" pitchFamily="34" charset="0"/>
                <a:cs typeface="Arial" pitchFamily="34" charset="0"/>
              </a:rPr>
              <a:t>Some other </a:t>
            </a:r>
            <a:r>
              <a:rPr lang="en-US" b="1" dirty="0" smtClean="0">
                <a:latin typeface="Arial" pitchFamily="34" charset="0"/>
                <a:cs typeface="Arial" pitchFamily="34" charset="0"/>
              </a:rPr>
              <a:t>things</a:t>
            </a:r>
            <a:br>
              <a:rPr lang="en-US" b="1" dirty="0" smtClean="0">
                <a:latin typeface="Arial" pitchFamily="34" charset="0"/>
                <a:cs typeface="Arial" pitchFamily="34" charset="0"/>
              </a:rPr>
            </a:br>
            <a:r>
              <a:rPr lang="en-US" b="1" dirty="0" smtClean="0">
                <a:latin typeface="Arial" pitchFamily="34" charset="0"/>
                <a:cs typeface="Arial" pitchFamily="34" charset="0"/>
              </a:rPr>
              <a:t>to </a:t>
            </a:r>
            <a:r>
              <a:rPr lang="en-US" b="1" dirty="0">
                <a:latin typeface="Arial" pitchFamily="34" charset="0"/>
                <a:cs typeface="Arial" pitchFamily="34" charset="0"/>
              </a:rPr>
              <a:t>remember about CPs…</a:t>
            </a:r>
          </a:p>
        </p:txBody>
      </p:sp>
    </p:spTree>
    <p:extLst>
      <p:ext uri="{BB962C8B-B14F-4D97-AF65-F5344CB8AC3E}">
        <p14:creationId xmlns:p14="http://schemas.microsoft.com/office/powerpoint/2010/main" xmlns="" val="423303955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755576" y="1178721"/>
            <a:ext cx="7560840" cy="369332"/>
          </a:xfrm>
          <a:prstGeom prst="rect">
            <a:avLst/>
          </a:prstGeom>
          <a:noFill/>
        </p:spPr>
        <p:txBody>
          <a:bodyPr wrap="square" rtlCol="0">
            <a:spAutoFit/>
          </a:bodyPr>
          <a:lstStyle/>
          <a:p>
            <a:pPr algn="ctr"/>
            <a:r>
              <a:rPr lang="en-US" b="1" dirty="0">
                <a:latin typeface="Arial" pitchFamily="34" charset="0"/>
                <a:cs typeface="Arial" pitchFamily="34" charset="0"/>
              </a:rPr>
              <a:t>To Sum Up</a:t>
            </a:r>
          </a:p>
        </p:txBody>
      </p:sp>
      <p:sp>
        <p:nvSpPr>
          <p:cNvPr id="4" name="TextBox 3"/>
          <p:cNvSpPr txBox="1"/>
          <p:nvPr/>
        </p:nvSpPr>
        <p:spPr>
          <a:xfrm>
            <a:off x="2555776" y="476672"/>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COMMERCIAL </a:t>
            </a:r>
            <a:r>
              <a:rPr lang="en-US" sz="2000" b="1" dirty="0">
                <a:solidFill>
                  <a:schemeClr val="bg1"/>
                </a:solidFill>
                <a:latin typeface="Arial" pitchFamily="34" charset="0"/>
                <a:cs typeface="Arial" pitchFamily="34" charset="0"/>
              </a:rPr>
              <a:t>PAPER</a:t>
            </a:r>
          </a:p>
        </p:txBody>
      </p:sp>
      <p:sp>
        <p:nvSpPr>
          <p:cNvPr id="5" name="TextBox 4"/>
          <p:cNvSpPr txBox="1"/>
          <p:nvPr/>
        </p:nvSpPr>
        <p:spPr>
          <a:xfrm>
            <a:off x="755576" y="1763524"/>
            <a:ext cx="7560840" cy="3365024"/>
          </a:xfrm>
          <a:prstGeom prst="rect">
            <a:avLst/>
          </a:prstGeom>
          <a:noFill/>
        </p:spPr>
        <p:txBody>
          <a:bodyPr wrap="square" rtlCol="0">
            <a:spAutoFit/>
          </a:bodyPr>
          <a:lstStyle/>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A major benefit of a CP is that it does not need to be registered with the Securities and Exchange Board of India (</a:t>
            </a:r>
            <a:r>
              <a:rPr lang="en-US" b="1" dirty="0" smtClean="0">
                <a:latin typeface="Arial" pitchFamily="34" charset="0"/>
                <a:cs typeface="Arial" pitchFamily="34" charset="0"/>
              </a:rPr>
              <a:t>SEBI)</a:t>
            </a:r>
            <a:br>
              <a:rPr lang="en-US" b="1" dirty="0" smtClean="0">
                <a:latin typeface="Arial" pitchFamily="34" charset="0"/>
                <a:cs typeface="Arial" pitchFamily="34" charset="0"/>
              </a:rPr>
            </a:br>
            <a:r>
              <a:rPr lang="en-US" b="1" dirty="0" smtClean="0">
                <a:latin typeface="Arial" pitchFamily="34" charset="0"/>
                <a:cs typeface="Arial" pitchFamily="34" charset="0"/>
              </a:rPr>
              <a:t>as </a:t>
            </a:r>
            <a:r>
              <a:rPr lang="en-US" b="1" dirty="0">
                <a:latin typeface="Arial" pitchFamily="34" charset="0"/>
                <a:cs typeface="Arial" pitchFamily="34" charset="0"/>
              </a:rPr>
              <a:t>long as it matures before nine months (270 days). </a:t>
            </a:r>
          </a:p>
          <a:p>
            <a:pPr marL="465138" indent="-465138">
              <a:lnSpc>
                <a:spcPct val="150000"/>
              </a:lnSpc>
              <a:buFont typeface="Wingdings" pitchFamily="2" charset="2"/>
              <a:buChar char="q"/>
              <a:tabLst>
                <a:tab pos="465138" algn="l"/>
              </a:tabLst>
            </a:pPr>
            <a:endParaRPr lang="en-US"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However, one important point to note is that the borrowed amount can only be used to fulfill current </a:t>
            </a:r>
            <a:r>
              <a:rPr lang="en-US" b="1" dirty="0" smtClean="0">
                <a:latin typeface="Arial" pitchFamily="34" charset="0"/>
                <a:cs typeface="Arial" pitchFamily="34" charset="0"/>
              </a:rPr>
              <a:t>requirements.</a:t>
            </a:r>
            <a:br>
              <a:rPr lang="en-US" b="1" dirty="0" smtClean="0">
                <a:latin typeface="Arial" pitchFamily="34" charset="0"/>
                <a:cs typeface="Arial" pitchFamily="34" charset="0"/>
              </a:rPr>
            </a:br>
            <a:r>
              <a:rPr lang="en-US" b="1" dirty="0" smtClean="0">
                <a:latin typeface="Arial" pitchFamily="34" charset="0"/>
                <a:cs typeface="Arial" pitchFamily="34" charset="0"/>
              </a:rPr>
              <a:t>It </a:t>
            </a:r>
            <a:r>
              <a:rPr lang="en-US" b="1" dirty="0">
                <a:latin typeface="Arial" pitchFamily="34" charset="0"/>
                <a:cs typeface="Arial" pitchFamily="34" charset="0"/>
              </a:rPr>
              <a:t>is not meant be used for purchase of  fixed </a:t>
            </a:r>
            <a:r>
              <a:rPr lang="en-US" b="1" dirty="0" smtClean="0">
                <a:latin typeface="Arial" pitchFamily="34" charset="0"/>
                <a:cs typeface="Arial" pitchFamily="34" charset="0"/>
              </a:rPr>
              <a:t>assets,</a:t>
            </a:r>
            <a:br>
              <a:rPr lang="en-US" b="1" dirty="0" smtClean="0">
                <a:latin typeface="Arial" pitchFamily="34" charset="0"/>
                <a:cs typeface="Arial" pitchFamily="34" charset="0"/>
              </a:rPr>
            </a:br>
            <a:r>
              <a:rPr lang="en-US" b="1" dirty="0" smtClean="0">
                <a:latin typeface="Arial" pitchFamily="34" charset="0"/>
                <a:cs typeface="Arial" pitchFamily="34" charset="0"/>
              </a:rPr>
              <a:t>such </a:t>
            </a:r>
            <a:r>
              <a:rPr lang="en-US" b="1" dirty="0">
                <a:latin typeface="Arial" pitchFamily="34" charset="0"/>
                <a:cs typeface="Arial" pitchFamily="34" charset="0"/>
              </a:rPr>
              <a:t>as a new plant.</a:t>
            </a:r>
          </a:p>
        </p:txBody>
      </p:sp>
    </p:spTree>
    <p:extLst>
      <p:ext uri="{BB962C8B-B14F-4D97-AF65-F5344CB8AC3E}">
        <p14:creationId xmlns:p14="http://schemas.microsoft.com/office/powerpoint/2010/main" xmlns="" val="15720917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p:cNvGrpSpPr/>
          <p:nvPr/>
        </p:nvGrpSpPr>
        <p:grpSpPr>
          <a:xfrm>
            <a:off x="-10705" y="-1"/>
            <a:ext cx="9144000" cy="6858001"/>
            <a:chOff x="0" y="-1"/>
            <a:chExt cx="9144000" cy="6858001"/>
          </a:xfrm>
        </p:grpSpPr>
        <p:pic>
          <p:nvPicPr>
            <p:cNvPr id="4" name="Picture 2" descr="C:\Users\manisha\Desktop\From Rajni\Jpegs_blank\PSS_LESSONS_PG4.jpg"/>
            <p:cNvPicPr>
              <a:picLocks noChangeAspect="1" noChangeArrowheads="1"/>
            </p:cNvPicPr>
            <p:nvPr/>
          </p:nvPicPr>
          <p:blipFill>
            <a:blip r:embed="rId2" cstate="print"/>
            <a:srcRect/>
            <a:stretch>
              <a:fillRect/>
            </a:stretch>
          </p:blipFill>
          <p:spPr bwMode="auto">
            <a:xfrm>
              <a:off x="0" y="-1"/>
              <a:ext cx="9144000" cy="6858001"/>
            </a:xfrm>
            <a:prstGeom prst="rect">
              <a:avLst/>
            </a:prstGeom>
            <a:noFill/>
          </p:spPr>
        </p:pic>
        <p:pic>
          <p:nvPicPr>
            <p:cNvPr id="5" name="Picture 23" descr="TMF Logo New.jpg"/>
            <p:cNvPicPr>
              <a:picLocks noChangeAspect="1"/>
            </p:cNvPicPr>
            <p:nvPr/>
          </p:nvPicPr>
          <p:blipFill>
            <a:blip r:embed="rId3" cstate="print"/>
            <a:srcRect/>
            <a:stretch>
              <a:fillRect/>
            </a:stretch>
          </p:blipFill>
          <p:spPr bwMode="auto">
            <a:xfrm>
              <a:off x="7773739" y="285750"/>
              <a:ext cx="974725" cy="681038"/>
            </a:xfrm>
            <a:prstGeom prst="rect">
              <a:avLst/>
            </a:prstGeom>
            <a:noFill/>
            <a:ln w="9525">
              <a:noFill/>
              <a:miter lim="800000"/>
              <a:headEnd/>
              <a:tailEnd/>
            </a:ln>
          </p:spPr>
        </p:pic>
      </p:grpSp>
      <p:sp>
        <p:nvSpPr>
          <p:cNvPr id="6" name="TextBox 5"/>
          <p:cNvSpPr txBox="1"/>
          <p:nvPr/>
        </p:nvSpPr>
        <p:spPr>
          <a:xfrm>
            <a:off x="1619672" y="1637412"/>
            <a:ext cx="3024336" cy="1287532"/>
          </a:xfrm>
          <a:prstGeom prst="rect">
            <a:avLst/>
          </a:prstGeom>
          <a:noFill/>
        </p:spPr>
        <p:txBody>
          <a:bodyPr wrap="square" rtlCol="0">
            <a:spAutoFit/>
          </a:bodyPr>
          <a:lstStyle/>
          <a:p>
            <a:pPr>
              <a:lnSpc>
                <a:spcPct val="150000"/>
              </a:lnSpc>
            </a:pPr>
            <a:r>
              <a:rPr lang="en-US" b="1" dirty="0">
                <a:latin typeface="Arial" pitchFamily="34" charset="0"/>
                <a:cs typeface="Arial" pitchFamily="34" charset="0"/>
              </a:rPr>
              <a:t>If you have understood CPs, let me tell you what Treasury Bills are…</a:t>
            </a:r>
          </a:p>
        </p:txBody>
      </p:sp>
    </p:spTree>
    <p:extLst>
      <p:ext uri="{BB962C8B-B14F-4D97-AF65-F5344CB8AC3E}">
        <p14:creationId xmlns:p14="http://schemas.microsoft.com/office/powerpoint/2010/main" xmlns="" val="110668085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6" name="TextBox 5"/>
          <p:cNvSpPr txBox="1"/>
          <p:nvPr/>
        </p:nvSpPr>
        <p:spPr>
          <a:xfrm>
            <a:off x="2555776" y="476672"/>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COMMERCIAL </a:t>
            </a:r>
            <a:r>
              <a:rPr lang="en-US" sz="2000" b="1" dirty="0">
                <a:solidFill>
                  <a:schemeClr val="bg1"/>
                </a:solidFill>
                <a:latin typeface="Arial" pitchFamily="34" charset="0"/>
                <a:cs typeface="Arial" pitchFamily="34" charset="0"/>
              </a:rPr>
              <a:t>PAPER</a:t>
            </a:r>
          </a:p>
        </p:txBody>
      </p:sp>
      <p:sp>
        <p:nvSpPr>
          <p:cNvPr id="4" name="TextBox 3"/>
          <p:cNvSpPr txBox="1"/>
          <p:nvPr/>
        </p:nvSpPr>
        <p:spPr>
          <a:xfrm>
            <a:off x="812468" y="1122534"/>
            <a:ext cx="7935996" cy="1754326"/>
          </a:xfrm>
          <a:prstGeom prst="rect">
            <a:avLst/>
          </a:prstGeom>
          <a:noFill/>
        </p:spPr>
        <p:txBody>
          <a:bodyPr wrap="square" rtlCol="0">
            <a:spAutoFit/>
          </a:bodyPr>
          <a:lstStyle/>
          <a:p>
            <a:pPr marL="465138" indent="-465138">
              <a:lnSpc>
                <a:spcPct val="200000"/>
              </a:lnSpc>
              <a:buFont typeface="Wingdings" pitchFamily="2" charset="2"/>
              <a:buChar char="q"/>
              <a:tabLst>
                <a:tab pos="465138" algn="l"/>
              </a:tabLst>
            </a:pPr>
            <a:r>
              <a:rPr lang="en-US" b="1" dirty="0">
                <a:latin typeface="Arial" pitchFamily="34" charset="0"/>
                <a:cs typeface="Arial" pitchFamily="34" charset="0"/>
              </a:rPr>
              <a:t>Treasury Bills or T- Bills are exactly the same as CPs.</a:t>
            </a:r>
          </a:p>
          <a:p>
            <a:pPr marL="465138" indent="-465138">
              <a:lnSpc>
                <a:spcPct val="200000"/>
              </a:lnSpc>
              <a:buFont typeface="Wingdings" pitchFamily="2" charset="2"/>
              <a:buChar char="q"/>
              <a:tabLst>
                <a:tab pos="465138" algn="l"/>
              </a:tabLst>
            </a:pPr>
            <a:r>
              <a:rPr lang="en-US" b="1" dirty="0" smtClean="0">
                <a:latin typeface="Arial" pitchFamily="34" charset="0"/>
                <a:cs typeface="Arial" pitchFamily="34" charset="0"/>
              </a:rPr>
              <a:t>Except </a:t>
            </a:r>
            <a:r>
              <a:rPr lang="en-US" b="1" dirty="0">
                <a:latin typeface="Arial" pitchFamily="34" charset="0"/>
                <a:cs typeface="Arial" pitchFamily="34" charset="0"/>
              </a:rPr>
              <a:t>that while CPs are issued by </a:t>
            </a:r>
            <a:r>
              <a:rPr lang="en-US" b="1" dirty="0" smtClean="0">
                <a:latin typeface="Arial" pitchFamily="34" charset="0"/>
                <a:cs typeface="Arial" pitchFamily="34" charset="0"/>
              </a:rPr>
              <a:t>corporates, T- </a:t>
            </a:r>
            <a:r>
              <a:rPr lang="en-US" b="1" dirty="0">
                <a:latin typeface="Arial" pitchFamily="34" charset="0"/>
                <a:cs typeface="Arial" pitchFamily="34" charset="0"/>
              </a:rPr>
              <a:t>Bills are issued by the Government </a:t>
            </a:r>
            <a:r>
              <a:rPr lang="en-US" b="1" dirty="0" smtClean="0">
                <a:latin typeface="Arial" pitchFamily="34" charset="0"/>
                <a:cs typeface="Arial" pitchFamily="34" charset="0"/>
              </a:rPr>
              <a:t>for financing </a:t>
            </a:r>
            <a:r>
              <a:rPr lang="en-US" b="1" dirty="0">
                <a:latin typeface="Arial" pitchFamily="34" charset="0"/>
                <a:cs typeface="Arial" pitchFamily="34" charset="0"/>
              </a:rPr>
              <a:t>its working capital needs.</a:t>
            </a:r>
          </a:p>
        </p:txBody>
      </p:sp>
    </p:spTree>
    <p:extLst>
      <p:ext uri="{BB962C8B-B14F-4D97-AF65-F5344CB8AC3E}">
        <p14:creationId xmlns:p14="http://schemas.microsoft.com/office/powerpoint/2010/main" xmlns="" val="426284942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539552" y="1412776"/>
            <a:ext cx="8136904" cy="3780522"/>
          </a:xfrm>
          <a:prstGeom prst="rect">
            <a:avLst/>
          </a:prstGeom>
          <a:noFill/>
        </p:spPr>
        <p:txBody>
          <a:bodyPr wrap="square" rtlCol="0">
            <a:spAutoFit/>
          </a:bodyPr>
          <a:lstStyle/>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What: A Commercial Paper (CP) is an unsecured money market instrument issued by a corporation or bank in the form of </a:t>
            </a:r>
            <a:r>
              <a:rPr lang="en-US" b="1" dirty="0" smtClean="0">
                <a:latin typeface="Arial" pitchFamily="34" charset="0"/>
                <a:cs typeface="Arial" pitchFamily="34" charset="0"/>
              </a:rPr>
              <a:t>a</a:t>
            </a:r>
            <a:br>
              <a:rPr lang="en-US" b="1" dirty="0" smtClean="0">
                <a:latin typeface="Arial" pitchFamily="34" charset="0"/>
                <a:cs typeface="Arial" pitchFamily="34" charset="0"/>
              </a:rPr>
            </a:br>
            <a:r>
              <a:rPr lang="en-US" b="1" dirty="0" smtClean="0">
                <a:latin typeface="Arial" pitchFamily="34" charset="0"/>
                <a:cs typeface="Arial" pitchFamily="34" charset="0"/>
              </a:rPr>
              <a:t>promissory </a:t>
            </a:r>
            <a:r>
              <a:rPr lang="en-US" b="1" dirty="0">
                <a:latin typeface="Arial" pitchFamily="34" charset="0"/>
                <a:cs typeface="Arial" pitchFamily="34" charset="0"/>
              </a:rPr>
              <a:t>note</a:t>
            </a:r>
            <a:r>
              <a:rPr lang="en-US" b="1" dirty="0" smtClean="0">
                <a:latin typeface="Arial" pitchFamily="34" charset="0"/>
                <a:cs typeface="Arial" pitchFamily="34" charset="0"/>
              </a:rPr>
              <a:t>.</a:t>
            </a:r>
            <a:endParaRPr lang="en-US"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Why: It provides the organization a borrowing option other than a bank</a:t>
            </a:r>
            <a:r>
              <a:rPr lang="en-US" b="1" dirty="0" smtClean="0">
                <a:latin typeface="Arial" pitchFamily="34" charset="0"/>
                <a:cs typeface="Arial" pitchFamily="34" charset="0"/>
              </a:rPr>
              <a:t>.</a:t>
            </a:r>
            <a:endParaRPr lang="en-US"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When: CPs are issued or sold when an organization needs to borrow money for its short term needs</a:t>
            </a:r>
            <a:r>
              <a:rPr lang="en-US" b="1" dirty="0" smtClean="0">
                <a:latin typeface="Arial" pitchFamily="34" charset="0"/>
                <a:cs typeface="Arial" pitchFamily="34" charset="0"/>
              </a:rPr>
              <a:t>.</a:t>
            </a:r>
            <a:endParaRPr lang="en-US"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How: Once a business becomes </a:t>
            </a:r>
            <a:r>
              <a:rPr lang="en-US" b="1" dirty="0" smtClean="0">
                <a:latin typeface="Arial" pitchFamily="34" charset="0"/>
                <a:cs typeface="Arial" pitchFamily="34" charset="0"/>
              </a:rPr>
              <a:t>established, it </a:t>
            </a:r>
            <a:r>
              <a:rPr lang="en-US" b="1" dirty="0">
                <a:latin typeface="Arial" pitchFamily="34" charset="0"/>
                <a:cs typeface="Arial" pitchFamily="34" charset="0"/>
              </a:rPr>
              <a:t>can issue CPs after having them rated.</a:t>
            </a:r>
          </a:p>
        </p:txBody>
      </p:sp>
      <p:sp>
        <p:nvSpPr>
          <p:cNvPr id="4" name="TextBox 3"/>
          <p:cNvSpPr txBox="1"/>
          <p:nvPr/>
        </p:nvSpPr>
        <p:spPr>
          <a:xfrm>
            <a:off x="2555776" y="476672"/>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COMMERCIAL </a:t>
            </a:r>
            <a:r>
              <a:rPr lang="en-US" sz="2000" b="1" dirty="0">
                <a:solidFill>
                  <a:schemeClr val="bg1"/>
                </a:solidFill>
                <a:latin typeface="Arial" pitchFamily="34" charset="0"/>
                <a:cs typeface="Arial" pitchFamily="34" charset="0"/>
              </a:rPr>
              <a:t>PAPER</a:t>
            </a:r>
          </a:p>
        </p:txBody>
      </p:sp>
      <p:sp>
        <p:nvSpPr>
          <p:cNvPr id="5" name="TextBox 4"/>
          <p:cNvSpPr txBox="1"/>
          <p:nvPr/>
        </p:nvSpPr>
        <p:spPr>
          <a:xfrm>
            <a:off x="539552" y="1043444"/>
            <a:ext cx="8136904" cy="369332"/>
          </a:xfrm>
          <a:prstGeom prst="rect">
            <a:avLst/>
          </a:prstGeom>
          <a:noFill/>
        </p:spPr>
        <p:txBody>
          <a:bodyPr wrap="square" rtlCol="0">
            <a:spAutoFit/>
          </a:bodyPr>
          <a:lstStyle/>
          <a:p>
            <a:pPr algn="ctr"/>
            <a:r>
              <a:rPr lang="en-US" b="1" dirty="0">
                <a:latin typeface="Arial" pitchFamily="34" charset="0"/>
                <a:cs typeface="Arial" pitchFamily="34" charset="0"/>
              </a:rPr>
              <a:t>To Sum Up</a:t>
            </a:r>
          </a:p>
        </p:txBody>
      </p:sp>
    </p:spTree>
    <p:extLst>
      <p:ext uri="{BB962C8B-B14F-4D97-AF65-F5344CB8AC3E}">
        <p14:creationId xmlns:p14="http://schemas.microsoft.com/office/powerpoint/2010/main" xmlns="" val="47428920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2.jpg"/>
          <p:cNvPicPr>
            <a:picLocks noChangeAspect="1" noChangeArrowheads="1"/>
          </p:cNvPicPr>
          <p:nvPr/>
        </p:nvPicPr>
        <p:blipFill>
          <a:blip r:embed="rId2" cstate="print"/>
          <a:srcRect/>
          <a:stretch>
            <a:fillRect/>
          </a:stretch>
        </p:blipFill>
        <p:spPr bwMode="auto">
          <a:xfrm>
            <a:off x="0" y="-1"/>
            <a:ext cx="9144000" cy="6858001"/>
          </a:xfrm>
          <a:prstGeom prst="rect">
            <a:avLst/>
          </a:prstGeom>
          <a:ln w="228600" cap="sq" cmpd="thickThin">
            <a:solidFill>
              <a:srgbClr val="000000"/>
            </a:solidFill>
            <a:prstDash val="solid"/>
            <a:miter lim="800000"/>
          </a:ln>
          <a:effectLst>
            <a:innerShdw blurRad="76200">
              <a:srgbClr val="000000"/>
            </a:innerShdw>
          </a:effectLst>
        </p:spPr>
      </p:pic>
      <p:sp>
        <p:nvSpPr>
          <p:cNvPr id="3" name="TextBox 2"/>
          <p:cNvSpPr txBox="1"/>
          <p:nvPr/>
        </p:nvSpPr>
        <p:spPr>
          <a:xfrm>
            <a:off x="2555776" y="476672"/>
            <a:ext cx="395759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COMMERCIAL PAPER</a:t>
            </a:r>
          </a:p>
        </p:txBody>
      </p:sp>
      <p:sp>
        <p:nvSpPr>
          <p:cNvPr id="4" name="TextBox 3"/>
          <p:cNvSpPr txBox="1"/>
          <p:nvPr/>
        </p:nvSpPr>
        <p:spPr>
          <a:xfrm>
            <a:off x="2843808" y="1484784"/>
            <a:ext cx="4142264" cy="1287532"/>
          </a:xfrm>
          <a:prstGeom prst="rect">
            <a:avLst/>
          </a:prstGeom>
          <a:noFill/>
        </p:spPr>
        <p:txBody>
          <a:bodyPr wrap="square" rtlCol="0">
            <a:spAutoFit/>
          </a:bodyPr>
          <a:lstStyle/>
          <a:p>
            <a:pPr algn="ctr">
              <a:lnSpc>
                <a:spcPct val="150000"/>
              </a:lnSpc>
              <a:buFontTx/>
              <a:buNone/>
            </a:pPr>
            <a:r>
              <a:rPr lang="en-US" b="1" dirty="0">
                <a:latin typeface="Arial" pitchFamily="34" charset="0"/>
                <a:cs typeface="Arial" pitchFamily="34" charset="0"/>
              </a:rPr>
              <a:t>Hope you have now </a:t>
            </a:r>
            <a:r>
              <a:rPr lang="en-US" b="1" dirty="0" smtClean="0">
                <a:latin typeface="Arial" pitchFamily="34" charset="0"/>
                <a:cs typeface="Arial" pitchFamily="34" charset="0"/>
              </a:rPr>
              <a:t>understood</a:t>
            </a:r>
            <a:br>
              <a:rPr lang="en-US" b="1" dirty="0" smtClean="0">
                <a:latin typeface="Arial" pitchFamily="34" charset="0"/>
                <a:cs typeface="Arial" pitchFamily="34" charset="0"/>
              </a:rPr>
            </a:br>
            <a:r>
              <a:rPr lang="en-US" b="1" dirty="0" smtClean="0">
                <a:latin typeface="Arial" pitchFamily="34" charset="0"/>
                <a:cs typeface="Arial" pitchFamily="34" charset="0"/>
              </a:rPr>
              <a:t>the </a:t>
            </a:r>
            <a:r>
              <a:rPr lang="en-US" b="1" dirty="0">
                <a:latin typeface="Arial" pitchFamily="34" charset="0"/>
                <a:cs typeface="Arial" pitchFamily="34" charset="0"/>
              </a:rPr>
              <a:t>concept of</a:t>
            </a:r>
          </a:p>
          <a:p>
            <a:pPr algn="ctr">
              <a:lnSpc>
                <a:spcPct val="150000"/>
              </a:lnSpc>
              <a:buFontTx/>
              <a:buNone/>
            </a:pPr>
            <a:r>
              <a:rPr lang="en-US" b="1" dirty="0">
                <a:latin typeface="Arial" pitchFamily="34" charset="0"/>
                <a:cs typeface="Arial" pitchFamily="34" charset="0"/>
              </a:rPr>
              <a:t>Commercial Papers</a:t>
            </a:r>
          </a:p>
        </p:txBody>
      </p:sp>
    </p:spTree>
    <p:extLst>
      <p:ext uri="{BB962C8B-B14F-4D97-AF65-F5344CB8AC3E}">
        <p14:creationId xmlns:p14="http://schemas.microsoft.com/office/powerpoint/2010/main" xmlns="" val="267070125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p:cNvGrpSpPr/>
          <p:nvPr/>
        </p:nvGrpSpPr>
        <p:grpSpPr>
          <a:xfrm>
            <a:off x="-10705" y="-1"/>
            <a:ext cx="9144000" cy="6858001"/>
            <a:chOff x="0" y="-1"/>
            <a:chExt cx="9144000" cy="6858001"/>
          </a:xfrm>
        </p:grpSpPr>
        <p:pic>
          <p:nvPicPr>
            <p:cNvPr id="9" name="Picture 2" descr="C:\Users\manisha\Desktop\From Rajni\Jpegs_blank\PSS_LESSONS_PG4.jpg"/>
            <p:cNvPicPr>
              <a:picLocks noChangeAspect="1" noChangeArrowheads="1"/>
            </p:cNvPicPr>
            <p:nvPr/>
          </p:nvPicPr>
          <p:blipFill>
            <a:blip r:embed="rId2" cstate="print"/>
            <a:srcRect/>
            <a:stretch>
              <a:fillRect/>
            </a:stretch>
          </p:blipFill>
          <p:spPr bwMode="auto">
            <a:xfrm>
              <a:off x="0" y="-1"/>
              <a:ext cx="9144000" cy="6858001"/>
            </a:xfrm>
            <a:prstGeom prst="rect">
              <a:avLst/>
            </a:prstGeom>
            <a:noFill/>
          </p:spPr>
        </p:pic>
        <p:pic>
          <p:nvPicPr>
            <p:cNvPr id="10" name="Picture 23" descr="TMF Logo New.jpg"/>
            <p:cNvPicPr>
              <a:picLocks noChangeAspect="1"/>
            </p:cNvPicPr>
            <p:nvPr/>
          </p:nvPicPr>
          <p:blipFill>
            <a:blip r:embed="rId3" cstate="print"/>
            <a:srcRect/>
            <a:stretch>
              <a:fillRect/>
            </a:stretch>
          </p:blipFill>
          <p:spPr bwMode="auto">
            <a:xfrm>
              <a:off x="7773739" y="285750"/>
              <a:ext cx="974725" cy="681038"/>
            </a:xfrm>
            <a:prstGeom prst="rect">
              <a:avLst/>
            </a:prstGeom>
            <a:noFill/>
            <a:ln w="9525">
              <a:noFill/>
              <a:miter lim="800000"/>
              <a:headEnd/>
              <a:tailEnd/>
            </a:ln>
          </p:spPr>
        </p:pic>
      </p:grpSp>
      <p:sp>
        <p:nvSpPr>
          <p:cNvPr id="11" name="TextBox 10"/>
          <p:cNvSpPr txBox="1"/>
          <p:nvPr/>
        </p:nvSpPr>
        <p:spPr>
          <a:xfrm>
            <a:off x="1536959" y="1268760"/>
            <a:ext cx="3024336" cy="1394228"/>
          </a:xfrm>
          <a:prstGeom prst="rect">
            <a:avLst/>
          </a:prstGeom>
          <a:noFill/>
        </p:spPr>
        <p:txBody>
          <a:bodyPr wrap="square" rtlCol="0">
            <a:spAutoFit/>
          </a:bodyPr>
          <a:lstStyle/>
          <a:p>
            <a:pPr>
              <a:lnSpc>
                <a:spcPct val="150000"/>
              </a:lnSpc>
              <a:spcBef>
                <a:spcPct val="20000"/>
              </a:spcBef>
            </a:pPr>
            <a:r>
              <a:rPr lang="en-US" b="1" dirty="0">
                <a:latin typeface="Arial" pitchFamily="34" charset="0"/>
                <a:cs typeface="Arial" pitchFamily="34" charset="0"/>
              </a:rPr>
              <a:t>In case of any query, please </a:t>
            </a:r>
            <a:r>
              <a:rPr lang="en-US" b="1" dirty="0" smtClean="0">
                <a:latin typeface="Arial" pitchFamily="34" charset="0"/>
                <a:cs typeface="Arial" pitchFamily="34" charset="0"/>
              </a:rPr>
              <a:t>e-mail</a:t>
            </a:r>
          </a:p>
          <a:p>
            <a:pPr>
              <a:lnSpc>
                <a:spcPct val="150000"/>
              </a:lnSpc>
              <a:spcBef>
                <a:spcPct val="20000"/>
              </a:spcBef>
            </a:pPr>
            <a:r>
              <a:rPr lang="en-US" b="1" dirty="0" smtClean="0">
                <a:latin typeface="Arial" pitchFamily="34" charset="0"/>
                <a:cs typeface="Arial" pitchFamily="34" charset="0"/>
                <a:hlinkClick r:id="rId4"/>
              </a:rPr>
              <a:t>professor@tataamc.com</a:t>
            </a:r>
            <a:endParaRPr lang="en-US" b="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latin typeface="Arial" pitchFamily="34" charset="0"/>
              <a:cs typeface="Arial" pitchFamily="34" charset="0"/>
            </a:endParaRPr>
          </a:p>
        </p:txBody>
      </p:sp>
      <p:sp>
        <p:nvSpPr>
          <p:cNvPr id="3" name="Content Placeholder 2"/>
          <p:cNvSpPr>
            <a:spLocks noGrp="1"/>
          </p:cNvSpPr>
          <p:nvPr>
            <p:ph idx="1"/>
          </p:nvPr>
        </p:nvSpPr>
        <p:spPr/>
        <p:txBody>
          <a:bodyPr/>
          <a:lstStyle/>
          <a:p>
            <a:endParaRPr lang="en-US">
              <a:latin typeface="Arial" pitchFamily="34" charset="0"/>
              <a:cs typeface="Arial" pitchFamily="34" charset="0"/>
            </a:endParaRPr>
          </a:p>
        </p:txBody>
      </p:sp>
      <p:pic>
        <p:nvPicPr>
          <p:cNvPr id="1026"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2200" b="1" dirty="0">
              <a:solidFill>
                <a:schemeClr val="bg1"/>
              </a:solidFill>
              <a:latin typeface="Arial" pitchFamily="34" charset="0"/>
              <a:cs typeface="Arial" pitchFamily="34" charset="0"/>
            </a:endParaRPr>
          </a:p>
        </p:txBody>
      </p:sp>
      <p:pic>
        <p:nvPicPr>
          <p:cNvPr id="10"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11"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200" b="1" dirty="0" smtClean="0">
                <a:solidFill>
                  <a:schemeClr val="bg1"/>
                </a:solidFill>
                <a:latin typeface="Arial" pitchFamily="34" charset="0"/>
                <a:cs typeface="Arial" pitchFamily="34" charset="0"/>
              </a:rPr>
              <a:t>DISCLAIMER</a:t>
            </a:r>
            <a:endParaRPr lang="en-US" sz="2200" b="1" dirty="0">
              <a:solidFill>
                <a:schemeClr val="bg1"/>
              </a:solidFill>
              <a:latin typeface="Arial" pitchFamily="34" charset="0"/>
              <a:cs typeface="Arial" pitchFamily="34" charset="0"/>
            </a:endParaRPr>
          </a:p>
        </p:txBody>
      </p:sp>
      <p:sp>
        <p:nvSpPr>
          <p:cNvPr id="12" name="Rectangle 11"/>
          <p:cNvSpPr/>
          <p:nvPr/>
        </p:nvSpPr>
        <p:spPr>
          <a:xfrm>
            <a:off x="914400" y="1040857"/>
            <a:ext cx="7315200" cy="3093154"/>
          </a:xfrm>
          <a:prstGeom prst="rect">
            <a:avLst/>
          </a:prstGeom>
        </p:spPr>
        <p:txBody>
          <a:bodyPr wrap="square">
            <a:spAutoFit/>
          </a:bodyPr>
          <a:lstStyle/>
          <a:p>
            <a:pPr indent="-1588" algn="just">
              <a:lnSpc>
                <a:spcPct val="150000"/>
              </a:lnSpc>
              <a:buFontTx/>
              <a:buNone/>
            </a:pPr>
            <a:r>
              <a:rPr lang="en-US" sz="1300" b="1" dirty="0" smtClean="0">
                <a:latin typeface="Arial" pitchFamily="34" charset="0"/>
                <a:cs typeface="Arial" pitchFamily="34" charset="0"/>
              </a:rPr>
              <a:t>The views expressed in this lesson are for information purposes only and do not construe to be any investment, legal or taxation advice. The lesson is a conceptual representation and may not include several nuances that are associated and vital. The purpose of this lesson is to clarify the basics of the concept so that readers at large can relate and thereby take more interest in the product / concept. In a nutshell, Professor Simply Simple lessons should be seen from the perspective of it being a primer on financial concepts. The contents are topical in nature and held true at the time of creation of the lesson. This is not indicative of future market trends, nor is Tata Asset Management Ltd. attempting to predict the same. Reprinting any part of this material will be at your own risk. Tata Asset Management Ltd. will not be liable for the consequences of such action.</a:t>
            </a:r>
          </a:p>
        </p:txBody>
      </p:sp>
      <p:sp>
        <p:nvSpPr>
          <p:cNvPr id="13" name="Rectangle 12"/>
          <p:cNvSpPr/>
          <p:nvPr/>
        </p:nvSpPr>
        <p:spPr>
          <a:xfrm>
            <a:off x="990600" y="4529909"/>
            <a:ext cx="7162800" cy="923330"/>
          </a:xfrm>
          <a:prstGeom prst="rect">
            <a:avLst/>
          </a:prstGeom>
        </p:spPr>
        <p:txBody>
          <a:bodyPr wrap="square">
            <a:spAutoFit/>
          </a:bodyPr>
          <a:lstStyle/>
          <a:p>
            <a:pPr algn="ctr">
              <a:lnSpc>
                <a:spcPct val="150000"/>
              </a:lnSpc>
            </a:pPr>
            <a:r>
              <a:rPr lang="en-US" b="1" dirty="0" smtClean="0">
                <a:latin typeface="Arial" pitchFamily="34" charset="0"/>
                <a:cs typeface="Arial" pitchFamily="34" charset="0"/>
              </a:rPr>
              <a:t>Mutual Fund investments are subject to market risks,</a:t>
            </a:r>
            <a:br>
              <a:rPr lang="en-US" b="1" dirty="0" smtClean="0">
                <a:latin typeface="Arial" pitchFamily="34" charset="0"/>
                <a:cs typeface="Arial" pitchFamily="34" charset="0"/>
              </a:rPr>
            </a:br>
            <a:r>
              <a:rPr lang="en-US" b="1" dirty="0" smtClean="0">
                <a:latin typeface="Arial" pitchFamily="34" charset="0"/>
                <a:cs typeface="Arial" pitchFamily="34" charset="0"/>
              </a:rPr>
              <a:t>read all scheme related documents carefully.</a:t>
            </a:r>
            <a:endParaRPr lang="en-US" dirty="0">
              <a:latin typeface="Arial" pitchFamily="34" charset="0"/>
              <a:cs typeface="Arial" pitchFamily="34" charset="0"/>
            </a:endParaRPr>
          </a:p>
        </p:txBody>
      </p:sp>
      <p:cxnSp>
        <p:nvCxnSpPr>
          <p:cNvPr id="15" name="Straight Connector 14"/>
          <p:cNvCxnSpPr/>
          <p:nvPr/>
        </p:nvCxnSpPr>
        <p:spPr>
          <a:xfrm>
            <a:off x="914400" y="4331960"/>
            <a:ext cx="7315200" cy="0"/>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1486</TotalTime>
  <Words>612</Words>
  <Application>Microsoft Office PowerPoint</Application>
  <PresentationFormat>On-screen Show (4:3)</PresentationFormat>
  <Paragraphs>80</Paragraphs>
  <Slides>20</Slides>
  <Notes>0</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manisha</dc:creator>
  <cp:lastModifiedBy>savio</cp:lastModifiedBy>
  <cp:revision>163</cp:revision>
  <dcterms:created xsi:type="dcterms:W3CDTF">2013-10-22T09:41:31Z</dcterms:created>
  <dcterms:modified xsi:type="dcterms:W3CDTF">2014-09-16T12:14:12Z</dcterms:modified>
</cp:coreProperties>
</file>