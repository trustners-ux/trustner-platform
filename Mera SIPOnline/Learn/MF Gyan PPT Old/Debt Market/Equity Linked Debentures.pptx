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8" r:id="rId3"/>
    <p:sldId id="276" r:id="rId4"/>
    <p:sldId id="312" r:id="rId5"/>
    <p:sldId id="319" r:id="rId6"/>
    <p:sldId id="320" r:id="rId7"/>
    <p:sldId id="288" r:id="rId8"/>
    <p:sldId id="331" r:id="rId9"/>
    <p:sldId id="332" r:id="rId10"/>
    <p:sldId id="305" r:id="rId11"/>
    <p:sldId id="333" r:id="rId12"/>
    <p:sldId id="306" r:id="rId13"/>
    <p:sldId id="334" r:id="rId14"/>
    <p:sldId id="329"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735" autoAdjust="0"/>
    <p:restoredTop sz="94595" autoAdjust="0"/>
  </p:normalViewPr>
  <p:slideViewPr>
    <p:cSldViewPr>
      <p:cViewPr>
        <p:scale>
          <a:sx n="50" d="100"/>
          <a:sy n="50" d="100"/>
        </p:scale>
        <p:origin x="-1699"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28662" y="2755060"/>
            <a:ext cx="4144544"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7" name="TextBox 6"/>
          <p:cNvSpPr txBox="1"/>
          <p:nvPr/>
        </p:nvSpPr>
        <p:spPr>
          <a:xfrm>
            <a:off x="1361850" y="1934166"/>
            <a:ext cx="3567340" cy="872034"/>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Equity Linked Debentures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683568" y="1129429"/>
            <a:ext cx="7674646" cy="3330399"/>
          </a:xfrm>
          <a:prstGeom prst="rect">
            <a:avLst/>
          </a:prstGeom>
          <a:noFill/>
        </p:spPr>
        <p:txBody>
          <a:bodyPr wrap="square" rtlCol="0">
            <a:spAutoFit/>
          </a:bodyPr>
          <a:lstStyle/>
          <a:p>
            <a:pPr marL="530225" indent="-530225">
              <a:lnSpc>
                <a:spcPct val="200000"/>
              </a:lnSpc>
              <a:buFont typeface="Wingdings" pitchFamily="2" charset="2"/>
              <a:buChar char="q"/>
              <a:tabLst>
                <a:tab pos="530225" algn="l"/>
                <a:tab pos="900113" algn="l"/>
              </a:tabLst>
            </a:pPr>
            <a:r>
              <a:rPr lang="en-US" b="1" dirty="0" smtClean="0">
                <a:latin typeface="Arial" pitchFamily="34" charset="0"/>
                <a:cs typeface="Arial" pitchFamily="34" charset="0"/>
              </a:rPr>
              <a:t>With </a:t>
            </a:r>
            <a:r>
              <a:rPr lang="en-US" b="1" dirty="0" smtClean="0">
                <a:latin typeface="Arial" pitchFamily="34" charset="0"/>
                <a:cs typeface="Arial" pitchFamily="34" charset="0"/>
              </a:rPr>
              <a:t>high </a:t>
            </a:r>
            <a:r>
              <a:rPr lang="en-US" b="1" dirty="0" smtClean="0">
                <a:latin typeface="Arial" pitchFamily="34" charset="0"/>
                <a:cs typeface="Arial" pitchFamily="34" charset="0"/>
              </a:rPr>
              <a:t>volatility in the equity markets, investors are increasingly looking at financial products which provide stability </a:t>
            </a:r>
            <a:r>
              <a:rPr lang="en-US" b="1" dirty="0" smtClean="0">
                <a:latin typeface="Arial" pitchFamily="34" charset="0"/>
                <a:cs typeface="Arial" pitchFamily="34" charset="0"/>
              </a:rPr>
              <a:t>along with </a:t>
            </a:r>
            <a:r>
              <a:rPr lang="en-US" b="1" dirty="0" smtClean="0">
                <a:latin typeface="Arial" pitchFamily="34" charset="0"/>
                <a:cs typeface="Arial" pitchFamily="34" charset="0"/>
              </a:rPr>
              <a:t>decent returns.</a:t>
            </a:r>
          </a:p>
          <a:p>
            <a:pPr marL="530225" indent="-530225">
              <a:lnSpc>
                <a:spcPct val="200000"/>
              </a:lnSpc>
              <a:buFont typeface="Wingdings" pitchFamily="2" charset="2"/>
              <a:buChar char="q"/>
              <a:tabLst>
                <a:tab pos="530225" algn="l"/>
                <a:tab pos="900113" algn="l"/>
              </a:tabLst>
            </a:pPr>
            <a:r>
              <a:rPr lang="en-US" b="1" dirty="0" smtClean="0">
                <a:latin typeface="Arial" pitchFamily="34" charset="0"/>
                <a:cs typeface="Arial" pitchFamily="34" charset="0"/>
              </a:rPr>
              <a:t>‘</a:t>
            </a:r>
            <a:r>
              <a:rPr lang="en-US" b="1" dirty="0" smtClean="0">
                <a:latin typeface="Arial" pitchFamily="34" charset="0"/>
                <a:cs typeface="Arial" pitchFamily="34" charset="0"/>
              </a:rPr>
              <a:t>Equity-Linked Debentures’ (or ELDs) are products that provide:</a:t>
            </a:r>
          </a:p>
          <a:p>
            <a:pPr marL="530225" lvl="1" indent="-530225">
              <a:lnSpc>
                <a:spcPct val="200000"/>
              </a:lnSpc>
              <a:tabLst>
                <a:tab pos="530225" algn="l"/>
                <a:tab pos="900113" algn="l"/>
              </a:tabLst>
            </a:pPr>
            <a:r>
              <a:rPr lang="en-US" b="1" dirty="0" smtClean="0">
                <a:latin typeface="Arial" pitchFamily="34" charset="0"/>
                <a:cs typeface="Arial" pitchFamily="34" charset="0"/>
              </a:rPr>
              <a:t>	1.	Capital protection, </a:t>
            </a:r>
          </a:p>
          <a:p>
            <a:pPr marL="530225" lvl="1" indent="-530225">
              <a:lnSpc>
                <a:spcPct val="200000"/>
              </a:lnSpc>
              <a:tabLst>
                <a:tab pos="530225" algn="l"/>
                <a:tab pos="900113" algn="l"/>
              </a:tabLst>
            </a:pPr>
            <a:r>
              <a:rPr lang="en-US" b="1" dirty="0" smtClean="0">
                <a:latin typeface="Arial" pitchFamily="34" charset="0"/>
                <a:cs typeface="Arial" pitchFamily="34" charset="0"/>
              </a:rPr>
              <a:t>	2.	A slice of the stock market based returns </a:t>
            </a:r>
          </a:p>
        </p:txBody>
      </p:sp>
      <p:sp>
        <p:nvSpPr>
          <p:cNvPr id="7" name="TextBox 6"/>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857224" y="1714488"/>
            <a:ext cx="7215238" cy="2585323"/>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An ELD is a form of a fixed income product.</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It differs from </a:t>
            </a:r>
            <a:r>
              <a:rPr lang="en-US" b="1" dirty="0" smtClean="0">
                <a:latin typeface="Arial" pitchFamily="34" charset="0"/>
                <a:cs typeface="Arial" pitchFamily="34" charset="0"/>
              </a:rPr>
              <a:t>a standard </a:t>
            </a:r>
            <a:r>
              <a:rPr lang="en-US" b="1" dirty="0" smtClean="0">
                <a:latin typeface="Arial" pitchFamily="34" charset="0"/>
                <a:cs typeface="Arial" pitchFamily="34" charset="0"/>
              </a:rPr>
              <a:t>fixed-income product as the</a:t>
            </a:r>
            <a:br>
              <a:rPr lang="en-US" b="1" dirty="0" smtClean="0">
                <a:latin typeface="Arial" pitchFamily="34" charset="0"/>
                <a:cs typeface="Arial" pitchFamily="34" charset="0"/>
              </a:rPr>
            </a:br>
            <a:r>
              <a:rPr lang="en-US" b="1" dirty="0" smtClean="0">
                <a:latin typeface="Arial" pitchFamily="34" charset="0"/>
                <a:cs typeface="Arial" pitchFamily="34" charset="0"/>
              </a:rPr>
              <a:t>final payout is </a:t>
            </a:r>
            <a:r>
              <a:rPr lang="en-US" b="1" dirty="0" smtClean="0">
                <a:latin typeface="Arial" pitchFamily="34" charset="0"/>
                <a:cs typeface="Arial" pitchFamily="34" charset="0"/>
              </a:rPr>
              <a:t>based </a:t>
            </a:r>
            <a:r>
              <a:rPr lang="en-US" b="1" dirty="0" smtClean="0">
                <a:latin typeface="Arial" pitchFamily="34" charset="0"/>
                <a:cs typeface="Arial" pitchFamily="34" charset="0"/>
              </a:rPr>
              <a:t>on the return of the underlying </a:t>
            </a:r>
            <a:r>
              <a:rPr lang="en-US" b="1" dirty="0" smtClean="0">
                <a:latin typeface="Arial" pitchFamily="34" charset="0"/>
                <a:cs typeface="Arial" pitchFamily="34" charset="0"/>
              </a:rPr>
              <a:t>equity. </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It </a:t>
            </a:r>
            <a:r>
              <a:rPr lang="en-US" b="1" dirty="0" smtClean="0">
                <a:latin typeface="Arial" pitchFamily="34" charset="0"/>
                <a:cs typeface="Arial" pitchFamily="34" charset="0"/>
              </a:rPr>
              <a:t>is structured so as to give 100% capital protection</a:t>
            </a:r>
            <a:br>
              <a:rPr lang="en-US" b="1" dirty="0" smtClean="0">
                <a:latin typeface="Arial" pitchFamily="34" charset="0"/>
                <a:cs typeface="Arial" pitchFamily="34" charset="0"/>
              </a:rPr>
            </a:br>
            <a:r>
              <a:rPr lang="en-US" b="1" dirty="0" smtClean="0">
                <a:latin typeface="Arial" pitchFamily="34" charset="0"/>
                <a:cs typeface="Arial" pitchFamily="34" charset="0"/>
              </a:rPr>
              <a:t>with a provision for equity participation.</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Bonds are rated by an accredited rating agency.</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6" name="TextBox 5"/>
          <p:cNvSpPr txBox="1"/>
          <p:nvPr/>
        </p:nvSpPr>
        <p:spPr>
          <a:xfrm>
            <a:off x="683568" y="1004662"/>
            <a:ext cx="7960398" cy="646331"/>
          </a:xfrm>
          <a:prstGeom prst="rect">
            <a:avLst/>
          </a:prstGeom>
          <a:noFill/>
        </p:spPr>
        <p:txBody>
          <a:bodyPr wrap="square" rtlCol="0">
            <a:spAutoFit/>
          </a:bodyPr>
          <a:lstStyle/>
          <a:p>
            <a:pPr algn="ctr">
              <a:lnSpc>
                <a:spcPct val="200000"/>
              </a:lnSpc>
            </a:pPr>
            <a:r>
              <a:rPr lang="en-US" b="1" dirty="0" smtClean="0">
                <a:latin typeface="Arial" pitchFamily="34" charset="0"/>
                <a:cs typeface="Arial" pitchFamily="34" charset="0"/>
              </a:rPr>
              <a:t>What </a:t>
            </a:r>
            <a:r>
              <a:rPr lang="en-US" b="1" dirty="0" smtClean="0">
                <a:latin typeface="Arial" pitchFamily="34" charset="0"/>
                <a:cs typeface="Arial" pitchFamily="34" charset="0"/>
              </a:rPr>
              <a:t>are ELD’s?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6506" y="4071942"/>
            <a:ext cx="4433146" cy="2169825"/>
          </a:xfrm>
          <a:prstGeom prst="rect">
            <a:avLst/>
          </a:prstGeom>
        </p:spPr>
        <p:txBody>
          <a:bodyPr wrap="square">
            <a:spAutoFit/>
          </a:bodyPr>
          <a:lstStyle/>
          <a:p>
            <a:pPr>
              <a:lnSpc>
                <a:spcPct val="150000"/>
              </a:lnSpc>
            </a:pPr>
            <a:r>
              <a:rPr lang="en-US" b="1" i="1" dirty="0" smtClean="0">
                <a:latin typeface="Arial" pitchFamily="34" charset="0"/>
                <a:cs typeface="Arial" pitchFamily="34" charset="0"/>
              </a:rPr>
              <a:t>Simply </a:t>
            </a:r>
            <a:r>
              <a:rPr lang="en-US" b="1" dirty="0" smtClean="0">
                <a:latin typeface="Arial" pitchFamily="34" charset="0"/>
                <a:cs typeface="Arial" pitchFamily="34" charset="0"/>
              </a:rPr>
              <a:t>put…</a:t>
            </a:r>
            <a:br>
              <a:rPr lang="en-US" b="1" dirty="0" smtClean="0">
                <a:latin typeface="Arial" pitchFamily="34" charset="0"/>
                <a:cs typeface="Arial" pitchFamily="34" charset="0"/>
              </a:rPr>
            </a:br>
            <a:r>
              <a:rPr lang="en-US" b="1" dirty="0" smtClean="0">
                <a:latin typeface="Arial" pitchFamily="34" charset="0"/>
                <a:cs typeface="Arial" pitchFamily="34" charset="0"/>
              </a:rPr>
              <a:t>‘Equity Linked Debentures’ are popularly known as capital protection funds &amp; give you the upside of equities and protect the downside! </a:t>
            </a: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2857488" y="1225904"/>
            <a:ext cx="4000528"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actual terms of these products may vary slightly, but the broad theme of ELD works in this manner… </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052736"/>
            <a:ext cx="7429552" cy="3416320"/>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These bonds are linked to an </a:t>
            </a:r>
            <a:r>
              <a:rPr lang="en-US" b="1" dirty="0" smtClean="0">
                <a:latin typeface="Arial" pitchFamily="34" charset="0"/>
                <a:cs typeface="Arial" pitchFamily="34" charset="0"/>
              </a:rPr>
              <a:t>index.</a:t>
            </a:r>
            <a:endParaRPr lang="en-US" b="1" dirty="0" smtClean="0">
              <a:latin typeface="Arial" pitchFamily="34" charset="0"/>
              <a:cs typeface="Arial" pitchFamily="34" charset="0"/>
            </a:endParaRP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issuer of bonds invests a pre-determined part of the principal amount collected in fixed income </a:t>
            </a:r>
            <a:r>
              <a:rPr lang="en-US" b="1" dirty="0" smtClean="0">
                <a:latin typeface="Arial" pitchFamily="34" charset="0"/>
                <a:cs typeface="Arial" pitchFamily="34" charset="0"/>
              </a:rPr>
              <a:t>securities, </a:t>
            </a:r>
            <a:r>
              <a:rPr lang="en-US" b="1" dirty="0" smtClean="0">
                <a:latin typeface="Arial" pitchFamily="34" charset="0"/>
                <a:cs typeface="Arial" pitchFamily="34" charset="0"/>
              </a:rPr>
              <a:t>which provide principal protection.</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balance is invested in call options which provide the exposure to </a:t>
            </a:r>
            <a:r>
              <a:rPr lang="en-US" b="1" dirty="0" smtClean="0">
                <a:latin typeface="Arial" pitchFamily="34" charset="0"/>
                <a:cs typeface="Arial" pitchFamily="34" charset="0"/>
              </a:rPr>
              <a:t>equity.</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000108"/>
            <a:ext cx="7429552" cy="463075"/>
          </a:xfrm>
          <a:prstGeom prst="rect">
            <a:avLst/>
          </a:prstGeom>
          <a:noFill/>
        </p:spPr>
        <p:txBody>
          <a:bodyPr wrap="square" rtlCol="0">
            <a:spAutoFit/>
          </a:bodyPr>
          <a:lstStyle/>
          <a:p>
            <a:pPr marL="354013" indent="-354013" algn="ctr">
              <a:lnSpc>
                <a:spcPct val="150000"/>
              </a:lnSpc>
              <a:tabLst>
                <a:tab pos="354013" algn="l"/>
              </a:tabLst>
            </a:pPr>
            <a:r>
              <a:rPr lang="en-US" b="1" dirty="0" smtClean="0">
                <a:latin typeface="Arial" pitchFamily="34" charset="0"/>
                <a:cs typeface="Arial" pitchFamily="34" charset="0"/>
              </a:rPr>
              <a:t>For example…</a:t>
            </a:r>
            <a:endParaRPr lang="en-US" b="1" dirty="0">
              <a:latin typeface="Arial" pitchFamily="34" charset="0"/>
              <a:cs typeface="Arial" pitchFamily="34" charset="0"/>
            </a:endParaRPr>
          </a:p>
        </p:txBody>
      </p:sp>
      <p:sp>
        <p:nvSpPr>
          <p:cNvPr id="4" name="TextBox 3"/>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785786" y="1500174"/>
            <a:ext cx="7429552" cy="3416320"/>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returns are calculated in this manner:</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Say</a:t>
            </a:r>
            <a:r>
              <a:rPr lang="en-US" b="1" dirty="0" smtClean="0">
                <a:latin typeface="Arial" pitchFamily="34" charset="0"/>
                <a:cs typeface="Arial" pitchFamily="34" charset="0"/>
              </a:rPr>
              <a:t>, the fund house comes to an initial value of the Nifty, which is often the average of the first three months.</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Also </a:t>
            </a:r>
            <a:r>
              <a:rPr lang="en-US" b="1" dirty="0" smtClean="0">
                <a:latin typeface="Arial" pitchFamily="34" charset="0"/>
                <a:cs typeface="Arial" pitchFamily="34" charset="0"/>
              </a:rPr>
              <a:t>suppose, the Nifty’s value has been 3,800, 4,000 and 4,200 at the end of months 1, 2 &amp; 3: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average </a:t>
            </a:r>
            <a:r>
              <a:rPr lang="en-US" b="1" dirty="0" smtClean="0">
                <a:latin typeface="Arial" pitchFamily="34" charset="0"/>
                <a:cs typeface="Arial" pitchFamily="34" charset="0"/>
              </a:rPr>
              <a:t>works out to 3800</a:t>
            </a:r>
            <a:r>
              <a:rPr lang="en-US" b="1" dirty="0" smtClean="0">
                <a:latin typeface="Arial" pitchFamily="34" charset="0"/>
                <a:cs typeface="Arial" pitchFamily="34" charset="0"/>
              </a:rPr>
              <a:t>+ 4000 + 4200/3 = </a:t>
            </a:r>
            <a:r>
              <a:rPr lang="en-US" b="1" dirty="0" smtClean="0">
                <a:latin typeface="Arial" pitchFamily="34" charset="0"/>
                <a:cs typeface="Arial" pitchFamily="34" charset="0"/>
              </a:rPr>
              <a:t>4000</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85786" y="1000108"/>
            <a:ext cx="7429552" cy="463075"/>
          </a:xfrm>
          <a:prstGeom prst="rect">
            <a:avLst/>
          </a:prstGeom>
          <a:noFill/>
        </p:spPr>
        <p:txBody>
          <a:bodyPr wrap="square" rtlCol="0">
            <a:spAutoFit/>
          </a:bodyPr>
          <a:lstStyle/>
          <a:p>
            <a:pPr marL="354013" indent="-354013" algn="ctr">
              <a:lnSpc>
                <a:spcPct val="150000"/>
              </a:lnSpc>
              <a:tabLst>
                <a:tab pos="354013" algn="l"/>
              </a:tabLst>
            </a:pPr>
            <a:r>
              <a:rPr lang="en-US" b="1" dirty="0" smtClean="0">
                <a:latin typeface="Arial" pitchFamily="34" charset="0"/>
                <a:cs typeface="Arial" pitchFamily="34" charset="0"/>
              </a:rPr>
              <a:t>Therefore…</a:t>
            </a:r>
            <a:endParaRPr lang="en-US" b="1" dirty="0">
              <a:latin typeface="Arial" pitchFamily="34" charset="0"/>
              <a:cs typeface="Arial" pitchFamily="34" charset="0"/>
            </a:endParaRPr>
          </a:p>
        </p:txBody>
      </p:sp>
      <p:sp>
        <p:nvSpPr>
          <p:cNvPr id="4" name="TextBox 3"/>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714348" y="1500174"/>
            <a:ext cx="7786742" cy="3554819"/>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final value is also calculated as the average</a:t>
            </a:r>
            <a:br>
              <a:rPr lang="en-US" b="1" dirty="0" smtClean="0">
                <a:latin typeface="Arial" pitchFamily="34" charset="0"/>
                <a:cs typeface="Arial" pitchFamily="34" charset="0"/>
              </a:rPr>
            </a:br>
            <a:r>
              <a:rPr lang="en-US" b="1" dirty="0" smtClean="0">
                <a:latin typeface="Arial" pitchFamily="34" charset="0"/>
                <a:cs typeface="Arial" pitchFamily="34" charset="0"/>
              </a:rPr>
              <a:t>of the last three months.</a:t>
            </a:r>
          </a:p>
          <a:p>
            <a:pPr marL="354013" indent="-354013">
              <a:lnSpc>
                <a:spcPct val="150000"/>
              </a:lnSpc>
              <a:buFont typeface="Wingdings" pitchFamily="2" charset="2"/>
              <a:buChar char="q"/>
              <a:tabLst>
                <a:tab pos="354013" algn="l"/>
              </a:tabLst>
            </a:pPr>
            <a:endParaRPr lang="en-US" sz="2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Now, if the Nifty’s value closes at 5,000, 5,200, 5,500 in months 34, 35 and 36 respectively, we can calculate the average to 5,233. </a:t>
            </a:r>
          </a:p>
          <a:p>
            <a:pPr marL="354013" indent="-354013">
              <a:lnSpc>
                <a:spcPct val="150000"/>
              </a:lnSpc>
              <a:buFont typeface="Wingdings" pitchFamily="2" charset="2"/>
              <a:buChar char="q"/>
              <a:tabLst>
                <a:tab pos="354013" algn="l"/>
              </a:tabLst>
            </a:pPr>
            <a:endParaRPr lang="en-US" sz="2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So, the final Nifty returns come out to</a:t>
            </a:r>
            <a:br>
              <a:rPr lang="en-US" b="1" dirty="0" smtClean="0">
                <a:latin typeface="Arial" pitchFamily="34" charset="0"/>
                <a:cs typeface="Arial" pitchFamily="34" charset="0"/>
              </a:rPr>
            </a:br>
            <a:r>
              <a:rPr lang="en-US" b="1" dirty="0" smtClean="0">
                <a:latin typeface="Arial" pitchFamily="34" charset="0"/>
                <a:cs typeface="Arial" pitchFamily="34" charset="0"/>
              </a:rPr>
              <a:t>5,233 -4,000/4,000*100 = 30.82 per cent over the three-year period.</a:t>
            </a:r>
          </a:p>
          <a:p>
            <a:pPr marL="354013" indent="-354013">
              <a:lnSpc>
                <a:spcPct val="150000"/>
              </a:lnSpc>
              <a:buFont typeface="Wingdings" pitchFamily="2" charset="2"/>
              <a:buChar char="q"/>
              <a:tabLst>
                <a:tab pos="354013" algn="l"/>
              </a:tabLst>
            </a:pPr>
            <a:endParaRPr lang="en-US" sz="2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Nifty return, multiplied by the participation ratio</a:t>
            </a:r>
            <a:br>
              <a:rPr lang="en-US" b="1" dirty="0" smtClean="0">
                <a:latin typeface="Arial" pitchFamily="34" charset="0"/>
                <a:cs typeface="Arial" pitchFamily="34" charset="0"/>
              </a:rPr>
            </a:br>
            <a:r>
              <a:rPr lang="en-US" b="1" dirty="0" smtClean="0">
                <a:latin typeface="Arial" pitchFamily="34" charset="0"/>
                <a:cs typeface="Arial" pitchFamily="34" charset="0"/>
              </a:rPr>
              <a:t>(that is pre-decided by the fund) is the final return.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2428" y="1000108"/>
            <a:ext cx="7390034" cy="464871"/>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Here’s a new term for you to know… </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6" name="TextBox 5"/>
          <p:cNvSpPr txBox="1"/>
          <p:nvPr/>
        </p:nvSpPr>
        <p:spPr>
          <a:xfrm>
            <a:off x="714348" y="1759241"/>
            <a:ext cx="7390034" cy="2534027"/>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Participation Ratio is the ratio at which ELD participates</a:t>
            </a:r>
            <a:br>
              <a:rPr lang="en-US" b="1" dirty="0" smtClean="0">
                <a:latin typeface="Arial" pitchFamily="34" charset="0"/>
                <a:cs typeface="Arial" pitchFamily="34" charset="0"/>
              </a:rPr>
            </a:br>
            <a:r>
              <a:rPr lang="en-US" b="1" dirty="0" smtClean="0">
                <a:latin typeface="Arial" pitchFamily="34" charset="0"/>
                <a:cs typeface="Arial" pitchFamily="34" charset="0"/>
              </a:rPr>
              <a:t>in the appreciation of the underlying equity index (say the Nifty). </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E.g. Participation Ratio of 100% implies that a 10% increase</a:t>
            </a:r>
            <a:br>
              <a:rPr lang="en-US" b="1" dirty="0" smtClean="0">
                <a:latin typeface="Arial" pitchFamily="34" charset="0"/>
                <a:cs typeface="Arial" pitchFamily="34" charset="0"/>
              </a:rPr>
            </a:br>
            <a:r>
              <a:rPr lang="en-US" b="1" dirty="0" smtClean="0">
                <a:latin typeface="Arial" pitchFamily="34" charset="0"/>
                <a:cs typeface="Arial" pitchFamily="34" charset="0"/>
              </a:rPr>
              <a:t>in the Nifty will result in a final equity-linked coupon of 10%.</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268697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2" name="Rectangle 11"/>
          <p:cNvSpPr/>
          <p:nvPr/>
        </p:nvSpPr>
        <p:spPr>
          <a:xfrm>
            <a:off x="3500430" y="1928802"/>
            <a:ext cx="1714512" cy="150019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6357950" y="1928802"/>
            <a:ext cx="1714512" cy="15001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682428" y="1106741"/>
            <a:ext cx="7390034" cy="464871"/>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To finally illustrate… </a:t>
            </a:r>
            <a:endParaRPr lang="en-US" b="1" dirty="0">
              <a:latin typeface="Arial" pitchFamily="34" charset="0"/>
              <a:cs typeface="Arial" pitchFamily="34" charset="0"/>
            </a:endParaRPr>
          </a:p>
        </p:txBody>
      </p:sp>
      <p:sp>
        <p:nvSpPr>
          <p:cNvPr id="4" name="TextBox 3"/>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6" name="Rectangle 5"/>
          <p:cNvSpPr/>
          <p:nvPr/>
        </p:nvSpPr>
        <p:spPr>
          <a:xfrm>
            <a:off x="785786" y="1928802"/>
            <a:ext cx="1714512" cy="150019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928662" y="2219918"/>
            <a:ext cx="1285884" cy="923330"/>
          </a:xfrm>
          <a:prstGeom prst="rect">
            <a:avLst/>
          </a:prstGeom>
          <a:noFill/>
        </p:spPr>
        <p:txBody>
          <a:bodyPr wrap="square" rtlCol="0">
            <a:spAutoFit/>
          </a:bodyPr>
          <a:lstStyle/>
          <a:p>
            <a:r>
              <a:rPr lang="en-US" b="1" dirty="0" smtClean="0">
                <a:latin typeface="Arial" pitchFamily="34" charset="0"/>
                <a:cs typeface="Arial" pitchFamily="34" charset="0"/>
              </a:rPr>
              <a:t>Principal </a:t>
            </a:r>
          </a:p>
          <a:p>
            <a:r>
              <a:rPr lang="en-US" b="1" dirty="0" smtClean="0">
                <a:latin typeface="Arial" pitchFamily="34" charset="0"/>
                <a:cs typeface="Arial" pitchFamily="34" charset="0"/>
              </a:rPr>
              <a:t>Remains </a:t>
            </a:r>
          </a:p>
          <a:p>
            <a:r>
              <a:rPr lang="en-US" b="1" dirty="0" smtClean="0">
                <a:latin typeface="Arial" pitchFamily="34" charset="0"/>
                <a:cs typeface="Arial" pitchFamily="34" charset="0"/>
              </a:rPr>
              <a:t>Intact</a:t>
            </a:r>
            <a:endParaRPr lang="en-US" b="1" dirty="0">
              <a:latin typeface="Arial" pitchFamily="34" charset="0"/>
              <a:cs typeface="Arial" pitchFamily="34" charset="0"/>
            </a:endParaRPr>
          </a:p>
        </p:txBody>
      </p:sp>
      <p:sp>
        <p:nvSpPr>
          <p:cNvPr id="8" name="TextBox 7"/>
          <p:cNvSpPr txBox="1"/>
          <p:nvPr/>
        </p:nvSpPr>
        <p:spPr>
          <a:xfrm>
            <a:off x="3571868" y="2148480"/>
            <a:ext cx="1643074" cy="923330"/>
          </a:xfrm>
          <a:prstGeom prst="rect">
            <a:avLst/>
          </a:prstGeom>
          <a:noFill/>
        </p:spPr>
        <p:txBody>
          <a:bodyPr wrap="square" rtlCol="0">
            <a:spAutoFit/>
          </a:bodyPr>
          <a:lstStyle/>
          <a:p>
            <a:r>
              <a:rPr lang="en-US" b="1" dirty="0" smtClean="0">
                <a:latin typeface="Arial" pitchFamily="34" charset="0"/>
                <a:cs typeface="Arial" pitchFamily="34" charset="0"/>
              </a:rPr>
              <a:t>Equity</a:t>
            </a:r>
          </a:p>
          <a:p>
            <a:r>
              <a:rPr lang="en-US" b="1" dirty="0" smtClean="0">
                <a:latin typeface="Arial" pitchFamily="34" charset="0"/>
                <a:cs typeface="Arial" pitchFamily="34" charset="0"/>
              </a:rPr>
              <a:t>Market</a:t>
            </a:r>
          </a:p>
          <a:p>
            <a:r>
              <a:rPr lang="en-US" b="1" dirty="0" smtClean="0">
                <a:latin typeface="Arial" pitchFamily="34" charset="0"/>
                <a:cs typeface="Arial" pitchFamily="34" charset="0"/>
              </a:rPr>
              <a:t>Participation</a:t>
            </a:r>
            <a:endParaRPr lang="en-US" b="1" dirty="0">
              <a:latin typeface="Arial" pitchFamily="34" charset="0"/>
              <a:cs typeface="Arial" pitchFamily="34" charset="0"/>
            </a:endParaRPr>
          </a:p>
        </p:txBody>
      </p:sp>
      <p:sp>
        <p:nvSpPr>
          <p:cNvPr id="11" name="TextBox 10"/>
          <p:cNvSpPr txBox="1"/>
          <p:nvPr/>
        </p:nvSpPr>
        <p:spPr>
          <a:xfrm>
            <a:off x="6357950" y="2157233"/>
            <a:ext cx="1643074" cy="1200329"/>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Equity </a:t>
            </a:r>
          </a:p>
          <a:p>
            <a:pPr algn="ctr"/>
            <a:r>
              <a:rPr lang="en-US" b="1" dirty="0" smtClean="0">
                <a:solidFill>
                  <a:schemeClr val="bg1"/>
                </a:solidFill>
                <a:latin typeface="Arial" pitchFamily="34" charset="0"/>
                <a:cs typeface="Arial" pitchFamily="34" charset="0"/>
              </a:rPr>
              <a:t>Linked</a:t>
            </a:r>
          </a:p>
          <a:p>
            <a:pPr algn="ctr"/>
            <a:r>
              <a:rPr lang="en-US" b="1" dirty="0" smtClean="0">
                <a:solidFill>
                  <a:schemeClr val="bg1"/>
                </a:solidFill>
                <a:latin typeface="Arial" pitchFamily="34" charset="0"/>
                <a:cs typeface="Arial" pitchFamily="34" charset="0"/>
              </a:rPr>
              <a:t>Debentures </a:t>
            </a:r>
          </a:p>
          <a:p>
            <a:pPr algn="ctr"/>
            <a:r>
              <a:rPr lang="en-US" b="1" dirty="0" smtClean="0">
                <a:solidFill>
                  <a:schemeClr val="bg1"/>
                </a:solidFill>
                <a:latin typeface="Arial" pitchFamily="34" charset="0"/>
                <a:cs typeface="Arial" pitchFamily="34" charset="0"/>
              </a:rPr>
              <a:t>(ELD)</a:t>
            </a:r>
            <a:endParaRPr lang="en-US" dirty="0">
              <a:solidFill>
                <a:schemeClr val="bg1"/>
              </a:solidFill>
              <a:latin typeface="Arial" pitchFamily="34" charset="0"/>
              <a:cs typeface="Arial" pitchFamily="34" charset="0"/>
            </a:endParaRPr>
          </a:p>
        </p:txBody>
      </p:sp>
      <p:sp>
        <p:nvSpPr>
          <p:cNvPr id="14" name="TextBox 13"/>
          <p:cNvSpPr txBox="1"/>
          <p:nvPr/>
        </p:nvSpPr>
        <p:spPr>
          <a:xfrm>
            <a:off x="2714612" y="2300880"/>
            <a:ext cx="571504" cy="830997"/>
          </a:xfrm>
          <a:prstGeom prst="rect">
            <a:avLst/>
          </a:prstGeom>
          <a:noFill/>
        </p:spPr>
        <p:txBody>
          <a:bodyPr wrap="square" rtlCol="0">
            <a:spAutoFit/>
          </a:bodyPr>
          <a:lstStyle/>
          <a:p>
            <a:r>
              <a:rPr lang="en-US" sz="4800" b="1" dirty="0" smtClean="0">
                <a:latin typeface="Arial" pitchFamily="34" charset="0"/>
                <a:cs typeface="Arial" pitchFamily="34" charset="0"/>
              </a:rPr>
              <a:t>+</a:t>
            </a:r>
            <a:endParaRPr lang="en-US" sz="4800" b="1" dirty="0">
              <a:latin typeface="Arial" pitchFamily="34" charset="0"/>
              <a:cs typeface="Arial" pitchFamily="34" charset="0"/>
            </a:endParaRPr>
          </a:p>
        </p:txBody>
      </p:sp>
      <p:sp>
        <p:nvSpPr>
          <p:cNvPr id="15" name="TextBox 14"/>
          <p:cNvSpPr txBox="1"/>
          <p:nvPr/>
        </p:nvSpPr>
        <p:spPr>
          <a:xfrm>
            <a:off x="5572132" y="2312251"/>
            <a:ext cx="571504" cy="830997"/>
          </a:xfrm>
          <a:prstGeom prst="rect">
            <a:avLst/>
          </a:prstGeom>
          <a:noFill/>
        </p:spPr>
        <p:txBody>
          <a:bodyPr wrap="square" rtlCol="0">
            <a:spAutoFit/>
          </a:bodyPr>
          <a:lstStyle/>
          <a:p>
            <a:r>
              <a:rPr lang="en-US" sz="4800" b="1" dirty="0" smtClean="0">
                <a:latin typeface="Arial" pitchFamily="34" charset="0"/>
                <a:cs typeface="Arial" pitchFamily="34" charset="0"/>
              </a:rPr>
              <a:t>=</a:t>
            </a:r>
            <a:endParaRPr lang="en-US" sz="48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215238" cy="463075"/>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But remember… </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6" name="TextBox 5"/>
          <p:cNvSpPr txBox="1"/>
          <p:nvPr/>
        </p:nvSpPr>
        <p:spPr>
          <a:xfrm>
            <a:off x="714348" y="1571612"/>
            <a:ext cx="7786742" cy="3416320"/>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Equity linked debenture schemes do not allow premature exits. </a:t>
            </a:r>
          </a:p>
          <a:p>
            <a:pPr marL="354013" indent="-354013">
              <a:lnSpc>
                <a:spcPct val="150000"/>
              </a:lnSpc>
              <a:buFont typeface="Wingdings" pitchFamily="2" charset="2"/>
              <a:buChar char="q"/>
              <a:tabLst>
                <a:tab pos="354013" algn="l"/>
              </a:tabLst>
            </a:pPr>
            <a:endParaRPr lang="en-US" sz="6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All benefits are subject to investment being held till redemption date. </a:t>
            </a:r>
          </a:p>
          <a:p>
            <a:pPr marL="354013" indent="-354013">
              <a:lnSpc>
                <a:spcPct val="150000"/>
              </a:lnSpc>
              <a:buFont typeface="Wingdings" pitchFamily="2" charset="2"/>
              <a:buChar char="q"/>
              <a:tabLst>
                <a:tab pos="354013" algn="l"/>
              </a:tabLst>
            </a:pPr>
            <a:endParaRPr lang="en-US" sz="6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These products, though listed on the exchanges, are a bit illiquid and hence difficult to sell or transfer. </a:t>
            </a:r>
          </a:p>
          <a:p>
            <a:pPr marL="354013" indent="-354013">
              <a:lnSpc>
                <a:spcPct val="150000"/>
              </a:lnSpc>
              <a:buFont typeface="Wingdings" pitchFamily="2" charset="2"/>
              <a:buChar char="q"/>
              <a:tabLst>
                <a:tab pos="354013" algn="l"/>
              </a:tabLst>
            </a:pPr>
            <a:endParaRPr lang="en-US" sz="6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In certain cases, the issuer or arranger of the notes may offer to buy back the notes at a certain cut-off.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747770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215238" cy="369332"/>
          </a:xfrm>
          <a:prstGeom prst="rect">
            <a:avLst/>
          </a:prstGeom>
          <a:noFill/>
        </p:spPr>
        <p:txBody>
          <a:bodyPr wrap="square" rtlCol="0">
            <a:spAutoFit/>
          </a:bodyPr>
          <a:lstStyle/>
          <a:p>
            <a:pPr algn="ct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4" name="TextBox 3"/>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714348" y="1500174"/>
            <a:ext cx="7786742" cy="3416320"/>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If investors model and balance their portfolio in a disciplined manner and then hold it long term, they will derive the same benefits as that of an equity linked plan.</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By investing in these schemes, on the upside,</a:t>
            </a:r>
            <a:br>
              <a:rPr lang="en-US" b="1" dirty="0" smtClean="0">
                <a:latin typeface="Arial" pitchFamily="34" charset="0"/>
                <a:cs typeface="Arial" pitchFamily="34" charset="0"/>
              </a:rPr>
            </a:br>
            <a:r>
              <a:rPr lang="en-US" b="1" dirty="0" smtClean="0">
                <a:latin typeface="Arial" pitchFamily="34" charset="0"/>
                <a:cs typeface="Arial" pitchFamily="34" charset="0"/>
              </a:rPr>
              <a:t>they may get a return related to the appreciation of the Nifty. </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At worse, they won't lose their capital.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1934" y="4519064"/>
            <a:ext cx="4147394" cy="133882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 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concept of</a:t>
            </a:r>
          </a:p>
          <a:p>
            <a:pPr>
              <a:lnSpc>
                <a:spcPct val="150000"/>
              </a:lnSpc>
              <a:buFontTx/>
              <a:buNone/>
            </a:pPr>
            <a:r>
              <a:rPr lang="en-US" b="1" dirty="0" smtClean="0">
                <a:latin typeface="Arial" pitchFamily="34" charset="0"/>
                <a:cs typeface="Arial" pitchFamily="34" charset="0"/>
              </a:rPr>
              <a:t>Equity Linked Debentures</a:t>
            </a:r>
            <a:endParaRPr lang="en-US" b="1" dirty="0">
              <a:latin typeface="Arial" pitchFamily="34" charset="0"/>
              <a:cs typeface="Arial" pitchFamily="34" charset="0"/>
            </a:endParaRPr>
          </a:p>
        </p:txBody>
      </p:sp>
      <p:sp>
        <p:nvSpPr>
          <p:cNvPr id="5" name="TextBox 4"/>
          <p:cNvSpPr txBox="1"/>
          <p:nvPr/>
        </p:nvSpPr>
        <p:spPr>
          <a:xfrm>
            <a:off x="2555776" y="476672"/>
            <a:ext cx="4016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EQUITY LINKED DEBENTURES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85852" y="2143116"/>
            <a:ext cx="3571900" cy="672877"/>
          </a:xfrm>
          <a:prstGeom prst="rect">
            <a:avLst/>
          </a:prstGeom>
          <a:noFill/>
        </p:spPr>
        <p:txBody>
          <a:bodyPr wrap="square" rtlCol="0">
            <a:spAutoFit/>
          </a:bodyPr>
          <a:lstStyle/>
          <a:p>
            <a:pPr>
              <a:lnSpc>
                <a:spcPct val="120000"/>
              </a:lnSpc>
            </a:pPr>
            <a:r>
              <a:rPr lang="en-US" sz="1600" b="1" dirty="0" smtClean="0">
                <a:latin typeface="Arial" pitchFamily="34" charset="0"/>
                <a:cs typeface="Arial" pitchFamily="34" charset="0"/>
              </a:rPr>
              <a:t>In case of any query, please e-mail </a:t>
            </a:r>
            <a:r>
              <a:rPr lang="en-US" sz="1700" b="1" dirty="0" smtClean="0">
                <a:latin typeface="Arial" pitchFamily="34" charset="0"/>
                <a:cs typeface="Arial" pitchFamily="34" charset="0"/>
                <a:hlinkClick r:id="rId4"/>
              </a:rPr>
              <a:t>professor@tataamc.com</a:t>
            </a:r>
            <a:endParaRPr lang="en-US" sz="1700" b="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1976</TotalTime>
  <Words>578</Words>
  <Application>Microsoft Office PowerPoint</Application>
  <PresentationFormat>On-screen Show (4:3)</PresentationFormat>
  <Paragraphs>80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222</cp:revision>
  <dcterms:created xsi:type="dcterms:W3CDTF">2013-10-22T09:41:31Z</dcterms:created>
  <dcterms:modified xsi:type="dcterms:W3CDTF">2014-09-17T09:51:26Z</dcterms:modified>
</cp:coreProperties>
</file>