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318" r:id="rId3"/>
    <p:sldId id="312" r:id="rId4"/>
    <p:sldId id="369" r:id="rId5"/>
    <p:sldId id="357" r:id="rId6"/>
    <p:sldId id="370" r:id="rId7"/>
    <p:sldId id="368" r:id="rId8"/>
    <p:sldId id="348" r:id="rId9"/>
    <p:sldId id="287" r:id="rId10"/>
    <p:sldId id="273"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735" autoAdjust="0"/>
    <p:restoredTop sz="94595" autoAdjust="0"/>
  </p:normalViewPr>
  <p:slideViewPr>
    <p:cSldViewPr>
      <p:cViewPr>
        <p:scale>
          <a:sx n="50" d="100"/>
          <a:sy n="50" d="100"/>
        </p:scale>
        <p:origin x="-1699" y="-12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9/19/2014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9/19/2014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9/19/2014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9/19/2014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9/19/2014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9/19/2014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9/19/2014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9/19/2014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9/19/2014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928662" y="2755060"/>
            <a:ext cx="4144544"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OPEN MARKET OPERATIONS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7" name="TextBox 6"/>
          <p:cNvSpPr txBox="1"/>
          <p:nvPr/>
        </p:nvSpPr>
        <p:spPr>
          <a:xfrm>
            <a:off x="1475656" y="1268760"/>
            <a:ext cx="3143272" cy="1703030"/>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Often while ready the business news, we come across the term called ‘OMO’.</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4" name="TextBox 3"/>
          <p:cNvSpPr txBox="1"/>
          <p:nvPr/>
        </p:nvSpPr>
        <p:spPr>
          <a:xfrm>
            <a:off x="857224" y="1071546"/>
            <a:ext cx="7643866" cy="456535"/>
          </a:xfrm>
          <a:prstGeom prst="rect">
            <a:avLst/>
          </a:prstGeom>
          <a:noFill/>
        </p:spPr>
        <p:txBody>
          <a:bodyPr wrap="square" rtlCol="0">
            <a:spAutoFit/>
          </a:bodyPr>
          <a:lstStyle/>
          <a:p>
            <a:pPr algn="ctr">
              <a:lnSpc>
                <a:spcPct val="150000"/>
              </a:lnSpc>
            </a:pPr>
            <a:r>
              <a:rPr lang="en-US" b="1" dirty="0" smtClean="0">
                <a:latin typeface="Arial" pitchFamily="34" charset="0"/>
                <a:cs typeface="Arial" pitchFamily="34" charset="0"/>
              </a:rPr>
              <a:t>What is OMO?</a:t>
            </a:r>
          </a:p>
        </p:txBody>
      </p:sp>
      <p:sp>
        <p:nvSpPr>
          <p:cNvPr id="7" name="TextBox 6"/>
          <p:cNvSpPr txBox="1"/>
          <p:nvPr/>
        </p:nvSpPr>
        <p:spPr>
          <a:xfrm>
            <a:off x="2071670" y="476672"/>
            <a:ext cx="464347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OPEN MARKET OPERATIONS</a:t>
            </a:r>
            <a:endParaRPr lang="en-US" sz="2000" b="1" dirty="0">
              <a:solidFill>
                <a:schemeClr val="bg1"/>
              </a:solidFill>
              <a:latin typeface="Arial" pitchFamily="34" charset="0"/>
              <a:cs typeface="Arial" pitchFamily="34" charset="0"/>
            </a:endParaRPr>
          </a:p>
        </p:txBody>
      </p:sp>
      <p:sp>
        <p:nvSpPr>
          <p:cNvPr id="5" name="TextBox 4"/>
          <p:cNvSpPr txBox="1"/>
          <p:nvPr/>
        </p:nvSpPr>
        <p:spPr>
          <a:xfrm>
            <a:off x="857224" y="1686581"/>
            <a:ext cx="7643866" cy="2585323"/>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When there is excess liquidity in the market, the RBI intervenes and sucks </a:t>
            </a:r>
            <a:r>
              <a:rPr lang="en-US" b="1" dirty="0" smtClean="0">
                <a:latin typeface="Arial" pitchFamily="34" charset="0"/>
                <a:cs typeface="Arial" pitchFamily="34" charset="0"/>
              </a:rPr>
              <a:t>it out  </a:t>
            </a:r>
            <a:r>
              <a:rPr lang="en-US" b="1" dirty="0" smtClean="0">
                <a:latin typeface="Arial" pitchFamily="34" charset="0"/>
                <a:cs typeface="Arial" pitchFamily="34" charset="0"/>
              </a:rPr>
              <a:t>by issuing bonds, among other means.</a:t>
            </a:r>
            <a:br>
              <a:rPr lang="en-US" b="1" dirty="0" smtClean="0">
                <a:latin typeface="Arial" pitchFamily="34" charset="0"/>
                <a:cs typeface="Arial" pitchFamily="34" charset="0"/>
              </a:rPr>
            </a:b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At the same time, if the liquidity starts to dry up in the markets,</a:t>
            </a:r>
            <a:br>
              <a:rPr lang="en-US" b="1" dirty="0" smtClean="0">
                <a:latin typeface="Arial" pitchFamily="34" charset="0"/>
                <a:cs typeface="Arial" pitchFamily="34" charset="0"/>
              </a:rPr>
            </a:br>
            <a:r>
              <a:rPr lang="en-US" b="1" dirty="0" smtClean="0">
                <a:latin typeface="Arial" pitchFamily="34" charset="0"/>
                <a:cs typeface="Arial" pitchFamily="34" charset="0"/>
              </a:rPr>
              <a:t>the RBI intervenes and infuses liquidity by buying back the bonds that are with the investors.</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4" name="TextBox 3"/>
          <p:cNvSpPr txBox="1"/>
          <p:nvPr/>
        </p:nvSpPr>
        <p:spPr>
          <a:xfrm>
            <a:off x="1428728" y="1412776"/>
            <a:ext cx="3143272" cy="1711366"/>
          </a:xfrm>
          <a:prstGeom prst="rect">
            <a:avLst/>
          </a:prstGeom>
          <a:noFill/>
        </p:spPr>
        <p:txBody>
          <a:bodyPr wrap="square" rtlCol="0">
            <a:spAutoFit/>
          </a:bodyPr>
          <a:lstStyle/>
          <a:p>
            <a:pPr>
              <a:lnSpc>
                <a:spcPct val="150000"/>
              </a:lnSpc>
              <a:buFontTx/>
              <a:buNone/>
            </a:pPr>
            <a:r>
              <a:rPr lang="en-US" b="1" dirty="0" smtClean="0">
                <a:latin typeface="Arial" pitchFamily="34" charset="0"/>
                <a:cs typeface="Arial" pitchFamily="34" charset="0"/>
              </a:rPr>
              <a:t>This interaction of the RBI with the market is termed ‘OMO’ or ‘Open Market Operations’.</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32" y="0"/>
            <a:ext cx="9144000" cy="6858000"/>
          </a:xfrm>
          <a:prstGeom prst="rect">
            <a:avLst/>
          </a:prstGeom>
          <a:noFill/>
        </p:spPr>
      </p:pic>
      <p:sp>
        <p:nvSpPr>
          <p:cNvPr id="3" name="TextBox 2"/>
          <p:cNvSpPr txBox="1"/>
          <p:nvPr/>
        </p:nvSpPr>
        <p:spPr>
          <a:xfrm>
            <a:off x="857224" y="1000108"/>
            <a:ext cx="7643866" cy="464871"/>
          </a:xfrm>
          <a:prstGeom prst="rect">
            <a:avLst/>
          </a:prstGeom>
          <a:noFill/>
        </p:spPr>
        <p:txBody>
          <a:bodyPr wrap="square" rtlCol="0">
            <a:spAutoFit/>
          </a:bodyPr>
          <a:lstStyle/>
          <a:p>
            <a:pPr algn="ctr">
              <a:lnSpc>
                <a:spcPct val="150000"/>
              </a:lnSpc>
            </a:pPr>
            <a:r>
              <a:rPr lang="en-US" b="1" dirty="0" smtClean="0">
                <a:latin typeface="Arial" pitchFamily="34" charset="0"/>
                <a:cs typeface="Arial" pitchFamily="34" charset="0"/>
              </a:rPr>
              <a:t>What is the outcome on account of OMO? </a:t>
            </a:r>
            <a:endParaRPr lang="en-US" b="1" dirty="0">
              <a:latin typeface="Arial" pitchFamily="34" charset="0"/>
              <a:cs typeface="Arial" pitchFamily="34" charset="0"/>
            </a:endParaRPr>
          </a:p>
        </p:txBody>
      </p:sp>
      <p:sp>
        <p:nvSpPr>
          <p:cNvPr id="4" name="TextBox 3"/>
          <p:cNvSpPr txBox="1"/>
          <p:nvPr/>
        </p:nvSpPr>
        <p:spPr>
          <a:xfrm>
            <a:off x="2071670" y="476672"/>
            <a:ext cx="464347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OPEN MARKET OPERATIONS</a:t>
            </a:r>
            <a:endParaRPr lang="en-US" sz="2000" b="1" dirty="0">
              <a:solidFill>
                <a:schemeClr val="bg1"/>
              </a:solidFill>
              <a:latin typeface="Arial" pitchFamily="34" charset="0"/>
              <a:cs typeface="Arial" pitchFamily="34" charset="0"/>
            </a:endParaRPr>
          </a:p>
        </p:txBody>
      </p:sp>
      <p:sp>
        <p:nvSpPr>
          <p:cNvPr id="5" name="TextBox 4"/>
          <p:cNvSpPr txBox="1"/>
          <p:nvPr/>
        </p:nvSpPr>
        <p:spPr>
          <a:xfrm>
            <a:off x="500034" y="1500174"/>
            <a:ext cx="8001056" cy="3831818"/>
          </a:xfrm>
          <a:prstGeom prst="rect">
            <a:avLst/>
          </a:prstGeom>
          <a:noFill/>
        </p:spPr>
        <p:txBody>
          <a:bodyPr wrap="square" rtlCol="0">
            <a:spAutoFit/>
          </a:bodyPr>
          <a:lstStyle/>
          <a:p>
            <a:pPr marL="354013" indent="-354013">
              <a:lnSpc>
                <a:spcPct val="150000"/>
              </a:lnSpc>
              <a:buFont typeface="Wingdings" pitchFamily="2" charset="2"/>
              <a:buChar char="q"/>
              <a:tabLst>
                <a:tab pos="354013" algn="l"/>
              </a:tabLst>
            </a:pPr>
            <a:r>
              <a:rPr lang="en-US" b="1" dirty="0" smtClean="0">
                <a:latin typeface="Arial" pitchFamily="34" charset="0"/>
                <a:cs typeface="Arial" pitchFamily="34" charset="0"/>
              </a:rPr>
              <a:t>When the RBI buys bonds from the market and infuses liquidity,</a:t>
            </a:r>
            <a:br>
              <a:rPr lang="en-US" b="1" dirty="0" smtClean="0">
                <a:latin typeface="Arial" pitchFamily="34" charset="0"/>
                <a:cs typeface="Arial" pitchFamily="34" charset="0"/>
              </a:rPr>
            </a:br>
            <a:r>
              <a:rPr lang="en-US" b="1" dirty="0" smtClean="0">
                <a:latin typeface="Arial" pitchFamily="34" charset="0"/>
                <a:cs typeface="Arial" pitchFamily="34" charset="0"/>
              </a:rPr>
              <a:t>the consequences are:</a:t>
            </a:r>
          </a:p>
          <a:p>
            <a:pPr marL="900113" lvl="1" indent="-900113">
              <a:lnSpc>
                <a:spcPct val="150000"/>
              </a:lnSpc>
              <a:tabLst>
                <a:tab pos="354013" algn="l"/>
                <a:tab pos="900113" algn="l"/>
              </a:tabLst>
            </a:pPr>
            <a:r>
              <a:rPr lang="en-US" b="1" dirty="0" smtClean="0">
                <a:latin typeface="Arial" pitchFamily="34" charset="0"/>
                <a:cs typeface="Arial" pitchFamily="34" charset="0"/>
              </a:rPr>
              <a:t>	-	It tends to soften interest rates</a:t>
            </a:r>
          </a:p>
          <a:p>
            <a:pPr marL="900113" lvl="1" indent="-900113">
              <a:lnSpc>
                <a:spcPct val="150000"/>
              </a:lnSpc>
              <a:tabLst>
                <a:tab pos="354013" algn="l"/>
                <a:tab pos="900113" algn="l"/>
              </a:tabLst>
            </a:pPr>
            <a:r>
              <a:rPr lang="en-US" b="1" dirty="0" smtClean="0">
                <a:latin typeface="Arial" pitchFamily="34" charset="0"/>
                <a:cs typeface="Arial" pitchFamily="34" charset="0"/>
              </a:rPr>
              <a:t>	-	Fresh bonds can be issued at lower yields and the government can thus borrow at a reasonable cost</a:t>
            </a:r>
          </a:p>
          <a:p>
            <a:pPr marL="900113" lvl="1" indent="-900113">
              <a:lnSpc>
                <a:spcPct val="150000"/>
              </a:lnSpc>
              <a:tabLst>
                <a:tab pos="354013" algn="l"/>
                <a:tab pos="900113" algn="l"/>
              </a:tabLst>
            </a:pPr>
            <a:r>
              <a:rPr lang="en-US" b="1" dirty="0" smtClean="0">
                <a:latin typeface="Arial" pitchFamily="34" charset="0"/>
                <a:cs typeface="Arial" pitchFamily="34" charset="0"/>
              </a:rPr>
              <a:t>	-	It enables </a:t>
            </a:r>
            <a:r>
              <a:rPr lang="en-US" b="1" dirty="0" err="1" smtClean="0">
                <a:latin typeface="Arial" pitchFamily="34" charset="0"/>
                <a:cs typeface="Arial" pitchFamily="34" charset="0"/>
              </a:rPr>
              <a:t>corporates</a:t>
            </a:r>
            <a:r>
              <a:rPr lang="en-US" b="1" dirty="0" smtClean="0">
                <a:latin typeface="Arial" pitchFamily="34" charset="0"/>
                <a:cs typeface="Arial" pitchFamily="34" charset="0"/>
              </a:rPr>
              <a:t> to borrow at favorable interest rates</a:t>
            </a:r>
          </a:p>
          <a:p>
            <a:pPr marL="900113" lvl="1" indent="-900113">
              <a:lnSpc>
                <a:spcPct val="150000"/>
              </a:lnSpc>
              <a:tabLst>
                <a:tab pos="354013" algn="l"/>
                <a:tab pos="900113" algn="l"/>
              </a:tabLst>
            </a:pPr>
            <a:r>
              <a:rPr lang="en-US" b="1" dirty="0" smtClean="0">
                <a:latin typeface="Arial" pitchFamily="34" charset="0"/>
                <a:cs typeface="Arial" pitchFamily="34" charset="0"/>
              </a:rPr>
              <a:t>	-		It prevents the rupee from strengthening unnecessarily and thereby protects the interest of exporters </a:t>
            </a:r>
          </a:p>
          <a:p>
            <a:pPr marL="900113" lvl="1" indent="-900113">
              <a:lnSpc>
                <a:spcPct val="150000"/>
              </a:lnSpc>
              <a:tabLst>
                <a:tab pos="354013" algn="l"/>
                <a:tab pos="900113" algn="l"/>
              </a:tabLst>
            </a:pPr>
            <a:r>
              <a:rPr lang="en-US" b="1" dirty="0" smtClean="0">
                <a:latin typeface="Arial" pitchFamily="34" charset="0"/>
                <a:cs typeface="Arial" pitchFamily="34" charset="0"/>
              </a:rPr>
              <a:t>	-	It may tend to increase inflation</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4" name="TextBox 3"/>
          <p:cNvSpPr txBox="1"/>
          <p:nvPr/>
        </p:nvSpPr>
        <p:spPr>
          <a:xfrm>
            <a:off x="2071670" y="476672"/>
            <a:ext cx="464347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OPEN MARKET OPERATIONS</a:t>
            </a:r>
            <a:endParaRPr lang="en-US" sz="2000" b="1" dirty="0">
              <a:solidFill>
                <a:schemeClr val="bg1"/>
              </a:solidFill>
              <a:latin typeface="Arial" pitchFamily="34" charset="0"/>
              <a:cs typeface="Arial" pitchFamily="34" charset="0"/>
            </a:endParaRPr>
          </a:p>
        </p:txBody>
      </p:sp>
      <p:sp>
        <p:nvSpPr>
          <p:cNvPr id="5" name="TextBox 4"/>
          <p:cNvSpPr txBox="1"/>
          <p:nvPr/>
        </p:nvSpPr>
        <p:spPr>
          <a:xfrm>
            <a:off x="500034" y="1500174"/>
            <a:ext cx="8001056" cy="1754326"/>
          </a:xfrm>
          <a:prstGeom prst="rect">
            <a:avLst/>
          </a:prstGeom>
          <a:noFill/>
        </p:spPr>
        <p:txBody>
          <a:bodyPr wrap="square" rtlCol="0">
            <a:spAutoFit/>
          </a:bodyPr>
          <a:lstStyle/>
          <a:p>
            <a:pPr marL="354013" indent="-354013">
              <a:lnSpc>
                <a:spcPct val="150000"/>
              </a:lnSpc>
              <a:buFont typeface="Wingdings" pitchFamily="2" charset="2"/>
              <a:buChar char="q"/>
              <a:tabLst>
                <a:tab pos="354013" algn="l"/>
              </a:tabLst>
            </a:pPr>
            <a:r>
              <a:rPr lang="en-US" b="1" dirty="0" smtClean="0">
                <a:latin typeface="Arial" pitchFamily="34" charset="0"/>
                <a:cs typeface="Arial" pitchFamily="34" charset="0"/>
              </a:rPr>
              <a:t>If the RBI were to sell bonds instead </a:t>
            </a:r>
            <a:r>
              <a:rPr lang="en-US" b="1" dirty="0" smtClean="0">
                <a:latin typeface="Arial" pitchFamily="34" charset="0"/>
                <a:cs typeface="Arial" pitchFamily="34" charset="0"/>
              </a:rPr>
              <a:t>and suck out the liquidity, the effect would be exactly the opposite.</a:t>
            </a:r>
          </a:p>
          <a:p>
            <a:pPr marL="354013" indent="-354013">
              <a:lnSpc>
                <a:spcPct val="150000"/>
              </a:lnSpc>
              <a:buFont typeface="Wingdings" pitchFamily="2" charset="2"/>
              <a:buChar char="q"/>
              <a:tabLst>
                <a:tab pos="354013" algn="l"/>
              </a:tabLst>
            </a:pPr>
            <a:r>
              <a:rPr lang="en-US" b="1" dirty="0" smtClean="0">
                <a:latin typeface="Arial" pitchFamily="34" charset="0"/>
                <a:cs typeface="Arial" pitchFamily="34" charset="0"/>
              </a:rPr>
              <a:t>Thus, OMOs are an important instrument of credit control through which the Reserve Bank of India purchases and sells securities </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857224" y="1071546"/>
            <a:ext cx="7143800" cy="2677656"/>
          </a:xfrm>
          <a:prstGeom prst="rect">
            <a:avLst/>
          </a:prstGeom>
          <a:noFill/>
        </p:spPr>
        <p:txBody>
          <a:bodyPr wrap="square" rtlCol="0">
            <a:spAutoFit/>
          </a:bodyPr>
          <a:lstStyle/>
          <a:p>
            <a:pPr algn="just">
              <a:lnSpc>
                <a:spcPct val="150000"/>
              </a:lnSpc>
              <a:defRPr/>
            </a:pPr>
            <a:r>
              <a:rPr lang="en-US" sz="1600" b="1" dirty="0" smtClean="0">
                <a:latin typeface="Arial" pitchFamily="34" charset="0"/>
                <a:cs typeface="Arial" pitchFamily="34" charset="0"/>
              </a:rPr>
              <a:t>To sum up:</a:t>
            </a:r>
          </a:p>
          <a:p>
            <a:pPr algn="just">
              <a:lnSpc>
                <a:spcPct val="150000"/>
              </a:lnSpc>
              <a:defRPr/>
            </a:pPr>
            <a:endParaRPr lang="en-US" sz="1600" b="1" dirty="0" smtClean="0">
              <a:latin typeface="Arial" pitchFamily="34" charset="0"/>
              <a:cs typeface="Arial" pitchFamily="34" charset="0"/>
            </a:endParaRPr>
          </a:p>
          <a:p>
            <a:pPr algn="just">
              <a:lnSpc>
                <a:spcPct val="150000"/>
              </a:lnSpc>
              <a:defRPr/>
            </a:pPr>
            <a:r>
              <a:rPr lang="en-US" sz="1600" b="1" dirty="0" smtClean="0">
                <a:latin typeface="Arial" pitchFamily="34" charset="0"/>
                <a:cs typeface="Arial" pitchFamily="34" charset="0"/>
              </a:rPr>
              <a:t>What : Open Market Operations (OMOs) are a means by which a central </a:t>
            </a:r>
            <a:r>
              <a:rPr lang="en-US" sz="1600" b="1" dirty="0" smtClean="0">
                <a:latin typeface="Arial" pitchFamily="34" charset="0"/>
                <a:cs typeface="Arial" pitchFamily="34" charset="0"/>
              </a:rPr>
              <a:t>bank control’s the nation’s money supply by buying and selling government securities and / or other financial instruments.</a:t>
            </a:r>
          </a:p>
          <a:p>
            <a:pPr algn="just">
              <a:lnSpc>
                <a:spcPct val="150000"/>
              </a:lnSpc>
              <a:defRPr/>
            </a:pPr>
            <a:endParaRPr lang="en-US" sz="1600" b="1" dirty="0" smtClean="0">
              <a:latin typeface="Arial" pitchFamily="34" charset="0"/>
              <a:cs typeface="Arial" pitchFamily="34" charset="0"/>
            </a:endParaRPr>
          </a:p>
          <a:p>
            <a:pPr algn="just">
              <a:lnSpc>
                <a:spcPct val="150000"/>
              </a:lnSpc>
              <a:defRPr/>
            </a:pPr>
            <a:r>
              <a:rPr lang="en-US" sz="1600" b="1" dirty="0" smtClean="0">
                <a:latin typeface="Arial" pitchFamily="34" charset="0"/>
                <a:cs typeface="Arial" pitchFamily="34" charset="0"/>
              </a:rPr>
              <a:t>Why : It helps regulate interest rates and foreign exchange rates</a:t>
            </a:r>
          </a:p>
        </p:txBody>
      </p:sp>
      <p:sp>
        <p:nvSpPr>
          <p:cNvPr id="4" name="TextBox 3"/>
          <p:cNvSpPr txBox="1"/>
          <p:nvPr/>
        </p:nvSpPr>
        <p:spPr>
          <a:xfrm>
            <a:off x="2071670" y="476672"/>
            <a:ext cx="464347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OPEN MARKET OPERATIONS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143372" y="4661940"/>
            <a:ext cx="3500462" cy="1338828"/>
          </a:xfrm>
          <a:prstGeom prst="rect">
            <a:avLst/>
          </a:prstGeom>
        </p:spPr>
        <p:txBody>
          <a:bodyPr wrap="square">
            <a:spAutoFit/>
          </a:bodyPr>
          <a:lstStyle/>
          <a:p>
            <a:pPr>
              <a:lnSpc>
                <a:spcPct val="150000"/>
              </a:lnSpc>
              <a:buFontTx/>
              <a:buNone/>
            </a:pPr>
            <a:r>
              <a:rPr lang="en-US" b="1" dirty="0" smtClean="0">
                <a:latin typeface="Arial" pitchFamily="34" charset="0"/>
                <a:cs typeface="Arial" pitchFamily="34" charset="0"/>
              </a:rPr>
              <a:t>Hope you have understood the concept of</a:t>
            </a:r>
            <a:br>
              <a:rPr lang="en-US" b="1" dirty="0" smtClean="0">
                <a:latin typeface="Arial" pitchFamily="34" charset="0"/>
                <a:cs typeface="Arial" pitchFamily="34" charset="0"/>
              </a:rPr>
            </a:br>
            <a:r>
              <a:rPr lang="en-US" b="1" dirty="0" smtClean="0">
                <a:latin typeface="Arial" pitchFamily="34" charset="0"/>
                <a:cs typeface="Arial" pitchFamily="34" charset="0"/>
              </a:rPr>
              <a:t>Open Market Operations</a:t>
            </a:r>
            <a:endParaRPr lang="en-US" b="1" dirty="0" smtClean="0">
              <a:latin typeface="Arial" pitchFamily="34" charset="0"/>
              <a:cs typeface="Arial" pitchFamily="34" charset="0"/>
            </a:endParaRPr>
          </a:p>
        </p:txBody>
      </p:sp>
      <p:sp>
        <p:nvSpPr>
          <p:cNvPr id="5" name="TextBox 4"/>
          <p:cNvSpPr txBox="1"/>
          <p:nvPr/>
        </p:nvSpPr>
        <p:spPr>
          <a:xfrm>
            <a:off x="2071670" y="476672"/>
            <a:ext cx="464347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OPEN MARKET OPERATIONS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11" name="TextBox 10"/>
          <p:cNvSpPr txBox="1"/>
          <p:nvPr/>
        </p:nvSpPr>
        <p:spPr>
          <a:xfrm>
            <a:off x="1142976" y="2143116"/>
            <a:ext cx="3714776" cy="596445"/>
          </a:xfrm>
          <a:prstGeom prst="rect">
            <a:avLst/>
          </a:prstGeom>
          <a:noFill/>
        </p:spPr>
        <p:txBody>
          <a:bodyPr wrap="square" rtlCol="0">
            <a:spAutoFit/>
          </a:bodyPr>
          <a:lstStyle/>
          <a:p>
            <a:pPr marL="342900" indent="-342900" algn="ctr">
              <a:lnSpc>
                <a:spcPct val="80000"/>
              </a:lnSpc>
              <a:spcBef>
                <a:spcPct val="20000"/>
              </a:spcBef>
            </a:pPr>
            <a:r>
              <a:rPr lang="en-US" b="1" dirty="0" smtClean="0">
                <a:latin typeface="Arial" pitchFamily="34" charset="0"/>
                <a:cs typeface="Arial" pitchFamily="34" charset="0"/>
              </a:rPr>
              <a:t>Please give us your feedback at </a:t>
            </a:r>
          </a:p>
          <a:p>
            <a:pPr marL="342900" indent="-342900" algn="ctr">
              <a:lnSpc>
                <a:spcPct val="80000"/>
              </a:lnSpc>
              <a:spcBef>
                <a:spcPct val="20000"/>
              </a:spcBef>
            </a:pPr>
            <a:r>
              <a:rPr lang="en-US" b="1" dirty="0" smtClean="0">
                <a:solidFill>
                  <a:schemeClr val="bg1"/>
                </a:solidFill>
                <a:latin typeface="Arial" pitchFamily="34" charset="0"/>
                <a:cs typeface="Arial" pitchFamily="34" charset="0"/>
                <a:hlinkClick r:id="rId4"/>
              </a:rPr>
              <a:t>professor@tataamc.com</a:t>
            </a:r>
            <a:endParaRPr lang="en-US"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2082088</TotalTime>
  <Words>386</Words>
  <Application>Microsoft Office PowerPoint</Application>
  <PresentationFormat>On-screen Show (4:3)</PresentationFormat>
  <Paragraphs>32</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Slide 1</vt:lpstr>
      <vt:lpstr>Slide 2</vt:lpstr>
      <vt:lpstr>Slide 3</vt:lpstr>
      <vt:lpstr>Slide 4</vt:lpstr>
      <vt:lpstr>Slide 5</vt:lpstr>
      <vt:lpstr>Slide 6</vt:lpstr>
      <vt:lpstr>Slide 7</vt:lpstr>
      <vt:lpstr>Slide 8</vt:lpstr>
      <vt:lpstr>Slide 9</vt:lpstr>
      <vt:lpstr>Slide 10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savio</cp:lastModifiedBy>
  <cp:revision>274</cp:revision>
  <dcterms:created xsi:type="dcterms:W3CDTF">2013-10-22T09:41:31Z</dcterms:created>
  <dcterms:modified xsi:type="dcterms:W3CDTF">2014-09-19T12:38:24Z</dcterms:modified>
</cp:coreProperties>
</file>