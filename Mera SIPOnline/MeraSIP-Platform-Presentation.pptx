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04"/>
    <p:restoredTop sz="94610"/>
  </p:normalViewPr>
  <p:slideViewPr>
    <p:cSldViewPr snapToGrid="0" snapToObjects="1">
      <p:cViewPr varScale="1">
        <p:scale>
          <a:sx n="193" d="100"/>
          <a:sy n="193" d="100"/>
        </p:scale>
        <p:origin x="304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0215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2926080" cy="365760"/>
          </a:xfrm>
          <a:prstGeom prst="rect">
            <a:avLst/>
          </a:prstGeom>
          <a:solidFill>
            <a:srgbClr val="1A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TRUSTNER ASSET SERVICES PVT LTD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MeraSIP.com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First Free </a:t>
            </a: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CFP-Grade Financial Planning Platform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0" y="3291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6032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Modules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3291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6344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Articles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66560" y="3291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6656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Platform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4572000"/>
            <a:ext cx="82296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Team Meet 2026  |  Presented by CFP Ram Shah  |  ARN-286886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Trustner Asset Services Pvt Ltd  |  ARN-286886  |  merasip.com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96012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Platform Vision &amp; Why We Built MeraSIP.com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Platform Capabilities Overview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33+ Interactive Financial Calculators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12-Module Learning Academy (NISM VA-Aligned)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AI-Powered Financial Health Assessment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 Fund Research &amp; Selection Tools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 Market Intelligence &amp; Blog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 Resources: Taxation Guides (India + NRI)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 MFD Trail Commission Calculator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 Lead Capture &amp; CRM Integration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 SEO &amp; Digital Marketing Engine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 What Makes Us Different from Groww, ET Money, Zerodha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 Roadmap 2026-27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Trustner Asset Services Pvt Ltd  |  ARN-286886  |  merasip.com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73152" cy="10972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Vision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MeraSIP.com Exists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"Every Indian deserves access to CFP-grade financial planning — </a:t>
            </a:r>
            <a:r>
              <a:rPr lang="en-US" sz="1600" b="1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just the wealthy.</a:t>
            </a:r>
            <a:r>
              <a:rPr lang="en-US" sz="1600" i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337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CFP Ram Shah, Founder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3794760"/>
            <a:ext cx="2468880" cy="73152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840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4069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advice in India is expensive, biased, or inaccessible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520440" y="3794760"/>
            <a:ext cx="2468880" cy="73152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0" y="3840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4069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AI-powered platform with 33+ calculators and CFP-grade tools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63640" y="3794760"/>
            <a:ext cx="2468880" cy="73152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0" y="3840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4069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Empowered investors make better decisions — we earn trust, then income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Trustner Asset Services Pvt Ltd  |  ARN-286886  |  merasip.com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63826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at a Glance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an investor needs — on one platform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8791" y="1234440"/>
            <a:ext cx="1783080" cy="100584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325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" y="1783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90159" y="1257300"/>
            <a:ext cx="1783080" cy="100584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66544" y="1325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88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066544" y="1783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Modules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91527" y="1257300"/>
            <a:ext cx="1783080" cy="100584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58768" y="1325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858768" y="1783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Articles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70763" y="1260944"/>
            <a:ext cx="1783080" cy="100584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650992" y="1325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45+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650992" y="1783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 Terms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90419" y="1241397"/>
            <a:ext cx="1783080" cy="100584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43216" y="1325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443216" y="1783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Studies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468880"/>
            <a:ext cx="2697480" cy="96012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2468880"/>
            <a:ext cx="54864" cy="9601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25786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Health Assessment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2880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questions, AI scoring, PDF report, 5-pillar analysis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0" y="2468880"/>
            <a:ext cx="2697480" cy="96012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00400" y="2468880"/>
            <a:ext cx="54864" cy="96012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83280" y="25786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Research Hub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83280" y="2880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Explorer, Screener, Compare, Live NAV, Trustner Selection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26480" y="2468880"/>
            <a:ext cx="2697480" cy="96012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126480" y="2468880"/>
            <a:ext cx="54864" cy="9601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09360" y="25786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09360" y="2880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commentary, market indicators, SIP timing insights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3566160"/>
            <a:ext cx="2697480" cy="96012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74320" y="3566160"/>
            <a:ext cx="54864" cy="9601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36758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Taxation Guides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MF taxation + NRI guides (US, Canada, Europe, UAE)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00400" y="3566160"/>
            <a:ext cx="2697480" cy="96012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200400" y="3566160"/>
            <a:ext cx="54864" cy="9601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383280" y="36758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CRM Panel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383280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Leads, reports, gallery, users, funds, analytics dashboard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126480" y="3566160"/>
            <a:ext cx="2697480" cy="96012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126480" y="3566160"/>
            <a:ext cx="54864" cy="96012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309360" y="36758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MFD Trail Calculator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309360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sub-calculators for trail income, AUM growth, sub-broker scale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Trustner Asset Services Pvt Ltd  |  ARN-286886  |  merasip.com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33+ Interactive Financial Calculators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5 categories — each with real-time charts, PDF export, and scenario analysis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1627632" cy="338328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1627632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28016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&amp; SIP (17)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1627632"/>
            <a:ext cx="1444752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Calculator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Step-Up SIP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Goal-Based SIP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 Planner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Calculator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SWP Calculator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Lumpsum Planner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Strategy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Shield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Delay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Lifeline Planner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SIP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029968" y="1188720"/>
            <a:ext cx="1627632" cy="338328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29968" y="1188720"/>
            <a:ext cx="1627632" cy="4572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121408" y="128016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(4)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121408" y="1627632"/>
            <a:ext cx="1444752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Calculator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Prepayment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Loan vs Cash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Affordability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785616" y="1188720"/>
            <a:ext cx="1627632" cy="338328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785616" y="1188720"/>
            <a:ext cx="1627632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77056" y="128016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(3)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77056" y="1627632"/>
            <a:ext cx="1444752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Tax (Old vs New)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Gains Tax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Saving 80C/80D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541264" y="1188720"/>
            <a:ext cx="1627632" cy="338328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541264" y="1188720"/>
            <a:ext cx="1627632" cy="457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32704" y="128016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(4)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32704" y="1627632"/>
            <a:ext cx="1444752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Life Value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Insurance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Insurance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Plan + SIP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296912" y="1188720"/>
            <a:ext cx="1627632" cy="338328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296912" y="1188720"/>
            <a:ext cx="1627632" cy="4572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88352" y="128016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Decisions (5)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88352" y="1627632"/>
            <a:ext cx="1444752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Fund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Worth Tracker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vs Buy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 vs Loan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Inflation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Trustner Asset Services Pvt Ltd  |  ARN-286886  |  merasip.com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Our Calculators Special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206240" cy="109728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54864" cy="10972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TRUSTNER EXCLUSIVE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57200" y="1261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SIP Shield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5361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first calculator that shows how your SIP can pay your premiums and EMIs. Maps life costs against investment growth.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005840"/>
            <a:ext cx="4206240" cy="109728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54864" cy="10972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92040" y="10789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892040" y="1261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Bucket Strategy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15361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Divides retirement corpus into Safety, Income, and Growth buckets. Simulates sustainable withdrawal with visual timeline.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240280"/>
            <a:ext cx="4206240" cy="109728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240280"/>
            <a:ext cx="54864" cy="10972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3134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CFP-GRADE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57200" y="2496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Lifeline Planner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27706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CFP-style planner — add SIPs, lump sums, and withdrawals at any year across your entire life. See net worth trajectory.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240280"/>
            <a:ext cx="4206240" cy="109728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09160" y="2240280"/>
            <a:ext cx="54864" cy="109728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92040" y="23134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892040" y="2496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Health Assessment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92040" y="27706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questions, AI-scored out of 900, 5-pillar analysis, personalized PDF report with Claude AI narrative.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474720"/>
            <a:ext cx="4206240" cy="109728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4320" y="3474720"/>
            <a:ext cx="54864" cy="109728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3547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MFDs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57200" y="3730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MFD Trail Calculator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40050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specialized calculators for distributors — project trail income, AUM growth, sub-broker scaling, insurance comparison.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474720"/>
            <a:ext cx="4206240" cy="109728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09160" y="3474720"/>
            <a:ext cx="54864" cy="10972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92040" y="3547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TOOL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892040" y="3730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Term Plan + SIP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892040" y="40050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Regular Pay + SIP beats Limited Pay with bonus corpus at maturity. Mathematical proof for every client meeting.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Trustner Asset Services Pvt Ltd  |  ARN-286886  |  merasip.com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12-Module Learning Academy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NISM VA-Aligned  |  60+ Sections  |  MCQ Assessments  |  Progress Tracking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2697480" cy="713232"/>
          </a:xfrm>
          <a:prstGeom prst="rect">
            <a:avLst/>
          </a:prstGeom>
          <a:solidFill>
            <a:srgbClr val="1A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45720" cy="7132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12618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12618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Landscape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15544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sections  |  Foundation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0" y="1188720"/>
            <a:ext cx="2697480" cy="713232"/>
          </a:xfrm>
          <a:prstGeom prst="rect">
            <a:avLst/>
          </a:prstGeom>
          <a:solidFill>
            <a:srgbClr val="1A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1188720"/>
            <a:ext cx="45720" cy="7132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10128" y="12618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0" y="12618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Mutual Fund?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0" y="15544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sections  |  Foundation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126480" y="1188720"/>
            <a:ext cx="2697480" cy="713232"/>
          </a:xfrm>
          <a:prstGeom prst="rect">
            <a:avLst/>
          </a:prstGeom>
          <a:solidFill>
            <a:srgbClr val="1A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26480" y="1188720"/>
            <a:ext cx="45720" cy="7132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36208" y="12618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12618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Mastery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83680" y="15544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sections  |  Foundation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2029968"/>
            <a:ext cx="2697480" cy="713232"/>
          </a:xfrm>
          <a:prstGeom prst="rect">
            <a:avLst/>
          </a:prstGeom>
          <a:solidFill>
            <a:srgbClr val="1A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2029968"/>
            <a:ext cx="45720" cy="713232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84048" y="21031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8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1520" y="2103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Types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1520" y="23957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sections  |  Intermediate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0" y="2029968"/>
            <a:ext cx="2697480" cy="713232"/>
          </a:xfrm>
          <a:prstGeom prst="rect">
            <a:avLst/>
          </a:prstGeom>
          <a:solidFill>
            <a:srgbClr val="1A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00400" y="2029968"/>
            <a:ext cx="45720" cy="713232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310128" y="21031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8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657600" y="2103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Structure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57600" y="23957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sections  |  Intermediate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126480" y="2029968"/>
            <a:ext cx="2697480" cy="713232"/>
          </a:xfrm>
          <a:prstGeom prst="rect">
            <a:avLst/>
          </a:prstGeom>
          <a:solidFill>
            <a:srgbClr val="1A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126480" y="2029968"/>
            <a:ext cx="45720" cy="713232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36208" y="21031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8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83680" y="2103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Regulatory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583680" y="23957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sections  |  Intermediate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74320" y="2871216"/>
            <a:ext cx="2697480" cy="713232"/>
          </a:xfrm>
          <a:prstGeom prst="rect">
            <a:avLst/>
          </a:prstGeom>
          <a:solidFill>
            <a:srgbClr val="1A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74320" y="2871216"/>
            <a:ext cx="45720" cy="713232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84048" y="29443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8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31520" y="29443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&amp; Expenses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31520" y="323697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sections  |  Intermediate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200400" y="2871216"/>
            <a:ext cx="2697480" cy="713232"/>
          </a:xfrm>
          <a:prstGeom prst="rect">
            <a:avLst/>
          </a:prstGeom>
          <a:solidFill>
            <a:srgbClr val="1A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200400" y="2871216"/>
            <a:ext cx="45720" cy="713232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310128" y="29443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8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3657600" y="29443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Taxation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3657600" y="323697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sections  |  Intermediate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126480" y="2871216"/>
            <a:ext cx="2697480" cy="713232"/>
          </a:xfrm>
          <a:prstGeom prst="rect">
            <a:avLst/>
          </a:prstGeom>
          <a:solidFill>
            <a:srgbClr val="1A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126480" y="2871216"/>
            <a:ext cx="45720" cy="713232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236208" y="29443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8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583680" y="29443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&amp; Your Role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583680" y="323697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sections  |  Intermediate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74320" y="3712464"/>
            <a:ext cx="2697480" cy="713232"/>
          </a:xfrm>
          <a:prstGeom prst="rect">
            <a:avLst/>
          </a:prstGeom>
          <a:solidFill>
            <a:srgbClr val="1A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274320" y="3712464"/>
            <a:ext cx="45720" cy="713232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84048" y="378561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8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3152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Services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731520" y="407822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sections  |  Intermediate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200400" y="3712464"/>
            <a:ext cx="2697480" cy="713232"/>
          </a:xfrm>
          <a:prstGeom prst="rect">
            <a:avLst/>
          </a:prstGeom>
          <a:solidFill>
            <a:srgbClr val="1A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3200400" y="3712464"/>
            <a:ext cx="45720" cy="71323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310128" y="378561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36576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Performance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3657600" y="407822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sections  |  Advanced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126480" y="3712464"/>
            <a:ext cx="2697480" cy="713232"/>
          </a:xfrm>
          <a:prstGeom prst="rect">
            <a:avLst/>
          </a:prstGeom>
          <a:solidFill>
            <a:srgbClr val="1A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6126480" y="3712464"/>
            <a:ext cx="45720" cy="71323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236208" y="378561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58368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Selection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6583680" y="407822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sections  |  Advanced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Trustner Asset Services Pvt Ltd  |  ARN-286886  |  merasip.com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Financial Health Assessment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 |  Score out of 900  |  10-Page AI-Generated PDF Report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5-Pillar Analysis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4114800" cy="530352"/>
          </a:xfrm>
          <a:prstGeom prst="rect">
            <a:avLst/>
          </a:prstGeom>
          <a:solidFill>
            <a:srgbClr val="1A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45720" cy="5303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6459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Cashflow Management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18562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vs expenses, savings rate, EMI burden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4114800" cy="530352"/>
          </a:xfrm>
          <a:prstGeom prst="rect">
            <a:avLst/>
          </a:prstGeom>
          <a:solidFill>
            <a:srgbClr val="1A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45720" cy="530352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2860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(Insurance)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4963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Life, health, critical illness coverage gap analysis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4114800" cy="530352"/>
          </a:xfrm>
          <a:prstGeom prst="rect">
            <a:avLst/>
          </a:prstGeom>
          <a:solidFill>
            <a:srgbClr val="1A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45720" cy="5303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29260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1363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allocation, diversification, goal alignment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520440"/>
            <a:ext cx="4114800" cy="530352"/>
          </a:xfrm>
          <a:prstGeom prst="rect">
            <a:avLst/>
          </a:prstGeom>
          <a:solidFill>
            <a:srgbClr val="1A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3520440"/>
            <a:ext cx="45720" cy="53035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35661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Management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37764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Debt-to-income ratio, loan optimization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4160520"/>
            <a:ext cx="4114800" cy="530352"/>
          </a:xfrm>
          <a:prstGeom prst="rect">
            <a:avLst/>
          </a:prstGeom>
          <a:solidFill>
            <a:srgbClr val="1A2F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" y="4160520"/>
            <a:ext cx="45720" cy="53035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42062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 Readiness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44165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gap, SWP sustainability, inflation-adjusted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 Includes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846320" y="1600200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Health Score (out of 900) with grade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5-Pillar breakdown with individual scores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Worth calculation &amp; trend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 gap analysis with projections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gap analysis (education, house, etc.)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coverage gap analysis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allocation: Current vs Recommended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action plan (Quick Wins first)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narrative — personalized insights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OTP-gated access for security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Trustner Asset Services Pvt Ltd  |  ARN-286886  |  merasip.com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 Research &amp; Selection Tools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029968" cy="192024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54864" cy="19202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Explorer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17099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all funds with category filters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NAV updates across all funds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compare and shortlist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87168" y="1005840"/>
            <a:ext cx="2029968" cy="192024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87168" y="1005840"/>
            <a:ext cx="54864" cy="192024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70048" y="1115568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Screener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70048" y="1417320"/>
            <a:ext cx="17099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AUM, TER, returns, risk metrics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ratio, beta, manager tenure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Sortable results with peer ranks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0016" y="1005840"/>
            <a:ext cx="2029968" cy="192024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00016" y="1005840"/>
            <a:ext cx="54864" cy="19202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82896" y="1115568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Compare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82896" y="1417320"/>
            <a:ext cx="17099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 tool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Returns, risk, holdings breakdown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4 funds simultaneously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912864" y="1005840"/>
            <a:ext cx="2029968" cy="192024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12864" y="1005840"/>
            <a:ext cx="54864" cy="19202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095744" y="1115568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Trustner Selection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95744" y="1417320"/>
            <a:ext cx="17099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picks across 16 categories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criteria: AUM, TER, consistency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badges with reasoning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Fund Detail Page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NAV &amp; 1Y/3Y/5Y returns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comparison table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2648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Holdings breakdown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3931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history chart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91840" y="3931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Factsheet download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26480" y="3931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manager info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Trustner Asset Services Pvt Ltd  |  ARN-286886  |  merasip.com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Intelligence &amp; Blog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114800" cy="137160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54864" cy="13716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Pulse Dashboard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market commentary (7-day continuous updates)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indicators with real-time data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timing insights for optimal entry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with visual indicators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stock ticker on every page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606040"/>
            <a:ext cx="4114800" cy="137160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2606040"/>
            <a:ext cx="54864" cy="137160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71576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(74+ Articles)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01752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Categories: SIP Strategy, Market Analysis, Tax Planning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CFP Ram Shah with FPSB/ARN/AMFI badges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SSG-rendered for SEO — Google indexes every post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posts, category filtering, featured highlights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Block-based CMS: paragraphs, tables, callouts, CTAs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1005840"/>
            <a:ext cx="4114800" cy="137160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63440" y="1005840"/>
            <a:ext cx="54864" cy="13716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111556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Center (6 Studies)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141732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SIP Returns across market cycles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 Bull vs Bear Markets — data-driven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Returns Study with interactive charts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XIRR Explained — calculation deep-dive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Volatility Simulator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2606040"/>
            <a:ext cx="4114800" cy="137160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63440" y="2606040"/>
            <a:ext cx="54864" cy="13716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0" y="271576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Presell Educational Pages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01752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SIP? — Comprehensive introduction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for Beginners / Retirement / Child Education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vs Lumpsum — Comparison with data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Calculator landing page (SEO-optimized)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financial planning goal pages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4160520"/>
            <a:ext cx="1783080" cy="100584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42519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88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74+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57200" y="47091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Posts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68880" y="4160520"/>
            <a:ext cx="1783080" cy="100584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468880" y="42519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2468880" y="47091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Studies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480560" y="4160520"/>
            <a:ext cx="1783080" cy="100584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480560" y="42519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45+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4480560" y="47091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 Terms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92240" y="4160520"/>
            <a:ext cx="1783080" cy="100584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92240" y="42519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200+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492240" y="47091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Pages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Trustner Asset Services Pvt Ltd  |  ARN-286886  |  merasip.com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Comprehensive Taxation Resources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as the go-to reference for every MF investor's tax questions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4114800" cy="320040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54864" cy="32004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29844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MF Taxation Guide (10 Sections)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600200"/>
            <a:ext cx="3794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MF: LTCG 12.5% above 1.25L, STCG 20%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MF: Taxed at slab rate (post Apr 2023)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Fund tax treatment explained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SIP-specific FIFO taxation rules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taxation at slab rate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ELSS &amp; Section 80C benefits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TDS rules and thresholds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Tax-Loss Harvesting strategies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changes timeline (1997-2024)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due dates calendar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114800" cy="320040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54864" cy="3200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129844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NRI MF Taxation Guide (9 Sections)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600200"/>
            <a:ext cx="3794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NRI basics: KYC, NRE/NRO accounts, FATCA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TDS rates for NRIs (higher than residents)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Citizens: PFIC, FATCA, FBAR detailed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Canadian Residents: T1135 reporting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European: UK, Germany, France rules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UAE/GCC: Zero-tax benefits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DTAA table for 8 countries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steps checklist for NRI investors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timeline with recent changes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Trustner Asset Services Pvt Ltd  |  ARN-286886  |  merasip.com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MFD Trail Commission Calculator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MFDs, Sub-Brokers &amp; Financial Advisors — Plan Your Business Growth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2029968" cy="123444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280160"/>
            <a:ext cx="2029968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417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1417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SIP Trail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783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income from new SIP clients over years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87168" y="1280160"/>
            <a:ext cx="2029968" cy="123444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487168" y="1280160"/>
            <a:ext cx="2029968" cy="4572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78608" y="1417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88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944368" y="1417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Lumpsum Trail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78608" y="1783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investment earnings projection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0016" y="1280160"/>
            <a:ext cx="2029968" cy="123444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00016" y="1280160"/>
            <a:ext cx="2029968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91456" y="1417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157216" y="1417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Book Growth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91456" y="1783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portfolio growth trajectory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912864" y="1280160"/>
            <a:ext cx="2029968" cy="123444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912864" y="1280160"/>
            <a:ext cx="2029968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004304" y="1417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370064" y="1417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Growth Trail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04304" y="1783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 commission from AUM growth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2743200"/>
            <a:ext cx="2029968" cy="123444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2743200"/>
            <a:ext cx="2029968" cy="457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28803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31520" y="2880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Trail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3246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All-in-one trail income analysis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487168" y="2743200"/>
            <a:ext cx="2029968" cy="123444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487168" y="2743200"/>
            <a:ext cx="2029968" cy="4572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578608" y="28803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2944368" y="2880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Income Planner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578608" y="3246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Reverse-calculate clients needed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00016" y="2743200"/>
            <a:ext cx="2029968" cy="123444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700016" y="2743200"/>
            <a:ext cx="2029968" cy="457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91456" y="28803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157216" y="2880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vs MF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791456" y="3246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insurance vs MF trail income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912864" y="2743200"/>
            <a:ext cx="2029968" cy="123444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912864" y="2743200"/>
            <a:ext cx="2029968" cy="4572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004304" y="28803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88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7370064" y="2880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Sub-Broker Scale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004304" y="3246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commission modeling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Trustner Asset Services Pvt Ltd  |  ARN-286886  |  merasip.com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 Capture &amp; Conversion Engine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Touchpoints — Capture leads at every stage of the investor journey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2029968" cy="155448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54864" cy="15544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298448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Lead Funnel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600200"/>
            <a:ext cx="1709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selection &gt; Risk assessment &gt; Contact form. Risk score displayed. Persistent across sessions.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87168" y="1188720"/>
            <a:ext cx="2029968" cy="155448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87168" y="1188720"/>
            <a:ext cx="54864" cy="155448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70048" y="1298448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Capture Modal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70048" y="1600200"/>
            <a:ext cx="1709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at 15s delay or 40% scroll. Name, email, phone, goal selection. Inline + modal variants.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0016" y="1188720"/>
            <a:ext cx="2029968" cy="155448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00016" y="1188720"/>
            <a:ext cx="54864" cy="15544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82896" y="1298448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Widget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82896" y="1600200"/>
            <a:ext cx="1709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gpt-4o-mini powered. Answers investor queries. Captures intent data. Demo mode fallback.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912864" y="1188720"/>
            <a:ext cx="2029968" cy="155448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912864" y="1188720"/>
            <a:ext cx="54864" cy="155448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095744" y="1298448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Intent Popup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95744" y="1600200"/>
            <a:ext cx="17099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page abandonment. Last-chance conversion. Custom messaging per page.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2926080"/>
            <a:ext cx="2697480" cy="155448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4320" y="2926080"/>
            <a:ext cx="54864" cy="15544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30358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Investment CTA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333756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Always-visible bottom-right button. 'Start Investing' call-to-action. Links to assessment.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163824" y="2926080"/>
            <a:ext cx="2697480" cy="155448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163824" y="2926080"/>
            <a:ext cx="54864" cy="15544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346704" y="30358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Direct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46704" y="333756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WhatsApp contact. Pre-filled message. Instant connection with advisor.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053328" y="2926080"/>
            <a:ext cx="2697480" cy="155448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053328" y="2926080"/>
            <a:ext cx="54864" cy="1554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36208" y="30358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 Signup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36208" y="333756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capture for weekly market brief. Blog + footer placement. Resend API integration.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Trustner Asset Services Pvt Ltd  |  ARN-286886  |  merasip.com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Panel &amp; CRM Dashboard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029968" cy="150876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54864" cy="15087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Management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1709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View, filter, export leads. Track lead actions. CSV/Excel export.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87168" y="1005840"/>
            <a:ext cx="2029968" cy="150876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87168" y="1005840"/>
            <a:ext cx="54864" cy="150876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70048" y="1115568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Reports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70048" y="1417320"/>
            <a:ext cx="1709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queue monitoring. Approval workflow. PDF regeneration.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0016" y="1005840"/>
            <a:ext cx="2029968" cy="150876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00016" y="1005840"/>
            <a:ext cx="54864" cy="1508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82896" y="1115568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Management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82896" y="1417320"/>
            <a:ext cx="1709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import funds. Edit properties. Manage categories.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912864" y="1005840"/>
            <a:ext cx="2029968" cy="150876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12864" y="1005840"/>
            <a:ext cx="54864" cy="15087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095744" y="1115568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 Manager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95744" y="1417320"/>
            <a:ext cx="1709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images. Categorize: team, events, milestones, office.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2697480"/>
            <a:ext cx="2029968" cy="150876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2697480"/>
            <a:ext cx="54864" cy="15087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2807208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Editor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3108960"/>
            <a:ext cx="1709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Create/edit posts. Publishing workflow. Category management.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487168" y="2697480"/>
            <a:ext cx="2029968" cy="150876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487168" y="2697480"/>
            <a:ext cx="54864" cy="150876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670048" y="2807208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670048" y="3108960"/>
            <a:ext cx="1709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indicators. Manage commentaries. Publish insights.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00016" y="2697480"/>
            <a:ext cx="2029968" cy="150876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00016" y="2697480"/>
            <a:ext cx="54864" cy="150876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82896" y="2807208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82896" y="3108960"/>
            <a:ext cx="1709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users. Roles &amp; permissions. Password reset.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912864" y="2697480"/>
            <a:ext cx="2029968" cy="150876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912864" y="2697480"/>
            <a:ext cx="54864" cy="15087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095744" y="2807208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095744" y="3108960"/>
            <a:ext cx="1709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analytics. Conversion metrics. Lead source tracking.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Trustner Asset Services Pvt Ltd  |  ARN-286886  |  merasip.com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SEO &amp; Digital Marketing Engine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114800" cy="182880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54864" cy="18288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 SEO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3794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pages in dynamic sitemap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Per-page metadata with OG &amp; Twitter cards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JSON-LD structured data (Article, Person, Org)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BreadcrumbList schema for Google rich results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E-E-A-T signals: CFP credentials, ARN, FPSB badges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SSG pre-rendered blog pages for crawler access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3017520"/>
            <a:ext cx="4114800" cy="146304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3017520"/>
            <a:ext cx="54864" cy="146304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12724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Strategy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429000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74+ blog posts with keyword-rich titles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45+ glossary terms for long-tail keywords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SEO landing pages (SIP, retirement, education)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entity: CFP Ram Shah — builds E-E-A-T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publishing cadence — consistency signals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1005840"/>
            <a:ext cx="4114800" cy="182880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63440" y="100584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111556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SEO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1417320"/>
            <a:ext cx="3794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— fast SSG/SSR rendering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generateStaticParams for pre-built pages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generateMetadata in layout.tsx for dynamic SEO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URLs, robots directives (max-snippet:-1)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Analytics 4 integration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Edge Network — global CDN distribution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4114800" cy="146304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63440" y="3017520"/>
            <a:ext cx="54864" cy="1463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0" y="312724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SEO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429000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SEBI/AMFI disclaimer on every page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ARN-286886 displayed prominently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disclosure page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disclosure, Grievance Redressal pages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regulatory pages indexed for trust signals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Trustner Asset Services Pvt Ltd  |  ARN-286886  |  merasip.com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697480" cy="169164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54864" cy="16916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+ React 19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(strict)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(interactive)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697480" cy="169164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54864" cy="16916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0" y="11155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Intelligence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4173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(narrative)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gpt-4o-mini (chat)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engine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health calc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697480" cy="169164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1005840"/>
            <a:ext cx="54864" cy="169164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09360" y="11155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14173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API routes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verification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email service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880360"/>
            <a:ext cx="2697480" cy="169164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2880360"/>
            <a:ext cx="54864" cy="16916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29900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2918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(Edge CDN)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SSG + SSR hybrid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CI/CD from Git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edge functions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0" y="2880360"/>
            <a:ext cx="2697480" cy="169164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0" y="2880360"/>
            <a:ext cx="54864" cy="16916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83280" y="29900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Storage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83280" y="32918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Blob storage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caching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 API integration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state mgmt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26480" y="2880360"/>
            <a:ext cx="2697480" cy="169164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126480" y="2880360"/>
            <a:ext cx="54864" cy="169164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09360" y="29900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&amp; Export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09360" y="32918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PDF generator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report PDFs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lead export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Print-friendly pages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Trustner Asset Services Pvt Ltd  |  ARN-286886  |  merasip.com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Compare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MeraSIP.com vs India's Top Financial Platforms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43000"/>
          <a:ext cx="8503920" cy="33375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MeraSIP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 Money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Varsity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Calculators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Modules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(NISM-aligned)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Articles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Health Assessment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(AI-scored)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 Screener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(6 criteria)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Taxation Guides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 + NRI (detailed)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MFD Tools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Trail Calculators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Blog/Research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74+ articles + 6 studies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SIP Shield Calculator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Exclusive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Bucket Strategy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FREE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Free/Paid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Freemium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CFP Touch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CFP Ram Shah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Trustner Asset Services Pvt Ltd  |  ARN-286886  |  merasip.com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MeraSIP.com Different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206240" cy="109728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051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CFP-Grade, Not Just Calculators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3716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a Certified Financial Planner with real advisory experience. Every tool reflects how CFPs actually plan.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206240" cy="109728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051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0352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MFD-First Business Model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0" y="13716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sell direct plans. Trail commission alignment means our advice helps both the investor AND the distributor.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194560"/>
            <a:ext cx="4206240" cy="109728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22860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68680" y="2286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Human Expertise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26060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generates personalized narratives. But the frameworks, scoring, and recommendations come from CFP expertise.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2194560"/>
            <a:ext cx="4206240" cy="109728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22860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88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303520" y="2286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Over Breadth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03520" y="26060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calculator has scenario analysis, PDF export, year-by-year breakdowns. Not just simple inputs = one number.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429000"/>
            <a:ext cx="4206240" cy="109728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3520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68680" y="3520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Education-First Approach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3840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NISM-aligned modules, 74+ blog posts, taxation guides, glossary. We educate before we sell.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3429000"/>
            <a:ext cx="4206240" cy="109728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46320" y="3520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303520" y="3520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Free — No Paywall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03520" y="3840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Health Assessment, all calculators, all research — completely free. We earn through trail, not subscriptions.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Trustner Asset Services Pvt Ltd  |  ARN-286886  |  merasip.com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&amp; Trust Architecture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029968" cy="173736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54864" cy="17373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 Registered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17099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ARN-286886 displayed on every page. Compliant with AMFI Code of Conduct.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87168" y="1005840"/>
            <a:ext cx="2029968" cy="173736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87168" y="1005840"/>
            <a:ext cx="54864" cy="173736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70048" y="1115568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Regulated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70048" y="1417320"/>
            <a:ext cx="17099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content follows SEBI Mutual Fund Regulations. Risk disclaimers mandatory.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0016" y="1005840"/>
            <a:ext cx="2029968" cy="173736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00016" y="1005840"/>
            <a:ext cx="54864" cy="17373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82896" y="1115568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Legal Pages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82896" y="1417320"/>
            <a:ext cx="17099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Disclaimer, Privacy, Terms, Risk Disclosure, Grievance Redressal, Commission Disclosure.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912864" y="1005840"/>
            <a:ext cx="2029968" cy="173736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12864" y="1005840"/>
            <a:ext cx="54864" cy="17373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095744" y="1115568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E-E-A-T Signals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95744" y="1417320"/>
            <a:ext cx="17099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CFP credentials, author entity, structured data, FPSB badges for Google trust.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017520"/>
            <a:ext cx="8595360" cy="137160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3017520"/>
            <a:ext cx="859536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154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Business Model — Transparent &amp; Aligned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3474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an MFD (Mutual Fund Distributor) — we earn trail commission on regular plan investments.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NEVER promote direct plans in actionable content. Our commission pays for the platform.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proposition: Behavioral coaching during crashes, goal planning, tax optimization, annual reviews.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100% free — investors get CFP-grade tools, we earn their trust and business.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Trustner Asset Services Pvt Ltd  |  ARN-286886  |  merasip.com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2026-27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029968" cy="338328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2029968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 FY27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1371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Apr-Jun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691640"/>
            <a:ext cx="1828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automation integration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portal with login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weekly market newsletter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dashboards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87168" y="1005840"/>
            <a:ext cx="2029968" cy="338328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87168" y="1005840"/>
            <a:ext cx="2029968" cy="45720"/>
          </a:xfrm>
          <a:prstGeom prst="rect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78608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88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 FY27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78608" y="1371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Jul-Sep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78608" y="1691640"/>
            <a:ext cx="1828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Financial Advisor chatbot v2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rebalancing alerts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tracking dashboard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(React Native)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0016" y="1005840"/>
            <a:ext cx="2029968" cy="338328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0016" y="1005840"/>
            <a:ext cx="2029968" cy="457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91456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 FY27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91456" y="1371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Oct-Dec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91456" y="1691640"/>
            <a:ext cx="1828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CRM workflows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onboarding automation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Sub-broker partner portal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&amp; BI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12864" y="1005840"/>
            <a:ext cx="2029968" cy="338328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912864" y="1005840"/>
            <a:ext cx="2029968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004304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 FY27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004304" y="1371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Jan-Mar 2027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004304" y="1691640"/>
            <a:ext cx="1828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fund recommendations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Voice-based financial planning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Vernacular language support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Pan-India distributor network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India's most trusted financial planning platform — together.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0" y="2560320"/>
            <a:ext cx="4572000" cy="1645920"/>
          </a:xfrm>
          <a:prstGeom prst="rect">
            <a:avLst/>
          </a:prstGeom>
          <a:solidFill>
            <a:srgbClr val="1A2F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468880" y="2697480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CFP Ram Shah</a:t>
            </a:r>
            <a:endParaRPr lang="en-US" sz="1600" dirty="0"/>
          </a:p>
          <a:p>
            <a:pPr marL="0" indent="0" algn="ctr">
              <a:spcAft>
                <a:spcPts val="800"/>
              </a:spcAft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Financial Planner | Founder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Trustner Asset Services Pvt Ltd</a:t>
            </a:r>
            <a:endParaRPr lang="en-US" sz="1600" dirty="0"/>
          </a:p>
          <a:p>
            <a:pPr marL="0" indent="0" algn="ctr">
              <a:spcAft>
                <a:spcPts val="8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ARN-286886  |  AMFI Registered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www.merasip.com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82296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Team Meet 2026  |  Trustner Asset Services Pvt Ltd  |  merasip.com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2657</Words>
  <Application>Microsoft Macintosh PowerPoint</Application>
  <PresentationFormat>On-screen Show (16:9)</PresentationFormat>
  <Paragraphs>561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Trustner Asset Services Pvt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MeraSIP.com — India's First Free AI-Powered CFP-Grade Financial Planning Platform</dc:title>
  <dc:subject>PptxGenJS Presentation</dc:subject>
  <dc:creator>CFP Ram Shah</dc:creator>
  <cp:lastModifiedBy>RAM SHAH</cp:lastModifiedBy>
  <cp:revision>2</cp:revision>
  <dcterms:created xsi:type="dcterms:W3CDTF">2026-04-01T02:32:11Z</dcterms:created>
  <dcterms:modified xsi:type="dcterms:W3CDTF">2026-04-01T03:50:13Z</dcterms:modified>
</cp:coreProperties>
</file>