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200" y="2743200"/>
            <a:ext cx="4114800" cy="2400300"/>
          </a:xfrm>
          <a:prstGeom prst="rtTriangle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640080"/>
            <a:ext cx="155448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Coverage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94360" y="2606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Report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9436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Specialized Investment Fund universe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reference  |  TAS Strategic Research Desk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Private &amp; Confidential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4773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 |  6 May 2026  |  Internal use only — Trustner associates &amp; advisors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3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is a 14-month-old SEBI category that has scaled </a:t>
            </a:r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₹10,620 Cr </a:t>
            </a:r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live funds and 17 strategies — a 117% Q1 expansion.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strategies (77% of AUM) are working as designed in a falling market. Equity long-short strategies (23%) are universally underwater. TAS should build a 4-fund recommended list now, MONITOR-rate the equity sleeve, and position SIF as a 'PMS-grade strategy at MF-grade cost and tax' — not as a return-juicer. Second wave (Kotak, Mirae, HSBC) cleared by SEBI; HDFC, Nippon, UTI, Axis, DSP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1581912" cy="914400"/>
          </a:xfrm>
          <a:prstGeom prst="rect">
            <a:avLst/>
          </a:prstGeom>
          <a:solidFill>
            <a:srgbClr val="072B45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404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₹10,620 Cr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315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SIF AUM (Mar 2026)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21992" y="3749040"/>
            <a:ext cx="1581912" cy="914400"/>
          </a:xfrm>
          <a:prstGeom prst="rect">
            <a:avLst/>
          </a:prstGeom>
          <a:solidFill>
            <a:srgbClr val="072B45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38404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21992" y="4315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strategies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9624" y="3749040"/>
            <a:ext cx="1581912" cy="914400"/>
          </a:xfrm>
          <a:prstGeom prst="rect">
            <a:avLst/>
          </a:prstGeom>
          <a:solidFill>
            <a:srgbClr val="072B45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38404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4315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NFO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7256" y="3749040"/>
            <a:ext cx="1581912" cy="914400"/>
          </a:xfrm>
          <a:prstGeom prst="rect">
            <a:avLst/>
          </a:prstGeom>
          <a:solidFill>
            <a:srgbClr val="072B45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38404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77256" y="4315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SIF-approved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04888" y="3749040"/>
            <a:ext cx="1581912" cy="914400"/>
          </a:xfrm>
          <a:prstGeom prst="rect">
            <a:avLst/>
          </a:prstGeom>
          <a:solidFill>
            <a:srgbClr val="072B45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384048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04888" y="43159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Recommended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B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Strategic Context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SIF, why now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was born to fix a structural gap in Indian wealth management.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508760"/>
            <a:ext cx="4069080" cy="3154680"/>
          </a:xfrm>
          <a:prstGeom prst="rect">
            <a:avLst/>
          </a:prstGeom>
          <a:solidFill>
            <a:srgbClr val="F5FA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508760"/>
            <a:ext cx="54864" cy="31546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(PRE-2025)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19659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HNI households with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₹10–50 lakh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liquid AUM sat in a regulatory no-man's-land: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 rich for plain-vanilla mutual funds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 poor for PMS (₹50L) or AIF Cat-III (₹1 Cr)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Drifting to unregulated F&amp;O tipsters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Locked out of long-short strategies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i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2.5 million Indian households</a:t>
            </a:r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regulated alpha vehicle of their own.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1508760"/>
            <a:ext cx="4114800" cy="3154680"/>
          </a:xfrm>
          <a:prstGeom prst="rect">
            <a:avLst/>
          </a:prstGeom>
          <a:solidFill>
            <a:srgbClr val="E6F2FA"/>
          </a:solidFill>
          <a:ln w="9525">
            <a:solidFill>
              <a:srgbClr val="0A77B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508760"/>
            <a:ext cx="54864" cy="315468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SEBI ANSWER (1 APR 2025)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196596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Investment Fund (SIF):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₹10 lakh minimum  </a:t>
            </a:r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(₹1L for accredited)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MF-grade tax (12.5% LTCG)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25% unhedged shorts via derivatives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trustee, custodian, ISID disclosure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TER-capped (~2.25% gross), no perf fee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PMS-grade strategy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MF-grade cost and tax.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Regulatory Primer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architecture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SEBI's three-circular framework activated SIF on 1 April 2025.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17830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Feb 2025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circular: framework, eligibility, strategies, limits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 2025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clarifications, employee carve-outs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Apr 2025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format &amp; ISID disclosure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 2025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GOES LIVE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337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ELIGIBILITY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— Sound track record: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yrs ops, ≥₹10,000 Cr AUM, clean SEBI record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— Alternate route: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with ≥10 yrs FM exp &amp; ≥₹5,000 Cr managed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1508760"/>
            <a:ext cx="4206240" cy="3246120"/>
          </a:xfrm>
          <a:prstGeom prst="rect">
            <a:avLst/>
          </a:prstGeom>
          <a:solidFill>
            <a:srgbClr val="F5FA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645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LIMITS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ticket per PAN per AMC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Unhedged short exposure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25% NAV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Single-issuer debt cap (AAA)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2670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NAV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06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Single-sector debt cap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0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NAV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gross exposure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0" y="3328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006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disclosure cadence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Bi-monthly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0060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NFO deployment window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98080" y="3986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+ 30 days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0060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disclosure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980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Strategy Toolkit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permitted strategies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strategy per category per AMC. Industry-wide proliferation guard-rail.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237744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Allocation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Long-Short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Ex-Top 100 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≥65% in stocks ranked &gt;100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Rotation Long-Short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across up to 4 sectors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Long-Short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debt instruments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Sectoral Debt Long-Short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Sector-concentrated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Asset Allocator 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eq/debt/commodity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Long-Short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eq-debt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25% unhedged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AMC is permitted ONLY ONE strategy per category — preventing the over-proliferation problem India saw in regular MFs.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Comparison Matrix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vs the alternatives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slide a TAS RM uses with HNI clients.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08760"/>
                <a:gridCol w="1920240"/>
                <a:gridCol w="1600200"/>
                <a:gridCol w="1600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7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 Cat-III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₹100–₹500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lakh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lakh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crore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Hedge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≤25%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(no cap)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leverage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/ weekly / 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T+2 to T+5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yr lock-in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— Equity (≥65%)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LTCG / 20% STCG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LTCG / 20% STCG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— 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LTCG (&gt;2y)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LTCG (&gt;2y)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1–2.5% + perf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1.5–2.5% + perf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(rare)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(10–20%)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(15–20%)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= PMS-grade strategy at MF-grade cost and tax.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The Tax Edge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— the silent killer of PMS / AIF returns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12% gross return for an HNI in the top bracket, SIF preserves ~₹70-80 lakh more on ₹1 Cr over 10 years.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508760"/>
            <a:ext cx="4160520" cy="3200400"/>
          </a:xfrm>
          <a:prstGeom prst="rect">
            <a:avLst/>
          </a:prstGeom>
          <a:solidFill>
            <a:srgbClr val="F5FA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TAX RATES (TOP BRACKET HNI)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20574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— Equity LTCG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240280" y="2112264"/>
            <a:ext cx="614363" cy="201168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00363" y="20939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26609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— Equity LTCG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40280" y="2715768"/>
            <a:ext cx="614363" cy="201168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00363" y="26974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3264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Equity (slab)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40280" y="3319272"/>
            <a:ext cx="1916811" cy="20116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2811" y="33009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3867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 Cat-III (fund-level)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40280" y="3922776"/>
            <a:ext cx="1916811" cy="20116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2811" y="3904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1508760"/>
            <a:ext cx="4069080" cy="3200400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₹1 CR  •  12% GROSS  •  10 YR HOLD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20574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₹70–80 lakh</a:t>
            </a:r>
            <a:endParaRPr lang="en-US" sz="5000" dirty="0"/>
          </a:p>
        </p:txBody>
      </p:sp>
      <p:sp>
        <p:nvSpPr>
          <p:cNvPr id="28" name="Text 25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preserved post-tax wealth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46320" y="3520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 equivalent PMS or AIF Cat-III structure for the same HNI client. This is the talking point.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Industry State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SIF universe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months in. ₹10,620 Cr AUM. 117% Q1 expansion.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463040"/>
            <a:ext cx="4023360" cy="324612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(Mar 2026)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1993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₹10,620 Cr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50292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₹4,892 Cr in Dec 2025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3310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+117% in Q1 FY26.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inflow:  ₹3,127 Cr (Feb 2026)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2026:  ₹1,314 Cr  (-57% MoM moderation)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1463040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17720" y="1463040"/>
            <a:ext cx="54864" cy="1033272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82312" y="1581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782312" y="2066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share of AUM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1463040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1463040"/>
            <a:ext cx="54864" cy="1033272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31152" y="1581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931152" y="2066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Equity-LS share of AUM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17720" y="2587752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17720" y="2587752"/>
            <a:ext cx="54864" cy="1033272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4782312" y="31912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SIF strategies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66560" y="2587752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66560" y="2587752"/>
            <a:ext cx="54864" cy="1033272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31152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6931152" y="31912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SIF-approved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17720" y="3712464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17720" y="3712464"/>
            <a:ext cx="54864" cy="103327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82312" y="3831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4782312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NFO / recently allotted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766560" y="3712464"/>
            <a:ext cx="2057400" cy="1033272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766560" y="3712464"/>
            <a:ext cx="54864" cy="1033272"/>
          </a:xfrm>
          <a:prstGeom prst="rect">
            <a:avLst/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31152" y="3831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6931152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(HDFC, Mirae +)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Live Universe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14-fund SIF universe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SIF, ranked by Trustner Fund Score (TFS).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417320"/>
                <a:gridCol w="1325880"/>
                <a:gridCol w="731520"/>
                <a:gridCol w="502920"/>
                <a:gridCol w="123444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AMC /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(₹Cr)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/ iSIF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iSIF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Naren + 2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Edelweiss / Altiva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Altiva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Lahoti +4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/ Magnum 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Magnum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Mehta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/ iSIF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iSIF Equity Ex-Top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Ex-Top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Naren + 2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/ Titanium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Nanda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ONE / DynaSIF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DynaSIF Equity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Agarwal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/ Apex 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Solanki +2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/ Arudha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Arudha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Kankonkar +1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ONE / DynaSIF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DynaSIF Active Asset Allocator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Asset Alloc.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Agarwal +2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/ qSIF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qSIF Hybrid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Tandon +3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/ Arudha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Arudha Equity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Saha +1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/ qSIF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qSIF Equity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Tandon +3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 / Diviniti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Diviniti Equity Long-Short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L-S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Bagwe +1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/ qSIF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qSIF Equity Ex-Top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Ex-Top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Tandon +2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A77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TFS Methodology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Trustner Fund Score — TFS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across 7 weighted pillars. Proprietary IP. Not a black box.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463040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463040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4630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14630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Pedigree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154680" y="14630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03320" y="14630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track record, alpha, longevity, AUM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1929384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1929384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19293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1929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Coherence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154680" y="19293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03320" y="19293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logic vs toolkit; alpha thesis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395728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2395728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395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" y="23957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Platform Strength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154680" y="23957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703320" y="239572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AUM, distribution, governance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65760" y="2862072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" y="2862072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28620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68680" y="28620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Liquidity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154680" y="2862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03320" y="28620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TER, exit, redemption frequency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65760" y="3328416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65760" y="3328416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33284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68680" y="3328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Architecture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3154680" y="332841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703320" y="332841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Hedging, position limits, drawdowns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65760" y="3794760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5760" y="3794760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37947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68680" y="3794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3154680" y="37947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703320" y="37947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alpha vs benchmark since inception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65760" y="4261104"/>
            <a:ext cx="4114800" cy="420624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65760" y="4261104"/>
            <a:ext cx="54864" cy="42062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920" y="42611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68680" y="4261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Investor-fit &amp; Tax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3154680" y="426110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3703320" y="42611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bucket, suitability, advisor fit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663440" y="1463040"/>
            <a:ext cx="4114800" cy="3246120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4632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MAPPING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846320" y="2139696"/>
            <a:ext cx="164592" cy="310896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74920" y="2103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355080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  →  high conviction; recommended list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846320" y="2642616"/>
            <a:ext cx="164592" cy="310896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74920" y="2606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355080" y="2606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65–79   →  worth allocating; not lead pitch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846320" y="3145536"/>
            <a:ext cx="164592" cy="310896"/>
          </a:xfrm>
          <a:prstGeom prst="rect">
            <a:avLst/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074920" y="3108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355080" y="3108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50–64   →  track, don't pitch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4846320" y="3648456"/>
            <a:ext cx="164592" cy="310896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7492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MONITOR-ID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6355080" y="3611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data; &lt;3 months old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4846320" y="4151376"/>
            <a:ext cx="164592" cy="31089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07492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355080" y="4114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    →  not on shelf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Recommended Fund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Recommended #1: iSIF Hybrid Long-Short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Prudential MF — TFS 78 — BUY conviction.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 78 / 100  •  BUY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1463040"/>
            <a:ext cx="4023360" cy="3246120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18928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83080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Prudential / iSIF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21671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783080" y="2167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Long-Short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2441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783080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Sankaran Naren (CIO) +2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27157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(Apr 2026)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83080" y="27157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₹672 Cr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9900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(Direct)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783080" y="2990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32644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ticket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783080" y="32644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35387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783080" y="3538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redemption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NAV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83080" y="38130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₹9.88 (-1.2%)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40873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783080" y="4087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Hybrid 50+50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THESIS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0" y="18470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equity exposure -7.5% to +75% — true Balanced Advantage++. Combines covered calls, stock puts, IRF, arbitrage, and unhedged shorts capped at 10%. Designed for HNI clients wanting BAF-type returns with smarter downside management.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0" y="2907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MAKES THE LIST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Naren brand: arguably India's most respected institutional equity investor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ICICI Pru AMC: ~₹9 lakh Cr AUM; deepest research bench in India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Wide -7.5% to 75% net equity band — flexibility unmatched by peers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Tax-efficient: high equity range likely qualifies for 12.5% LTCG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" y="4334256"/>
            <a:ext cx="8412480" cy="457200"/>
          </a:xfrm>
          <a:prstGeom prst="rect">
            <a:avLst/>
          </a:prstGeom>
          <a:solidFill>
            <a:srgbClr val="E6F2FA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4334256"/>
            <a:ext cx="54864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TALK-TRACK   </a:t>
            </a:r>
            <a:pPr indent="0" marL="0">
              <a:buNone/>
            </a:pPr>
            <a:r>
              <a:rPr lang="en-US" sz="1100" i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"Sankaran Naren's first SIF. The same manager who built ICICI Pru BAF into a ₹1 lakh crore success now has 25% short capability. Institutional alpha at MF tax."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Recommended Fund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Recommended #2: Altiva Hybrid Long-Short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Edelweiss MF — TFS 76 — ACCUMULATE.  Deepest manager bench.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 76 / 100  •  ACCUMULATE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1463040"/>
            <a:ext cx="4023360" cy="3246120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18928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83080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Edelweiss / Altiva SIF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21671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783080" y="2167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Long-Short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2441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bench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783080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FMs (Lahoti, Jain, Dalal, Kulkarni, Vora)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27157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(Dec 2025)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83080" y="27157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₹1,000+ Cr (1st to cross ₹1,000 Cr)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9900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(Direct)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783080" y="2990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~0.40%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32644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ticket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783080" y="32644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35387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783080" y="3538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sub; redemption Mon &amp; Wed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NAV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83080" y="38130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₹10.52 (+5.2%)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40873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783080" y="4087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Hybrid 50:50 TRI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THESIS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0" y="18470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income-oriented hybrid: 40-60% high-quality fixed income, 20-40% cash-future arbitrage, 0-15% net equity, with covered calls and special-situation overlays. Thesis: 'FD+ with equity-like tax' — beat 1-yr FD by 200-300 bps post-tax, low double-digit max drawdown.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0" y="2907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MAKES THE LIST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Five-FM bench de-risks key-person concentration — best in category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Dhawal Dalal: among India's most respected fixed-income managers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+5.2% in 6 months THROUGH a -11% Nifty crash = thesis validated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SIF to cross ₹1,000 Cr AUM — distribution + manager validation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" y="4334256"/>
            <a:ext cx="8412480" cy="457200"/>
          </a:xfrm>
          <a:prstGeom prst="rect">
            <a:avLst/>
          </a:prstGeom>
          <a:solidFill>
            <a:srgbClr val="E6F2FA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4334256"/>
            <a:ext cx="54864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TALK-TRACK   </a:t>
            </a:r>
            <a:pPr indent="0" marL="0">
              <a:buNone/>
            </a:pPr>
            <a:r>
              <a:rPr lang="en-US" sz="1100" i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"FD-beating, equity-tax post-tax returns with single-digit drawdown — backed by Edelweiss's debt and arbitrage powerhouse. The category's first ₹1,000 Cr fund."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Recommended Fund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Recommended #3: Magnum Hybrid Long-Short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— TFS 75 — ACCUMULATE. The trust play.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 75 / 100  •  ACCUMULATE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1463040"/>
            <a:ext cx="4023360" cy="3246120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18928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83080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/ Magnum SIF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21671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783080" y="2167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Long-Short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2441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783080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Mehta, CFA (solo)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27157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(NFO)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83080" y="27157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~₹1,100 Cr (largest SIF NFO)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9900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(Direct)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783080" y="2990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~0.42%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32644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ticket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783080" y="32644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35387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783080" y="3538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sub; redemption Mon &amp; Thu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NAV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83080" y="38130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₹10.21 (+2.1%)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40873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783080" y="4087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Hybrid 50:50 TRI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THESIS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0" y="18470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65-75% equity (heavily hedged via covered calls + index futures), 25-35% debt, 0-10% REITs/InvITs, 0-25% unhedged short. Net equity typically 10-15% — designed as the conservative AMC's conservative SIF. SBI distribution muscle = retiree-friendly 'FD+' positioning.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0" y="2907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MAKES THE LIST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SBI is India's largest AMC (~₹11.5 lakh Cr AUM); unmatched distribution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Largest SIF NFO ever (~₹1,100 Cr) = institutional validation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+2.1% during March crash — held up with the lowest equity profile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for SBI banking customers and risk-averse retirees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" y="4334256"/>
            <a:ext cx="8412480" cy="457200"/>
          </a:xfrm>
          <a:prstGeom prst="rect">
            <a:avLst/>
          </a:prstGeom>
          <a:solidFill>
            <a:srgbClr val="E6F2FA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4334256"/>
            <a:ext cx="54864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TALK-TRACK   </a:t>
            </a:r>
            <a:pPr indent="0" marL="0">
              <a:buNone/>
            </a:pPr>
            <a:r>
              <a:rPr lang="en-US" sz="1100" i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"SBI's first SIF, raised ₹1,100 Cr in two weeks. Net equity 10-15% means equity participation without equity volatility, in India's most trusted AMC platform."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Recommended Fund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Satellite Pick: iSIF Equity Ex-Top 100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— TFS 74 — BUY.  Aggressive SMID alpha sleeve.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594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 74 / 100  •  BUY (satellite)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1463040"/>
            <a:ext cx="4023360" cy="3246120"/>
          </a:xfrm>
          <a:prstGeom prst="rect">
            <a:avLst/>
          </a:prstGeom>
          <a:solidFill>
            <a:srgbClr val="F5FAFD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18928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83080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Prudential / iSIF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21671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783080" y="21671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Ex-Top 100 Long-Short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2441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783080" y="2441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Sankaran Naren + 2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27157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(Mar 2026)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83080" y="27157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₹1,090 Cr (largest equity SIF)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9900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(Direct)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783080" y="2990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32644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ticket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783080" y="32644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35387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783080" y="3538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NAV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83080" y="38130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~₹9.02 (-9.8%)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40873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783080" y="4087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MidSmallCap 400 TRI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THESIS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0" y="18470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equity SMID (mid + small cap). 65%+ in stocks ranked &gt;100 by m-cap, up to 35% large for liquidity, 25% short via derivatives. Long-short SMID is structurally where alpha is highest in Indian equities — wider valuation dispersion, more inefficiencies.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0" y="2907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MAKES THE LIST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3154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Largest equity SIF (₹1,090 Cr in 2 months) — distribution muscle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SMID long-short = the genuinely hardest segment to source institutional alpha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 ~₹9 after SMID correction = right entry point for patient capital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Equity LTCG 12.5% after 12 months — best tax bucket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" y="4334256"/>
            <a:ext cx="8412480" cy="457200"/>
          </a:xfrm>
          <a:prstGeom prst="rect">
            <a:avLst/>
          </a:prstGeom>
          <a:solidFill>
            <a:srgbClr val="E6F2FA"/>
          </a:solidFill>
          <a:ln w="6350">
            <a:solidFill>
              <a:srgbClr val="0A77B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4334256"/>
            <a:ext cx="54864" cy="45720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TALK-TRACK   </a:t>
            </a:r>
            <a:pPr indent="0" marL="0">
              <a:buNone/>
            </a:pPr>
            <a:r>
              <a:rPr lang="en-US" sz="1100" i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"India's largest equity SIF. Naren-led mid/small-cap long-short — entry point ₹9 after the SMID correction. Allocate 5-10% of equity sleeve as alpha satellite."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Risk Discipline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TAS will not recommend (until catalyst)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is reputation. Ten years from now, what we DIDN'T recommend will matter most.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417320"/>
            <a:ext cx="54864" cy="45720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NOTE   We have rated 4 of 14 live funds as BUY/ACCUMULATE. 10 are HOLD, MONITOR-ID, or off-shelf — that is a feature, not a bug.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on 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change our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qSIF (Eq / Hybrid / Ex-Top 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 front-running probe overhang (2024-25); reputational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SEBI order with no adverse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Diviniti Equity LS (ITI MF)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AMC distribution; insufficient platform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of positive alpha vs Nifty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qSIF Sector Rotation (when launched)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overhang + sector concentration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 clearance + 6 months track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Sapphire Equity LS (Franklin)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model untested in Indian context; FT comeback ongoing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 months of track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WSIF Equity / Ex-Top 100 (Wealth Co.)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new AMC, no SIF infrastructure track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operations + meaningful 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TAS Implementation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SIF allocations by client tier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only. SIFs ~14 months old; ₹10L floor per AMC per PAN.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417320"/>
            <a:ext cx="2788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417320"/>
            <a:ext cx="2788920" cy="384048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14721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AFFLUENT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1874520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lakh portfolio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0352" y="225856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ALLOCATION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0352" y="24597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₹10–15 L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30352" y="283464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 of portfolio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0352" y="310896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SIF only — single allocation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 client age/risk: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iSIF Hybrid (younger / BAF need)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Altiva Hybrid (older / FD need)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with: Equity MF + BAF + Debt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91256" y="1417320"/>
            <a:ext cx="2788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91256" y="1417320"/>
            <a:ext cx="2788920" cy="384048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55848" y="14721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55848" y="1874520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crore portfolio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55848" y="225856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ALLOCATION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355848" y="24597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₹20–25 L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355848" y="283464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  of portfolio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55848" y="310896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SIFs from different AMCs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split: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iSIF Hybrid LS:  ₹12L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Altiva Hybrid LS: ₹10L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with: Equity MF + Debt + Insurance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16752" y="1417320"/>
            <a:ext cx="27889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16752" y="1417320"/>
            <a:ext cx="2788920" cy="384048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81344" y="14721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HNI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81344" y="1874520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crore portfolio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181344" y="225856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ALLOCATION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181344" y="2459736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 L – 1 Cr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181344" y="283464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 of portfolio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81344" y="310896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THREE-FOUR SIFs across AMCs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split: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iSIF Hybrid LS:        ₹25L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Altiva Hybrid LS:      ₹20L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Magnum Hybrid LS:      ₹15L</a:t>
            </a:r>
            <a:endParaRPr lang="en-US" sz="10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iSIF Ex-Top 100 (sat): ₹15L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20624"/>
            <a:ext cx="8412480" cy="16459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sma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777240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Trustner.ai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65760" y="4864608"/>
            <a:ext cx="8412480" cy="10973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Trustner Advisory Solutions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8096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713232"/>
            <a:ext cx="146304" cy="146304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Trustner.ai SIF module — execution roadmap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artifact to production AI module — 12-month build.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417320"/>
            <a:ext cx="21031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417320"/>
            <a:ext cx="2103120" cy="713232"/>
          </a:xfrm>
          <a:prstGeom prst="rect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472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" y="22860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4-fund recommended list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Distribute one-pagers to all RMs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Empanel as SIF distributor with 9 AMCs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Mandatory NISM SIF cert for top-20 RMs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14600" y="1417320"/>
            <a:ext cx="21031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14600" y="1417320"/>
            <a:ext cx="2103120" cy="713232"/>
          </a:xfrm>
          <a:prstGeom prst="rect">
            <a:avLst/>
          </a:prstGeom>
          <a:solidFill>
            <a:srgbClr val="0A3D5F"/>
          </a:solidFill>
          <a:ln w="12700">
            <a:solidFill>
              <a:srgbClr val="0A3D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1472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5176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Trustner.ai v1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651760" y="22860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JSON ingestion: 19 funds + framework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Auto-AMFI NAV refresh pipeline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ISID portfolio disclosure ingestion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Suitability engine: KYC -&gt; recommended SIF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1417320"/>
            <a:ext cx="21031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417320"/>
            <a:ext cx="2103120" cy="713232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472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800600" y="22860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 SIF Investor Day — top 3 AMC CIOs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Trustner SIF Index (proprietary IP)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ML recommendation engine: KYC + portfolio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Monthly TFS rerun cadence operational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12280" y="1417320"/>
            <a:ext cx="21031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12280" y="1417320"/>
            <a:ext cx="2103120" cy="713232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0" y="1472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4944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Play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49440" y="22860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TFS-as-a-Service: license to other distributors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 Trustner-managed SIF (Route 2)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Global vector: Singapore VCC / DIFC / Lux SIF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3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572000" y="2286000"/>
            <a:ext cx="4572000" cy="2857500"/>
          </a:xfrm>
          <a:prstGeom prst="rtTriangle">
            <a:avLst/>
          </a:prstGeom>
          <a:solidFill>
            <a:srgbClr val="0A77BA"/>
          </a:solidFill>
          <a:ln w="12700">
            <a:solidFill>
              <a:srgbClr val="0A77BA"/>
            </a:solidFill>
            <a:prstDash val="solid"/>
          </a:ln>
        </p:spPr>
      </p:sp>
      <p:pic>
        <p:nvPicPr>
          <p:cNvPr id="3" name="Image 0" descr="/home/claude/work/trustner_logo_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137160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|  THE STRATEGIC IMPERATIVE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</a:t>
            </a:r>
            <a:pPr indent="0" marL="0">
              <a:buNone/>
            </a:pPr>
            <a:r>
              <a:rPr lang="en-US" sz="3800" b="1" dirty="0">
                <a:solidFill>
                  <a:srgbClr val="0A7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is 14 months old and at ₹10,620 Cr (Mar 2026 AMFI). With second-wave AMCs (Kotak, Mirae, HSBC) cleared by SEBI and HDFC, Nippon, UTI, Axis, DSP next, the category is on track to ₹50,000–75,000 Cr in 24 months and ₹2–3 lakh crore in 5 years. Advisory desks that build research credibility in 2026 will own client trust for the next decade.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Apple-in-2007 moment for the Trustner wealth desk.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C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TAS Strategic Research Desk  |  v1.1  |  6 May 2026  |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Trustner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 SIF Coverage Initiation</dc:title>
  <dc:subject>India Specialized Investment Fund universe</dc:subject>
  <dc:creator>Trustner Advisory Solutions</dc:creator>
  <cp:lastModifiedBy>Trustner Advisory Solutions</cp:lastModifiedBy>
  <cp:revision>1</cp:revision>
  <dcterms:created xsi:type="dcterms:W3CDTF">2026-05-05T19:30:02Z</dcterms:created>
  <dcterms:modified xsi:type="dcterms:W3CDTF">2026-05-05T19:30:02Z</dcterms:modified>
</cp:coreProperties>
</file>